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8B7D934-D6DF-4830-8C9B-87F4F16D33BE}" type="datetimeFigureOut">
              <a:rPr lang="en-US" smtClean="0"/>
              <a:t>5/13/2024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944FC4-FE6F-4562-AFAD-B554D7753AFB}" type="slidenum">
              <a:rPr lang="en-US" smtClean="0"/>
              <a:t>‹#›</a:t>
            </a:fld>
            <a:endParaRPr lang="en-US"/>
          </a:p>
        </p:txBody>
      </p:sp>
    </p:spTree>
    <p:extLst>
      <p:ext uri="{BB962C8B-B14F-4D97-AF65-F5344CB8AC3E}">
        <p14:creationId xmlns:p14="http://schemas.microsoft.com/office/powerpoint/2010/main" val="1502034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B7D934-D6DF-4830-8C9B-87F4F16D33BE}" type="datetimeFigureOut">
              <a:rPr lang="en-US" smtClean="0"/>
              <a:t>5/13/2024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944FC4-FE6F-4562-AFAD-B554D7753AFB}" type="slidenum">
              <a:rPr lang="en-US" smtClean="0"/>
              <a:t>‹#›</a:t>
            </a:fld>
            <a:endParaRPr lang="en-US"/>
          </a:p>
        </p:txBody>
      </p:sp>
    </p:spTree>
    <p:extLst>
      <p:ext uri="{BB962C8B-B14F-4D97-AF65-F5344CB8AC3E}">
        <p14:creationId xmlns:p14="http://schemas.microsoft.com/office/powerpoint/2010/main" val="878131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8B7D934-D6DF-4830-8C9B-87F4F16D33BE}" type="datetimeFigureOut">
              <a:rPr lang="en-US" smtClean="0"/>
              <a:t>5/13/2024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944FC4-FE6F-4562-AFAD-B554D7753AFB}" type="slidenum">
              <a:rPr lang="en-US" smtClean="0"/>
              <a:t>‹#›</a:t>
            </a:fld>
            <a:endParaRPr lang="en-US"/>
          </a:p>
        </p:txBody>
      </p:sp>
    </p:spTree>
    <p:extLst>
      <p:ext uri="{BB962C8B-B14F-4D97-AF65-F5344CB8AC3E}">
        <p14:creationId xmlns:p14="http://schemas.microsoft.com/office/powerpoint/2010/main" val="2107656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8B7D934-D6DF-4830-8C9B-87F4F16D33BE}" type="datetimeFigureOut">
              <a:rPr lang="en-US" smtClean="0"/>
              <a:t>5/13/2024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944FC4-FE6F-4562-AFAD-B554D7753AFB}" type="slidenum">
              <a:rPr lang="en-US" smtClean="0"/>
              <a:t>‹#›</a:t>
            </a:fld>
            <a:endParaRPr lang="en-US"/>
          </a:p>
        </p:txBody>
      </p:sp>
    </p:spTree>
    <p:extLst>
      <p:ext uri="{BB962C8B-B14F-4D97-AF65-F5344CB8AC3E}">
        <p14:creationId xmlns:p14="http://schemas.microsoft.com/office/powerpoint/2010/main" val="3952993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8B7D934-D6DF-4830-8C9B-87F4F16D33BE}" type="datetimeFigureOut">
              <a:rPr lang="en-US" smtClean="0"/>
              <a:t>5/13/2024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944FC4-FE6F-4562-AFAD-B554D7753AFB}" type="slidenum">
              <a:rPr lang="en-US" smtClean="0"/>
              <a:t>‹#›</a:t>
            </a:fld>
            <a:endParaRPr lang="en-US"/>
          </a:p>
        </p:txBody>
      </p:sp>
    </p:spTree>
    <p:extLst>
      <p:ext uri="{BB962C8B-B14F-4D97-AF65-F5344CB8AC3E}">
        <p14:creationId xmlns:p14="http://schemas.microsoft.com/office/powerpoint/2010/main" val="1924676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8B7D934-D6DF-4830-8C9B-87F4F16D33BE}" type="datetimeFigureOut">
              <a:rPr lang="en-US" smtClean="0"/>
              <a:t>5/13/2024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944FC4-FE6F-4562-AFAD-B554D7753AFB}" type="slidenum">
              <a:rPr lang="en-US" smtClean="0"/>
              <a:t>‹#›</a:t>
            </a:fld>
            <a:endParaRPr lang="en-US"/>
          </a:p>
        </p:txBody>
      </p:sp>
    </p:spTree>
    <p:extLst>
      <p:ext uri="{BB962C8B-B14F-4D97-AF65-F5344CB8AC3E}">
        <p14:creationId xmlns:p14="http://schemas.microsoft.com/office/powerpoint/2010/main" val="2096929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B7D934-D6DF-4830-8C9B-87F4F16D33BE}" type="datetimeFigureOut">
              <a:rPr lang="en-US" smtClean="0"/>
              <a:t>5/13/2024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944FC4-FE6F-4562-AFAD-B554D7753AFB}" type="slidenum">
              <a:rPr lang="en-US" smtClean="0"/>
              <a:t>‹#›</a:t>
            </a:fld>
            <a:endParaRPr lang="en-US"/>
          </a:p>
        </p:txBody>
      </p:sp>
    </p:spTree>
    <p:extLst>
      <p:ext uri="{BB962C8B-B14F-4D97-AF65-F5344CB8AC3E}">
        <p14:creationId xmlns:p14="http://schemas.microsoft.com/office/powerpoint/2010/main" val="2392515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8B7D934-D6DF-4830-8C9B-87F4F16D33BE}" type="datetimeFigureOut">
              <a:rPr lang="en-US" smtClean="0"/>
              <a:t>5/13/2024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944FC4-FE6F-4562-AFAD-B554D7753AFB}" type="slidenum">
              <a:rPr lang="en-US" smtClean="0"/>
              <a:t>‹#›</a:t>
            </a:fld>
            <a:endParaRPr lang="en-US"/>
          </a:p>
        </p:txBody>
      </p:sp>
    </p:spTree>
    <p:extLst>
      <p:ext uri="{BB962C8B-B14F-4D97-AF65-F5344CB8AC3E}">
        <p14:creationId xmlns:p14="http://schemas.microsoft.com/office/powerpoint/2010/main" val="1044797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8B7D934-D6DF-4830-8C9B-87F4F16D33BE}" type="datetimeFigureOut">
              <a:rPr lang="en-US" smtClean="0"/>
              <a:t>5/13/2024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944FC4-FE6F-4562-AFAD-B554D7753AFB}" type="slidenum">
              <a:rPr lang="en-US" smtClean="0"/>
              <a:t>‹#›</a:t>
            </a:fld>
            <a:endParaRPr lang="en-US"/>
          </a:p>
        </p:txBody>
      </p:sp>
    </p:spTree>
    <p:extLst>
      <p:ext uri="{BB962C8B-B14F-4D97-AF65-F5344CB8AC3E}">
        <p14:creationId xmlns:p14="http://schemas.microsoft.com/office/powerpoint/2010/main" val="915737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B7D934-D6DF-4830-8C9B-87F4F16D33BE}" type="datetimeFigureOut">
              <a:rPr lang="en-US" smtClean="0"/>
              <a:t>5/13/2024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944FC4-FE6F-4562-AFAD-B554D7753AFB}" type="slidenum">
              <a:rPr lang="en-US" smtClean="0"/>
              <a:t>‹#›</a:t>
            </a:fld>
            <a:endParaRPr lang="en-US"/>
          </a:p>
        </p:txBody>
      </p:sp>
    </p:spTree>
    <p:extLst>
      <p:ext uri="{BB962C8B-B14F-4D97-AF65-F5344CB8AC3E}">
        <p14:creationId xmlns:p14="http://schemas.microsoft.com/office/powerpoint/2010/main" val="2841336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B7D934-D6DF-4830-8C9B-87F4F16D33BE}" type="datetimeFigureOut">
              <a:rPr lang="en-US" smtClean="0"/>
              <a:t>5/13/2024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944FC4-FE6F-4562-AFAD-B554D7753AFB}" type="slidenum">
              <a:rPr lang="en-US" smtClean="0"/>
              <a:t>‹#›</a:t>
            </a:fld>
            <a:endParaRPr lang="en-US"/>
          </a:p>
        </p:txBody>
      </p:sp>
    </p:spTree>
    <p:extLst>
      <p:ext uri="{BB962C8B-B14F-4D97-AF65-F5344CB8AC3E}">
        <p14:creationId xmlns:p14="http://schemas.microsoft.com/office/powerpoint/2010/main" val="373777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B7D934-D6DF-4830-8C9B-87F4F16D33BE}" type="datetimeFigureOut">
              <a:rPr lang="en-US" smtClean="0"/>
              <a:t>5/13/2024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944FC4-FE6F-4562-AFAD-B554D7753AFB}" type="slidenum">
              <a:rPr lang="en-US" smtClean="0"/>
              <a:t>‹#›</a:t>
            </a:fld>
            <a:endParaRPr lang="en-US"/>
          </a:p>
        </p:txBody>
      </p:sp>
    </p:spTree>
    <p:extLst>
      <p:ext uri="{BB962C8B-B14F-4D97-AF65-F5344CB8AC3E}">
        <p14:creationId xmlns:p14="http://schemas.microsoft.com/office/powerpoint/2010/main" val="2724118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44223" y="2884116"/>
            <a:ext cx="8177239" cy="646331"/>
          </a:xfrm>
          <a:prstGeom prst="rect">
            <a:avLst/>
          </a:prstGeom>
        </p:spPr>
        <p:txBody>
          <a:bodyPr wrap="none">
            <a:spAutoFit/>
          </a:bodyPr>
          <a:lstStyle/>
          <a:p>
            <a:r>
              <a:rPr lang="en-US" sz="3600" b="1" dirty="0" smtClean="0">
                <a:ln w="0"/>
                <a:gradFill>
                  <a:gsLst>
                    <a:gs pos="21000">
                      <a:srgbClr val="53575C"/>
                    </a:gs>
                    <a:gs pos="88000">
                      <a:srgbClr val="C5C7CA"/>
                    </a:gs>
                  </a:gsLst>
                  <a:lin ang="5400000"/>
                </a:gradFill>
                <a:latin typeface="Bookman Old Style" panose="02050604050505020204" pitchFamily="18" charset="0"/>
              </a:rPr>
              <a:t>OVERCLOCKING IN COMPUTING </a:t>
            </a:r>
            <a:endParaRPr lang="en-US" sz="3600" b="1" dirty="0">
              <a:ln w="0"/>
              <a:gradFill>
                <a:gsLst>
                  <a:gs pos="21000">
                    <a:srgbClr val="53575C"/>
                  </a:gs>
                  <a:gs pos="88000">
                    <a:srgbClr val="C5C7CA"/>
                  </a:gs>
                </a:gsLst>
                <a:lin ang="5400000"/>
              </a:gradFill>
              <a:latin typeface="Bookman Old Style" panose="02050604050505020204" pitchFamily="18" charset="0"/>
            </a:endParaRPr>
          </a:p>
        </p:txBody>
      </p:sp>
    </p:spTree>
    <p:extLst>
      <p:ext uri="{BB962C8B-B14F-4D97-AF65-F5344CB8AC3E}">
        <p14:creationId xmlns:p14="http://schemas.microsoft.com/office/powerpoint/2010/main" val="8467465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6472" y="519699"/>
            <a:ext cx="11129819" cy="1200329"/>
          </a:xfrm>
          <a:prstGeom prst="rect">
            <a:avLst/>
          </a:prstGeom>
        </p:spPr>
        <p:txBody>
          <a:bodyPr wrap="square">
            <a:spAutoFit/>
          </a:bodyPr>
          <a:lstStyle/>
          <a:p>
            <a:r>
              <a:rPr lang="en-US" sz="2400" dirty="0" smtClean="0">
                <a:latin typeface="Bookman Old Style" panose="02050604050505020204" pitchFamily="18" charset="0"/>
              </a:rPr>
              <a:t>Overclocking a component in your computer usually the CPU, and occasionally the graphics card makes your computer run faster than it was originally intended</a:t>
            </a:r>
            <a:endParaRPr lang="en-US" sz="2400" dirty="0">
              <a:latin typeface="Bookman Old Style" panose="02050604050505020204" pitchFamily="18" charset="0"/>
            </a:endParaRPr>
          </a:p>
        </p:txBody>
      </p:sp>
      <p:sp>
        <p:nvSpPr>
          <p:cNvPr id="3" name="Rectangle 2"/>
          <p:cNvSpPr/>
          <p:nvPr/>
        </p:nvSpPr>
        <p:spPr>
          <a:xfrm>
            <a:off x="526472" y="1988235"/>
            <a:ext cx="11129819" cy="830997"/>
          </a:xfrm>
          <a:prstGeom prst="rect">
            <a:avLst/>
          </a:prstGeom>
        </p:spPr>
        <p:txBody>
          <a:bodyPr wrap="square">
            <a:spAutoFit/>
          </a:bodyPr>
          <a:lstStyle/>
          <a:p>
            <a:r>
              <a:rPr lang="en-US" sz="2400" dirty="0" smtClean="0">
                <a:latin typeface="Bookman Old Style" panose="02050604050505020204" pitchFamily="18" charset="0"/>
              </a:rPr>
              <a:t>This can improve your computer's performance without spending money to upgrade or enhance your PC. </a:t>
            </a:r>
            <a:endParaRPr lang="en-US" sz="2400" dirty="0">
              <a:latin typeface="Bookman Old Style" panose="02050604050505020204" pitchFamily="18" charset="0"/>
            </a:endParaRPr>
          </a:p>
        </p:txBody>
      </p:sp>
      <p:sp>
        <p:nvSpPr>
          <p:cNvPr id="4" name="Rectangle 3"/>
          <p:cNvSpPr/>
          <p:nvPr/>
        </p:nvSpPr>
        <p:spPr>
          <a:xfrm>
            <a:off x="526472" y="3087439"/>
            <a:ext cx="11351492" cy="830997"/>
          </a:xfrm>
          <a:prstGeom prst="rect">
            <a:avLst/>
          </a:prstGeom>
        </p:spPr>
        <p:txBody>
          <a:bodyPr wrap="square">
            <a:spAutoFit/>
          </a:bodyPr>
          <a:lstStyle/>
          <a:p>
            <a:r>
              <a:rPr lang="en-US" sz="2400" dirty="0" smtClean="0">
                <a:latin typeface="Bookman Old Style" panose="02050604050505020204" pitchFamily="18" charset="0"/>
              </a:rPr>
              <a:t>Overclocking is particularly popular among gamers that want to get the most out of their high-end rigs a bit more power out of an older system</a:t>
            </a:r>
            <a:endParaRPr lang="en-US" sz="2400" dirty="0">
              <a:latin typeface="Bookman Old Style" panose="02050604050505020204" pitchFamily="18" charset="0"/>
            </a:endParaRPr>
          </a:p>
        </p:txBody>
      </p:sp>
      <p:sp>
        <p:nvSpPr>
          <p:cNvPr id="5" name="Rectangle 4"/>
          <p:cNvSpPr/>
          <p:nvPr/>
        </p:nvSpPr>
        <p:spPr>
          <a:xfrm>
            <a:off x="526471" y="4186643"/>
            <a:ext cx="11129819" cy="830997"/>
          </a:xfrm>
          <a:prstGeom prst="rect">
            <a:avLst/>
          </a:prstGeom>
        </p:spPr>
        <p:txBody>
          <a:bodyPr wrap="square">
            <a:spAutoFit/>
          </a:bodyPr>
          <a:lstStyle/>
          <a:p>
            <a:r>
              <a:rPr lang="en-US" sz="2400" b="1" dirty="0" smtClean="0">
                <a:latin typeface="Bookman Old Style" panose="02050604050505020204" pitchFamily="18" charset="0"/>
              </a:rPr>
              <a:t>NOTE: </a:t>
            </a:r>
            <a:r>
              <a:rPr lang="en-US" sz="2400" dirty="0" smtClean="0">
                <a:latin typeface="Bookman Old Style" panose="02050604050505020204" pitchFamily="18" charset="0"/>
              </a:rPr>
              <a:t>It's also important to remember that not every computer can be overclocked, the process requires specific hardware to be effective. </a:t>
            </a:r>
            <a:endParaRPr lang="en-US" sz="2400" dirty="0">
              <a:latin typeface="Bookman Old Style" panose="02050604050505020204" pitchFamily="18" charset="0"/>
            </a:endParaRPr>
          </a:p>
        </p:txBody>
      </p:sp>
      <p:sp>
        <p:nvSpPr>
          <p:cNvPr id="6" name="Rectangle 5"/>
          <p:cNvSpPr/>
          <p:nvPr/>
        </p:nvSpPr>
        <p:spPr>
          <a:xfrm>
            <a:off x="526471" y="5414926"/>
            <a:ext cx="10732656" cy="830997"/>
          </a:xfrm>
          <a:prstGeom prst="rect">
            <a:avLst/>
          </a:prstGeom>
        </p:spPr>
        <p:txBody>
          <a:bodyPr wrap="square">
            <a:spAutoFit/>
          </a:bodyPr>
          <a:lstStyle/>
          <a:p>
            <a:r>
              <a:rPr lang="en-US" sz="2400" dirty="0" smtClean="0">
                <a:latin typeface="Bookman Old Style" panose="02050604050505020204" pitchFamily="18" charset="0"/>
              </a:rPr>
              <a:t>And users should be aware that overclocking can push your computer to its limits and potentially shorten its lifespan.</a:t>
            </a:r>
            <a:endParaRPr lang="en-US" sz="2400" dirty="0">
              <a:latin typeface="Bookman Old Style" panose="02050604050505020204" pitchFamily="18" charset="0"/>
            </a:endParaRPr>
          </a:p>
        </p:txBody>
      </p:sp>
    </p:spTree>
    <p:extLst>
      <p:ext uri="{BB962C8B-B14F-4D97-AF65-F5344CB8AC3E}">
        <p14:creationId xmlns:p14="http://schemas.microsoft.com/office/powerpoint/2010/main" val="19607716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0248" y="344116"/>
            <a:ext cx="3732112" cy="461665"/>
          </a:xfrm>
          <a:prstGeom prst="rect">
            <a:avLst/>
          </a:prstGeom>
        </p:spPr>
        <p:txBody>
          <a:bodyPr wrap="none">
            <a:spAutoFit/>
          </a:bodyPr>
          <a:lstStyle/>
          <a:p>
            <a:r>
              <a:rPr lang="en-US" sz="2400" b="1" dirty="0" smtClean="0">
                <a:latin typeface="Bookman Old Style" panose="02050604050505020204" pitchFamily="18" charset="0"/>
              </a:rPr>
              <a:t>What is overclocking?</a:t>
            </a:r>
            <a:endParaRPr lang="en-US" sz="2400" b="1" dirty="0">
              <a:latin typeface="Bookman Old Style" panose="02050604050505020204" pitchFamily="18" charset="0"/>
            </a:endParaRPr>
          </a:p>
        </p:txBody>
      </p:sp>
      <p:sp>
        <p:nvSpPr>
          <p:cNvPr id="3" name="Rectangle 2"/>
          <p:cNvSpPr/>
          <p:nvPr/>
        </p:nvSpPr>
        <p:spPr>
          <a:xfrm>
            <a:off x="540248" y="953899"/>
            <a:ext cx="11254588" cy="2308324"/>
          </a:xfrm>
          <a:prstGeom prst="rect">
            <a:avLst/>
          </a:prstGeom>
        </p:spPr>
        <p:txBody>
          <a:bodyPr wrap="square">
            <a:spAutoFit/>
          </a:bodyPr>
          <a:lstStyle/>
          <a:p>
            <a:r>
              <a:rPr lang="en-US" sz="2400" b="1" dirty="0" smtClean="0">
                <a:latin typeface="Bookman Old Style" panose="02050604050505020204" pitchFamily="18" charset="0"/>
              </a:rPr>
              <a:t>Overclocking</a:t>
            </a:r>
            <a:r>
              <a:rPr lang="en-US" sz="2400" dirty="0" smtClean="0">
                <a:latin typeface="Bookman Old Style" panose="02050604050505020204" pitchFamily="18" charset="0"/>
              </a:rPr>
              <a:t> means increasing the speed at which a CPU or other hardware component works to perform calculations. </a:t>
            </a:r>
          </a:p>
          <a:p>
            <a:endParaRPr lang="en-US" sz="2400" dirty="0" smtClean="0">
              <a:latin typeface="Bookman Old Style" panose="02050604050505020204" pitchFamily="18" charset="0"/>
            </a:endParaRPr>
          </a:p>
          <a:p>
            <a:r>
              <a:rPr lang="en-US" sz="2400" dirty="0" smtClean="0">
                <a:latin typeface="Bookman Old Style" panose="02050604050505020204" pitchFamily="18" charset="0"/>
              </a:rPr>
              <a:t>Different computer processor chips run at different speeds this is known at their "</a:t>
            </a:r>
            <a:r>
              <a:rPr lang="en-US" sz="2400" b="1" dirty="0" smtClean="0">
                <a:latin typeface="Bookman Old Style" panose="02050604050505020204" pitchFamily="18" charset="0"/>
              </a:rPr>
              <a:t>clock speed</a:t>
            </a:r>
            <a:r>
              <a:rPr lang="en-US" sz="2400" dirty="0" smtClean="0">
                <a:latin typeface="Bookman Old Style" panose="02050604050505020204" pitchFamily="18" charset="0"/>
              </a:rPr>
              <a:t>." A higher clock speed means a CPU can run more operations per second, and thus run your computer faster.</a:t>
            </a:r>
            <a:endParaRPr lang="en-US" sz="2400" dirty="0">
              <a:latin typeface="Bookman Old Style" panose="02050604050505020204" pitchFamily="18" charset="0"/>
            </a:endParaRPr>
          </a:p>
        </p:txBody>
      </p:sp>
      <p:sp>
        <p:nvSpPr>
          <p:cNvPr id="4" name="Rectangle 3"/>
          <p:cNvSpPr/>
          <p:nvPr/>
        </p:nvSpPr>
        <p:spPr>
          <a:xfrm>
            <a:off x="540248" y="3421364"/>
            <a:ext cx="6042039" cy="461665"/>
          </a:xfrm>
          <a:prstGeom prst="rect">
            <a:avLst/>
          </a:prstGeom>
        </p:spPr>
        <p:txBody>
          <a:bodyPr wrap="none">
            <a:spAutoFit/>
          </a:bodyPr>
          <a:lstStyle/>
          <a:p>
            <a:r>
              <a:rPr lang="en-US" sz="2400" b="1" dirty="0" smtClean="0">
                <a:latin typeface="Bookman Old Style" panose="02050604050505020204" pitchFamily="18" charset="0"/>
              </a:rPr>
              <a:t>What does overclocking do, exactly?</a:t>
            </a:r>
            <a:endParaRPr lang="en-US" sz="2400" b="1" dirty="0">
              <a:latin typeface="Bookman Old Style" panose="02050604050505020204" pitchFamily="18" charset="0"/>
            </a:endParaRPr>
          </a:p>
        </p:txBody>
      </p:sp>
      <p:sp>
        <p:nvSpPr>
          <p:cNvPr id="5" name="Rectangle 4"/>
          <p:cNvSpPr/>
          <p:nvPr/>
        </p:nvSpPr>
        <p:spPr>
          <a:xfrm>
            <a:off x="540248" y="3883029"/>
            <a:ext cx="10885134" cy="1631216"/>
          </a:xfrm>
          <a:prstGeom prst="rect">
            <a:avLst/>
          </a:prstGeom>
        </p:spPr>
        <p:txBody>
          <a:bodyPr wrap="square">
            <a:spAutoFit/>
          </a:bodyPr>
          <a:lstStyle/>
          <a:p>
            <a:pPr marL="342900" indent="-342900">
              <a:buFont typeface="Wingdings" panose="05000000000000000000" pitchFamily="2" charset="2"/>
              <a:buChar char="v"/>
            </a:pPr>
            <a:r>
              <a:rPr lang="en-US" sz="2000" dirty="0" smtClean="0">
                <a:latin typeface="Bookman Old Style" panose="02050604050505020204" pitchFamily="18" charset="0"/>
              </a:rPr>
              <a:t>Overclocking allows you to run your processor at higher clock speeds than originally intended. </a:t>
            </a:r>
          </a:p>
          <a:p>
            <a:endParaRPr lang="en-US" sz="2000" dirty="0">
              <a:latin typeface="Bookman Old Style" panose="02050604050505020204" pitchFamily="18" charset="0"/>
            </a:endParaRPr>
          </a:p>
          <a:p>
            <a:pPr marL="342900" indent="-342900">
              <a:buFont typeface="Wingdings" panose="05000000000000000000" pitchFamily="2" charset="2"/>
              <a:buChar char="v"/>
            </a:pPr>
            <a:r>
              <a:rPr lang="en-US" sz="2000" dirty="0" smtClean="0">
                <a:latin typeface="Bookman Old Style" panose="02050604050505020204" pitchFamily="18" charset="0"/>
              </a:rPr>
              <a:t>This lets you do resource-intensive tasks faster and more smoothly, such as editing videos or photos or gaming</a:t>
            </a:r>
            <a:endParaRPr lang="en-US" sz="2000" dirty="0">
              <a:latin typeface="Bookman Old Style" panose="02050604050505020204" pitchFamily="18" charset="0"/>
            </a:endParaRPr>
          </a:p>
        </p:txBody>
      </p:sp>
    </p:spTree>
    <p:extLst>
      <p:ext uri="{BB962C8B-B14F-4D97-AF65-F5344CB8AC3E}">
        <p14:creationId xmlns:p14="http://schemas.microsoft.com/office/powerpoint/2010/main" val="28915599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9370" y="344116"/>
            <a:ext cx="3623108" cy="461665"/>
          </a:xfrm>
          <a:prstGeom prst="rect">
            <a:avLst/>
          </a:prstGeom>
        </p:spPr>
        <p:txBody>
          <a:bodyPr wrap="none">
            <a:spAutoFit/>
          </a:bodyPr>
          <a:lstStyle/>
          <a:p>
            <a:r>
              <a:rPr lang="en-US" sz="2400" b="1" dirty="0" smtClean="0">
                <a:latin typeface="Bookman Old Style" panose="02050604050505020204" pitchFamily="18" charset="0"/>
              </a:rPr>
              <a:t>Risks of overclocking</a:t>
            </a:r>
            <a:endParaRPr lang="en-US" sz="2400" b="1" dirty="0">
              <a:latin typeface="Bookman Old Style" panose="02050604050505020204" pitchFamily="18" charset="0"/>
            </a:endParaRPr>
          </a:p>
        </p:txBody>
      </p:sp>
      <p:sp>
        <p:nvSpPr>
          <p:cNvPr id="3" name="Rectangle 2"/>
          <p:cNvSpPr/>
          <p:nvPr/>
        </p:nvSpPr>
        <p:spPr>
          <a:xfrm>
            <a:off x="549369" y="898436"/>
            <a:ext cx="11051503" cy="1015663"/>
          </a:xfrm>
          <a:prstGeom prst="rect">
            <a:avLst/>
          </a:prstGeom>
        </p:spPr>
        <p:txBody>
          <a:bodyPr wrap="square">
            <a:spAutoFit/>
          </a:bodyPr>
          <a:lstStyle/>
          <a:p>
            <a:pPr marL="285750" indent="-285750">
              <a:buFont typeface="Wingdings" panose="05000000000000000000" pitchFamily="2" charset="2"/>
              <a:buChar char="v"/>
            </a:pPr>
            <a:r>
              <a:rPr lang="en-US" sz="2000" b="1" dirty="0" smtClean="0">
                <a:latin typeface="Bookman Old Style" panose="02050604050505020204" pitchFamily="18" charset="0"/>
              </a:rPr>
              <a:t>Voided warranty</a:t>
            </a:r>
          </a:p>
          <a:p>
            <a:r>
              <a:rPr lang="en-US" sz="2000" dirty="0" smtClean="0">
                <a:latin typeface="Bookman Old Style" panose="02050604050505020204" pitchFamily="18" charset="0"/>
              </a:rPr>
              <a:t>Because overclocking is often considered a form of device modification, overclocking may void your computer’s warranty.</a:t>
            </a:r>
            <a:endParaRPr lang="en-US" sz="2000" dirty="0">
              <a:latin typeface="Bookman Old Style" panose="02050604050505020204" pitchFamily="18" charset="0"/>
            </a:endParaRPr>
          </a:p>
        </p:txBody>
      </p:sp>
      <p:sp>
        <p:nvSpPr>
          <p:cNvPr id="4" name="Rectangle 3"/>
          <p:cNvSpPr/>
          <p:nvPr/>
        </p:nvSpPr>
        <p:spPr>
          <a:xfrm>
            <a:off x="549369" y="2008926"/>
            <a:ext cx="10441904" cy="1015663"/>
          </a:xfrm>
          <a:prstGeom prst="rect">
            <a:avLst/>
          </a:prstGeom>
        </p:spPr>
        <p:txBody>
          <a:bodyPr wrap="square">
            <a:spAutoFit/>
          </a:bodyPr>
          <a:lstStyle/>
          <a:p>
            <a:pPr marL="342900" indent="-342900">
              <a:buFont typeface="Wingdings" panose="05000000000000000000" pitchFamily="2" charset="2"/>
              <a:buChar char="v"/>
            </a:pPr>
            <a:r>
              <a:rPr lang="en-US" sz="2000" b="1" dirty="0" smtClean="0">
                <a:latin typeface="Bookman Old Style" panose="02050604050505020204" pitchFamily="18" charset="0"/>
              </a:rPr>
              <a:t>Instability issues</a:t>
            </a:r>
          </a:p>
          <a:p>
            <a:r>
              <a:rPr lang="en-US" sz="2000" dirty="0" smtClean="0">
                <a:latin typeface="Bookman Old Style" panose="02050604050505020204" pitchFamily="18" charset="0"/>
              </a:rPr>
              <a:t>Overclocking can cause your device to become unstable, resulting in crashes and freezing</a:t>
            </a:r>
            <a:endParaRPr lang="en-US" sz="2000" dirty="0">
              <a:latin typeface="Bookman Old Style" panose="02050604050505020204" pitchFamily="18" charset="0"/>
            </a:endParaRPr>
          </a:p>
        </p:txBody>
      </p:sp>
      <p:sp>
        <p:nvSpPr>
          <p:cNvPr id="5" name="Rectangle 4"/>
          <p:cNvSpPr/>
          <p:nvPr/>
        </p:nvSpPr>
        <p:spPr>
          <a:xfrm>
            <a:off x="519301" y="3119416"/>
            <a:ext cx="10471971" cy="1015663"/>
          </a:xfrm>
          <a:prstGeom prst="rect">
            <a:avLst/>
          </a:prstGeom>
        </p:spPr>
        <p:txBody>
          <a:bodyPr wrap="square">
            <a:spAutoFit/>
          </a:bodyPr>
          <a:lstStyle/>
          <a:p>
            <a:pPr marL="342900" indent="-342900">
              <a:buFont typeface="Wingdings" panose="05000000000000000000" pitchFamily="2" charset="2"/>
              <a:buChar char="v"/>
            </a:pPr>
            <a:r>
              <a:rPr lang="en-US" sz="2000" b="1" dirty="0" smtClean="0">
                <a:latin typeface="Bookman Old Style" panose="02050604050505020204" pitchFamily="18" charset="0"/>
              </a:rPr>
              <a:t>Overheating problems</a:t>
            </a:r>
          </a:p>
          <a:p>
            <a:r>
              <a:rPr lang="en-US" sz="2000" dirty="0" smtClean="0">
                <a:latin typeface="Bookman Old Style" panose="02050604050505020204" pitchFamily="18" charset="0"/>
              </a:rPr>
              <a:t>Another possible risk with overclocking is the potential for increases in temperature and power usage causing your device to overheat.</a:t>
            </a:r>
            <a:endParaRPr lang="en-US" sz="2000" dirty="0">
              <a:latin typeface="Bookman Old Style" panose="02050604050505020204" pitchFamily="18" charset="0"/>
            </a:endParaRPr>
          </a:p>
        </p:txBody>
      </p:sp>
    </p:spTree>
    <p:extLst>
      <p:ext uri="{BB962C8B-B14F-4D97-AF65-F5344CB8AC3E}">
        <p14:creationId xmlns:p14="http://schemas.microsoft.com/office/powerpoint/2010/main" val="4066092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1890" y="510647"/>
            <a:ext cx="11453091" cy="2369880"/>
          </a:xfrm>
          <a:prstGeom prst="rect">
            <a:avLst/>
          </a:prstGeom>
        </p:spPr>
        <p:txBody>
          <a:bodyPr wrap="square">
            <a:spAutoFit/>
          </a:bodyPr>
          <a:lstStyle/>
          <a:p>
            <a:r>
              <a:rPr lang="en-US" sz="2400" b="1" dirty="0" smtClean="0">
                <a:latin typeface="Bookman Old Style" panose="02050604050505020204" pitchFamily="18" charset="0"/>
              </a:rPr>
              <a:t>Is overclocking safe?</a:t>
            </a:r>
          </a:p>
          <a:p>
            <a:endParaRPr lang="en-US" sz="2400" dirty="0" smtClean="0">
              <a:latin typeface="Bookman Old Style" panose="02050604050505020204" pitchFamily="18" charset="0"/>
            </a:endParaRPr>
          </a:p>
          <a:p>
            <a:pPr marL="342900" indent="-342900">
              <a:buFont typeface="Wingdings" panose="05000000000000000000" pitchFamily="2" charset="2"/>
              <a:buChar char="§"/>
            </a:pPr>
            <a:r>
              <a:rPr lang="en-US" sz="2000" dirty="0" smtClean="0">
                <a:latin typeface="Bookman Old Style" panose="02050604050505020204" pitchFamily="18" charset="0"/>
              </a:rPr>
              <a:t>These days, overclocking is very safe, because modern computers have built-in safeguards to power down or turn off components if they get too hot. </a:t>
            </a:r>
          </a:p>
          <a:p>
            <a:endParaRPr lang="en-US" sz="2000" dirty="0">
              <a:latin typeface="Bookman Old Style" panose="02050604050505020204" pitchFamily="18" charset="0"/>
            </a:endParaRPr>
          </a:p>
          <a:p>
            <a:pPr marL="342900" indent="-342900">
              <a:buFont typeface="Wingdings" panose="05000000000000000000" pitchFamily="2" charset="2"/>
              <a:buChar char="§"/>
            </a:pPr>
            <a:r>
              <a:rPr lang="en-US" sz="2000" dirty="0" smtClean="0">
                <a:latin typeface="Bookman Old Style" panose="02050604050505020204" pitchFamily="18" charset="0"/>
              </a:rPr>
              <a:t>While overclocking means pushing your hardware beyond its official limits, with modern materials, your hardware will likely have no problems.</a:t>
            </a:r>
            <a:endParaRPr lang="en-US" sz="2000" dirty="0">
              <a:latin typeface="Bookman Old Style" panose="02050604050505020204" pitchFamily="18" charset="0"/>
            </a:endParaRPr>
          </a:p>
        </p:txBody>
      </p:sp>
      <p:sp>
        <p:nvSpPr>
          <p:cNvPr id="3" name="Rectangle 2"/>
          <p:cNvSpPr/>
          <p:nvPr/>
        </p:nvSpPr>
        <p:spPr>
          <a:xfrm>
            <a:off x="581890" y="3078080"/>
            <a:ext cx="6011582" cy="400110"/>
          </a:xfrm>
          <a:prstGeom prst="rect">
            <a:avLst/>
          </a:prstGeom>
        </p:spPr>
        <p:txBody>
          <a:bodyPr wrap="none">
            <a:spAutoFit/>
          </a:bodyPr>
          <a:lstStyle/>
          <a:p>
            <a:r>
              <a:rPr lang="en-US" sz="2000" b="1" dirty="0" smtClean="0">
                <a:latin typeface="Bookman Old Style" panose="02050604050505020204" pitchFamily="18" charset="0"/>
              </a:rPr>
              <a:t>How to troubleshoot overclocking problems</a:t>
            </a:r>
            <a:endParaRPr lang="en-US" sz="2000" b="1" dirty="0">
              <a:latin typeface="Bookman Old Style" panose="02050604050505020204" pitchFamily="18" charset="0"/>
            </a:endParaRPr>
          </a:p>
        </p:txBody>
      </p:sp>
      <p:sp>
        <p:nvSpPr>
          <p:cNvPr id="4" name="Rectangle 3"/>
          <p:cNvSpPr/>
          <p:nvPr/>
        </p:nvSpPr>
        <p:spPr>
          <a:xfrm>
            <a:off x="581890" y="3675743"/>
            <a:ext cx="2932213" cy="400110"/>
          </a:xfrm>
          <a:prstGeom prst="rect">
            <a:avLst/>
          </a:prstGeom>
        </p:spPr>
        <p:txBody>
          <a:bodyPr wrap="none">
            <a:spAutoFit/>
          </a:bodyPr>
          <a:lstStyle/>
          <a:p>
            <a:pPr marL="285750" indent="-285750">
              <a:buFont typeface="Wingdings" panose="05000000000000000000" pitchFamily="2" charset="2"/>
              <a:buChar char="v"/>
            </a:pPr>
            <a:r>
              <a:rPr lang="en-US" sz="2000" dirty="0" smtClean="0">
                <a:latin typeface="Bookman Old Style" panose="02050604050505020204" pitchFamily="18" charset="0"/>
              </a:rPr>
              <a:t>Test device stability</a:t>
            </a:r>
            <a:endParaRPr lang="en-US" sz="2000" dirty="0">
              <a:latin typeface="Bookman Old Style" panose="02050604050505020204" pitchFamily="18" charset="0"/>
            </a:endParaRPr>
          </a:p>
        </p:txBody>
      </p:sp>
      <p:sp>
        <p:nvSpPr>
          <p:cNvPr id="5" name="Rectangle 4"/>
          <p:cNvSpPr/>
          <p:nvPr/>
        </p:nvSpPr>
        <p:spPr>
          <a:xfrm>
            <a:off x="581890" y="4121261"/>
            <a:ext cx="4477508" cy="400110"/>
          </a:xfrm>
          <a:prstGeom prst="rect">
            <a:avLst/>
          </a:prstGeom>
        </p:spPr>
        <p:txBody>
          <a:bodyPr wrap="none">
            <a:spAutoFit/>
          </a:bodyPr>
          <a:lstStyle/>
          <a:p>
            <a:pPr marL="285750" indent="-285750">
              <a:buFont typeface="Wingdings" panose="05000000000000000000" pitchFamily="2" charset="2"/>
              <a:buChar char="v"/>
            </a:pPr>
            <a:r>
              <a:rPr lang="en-US" sz="2000" dirty="0" smtClean="0">
                <a:latin typeface="Bookman Old Style" panose="02050604050505020204" pitchFamily="18" charset="0"/>
              </a:rPr>
              <a:t>Monitor hardware temperatures</a:t>
            </a:r>
            <a:endParaRPr lang="en-US" sz="2000" dirty="0">
              <a:latin typeface="Bookman Old Style" panose="02050604050505020204" pitchFamily="18" charset="0"/>
            </a:endParaRPr>
          </a:p>
        </p:txBody>
      </p:sp>
      <p:sp>
        <p:nvSpPr>
          <p:cNvPr id="6" name="Rectangle 5"/>
          <p:cNvSpPr/>
          <p:nvPr/>
        </p:nvSpPr>
        <p:spPr>
          <a:xfrm>
            <a:off x="581890" y="4718924"/>
            <a:ext cx="3191899" cy="400110"/>
          </a:xfrm>
          <a:prstGeom prst="rect">
            <a:avLst/>
          </a:prstGeom>
        </p:spPr>
        <p:txBody>
          <a:bodyPr wrap="none">
            <a:spAutoFit/>
          </a:bodyPr>
          <a:lstStyle/>
          <a:p>
            <a:pPr marL="342900" indent="-342900">
              <a:buFont typeface="Wingdings" panose="05000000000000000000" pitchFamily="2" charset="2"/>
              <a:buChar char="v"/>
            </a:pPr>
            <a:r>
              <a:rPr lang="en-US" sz="2000" dirty="0" smtClean="0">
                <a:latin typeface="Bookman Old Style" panose="02050604050505020204" pitchFamily="18" charset="0"/>
              </a:rPr>
              <a:t>Change your settings</a:t>
            </a:r>
            <a:endParaRPr lang="en-US" sz="2000" dirty="0">
              <a:latin typeface="Bookman Old Style" panose="02050604050505020204" pitchFamily="18" charset="0"/>
            </a:endParaRPr>
          </a:p>
        </p:txBody>
      </p:sp>
      <p:sp>
        <p:nvSpPr>
          <p:cNvPr id="7" name="Rectangle 6"/>
          <p:cNvSpPr/>
          <p:nvPr/>
        </p:nvSpPr>
        <p:spPr>
          <a:xfrm>
            <a:off x="581890" y="5164442"/>
            <a:ext cx="3661580" cy="400110"/>
          </a:xfrm>
          <a:prstGeom prst="rect">
            <a:avLst/>
          </a:prstGeom>
        </p:spPr>
        <p:txBody>
          <a:bodyPr wrap="none">
            <a:spAutoFit/>
          </a:bodyPr>
          <a:lstStyle/>
          <a:p>
            <a:pPr marL="342900" indent="-342900">
              <a:buFont typeface="Wingdings" panose="05000000000000000000" pitchFamily="2" charset="2"/>
              <a:buChar char="v"/>
            </a:pPr>
            <a:r>
              <a:rPr lang="en-US" sz="2000" dirty="0" smtClean="0">
                <a:latin typeface="Bookman Old Style" panose="02050604050505020204" pitchFamily="18" charset="0"/>
              </a:rPr>
              <a:t>Update drivers and BIOS</a:t>
            </a:r>
            <a:endParaRPr lang="en-US" sz="2000" dirty="0">
              <a:latin typeface="Bookman Old Style" panose="02050604050505020204" pitchFamily="18" charset="0"/>
            </a:endParaRPr>
          </a:p>
        </p:txBody>
      </p:sp>
    </p:spTree>
    <p:extLst>
      <p:ext uri="{BB962C8B-B14F-4D97-AF65-F5344CB8AC3E}">
        <p14:creationId xmlns:p14="http://schemas.microsoft.com/office/powerpoint/2010/main" val="11226202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reenshot of a BIOS or UEFI menu with the option to overclock your CPU highligh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646" y="792739"/>
            <a:ext cx="9910193" cy="5524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1757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3900" y="1110918"/>
            <a:ext cx="11583373" cy="1631216"/>
          </a:xfrm>
          <a:prstGeom prst="rect">
            <a:avLst/>
          </a:prstGeom>
        </p:spPr>
        <p:txBody>
          <a:bodyPr wrap="square">
            <a:spAutoFit/>
          </a:bodyPr>
          <a:lstStyle/>
          <a:p>
            <a:r>
              <a:rPr lang="en-US" sz="2000" dirty="0" smtClean="0">
                <a:latin typeface="Bookman Old Style" panose="02050604050505020204" pitchFamily="18" charset="0"/>
              </a:rPr>
              <a:t>A processor (CPU) is the logic circuitry that responds to and processes the basic instructions that drive a computer. </a:t>
            </a:r>
          </a:p>
          <a:p>
            <a:endParaRPr lang="en-US" sz="2000" dirty="0">
              <a:latin typeface="Bookman Old Style" panose="02050604050505020204" pitchFamily="18" charset="0"/>
            </a:endParaRPr>
          </a:p>
          <a:p>
            <a:r>
              <a:rPr lang="en-US" sz="2000" dirty="0" smtClean="0">
                <a:latin typeface="Bookman Old Style" panose="02050604050505020204" pitchFamily="18" charset="0"/>
              </a:rPr>
              <a:t>The CPU is seen as the main and most crucial integrated circuitry (IC) chip in a computer, as it is responsible for interpreting most of computers commands.</a:t>
            </a:r>
            <a:endParaRPr lang="en-US" sz="2000" dirty="0">
              <a:latin typeface="Bookman Old Style" panose="02050604050505020204" pitchFamily="18" charset="0"/>
            </a:endParaRPr>
          </a:p>
        </p:txBody>
      </p:sp>
      <p:sp>
        <p:nvSpPr>
          <p:cNvPr id="3" name="Rectangle 2"/>
          <p:cNvSpPr/>
          <p:nvPr/>
        </p:nvSpPr>
        <p:spPr>
          <a:xfrm>
            <a:off x="608628" y="464188"/>
            <a:ext cx="3108543" cy="523220"/>
          </a:xfrm>
          <a:prstGeom prst="rect">
            <a:avLst/>
          </a:prstGeom>
        </p:spPr>
        <p:txBody>
          <a:bodyPr wrap="none">
            <a:spAutoFit/>
          </a:bodyPr>
          <a:lstStyle/>
          <a:p>
            <a:r>
              <a:rPr lang="en-US" sz="2800" b="1" dirty="0">
                <a:latin typeface="Bookman Old Style" panose="02050604050505020204" pitchFamily="18" charset="0"/>
              </a:rPr>
              <a:t>P</a:t>
            </a:r>
            <a:r>
              <a:rPr lang="en-US" sz="2800" b="1" dirty="0" smtClean="0">
                <a:latin typeface="Bookman Old Style" panose="02050604050505020204" pitchFamily="18" charset="0"/>
              </a:rPr>
              <a:t>rocessor (CPU)</a:t>
            </a:r>
            <a:endParaRPr lang="en-US" sz="2800" b="1" dirty="0">
              <a:latin typeface="Bookman Old Style" panose="02050604050505020204" pitchFamily="18" charset="0"/>
            </a:endParaRPr>
          </a:p>
        </p:txBody>
      </p:sp>
      <p:sp>
        <p:nvSpPr>
          <p:cNvPr id="4" name="TextBox 3"/>
          <p:cNvSpPr txBox="1"/>
          <p:nvPr/>
        </p:nvSpPr>
        <p:spPr>
          <a:xfrm>
            <a:off x="340772" y="2855884"/>
            <a:ext cx="2380780" cy="400110"/>
          </a:xfrm>
          <a:prstGeom prst="rect">
            <a:avLst/>
          </a:prstGeom>
          <a:noFill/>
        </p:spPr>
        <p:txBody>
          <a:bodyPr wrap="none" rtlCol="0">
            <a:spAutoFit/>
          </a:bodyPr>
          <a:lstStyle/>
          <a:p>
            <a:r>
              <a:rPr lang="en-US" sz="2000" b="1" dirty="0" smtClean="0">
                <a:latin typeface="Bookman Old Style" panose="02050604050505020204" pitchFamily="18" charset="0"/>
              </a:rPr>
              <a:t>Parts of the CPU</a:t>
            </a:r>
            <a:endParaRPr lang="en-US" sz="2000" b="1" dirty="0">
              <a:latin typeface="Bookman Old Style" panose="02050604050505020204" pitchFamily="18" charset="0"/>
            </a:endParaRPr>
          </a:p>
        </p:txBody>
      </p:sp>
      <p:sp>
        <p:nvSpPr>
          <p:cNvPr id="5" name="TextBox 4"/>
          <p:cNvSpPr txBox="1"/>
          <p:nvPr/>
        </p:nvSpPr>
        <p:spPr>
          <a:xfrm>
            <a:off x="340772" y="3234624"/>
            <a:ext cx="2034531" cy="1015663"/>
          </a:xfrm>
          <a:prstGeom prst="rect">
            <a:avLst/>
          </a:prstGeom>
          <a:noFill/>
        </p:spPr>
        <p:txBody>
          <a:bodyPr wrap="none" rtlCol="0">
            <a:spAutoFit/>
          </a:bodyPr>
          <a:lstStyle/>
          <a:p>
            <a:pPr marL="285750" indent="-285750">
              <a:buFont typeface="Wingdings" panose="05000000000000000000" pitchFamily="2" charset="2"/>
              <a:buChar char="v"/>
            </a:pPr>
            <a:r>
              <a:rPr lang="en-US" sz="2000" dirty="0" smtClean="0">
                <a:latin typeface="Bookman Old Style" panose="02050604050505020204" pitchFamily="18" charset="0"/>
              </a:rPr>
              <a:t>Control Unit</a:t>
            </a:r>
          </a:p>
          <a:p>
            <a:pPr marL="285750" indent="-285750">
              <a:buFont typeface="Wingdings" panose="05000000000000000000" pitchFamily="2" charset="2"/>
              <a:buChar char="v"/>
            </a:pPr>
            <a:r>
              <a:rPr lang="en-US" sz="2000" dirty="0" smtClean="0">
                <a:latin typeface="Bookman Old Style" panose="02050604050505020204" pitchFamily="18" charset="0"/>
              </a:rPr>
              <a:t>ALU</a:t>
            </a:r>
          </a:p>
          <a:p>
            <a:pPr marL="285750" indent="-285750">
              <a:buFont typeface="Wingdings" panose="05000000000000000000" pitchFamily="2" charset="2"/>
              <a:buChar char="v"/>
            </a:pPr>
            <a:r>
              <a:rPr lang="en-US" sz="2000" dirty="0" smtClean="0">
                <a:latin typeface="Bookman Old Style" panose="02050604050505020204" pitchFamily="18" charset="0"/>
              </a:rPr>
              <a:t>Registers </a:t>
            </a:r>
            <a:endParaRPr lang="en-US" sz="2000" dirty="0">
              <a:latin typeface="Bookman Old Style" panose="02050604050505020204" pitchFamily="18" charset="0"/>
            </a:endParaRPr>
          </a:p>
        </p:txBody>
      </p:sp>
      <p:sp>
        <p:nvSpPr>
          <p:cNvPr id="6" name="TextBox 5"/>
          <p:cNvSpPr txBox="1"/>
          <p:nvPr/>
        </p:nvSpPr>
        <p:spPr>
          <a:xfrm>
            <a:off x="423898" y="4364373"/>
            <a:ext cx="3241593" cy="400110"/>
          </a:xfrm>
          <a:prstGeom prst="rect">
            <a:avLst/>
          </a:prstGeom>
          <a:noFill/>
        </p:spPr>
        <p:txBody>
          <a:bodyPr wrap="none" rtlCol="0">
            <a:spAutoFit/>
          </a:bodyPr>
          <a:lstStyle/>
          <a:p>
            <a:r>
              <a:rPr lang="en-US" sz="2000" b="1" dirty="0" smtClean="0">
                <a:latin typeface="Bookman Old Style" panose="02050604050505020204" pitchFamily="18" charset="0"/>
              </a:rPr>
              <a:t>Operations of the  CPU</a:t>
            </a:r>
            <a:endParaRPr lang="en-US" sz="2000" b="1" dirty="0">
              <a:latin typeface="Bookman Old Style" panose="02050604050505020204" pitchFamily="18" charset="0"/>
            </a:endParaRPr>
          </a:p>
        </p:txBody>
      </p:sp>
      <p:sp>
        <p:nvSpPr>
          <p:cNvPr id="7" name="Rectangle 6"/>
          <p:cNvSpPr/>
          <p:nvPr/>
        </p:nvSpPr>
        <p:spPr>
          <a:xfrm>
            <a:off x="340772" y="4764483"/>
            <a:ext cx="11223155" cy="707886"/>
          </a:xfrm>
          <a:prstGeom prst="rect">
            <a:avLst/>
          </a:prstGeom>
        </p:spPr>
        <p:txBody>
          <a:bodyPr wrap="square">
            <a:spAutoFit/>
          </a:bodyPr>
          <a:lstStyle/>
          <a:p>
            <a:pPr marL="285750" indent="-285750">
              <a:buFont typeface="Wingdings" panose="05000000000000000000" pitchFamily="2" charset="2"/>
              <a:buChar char="§"/>
            </a:pPr>
            <a:r>
              <a:rPr lang="en-US" sz="2000" b="1" dirty="0" smtClean="0">
                <a:latin typeface="Bookman Old Style" panose="02050604050505020204" pitchFamily="18" charset="0"/>
              </a:rPr>
              <a:t>Fetch-</a:t>
            </a:r>
            <a:r>
              <a:rPr lang="en-US" sz="2000" dirty="0" smtClean="0">
                <a:latin typeface="Bookman Old Style" panose="02050604050505020204" pitchFamily="18" charset="0"/>
              </a:rPr>
              <a:t> is the operation which receives instructions from program memory from a systems RAM</a:t>
            </a:r>
            <a:endParaRPr lang="en-US" sz="2000" dirty="0">
              <a:latin typeface="Bookman Old Style" panose="02050604050505020204" pitchFamily="18" charset="0"/>
            </a:endParaRPr>
          </a:p>
        </p:txBody>
      </p:sp>
      <p:sp>
        <p:nvSpPr>
          <p:cNvPr id="8" name="Rectangle 7"/>
          <p:cNvSpPr/>
          <p:nvPr/>
        </p:nvSpPr>
        <p:spPr>
          <a:xfrm>
            <a:off x="340772" y="5458338"/>
            <a:ext cx="11223155" cy="707886"/>
          </a:xfrm>
          <a:prstGeom prst="rect">
            <a:avLst/>
          </a:prstGeom>
        </p:spPr>
        <p:txBody>
          <a:bodyPr wrap="square">
            <a:spAutoFit/>
          </a:bodyPr>
          <a:lstStyle/>
          <a:p>
            <a:pPr marL="342900" indent="-342900">
              <a:buFont typeface="Wingdings" panose="05000000000000000000" pitchFamily="2" charset="2"/>
              <a:buChar char="§"/>
            </a:pPr>
            <a:r>
              <a:rPr lang="en-US" sz="2000" b="1" dirty="0" smtClean="0">
                <a:latin typeface="Bookman Old Style" panose="02050604050505020204" pitchFamily="18" charset="0"/>
              </a:rPr>
              <a:t>Decode-</a:t>
            </a:r>
            <a:r>
              <a:rPr lang="en-US" sz="2000" dirty="0" smtClean="0">
                <a:latin typeface="Bookman Old Style" panose="02050604050505020204" pitchFamily="18" charset="0"/>
              </a:rPr>
              <a:t> is where the instruction is converted to understand which other parts of the CPU are needed to continue the operation.</a:t>
            </a:r>
            <a:endParaRPr lang="en-US" sz="2000" dirty="0">
              <a:latin typeface="Bookman Old Style" panose="02050604050505020204" pitchFamily="18" charset="0"/>
            </a:endParaRPr>
          </a:p>
        </p:txBody>
      </p:sp>
      <p:sp>
        <p:nvSpPr>
          <p:cNvPr id="9" name="Rectangle 8"/>
          <p:cNvSpPr/>
          <p:nvPr/>
        </p:nvSpPr>
        <p:spPr>
          <a:xfrm>
            <a:off x="340772" y="6166224"/>
            <a:ext cx="6300123" cy="400110"/>
          </a:xfrm>
          <a:prstGeom prst="rect">
            <a:avLst/>
          </a:prstGeom>
        </p:spPr>
        <p:txBody>
          <a:bodyPr wrap="none">
            <a:spAutoFit/>
          </a:bodyPr>
          <a:lstStyle/>
          <a:p>
            <a:pPr marL="342900" indent="-342900">
              <a:buFont typeface="Wingdings" panose="05000000000000000000" pitchFamily="2" charset="2"/>
              <a:buChar char="§"/>
            </a:pPr>
            <a:r>
              <a:rPr lang="en-US" sz="2000" b="1" dirty="0" smtClean="0">
                <a:latin typeface="Bookman Old Style" panose="02050604050505020204" pitchFamily="18" charset="0"/>
              </a:rPr>
              <a:t>Execute-</a:t>
            </a:r>
            <a:r>
              <a:rPr lang="en-US" sz="2000" dirty="0" smtClean="0">
                <a:latin typeface="Bookman Old Style" panose="02050604050505020204" pitchFamily="18" charset="0"/>
              </a:rPr>
              <a:t> is where the operation is performed.</a:t>
            </a:r>
            <a:endParaRPr lang="en-US" sz="2000" dirty="0">
              <a:latin typeface="Bookman Old Style" panose="02050604050505020204" pitchFamily="18" charset="0"/>
            </a:endParaRPr>
          </a:p>
        </p:txBody>
      </p:sp>
    </p:spTree>
    <p:extLst>
      <p:ext uri="{BB962C8B-B14F-4D97-AF65-F5344CB8AC3E}">
        <p14:creationId xmlns:p14="http://schemas.microsoft.com/office/powerpoint/2010/main" val="25452150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2987" y="732227"/>
            <a:ext cx="11169557" cy="2092881"/>
          </a:xfrm>
          <a:prstGeom prst="rect">
            <a:avLst/>
          </a:prstGeom>
        </p:spPr>
        <p:txBody>
          <a:bodyPr wrap="square">
            <a:spAutoFit/>
          </a:bodyPr>
          <a:lstStyle/>
          <a:p>
            <a:pPr marL="285750" indent="-285750">
              <a:lnSpc>
                <a:spcPct val="150000"/>
              </a:lnSpc>
              <a:buFont typeface="Wingdings" panose="05000000000000000000" pitchFamily="2" charset="2"/>
              <a:buChar char="v"/>
            </a:pPr>
            <a:r>
              <a:rPr lang="en-US" sz="2000" b="1" dirty="0" smtClean="0">
                <a:latin typeface="Bookman Old Style" panose="02050604050505020204" pitchFamily="18" charset="0"/>
              </a:rPr>
              <a:t>It Has Reached Its Age Limit</a:t>
            </a:r>
          </a:p>
          <a:p>
            <a:pPr>
              <a:lnSpc>
                <a:spcPct val="150000"/>
              </a:lnSpc>
            </a:pPr>
            <a:r>
              <a:rPr lang="en-US" sz="2000" dirty="0" smtClean="0">
                <a:latin typeface="Bookman Old Style" panose="02050604050505020204" pitchFamily="18" charset="0"/>
              </a:rPr>
              <a:t>Every machine has its own set of limitations. A computer is said to be in its final years of life if it is five years old or older. </a:t>
            </a:r>
          </a:p>
          <a:p>
            <a:r>
              <a:rPr lang="en-US" sz="2000" dirty="0" smtClean="0">
                <a:latin typeface="Bookman Old Style" panose="02050604050505020204" pitchFamily="18" charset="0"/>
              </a:rPr>
              <a:t>Technology has also advanced since the computer originally came out, so the cost to repair may not outweigh the cost to replace.</a:t>
            </a:r>
            <a:endParaRPr lang="en-US" sz="2000" dirty="0">
              <a:latin typeface="Bookman Old Style" panose="02050604050505020204" pitchFamily="18" charset="0"/>
            </a:endParaRPr>
          </a:p>
        </p:txBody>
      </p:sp>
      <p:sp>
        <p:nvSpPr>
          <p:cNvPr id="3" name="Rectangle 2"/>
          <p:cNvSpPr/>
          <p:nvPr/>
        </p:nvSpPr>
        <p:spPr>
          <a:xfrm>
            <a:off x="652988" y="187098"/>
            <a:ext cx="3857146" cy="461665"/>
          </a:xfrm>
          <a:prstGeom prst="rect">
            <a:avLst/>
          </a:prstGeom>
        </p:spPr>
        <p:txBody>
          <a:bodyPr wrap="none">
            <a:spAutoFit/>
          </a:bodyPr>
          <a:lstStyle/>
          <a:p>
            <a:r>
              <a:rPr lang="en-US" sz="2400" b="1" dirty="0" smtClean="0">
                <a:latin typeface="Bookman Old Style" panose="02050604050505020204" pitchFamily="18" charset="0"/>
              </a:rPr>
              <a:t>Causes of CPU Failures</a:t>
            </a:r>
            <a:endParaRPr lang="en-US" sz="2400" b="1" dirty="0">
              <a:latin typeface="Bookman Old Style" panose="02050604050505020204" pitchFamily="18" charset="0"/>
            </a:endParaRPr>
          </a:p>
        </p:txBody>
      </p:sp>
      <p:sp>
        <p:nvSpPr>
          <p:cNvPr id="4" name="Rectangle 3"/>
          <p:cNvSpPr/>
          <p:nvPr/>
        </p:nvSpPr>
        <p:spPr>
          <a:xfrm>
            <a:off x="652986" y="2825108"/>
            <a:ext cx="11040249" cy="1477328"/>
          </a:xfrm>
          <a:prstGeom prst="rect">
            <a:avLst/>
          </a:prstGeom>
        </p:spPr>
        <p:txBody>
          <a:bodyPr wrap="square">
            <a:spAutoFit/>
          </a:bodyPr>
          <a:lstStyle/>
          <a:p>
            <a:pPr marL="342900" indent="-342900">
              <a:lnSpc>
                <a:spcPct val="150000"/>
              </a:lnSpc>
              <a:buFont typeface="Wingdings" panose="05000000000000000000" pitchFamily="2" charset="2"/>
              <a:buChar char="v"/>
            </a:pPr>
            <a:r>
              <a:rPr lang="en-US" sz="2000" b="1" dirty="0" smtClean="0">
                <a:latin typeface="Bookman Old Style" panose="02050604050505020204" pitchFamily="18" charset="0"/>
              </a:rPr>
              <a:t>It Is Overheating</a:t>
            </a:r>
          </a:p>
          <a:p>
            <a:r>
              <a:rPr lang="en-US" sz="2000" dirty="0" smtClean="0">
                <a:latin typeface="Bookman Old Style" panose="02050604050505020204" pitchFamily="18" charset="0"/>
              </a:rPr>
              <a:t>Extremely high temperatures can overheat and kill your CPU. If your computer has an inadequate cooling mechanism and the temperatures exceed 176 °F, it can lead to these problems.</a:t>
            </a:r>
            <a:endParaRPr lang="en-US" sz="2000" dirty="0">
              <a:latin typeface="Bookman Old Style" panose="02050604050505020204" pitchFamily="18" charset="0"/>
            </a:endParaRPr>
          </a:p>
        </p:txBody>
      </p:sp>
      <p:sp>
        <p:nvSpPr>
          <p:cNvPr id="5" name="Rectangle 4"/>
          <p:cNvSpPr/>
          <p:nvPr/>
        </p:nvSpPr>
        <p:spPr>
          <a:xfrm>
            <a:off x="652986" y="4195419"/>
            <a:ext cx="11169558" cy="1169551"/>
          </a:xfrm>
          <a:prstGeom prst="rect">
            <a:avLst/>
          </a:prstGeom>
        </p:spPr>
        <p:txBody>
          <a:bodyPr wrap="square">
            <a:spAutoFit/>
          </a:bodyPr>
          <a:lstStyle/>
          <a:p>
            <a:pPr marL="342900" indent="-342900">
              <a:lnSpc>
                <a:spcPct val="150000"/>
              </a:lnSpc>
              <a:buFont typeface="Wingdings" panose="05000000000000000000" pitchFamily="2" charset="2"/>
              <a:buChar char="v"/>
            </a:pPr>
            <a:r>
              <a:rPr lang="en-US" sz="2000" b="1" dirty="0" smtClean="0">
                <a:latin typeface="Bookman Old Style" panose="02050604050505020204" pitchFamily="18" charset="0"/>
              </a:rPr>
              <a:t>Overclocking It</a:t>
            </a:r>
          </a:p>
          <a:p>
            <a:r>
              <a:rPr lang="en-US" sz="2000" dirty="0" smtClean="0">
                <a:latin typeface="Bookman Old Style" panose="02050604050505020204" pitchFamily="18" charset="0"/>
              </a:rPr>
              <a:t>Not all computer processors are the same. Don't use a dual-core processor to accomplish the job of an eight-core processor. </a:t>
            </a:r>
            <a:endParaRPr lang="en-US" sz="2000" dirty="0">
              <a:latin typeface="Bookman Old Style" panose="02050604050505020204" pitchFamily="18" charset="0"/>
            </a:endParaRPr>
          </a:p>
        </p:txBody>
      </p:sp>
      <p:sp>
        <p:nvSpPr>
          <p:cNvPr id="6" name="Rectangle 5"/>
          <p:cNvSpPr/>
          <p:nvPr/>
        </p:nvSpPr>
        <p:spPr>
          <a:xfrm>
            <a:off x="652986" y="5364970"/>
            <a:ext cx="11391232" cy="1323439"/>
          </a:xfrm>
          <a:prstGeom prst="rect">
            <a:avLst/>
          </a:prstGeom>
        </p:spPr>
        <p:txBody>
          <a:bodyPr wrap="square">
            <a:spAutoFit/>
          </a:bodyPr>
          <a:lstStyle/>
          <a:p>
            <a:pPr marL="342900" indent="-342900">
              <a:buFont typeface="Wingdings" panose="05000000000000000000" pitchFamily="2" charset="2"/>
              <a:buChar char="v"/>
            </a:pPr>
            <a:r>
              <a:rPr lang="en-US" sz="2000" b="1" dirty="0" smtClean="0">
                <a:latin typeface="Bookman Old Style" panose="02050604050505020204" pitchFamily="18" charset="0"/>
              </a:rPr>
              <a:t>Power Surges</a:t>
            </a:r>
            <a:endParaRPr lang="en-US" sz="2000" dirty="0" smtClean="0">
              <a:latin typeface="Bookman Old Style" panose="02050604050505020204" pitchFamily="18" charset="0"/>
            </a:endParaRPr>
          </a:p>
          <a:p>
            <a:r>
              <a:rPr lang="en-US" sz="2000" dirty="0" smtClean="0">
                <a:latin typeface="Bookman Old Style" panose="02050604050505020204" pitchFamily="18" charset="0"/>
              </a:rPr>
              <a:t>Any significant voltage spike can make a CPU inoperable, regardless of whether it was caused by a poor power supply or by a bolt of lightning. Consider purchasing a surge protector and battery backup to avoid this problem.</a:t>
            </a:r>
            <a:endParaRPr lang="en-US" sz="2000" dirty="0">
              <a:latin typeface="Bookman Old Style" panose="02050604050505020204" pitchFamily="18" charset="0"/>
            </a:endParaRPr>
          </a:p>
        </p:txBody>
      </p:sp>
    </p:spTree>
    <p:extLst>
      <p:ext uri="{BB962C8B-B14F-4D97-AF65-F5344CB8AC3E}">
        <p14:creationId xmlns:p14="http://schemas.microsoft.com/office/powerpoint/2010/main" val="29089609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5089" y="279461"/>
            <a:ext cx="3775393" cy="400110"/>
          </a:xfrm>
          <a:prstGeom prst="rect">
            <a:avLst/>
          </a:prstGeom>
        </p:spPr>
        <p:txBody>
          <a:bodyPr wrap="none">
            <a:spAutoFit/>
          </a:bodyPr>
          <a:lstStyle/>
          <a:p>
            <a:r>
              <a:rPr lang="en-US" sz="2000" b="1" dirty="0" smtClean="0">
                <a:latin typeface="Bookman Old Style" panose="02050604050505020204" pitchFamily="18" charset="0"/>
              </a:rPr>
              <a:t>Indicators of a failing CPU </a:t>
            </a:r>
            <a:endParaRPr lang="en-US" sz="2000" b="1" dirty="0">
              <a:latin typeface="Bookman Old Style" panose="02050604050505020204" pitchFamily="18" charset="0"/>
            </a:endParaRPr>
          </a:p>
        </p:txBody>
      </p:sp>
      <p:sp>
        <p:nvSpPr>
          <p:cNvPr id="3" name="Rectangle 2"/>
          <p:cNvSpPr/>
          <p:nvPr/>
        </p:nvSpPr>
        <p:spPr>
          <a:xfrm>
            <a:off x="505088" y="769219"/>
            <a:ext cx="11428293" cy="1477328"/>
          </a:xfrm>
          <a:prstGeom prst="rect">
            <a:avLst/>
          </a:prstGeom>
        </p:spPr>
        <p:txBody>
          <a:bodyPr wrap="square">
            <a:spAutoFit/>
          </a:bodyPr>
          <a:lstStyle/>
          <a:p>
            <a:pPr marL="285750" indent="-285750">
              <a:lnSpc>
                <a:spcPct val="150000"/>
              </a:lnSpc>
              <a:buFont typeface="Wingdings" panose="05000000000000000000" pitchFamily="2" charset="2"/>
              <a:buChar char="v"/>
            </a:pPr>
            <a:r>
              <a:rPr lang="en-US" sz="2000" b="1" dirty="0" smtClean="0">
                <a:latin typeface="Bookman Old Style" panose="02050604050505020204" pitchFamily="18" charset="0"/>
              </a:rPr>
              <a:t>Computer Freezes</a:t>
            </a:r>
          </a:p>
          <a:p>
            <a:r>
              <a:rPr lang="en-US" sz="2000" dirty="0" smtClean="0">
                <a:latin typeface="Bookman Old Style" panose="02050604050505020204" pitchFamily="18" charset="0"/>
              </a:rPr>
              <a:t>One of the most common signs of CPU failure is the random freezing of your computer, usually after just logging into the operating system. </a:t>
            </a:r>
          </a:p>
          <a:p>
            <a:r>
              <a:rPr lang="en-US" sz="2000" dirty="0" smtClean="0">
                <a:latin typeface="Bookman Old Style" panose="02050604050505020204" pitchFamily="18" charset="0"/>
              </a:rPr>
              <a:t>The system won’t respond to any of your instructions.</a:t>
            </a:r>
            <a:endParaRPr lang="en-US" sz="2000" dirty="0">
              <a:latin typeface="Bookman Old Style" panose="02050604050505020204" pitchFamily="18" charset="0"/>
            </a:endParaRPr>
          </a:p>
        </p:txBody>
      </p:sp>
      <p:sp>
        <p:nvSpPr>
          <p:cNvPr id="4" name="Rectangle 3"/>
          <p:cNvSpPr/>
          <p:nvPr/>
        </p:nvSpPr>
        <p:spPr>
          <a:xfrm>
            <a:off x="385015" y="2156899"/>
            <a:ext cx="11105021" cy="1169551"/>
          </a:xfrm>
          <a:prstGeom prst="rect">
            <a:avLst/>
          </a:prstGeom>
        </p:spPr>
        <p:txBody>
          <a:bodyPr wrap="square">
            <a:spAutoFit/>
          </a:bodyPr>
          <a:lstStyle/>
          <a:p>
            <a:pPr marL="342900" indent="-342900">
              <a:lnSpc>
                <a:spcPct val="150000"/>
              </a:lnSpc>
              <a:buFont typeface="Wingdings" panose="05000000000000000000" pitchFamily="2" charset="2"/>
              <a:buChar char="v"/>
            </a:pPr>
            <a:r>
              <a:rPr lang="en-US" sz="2000" b="1" dirty="0" smtClean="0">
                <a:latin typeface="Bookman Old Style" panose="02050604050505020204" pitchFamily="18" charset="0"/>
              </a:rPr>
              <a:t>Booting Issues</a:t>
            </a:r>
            <a:endParaRPr lang="en-US" sz="2000" dirty="0" smtClean="0">
              <a:latin typeface="Bookman Old Style" panose="02050604050505020204" pitchFamily="18" charset="0"/>
            </a:endParaRPr>
          </a:p>
          <a:p>
            <a:r>
              <a:rPr lang="en-US" sz="2000" dirty="0" smtClean="0">
                <a:latin typeface="Bookman Old Style" panose="02050604050505020204" pitchFamily="18" charset="0"/>
              </a:rPr>
              <a:t>Normally you will hear a beep sound when your computer is powered on. However, in case of a CPU failure, there can be booting issues such as blank screens</a:t>
            </a:r>
            <a:endParaRPr lang="en-US" sz="2000" dirty="0">
              <a:latin typeface="Bookman Old Style" panose="02050604050505020204" pitchFamily="18" charset="0"/>
            </a:endParaRPr>
          </a:p>
        </p:txBody>
      </p:sp>
      <p:sp>
        <p:nvSpPr>
          <p:cNvPr id="5" name="Rectangle 4"/>
          <p:cNvSpPr/>
          <p:nvPr/>
        </p:nvSpPr>
        <p:spPr>
          <a:xfrm>
            <a:off x="445647" y="3323765"/>
            <a:ext cx="5112297" cy="400110"/>
          </a:xfrm>
          <a:prstGeom prst="rect">
            <a:avLst/>
          </a:prstGeom>
        </p:spPr>
        <p:txBody>
          <a:bodyPr wrap="none">
            <a:spAutoFit/>
          </a:bodyPr>
          <a:lstStyle/>
          <a:p>
            <a:pPr marL="285750" indent="-285750">
              <a:buFont typeface="Wingdings" panose="05000000000000000000" pitchFamily="2" charset="2"/>
              <a:buChar char="v"/>
            </a:pPr>
            <a:r>
              <a:rPr lang="en-US" sz="2000" b="1" dirty="0" smtClean="0">
                <a:latin typeface="Bookman Old Style" panose="02050604050505020204" pitchFamily="18" charset="0"/>
              </a:rPr>
              <a:t>Computer Automatically Turns Off</a:t>
            </a:r>
            <a:endParaRPr lang="en-US" sz="2000" b="1" dirty="0">
              <a:latin typeface="Bookman Old Style" panose="02050604050505020204" pitchFamily="18" charset="0"/>
            </a:endParaRPr>
          </a:p>
        </p:txBody>
      </p:sp>
      <p:sp>
        <p:nvSpPr>
          <p:cNvPr id="6" name="Rectangle 5"/>
          <p:cNvSpPr/>
          <p:nvPr/>
        </p:nvSpPr>
        <p:spPr>
          <a:xfrm>
            <a:off x="445647" y="3754652"/>
            <a:ext cx="11428293" cy="1477328"/>
          </a:xfrm>
          <a:prstGeom prst="rect">
            <a:avLst/>
          </a:prstGeom>
        </p:spPr>
        <p:txBody>
          <a:bodyPr wrap="square">
            <a:spAutoFit/>
          </a:bodyPr>
          <a:lstStyle/>
          <a:p>
            <a:pPr marL="342900" indent="-342900">
              <a:lnSpc>
                <a:spcPct val="150000"/>
              </a:lnSpc>
              <a:buFont typeface="Wingdings" panose="05000000000000000000" pitchFamily="2" charset="2"/>
              <a:buChar char="v"/>
            </a:pPr>
            <a:r>
              <a:rPr lang="en-US" sz="2000" b="1" dirty="0" smtClean="0">
                <a:latin typeface="Bookman Old Style" panose="02050604050505020204" pitchFamily="18" charset="0"/>
              </a:rPr>
              <a:t>Beep alerts</a:t>
            </a:r>
            <a:endParaRPr lang="en-US" sz="2000" dirty="0" smtClean="0">
              <a:latin typeface="Bookman Old Style" panose="02050604050505020204" pitchFamily="18" charset="0"/>
            </a:endParaRPr>
          </a:p>
          <a:p>
            <a:r>
              <a:rPr lang="en-US" sz="2000" dirty="0" smtClean="0">
                <a:latin typeface="Bookman Old Style" panose="02050604050505020204" pitchFamily="18" charset="0"/>
              </a:rPr>
              <a:t>Each time the computer is booted, it checks whether all the components of the PC are functioning properly. This is called the POST test. If you hear irregular beep sounds, a failing CPU can be one of the reasons. </a:t>
            </a:r>
            <a:endParaRPr lang="en-US" sz="2000" dirty="0">
              <a:latin typeface="Bookman Old Style" panose="02050604050505020204" pitchFamily="18" charset="0"/>
            </a:endParaRPr>
          </a:p>
        </p:txBody>
      </p:sp>
      <p:sp>
        <p:nvSpPr>
          <p:cNvPr id="7" name="Rectangle 6"/>
          <p:cNvSpPr/>
          <p:nvPr/>
        </p:nvSpPr>
        <p:spPr>
          <a:xfrm>
            <a:off x="445647" y="5231980"/>
            <a:ext cx="11746353" cy="1169551"/>
          </a:xfrm>
          <a:prstGeom prst="rect">
            <a:avLst/>
          </a:prstGeom>
        </p:spPr>
        <p:txBody>
          <a:bodyPr wrap="square">
            <a:spAutoFit/>
          </a:bodyPr>
          <a:lstStyle/>
          <a:p>
            <a:pPr>
              <a:lnSpc>
                <a:spcPct val="150000"/>
              </a:lnSpc>
            </a:pPr>
            <a:r>
              <a:rPr lang="en-US" sz="2000" b="1" dirty="0" smtClean="0">
                <a:latin typeface="Bookman Old Style" panose="02050604050505020204" pitchFamily="18" charset="0"/>
              </a:rPr>
              <a:t>External Appearances of Damage</a:t>
            </a:r>
            <a:endParaRPr lang="en-US" sz="2000" dirty="0" smtClean="0">
              <a:latin typeface="Bookman Old Style" panose="02050604050505020204" pitchFamily="18" charset="0"/>
            </a:endParaRPr>
          </a:p>
          <a:p>
            <a:r>
              <a:rPr lang="en-US" sz="2000" dirty="0" smtClean="0">
                <a:latin typeface="Bookman Old Style" panose="02050604050505020204" pitchFamily="18" charset="0"/>
              </a:rPr>
              <a:t>A computer can show signs of CPU damage even without booting it up. Overheating can cause damages that may be visible externally.</a:t>
            </a:r>
            <a:endParaRPr lang="en-US" sz="2000" dirty="0">
              <a:latin typeface="Bookman Old Style" panose="02050604050505020204" pitchFamily="18" charset="0"/>
            </a:endParaRPr>
          </a:p>
        </p:txBody>
      </p:sp>
      <p:sp>
        <p:nvSpPr>
          <p:cNvPr id="8" name="Rectangle 7"/>
          <p:cNvSpPr/>
          <p:nvPr/>
        </p:nvSpPr>
        <p:spPr>
          <a:xfrm>
            <a:off x="445647" y="6401531"/>
            <a:ext cx="4328429" cy="400110"/>
          </a:xfrm>
          <a:prstGeom prst="rect">
            <a:avLst/>
          </a:prstGeom>
        </p:spPr>
        <p:txBody>
          <a:bodyPr wrap="none">
            <a:spAutoFit/>
          </a:bodyPr>
          <a:lstStyle/>
          <a:p>
            <a:pPr marL="342900" indent="-342900">
              <a:buFont typeface="Wingdings" panose="05000000000000000000" pitchFamily="2" charset="2"/>
              <a:buChar char="v"/>
            </a:pPr>
            <a:r>
              <a:rPr lang="en-US" sz="2000" b="1" dirty="0" smtClean="0">
                <a:latin typeface="Bookman Old Style" panose="02050604050505020204" pitchFamily="18" charset="0"/>
              </a:rPr>
              <a:t>Blue Screen with Error Code</a:t>
            </a:r>
            <a:endParaRPr lang="en-US" sz="2000" b="1" dirty="0">
              <a:latin typeface="Bookman Old Style" panose="02050604050505020204" pitchFamily="18" charset="0"/>
            </a:endParaRPr>
          </a:p>
        </p:txBody>
      </p:sp>
    </p:spTree>
    <p:extLst>
      <p:ext uri="{BB962C8B-B14F-4D97-AF65-F5344CB8AC3E}">
        <p14:creationId xmlns:p14="http://schemas.microsoft.com/office/powerpoint/2010/main" val="15814763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9648" y="408770"/>
            <a:ext cx="7425431" cy="400110"/>
          </a:xfrm>
          <a:prstGeom prst="rect">
            <a:avLst/>
          </a:prstGeom>
        </p:spPr>
        <p:txBody>
          <a:bodyPr wrap="none">
            <a:spAutoFit/>
          </a:bodyPr>
          <a:lstStyle/>
          <a:p>
            <a:r>
              <a:rPr lang="en-US" sz="2000" b="1" dirty="0" smtClean="0">
                <a:latin typeface="Bookman Old Style" panose="02050604050505020204" pitchFamily="18" charset="0"/>
              </a:rPr>
              <a:t>Diagnosing </a:t>
            </a:r>
            <a:r>
              <a:rPr lang="en-US" sz="2000" b="1" dirty="0">
                <a:latin typeface="Bookman Old Style" panose="02050604050505020204" pitchFamily="18" charset="0"/>
              </a:rPr>
              <a:t>and </a:t>
            </a:r>
            <a:r>
              <a:rPr lang="en-US" sz="2000" b="1" dirty="0" smtClean="0">
                <a:latin typeface="Bookman Old Style" panose="02050604050505020204" pitchFamily="18" charset="0"/>
              </a:rPr>
              <a:t>Repairing Faulty </a:t>
            </a:r>
            <a:r>
              <a:rPr lang="en-US" sz="2000" b="1" dirty="0">
                <a:latin typeface="Bookman Old Style" panose="02050604050505020204" pitchFamily="18" charset="0"/>
              </a:rPr>
              <a:t>CPU in a Computer</a:t>
            </a:r>
          </a:p>
        </p:txBody>
      </p:sp>
      <p:sp>
        <p:nvSpPr>
          <p:cNvPr id="3" name="Rectangle 2"/>
          <p:cNvSpPr/>
          <p:nvPr/>
        </p:nvSpPr>
        <p:spPr>
          <a:xfrm>
            <a:off x="498764" y="808880"/>
            <a:ext cx="10982036" cy="1886799"/>
          </a:xfrm>
          <a:prstGeom prst="rect">
            <a:avLst/>
          </a:prstGeom>
        </p:spPr>
        <p:txBody>
          <a:bodyPr wrap="square">
            <a:spAutoFit/>
          </a:bodyPr>
          <a:lstStyle/>
          <a:p>
            <a:pPr>
              <a:lnSpc>
                <a:spcPct val="150000"/>
              </a:lnSpc>
            </a:pPr>
            <a:r>
              <a:rPr lang="en-US" sz="2000" dirty="0">
                <a:latin typeface="Bookman Old Style" panose="02050604050505020204" pitchFamily="18" charset="0"/>
              </a:rPr>
              <a:t>If your computer is not booting up, crashing frequently, or overheating, you might have a problem with your CPU</a:t>
            </a:r>
            <a:r>
              <a:rPr lang="en-US" sz="2000" dirty="0" smtClean="0">
                <a:latin typeface="Bookman Old Style" panose="02050604050505020204" pitchFamily="18" charset="0"/>
              </a:rPr>
              <a:t>.</a:t>
            </a:r>
          </a:p>
          <a:p>
            <a:pPr>
              <a:lnSpc>
                <a:spcPct val="150000"/>
              </a:lnSpc>
            </a:pPr>
            <a:r>
              <a:rPr lang="en-US" sz="2000" dirty="0">
                <a:latin typeface="Bookman Old Style" panose="02050604050505020204" pitchFamily="18" charset="0"/>
              </a:rPr>
              <a:t>The CPU, or central processing unit, is the brain of your computer that executes instructions and performs calculations.</a:t>
            </a:r>
          </a:p>
        </p:txBody>
      </p:sp>
      <p:sp>
        <p:nvSpPr>
          <p:cNvPr id="4" name="Rectangle 3"/>
          <p:cNvSpPr/>
          <p:nvPr/>
        </p:nvSpPr>
        <p:spPr>
          <a:xfrm>
            <a:off x="498764" y="2886694"/>
            <a:ext cx="10132291" cy="861774"/>
          </a:xfrm>
          <a:prstGeom prst="rect">
            <a:avLst/>
          </a:prstGeom>
        </p:spPr>
        <p:txBody>
          <a:bodyPr wrap="square">
            <a:spAutoFit/>
          </a:bodyPr>
          <a:lstStyle/>
          <a:p>
            <a:pPr marL="342900" indent="-342900">
              <a:lnSpc>
                <a:spcPct val="150000"/>
              </a:lnSpc>
              <a:buFont typeface="Wingdings" panose="05000000000000000000" pitchFamily="2" charset="2"/>
              <a:buChar char="v"/>
            </a:pPr>
            <a:r>
              <a:rPr lang="en-US" sz="2000" b="1" dirty="0">
                <a:latin typeface="Bookman Old Style" panose="02050604050505020204" pitchFamily="18" charset="0"/>
              </a:rPr>
              <a:t>Identify the </a:t>
            </a:r>
            <a:r>
              <a:rPr lang="en-US" sz="2000" b="1" dirty="0" smtClean="0">
                <a:latin typeface="Bookman Old Style" panose="02050604050505020204" pitchFamily="18" charset="0"/>
              </a:rPr>
              <a:t>symptoms</a:t>
            </a:r>
            <a:endParaRPr lang="en-US" sz="2000" dirty="0">
              <a:latin typeface="Bookman Old Style" panose="02050604050505020204" pitchFamily="18" charset="0"/>
            </a:endParaRPr>
          </a:p>
          <a:p>
            <a:r>
              <a:rPr lang="en-US" sz="2000" dirty="0">
                <a:latin typeface="Bookman Old Style" panose="02050604050505020204" pitchFamily="18" charset="0"/>
              </a:rPr>
              <a:t>Identifying the symptoms of a faulty CPU is the first step.</a:t>
            </a:r>
          </a:p>
        </p:txBody>
      </p:sp>
      <p:sp>
        <p:nvSpPr>
          <p:cNvPr id="5" name="Rectangle 4"/>
          <p:cNvSpPr/>
          <p:nvPr/>
        </p:nvSpPr>
        <p:spPr>
          <a:xfrm>
            <a:off x="498764" y="3928009"/>
            <a:ext cx="11206716" cy="1169551"/>
          </a:xfrm>
          <a:prstGeom prst="rect">
            <a:avLst/>
          </a:prstGeom>
        </p:spPr>
        <p:txBody>
          <a:bodyPr wrap="square">
            <a:spAutoFit/>
          </a:bodyPr>
          <a:lstStyle/>
          <a:p>
            <a:pPr marL="342900" indent="-342900">
              <a:lnSpc>
                <a:spcPct val="150000"/>
              </a:lnSpc>
              <a:buFont typeface="Wingdings" panose="05000000000000000000" pitchFamily="2" charset="2"/>
              <a:buChar char="v"/>
            </a:pPr>
            <a:r>
              <a:rPr lang="en-US" sz="2000" b="1" dirty="0">
                <a:latin typeface="Bookman Old Style" panose="02050604050505020204" pitchFamily="18" charset="0"/>
              </a:rPr>
              <a:t>Test the </a:t>
            </a:r>
            <a:r>
              <a:rPr lang="en-US" sz="2000" b="1" dirty="0" smtClean="0">
                <a:latin typeface="Bookman Old Style" panose="02050604050505020204" pitchFamily="18" charset="0"/>
              </a:rPr>
              <a:t>CPU</a:t>
            </a:r>
            <a:endParaRPr lang="en-US" sz="2000" dirty="0">
              <a:latin typeface="Bookman Old Style" panose="02050604050505020204" pitchFamily="18" charset="0"/>
            </a:endParaRPr>
          </a:p>
          <a:p>
            <a:r>
              <a:rPr lang="en-US" sz="2000" dirty="0">
                <a:latin typeface="Bookman Old Style" panose="02050604050505020204" pitchFamily="18" charset="0"/>
              </a:rPr>
              <a:t>The second step is to test the CPU using some diagnostic tools. You can use a software tool, such as CPU-Z, to check the CPU model, speed, temperature, and voltage.</a:t>
            </a:r>
          </a:p>
        </p:txBody>
      </p:sp>
      <p:sp>
        <p:nvSpPr>
          <p:cNvPr id="6" name="Rectangle 5"/>
          <p:cNvSpPr/>
          <p:nvPr/>
        </p:nvSpPr>
        <p:spPr>
          <a:xfrm>
            <a:off x="569648" y="5277101"/>
            <a:ext cx="11135832" cy="1169551"/>
          </a:xfrm>
          <a:prstGeom prst="rect">
            <a:avLst/>
          </a:prstGeom>
        </p:spPr>
        <p:txBody>
          <a:bodyPr wrap="square">
            <a:spAutoFit/>
          </a:bodyPr>
          <a:lstStyle/>
          <a:p>
            <a:pPr marL="342900" indent="-342900">
              <a:lnSpc>
                <a:spcPct val="150000"/>
              </a:lnSpc>
              <a:buFont typeface="Wingdings" panose="05000000000000000000" pitchFamily="2" charset="2"/>
              <a:buChar char="v"/>
            </a:pPr>
            <a:r>
              <a:rPr lang="en-US" sz="2000" b="1" dirty="0">
                <a:latin typeface="Bookman Old Style" panose="02050604050505020204" pitchFamily="18" charset="0"/>
              </a:rPr>
              <a:t>Remove the </a:t>
            </a:r>
            <a:r>
              <a:rPr lang="en-US" sz="2000" b="1" dirty="0" smtClean="0">
                <a:latin typeface="Bookman Old Style" panose="02050604050505020204" pitchFamily="18" charset="0"/>
              </a:rPr>
              <a:t>CPU</a:t>
            </a:r>
            <a:endParaRPr lang="en-US" sz="2000" dirty="0">
              <a:latin typeface="Bookman Old Style" panose="02050604050505020204" pitchFamily="18" charset="0"/>
            </a:endParaRPr>
          </a:p>
          <a:p>
            <a:r>
              <a:rPr lang="en-US" sz="2000" dirty="0" smtClean="0">
                <a:latin typeface="Bookman Old Style" panose="02050604050505020204" pitchFamily="18" charset="0"/>
              </a:rPr>
              <a:t>Remove </a:t>
            </a:r>
            <a:r>
              <a:rPr lang="en-US" sz="2000" dirty="0">
                <a:latin typeface="Bookman Old Style" panose="02050604050505020204" pitchFamily="18" charset="0"/>
              </a:rPr>
              <a:t>the CPU from the motherboard. You will need to open the computer case, disconnect the power cord, and ground yourself to prevent static electricity.</a:t>
            </a:r>
          </a:p>
        </p:txBody>
      </p:sp>
    </p:spTree>
    <p:extLst>
      <p:ext uri="{BB962C8B-B14F-4D97-AF65-F5344CB8AC3E}">
        <p14:creationId xmlns:p14="http://schemas.microsoft.com/office/powerpoint/2010/main" val="18887161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0436" y="455182"/>
            <a:ext cx="11471563" cy="1477328"/>
          </a:xfrm>
          <a:prstGeom prst="rect">
            <a:avLst/>
          </a:prstGeom>
        </p:spPr>
        <p:txBody>
          <a:bodyPr wrap="square">
            <a:spAutoFit/>
          </a:bodyPr>
          <a:lstStyle/>
          <a:p>
            <a:pPr marL="342900" indent="-342900">
              <a:lnSpc>
                <a:spcPct val="150000"/>
              </a:lnSpc>
              <a:buFont typeface="Wingdings" panose="05000000000000000000" pitchFamily="2" charset="2"/>
              <a:buChar char="v"/>
            </a:pPr>
            <a:r>
              <a:rPr lang="en-US" sz="2000" b="1" dirty="0">
                <a:latin typeface="Bookman Old Style" panose="02050604050505020204" pitchFamily="18" charset="0"/>
              </a:rPr>
              <a:t>Replace the </a:t>
            </a:r>
            <a:r>
              <a:rPr lang="en-US" sz="2000" b="1" dirty="0" smtClean="0">
                <a:latin typeface="Bookman Old Style" panose="02050604050505020204" pitchFamily="18" charset="0"/>
              </a:rPr>
              <a:t>CPU</a:t>
            </a:r>
            <a:endParaRPr lang="en-US" sz="2000" b="1" dirty="0">
              <a:latin typeface="Bookman Old Style" panose="02050604050505020204" pitchFamily="18" charset="0"/>
            </a:endParaRPr>
          </a:p>
          <a:p>
            <a:r>
              <a:rPr lang="en-US" sz="2000" dirty="0" smtClean="0">
                <a:latin typeface="Bookman Old Style" panose="02050604050505020204" pitchFamily="18" charset="0"/>
              </a:rPr>
              <a:t>Replace </a:t>
            </a:r>
            <a:r>
              <a:rPr lang="en-US" sz="2000" dirty="0">
                <a:latin typeface="Bookman Old Style" panose="02050604050505020204" pitchFamily="18" charset="0"/>
              </a:rPr>
              <a:t>the CPU with a new or compatible one. You will need to check the motherboard manual or website to find out what type of CPU socket and chipset you have, and what models of CPU are supported.</a:t>
            </a:r>
          </a:p>
        </p:txBody>
      </p:sp>
      <p:sp>
        <p:nvSpPr>
          <p:cNvPr id="3" name="Rectangle 2"/>
          <p:cNvSpPr/>
          <p:nvPr/>
        </p:nvSpPr>
        <p:spPr>
          <a:xfrm>
            <a:off x="720436" y="2136247"/>
            <a:ext cx="11055928" cy="2092881"/>
          </a:xfrm>
          <a:prstGeom prst="rect">
            <a:avLst/>
          </a:prstGeom>
        </p:spPr>
        <p:txBody>
          <a:bodyPr wrap="square">
            <a:spAutoFit/>
          </a:bodyPr>
          <a:lstStyle/>
          <a:p>
            <a:pPr marL="342900" indent="-342900">
              <a:lnSpc>
                <a:spcPct val="150000"/>
              </a:lnSpc>
              <a:buFont typeface="Wingdings" panose="05000000000000000000" pitchFamily="2" charset="2"/>
              <a:buChar char="v"/>
            </a:pPr>
            <a:r>
              <a:rPr lang="en-US" sz="2000" b="1" dirty="0">
                <a:latin typeface="Bookman Old Style" panose="02050604050505020204" pitchFamily="18" charset="0"/>
              </a:rPr>
              <a:t>Troubleshoot the </a:t>
            </a:r>
            <a:r>
              <a:rPr lang="en-US" sz="2000" b="1" dirty="0" smtClean="0">
                <a:latin typeface="Bookman Old Style" panose="02050604050505020204" pitchFamily="18" charset="0"/>
              </a:rPr>
              <a:t>CPU</a:t>
            </a:r>
            <a:endParaRPr lang="en-US" sz="2000" dirty="0">
              <a:latin typeface="Bookman Old Style" panose="02050604050505020204" pitchFamily="18" charset="0"/>
            </a:endParaRPr>
          </a:p>
          <a:p>
            <a:r>
              <a:rPr lang="en-US" sz="2000" dirty="0">
                <a:latin typeface="Bookman Old Style" panose="02050604050505020204" pitchFamily="18" charset="0"/>
              </a:rPr>
              <a:t>If you experience any issues with your CPU, the sixth step is to troubleshoot it. </a:t>
            </a:r>
            <a:endParaRPr lang="en-US" sz="2000" dirty="0" smtClean="0">
              <a:latin typeface="Bookman Old Style" panose="02050604050505020204" pitchFamily="18" charset="0"/>
            </a:endParaRPr>
          </a:p>
          <a:p>
            <a:endParaRPr lang="en-US" sz="2000" dirty="0">
              <a:latin typeface="Bookman Old Style" panose="02050604050505020204" pitchFamily="18" charset="0"/>
            </a:endParaRPr>
          </a:p>
          <a:p>
            <a:r>
              <a:rPr lang="en-US" sz="2000" dirty="0" smtClean="0">
                <a:latin typeface="Bookman Old Style" panose="02050604050505020204" pitchFamily="18" charset="0"/>
              </a:rPr>
              <a:t>Resetting </a:t>
            </a:r>
            <a:r>
              <a:rPr lang="en-US" sz="2000" dirty="0">
                <a:latin typeface="Bookman Old Style" panose="02050604050505020204" pitchFamily="18" charset="0"/>
              </a:rPr>
              <a:t>the BIOS or UEFI settings to the default values, updating the BIOS or UEFI firmware to the latest </a:t>
            </a:r>
            <a:r>
              <a:rPr lang="en-US" sz="2000" dirty="0" smtClean="0">
                <a:latin typeface="Bookman Old Style" panose="02050604050505020204" pitchFamily="18" charset="0"/>
              </a:rPr>
              <a:t>version </a:t>
            </a:r>
            <a:r>
              <a:rPr lang="en-US" sz="2000" dirty="0">
                <a:latin typeface="Bookman Old Style" panose="02050604050505020204" pitchFamily="18" charset="0"/>
              </a:rPr>
              <a:t>and updating device drivers and operating system to the latest version are all possible solutions.</a:t>
            </a:r>
          </a:p>
        </p:txBody>
      </p:sp>
    </p:spTree>
    <p:extLst>
      <p:ext uri="{BB962C8B-B14F-4D97-AF65-F5344CB8AC3E}">
        <p14:creationId xmlns:p14="http://schemas.microsoft.com/office/powerpoint/2010/main" val="19550652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0004" y="219449"/>
            <a:ext cx="2220480" cy="501291"/>
          </a:xfrm>
          <a:prstGeom prst="rect">
            <a:avLst/>
          </a:prstGeom>
        </p:spPr>
        <p:txBody>
          <a:bodyPr wrap="none">
            <a:spAutoFit/>
          </a:bodyPr>
          <a:lstStyle/>
          <a:p>
            <a:pPr>
              <a:lnSpc>
                <a:spcPct val="150000"/>
              </a:lnSpc>
            </a:pPr>
            <a:r>
              <a:rPr lang="en-US" sz="2000" b="1" dirty="0" smtClean="0">
                <a:latin typeface="Bookman Old Style" panose="02050604050505020204" pitchFamily="18" charset="0"/>
              </a:rPr>
              <a:t>Make notes on;</a:t>
            </a:r>
            <a:endParaRPr lang="en-US" sz="2000" dirty="0">
              <a:latin typeface="Bookman Old Style" panose="02050604050505020204" pitchFamily="18" charset="0"/>
            </a:endParaRPr>
          </a:p>
        </p:txBody>
      </p:sp>
      <p:sp>
        <p:nvSpPr>
          <p:cNvPr id="3" name="Rectangle 2"/>
          <p:cNvSpPr/>
          <p:nvPr/>
        </p:nvSpPr>
        <p:spPr>
          <a:xfrm>
            <a:off x="940004" y="958051"/>
            <a:ext cx="10954328" cy="2937727"/>
          </a:xfrm>
          <a:prstGeom prst="rect">
            <a:avLst/>
          </a:prstGeom>
        </p:spPr>
        <p:txBody>
          <a:bodyPr wrap="square">
            <a:spAutoFit/>
          </a:bodyPr>
          <a:lstStyle/>
          <a:p>
            <a:pPr lvl="0">
              <a:lnSpc>
                <a:spcPct val="115000"/>
              </a:lnSpc>
              <a:spcAft>
                <a:spcPts val="800"/>
              </a:spcAft>
            </a:pPr>
            <a:r>
              <a:rPr lang="en-US"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Differentiate between RAM and ROM</a:t>
            </a:r>
          </a:p>
          <a:p>
            <a:pPr lvl="0">
              <a:lnSpc>
                <a:spcPct val="115000"/>
              </a:lnSpc>
              <a:spcAft>
                <a:spcPts val="800"/>
              </a:spcAft>
            </a:pPr>
            <a:r>
              <a:rPr lang="en-US"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use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of memory in a computer system and how the amount of memory affects the performance of a </a:t>
            </a:r>
            <a:r>
              <a:rPr lang="en-US"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computer.</a:t>
            </a:r>
          </a:p>
          <a:p>
            <a:pPr lvl="0">
              <a:lnSpc>
                <a:spcPct val="115000"/>
              </a:lnSpc>
              <a:spcAft>
                <a:spcPts val="800"/>
              </a:spcAft>
            </a:pPr>
            <a:r>
              <a:rPr lang="en-US" dirty="0" smtClean="0">
                <a:solidFill>
                  <a:srgbClr val="000000"/>
                </a:solidFill>
                <a:latin typeface="Times New Roman" panose="02020603050405020304" pitchFamily="18" charset="0"/>
                <a:ea typeface="Calibri" panose="020F0502020204030204" pitchFamily="34" charset="0"/>
              </a:rPr>
              <a:t>What is an operating </a:t>
            </a:r>
            <a:endParaRPr lang="en-US" dirty="0" smtClean="0">
              <a:solidFill>
                <a:srgbClr val="000000"/>
              </a:solidFill>
              <a:latin typeface="Times New Roman" panose="02020603050405020304" pitchFamily="18" charset="0"/>
              <a:ea typeface="Calibri" panose="020F0502020204030204" pitchFamily="34" charset="0"/>
            </a:endParaRPr>
          </a:p>
          <a:p>
            <a:pPr lvl="0">
              <a:lnSpc>
                <a:spcPct val="115000"/>
              </a:lnSpc>
              <a:spcAft>
                <a:spcPts val="800"/>
              </a:spcAft>
            </a:pPr>
            <a:r>
              <a:rPr lang="en-US" dirty="0" smtClean="0">
                <a:solidFill>
                  <a:srgbClr val="000000"/>
                </a:solidFill>
                <a:latin typeface="Times New Roman" panose="02020603050405020304" pitchFamily="18" charset="0"/>
                <a:ea typeface="Calibri" panose="020F0502020204030204" pitchFamily="34" charset="0"/>
              </a:rPr>
              <a:t>Steps in installing the operating system (like </a:t>
            </a:r>
            <a:r>
              <a:rPr lang="en-US" dirty="0">
                <a:solidFill>
                  <a:srgbClr val="000000"/>
                </a:solidFill>
                <a:latin typeface="Times New Roman" panose="02020603050405020304" pitchFamily="18" charset="0"/>
                <a:ea typeface="Calibri" panose="020F0502020204030204" pitchFamily="34" charset="0"/>
              </a:rPr>
              <a:t>windows 7) </a:t>
            </a:r>
            <a:r>
              <a:rPr lang="en-US" dirty="0" smtClean="0">
                <a:solidFill>
                  <a:srgbClr val="000000"/>
                </a:solidFill>
                <a:latin typeface="Times New Roman" panose="02020603050405020304" pitchFamily="18" charset="0"/>
                <a:ea typeface="Calibri" panose="020F0502020204030204" pitchFamily="34" charset="0"/>
              </a:rPr>
              <a:t>on laptop computer or tablet </a:t>
            </a:r>
            <a:endParaRPr lang="en-US" dirty="0">
              <a:solidFill>
                <a:srgbClr val="000000"/>
              </a:solidFill>
              <a:latin typeface="Times New Roman" panose="02020603050405020304" pitchFamily="18" charset="0"/>
              <a:ea typeface="Calibri" panose="020F0502020204030204" pitchFamily="34" charset="0"/>
            </a:endParaRPr>
          </a:p>
          <a:p>
            <a:pPr lvl="0">
              <a:lnSpc>
                <a:spcPct val="115000"/>
              </a:lnSpc>
              <a:spcAft>
                <a:spcPts val="800"/>
              </a:spcAft>
            </a:pPr>
            <a:r>
              <a:rPr lang="en-US" dirty="0" smtClean="0">
                <a:solidFill>
                  <a:srgbClr val="000000"/>
                </a:solidFill>
                <a:latin typeface="Times New Roman" panose="02020603050405020304" pitchFamily="18" charset="0"/>
                <a:ea typeface="Calibri" panose="020F0502020204030204" pitchFamily="34" charset="0"/>
              </a:rPr>
              <a:t>How </a:t>
            </a:r>
            <a:r>
              <a:rPr lang="en-US" dirty="0" smtClean="0">
                <a:solidFill>
                  <a:srgbClr val="000000"/>
                </a:solidFill>
                <a:latin typeface="Times New Roman" panose="02020603050405020304" pitchFamily="18" charset="0"/>
                <a:ea typeface="Calibri" panose="020F0502020204030204" pitchFamily="34" charset="0"/>
              </a:rPr>
              <a:t>does the operating </a:t>
            </a:r>
            <a:r>
              <a:rPr lang="en-US" dirty="0">
                <a:solidFill>
                  <a:srgbClr val="000000"/>
                </a:solidFill>
                <a:latin typeface="Times New Roman" panose="02020603050405020304" pitchFamily="18" charset="0"/>
                <a:ea typeface="Calibri" panose="020F0502020204030204" pitchFamily="34" charset="0"/>
              </a:rPr>
              <a:t>system finds data on a </a:t>
            </a:r>
            <a:r>
              <a:rPr lang="en-US" dirty="0" smtClean="0">
                <a:solidFill>
                  <a:srgbClr val="000000"/>
                </a:solidFill>
                <a:latin typeface="Times New Roman" panose="02020603050405020304" pitchFamily="18" charset="0"/>
                <a:ea typeface="Calibri" panose="020F0502020204030204" pitchFamily="34" charset="0"/>
              </a:rPr>
              <a:t>disk.</a:t>
            </a:r>
          </a:p>
          <a:p>
            <a:pPr lvl="0">
              <a:lnSpc>
                <a:spcPct val="115000"/>
              </a:lnSpc>
              <a:spcAft>
                <a:spcPts val="800"/>
              </a:spcAft>
            </a:pPr>
            <a:r>
              <a:rPr lang="en-US" dirty="0" smtClean="0">
                <a:solidFill>
                  <a:srgbClr val="000000"/>
                </a:solidFill>
                <a:latin typeface="Times New Roman" panose="02020603050405020304" pitchFamily="18" charset="0"/>
              </a:rPr>
              <a:t>What </a:t>
            </a:r>
            <a:r>
              <a:rPr lang="en-US" dirty="0" smtClean="0">
                <a:solidFill>
                  <a:srgbClr val="000000"/>
                </a:solidFill>
                <a:latin typeface="Times New Roman" panose="02020603050405020304" pitchFamily="18" charset="0"/>
              </a:rPr>
              <a:t>is troubleshooting in computing and list the steps in the troubleshooting process </a:t>
            </a:r>
          </a:p>
          <a:p>
            <a:pPr lvl="0">
              <a:lnSpc>
                <a:spcPct val="115000"/>
              </a:lnSpc>
              <a:spcAft>
                <a:spcPts val="800"/>
              </a:spcAft>
            </a:pPr>
            <a:endParaRPr lang="en-US" dirty="0"/>
          </a:p>
        </p:txBody>
      </p:sp>
    </p:spTree>
    <p:extLst>
      <p:ext uri="{BB962C8B-B14F-4D97-AF65-F5344CB8AC3E}">
        <p14:creationId xmlns:p14="http://schemas.microsoft.com/office/powerpoint/2010/main" val="964960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934</TotalTime>
  <Words>1103</Words>
  <Application>Microsoft Office PowerPoint</Application>
  <PresentationFormat>Widescreen</PresentationFormat>
  <Paragraphs>87</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Bookman Old Style</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pc</cp:lastModifiedBy>
  <cp:revision>16</cp:revision>
  <dcterms:created xsi:type="dcterms:W3CDTF">2024-04-16T20:28:44Z</dcterms:created>
  <dcterms:modified xsi:type="dcterms:W3CDTF">2024-05-13T06:04:54Z</dcterms:modified>
</cp:coreProperties>
</file>