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5" r:id="rId27"/>
    <p:sldId id="286" r:id="rId28"/>
    <p:sldId id="287" r:id="rId29"/>
    <p:sldId id="289" r:id="rId30"/>
    <p:sldId id="290" r:id="rId31"/>
    <p:sldId id="291" r:id="rId32"/>
    <p:sldId id="292" r:id="rId33"/>
    <p:sldId id="301" r:id="rId34"/>
    <p:sldId id="302" r:id="rId35"/>
    <p:sldId id="303" r:id="rId36"/>
    <p:sldId id="304" r:id="rId37"/>
    <p:sldId id="306" r:id="rId38"/>
    <p:sldId id="308" r:id="rId39"/>
    <p:sldId id="309" r:id="rId40"/>
    <p:sldId id="310" r:id="rId41"/>
    <p:sldId id="299" r:id="rId42"/>
  </p:sldIdLst>
  <p:sldSz cx="9144000" cy="6858000" type="screen4x3"/>
  <p:notesSz cx="6858000" cy="9144000"/>
  <p:defaultTextStyle>
    <a:defPPr>
      <a:defRPr lang="en-I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04B8F1C-7EF0-4311-8207-D7D717B32C00}" type="datetimeFigureOut">
              <a:rPr lang="en-IN"/>
              <a:pPr>
                <a:defRPr/>
              </a:pPr>
              <a:t>26-03-2024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9D5DCE5-6879-4449-B713-CFD26F74792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D5DCE5-6879-4449-B713-CFD26F74792E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>
              <a:defRPr/>
            </a:pPr>
            <a:fld id="{C9CD9043-37CC-4B2C-A0A4-08915D13AB58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pPr>
              <a:defRPr/>
            </a:pPr>
            <a:fld id="{FD16BE79-F834-4AF4-82B3-F8A0930CD255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49F0BB-5D84-4F8B-91C8-7FE6FC85212A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EB47ED-DC1D-4ED8-ACFD-26347FFD95A7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D77CACD1-1E0A-4008-B07B-240FE460328C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45CE0-F3EE-4EE5-BE30-0F7769909B2B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722719E6-261B-4D0B-B772-39EA1F4DE2D8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8CFDD945-706D-42F5-BB36-502C2AC6CE43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5DCDC0-241A-40C0-B4E4-79CE73BE8552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E3867D-A69E-4F00-BA93-F846301B0038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DB610F4-C45E-42E0-B4C2-F9F6DB0716CB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43608" y="1844824"/>
            <a:ext cx="7772400" cy="226253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800" dirty="0">
                <a:solidFill>
                  <a:srgbClr val="0070C0"/>
                </a:solidFill>
              </a:rPr>
              <a:t>Installation, Repair, Servicing &amp; Maintenance concepts</a:t>
            </a:r>
            <a:endParaRPr lang="en-IN" sz="4800" dirty="0">
              <a:solidFill>
                <a:srgbClr val="0070C0"/>
              </a:solidFill>
            </a:endParaRPr>
          </a:p>
        </p:txBody>
      </p:sp>
      <p:sp>
        <p:nvSpPr>
          <p:cNvPr id="205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  <p:sp>
        <p:nvSpPr>
          <p:cNvPr id="20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CC68A8F-F601-46A6-BF8B-C2D5D6D24DCC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Concepts	</a:t>
            </a:r>
            <a:endParaRPr lang="en-IN"/>
          </a:p>
        </p:txBody>
      </p:sp>
      <p:sp>
        <p:nvSpPr>
          <p:cNvPr id="30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effective &amp; efficient working of a system depends on the following four features:</a:t>
            </a:r>
          </a:p>
          <a:p>
            <a:pPr eaLnBrk="1" hangingPunct="1"/>
            <a:r>
              <a:rPr lang="en-US" dirty="0"/>
              <a:t>Maintenance</a:t>
            </a:r>
          </a:p>
          <a:p>
            <a:pPr eaLnBrk="1" hangingPunct="1"/>
            <a:r>
              <a:rPr lang="en-US" dirty="0"/>
              <a:t>Servicing</a:t>
            </a:r>
          </a:p>
          <a:p>
            <a:pPr eaLnBrk="1" hangingPunct="1"/>
            <a:r>
              <a:rPr lang="en-US" dirty="0"/>
              <a:t>Trouble shooting</a:t>
            </a:r>
          </a:p>
          <a:p>
            <a:pPr eaLnBrk="1" hangingPunct="1"/>
            <a:r>
              <a:rPr lang="en-US" dirty="0"/>
              <a:t>Repair </a:t>
            </a:r>
            <a:endParaRPr lang="en-IN" dirty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E66EC3F1-D860-4413-8BAE-DF18D38A3661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3077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Maintenance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Maintenance includes both hardware &amp; software in it.</a:t>
            </a:r>
          </a:p>
          <a:p>
            <a:pPr algn="just" eaLnBrk="1" hangingPunct="1"/>
            <a:r>
              <a:rPr lang="en-US" dirty="0"/>
              <a:t>Maintenance is a continuous process.</a:t>
            </a:r>
          </a:p>
          <a:p>
            <a:pPr algn="just" eaLnBrk="1" hangingPunct="1"/>
            <a:r>
              <a:rPr lang="en-US" dirty="0"/>
              <a:t>Hardware maintenance includes cleaning dust, maintaining constant voltage, etc.</a:t>
            </a:r>
          </a:p>
          <a:p>
            <a:pPr algn="just" eaLnBrk="1" hangingPunct="1"/>
            <a:r>
              <a:rPr lang="en-US" dirty="0"/>
              <a:t>Software maintenance includes reinstallation, upgradation &amp; removal of different </a:t>
            </a:r>
            <a:r>
              <a:rPr lang="en-US" dirty="0" err="1"/>
              <a:t>softwares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AF7FDE80-83DD-41C8-9146-C3900277DBD0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101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Servicing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Servicing is mainly associated with hardware equipment.</a:t>
            </a:r>
          </a:p>
          <a:p>
            <a:pPr algn="just" eaLnBrk="1" hangingPunct="1"/>
            <a:r>
              <a:rPr lang="en-US" dirty="0"/>
              <a:t>Servicing includes checkups, repairs and </a:t>
            </a:r>
            <a:r>
              <a:rPr lang="en-US" dirty="0" err="1"/>
              <a:t>updation</a:t>
            </a:r>
            <a:r>
              <a:rPr lang="en-US" dirty="0"/>
              <a:t> of all physical components.</a:t>
            </a:r>
          </a:p>
          <a:p>
            <a:pPr algn="just" eaLnBrk="1" hangingPunct="1"/>
            <a:r>
              <a:rPr lang="en-US" dirty="0"/>
              <a:t>Service provider should have proper knowledge about various components and their installation procedures.</a:t>
            </a:r>
            <a:endParaRPr lang="en-IN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1D44D91A-0F3F-4D6D-ABA9-7DFA0F698FCA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125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Servicing steps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Uninstall </a:t>
            </a:r>
            <a:r>
              <a:rPr lang="en-US" dirty="0"/>
              <a:t>all physical components starting from power connections to internal motherboard connections.</a:t>
            </a:r>
          </a:p>
          <a:p>
            <a:pPr eaLnBrk="1" hangingPunct="1"/>
            <a:r>
              <a:rPr lang="en-US" b="1" dirty="0"/>
              <a:t>Clean dust </a:t>
            </a:r>
            <a:r>
              <a:rPr lang="en-US" dirty="0"/>
              <a:t>from the components.</a:t>
            </a:r>
          </a:p>
          <a:p>
            <a:pPr eaLnBrk="1" hangingPunct="1"/>
            <a:r>
              <a:rPr lang="en-US" dirty="0"/>
              <a:t>Perform a </a:t>
            </a:r>
            <a:r>
              <a:rPr lang="en-US" b="1" dirty="0"/>
              <a:t>visual check </a:t>
            </a:r>
            <a:r>
              <a:rPr lang="en-US" dirty="0"/>
              <a:t>or </a:t>
            </a:r>
            <a:r>
              <a:rPr lang="en-US" b="1" dirty="0"/>
              <a:t>electronic check</a:t>
            </a:r>
            <a:r>
              <a:rPr lang="en-US" dirty="0"/>
              <a:t> as required.</a:t>
            </a:r>
          </a:p>
          <a:p>
            <a:pPr eaLnBrk="1" hangingPunct="1"/>
            <a:r>
              <a:rPr lang="en-US" b="1" dirty="0"/>
              <a:t>Reinstall </a:t>
            </a:r>
            <a:r>
              <a:rPr lang="en-US" dirty="0"/>
              <a:t>all components carefully and properly.</a:t>
            </a:r>
            <a:endParaRPr lang="en-IN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52E39990-1F3E-4444-8C8B-A71AE6E76E97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6149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Servicing steps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Check for loose wiring or crack cables.</a:t>
            </a:r>
          </a:p>
          <a:p>
            <a:pPr algn="just" eaLnBrk="1" hangingPunct="1"/>
            <a:r>
              <a:rPr lang="en-US" dirty="0"/>
              <a:t>Check if any jumper is missing, if required replace it with a new one.</a:t>
            </a:r>
          </a:p>
          <a:p>
            <a:pPr algn="just" eaLnBrk="1" hangingPunct="1"/>
            <a:r>
              <a:rPr lang="en-US" dirty="0"/>
              <a:t>Check for physical damages of peripherals and replace them if needed.</a:t>
            </a:r>
          </a:p>
          <a:p>
            <a:pPr algn="just" eaLnBrk="1" hangingPunct="1"/>
            <a:r>
              <a:rPr lang="en-US" dirty="0"/>
              <a:t>Tighten all external connections.</a:t>
            </a:r>
          </a:p>
          <a:p>
            <a:pPr algn="just" eaLnBrk="1" hangingPunct="1"/>
            <a:r>
              <a:rPr lang="en-US" dirty="0"/>
              <a:t>Switch on the power supply and observe.</a:t>
            </a:r>
            <a:endParaRPr lang="en-IN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2FC6C019-DC65-49C5-AA49-98647104AD42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Troubleshooting </a:t>
            </a:r>
            <a:endParaRPr lang="en-IN"/>
          </a:p>
        </p:txBody>
      </p:sp>
      <p:sp>
        <p:nvSpPr>
          <p:cNvPr id="819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Troubleshooting is a form of problem solving, often applied to repair failed products or processes on a machine or a system.</a:t>
            </a:r>
          </a:p>
          <a:p>
            <a:pPr algn="just" eaLnBrk="1" hangingPunct="1"/>
            <a:r>
              <a:rPr lang="en-US" dirty="0"/>
              <a:t>The detection and removal of faults in the computer system can also be termed as </a:t>
            </a:r>
            <a:r>
              <a:rPr lang="en-US" b="1" dirty="0"/>
              <a:t>troubleshooting. </a:t>
            </a:r>
          </a:p>
          <a:p>
            <a:pPr algn="just" eaLnBrk="1" hangingPunct="1"/>
            <a:r>
              <a:rPr lang="en-US" dirty="0"/>
              <a:t>If a problem is detected in a system, it is to be sorted out immediately.</a:t>
            </a:r>
          </a:p>
          <a:p>
            <a:pPr algn="just" eaLnBrk="1" hangingPunct="1"/>
            <a:r>
              <a:rPr lang="en-US" dirty="0"/>
              <a:t>Troubleshooting is of two types :</a:t>
            </a:r>
          </a:p>
          <a:p>
            <a:pPr lvl="2" algn="just" eaLnBrk="1" hangingPunct="1"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b="1" dirty="0"/>
              <a:t>Hardware troubleshooting.</a:t>
            </a:r>
          </a:p>
          <a:p>
            <a:pPr lvl="2" algn="just" eaLnBrk="1" hangingPunct="1">
              <a:buFont typeface="Wingdings" panose="05000000000000000000" pitchFamily="2" charset="2"/>
              <a:buChar char="v"/>
            </a:pPr>
            <a:r>
              <a:rPr lang="en-US" b="1" dirty="0"/>
              <a:t> Software troubleshooting.</a:t>
            </a:r>
          </a:p>
          <a:p>
            <a:pPr lvl="2" algn="just" eaLnBrk="1" hangingPunct="1">
              <a:buFontTx/>
              <a:buNone/>
            </a:pPr>
            <a:endParaRPr lang="en-US" dirty="0"/>
          </a:p>
          <a:p>
            <a:pPr lvl="2" algn="just" eaLnBrk="1" hangingPunct="1">
              <a:buFontTx/>
              <a:buNone/>
            </a:pPr>
            <a:endParaRPr lang="en-US" dirty="0"/>
          </a:p>
          <a:p>
            <a:pPr algn="just" eaLnBrk="1" hangingPunct="1"/>
            <a:endParaRPr lang="en-IN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5B4E5345-6F97-430A-9345-283AE1D7D8EF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8197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Repairing Concepts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>
              <a:buFontTx/>
              <a:buNone/>
            </a:pPr>
            <a:r>
              <a:rPr lang="en-US" dirty="0"/>
              <a:t>Repairing means to rectify the problem in the hardware or software.</a:t>
            </a:r>
          </a:p>
          <a:p>
            <a:pPr algn="just" eaLnBrk="1" hangingPunct="1">
              <a:buFontTx/>
              <a:buNone/>
            </a:pPr>
            <a:r>
              <a:rPr lang="en-US" dirty="0"/>
              <a:t>While finding or analyzing the faults, it can be decided which hardware or software can be repaired.</a:t>
            </a:r>
          </a:p>
          <a:p>
            <a:pPr algn="just" eaLnBrk="1" hangingPunct="1">
              <a:buFontTx/>
              <a:buNone/>
            </a:pPr>
            <a:r>
              <a:rPr lang="en-US" dirty="0"/>
              <a:t>Repairing may also include replacement of a component.</a:t>
            </a:r>
          </a:p>
          <a:p>
            <a:pPr algn="just" eaLnBrk="1" hangingPunct="1">
              <a:buFontTx/>
              <a:buNone/>
            </a:pPr>
            <a:r>
              <a:rPr lang="en-US" dirty="0"/>
              <a:t>It is an essential part of troubleshooting. </a:t>
            </a:r>
            <a:endParaRPr lang="en-IN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F4643D40-2F40-4531-B718-B3276B973289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n-US" b="1" dirty="0">
                <a:solidFill>
                  <a:schemeClr val="tx1"/>
                </a:solidFill>
              </a:rPr>
              <a:t>Repair Maintenance policy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Repair of components may result into adding up of cost and delay in operations.</a:t>
            </a:r>
          </a:p>
          <a:p>
            <a:pPr algn="just" eaLnBrk="1" hangingPunct="1"/>
            <a:r>
              <a:rPr lang="en-US" dirty="0"/>
              <a:t>Some failures occur because of repairs, it is called </a:t>
            </a:r>
            <a:r>
              <a:rPr lang="en-US" b="1" dirty="0"/>
              <a:t>repair generated failures</a:t>
            </a:r>
            <a:r>
              <a:rPr lang="en-US" dirty="0"/>
              <a:t>.</a:t>
            </a:r>
          </a:p>
          <a:p>
            <a:pPr algn="just" eaLnBrk="1" hangingPunct="1"/>
            <a:r>
              <a:rPr lang="en-US" dirty="0"/>
              <a:t>Repairs are termed as </a:t>
            </a:r>
            <a:r>
              <a:rPr lang="en-US" b="1" dirty="0"/>
              <a:t>corrective maintenance</a:t>
            </a:r>
            <a:r>
              <a:rPr lang="en-US" dirty="0"/>
              <a:t>.</a:t>
            </a:r>
          </a:p>
          <a:p>
            <a:pPr algn="just" eaLnBrk="1" hangingPunct="1"/>
            <a:r>
              <a:rPr lang="en-US" dirty="0"/>
              <a:t>Corrective maintenance is done when a fault occurs.</a:t>
            </a:r>
            <a:endParaRPr lang="en-IN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pPr algn="just"/>
            <a:fld id="{6F9403F6-117F-4F17-AB59-8CF76472221A}" type="slidenum">
              <a:rPr lang="en-IN" smtClean="0"/>
              <a:pPr algn="just"/>
              <a:t>9</a:t>
            </a:fld>
            <a:endParaRPr lang="en-IN"/>
          </a:p>
        </p:txBody>
      </p:sp>
      <p:sp>
        <p:nvSpPr>
          <p:cNvPr id="11269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pPr algn="just"/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Repair generated failures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These failures depend on the performance of the technician.</a:t>
            </a:r>
          </a:p>
          <a:p>
            <a:pPr algn="just" eaLnBrk="1" hangingPunct="1"/>
            <a:r>
              <a:rPr lang="en-US" dirty="0"/>
              <a:t>The technician during repairing process may leave some loose connections, wrong connections or some broken pins / broken wires.</a:t>
            </a:r>
          </a:p>
          <a:p>
            <a:pPr algn="just" eaLnBrk="1" hangingPunct="1"/>
            <a:r>
              <a:rPr lang="en-US" dirty="0"/>
              <a:t>These can be avoided if the technician rechecks/revise the work done.</a:t>
            </a:r>
            <a:endParaRPr lang="en-IN" dirty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C64E482B-0410-4CA9-91E3-439C80C924C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Maintenance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Maintenance is a process which starts with installation of the system and runs through out the life of it.</a:t>
            </a:r>
          </a:p>
          <a:p>
            <a:pPr algn="just" eaLnBrk="1" hangingPunct="1"/>
            <a:r>
              <a:rPr lang="en-US" dirty="0"/>
              <a:t>Maintenance includes both…</a:t>
            </a:r>
          </a:p>
          <a:p>
            <a:pPr lvl="1" algn="just" eaLnBrk="1" hangingPunct="1"/>
            <a:r>
              <a:rPr lang="en-US" dirty="0"/>
              <a:t>Hardware maintenance.</a:t>
            </a:r>
          </a:p>
          <a:p>
            <a:pPr lvl="1" algn="just" eaLnBrk="1" hangingPunct="1"/>
            <a:r>
              <a:rPr lang="en-US" dirty="0"/>
              <a:t>Software maintenance.</a:t>
            </a:r>
            <a:endParaRPr lang="en-IN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70E3A39B-DABA-45E5-BE36-77AD2BB0FEEA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14341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dirty="0" smtClean="0"/>
              <a:t>mpeter@mmu.ac.ug</a:t>
            </a:r>
            <a:endParaRPr lang="en-IN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n-US"/>
              <a:t>Software Maintenance</a:t>
            </a:r>
            <a:endParaRPr lang="en-IN"/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528638" y="1412875"/>
            <a:ext cx="7472386" cy="4713288"/>
          </a:xfrm>
        </p:spPr>
        <p:txBody>
          <a:bodyPr/>
          <a:lstStyle/>
          <a:p>
            <a:pPr algn="just" eaLnBrk="1" hangingPunct="1"/>
            <a:r>
              <a:rPr lang="en-US" dirty="0"/>
              <a:t>Software maintenance includes </a:t>
            </a:r>
            <a:r>
              <a:rPr lang="en-US" dirty="0" smtClean="0"/>
              <a:t>updating, </a:t>
            </a:r>
            <a:r>
              <a:rPr lang="en-US" dirty="0"/>
              <a:t>enhancements, changes, repair and replacements.</a:t>
            </a:r>
          </a:p>
          <a:p>
            <a:pPr algn="just" eaLnBrk="1" hangingPunct="1"/>
            <a:r>
              <a:rPr lang="en-US" dirty="0"/>
              <a:t>Altered environment or changed conditions may result in software maintenance.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pPr algn="just"/>
            <a:fld id="{AA280DA4-CB65-4810-8C13-EF7134E190DC}" type="slidenum">
              <a:rPr lang="en-IN" smtClean="0"/>
              <a:pPr algn="just"/>
              <a:t>12</a:t>
            </a:fld>
            <a:endParaRPr lang="en-IN"/>
          </a:p>
        </p:txBody>
      </p:sp>
      <p:sp>
        <p:nvSpPr>
          <p:cNvPr id="15365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pPr algn="just"/>
            <a:r>
              <a:rPr lang="en-IN" smtClean="0"/>
              <a:t>mpeter@mmu.ac.ug</a:t>
            </a:r>
            <a:endParaRPr lang="en-IN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Hardware Maintenance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It includes proper cleaning, servicing, repairing or replacing components of the computer.</a:t>
            </a:r>
          </a:p>
          <a:p>
            <a:pPr algn="just" eaLnBrk="1" hangingPunct="1"/>
            <a:r>
              <a:rPr lang="en-US" dirty="0"/>
              <a:t>The following are the two types of maintenance methods used to keep the hardware intact :</a:t>
            </a:r>
          </a:p>
          <a:p>
            <a:pPr lvl="1" algn="just" eaLnBrk="1" hangingPunct="1">
              <a:buFont typeface="Wingdings" panose="05000000000000000000" pitchFamily="2" charset="2"/>
              <a:buChar char="v"/>
            </a:pPr>
            <a:r>
              <a:rPr lang="en-US" dirty="0"/>
              <a:t>Preventive maintenance.</a:t>
            </a:r>
          </a:p>
          <a:p>
            <a:pPr lvl="1" algn="just" eaLnBrk="1" hangingPunct="1">
              <a:buFont typeface="Wingdings" panose="05000000000000000000" pitchFamily="2" charset="2"/>
              <a:buChar char="v"/>
            </a:pPr>
            <a:r>
              <a:rPr lang="en-US" dirty="0"/>
              <a:t>Corrective maintenance.</a:t>
            </a:r>
            <a:endParaRPr lang="en-IN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C9C4C7DA-1A57-48BA-AF24-E583D1D32106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16389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Preventive Maintenance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Preventive maintenance means maintenance through preventions.</a:t>
            </a:r>
          </a:p>
          <a:p>
            <a:pPr algn="just" eaLnBrk="1" hangingPunct="1"/>
            <a:r>
              <a:rPr lang="en-US" dirty="0"/>
              <a:t>Careful handling of the computer enhances the life of the system and is called preventive maintenance.</a:t>
            </a:r>
          </a:p>
          <a:p>
            <a:pPr algn="just" eaLnBrk="1" hangingPunct="1"/>
            <a:r>
              <a:rPr lang="en-US" dirty="0"/>
              <a:t>Preventive maintenance can be done by taking some general precautions and some special precautions.</a:t>
            </a:r>
            <a:endParaRPr lang="en-IN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2AA875B5-6418-4E3C-90DF-A4B38F29AD97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17413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General Precautions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Ensure all peripherals are switched off before the main power is switched off.</a:t>
            </a:r>
          </a:p>
          <a:p>
            <a:pPr algn="just" eaLnBrk="1" hangingPunct="1"/>
            <a:r>
              <a:rPr lang="en-US" dirty="0"/>
              <a:t>Remove all </a:t>
            </a:r>
            <a:r>
              <a:rPr lang="en-US" dirty="0" smtClean="0"/>
              <a:t>CD’s and USB drives </a:t>
            </a:r>
            <a:r>
              <a:rPr lang="en-US" dirty="0"/>
              <a:t>from the </a:t>
            </a:r>
            <a:r>
              <a:rPr lang="en-US" dirty="0" smtClean="0"/>
              <a:t>computer</a:t>
            </a:r>
            <a:r>
              <a:rPr lang="en-US" dirty="0" smtClean="0"/>
              <a:t> </a:t>
            </a:r>
            <a:r>
              <a:rPr lang="en-US" dirty="0"/>
              <a:t>before switching off the system.</a:t>
            </a:r>
          </a:p>
          <a:p>
            <a:pPr algn="just" eaLnBrk="1" hangingPunct="1"/>
            <a:r>
              <a:rPr lang="en-US" dirty="0"/>
              <a:t>Do not switch off the system when activity LED in hard disk drive glows.</a:t>
            </a:r>
          </a:p>
          <a:p>
            <a:pPr algn="just" eaLnBrk="1" hangingPunct="1"/>
            <a:r>
              <a:rPr lang="en-US" dirty="0"/>
              <a:t>Store </a:t>
            </a:r>
            <a:r>
              <a:rPr lang="en-US" dirty="0" smtClean="0"/>
              <a:t>CDs and USB drives </a:t>
            </a:r>
            <a:r>
              <a:rPr lang="en-US" dirty="0"/>
              <a:t>in clean and cool place where electromagnetic interference is absent.</a:t>
            </a:r>
            <a:endParaRPr lang="en-IN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7E582CF9-7C0B-4E37-A3B3-0C0773FC8366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18437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…</a:t>
            </a:r>
            <a:r>
              <a:rPr lang="en-US" dirty="0">
                <a:solidFill>
                  <a:schemeClr val="tx1"/>
                </a:solidFill>
              </a:rPr>
              <a:t>General Precautions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Do not obstruct air circulation to the computer site.</a:t>
            </a:r>
          </a:p>
          <a:p>
            <a:pPr algn="just" eaLnBrk="1" hangingPunct="1"/>
            <a:r>
              <a:rPr lang="en-US" dirty="0"/>
              <a:t>Do not eat or drink while working on the computer system</a:t>
            </a:r>
          </a:p>
          <a:p>
            <a:pPr eaLnBrk="1" hangingPunct="1"/>
            <a:r>
              <a:rPr lang="en-US" dirty="0"/>
              <a:t>When not in use, use dust covers for monitor, printer, etc.</a:t>
            </a:r>
          </a:p>
          <a:p>
            <a:pPr marL="0" indent="0" eaLnBrk="1" hangingPunct="1">
              <a:buNone/>
            </a:pPr>
            <a:endParaRPr lang="en-IN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8A1EFF19-95D3-4277-B02A-931DB72BF63C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19461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Special Precautions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Do not apply force on key switches.</a:t>
            </a:r>
          </a:p>
          <a:p>
            <a:pPr algn="just" eaLnBrk="1" hangingPunct="1"/>
            <a:r>
              <a:rPr lang="en-US" dirty="0"/>
              <a:t>Do not rest hands on the keyboard.</a:t>
            </a:r>
          </a:p>
          <a:p>
            <a:pPr algn="just" eaLnBrk="1" hangingPunct="1"/>
            <a:r>
              <a:rPr lang="en-US" dirty="0"/>
              <a:t>Do not play with the keyboard after switching off the power.</a:t>
            </a:r>
          </a:p>
          <a:p>
            <a:pPr algn="just" eaLnBrk="1" hangingPunct="1"/>
            <a:r>
              <a:rPr lang="en-US" dirty="0"/>
              <a:t>Cable at keyboard end should not be subjected  to high stress.</a:t>
            </a:r>
          </a:p>
          <a:p>
            <a:pPr algn="just" eaLnBrk="1" hangingPunct="1"/>
            <a:r>
              <a:rPr lang="en-US" dirty="0"/>
              <a:t>Do not use rough materials to clean the components of the system.</a:t>
            </a:r>
            <a:endParaRPr lang="en-IN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26F9317E-3A55-4C0C-B022-66F739E77FD3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20485" name="Footer Placeholder 4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…Special Precautions</a:t>
            </a:r>
            <a:endParaRPr lang="en-IN"/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Use quality ribbon or ink to avoid damage to print head.</a:t>
            </a:r>
          </a:p>
          <a:p>
            <a:pPr algn="just"/>
            <a:r>
              <a:rPr lang="en-US" dirty="0"/>
              <a:t>The internal parts of printer like stepper motor, print head, etc. should be cleaned properly periodically.</a:t>
            </a:r>
          </a:p>
          <a:p>
            <a:pPr algn="just"/>
            <a:r>
              <a:rPr lang="en-US" dirty="0"/>
              <a:t>Switch off power before plugging and removing a cable, or inserting and removing a PCB. </a:t>
            </a:r>
            <a:endParaRPr lang="en-IN" dirty="0"/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449EF589-51CE-4E27-B7D4-86A42B3F1CED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Preventive Maintenance</a:t>
            </a:r>
            <a:endParaRPr lang="en-IN"/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The position where the system is kept should be dry and away from direct sunlight or rain.</a:t>
            </a:r>
          </a:p>
          <a:p>
            <a:pPr algn="just"/>
            <a:r>
              <a:rPr lang="en-US" dirty="0"/>
              <a:t>Ensure the hard disk is backed up properly.</a:t>
            </a:r>
          </a:p>
          <a:p>
            <a:pPr algn="just"/>
            <a:r>
              <a:rPr lang="en-US" dirty="0"/>
              <a:t>Remove dust from circuit boards using air blower.</a:t>
            </a:r>
          </a:p>
          <a:p>
            <a:pPr algn="just"/>
            <a:r>
              <a:rPr lang="en-US" dirty="0"/>
              <a:t>Run the diagnostic </a:t>
            </a:r>
            <a:r>
              <a:rPr lang="en-US" dirty="0" smtClean="0"/>
              <a:t>software </a:t>
            </a:r>
            <a:r>
              <a:rPr lang="en-US" dirty="0"/>
              <a:t>periodically.</a:t>
            </a:r>
            <a:endParaRPr lang="en-IN" dirty="0"/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E48906D6-D69D-4DDB-A5D6-AE0E97CE70FB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dirty="0" smtClean="0"/>
              <a:t>mpeter@mmu.ac.ug</a:t>
            </a:r>
            <a:endParaRPr lang="en-IN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Corrective Maintenance</a:t>
            </a:r>
            <a:endParaRPr lang="en-IN" dirty="0"/>
          </a:p>
        </p:txBody>
      </p:sp>
      <p:sp>
        <p:nvSpPr>
          <p:cNvPr id="2355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It refers to the maintenance procedures that are adopted when any error occurs in the system.</a:t>
            </a:r>
          </a:p>
          <a:p>
            <a:pPr algn="just"/>
            <a:r>
              <a:rPr lang="en-US" dirty="0"/>
              <a:t>It is contrary to preventive maintenance.</a:t>
            </a:r>
          </a:p>
          <a:p>
            <a:pPr algn="just"/>
            <a:r>
              <a:rPr lang="en-US" dirty="0"/>
              <a:t>It starts when a failure or crash occurs in the system.</a:t>
            </a:r>
          </a:p>
          <a:p>
            <a:pPr algn="just"/>
            <a:r>
              <a:rPr lang="en-US" dirty="0"/>
              <a:t>It includes repair and troubleshooting techniques.</a:t>
            </a:r>
          </a:p>
          <a:p>
            <a:pPr algn="just"/>
            <a:endParaRPr lang="en-IN" dirty="0"/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A21EAB45-9336-48ED-B52E-02089A5CA029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Corrective maintenance steps</a:t>
            </a:r>
            <a:endParaRPr lang="en-IN" dirty="0"/>
          </a:p>
        </p:txBody>
      </p:sp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In case of failure general troubleshooting concepts should be performed first.</a:t>
            </a:r>
          </a:p>
          <a:p>
            <a:pPr algn="just"/>
            <a:r>
              <a:rPr lang="en-US" dirty="0"/>
              <a:t>If problem remains, locate the fault using different tools or diagnostic </a:t>
            </a:r>
            <a:r>
              <a:rPr lang="en-US" dirty="0" err="1"/>
              <a:t>softwares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Once fault is determined, troubleshoot or replace the component, as required.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7F2845D9-F775-4FF5-93FC-B173C5CE81EA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Corrective maintenance tools</a:t>
            </a:r>
            <a:endParaRPr lang="en-IN"/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Various tools that can be used during corrective maintenance are Data recovery tools from operating system, third party data recovery tools, virus vaccines, etc.</a:t>
            </a:r>
          </a:p>
          <a:p>
            <a:pPr algn="just"/>
            <a:r>
              <a:rPr lang="en-US" dirty="0"/>
              <a:t>Though preventive maintenance is better yet there are times that corrective maintenance is used due to unseen factors leading to sudden failures.</a:t>
            </a:r>
            <a:endParaRPr lang="en-IN" dirty="0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25721CF0-0813-410E-82F7-C9D5D67AA4CC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Mean time between failure</a:t>
            </a:r>
            <a:endParaRPr lang="en-IN"/>
          </a:p>
        </p:txBody>
      </p:sp>
      <p:sp>
        <p:nvSpPr>
          <p:cNvPr id="2662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Mean time between failure(MTBF) is the statistically derived average length of time for which a system component operates before failing.</a:t>
            </a:r>
          </a:p>
          <a:p>
            <a:pPr algn="just"/>
            <a:r>
              <a:rPr lang="en-US" dirty="0"/>
              <a:t>It is expressed in thousands or tens of thousands of hours which is known as Power ON Hours(POH).</a:t>
            </a:r>
          </a:p>
          <a:p>
            <a:pPr algn="just"/>
            <a:r>
              <a:rPr lang="en-US" dirty="0"/>
              <a:t> It is a practical indication of components reliability.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EA8441F8-744F-4EAC-BC57-B3A3E860F412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…MTBF</a:t>
            </a:r>
            <a:endParaRPr lang="en-IN"/>
          </a:p>
        </p:txBody>
      </p:sp>
      <p:sp>
        <p:nvSpPr>
          <p:cNvPr id="2765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MTBF rating is intended to be used along with the service life of the component.</a:t>
            </a:r>
          </a:p>
          <a:p>
            <a:pPr algn="just"/>
            <a:r>
              <a:rPr lang="en-US" dirty="0"/>
              <a:t>It can be measured using statistical methods and any measurement will be subject to statistical variation.</a:t>
            </a:r>
          </a:p>
          <a:p>
            <a:pPr algn="just"/>
            <a:r>
              <a:rPr lang="en-US" dirty="0"/>
              <a:t>The degree of variation depends on the number of components included in the sample used in measurement.</a:t>
            </a:r>
          </a:p>
          <a:p>
            <a:pPr algn="just"/>
            <a:endParaRPr lang="en-IN" dirty="0"/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A53DC2D9-3D1A-4466-994B-AB035C9FAA80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Mean time to repair(MTTR)</a:t>
            </a:r>
            <a:endParaRPr lang="en-IN"/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MTTR is amount of time between when something breaks and when it has been repaired.</a:t>
            </a:r>
          </a:p>
          <a:p>
            <a:pPr algn="just"/>
            <a:r>
              <a:rPr lang="en-US" dirty="0"/>
              <a:t>MTTR represents the total amount of time that the device was unable to provide service.</a:t>
            </a:r>
          </a:p>
          <a:p>
            <a:pPr algn="just"/>
            <a:r>
              <a:rPr lang="en-US" dirty="0"/>
              <a:t>MTTR numbers are calculated for each component and service.</a:t>
            </a:r>
            <a:endParaRPr lang="en-IN" dirty="0"/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9741B8E5-C8E5-4CEA-B7D6-A64177609BBE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affecting factors</a:t>
            </a:r>
            <a:endParaRPr lang="en-IN"/>
          </a:p>
        </p:txBody>
      </p:sp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factors affecting the performance of a computer are:</a:t>
            </a:r>
          </a:p>
          <a:p>
            <a:r>
              <a:rPr lang="en-US"/>
              <a:t>Heat &amp; Humidity</a:t>
            </a:r>
          </a:p>
          <a:p>
            <a:r>
              <a:rPr lang="en-US"/>
              <a:t>Magnetism</a:t>
            </a:r>
          </a:p>
          <a:p>
            <a:r>
              <a:rPr lang="en-US"/>
              <a:t>Stray Electromagnetism</a:t>
            </a:r>
          </a:p>
          <a:p>
            <a:r>
              <a:rPr lang="en-US"/>
              <a:t>Power Surges</a:t>
            </a:r>
          </a:p>
          <a:p>
            <a:r>
              <a:rPr lang="en-US"/>
              <a:t>Corrosion &amp; Rough Handling</a:t>
            </a:r>
          </a:p>
          <a:p>
            <a:endParaRPr lang="en-IN"/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41E52C8B-39EE-498A-B6EA-0EC138D77E58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Heat &amp; Humidity</a:t>
            </a:r>
            <a:endParaRPr lang="en-IN"/>
          </a:p>
        </p:txBody>
      </p:sp>
      <p:sp>
        <p:nvSpPr>
          <p:cNvPr id="3277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Excessive heat and thermal shocks are one of the major factors that effect the performance of the system.</a:t>
            </a:r>
          </a:p>
          <a:p>
            <a:pPr algn="just"/>
            <a:r>
              <a:rPr lang="en-US" dirty="0"/>
              <a:t>More than half of the power given is wasted as heat and heat destroys the chip</a:t>
            </a:r>
          </a:p>
          <a:p>
            <a:pPr algn="just"/>
            <a:r>
              <a:rPr lang="en-US" dirty="0"/>
              <a:t>To reduce the heat effect, a fan is installed with the power supply.</a:t>
            </a:r>
          </a:p>
          <a:p>
            <a:pPr algn="just"/>
            <a:r>
              <a:rPr lang="en-US" dirty="0"/>
              <a:t>The room can be air conditioned.</a:t>
            </a:r>
            <a:endParaRPr lang="en-IN" dirty="0"/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8E590E4C-14FB-420E-80FA-206B8ABB2A55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…Heat &amp; Humidity</a:t>
            </a:r>
            <a:endParaRPr lang="en-IN"/>
          </a:p>
        </p:txBody>
      </p:sp>
      <p:sp>
        <p:nvSpPr>
          <p:cNvPr id="3379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Rapid changes in the temperature result in Thermal Shocks.</a:t>
            </a:r>
          </a:p>
          <a:p>
            <a:pPr algn="just"/>
            <a:r>
              <a:rPr lang="en-US" dirty="0"/>
              <a:t>Humidity depends on the climate of the place.</a:t>
            </a:r>
          </a:p>
          <a:p>
            <a:pPr algn="just"/>
            <a:r>
              <a:rPr lang="en-US" dirty="0"/>
              <a:t>It causes short circuiting inside the system and decreases the life of the system.</a:t>
            </a:r>
          </a:p>
          <a:p>
            <a:pPr algn="just"/>
            <a:r>
              <a:rPr lang="en-US" dirty="0"/>
              <a:t>This factor can be foreseen and air conditioning can be installed as a remedy.</a:t>
            </a:r>
            <a:endParaRPr lang="en-IN" dirty="0"/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E750CC6F-4816-47C1-B1A3-63ADDCBAD987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Stray Electromagnetism</a:t>
            </a:r>
            <a:endParaRPr lang="en-IN"/>
          </a:p>
        </p:txBody>
      </p:sp>
      <p:sp>
        <p:nvSpPr>
          <p:cNvPr id="3584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Stray Electromagnetism includes electromagnetism interference, noise, interference, static electricity, etc.</a:t>
            </a:r>
          </a:p>
          <a:p>
            <a:pPr algn="just"/>
            <a:r>
              <a:rPr lang="en-US" dirty="0"/>
              <a:t>Electromagnetism interference includes cross-talk and radio frequency interference(RFI).</a:t>
            </a:r>
          </a:p>
          <a:p>
            <a:pPr algn="just"/>
            <a:r>
              <a:rPr lang="en-US" dirty="0"/>
              <a:t>Shielding and isolating system power from other loads is a preventive measure.</a:t>
            </a:r>
            <a:endParaRPr lang="en-IN" dirty="0"/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0E3568BF-311C-43AC-B4DC-CCFA39074A0D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 Surge</a:t>
            </a:r>
            <a:endParaRPr lang="en-IN"/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Power surge or fluctuation is a source of lot of problems.</a:t>
            </a:r>
          </a:p>
          <a:p>
            <a:pPr algn="just"/>
            <a:r>
              <a:rPr lang="en-US" dirty="0"/>
              <a:t>It causes unreliable operation and damages electronic components.</a:t>
            </a:r>
          </a:p>
          <a:p>
            <a:pPr algn="just"/>
            <a:r>
              <a:rPr lang="en-US" dirty="0"/>
              <a:t>As their bad effects are known in advance, preventive measures should be taken.</a:t>
            </a:r>
          </a:p>
          <a:p>
            <a:pPr algn="just"/>
            <a:r>
              <a:rPr lang="en-US" dirty="0"/>
              <a:t>Use of uninterrupted power supply (UPS) is a way to safeguard the system. </a:t>
            </a:r>
            <a:endParaRPr lang="en-IN" dirty="0"/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47F8E490-7F50-4BD5-91F1-D110911AB045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Corrosion &amp; Rough Handling</a:t>
            </a:r>
            <a:endParaRPr lang="en-IN" dirty="0"/>
          </a:p>
        </p:txBody>
      </p:sp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Corrosion of connectors and PCB edge contacts may cause reliability problem in the system.</a:t>
            </a:r>
          </a:p>
          <a:p>
            <a:r>
              <a:rPr lang="en-US"/>
              <a:t>Moisture is a corrosion agent.</a:t>
            </a:r>
          </a:p>
          <a:p>
            <a:r>
              <a:rPr lang="en-US"/>
              <a:t>To control Corrosion, humidity should be controlled.</a:t>
            </a:r>
          </a:p>
          <a:p>
            <a:r>
              <a:rPr lang="en-US"/>
              <a:t>Cleaning fluids should be dried so as to control moisture.</a:t>
            </a:r>
            <a:endParaRPr lang="en-IN"/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41F249DC-6889-4AD1-A6F1-4395630FFB32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Rough Handling</a:t>
            </a:r>
            <a:endParaRPr lang="en-IN"/>
          </a:p>
        </p:txBody>
      </p:sp>
      <p:sp>
        <p:nvSpPr>
          <p:cNvPr id="3891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Improper handling of the system causes damage.</a:t>
            </a:r>
          </a:p>
          <a:p>
            <a:r>
              <a:rPr lang="en-US"/>
              <a:t>The system should be kept at a clean and smooth surface.</a:t>
            </a:r>
          </a:p>
          <a:p>
            <a:r>
              <a:rPr lang="en-US"/>
              <a:t>The system should not be moved from its place frequently.</a:t>
            </a:r>
          </a:p>
          <a:p>
            <a:r>
              <a:rPr lang="en-US"/>
              <a:t>Careful handling of the system and its peripheral is a simple remedy.</a:t>
            </a:r>
            <a:endParaRPr lang="en-IN"/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73AEBA7F-CB31-45D7-B695-00B2823494DD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9"/>
          <p:cNvSpPr>
            <a:spLocks noChangeArrowheads="1"/>
          </p:cNvSpPr>
          <p:nvPr/>
        </p:nvSpPr>
        <p:spPr bwMode="auto">
          <a:xfrm>
            <a:off x="0" y="228600"/>
            <a:ext cx="9144000" cy="762000"/>
          </a:xfrm>
          <a:prstGeom prst="rect">
            <a:avLst/>
          </a:prstGeom>
          <a:gradFill rotWithShape="1">
            <a:gsLst>
              <a:gs pos="0">
                <a:srgbClr val="5C7D9D"/>
              </a:gs>
              <a:gs pos="100000">
                <a:srgbClr val="00336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Eras Medium ITC" pitchFamily="34" charset="0"/>
            </a:endParaRPr>
          </a:p>
        </p:txBody>
      </p:sp>
      <p:sp>
        <p:nvSpPr>
          <p:cNvPr id="3075" name="Rectangle 7"/>
          <p:cNvSpPr>
            <a:spLocks noChangeArrowheads="1"/>
          </p:cNvSpPr>
          <p:nvPr/>
        </p:nvSpPr>
        <p:spPr bwMode="auto">
          <a:xfrm>
            <a:off x="1601788" y="304800"/>
            <a:ext cx="53324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Basic Computer Maintenance</a:t>
            </a:r>
          </a:p>
        </p:txBody>
      </p:sp>
      <p:sp>
        <p:nvSpPr>
          <p:cNvPr id="3076" name="Rectangle 13"/>
          <p:cNvSpPr>
            <a:spLocks noChangeArrowheads="1"/>
          </p:cNvSpPr>
          <p:nvPr/>
        </p:nvSpPr>
        <p:spPr bwMode="auto">
          <a:xfrm>
            <a:off x="0" y="6553200"/>
            <a:ext cx="3657600" cy="304800"/>
          </a:xfrm>
          <a:prstGeom prst="rect">
            <a:avLst/>
          </a:prstGeom>
          <a:gradFill rotWithShape="1">
            <a:gsLst>
              <a:gs pos="0">
                <a:srgbClr val="879CA9"/>
              </a:gs>
              <a:gs pos="100000">
                <a:srgbClr val="CCEC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3077" name="Rectangle 14"/>
          <p:cNvSpPr>
            <a:spLocks noChangeArrowheads="1"/>
          </p:cNvSpPr>
          <p:nvPr/>
        </p:nvSpPr>
        <p:spPr bwMode="auto">
          <a:xfrm>
            <a:off x="0" y="6248400"/>
            <a:ext cx="3657600" cy="304800"/>
          </a:xfrm>
          <a:prstGeom prst="rect">
            <a:avLst/>
          </a:prstGeom>
          <a:gradFill rotWithShape="1">
            <a:gsLst>
              <a:gs pos="0">
                <a:srgbClr val="879CA9"/>
              </a:gs>
              <a:gs pos="100000">
                <a:srgbClr val="CCEC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3078" name="Rectangle 15"/>
          <p:cNvSpPr>
            <a:spLocks noChangeArrowheads="1"/>
          </p:cNvSpPr>
          <p:nvPr/>
        </p:nvSpPr>
        <p:spPr bwMode="auto">
          <a:xfrm>
            <a:off x="5638800" y="6553200"/>
            <a:ext cx="3505200" cy="3048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879CA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3079" name="Rectangle 16"/>
          <p:cNvSpPr>
            <a:spLocks noChangeArrowheads="1"/>
          </p:cNvSpPr>
          <p:nvPr/>
        </p:nvSpPr>
        <p:spPr bwMode="auto">
          <a:xfrm>
            <a:off x="5638800" y="6248400"/>
            <a:ext cx="3505200" cy="3048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879CA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3080" name="Rectangle 17"/>
          <p:cNvSpPr>
            <a:spLocks noChangeArrowheads="1"/>
          </p:cNvSpPr>
          <p:nvPr/>
        </p:nvSpPr>
        <p:spPr bwMode="auto">
          <a:xfrm>
            <a:off x="3581400" y="6248400"/>
            <a:ext cx="2057400" cy="3048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50000">
                <a:srgbClr val="879CA9"/>
              </a:gs>
              <a:gs pos="100000">
                <a:srgbClr val="CCEC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3081" name="Rectangle 18"/>
          <p:cNvSpPr>
            <a:spLocks noChangeArrowheads="1"/>
          </p:cNvSpPr>
          <p:nvPr/>
        </p:nvSpPr>
        <p:spPr bwMode="auto">
          <a:xfrm>
            <a:off x="3581400" y="6553200"/>
            <a:ext cx="2057400" cy="3048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50000">
                <a:srgbClr val="879CA9"/>
              </a:gs>
              <a:gs pos="100000">
                <a:srgbClr val="CCEC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3082" name="Rectangle 19"/>
          <p:cNvSpPr>
            <a:spLocks noChangeArrowheads="1"/>
          </p:cNvSpPr>
          <p:nvPr/>
        </p:nvSpPr>
        <p:spPr bwMode="auto">
          <a:xfrm>
            <a:off x="0" y="6172200"/>
            <a:ext cx="9144000" cy="762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50000">
                <a:srgbClr val="879CA9"/>
              </a:gs>
              <a:gs pos="100000">
                <a:srgbClr val="CCEC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/>
          </a:p>
        </p:txBody>
      </p:sp>
      <p:sp>
        <p:nvSpPr>
          <p:cNvPr id="3084" name="Text Box 21"/>
          <p:cNvSpPr txBox="1">
            <a:spLocks noChangeArrowheads="1"/>
          </p:cNvSpPr>
          <p:nvPr/>
        </p:nvSpPr>
        <p:spPr bwMode="auto">
          <a:xfrm>
            <a:off x="685800" y="1371600"/>
            <a:ext cx="5257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rgbClr val="000066"/>
                </a:solidFill>
              </a:rPr>
              <a:t>  Clean and Cool </a:t>
            </a:r>
          </a:p>
        </p:txBody>
      </p:sp>
      <p:sp>
        <p:nvSpPr>
          <p:cNvPr id="3085" name="Text Box 22"/>
          <p:cNvSpPr txBox="1">
            <a:spLocks noChangeArrowheads="1"/>
          </p:cNvSpPr>
          <p:nvPr/>
        </p:nvSpPr>
        <p:spPr bwMode="auto">
          <a:xfrm>
            <a:off x="685800" y="1905000"/>
            <a:ext cx="685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2800">
                <a:solidFill>
                  <a:srgbClr val="000066"/>
                </a:solidFill>
              </a:rPr>
              <a:t>  Deleting Temporary Files</a:t>
            </a:r>
          </a:p>
        </p:txBody>
      </p:sp>
      <p:sp>
        <p:nvSpPr>
          <p:cNvPr id="3086" name="Rectangle 23"/>
          <p:cNvSpPr>
            <a:spLocks noChangeArrowheads="1"/>
          </p:cNvSpPr>
          <p:nvPr/>
        </p:nvSpPr>
        <p:spPr bwMode="auto">
          <a:xfrm>
            <a:off x="685800" y="2438400"/>
            <a:ext cx="2143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>
              <a:buFontTx/>
              <a:buChar char="•"/>
            </a:pPr>
            <a:r>
              <a:rPr lang="en-US" sz="2800">
                <a:solidFill>
                  <a:srgbClr val="000066"/>
                </a:solidFill>
              </a:rPr>
              <a:t>  Scandisk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33</a:t>
            </a:fld>
            <a:endParaRPr lang="en-I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2"/>
          <p:cNvSpPr>
            <a:spLocks noChangeArrowheads="1"/>
          </p:cNvSpPr>
          <p:nvPr/>
        </p:nvSpPr>
        <p:spPr bwMode="auto">
          <a:xfrm>
            <a:off x="0" y="228600"/>
            <a:ext cx="9144000" cy="533400"/>
          </a:xfrm>
          <a:prstGeom prst="rect">
            <a:avLst/>
          </a:prstGeom>
          <a:gradFill rotWithShape="1">
            <a:gsLst>
              <a:gs pos="0">
                <a:srgbClr val="5C7D9D"/>
              </a:gs>
              <a:gs pos="100000">
                <a:srgbClr val="00336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Eras Medium ITC" pitchFamily="34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0" y="6172200"/>
            <a:ext cx="9144000" cy="685800"/>
            <a:chOff x="0" y="3888"/>
            <a:chExt cx="5760" cy="432"/>
          </a:xfrm>
        </p:grpSpPr>
        <p:sp>
          <p:nvSpPr>
            <p:cNvPr id="4105" name="Rectangle 11"/>
            <p:cNvSpPr>
              <a:spLocks noChangeArrowheads="1"/>
            </p:cNvSpPr>
            <p:nvPr/>
          </p:nvSpPr>
          <p:spPr bwMode="auto">
            <a:xfrm>
              <a:off x="0" y="4128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4106" name="Rectangle 12"/>
            <p:cNvSpPr>
              <a:spLocks noChangeArrowheads="1"/>
            </p:cNvSpPr>
            <p:nvPr/>
          </p:nvSpPr>
          <p:spPr bwMode="auto">
            <a:xfrm>
              <a:off x="0" y="3936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4107" name="Rectangle 13"/>
            <p:cNvSpPr>
              <a:spLocks noChangeArrowheads="1"/>
            </p:cNvSpPr>
            <p:nvPr/>
          </p:nvSpPr>
          <p:spPr bwMode="auto">
            <a:xfrm>
              <a:off x="3552" y="4128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4108" name="Rectangle 14"/>
            <p:cNvSpPr>
              <a:spLocks noChangeArrowheads="1"/>
            </p:cNvSpPr>
            <p:nvPr/>
          </p:nvSpPr>
          <p:spPr bwMode="auto">
            <a:xfrm>
              <a:off x="3552" y="3936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4109" name="Rectangle 15"/>
            <p:cNvSpPr>
              <a:spLocks noChangeArrowheads="1"/>
            </p:cNvSpPr>
            <p:nvPr/>
          </p:nvSpPr>
          <p:spPr bwMode="auto">
            <a:xfrm>
              <a:off x="2256" y="3936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4110" name="Rectangle 16"/>
            <p:cNvSpPr>
              <a:spLocks noChangeArrowheads="1"/>
            </p:cNvSpPr>
            <p:nvPr/>
          </p:nvSpPr>
          <p:spPr bwMode="auto">
            <a:xfrm>
              <a:off x="2256" y="4128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4111" name="Rectangle 17"/>
            <p:cNvSpPr>
              <a:spLocks noChangeArrowheads="1"/>
            </p:cNvSpPr>
            <p:nvPr/>
          </p:nvSpPr>
          <p:spPr bwMode="auto">
            <a:xfrm>
              <a:off x="0" y="3888"/>
              <a:ext cx="5760" cy="48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</p:grpSp>
      <p:sp>
        <p:nvSpPr>
          <p:cNvPr id="4100" name="Rectangle 20"/>
          <p:cNvSpPr>
            <a:spLocks noChangeArrowheads="1"/>
          </p:cNvSpPr>
          <p:nvPr/>
        </p:nvSpPr>
        <p:spPr bwMode="auto">
          <a:xfrm>
            <a:off x="1830388" y="228600"/>
            <a:ext cx="53324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Basic Computer Maintenance</a:t>
            </a:r>
          </a:p>
        </p:txBody>
      </p:sp>
      <p:sp>
        <p:nvSpPr>
          <p:cNvPr id="4101" name="Rectangle 27"/>
          <p:cNvSpPr>
            <a:spLocks noChangeArrowheads="1"/>
          </p:cNvSpPr>
          <p:nvPr/>
        </p:nvSpPr>
        <p:spPr bwMode="auto">
          <a:xfrm>
            <a:off x="0" y="1295400"/>
            <a:ext cx="4986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/>
            <a:r>
              <a:rPr lang="en-US" sz="2800">
                <a:solidFill>
                  <a:srgbClr val="000066"/>
                </a:solidFill>
              </a:rPr>
              <a:t>Defragment your Hard Drive</a:t>
            </a:r>
          </a:p>
        </p:txBody>
      </p:sp>
      <p:sp>
        <p:nvSpPr>
          <p:cNvPr id="4102" name="Rectangle 28"/>
          <p:cNvSpPr>
            <a:spLocks noChangeArrowheads="1"/>
          </p:cNvSpPr>
          <p:nvPr/>
        </p:nvSpPr>
        <p:spPr bwMode="auto">
          <a:xfrm>
            <a:off x="76200" y="1981200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/>
            <a:r>
              <a:rPr lang="en-US" sz="2400">
                <a:solidFill>
                  <a:srgbClr val="003399"/>
                </a:solidFill>
              </a:rPr>
              <a:t>What is Defragmentation?</a:t>
            </a:r>
            <a:r>
              <a:rPr lang="en-US" sz="2400" b="0">
                <a:solidFill>
                  <a:srgbClr val="003399"/>
                </a:solidFill>
              </a:rPr>
              <a:t> </a:t>
            </a:r>
          </a:p>
        </p:txBody>
      </p:sp>
      <p:sp>
        <p:nvSpPr>
          <p:cNvPr id="4103" name="Rectangle 29"/>
          <p:cNvSpPr>
            <a:spLocks noChangeArrowheads="1"/>
          </p:cNvSpPr>
          <p:nvPr/>
        </p:nvSpPr>
        <p:spPr bwMode="auto">
          <a:xfrm>
            <a:off x="142844" y="2699266"/>
            <a:ext cx="810156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3399"/>
                </a:solidFill>
              </a:rPr>
              <a:t>  </a:t>
            </a:r>
            <a:r>
              <a:rPr lang="en-US" sz="2400" dirty="0" smtClean="0">
                <a:solidFill>
                  <a:srgbClr val="003399"/>
                </a:solidFill>
              </a:rPr>
              <a:t>When </a:t>
            </a:r>
            <a:r>
              <a:rPr lang="en-US" sz="2400" dirty="0">
                <a:solidFill>
                  <a:srgbClr val="003399"/>
                </a:solidFill>
              </a:rPr>
              <a:t>you  create and delete files and </a:t>
            </a:r>
            <a:r>
              <a:rPr lang="en-US" sz="2400" dirty="0" smtClean="0">
                <a:solidFill>
                  <a:srgbClr val="003399"/>
                </a:solidFill>
              </a:rPr>
              <a:t>applications </a:t>
            </a:r>
            <a:r>
              <a:rPr lang="en-US" sz="2400" dirty="0">
                <a:solidFill>
                  <a:srgbClr val="003399"/>
                </a:solidFill>
              </a:rPr>
              <a:t>on your computer the hard drive will 	become fragmented.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3399"/>
                </a:solidFill>
              </a:rPr>
              <a:t>  </a:t>
            </a:r>
            <a:r>
              <a:rPr lang="en-US" sz="2400" dirty="0" smtClean="0">
                <a:solidFill>
                  <a:srgbClr val="003399"/>
                </a:solidFill>
              </a:rPr>
              <a:t>Data </a:t>
            </a:r>
            <a:r>
              <a:rPr lang="en-US" sz="2400" dirty="0">
                <a:solidFill>
                  <a:srgbClr val="003399"/>
                </a:solidFill>
              </a:rPr>
              <a:t>is split into chunks and stored in </a:t>
            </a:r>
            <a:r>
              <a:rPr lang="en-US" sz="2400" dirty="0" smtClean="0">
                <a:solidFill>
                  <a:srgbClr val="003399"/>
                </a:solidFill>
              </a:rPr>
              <a:t>different areas </a:t>
            </a:r>
            <a:r>
              <a:rPr lang="en-US" sz="2400" dirty="0">
                <a:solidFill>
                  <a:srgbClr val="003399"/>
                </a:solidFill>
              </a:rPr>
              <a:t>of the hard disk.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3399"/>
                </a:solidFill>
              </a:rPr>
              <a:t>  </a:t>
            </a:r>
            <a:r>
              <a:rPr lang="en-US" sz="2400" dirty="0" smtClean="0">
                <a:solidFill>
                  <a:srgbClr val="003399"/>
                </a:solidFill>
              </a:rPr>
              <a:t>frees </a:t>
            </a:r>
            <a:r>
              <a:rPr lang="en-US" sz="2400" dirty="0">
                <a:solidFill>
                  <a:srgbClr val="003399"/>
                </a:solidFill>
              </a:rPr>
              <a:t>up disk space and speeds up your computer.</a:t>
            </a:r>
            <a:r>
              <a:rPr lang="en-US" sz="2400" b="0" dirty="0">
                <a:solidFill>
                  <a:srgbClr val="0047D6"/>
                </a:solidFill>
              </a:rPr>
              <a:t> 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34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6"/>
          <p:cNvSpPr>
            <a:spLocks noChangeArrowheads="1"/>
          </p:cNvSpPr>
          <p:nvPr/>
        </p:nvSpPr>
        <p:spPr bwMode="auto">
          <a:xfrm>
            <a:off x="0" y="228600"/>
            <a:ext cx="9144000" cy="533400"/>
          </a:xfrm>
          <a:prstGeom prst="rect">
            <a:avLst/>
          </a:prstGeom>
          <a:gradFill rotWithShape="1">
            <a:gsLst>
              <a:gs pos="0">
                <a:srgbClr val="5C7D9D"/>
              </a:gs>
              <a:gs pos="100000">
                <a:srgbClr val="00336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Eras Medium ITC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172200"/>
            <a:ext cx="9144000" cy="685800"/>
            <a:chOff x="0" y="3888"/>
            <a:chExt cx="5760" cy="432"/>
          </a:xfrm>
        </p:grpSpPr>
        <p:sp>
          <p:nvSpPr>
            <p:cNvPr id="5126" name="Rectangle 4"/>
            <p:cNvSpPr>
              <a:spLocks noChangeArrowheads="1"/>
            </p:cNvSpPr>
            <p:nvPr/>
          </p:nvSpPr>
          <p:spPr bwMode="auto">
            <a:xfrm>
              <a:off x="0" y="4128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5127" name="Rectangle 5"/>
            <p:cNvSpPr>
              <a:spLocks noChangeArrowheads="1"/>
            </p:cNvSpPr>
            <p:nvPr/>
          </p:nvSpPr>
          <p:spPr bwMode="auto">
            <a:xfrm>
              <a:off x="0" y="3936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5128" name="Rectangle 6"/>
            <p:cNvSpPr>
              <a:spLocks noChangeArrowheads="1"/>
            </p:cNvSpPr>
            <p:nvPr/>
          </p:nvSpPr>
          <p:spPr bwMode="auto">
            <a:xfrm>
              <a:off x="3552" y="4128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5129" name="Rectangle 7"/>
            <p:cNvSpPr>
              <a:spLocks noChangeArrowheads="1"/>
            </p:cNvSpPr>
            <p:nvPr/>
          </p:nvSpPr>
          <p:spPr bwMode="auto">
            <a:xfrm>
              <a:off x="3552" y="3936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5130" name="Rectangle 8"/>
            <p:cNvSpPr>
              <a:spLocks noChangeArrowheads="1"/>
            </p:cNvSpPr>
            <p:nvPr/>
          </p:nvSpPr>
          <p:spPr bwMode="auto">
            <a:xfrm>
              <a:off x="2256" y="3936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5131" name="Rectangle 9"/>
            <p:cNvSpPr>
              <a:spLocks noChangeArrowheads="1"/>
            </p:cNvSpPr>
            <p:nvPr/>
          </p:nvSpPr>
          <p:spPr bwMode="auto">
            <a:xfrm>
              <a:off x="2256" y="4128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5132" name="Rectangle 10"/>
            <p:cNvSpPr>
              <a:spLocks noChangeArrowheads="1"/>
            </p:cNvSpPr>
            <p:nvPr/>
          </p:nvSpPr>
          <p:spPr bwMode="auto">
            <a:xfrm>
              <a:off x="0" y="3888"/>
              <a:ext cx="5760" cy="48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</p:grpSp>
      <p:sp>
        <p:nvSpPr>
          <p:cNvPr id="5124" name="Rectangle 20"/>
          <p:cNvSpPr>
            <a:spLocks noChangeArrowheads="1"/>
          </p:cNvSpPr>
          <p:nvPr/>
        </p:nvSpPr>
        <p:spPr bwMode="auto">
          <a:xfrm>
            <a:off x="0" y="228600"/>
            <a:ext cx="5332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Basic Computer Maintenance</a:t>
            </a:r>
          </a:p>
        </p:txBody>
      </p:sp>
      <p:sp>
        <p:nvSpPr>
          <p:cNvPr id="5125" name="Rectangle 21"/>
          <p:cNvSpPr>
            <a:spLocks noChangeArrowheads="1"/>
          </p:cNvSpPr>
          <p:nvPr/>
        </p:nvSpPr>
        <p:spPr bwMode="auto">
          <a:xfrm>
            <a:off x="0" y="1997075"/>
            <a:ext cx="9144000" cy="173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5400" b="0">
                <a:solidFill>
                  <a:srgbClr val="003399"/>
                </a:solidFill>
              </a:rPr>
              <a:t>How To Defrag Your Harddrive?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35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1"/>
          <p:cNvSpPr>
            <a:spLocks noChangeArrowheads="1"/>
          </p:cNvSpPr>
          <p:nvPr/>
        </p:nvSpPr>
        <p:spPr bwMode="auto">
          <a:xfrm>
            <a:off x="0" y="228600"/>
            <a:ext cx="9144000" cy="533400"/>
          </a:xfrm>
          <a:prstGeom prst="rect">
            <a:avLst/>
          </a:prstGeom>
          <a:gradFill rotWithShape="1">
            <a:gsLst>
              <a:gs pos="0">
                <a:srgbClr val="5C7D9D"/>
              </a:gs>
              <a:gs pos="100000">
                <a:srgbClr val="00336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Eras Medium ITC" pitchFamily="34" charset="0"/>
            </a:endParaRPr>
          </a:p>
        </p:txBody>
      </p:sp>
      <p:sp>
        <p:nvSpPr>
          <p:cNvPr id="6148" name="Rectangle 18"/>
          <p:cNvSpPr>
            <a:spLocks noChangeArrowheads="1"/>
          </p:cNvSpPr>
          <p:nvPr/>
        </p:nvSpPr>
        <p:spPr bwMode="auto">
          <a:xfrm>
            <a:off x="0" y="228600"/>
            <a:ext cx="5291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How to Defrag Your Harddrive</a:t>
            </a:r>
          </a:p>
        </p:txBody>
      </p:sp>
      <p:sp>
        <p:nvSpPr>
          <p:cNvPr id="6149" name="Rectangle 19"/>
          <p:cNvSpPr>
            <a:spLocks noChangeArrowheads="1"/>
          </p:cNvSpPr>
          <p:nvPr/>
        </p:nvSpPr>
        <p:spPr bwMode="auto">
          <a:xfrm>
            <a:off x="685800" y="1962150"/>
            <a:ext cx="7696200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2800">
              <a:solidFill>
                <a:srgbClr val="003399"/>
              </a:solidFill>
            </a:endParaRPr>
          </a:p>
          <a:p>
            <a:pPr lvl="1">
              <a:buFontTx/>
              <a:buChar char="•"/>
            </a:pPr>
            <a:r>
              <a:rPr lang="en-US" sz="2800">
                <a:solidFill>
                  <a:srgbClr val="003399"/>
                </a:solidFill>
              </a:rPr>
              <a:t>Stop using your computer while you are defragmenting the drive. </a:t>
            </a:r>
          </a:p>
          <a:p>
            <a:pPr lvl="1"/>
            <a:endParaRPr lang="en-US" sz="2800">
              <a:solidFill>
                <a:srgbClr val="003399"/>
              </a:solidFill>
            </a:endParaRPr>
          </a:p>
          <a:p>
            <a:pPr lvl="1">
              <a:buFontTx/>
              <a:buChar char="•"/>
            </a:pPr>
            <a:r>
              <a:rPr lang="en-US" sz="2800">
                <a:solidFill>
                  <a:srgbClr val="003399"/>
                </a:solidFill>
              </a:rPr>
              <a:t>Stop all programs running including your screen saver.</a:t>
            </a:r>
          </a:p>
          <a:p>
            <a:pPr lvl="1">
              <a:buFontTx/>
              <a:buChar char="•"/>
            </a:pPr>
            <a:endParaRPr lang="en-US" sz="2800">
              <a:solidFill>
                <a:srgbClr val="003399"/>
              </a:solidFill>
            </a:endParaRPr>
          </a:p>
          <a:p>
            <a:pPr lvl="1">
              <a:buFontTx/>
              <a:buChar char="•"/>
            </a:pPr>
            <a:r>
              <a:rPr lang="en-US" sz="2800">
                <a:solidFill>
                  <a:srgbClr val="003399"/>
                </a:solidFill>
              </a:rPr>
              <a:t>Run this program overnight </a:t>
            </a:r>
          </a:p>
        </p:txBody>
      </p:sp>
      <p:pic>
        <p:nvPicPr>
          <p:cNvPr id="6150" name="Picture 22" descr="MCj0295145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14400"/>
            <a:ext cx="990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1" name="Rectangle 24"/>
          <p:cNvSpPr>
            <a:spLocks noChangeArrowheads="1"/>
          </p:cNvSpPr>
          <p:nvPr/>
        </p:nvSpPr>
        <p:spPr bwMode="auto">
          <a:xfrm>
            <a:off x="1295400" y="1371600"/>
            <a:ext cx="220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3200">
                <a:solidFill>
                  <a:srgbClr val="000066"/>
                </a:solidFill>
              </a:rPr>
              <a:t>NOTE: 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36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0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gradFill rotWithShape="1">
            <a:gsLst>
              <a:gs pos="0">
                <a:srgbClr val="5C7D9D"/>
              </a:gs>
              <a:gs pos="100000">
                <a:srgbClr val="00336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172200"/>
            <a:ext cx="9144000" cy="685800"/>
            <a:chOff x="0" y="3888"/>
            <a:chExt cx="5760" cy="432"/>
          </a:xfrm>
        </p:grpSpPr>
        <p:sp>
          <p:nvSpPr>
            <p:cNvPr id="8203" name="Rectangle 4"/>
            <p:cNvSpPr>
              <a:spLocks noChangeArrowheads="1"/>
            </p:cNvSpPr>
            <p:nvPr/>
          </p:nvSpPr>
          <p:spPr bwMode="auto">
            <a:xfrm>
              <a:off x="0" y="4128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8204" name="Rectangle 5"/>
            <p:cNvSpPr>
              <a:spLocks noChangeArrowheads="1"/>
            </p:cNvSpPr>
            <p:nvPr/>
          </p:nvSpPr>
          <p:spPr bwMode="auto">
            <a:xfrm>
              <a:off x="0" y="3936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8205" name="Rectangle 6"/>
            <p:cNvSpPr>
              <a:spLocks noChangeArrowheads="1"/>
            </p:cNvSpPr>
            <p:nvPr/>
          </p:nvSpPr>
          <p:spPr bwMode="auto">
            <a:xfrm>
              <a:off x="3552" y="4128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8206" name="Rectangle 7"/>
            <p:cNvSpPr>
              <a:spLocks noChangeArrowheads="1"/>
            </p:cNvSpPr>
            <p:nvPr/>
          </p:nvSpPr>
          <p:spPr bwMode="auto">
            <a:xfrm>
              <a:off x="3552" y="3936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8207" name="Rectangle 8"/>
            <p:cNvSpPr>
              <a:spLocks noChangeArrowheads="1"/>
            </p:cNvSpPr>
            <p:nvPr/>
          </p:nvSpPr>
          <p:spPr bwMode="auto">
            <a:xfrm>
              <a:off x="2256" y="3936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8208" name="Rectangle 9"/>
            <p:cNvSpPr>
              <a:spLocks noChangeArrowheads="1"/>
            </p:cNvSpPr>
            <p:nvPr/>
          </p:nvSpPr>
          <p:spPr bwMode="auto">
            <a:xfrm>
              <a:off x="2256" y="4128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8209" name="Rectangle 10"/>
            <p:cNvSpPr>
              <a:spLocks noChangeArrowheads="1"/>
            </p:cNvSpPr>
            <p:nvPr/>
          </p:nvSpPr>
          <p:spPr bwMode="auto">
            <a:xfrm>
              <a:off x="0" y="3888"/>
              <a:ext cx="5760" cy="48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</p:grpSp>
      <p:sp>
        <p:nvSpPr>
          <p:cNvPr id="8196" name="Rectangle 12"/>
          <p:cNvSpPr>
            <a:spLocks noChangeArrowheads="1"/>
          </p:cNvSpPr>
          <p:nvPr/>
        </p:nvSpPr>
        <p:spPr bwMode="auto">
          <a:xfrm>
            <a:off x="1600200" y="304800"/>
            <a:ext cx="5332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Basic Computer Maintenance</a:t>
            </a:r>
          </a:p>
        </p:txBody>
      </p:sp>
      <p:sp>
        <p:nvSpPr>
          <p:cNvPr id="8197" name="Rectangle 13"/>
          <p:cNvSpPr>
            <a:spLocks noChangeArrowheads="1"/>
          </p:cNvSpPr>
          <p:nvPr/>
        </p:nvSpPr>
        <p:spPr bwMode="auto">
          <a:xfrm>
            <a:off x="280988" y="1524000"/>
            <a:ext cx="464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800" b="0">
                <a:solidFill>
                  <a:srgbClr val="000066"/>
                </a:solidFill>
              </a:rPr>
              <a:t>Hard Disk Error Checking </a:t>
            </a:r>
          </a:p>
        </p:txBody>
      </p:sp>
      <p:sp>
        <p:nvSpPr>
          <p:cNvPr id="8198" name="Rectangle 15"/>
          <p:cNvSpPr>
            <a:spLocks noChangeArrowheads="1"/>
          </p:cNvSpPr>
          <p:nvPr/>
        </p:nvSpPr>
        <p:spPr bwMode="auto">
          <a:xfrm>
            <a:off x="280988" y="2209800"/>
            <a:ext cx="32845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2800" b="0">
                <a:solidFill>
                  <a:srgbClr val="000066"/>
                </a:solidFill>
              </a:rPr>
              <a:t>Uninstall Software </a:t>
            </a:r>
          </a:p>
        </p:txBody>
      </p:sp>
      <p:sp>
        <p:nvSpPr>
          <p:cNvPr id="8199" name="Rectangle 16"/>
          <p:cNvSpPr>
            <a:spLocks noChangeArrowheads="1"/>
          </p:cNvSpPr>
          <p:nvPr/>
        </p:nvSpPr>
        <p:spPr bwMode="auto">
          <a:xfrm>
            <a:off x="280988" y="2819400"/>
            <a:ext cx="4938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/>
            <a:r>
              <a:rPr lang="en-US" sz="2800" b="0">
                <a:solidFill>
                  <a:srgbClr val="000066"/>
                </a:solidFill>
              </a:rPr>
              <a:t>Clean Out Your Recycle Bin</a:t>
            </a:r>
          </a:p>
        </p:txBody>
      </p:sp>
      <p:sp>
        <p:nvSpPr>
          <p:cNvPr id="8200" name="Rectangle 17"/>
          <p:cNvSpPr>
            <a:spLocks noChangeArrowheads="1"/>
          </p:cNvSpPr>
          <p:nvPr/>
        </p:nvSpPr>
        <p:spPr bwMode="auto">
          <a:xfrm>
            <a:off x="925273" y="3412481"/>
            <a:ext cx="40398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dirty="0">
                <a:solidFill>
                  <a:srgbClr val="003399"/>
                </a:solidFill>
              </a:rPr>
              <a:t>Emptying the Recycle Bin</a:t>
            </a:r>
          </a:p>
        </p:txBody>
      </p:sp>
      <p:sp>
        <p:nvSpPr>
          <p:cNvPr id="8201" name="Rectangle 19"/>
          <p:cNvSpPr>
            <a:spLocks noChangeArrowheads="1"/>
          </p:cNvSpPr>
          <p:nvPr/>
        </p:nvSpPr>
        <p:spPr bwMode="auto">
          <a:xfrm>
            <a:off x="280988" y="4267200"/>
            <a:ext cx="4737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/>
            <a:r>
              <a:rPr lang="en-US" sz="2800" b="0">
                <a:solidFill>
                  <a:srgbClr val="000066"/>
                </a:solidFill>
              </a:rPr>
              <a:t>Operating System Reinstall</a:t>
            </a:r>
          </a:p>
        </p:txBody>
      </p:sp>
      <p:pic>
        <p:nvPicPr>
          <p:cNvPr id="8202" name="Picture 22" descr="MCj0325956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0"/>
            <a:ext cx="1219200" cy="120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37</a:t>
            </a:fld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9"/>
          <p:cNvSpPr>
            <a:spLocks noChangeArrowheads="1"/>
          </p:cNvSpPr>
          <p:nvPr/>
        </p:nvSpPr>
        <p:spPr bwMode="auto">
          <a:xfrm>
            <a:off x="0" y="228600"/>
            <a:ext cx="9144000" cy="533400"/>
          </a:xfrm>
          <a:prstGeom prst="rect">
            <a:avLst/>
          </a:prstGeom>
          <a:gradFill rotWithShape="1">
            <a:gsLst>
              <a:gs pos="0">
                <a:srgbClr val="5C7D9D"/>
              </a:gs>
              <a:gs pos="100000">
                <a:srgbClr val="00336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Eras Medium ITC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172200"/>
            <a:ext cx="9144000" cy="685800"/>
            <a:chOff x="0" y="3888"/>
            <a:chExt cx="5760" cy="432"/>
          </a:xfrm>
        </p:grpSpPr>
        <p:sp>
          <p:nvSpPr>
            <p:cNvPr id="10250" name="Rectangle 4"/>
            <p:cNvSpPr>
              <a:spLocks noChangeArrowheads="1"/>
            </p:cNvSpPr>
            <p:nvPr/>
          </p:nvSpPr>
          <p:spPr bwMode="auto">
            <a:xfrm>
              <a:off x="0" y="4128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0251" name="Rectangle 5"/>
            <p:cNvSpPr>
              <a:spLocks noChangeArrowheads="1"/>
            </p:cNvSpPr>
            <p:nvPr/>
          </p:nvSpPr>
          <p:spPr bwMode="auto">
            <a:xfrm>
              <a:off x="0" y="3936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0252" name="Rectangle 6"/>
            <p:cNvSpPr>
              <a:spLocks noChangeArrowheads="1"/>
            </p:cNvSpPr>
            <p:nvPr/>
          </p:nvSpPr>
          <p:spPr bwMode="auto">
            <a:xfrm>
              <a:off x="3552" y="4128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0253" name="Rectangle 7"/>
            <p:cNvSpPr>
              <a:spLocks noChangeArrowheads="1"/>
            </p:cNvSpPr>
            <p:nvPr/>
          </p:nvSpPr>
          <p:spPr bwMode="auto">
            <a:xfrm>
              <a:off x="3552" y="3936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0254" name="Rectangle 8"/>
            <p:cNvSpPr>
              <a:spLocks noChangeArrowheads="1"/>
            </p:cNvSpPr>
            <p:nvPr/>
          </p:nvSpPr>
          <p:spPr bwMode="auto">
            <a:xfrm>
              <a:off x="2256" y="3936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0255" name="Rectangle 9"/>
            <p:cNvSpPr>
              <a:spLocks noChangeArrowheads="1"/>
            </p:cNvSpPr>
            <p:nvPr/>
          </p:nvSpPr>
          <p:spPr bwMode="auto">
            <a:xfrm>
              <a:off x="2256" y="4128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0256" name="Rectangle 10"/>
            <p:cNvSpPr>
              <a:spLocks noChangeArrowheads="1"/>
            </p:cNvSpPr>
            <p:nvPr/>
          </p:nvSpPr>
          <p:spPr bwMode="auto">
            <a:xfrm>
              <a:off x="0" y="3888"/>
              <a:ext cx="5760" cy="48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</p:grpSp>
      <p:sp>
        <p:nvSpPr>
          <p:cNvPr id="10244" name="Rectangle 18"/>
          <p:cNvSpPr>
            <a:spLocks noChangeArrowheads="1"/>
          </p:cNvSpPr>
          <p:nvPr/>
        </p:nvSpPr>
        <p:spPr bwMode="auto">
          <a:xfrm>
            <a:off x="1196975" y="242888"/>
            <a:ext cx="3222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Computer Viruses</a:t>
            </a:r>
          </a:p>
        </p:txBody>
      </p:sp>
      <p:sp>
        <p:nvSpPr>
          <p:cNvPr id="10245" name="Rectangle 20"/>
          <p:cNvSpPr>
            <a:spLocks noChangeArrowheads="1"/>
          </p:cNvSpPr>
          <p:nvPr/>
        </p:nvSpPr>
        <p:spPr bwMode="auto">
          <a:xfrm>
            <a:off x="15875" y="928688"/>
            <a:ext cx="2803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/>
            <a:r>
              <a:rPr lang="en-US" sz="2800" u="sng">
                <a:solidFill>
                  <a:srgbClr val="000066"/>
                </a:solidFill>
              </a:rPr>
              <a:t>What is a virus?</a:t>
            </a:r>
          </a:p>
        </p:txBody>
      </p:sp>
      <p:sp>
        <p:nvSpPr>
          <p:cNvPr id="10246" name="Rectangle 21"/>
          <p:cNvSpPr>
            <a:spLocks noChangeArrowheads="1"/>
          </p:cNvSpPr>
          <p:nvPr/>
        </p:nvSpPr>
        <p:spPr bwMode="auto">
          <a:xfrm>
            <a:off x="76200" y="1522413"/>
            <a:ext cx="914400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FontTx/>
              <a:buChar char="•"/>
            </a:pPr>
            <a:r>
              <a:rPr lang="en-US" sz="2800">
                <a:solidFill>
                  <a:srgbClr val="003399"/>
                </a:solidFill>
              </a:rPr>
              <a:t> a computer program designed to replicate and spread on its own, preferably without a user’s knowledge </a:t>
            </a:r>
          </a:p>
        </p:txBody>
      </p:sp>
      <p:sp>
        <p:nvSpPr>
          <p:cNvPr id="10247" name="Rectangle 22"/>
          <p:cNvSpPr>
            <a:spLocks noChangeArrowheads="1"/>
          </p:cNvSpPr>
          <p:nvPr/>
        </p:nvSpPr>
        <p:spPr bwMode="auto">
          <a:xfrm>
            <a:off x="76200" y="3017838"/>
            <a:ext cx="42529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/>
            <a:r>
              <a:rPr lang="en-US" sz="2800" u="sng" dirty="0">
                <a:solidFill>
                  <a:srgbClr val="000066"/>
                </a:solidFill>
              </a:rPr>
              <a:t>How do viruses spread?</a:t>
            </a:r>
          </a:p>
        </p:txBody>
      </p:sp>
      <p:sp>
        <p:nvSpPr>
          <p:cNvPr id="10248" name="Rectangle 24"/>
          <p:cNvSpPr>
            <a:spLocks noChangeArrowheads="1"/>
          </p:cNvSpPr>
          <p:nvPr/>
        </p:nvSpPr>
        <p:spPr bwMode="auto">
          <a:xfrm>
            <a:off x="228600" y="3640138"/>
            <a:ext cx="8077200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>
              <a:buFontTx/>
              <a:buChar char="•"/>
            </a:pPr>
            <a:r>
              <a:rPr lang="en-US" sz="2800" dirty="0">
                <a:solidFill>
                  <a:srgbClr val="003399"/>
                </a:solidFill>
              </a:rPr>
              <a:t> Computer viruses spread whenever infected </a:t>
            </a:r>
            <a:r>
              <a:rPr lang="en-US" sz="2800" dirty="0" smtClean="0">
                <a:solidFill>
                  <a:srgbClr val="003399"/>
                </a:solidFill>
              </a:rPr>
              <a:t>drives </a:t>
            </a:r>
            <a:r>
              <a:rPr lang="en-US" sz="2800" dirty="0">
                <a:solidFill>
                  <a:srgbClr val="003399"/>
                </a:solidFill>
              </a:rPr>
              <a:t>or files are exchanged. </a:t>
            </a:r>
          </a:p>
          <a:p>
            <a:pPr algn="just"/>
            <a:endParaRPr lang="en-US" sz="2800" dirty="0">
              <a:solidFill>
                <a:srgbClr val="003399"/>
              </a:solidFill>
            </a:endParaRPr>
          </a:p>
          <a:p>
            <a:pPr algn="just">
              <a:buFontTx/>
              <a:buChar char="•"/>
            </a:pPr>
            <a:r>
              <a:rPr lang="en-US" sz="2800" dirty="0">
                <a:solidFill>
                  <a:srgbClr val="003399"/>
                </a:solidFill>
              </a:rPr>
              <a:t> Exchanging computer disks or viewing email attachments. </a:t>
            </a:r>
          </a:p>
        </p:txBody>
      </p:sp>
      <p:pic>
        <p:nvPicPr>
          <p:cNvPr id="10249" name="Picture 26" descr="MCj036172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6200"/>
            <a:ext cx="12954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Slide Number Placeholder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38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533400"/>
          </a:xfrm>
          <a:prstGeom prst="rect">
            <a:avLst/>
          </a:prstGeom>
          <a:gradFill rotWithShape="1">
            <a:gsLst>
              <a:gs pos="0">
                <a:srgbClr val="5C7D9D"/>
              </a:gs>
              <a:gs pos="100000">
                <a:srgbClr val="00336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Eras Medium ITC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172200"/>
            <a:ext cx="9144000" cy="685800"/>
            <a:chOff x="0" y="3888"/>
            <a:chExt cx="5760" cy="432"/>
          </a:xfrm>
        </p:grpSpPr>
        <p:sp>
          <p:nvSpPr>
            <p:cNvPr id="11274" name="Rectangle 4"/>
            <p:cNvSpPr>
              <a:spLocks noChangeArrowheads="1"/>
            </p:cNvSpPr>
            <p:nvPr/>
          </p:nvSpPr>
          <p:spPr bwMode="auto">
            <a:xfrm>
              <a:off x="0" y="4128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1275" name="Rectangle 5"/>
            <p:cNvSpPr>
              <a:spLocks noChangeArrowheads="1"/>
            </p:cNvSpPr>
            <p:nvPr/>
          </p:nvSpPr>
          <p:spPr bwMode="auto">
            <a:xfrm>
              <a:off x="0" y="3936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1276" name="Rectangle 6"/>
            <p:cNvSpPr>
              <a:spLocks noChangeArrowheads="1"/>
            </p:cNvSpPr>
            <p:nvPr/>
          </p:nvSpPr>
          <p:spPr bwMode="auto">
            <a:xfrm>
              <a:off x="3552" y="4128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1277" name="Rectangle 7"/>
            <p:cNvSpPr>
              <a:spLocks noChangeArrowheads="1"/>
            </p:cNvSpPr>
            <p:nvPr/>
          </p:nvSpPr>
          <p:spPr bwMode="auto">
            <a:xfrm>
              <a:off x="3552" y="3936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1278" name="Rectangle 8"/>
            <p:cNvSpPr>
              <a:spLocks noChangeArrowheads="1"/>
            </p:cNvSpPr>
            <p:nvPr/>
          </p:nvSpPr>
          <p:spPr bwMode="auto">
            <a:xfrm>
              <a:off x="2256" y="3936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1279" name="Rectangle 9"/>
            <p:cNvSpPr>
              <a:spLocks noChangeArrowheads="1"/>
            </p:cNvSpPr>
            <p:nvPr/>
          </p:nvSpPr>
          <p:spPr bwMode="auto">
            <a:xfrm>
              <a:off x="2256" y="4128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1280" name="Rectangle 10"/>
            <p:cNvSpPr>
              <a:spLocks noChangeArrowheads="1"/>
            </p:cNvSpPr>
            <p:nvPr/>
          </p:nvSpPr>
          <p:spPr bwMode="auto">
            <a:xfrm>
              <a:off x="0" y="3888"/>
              <a:ext cx="5760" cy="48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</p:grpSp>
      <p:sp>
        <p:nvSpPr>
          <p:cNvPr id="11268" name="Rectangle 12"/>
          <p:cNvSpPr>
            <a:spLocks noChangeArrowheads="1"/>
          </p:cNvSpPr>
          <p:nvPr/>
        </p:nvSpPr>
        <p:spPr bwMode="auto">
          <a:xfrm>
            <a:off x="142875" y="990600"/>
            <a:ext cx="7558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/>
            <a:r>
              <a:rPr lang="en-US" sz="2800">
                <a:solidFill>
                  <a:srgbClr val="003399"/>
                </a:solidFill>
              </a:rPr>
              <a:t>How can you protect yourself from viruses?</a:t>
            </a:r>
          </a:p>
        </p:txBody>
      </p:sp>
      <p:sp>
        <p:nvSpPr>
          <p:cNvPr id="11269" name="Rectangle 13"/>
          <p:cNvSpPr>
            <a:spLocks noChangeArrowheads="1"/>
          </p:cNvSpPr>
          <p:nvPr/>
        </p:nvSpPr>
        <p:spPr bwMode="auto">
          <a:xfrm>
            <a:off x="1196975" y="242888"/>
            <a:ext cx="3222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Computer Viruses</a:t>
            </a:r>
          </a:p>
        </p:txBody>
      </p:sp>
      <p:sp>
        <p:nvSpPr>
          <p:cNvPr id="11270" name="Rectangle 14"/>
          <p:cNvSpPr>
            <a:spLocks noChangeArrowheads="1"/>
          </p:cNvSpPr>
          <p:nvPr/>
        </p:nvSpPr>
        <p:spPr bwMode="auto">
          <a:xfrm>
            <a:off x="50800" y="1706563"/>
            <a:ext cx="90932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>
              <a:buFontTx/>
              <a:buChar char="•"/>
            </a:pPr>
            <a:r>
              <a:rPr lang="en-US" sz="2800">
                <a:solidFill>
                  <a:srgbClr val="000066"/>
                </a:solidFill>
              </a:rPr>
              <a:t> Have an Antivirus program installed on your computer</a:t>
            </a:r>
          </a:p>
        </p:txBody>
      </p:sp>
      <p:sp>
        <p:nvSpPr>
          <p:cNvPr id="11271" name="Rectangle 15"/>
          <p:cNvSpPr>
            <a:spLocks noChangeArrowheads="1"/>
          </p:cNvSpPr>
          <p:nvPr/>
        </p:nvSpPr>
        <p:spPr bwMode="auto">
          <a:xfrm>
            <a:off x="285720" y="3032125"/>
            <a:ext cx="885828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>
              <a:buFontTx/>
              <a:buChar char="•"/>
            </a:pPr>
            <a:r>
              <a:rPr lang="en-US" sz="2800" dirty="0">
                <a:solidFill>
                  <a:srgbClr val="000066"/>
                </a:solidFill>
              </a:rPr>
              <a:t>Regularly scan the computer for viruses (at least once a week).</a:t>
            </a:r>
          </a:p>
        </p:txBody>
      </p:sp>
      <p:sp>
        <p:nvSpPr>
          <p:cNvPr id="11272" name="Rectangle 16"/>
          <p:cNvSpPr>
            <a:spLocks noChangeArrowheads="1"/>
          </p:cNvSpPr>
          <p:nvPr/>
        </p:nvSpPr>
        <p:spPr bwMode="auto">
          <a:xfrm>
            <a:off x="0" y="4479925"/>
            <a:ext cx="9144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>
              <a:buFontTx/>
              <a:buChar char="•"/>
            </a:pPr>
            <a:r>
              <a:rPr lang="en-US" sz="2800">
                <a:solidFill>
                  <a:srgbClr val="000066"/>
                </a:solidFill>
              </a:rPr>
              <a:t>Keep your virus definition files ,up to date (at least once a month, more times if possible).</a:t>
            </a:r>
          </a:p>
        </p:txBody>
      </p:sp>
      <p:pic>
        <p:nvPicPr>
          <p:cNvPr id="11273" name="Picture 24" descr="MCj036172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-76200"/>
            <a:ext cx="1219200" cy="102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Slide Number Placeholder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39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4"/>
          <p:cNvSpPr>
            <a:spLocks noChangeArrowheads="1"/>
          </p:cNvSpPr>
          <p:nvPr/>
        </p:nvSpPr>
        <p:spPr bwMode="auto">
          <a:xfrm>
            <a:off x="0" y="228600"/>
            <a:ext cx="9144000" cy="533400"/>
          </a:xfrm>
          <a:prstGeom prst="rect">
            <a:avLst/>
          </a:prstGeom>
          <a:gradFill rotWithShape="1">
            <a:gsLst>
              <a:gs pos="0">
                <a:srgbClr val="5C7D9D"/>
              </a:gs>
              <a:gs pos="100000">
                <a:srgbClr val="00336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Eras Medium ITC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172200"/>
            <a:ext cx="9144000" cy="685800"/>
            <a:chOff x="0" y="3888"/>
            <a:chExt cx="5760" cy="432"/>
          </a:xfrm>
        </p:grpSpPr>
        <p:sp>
          <p:nvSpPr>
            <p:cNvPr id="12296" name="Rectangle 4"/>
            <p:cNvSpPr>
              <a:spLocks noChangeArrowheads="1"/>
            </p:cNvSpPr>
            <p:nvPr/>
          </p:nvSpPr>
          <p:spPr bwMode="auto">
            <a:xfrm>
              <a:off x="0" y="4128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2297" name="Rectangle 5"/>
            <p:cNvSpPr>
              <a:spLocks noChangeArrowheads="1"/>
            </p:cNvSpPr>
            <p:nvPr/>
          </p:nvSpPr>
          <p:spPr bwMode="auto">
            <a:xfrm>
              <a:off x="0" y="3936"/>
              <a:ext cx="2304" cy="192"/>
            </a:xfrm>
            <a:prstGeom prst="rect">
              <a:avLst/>
            </a:prstGeom>
            <a:gradFill rotWithShape="1">
              <a:gsLst>
                <a:gs pos="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2298" name="Rectangle 6"/>
            <p:cNvSpPr>
              <a:spLocks noChangeArrowheads="1"/>
            </p:cNvSpPr>
            <p:nvPr/>
          </p:nvSpPr>
          <p:spPr bwMode="auto">
            <a:xfrm>
              <a:off x="3552" y="4128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2299" name="Rectangle 7"/>
            <p:cNvSpPr>
              <a:spLocks noChangeArrowheads="1"/>
            </p:cNvSpPr>
            <p:nvPr/>
          </p:nvSpPr>
          <p:spPr bwMode="auto">
            <a:xfrm>
              <a:off x="3552" y="3936"/>
              <a:ext cx="2208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879CA9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2300" name="Rectangle 8"/>
            <p:cNvSpPr>
              <a:spLocks noChangeArrowheads="1"/>
            </p:cNvSpPr>
            <p:nvPr/>
          </p:nvSpPr>
          <p:spPr bwMode="auto">
            <a:xfrm>
              <a:off x="2256" y="3936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2301" name="Rectangle 9"/>
            <p:cNvSpPr>
              <a:spLocks noChangeArrowheads="1"/>
            </p:cNvSpPr>
            <p:nvPr/>
          </p:nvSpPr>
          <p:spPr bwMode="auto">
            <a:xfrm>
              <a:off x="2256" y="4128"/>
              <a:ext cx="1296" cy="192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  <p:sp>
          <p:nvSpPr>
            <p:cNvPr id="12302" name="Rectangle 10"/>
            <p:cNvSpPr>
              <a:spLocks noChangeArrowheads="1"/>
            </p:cNvSpPr>
            <p:nvPr/>
          </p:nvSpPr>
          <p:spPr bwMode="auto">
            <a:xfrm>
              <a:off x="0" y="3888"/>
              <a:ext cx="5760" cy="48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50000">
                  <a:srgbClr val="879CA9"/>
                </a:gs>
                <a:gs pos="100000">
                  <a:srgbClr val="CCEC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0">
                <a:latin typeface="Arial" charset="0"/>
              </a:endParaRPr>
            </a:p>
          </p:txBody>
        </p:sp>
      </p:grpSp>
      <p:sp>
        <p:nvSpPr>
          <p:cNvPr id="12292" name="Rectangle 13"/>
          <p:cNvSpPr>
            <a:spLocks noChangeArrowheads="1"/>
          </p:cNvSpPr>
          <p:nvPr/>
        </p:nvSpPr>
        <p:spPr bwMode="auto">
          <a:xfrm>
            <a:off x="1196975" y="242888"/>
            <a:ext cx="3222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Computer Viruses</a:t>
            </a:r>
          </a:p>
        </p:txBody>
      </p:sp>
      <p:sp>
        <p:nvSpPr>
          <p:cNvPr id="12293" name="Rectangle 18"/>
          <p:cNvSpPr>
            <a:spLocks noChangeArrowheads="1"/>
          </p:cNvSpPr>
          <p:nvPr/>
        </p:nvSpPr>
        <p:spPr bwMode="auto">
          <a:xfrm>
            <a:off x="381000" y="1598613"/>
            <a:ext cx="853440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FontTx/>
              <a:buChar char="•"/>
            </a:pPr>
            <a:r>
              <a:rPr lang="en-US" sz="2800">
                <a:solidFill>
                  <a:srgbClr val="000066"/>
                </a:solidFill>
              </a:rPr>
              <a:t>Keep updated in regards to the latest security patches for your operating systems and applications </a:t>
            </a:r>
          </a:p>
        </p:txBody>
      </p:sp>
      <p:sp>
        <p:nvSpPr>
          <p:cNvPr id="12294" name="Rectangle 19"/>
          <p:cNvSpPr>
            <a:spLocks noChangeArrowheads="1"/>
          </p:cNvSpPr>
          <p:nvPr/>
        </p:nvSpPr>
        <p:spPr bwMode="auto">
          <a:xfrm>
            <a:off x="381000" y="3473450"/>
            <a:ext cx="8382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>
              <a:buFontTx/>
              <a:buChar char="•"/>
            </a:pPr>
            <a:r>
              <a:rPr lang="en-US" sz="2800">
                <a:solidFill>
                  <a:srgbClr val="000066"/>
                </a:solidFill>
              </a:rPr>
              <a:t>Do not open email attachments that are from people you don’t know</a:t>
            </a:r>
          </a:p>
        </p:txBody>
      </p:sp>
      <p:pic>
        <p:nvPicPr>
          <p:cNvPr id="12295" name="Picture 31" descr="MCj036172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-76200"/>
            <a:ext cx="1219200" cy="102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37D58401-4DAD-40DE-87A4-F56F54284663}" type="slidenum">
              <a:rPr lang="en-IN" smtClean="0"/>
              <a:pPr>
                <a:defRPr/>
              </a:pPr>
              <a:t>40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IN" smtClean="0"/>
              <a:t>mpeter@mmu.ac.ug</a:t>
            </a:r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5"/>
          <p:cNvSpPr>
            <a:spLocks noGrp="1"/>
          </p:cNvSpPr>
          <p:nvPr>
            <p:ph type="ctrTitle"/>
          </p:nvPr>
        </p:nvSpPr>
        <p:spPr>
          <a:xfrm rot="18172805">
            <a:off x="2238494" y="2851456"/>
            <a:ext cx="6172200" cy="1894362"/>
          </a:xfrm>
        </p:spPr>
        <p:txBody>
          <a:bodyPr>
            <a:normAutofit/>
          </a:bodyPr>
          <a:lstStyle/>
          <a:p>
            <a:pPr algn="ctr"/>
            <a:r>
              <a:rPr lang="en-US" sz="3600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  <a:endParaRPr lang="en-IN" sz="3600" cap="none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4608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/>
              <a:t>mpeter@mmu.ac.ug</a:t>
            </a:r>
            <a:endParaRPr lang="en-IN"/>
          </a:p>
        </p:txBody>
      </p:sp>
      <p:sp>
        <p:nvSpPr>
          <p:cNvPr id="460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5DD5820-BD27-4668-BE02-F87363774581}" type="slidenum">
              <a:rPr lang="en-IN" smtClean="0"/>
              <a:pPr/>
              <a:t>41</a:t>
            </a:fld>
            <a:endParaRPr lang="en-IN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592</TotalTime>
  <Words>1737</Words>
  <Application>Microsoft Office PowerPoint</Application>
  <PresentationFormat>On-screen Show (4:3)</PresentationFormat>
  <Paragraphs>276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Century Schoolbook</vt:lpstr>
      <vt:lpstr>Eras Medium ITC</vt:lpstr>
      <vt:lpstr>Wingdings</vt:lpstr>
      <vt:lpstr>Wingdings 2</vt:lpstr>
      <vt:lpstr>Oriel</vt:lpstr>
      <vt:lpstr>Installation, Repair, Servicing &amp; Maintenance concepts</vt:lpstr>
      <vt:lpstr>The Concepts </vt:lpstr>
      <vt:lpstr>Maintenance</vt:lpstr>
      <vt:lpstr>Servicing </vt:lpstr>
      <vt:lpstr>Servicing steps</vt:lpstr>
      <vt:lpstr>Servicing steps</vt:lpstr>
      <vt:lpstr>Troubleshooting </vt:lpstr>
      <vt:lpstr>Repairing Concepts</vt:lpstr>
      <vt:lpstr>Repair Maintenance policy</vt:lpstr>
      <vt:lpstr>Repair generated failures</vt:lpstr>
      <vt:lpstr>Maintenance </vt:lpstr>
      <vt:lpstr>Software Maintenance</vt:lpstr>
      <vt:lpstr>Hardware Maintenance</vt:lpstr>
      <vt:lpstr>Preventive Maintenance</vt:lpstr>
      <vt:lpstr>General Precautions</vt:lpstr>
      <vt:lpstr>…General Precautions</vt:lpstr>
      <vt:lpstr>Special Precautions</vt:lpstr>
      <vt:lpstr>…Special Precautions</vt:lpstr>
      <vt:lpstr>Preventive Maintenance</vt:lpstr>
      <vt:lpstr>Corrective Maintenance</vt:lpstr>
      <vt:lpstr>Corrective maintenance steps</vt:lpstr>
      <vt:lpstr>Corrective maintenance tools</vt:lpstr>
      <vt:lpstr>Mean time between failure</vt:lpstr>
      <vt:lpstr>…MTBF</vt:lpstr>
      <vt:lpstr>Mean time to repair(MTTR)</vt:lpstr>
      <vt:lpstr>Performance affecting factors</vt:lpstr>
      <vt:lpstr>Heat &amp; Humidity</vt:lpstr>
      <vt:lpstr>…Heat &amp; Humidity</vt:lpstr>
      <vt:lpstr>Stray Electromagnetism</vt:lpstr>
      <vt:lpstr>Power Surge</vt:lpstr>
      <vt:lpstr>Corrosion &amp; Rough Handling</vt:lpstr>
      <vt:lpstr>Rough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&lt;egyptian hak&gt;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Repair &amp; Maintenance concepts</dc:title>
  <dc:creator>nsd</dc:creator>
  <cp:lastModifiedBy>pc</cp:lastModifiedBy>
  <cp:revision>96</cp:revision>
  <dcterms:created xsi:type="dcterms:W3CDTF">2013-02-01T13:06:54Z</dcterms:created>
  <dcterms:modified xsi:type="dcterms:W3CDTF">2024-03-26T17:54:26Z</dcterms:modified>
</cp:coreProperties>
</file>