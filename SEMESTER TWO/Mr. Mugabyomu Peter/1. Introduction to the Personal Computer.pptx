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7"/>
  </p:handoutMasterIdLst>
  <p:sldIdLst>
    <p:sldId id="500" r:id="rId3"/>
    <p:sldId id="541" r:id="rId5"/>
    <p:sldId id="569" r:id="rId6"/>
    <p:sldId id="591" r:id="rId7"/>
    <p:sldId id="587" r:id="rId8"/>
    <p:sldId id="628" r:id="rId9"/>
    <p:sldId id="683" r:id="rId10"/>
    <p:sldId id="684" r:id="rId11"/>
    <p:sldId id="641" r:id="rId12"/>
    <p:sldId id="636" r:id="rId13"/>
    <p:sldId id="669" r:id="rId14"/>
    <p:sldId id="634" r:id="rId15"/>
    <p:sldId id="650" r:id="rId16"/>
    <p:sldId id="670" r:id="rId17"/>
    <p:sldId id="685" r:id="rId18"/>
    <p:sldId id="686" r:id="rId19"/>
    <p:sldId id="643" r:id="rId20"/>
    <p:sldId id="672" r:id="rId21"/>
    <p:sldId id="644" r:id="rId22"/>
    <p:sldId id="687" r:id="rId23"/>
    <p:sldId id="688" r:id="rId24"/>
    <p:sldId id="689" r:id="rId25"/>
    <p:sldId id="645" r:id="rId26"/>
    <p:sldId id="674" r:id="rId27"/>
    <p:sldId id="663" r:id="rId28"/>
    <p:sldId id="675" r:id="rId29"/>
    <p:sldId id="676" r:id="rId30"/>
    <p:sldId id="647" r:id="rId31"/>
    <p:sldId id="648" r:id="rId32"/>
    <p:sldId id="655" r:id="rId33"/>
    <p:sldId id="649" r:id="rId34"/>
    <p:sldId id="651" r:id="rId35"/>
    <p:sldId id="656" r:id="rId36"/>
    <p:sldId id="657" r:id="rId37"/>
    <p:sldId id="658" r:id="rId38"/>
    <p:sldId id="659" r:id="rId39"/>
    <p:sldId id="660" r:id="rId40"/>
    <p:sldId id="661" r:id="rId41"/>
    <p:sldId id="662" r:id="rId42"/>
    <p:sldId id="652" r:id="rId43"/>
    <p:sldId id="653" r:id="rId44"/>
    <p:sldId id="677" r:id="rId45"/>
    <p:sldId id="680" r:id="rId46"/>
  </p:sldIdLst>
  <p:sldSz cx="9144000" cy="6858000" type="screen4x3"/>
  <p:notesSz cx="7010400" cy="9296400"/>
  <p:defaultTextStyle>
    <a:defPPr>
      <a:defRPr lang="en-US"/>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C0C4"/>
    <a:srgbClr val="678DC5"/>
    <a:srgbClr val="3E67A4"/>
    <a:srgbClr val="3E8DC5"/>
    <a:srgbClr val="5F5F65"/>
    <a:srgbClr val="7E7E86"/>
    <a:srgbClr val="FFFFFF"/>
    <a:srgbClr val="8E8E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15593"/>
    <p:restoredTop sz="95208"/>
  </p:normalViewPr>
  <p:slideViewPr>
    <p:cSldViewPr snapToGrid="0" showGuides="1">
      <p:cViewPr varScale="1">
        <p:scale>
          <a:sx n="83" d="100"/>
          <a:sy n="83" d="100"/>
        </p:scale>
        <p:origin x="893" y="77"/>
      </p:cViewPr>
      <p:guideLst>
        <p:guide orient="horz" pos="2160"/>
        <p:guide pos="2880"/>
      </p:guideLst>
    </p:cSldViewPr>
  </p:slideViewPr>
  <p:notesTextViewPr>
    <p:cViewPr>
      <p:scale>
        <a:sx n="100" d="100"/>
        <a:sy n="100" d="100"/>
      </p:scale>
      <p:origin x="0" y="0"/>
    </p:cViewPr>
  </p:notesTextViewPr>
  <p:sorterViewPr showFormatting="0">
    <p:cViewPr>
      <p:scale>
        <a:sx n="100" d="100"/>
        <a:sy n="100" d="100"/>
      </p:scale>
      <p:origin x="0" y="2628"/>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0" Type="http://schemas.openxmlformats.org/officeDocument/2006/relationships/tableStyles" Target="tableStyles.xml"/><Relationship Id="rId5" Type="http://schemas.openxmlformats.org/officeDocument/2006/relationships/slide" Target="slides/slide2.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Rectangle 11"/>
          <p:cNvSpPr>
            <a:spLocks noChangeArrowheads="1"/>
          </p:cNvSpPr>
          <p:nvPr/>
        </p:nvSpPr>
        <p:spPr bwMode="auto">
          <a:xfrm>
            <a:off x="6249988" y="8609013"/>
            <a:ext cx="449263" cy="212725"/>
          </a:xfrm>
          <a:prstGeom prst="rect">
            <a:avLst/>
          </a:prstGeom>
          <a:noFill/>
          <a:ln>
            <a:noFill/>
          </a:ln>
        </p:spPr>
        <p:txBody>
          <a:bodyPr wrap="none" anchor="ctr"/>
          <a:lstStyle>
            <a:lvl1pPr algn="ctr">
              <a:lnSpc>
                <a:spcPct val="90000"/>
              </a:lnSpc>
              <a:defRPr sz="2400">
                <a:solidFill>
                  <a:schemeClr val="tx1"/>
                </a:solidFill>
                <a:latin typeface="Arial" panose="020B0604020202020204" pitchFamily="34" charset="0"/>
              </a:defRPr>
            </a:lvl1pPr>
            <a:lvl2pPr marL="742950" indent="-285750" algn="ctr">
              <a:lnSpc>
                <a:spcPct val="90000"/>
              </a:lnSpc>
              <a:defRPr sz="2400">
                <a:solidFill>
                  <a:schemeClr val="tx1"/>
                </a:solidFill>
                <a:latin typeface="Arial" panose="020B0604020202020204" pitchFamily="34" charset="0"/>
              </a:defRPr>
            </a:lvl2pPr>
            <a:lvl3pPr marL="1143000" indent="-228600" algn="ctr">
              <a:lnSpc>
                <a:spcPct val="90000"/>
              </a:lnSpc>
              <a:defRPr sz="2400">
                <a:solidFill>
                  <a:schemeClr val="tx1"/>
                </a:solidFill>
                <a:latin typeface="Arial" panose="020B0604020202020204" pitchFamily="34" charset="0"/>
              </a:defRPr>
            </a:lvl3pPr>
            <a:lvl4pPr marL="1600200" indent="-228600" algn="ctr">
              <a:lnSpc>
                <a:spcPct val="90000"/>
              </a:lnSpc>
              <a:defRPr sz="2400">
                <a:solidFill>
                  <a:schemeClr val="tx1"/>
                </a:solidFill>
                <a:latin typeface="Arial" panose="020B0604020202020204" pitchFamily="34" charset="0"/>
              </a:defRPr>
            </a:lvl4pPr>
            <a:lvl5pPr marL="2057400" indent="-228600" algn="ctr">
              <a:lnSpc>
                <a:spcPct val="90000"/>
              </a:lnSpc>
              <a:defRPr sz="2400">
                <a:solidFill>
                  <a:schemeClr val="tx1"/>
                </a:solidFill>
                <a:latin typeface="Arial" panose="020B0604020202020204" pitchFamily="34" charset="0"/>
              </a:defRPr>
            </a:lvl5pPr>
            <a:lvl6pPr marL="2514600" indent="-228600" algn="ctr"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90000"/>
              </a:lnSpc>
              <a:spcBef>
                <a:spcPct val="0"/>
              </a:spcBef>
              <a:spcAft>
                <a:spcPct val="0"/>
              </a:spcAft>
              <a:buClrTx/>
              <a:buSzTx/>
              <a:buFontTx/>
              <a:buNone/>
              <a:defRPr/>
            </a:pPr>
            <a:endParaRPr kumimoji="0" lang="en-US" alt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099" name="Rectangle 12"/>
          <p:cNvSpPr>
            <a:spLocks noChangeArrowheads="1"/>
          </p:cNvSpPr>
          <p:nvPr/>
        </p:nvSpPr>
        <p:spPr bwMode="auto">
          <a:xfrm>
            <a:off x="57150" y="8785225"/>
            <a:ext cx="2619375" cy="347663"/>
          </a:xfrm>
          <a:prstGeom prst="rect">
            <a:avLst/>
          </a:prstGeom>
          <a:noFill/>
          <a:ln>
            <a:noFill/>
          </a:ln>
        </p:spPr>
        <p:txBody>
          <a:bodyPr lIns="95667" tIns="50185" rIns="95667" bIns="50185">
            <a:spAutoFit/>
          </a:bodyPr>
          <a:lstStyle>
            <a:lvl1pPr algn="ctr" defTabSz="611505">
              <a:lnSpc>
                <a:spcPct val="90000"/>
              </a:lnSpc>
              <a:tabLst>
                <a:tab pos="2387600" algn="l"/>
                <a:tab pos="4830445" algn="l"/>
              </a:tabLst>
              <a:defRPr sz="2400">
                <a:solidFill>
                  <a:schemeClr val="tx1"/>
                </a:solidFill>
                <a:latin typeface="Arial" panose="020B0604020202020204" pitchFamily="34" charset="0"/>
              </a:defRPr>
            </a:lvl1pPr>
            <a:lvl2pPr marL="742950" indent="-285750" algn="ctr" defTabSz="611505">
              <a:lnSpc>
                <a:spcPct val="90000"/>
              </a:lnSpc>
              <a:tabLst>
                <a:tab pos="2387600" algn="l"/>
                <a:tab pos="4830445" algn="l"/>
              </a:tabLst>
              <a:defRPr sz="2400">
                <a:solidFill>
                  <a:schemeClr val="tx1"/>
                </a:solidFill>
                <a:latin typeface="Arial" panose="020B0604020202020204" pitchFamily="34" charset="0"/>
              </a:defRPr>
            </a:lvl2pPr>
            <a:lvl3pPr marL="1143000" indent="-228600" algn="ctr" defTabSz="611505">
              <a:lnSpc>
                <a:spcPct val="90000"/>
              </a:lnSpc>
              <a:tabLst>
                <a:tab pos="2387600" algn="l"/>
                <a:tab pos="4830445" algn="l"/>
              </a:tabLst>
              <a:defRPr sz="2400">
                <a:solidFill>
                  <a:schemeClr val="tx1"/>
                </a:solidFill>
                <a:latin typeface="Arial" panose="020B0604020202020204" pitchFamily="34" charset="0"/>
              </a:defRPr>
            </a:lvl3pPr>
            <a:lvl4pPr marL="1600200" indent="-228600" algn="ctr" defTabSz="611505">
              <a:lnSpc>
                <a:spcPct val="90000"/>
              </a:lnSpc>
              <a:tabLst>
                <a:tab pos="2387600" algn="l"/>
                <a:tab pos="4830445" algn="l"/>
              </a:tabLst>
              <a:defRPr sz="2400">
                <a:solidFill>
                  <a:schemeClr val="tx1"/>
                </a:solidFill>
                <a:latin typeface="Arial" panose="020B0604020202020204" pitchFamily="34" charset="0"/>
              </a:defRPr>
            </a:lvl4pPr>
            <a:lvl5pPr marL="2057400" indent="-228600" algn="ctr" defTabSz="611505">
              <a:lnSpc>
                <a:spcPct val="90000"/>
              </a:lnSpc>
              <a:tabLst>
                <a:tab pos="2387600" algn="l"/>
                <a:tab pos="4830445" algn="l"/>
              </a:tabLst>
              <a:defRPr sz="2400">
                <a:solidFill>
                  <a:schemeClr val="tx1"/>
                </a:solidFill>
                <a:latin typeface="Arial" panose="020B0604020202020204" pitchFamily="34" charset="0"/>
              </a:defRPr>
            </a:lvl5pPr>
            <a:lvl6pPr marL="2514600" indent="-228600" algn="ctr" defTabSz="611505" eaLnBrk="0" fontAlgn="base" hangingPunct="0">
              <a:lnSpc>
                <a:spcPct val="90000"/>
              </a:lnSpc>
              <a:spcBef>
                <a:spcPct val="0"/>
              </a:spcBef>
              <a:spcAft>
                <a:spcPct val="0"/>
              </a:spcAft>
              <a:tabLst>
                <a:tab pos="2387600" algn="l"/>
                <a:tab pos="4830445" algn="l"/>
              </a:tabLst>
              <a:defRPr sz="2400">
                <a:solidFill>
                  <a:schemeClr val="tx1"/>
                </a:solidFill>
                <a:latin typeface="Arial" panose="020B0604020202020204" pitchFamily="34" charset="0"/>
              </a:defRPr>
            </a:lvl6pPr>
            <a:lvl7pPr marL="2971800" indent="-228600" algn="ctr" defTabSz="611505" eaLnBrk="0" fontAlgn="base" hangingPunct="0">
              <a:lnSpc>
                <a:spcPct val="90000"/>
              </a:lnSpc>
              <a:spcBef>
                <a:spcPct val="0"/>
              </a:spcBef>
              <a:spcAft>
                <a:spcPct val="0"/>
              </a:spcAft>
              <a:tabLst>
                <a:tab pos="2387600" algn="l"/>
                <a:tab pos="4830445" algn="l"/>
              </a:tabLst>
              <a:defRPr sz="2400">
                <a:solidFill>
                  <a:schemeClr val="tx1"/>
                </a:solidFill>
                <a:latin typeface="Arial" panose="020B0604020202020204" pitchFamily="34" charset="0"/>
              </a:defRPr>
            </a:lvl7pPr>
            <a:lvl8pPr marL="3429000" indent="-228600" algn="ctr" defTabSz="611505" eaLnBrk="0" fontAlgn="base" hangingPunct="0">
              <a:lnSpc>
                <a:spcPct val="90000"/>
              </a:lnSpc>
              <a:spcBef>
                <a:spcPct val="0"/>
              </a:spcBef>
              <a:spcAft>
                <a:spcPct val="0"/>
              </a:spcAft>
              <a:tabLst>
                <a:tab pos="2387600" algn="l"/>
                <a:tab pos="4830445" algn="l"/>
              </a:tabLst>
              <a:defRPr sz="2400">
                <a:solidFill>
                  <a:schemeClr val="tx1"/>
                </a:solidFill>
                <a:latin typeface="Arial" panose="020B0604020202020204" pitchFamily="34" charset="0"/>
              </a:defRPr>
            </a:lvl8pPr>
            <a:lvl9pPr marL="3886200" indent="-228600" algn="ctr" defTabSz="611505" eaLnBrk="0" fontAlgn="base" hangingPunct="0">
              <a:lnSpc>
                <a:spcPct val="90000"/>
              </a:lnSpc>
              <a:spcBef>
                <a:spcPct val="0"/>
              </a:spcBef>
              <a:spcAft>
                <a:spcPct val="0"/>
              </a:spcAft>
              <a:tabLst>
                <a:tab pos="2387600" algn="l"/>
                <a:tab pos="4830445" algn="l"/>
              </a:tabLst>
              <a:defRPr sz="2400">
                <a:solidFill>
                  <a:schemeClr val="tx1"/>
                </a:solidFill>
                <a:latin typeface="Arial" panose="020B0604020202020204" pitchFamily="34" charset="0"/>
              </a:defRPr>
            </a:lvl9pPr>
          </a:lstStyle>
          <a:p>
            <a:pPr marL="0" marR="0" lvl="0" indent="0" algn="l" defTabSz="611505" rtl="0" eaLnBrk="0" fontAlgn="base" latinLnBrk="0" hangingPunct="0">
              <a:lnSpc>
                <a:spcPct val="100000"/>
              </a:lnSpc>
              <a:spcBef>
                <a:spcPct val="0"/>
              </a:spcBef>
              <a:spcAft>
                <a:spcPct val="0"/>
              </a:spcAft>
              <a:buClrTx/>
              <a:buSzTx/>
              <a:buFontTx/>
              <a:buNone/>
              <a:tabLst>
                <a:tab pos="2387600" algn="l"/>
                <a:tab pos="4830445" algn="l"/>
              </a:tabLst>
              <a:defRPr/>
            </a:pPr>
            <a:r>
              <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 2006, Cisco Systems, Inc. All rights reserved.</a:t>
            </a:r>
            <a:endPar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0" marR="0" lvl="0" indent="0" algn="l" defTabSz="611505" rtl="0" eaLnBrk="0" fontAlgn="base" latinLnBrk="0" hangingPunct="0">
              <a:lnSpc>
                <a:spcPct val="100000"/>
              </a:lnSpc>
              <a:spcBef>
                <a:spcPct val="0"/>
              </a:spcBef>
              <a:spcAft>
                <a:spcPct val="0"/>
              </a:spcAft>
              <a:buClrTx/>
              <a:buSzTx/>
              <a:buFontTx/>
              <a:buNone/>
              <a:tabLst>
                <a:tab pos="2387600" algn="l"/>
                <a:tab pos="4830445" algn="l"/>
              </a:tabLst>
              <a:defRPr/>
            </a:pPr>
            <a:r>
              <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Presentation_ID.scr</a:t>
            </a:r>
            <a:endPar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00" name="Line 13"/>
          <p:cNvSpPr/>
          <p:nvPr/>
        </p:nvSpPr>
        <p:spPr>
          <a:xfrm>
            <a:off x="152400" y="8799513"/>
            <a:ext cx="6653213" cy="0"/>
          </a:xfrm>
          <a:prstGeom prst="line">
            <a:avLst/>
          </a:prstGeom>
          <a:ln w="12700" cap="flat" cmpd="sng">
            <a:solidFill>
              <a:schemeClr val="tx1"/>
            </a:solidFill>
            <a:prstDash val="solid"/>
            <a:headEnd type="none" w="sm" len="sm"/>
            <a:tailEnd type="none" w="sm" len="sm"/>
          </a:ln>
        </p:spPr>
      </p:sp>
      <p:sp>
        <p:nvSpPr>
          <p:cNvPr id="3086" name="Rectangle 14"/>
          <p:cNvSpPr>
            <a:spLocks noChangeArrowheads="1"/>
          </p:cNvSpPr>
          <p:nvPr/>
        </p:nvSpPr>
        <p:spPr bwMode="auto">
          <a:xfrm>
            <a:off x="5929313" y="8680450"/>
            <a:ext cx="812800" cy="287338"/>
          </a:xfrm>
          <a:prstGeom prst="rect">
            <a:avLst/>
          </a:prstGeom>
          <a:noFill/>
          <a:ln w="9525">
            <a:noFill/>
            <a:miter lim="800000"/>
          </a:ln>
          <a:effectLst/>
        </p:spPr>
        <p:txBody>
          <a:bodyPr lIns="18819" tIns="0" rIns="18819" bIns="0" anchor="b"/>
          <a:lstStyle>
            <a:lvl1pPr defTabSz="903605">
              <a:defRPr sz="2400">
                <a:solidFill>
                  <a:schemeClr val="tx1"/>
                </a:solidFill>
                <a:latin typeface="Arial" panose="020B0604020202020204" pitchFamily="34" charset="0"/>
              </a:defRPr>
            </a:lvl1pPr>
            <a:lvl2pPr marL="742950" indent="-285750" defTabSz="903605">
              <a:defRPr sz="2400">
                <a:solidFill>
                  <a:schemeClr val="tx1"/>
                </a:solidFill>
                <a:latin typeface="Arial" panose="020B0604020202020204" pitchFamily="34" charset="0"/>
              </a:defRPr>
            </a:lvl2pPr>
            <a:lvl3pPr marL="1143000" indent="-228600" defTabSz="903605">
              <a:defRPr sz="2400">
                <a:solidFill>
                  <a:schemeClr val="tx1"/>
                </a:solidFill>
                <a:latin typeface="Arial" panose="020B0604020202020204" pitchFamily="34" charset="0"/>
              </a:defRPr>
            </a:lvl3pPr>
            <a:lvl4pPr marL="1600200" indent="-228600" defTabSz="903605">
              <a:defRPr sz="2400">
                <a:solidFill>
                  <a:schemeClr val="tx1"/>
                </a:solidFill>
                <a:latin typeface="Arial" panose="020B0604020202020204" pitchFamily="34" charset="0"/>
              </a:defRPr>
            </a:lvl4pPr>
            <a:lvl5pPr marL="2057400" indent="-228600" defTabSz="903605">
              <a:defRPr sz="2400">
                <a:solidFill>
                  <a:schemeClr val="tx1"/>
                </a:solidFill>
                <a:latin typeface="Arial" panose="020B0604020202020204" pitchFamily="34" charset="0"/>
              </a:defRPr>
            </a:lvl5pPr>
            <a:lvl6pPr marL="2514600" indent="-228600" defTabSz="90360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90360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90360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903605"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03605" rtl="0" eaLnBrk="0" fontAlgn="base" latinLnBrk="0" hangingPunct="0">
              <a:lnSpc>
                <a:spcPct val="100000"/>
              </a:lnSpc>
              <a:spcBef>
                <a:spcPct val="0"/>
              </a:spcBef>
              <a:spcAft>
                <a:spcPct val="0"/>
              </a:spcAft>
              <a:buClrTx/>
              <a:buSzTx/>
              <a:buFontTx/>
              <a:buNone/>
              <a:defRPr/>
            </a:pPr>
            <a:fld id="{E82577B1-0630-4283-AE53-08A01ABEC38B}" type="slidenum">
              <a:rPr kumimoji="0" lang="en-US" altLang="en-US" sz="8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8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8"/>
          <p:cNvSpPr>
            <a:spLocks noChangeArrowheads="1"/>
          </p:cNvSpPr>
          <p:nvPr/>
        </p:nvSpPr>
        <p:spPr bwMode="auto">
          <a:xfrm>
            <a:off x="6249988" y="8609013"/>
            <a:ext cx="449263" cy="212725"/>
          </a:xfrm>
          <a:prstGeom prst="rect">
            <a:avLst/>
          </a:prstGeom>
          <a:noFill/>
          <a:ln>
            <a:noFill/>
          </a:ln>
        </p:spPr>
        <p:txBody>
          <a:bodyPr wrap="none" anchor="ctr"/>
          <a:lstStyle>
            <a:lvl1pPr algn="ctr">
              <a:lnSpc>
                <a:spcPct val="90000"/>
              </a:lnSpc>
              <a:defRPr sz="2400">
                <a:solidFill>
                  <a:schemeClr val="tx1"/>
                </a:solidFill>
                <a:latin typeface="Arial" panose="020B0604020202020204" pitchFamily="34" charset="0"/>
              </a:defRPr>
            </a:lvl1pPr>
            <a:lvl2pPr marL="742950" indent="-285750" algn="ctr">
              <a:lnSpc>
                <a:spcPct val="90000"/>
              </a:lnSpc>
              <a:defRPr sz="2400">
                <a:solidFill>
                  <a:schemeClr val="tx1"/>
                </a:solidFill>
                <a:latin typeface="Arial" panose="020B0604020202020204" pitchFamily="34" charset="0"/>
              </a:defRPr>
            </a:lvl2pPr>
            <a:lvl3pPr marL="1143000" indent="-228600" algn="ctr">
              <a:lnSpc>
                <a:spcPct val="90000"/>
              </a:lnSpc>
              <a:defRPr sz="2400">
                <a:solidFill>
                  <a:schemeClr val="tx1"/>
                </a:solidFill>
                <a:latin typeface="Arial" panose="020B0604020202020204" pitchFamily="34" charset="0"/>
              </a:defRPr>
            </a:lvl3pPr>
            <a:lvl4pPr marL="1600200" indent="-228600" algn="ctr">
              <a:lnSpc>
                <a:spcPct val="90000"/>
              </a:lnSpc>
              <a:defRPr sz="2400">
                <a:solidFill>
                  <a:schemeClr val="tx1"/>
                </a:solidFill>
                <a:latin typeface="Arial" panose="020B0604020202020204" pitchFamily="34" charset="0"/>
              </a:defRPr>
            </a:lvl4pPr>
            <a:lvl5pPr marL="2057400" indent="-228600" algn="ctr">
              <a:lnSpc>
                <a:spcPct val="90000"/>
              </a:lnSpc>
              <a:defRPr sz="2400">
                <a:solidFill>
                  <a:schemeClr val="tx1"/>
                </a:solidFill>
                <a:latin typeface="Arial" panose="020B0604020202020204" pitchFamily="34" charset="0"/>
              </a:defRPr>
            </a:lvl5pPr>
            <a:lvl6pPr marL="2514600" indent="-228600" algn="ctr"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marL="0" marR="0" lvl="0" indent="0" algn="ctr" defTabSz="914400" rtl="0" eaLnBrk="0" fontAlgn="base" latinLnBrk="0" hangingPunct="0">
              <a:lnSpc>
                <a:spcPct val="90000"/>
              </a:lnSpc>
              <a:spcBef>
                <a:spcPct val="0"/>
              </a:spcBef>
              <a:spcAft>
                <a:spcPct val="0"/>
              </a:spcAft>
              <a:buClrTx/>
              <a:buSzTx/>
              <a:buFontTx/>
              <a:buNone/>
              <a:defRPr/>
            </a:pPr>
            <a:endParaRPr kumimoji="0" lang="en-US" altLang="en-US" sz="2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5" name="Rectangle 9"/>
          <p:cNvSpPr>
            <a:spLocks noChangeArrowheads="1"/>
          </p:cNvSpPr>
          <p:nvPr/>
        </p:nvSpPr>
        <p:spPr bwMode="auto">
          <a:xfrm>
            <a:off x="57150" y="8785225"/>
            <a:ext cx="2619375" cy="347663"/>
          </a:xfrm>
          <a:prstGeom prst="rect">
            <a:avLst/>
          </a:prstGeom>
          <a:noFill/>
          <a:ln>
            <a:noFill/>
          </a:ln>
        </p:spPr>
        <p:txBody>
          <a:bodyPr lIns="95667" tIns="50185" rIns="95667" bIns="50185">
            <a:spAutoFit/>
          </a:bodyPr>
          <a:lstStyle>
            <a:lvl1pPr algn="ctr" defTabSz="611505">
              <a:lnSpc>
                <a:spcPct val="90000"/>
              </a:lnSpc>
              <a:tabLst>
                <a:tab pos="2387600" algn="l"/>
                <a:tab pos="4830445" algn="l"/>
              </a:tabLst>
              <a:defRPr sz="2400">
                <a:solidFill>
                  <a:schemeClr val="tx1"/>
                </a:solidFill>
                <a:latin typeface="Arial" panose="020B0604020202020204" pitchFamily="34" charset="0"/>
              </a:defRPr>
            </a:lvl1pPr>
            <a:lvl2pPr marL="742950" indent="-285750" algn="ctr" defTabSz="611505">
              <a:lnSpc>
                <a:spcPct val="90000"/>
              </a:lnSpc>
              <a:tabLst>
                <a:tab pos="2387600" algn="l"/>
                <a:tab pos="4830445" algn="l"/>
              </a:tabLst>
              <a:defRPr sz="2400">
                <a:solidFill>
                  <a:schemeClr val="tx1"/>
                </a:solidFill>
                <a:latin typeface="Arial" panose="020B0604020202020204" pitchFamily="34" charset="0"/>
              </a:defRPr>
            </a:lvl2pPr>
            <a:lvl3pPr marL="1143000" indent="-228600" algn="ctr" defTabSz="611505">
              <a:lnSpc>
                <a:spcPct val="90000"/>
              </a:lnSpc>
              <a:tabLst>
                <a:tab pos="2387600" algn="l"/>
                <a:tab pos="4830445" algn="l"/>
              </a:tabLst>
              <a:defRPr sz="2400">
                <a:solidFill>
                  <a:schemeClr val="tx1"/>
                </a:solidFill>
                <a:latin typeface="Arial" panose="020B0604020202020204" pitchFamily="34" charset="0"/>
              </a:defRPr>
            </a:lvl3pPr>
            <a:lvl4pPr marL="1600200" indent="-228600" algn="ctr" defTabSz="611505">
              <a:lnSpc>
                <a:spcPct val="90000"/>
              </a:lnSpc>
              <a:tabLst>
                <a:tab pos="2387600" algn="l"/>
                <a:tab pos="4830445" algn="l"/>
              </a:tabLst>
              <a:defRPr sz="2400">
                <a:solidFill>
                  <a:schemeClr val="tx1"/>
                </a:solidFill>
                <a:latin typeface="Arial" panose="020B0604020202020204" pitchFamily="34" charset="0"/>
              </a:defRPr>
            </a:lvl4pPr>
            <a:lvl5pPr marL="2057400" indent="-228600" algn="ctr" defTabSz="611505">
              <a:lnSpc>
                <a:spcPct val="90000"/>
              </a:lnSpc>
              <a:tabLst>
                <a:tab pos="2387600" algn="l"/>
                <a:tab pos="4830445" algn="l"/>
              </a:tabLst>
              <a:defRPr sz="2400">
                <a:solidFill>
                  <a:schemeClr val="tx1"/>
                </a:solidFill>
                <a:latin typeface="Arial" panose="020B0604020202020204" pitchFamily="34" charset="0"/>
              </a:defRPr>
            </a:lvl5pPr>
            <a:lvl6pPr marL="2514600" indent="-228600" algn="ctr" defTabSz="611505" eaLnBrk="0" fontAlgn="base" hangingPunct="0">
              <a:lnSpc>
                <a:spcPct val="90000"/>
              </a:lnSpc>
              <a:spcBef>
                <a:spcPct val="0"/>
              </a:spcBef>
              <a:spcAft>
                <a:spcPct val="0"/>
              </a:spcAft>
              <a:tabLst>
                <a:tab pos="2387600" algn="l"/>
                <a:tab pos="4830445" algn="l"/>
              </a:tabLst>
              <a:defRPr sz="2400">
                <a:solidFill>
                  <a:schemeClr val="tx1"/>
                </a:solidFill>
                <a:latin typeface="Arial" panose="020B0604020202020204" pitchFamily="34" charset="0"/>
              </a:defRPr>
            </a:lvl6pPr>
            <a:lvl7pPr marL="2971800" indent="-228600" algn="ctr" defTabSz="611505" eaLnBrk="0" fontAlgn="base" hangingPunct="0">
              <a:lnSpc>
                <a:spcPct val="90000"/>
              </a:lnSpc>
              <a:spcBef>
                <a:spcPct val="0"/>
              </a:spcBef>
              <a:spcAft>
                <a:spcPct val="0"/>
              </a:spcAft>
              <a:tabLst>
                <a:tab pos="2387600" algn="l"/>
                <a:tab pos="4830445" algn="l"/>
              </a:tabLst>
              <a:defRPr sz="2400">
                <a:solidFill>
                  <a:schemeClr val="tx1"/>
                </a:solidFill>
                <a:latin typeface="Arial" panose="020B0604020202020204" pitchFamily="34" charset="0"/>
              </a:defRPr>
            </a:lvl7pPr>
            <a:lvl8pPr marL="3429000" indent="-228600" algn="ctr" defTabSz="611505" eaLnBrk="0" fontAlgn="base" hangingPunct="0">
              <a:lnSpc>
                <a:spcPct val="90000"/>
              </a:lnSpc>
              <a:spcBef>
                <a:spcPct val="0"/>
              </a:spcBef>
              <a:spcAft>
                <a:spcPct val="0"/>
              </a:spcAft>
              <a:tabLst>
                <a:tab pos="2387600" algn="l"/>
                <a:tab pos="4830445" algn="l"/>
              </a:tabLst>
              <a:defRPr sz="2400">
                <a:solidFill>
                  <a:schemeClr val="tx1"/>
                </a:solidFill>
                <a:latin typeface="Arial" panose="020B0604020202020204" pitchFamily="34" charset="0"/>
              </a:defRPr>
            </a:lvl8pPr>
            <a:lvl9pPr marL="3886200" indent="-228600" algn="ctr" defTabSz="611505" eaLnBrk="0" fontAlgn="base" hangingPunct="0">
              <a:lnSpc>
                <a:spcPct val="90000"/>
              </a:lnSpc>
              <a:spcBef>
                <a:spcPct val="0"/>
              </a:spcBef>
              <a:spcAft>
                <a:spcPct val="0"/>
              </a:spcAft>
              <a:tabLst>
                <a:tab pos="2387600" algn="l"/>
                <a:tab pos="4830445" algn="l"/>
              </a:tabLst>
              <a:defRPr sz="2400">
                <a:solidFill>
                  <a:schemeClr val="tx1"/>
                </a:solidFill>
                <a:latin typeface="Arial" panose="020B0604020202020204" pitchFamily="34" charset="0"/>
              </a:defRPr>
            </a:lvl9pPr>
          </a:lstStyle>
          <a:p>
            <a:pPr marL="0" marR="0" lvl="0" indent="0" algn="l" defTabSz="611505" rtl="0" eaLnBrk="0" fontAlgn="base" latinLnBrk="0" hangingPunct="0">
              <a:lnSpc>
                <a:spcPct val="100000"/>
              </a:lnSpc>
              <a:spcBef>
                <a:spcPct val="0"/>
              </a:spcBef>
              <a:spcAft>
                <a:spcPct val="0"/>
              </a:spcAft>
              <a:buClrTx/>
              <a:buSzTx/>
              <a:buFontTx/>
              <a:buNone/>
              <a:tabLst>
                <a:tab pos="2387600" algn="l"/>
                <a:tab pos="4830445" algn="l"/>
              </a:tabLst>
              <a:defRPr/>
            </a:pPr>
            <a:r>
              <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 2006, Cisco Systems, Inc. All rights reserved.</a:t>
            </a:r>
            <a:endPar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0" marR="0" lvl="0" indent="0" algn="l" defTabSz="611505" rtl="0" eaLnBrk="0" fontAlgn="base" latinLnBrk="0" hangingPunct="0">
              <a:lnSpc>
                <a:spcPct val="100000"/>
              </a:lnSpc>
              <a:spcBef>
                <a:spcPct val="0"/>
              </a:spcBef>
              <a:spcAft>
                <a:spcPct val="0"/>
              </a:spcAft>
              <a:buClrTx/>
              <a:buSzTx/>
              <a:buFontTx/>
              <a:buNone/>
              <a:tabLst>
                <a:tab pos="2387600" algn="l"/>
                <a:tab pos="4830445" algn="l"/>
              </a:tabLst>
              <a:defRPr/>
            </a:pPr>
            <a:r>
              <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t>Presentation_ID.scr</a:t>
            </a:r>
            <a:endPar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6" name="Line 10"/>
          <p:cNvSpPr/>
          <p:nvPr/>
        </p:nvSpPr>
        <p:spPr>
          <a:xfrm>
            <a:off x="152400" y="8799513"/>
            <a:ext cx="6653213" cy="0"/>
          </a:xfrm>
          <a:prstGeom prst="line">
            <a:avLst/>
          </a:prstGeom>
          <a:ln w="12700" cap="flat" cmpd="sng">
            <a:solidFill>
              <a:schemeClr val="tx1"/>
            </a:solidFill>
            <a:prstDash val="solid"/>
            <a:headEnd type="none" w="sm" len="sm"/>
            <a:tailEnd type="none" w="sm" len="sm"/>
          </a:ln>
        </p:spPr>
      </p:sp>
      <p:sp>
        <p:nvSpPr>
          <p:cNvPr id="183307" name="Rectangle 11"/>
          <p:cNvSpPr>
            <a:spLocks noGrp="1" noChangeArrowheads="1"/>
          </p:cNvSpPr>
          <p:nvPr>
            <p:ph type="sldNum" sz="quarter" idx="5"/>
          </p:nvPr>
        </p:nvSpPr>
        <p:spPr bwMode="auto">
          <a:xfrm>
            <a:off x="5929313" y="8680450"/>
            <a:ext cx="812800" cy="287338"/>
          </a:xfrm>
          <a:prstGeom prst="rect">
            <a:avLst/>
          </a:prstGeom>
          <a:noFill/>
          <a:ln w="9525">
            <a:noFill/>
            <a:miter lim="800000"/>
          </a:ln>
          <a:effectLst/>
        </p:spPr>
        <p:txBody>
          <a:bodyPr vert="horz" wrap="square" lIns="18819" tIns="0" rIns="18819" bIns="0" numCol="1" anchor="b" anchorCtr="0" compatLnSpc="1"/>
          <a:lstStyle>
            <a:lvl1pPr algn="r" defTabSz="903605">
              <a:defRPr sz="800"/>
            </a:lvl1pPr>
          </a:lstStyle>
          <a:p>
            <a:pPr marL="0" marR="0" lvl="0" indent="0" algn="r" defTabSz="903605" rtl="0" eaLnBrk="0" fontAlgn="base" latinLnBrk="0" hangingPunct="0">
              <a:lnSpc>
                <a:spcPct val="100000"/>
              </a:lnSpc>
              <a:spcBef>
                <a:spcPct val="0"/>
              </a:spcBef>
              <a:spcAft>
                <a:spcPct val="0"/>
              </a:spcAft>
              <a:buClrTx/>
              <a:buSzTx/>
              <a:buFontTx/>
              <a:buNone/>
              <a:defRPr/>
            </a:pPr>
            <a:fld id="{D8E9D57C-D931-482D-A8F4-43F9D59D6264}" type="slidenum">
              <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altLang="en-US" sz="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8" name="Rectangle 12"/>
          <p:cNvSpPr>
            <a:spLocks noChangeAspect="1" noTextEdit="1"/>
          </p:cNvSpPr>
          <p:nvPr>
            <p:ph type="sldImg" idx="2"/>
          </p:nvPr>
        </p:nvSpPr>
        <p:spPr>
          <a:xfrm>
            <a:off x="873125" y="244475"/>
            <a:ext cx="5321300" cy="3990975"/>
          </a:xfrm>
          <a:prstGeom prst="rect">
            <a:avLst/>
          </a:prstGeom>
          <a:noFill/>
          <a:ln w="12700" cap="flat" cmpd="sng">
            <a:solidFill>
              <a:schemeClr val="tx1"/>
            </a:solidFill>
            <a:prstDash val="solid"/>
            <a:miter/>
            <a:headEnd type="none" w="med" len="med"/>
            <a:tailEnd type="none" w="med" len="med"/>
          </a:ln>
        </p:spPr>
      </p:sp>
      <p:sp>
        <p:nvSpPr>
          <p:cNvPr id="183309" name="Rectangle 13"/>
          <p:cNvSpPr>
            <a:spLocks noGrp="1" noChangeArrowheads="1"/>
          </p:cNvSpPr>
          <p:nvPr>
            <p:ph type="body" sz="quarter" idx="3"/>
          </p:nvPr>
        </p:nvSpPr>
        <p:spPr bwMode="auto">
          <a:xfrm>
            <a:off x="768350" y="4378325"/>
            <a:ext cx="5468938" cy="4252913"/>
          </a:xfrm>
          <a:prstGeom prst="rect">
            <a:avLst/>
          </a:prstGeom>
          <a:noFill/>
          <a:ln w="9525">
            <a:noFill/>
            <a:miter lim="800000"/>
          </a:ln>
          <a:effectLst/>
        </p:spPr>
        <p:txBody>
          <a:bodyPr vert="horz" wrap="square" lIns="95667" tIns="50185" rIns="95667" bIns="50185" numCol="1" anchor="t" anchorCtr="0" compatLnSpc="1"/>
          <a:lstStyle/>
          <a:p>
            <a:pPr marL="113030" marR="0" lvl="0" indent="-113030" algn="l" defTabSz="1021080" rtl="0" eaLnBrk="0" fontAlgn="base" latinLnBrk="0" hangingPunct="0">
              <a:lnSpc>
                <a:spcPct val="90000"/>
              </a:lnSpc>
              <a:spcBef>
                <a:spcPct val="50000"/>
              </a:spcBef>
              <a:spcAft>
                <a:spcPct val="0"/>
              </a:spcAft>
              <a:buClrTx/>
              <a:buSzPct val="100000"/>
              <a:buFontTx/>
              <a:buChar char="•"/>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Body Text</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482600" marR="0" lvl="1" indent="-120650" algn="l" defTabSz="1021080" rtl="0" eaLnBrk="0" fontAlgn="base" latinLnBrk="0" hangingPunct="0">
              <a:lnSpc>
                <a:spcPct val="90000"/>
              </a:lnSpc>
              <a:spcBef>
                <a:spcPct val="35000"/>
              </a:spcBef>
              <a:spcAft>
                <a:spcPct val="0"/>
              </a:spcAft>
              <a:buClrTx/>
              <a:buSzPct val="100000"/>
              <a:buFontTx/>
              <a:buChar char="•"/>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967105" marR="0" lvl="2" indent="0" algn="l" defTabSz="1021080" rtl="0" eaLnBrk="0" fontAlgn="base" latinLnBrk="0" hangingPunct="0">
              <a:lnSpc>
                <a:spcPct val="90000"/>
              </a:lnSpc>
              <a:spcBef>
                <a:spcPct val="35000"/>
              </a:spcBef>
              <a:spcAft>
                <a:spcPct val="0"/>
              </a:spcAft>
              <a:buClrTx/>
              <a:buSzPct val="100000"/>
              <a:buFontTx/>
              <a:buChar char="•"/>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449705" marR="0" lvl="3" indent="0" algn="l" defTabSz="1021080" rtl="0" eaLnBrk="0" fontAlgn="base" latinLnBrk="0" hangingPunct="0">
              <a:lnSpc>
                <a:spcPct val="90000"/>
              </a:lnSpc>
              <a:spcBef>
                <a:spcPct val="35000"/>
              </a:spcBef>
              <a:spcAft>
                <a:spcPct val="0"/>
              </a:spcAft>
              <a:buClrTx/>
              <a:buSzPct val="100000"/>
              <a:buFontTx/>
              <a:buChar char="•"/>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a:p>
            <a:pPr marL="1932305" marR="0" lvl="4" indent="0" algn="l" defTabSz="1021080" rtl="0" eaLnBrk="0" fontAlgn="base" latinLnBrk="0" hangingPunct="0">
              <a:lnSpc>
                <a:spcPct val="90000"/>
              </a:lnSpc>
              <a:spcBef>
                <a:spcPct val="35000"/>
              </a:spcBef>
              <a:spcAft>
                <a:spcPct val="0"/>
              </a:spcAft>
              <a:buClrTx/>
              <a:buSzPct val="100000"/>
              <a:buFontTx/>
              <a:buChar char="•"/>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marL="113030" indent="-113030" algn="l" defTabSz="1021080" rtl="0" eaLnBrk="0" fontAlgn="base" hangingPunct="0">
      <a:lnSpc>
        <a:spcPct val="90000"/>
      </a:lnSpc>
      <a:spcBef>
        <a:spcPct val="50000"/>
      </a:spcBef>
      <a:spcAft>
        <a:spcPct val="0"/>
      </a:spcAft>
      <a:buSzPct val="100000"/>
      <a:buChar char="•"/>
      <a:defRPr sz="1200" kern="1200">
        <a:solidFill>
          <a:schemeClr val="tx1"/>
        </a:solidFill>
        <a:latin typeface="Arial" panose="020B0604020202020204" pitchFamily="34" charset="0"/>
        <a:ea typeface="+mn-ea"/>
        <a:cs typeface="+mn-cs"/>
      </a:defRPr>
    </a:lvl1pPr>
    <a:lvl2pPr marL="482600" indent="-120650" algn="l" defTabSz="1021080" rtl="0" eaLnBrk="0" fontAlgn="base" hangingPunct="0">
      <a:lnSpc>
        <a:spcPct val="90000"/>
      </a:lnSpc>
      <a:spcBef>
        <a:spcPct val="35000"/>
      </a:spcBef>
      <a:spcAft>
        <a:spcPct val="0"/>
      </a:spcAft>
      <a:buSzPct val="100000"/>
      <a:buChar char="•"/>
      <a:defRPr sz="1200" kern="1200">
        <a:solidFill>
          <a:schemeClr val="tx1"/>
        </a:solidFill>
        <a:latin typeface="Arial" panose="020B0604020202020204" pitchFamily="34" charset="0"/>
        <a:ea typeface="+mn-ea"/>
        <a:cs typeface="+mn-cs"/>
      </a:defRPr>
    </a:lvl2pPr>
    <a:lvl3pPr marL="967105" algn="l" defTabSz="1021080" rtl="0" eaLnBrk="0" fontAlgn="base" hangingPunct="0">
      <a:lnSpc>
        <a:spcPct val="90000"/>
      </a:lnSpc>
      <a:spcBef>
        <a:spcPct val="35000"/>
      </a:spcBef>
      <a:spcAft>
        <a:spcPct val="0"/>
      </a:spcAft>
      <a:buSzPct val="100000"/>
      <a:buChar char="•"/>
      <a:defRPr sz="1200" kern="1200">
        <a:solidFill>
          <a:schemeClr val="tx1"/>
        </a:solidFill>
        <a:latin typeface="Arial" panose="020B0604020202020204" pitchFamily="34" charset="0"/>
        <a:ea typeface="+mn-ea"/>
        <a:cs typeface="+mn-cs"/>
      </a:defRPr>
    </a:lvl3pPr>
    <a:lvl4pPr marL="1449705" algn="l" defTabSz="1021080" rtl="0" eaLnBrk="0" fontAlgn="base" hangingPunct="0">
      <a:lnSpc>
        <a:spcPct val="90000"/>
      </a:lnSpc>
      <a:spcBef>
        <a:spcPct val="35000"/>
      </a:spcBef>
      <a:spcAft>
        <a:spcPct val="0"/>
      </a:spcAft>
      <a:buSzPct val="100000"/>
      <a:buChar char="•"/>
      <a:defRPr sz="1200" kern="1200">
        <a:solidFill>
          <a:schemeClr val="tx1"/>
        </a:solidFill>
        <a:latin typeface="Arial" panose="020B0604020202020204" pitchFamily="34" charset="0"/>
        <a:ea typeface="+mn-ea"/>
        <a:cs typeface="+mn-cs"/>
      </a:defRPr>
    </a:lvl4pPr>
    <a:lvl5pPr marL="1932305" algn="l" defTabSz="1021080" rtl="0" eaLnBrk="0" fontAlgn="base" hangingPunct="0">
      <a:lnSpc>
        <a:spcPct val="90000"/>
      </a:lnSpc>
      <a:spcBef>
        <a:spcPct val="35000"/>
      </a:spcBef>
      <a:spcAft>
        <a:spcPct val="0"/>
      </a:spcAft>
      <a:buSzPct val="100000"/>
      <a:buChar char="•"/>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6147" name="Rectangle 2"/>
          <p:cNvSpPr>
            <a:spLocks noChangeAspect="1" noTextEdit="1"/>
          </p:cNvSpPr>
          <p:nvPr>
            <p:ph type="sldImg"/>
          </p:nvPr>
        </p:nvSpPr>
        <p:spPr>
          <a:ln/>
        </p:spPr>
      </p:sp>
      <p:sp>
        <p:nvSpPr>
          <p:cNvPr id="6148" name="Rectangle 3"/>
          <p:cNvSpPr>
            <a:spLocks noGrp="1"/>
          </p:cNvSpPr>
          <p:nvPr>
            <p:ph type="body" idx="1"/>
          </p:nvPr>
        </p:nvSpPr>
        <p:spPr>
          <a:xfrm>
            <a:off x="404813" y="4378325"/>
            <a:ext cx="6121400" cy="4252913"/>
          </a:xfrm>
          <a:ln/>
        </p:spPr>
        <p:txBody>
          <a:bodyPr wrap="square" lIns="95667" tIns="50185" rIns="95667" bIns="50185" anchor="t" anchorCtr="0"/>
          <a:p>
            <a:pPr lvl="0">
              <a:buNone/>
            </a:pPr>
            <a:r>
              <a:rPr lang="en-US" altLang="en-US" b="1" dirty="0"/>
              <a:t>Cisco Networking Academy program</a:t>
            </a:r>
            <a:endParaRPr lang="en-US" altLang="en-US" b="1" dirty="0"/>
          </a:p>
          <a:p>
            <a:pPr lvl="0">
              <a:buNone/>
            </a:pPr>
            <a:r>
              <a:rPr lang="en-US" altLang="en-US" b="1" dirty="0"/>
              <a:t>IT Essentials: PC Hardware and Software v4.0</a:t>
            </a:r>
            <a:endParaRPr lang="en-US" altLang="en-US" b="1" dirty="0"/>
          </a:p>
          <a:p>
            <a:pPr lvl="0">
              <a:buNone/>
            </a:pPr>
            <a:r>
              <a:rPr lang="en-US" altLang="en-US" sz="1300" b="1" dirty="0"/>
              <a:t>Chapter 1: Introduction to the Personal Computer</a:t>
            </a:r>
            <a:r>
              <a:rPr lang="en-US" altLang="en-US" b="1" dirty="0"/>
              <a:t> </a:t>
            </a:r>
            <a:br>
              <a:rPr lang="en-US" altLang="en-US" b="1" dirty="0"/>
            </a:br>
            <a:endParaRPr lang="en-GB" altLang="en-US"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8195" name="Rectangle 2"/>
          <p:cNvSpPr>
            <a:spLocks noChangeAspect="1" noTextEdit="1"/>
          </p:cNvSpPr>
          <p:nvPr>
            <p:ph type="sldImg"/>
          </p:nvPr>
        </p:nvSpPr>
        <p:spPr>
          <a:ln/>
        </p:spPr>
      </p:sp>
      <p:sp>
        <p:nvSpPr>
          <p:cNvPr id="8196" name="Rectangle 3"/>
          <p:cNvSpPr>
            <a:spLocks noGrp="1"/>
          </p:cNvSpPr>
          <p:nvPr>
            <p:ph type="body" idx="1"/>
          </p:nvPr>
        </p:nvSpPr>
        <p:spPr>
          <a:ln/>
        </p:spPr>
        <p:txBody>
          <a:bodyPr wrap="square" lIns="95667" tIns="50185" rIns="95667" bIns="50185" anchor="t" anchorCtr="0"/>
          <a:p>
            <a:pPr lvl="0">
              <a:buNone/>
            </a:pPr>
            <a:r>
              <a:rPr lang="en-US" altLang="en-US" dirty="0"/>
              <a:t>Slide 3 – Chapter 1 Objectives</a:t>
            </a:r>
            <a:endParaRPr lang="en-US" altLang="en-US" dirty="0"/>
          </a:p>
          <a:p>
            <a:pPr lvl="0">
              <a:buNone/>
            </a:pPr>
            <a:r>
              <a:rPr lang="en-US" altLang="en-US" dirty="0"/>
              <a:t>Upon completion of this chapter, students will be able to perform tasks related to:</a:t>
            </a:r>
            <a:endParaRPr lang="en-US" altLang="en-US" dirty="0"/>
          </a:p>
          <a:p>
            <a:pPr lvl="0"/>
            <a:r>
              <a:rPr lang="en-US" altLang="en-US" dirty="0"/>
              <a:t>1.1 Explain the IT industry certification</a:t>
            </a:r>
            <a:endParaRPr lang="en-US" altLang="en-US" dirty="0"/>
          </a:p>
          <a:p>
            <a:pPr lvl="0"/>
            <a:r>
              <a:rPr lang="en-US" altLang="en-US" dirty="0"/>
              <a:t>1.2 Describe a computer system</a:t>
            </a:r>
            <a:endParaRPr lang="en-US" altLang="en-US" dirty="0"/>
          </a:p>
          <a:p>
            <a:pPr lvl="0"/>
            <a:r>
              <a:rPr lang="en-US" altLang="en-US" dirty="0"/>
              <a:t>1.3 Identify the names, purposes, and characteristics of cases and power supplies </a:t>
            </a:r>
            <a:endParaRPr lang="en-US" altLang="en-US" dirty="0"/>
          </a:p>
          <a:p>
            <a:pPr lvl="0"/>
            <a:r>
              <a:rPr lang="en-US" altLang="en-US" dirty="0"/>
              <a:t>1.4 Identify the names, purposes, and characteristics of internal components </a:t>
            </a:r>
            <a:endParaRPr lang="en-US" altLang="en-US" dirty="0"/>
          </a:p>
          <a:p>
            <a:pPr lvl="0"/>
            <a:r>
              <a:rPr lang="en-US" altLang="en-US" dirty="0"/>
              <a:t>1.5 Identify the names, purposes, and characteristics of ports and cables </a:t>
            </a:r>
            <a:endParaRPr lang="en-US" altLang="en-US" dirty="0"/>
          </a:p>
          <a:p>
            <a:pPr lvl="0"/>
            <a:r>
              <a:rPr lang="en-US" altLang="en-US" dirty="0"/>
              <a:t>1.6 Identify the names, purposes, and characteristics of input devices </a:t>
            </a:r>
            <a:endParaRPr lang="en-US" altLang="en-US" dirty="0"/>
          </a:p>
          <a:p>
            <a:pPr lvl="0"/>
            <a:r>
              <a:rPr lang="en-US" altLang="en-US" dirty="0"/>
              <a:t>1.7 Identify the names, purposes, and characteristics of output devices </a:t>
            </a:r>
            <a:endParaRPr lang="en-US" altLang="en-US" dirty="0"/>
          </a:p>
          <a:p>
            <a:pPr lvl="0"/>
            <a:r>
              <a:rPr lang="en-US" altLang="en-US" dirty="0"/>
              <a:t>1.8 Explain system resources and their purposes</a:t>
            </a:r>
            <a:endParaRPr lang="en-US"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10243" name="Rectangle 2"/>
          <p:cNvSpPr>
            <a:spLocks noChangeAspect="1" noTextEdit="1"/>
          </p:cNvSpPr>
          <p:nvPr>
            <p:ph type="sldImg"/>
          </p:nvPr>
        </p:nvSpPr>
        <p:spPr>
          <a:ln/>
        </p:spPr>
      </p:sp>
      <p:sp>
        <p:nvSpPr>
          <p:cNvPr id="10244" name="Rectangle 3"/>
          <p:cNvSpPr>
            <a:spLocks noGrp="1"/>
          </p:cNvSpPr>
          <p:nvPr>
            <p:ph type="body" idx="1"/>
          </p:nvPr>
        </p:nvSpPr>
        <p:spPr>
          <a:ln/>
        </p:spPr>
        <p:txBody>
          <a:bodyPr wrap="square" lIns="95667" tIns="50185" rIns="95667" bIns="50185" anchor="t" anchorCtr="0"/>
          <a:p>
            <a:pPr lvl="0">
              <a:buNone/>
            </a:pPr>
            <a:r>
              <a:rPr lang="en-US" altLang="en-US" dirty="0"/>
              <a:t>Slide 5 – Information Technology (IT)</a:t>
            </a:r>
            <a:endParaRPr lang="en-US" altLang="en-US" dirty="0"/>
          </a:p>
          <a:p>
            <a:pPr lvl="0">
              <a:buNone/>
            </a:pPr>
            <a:r>
              <a:rPr lang="en-US" altLang="en-US" dirty="0"/>
              <a:t>1.0 Chapter Introduction</a:t>
            </a:r>
            <a:endParaRPr lang="en-US" altLang="en-US" dirty="0"/>
          </a:p>
          <a:p>
            <a:pPr lvl="0">
              <a:buNone/>
            </a:pPr>
            <a:r>
              <a:rPr lang="en-US" altLang="en-US" dirty="0"/>
              <a:t>Information technology (IT) is the design, development, implementation, support, and management of computer hardware and software applications. An IT professional is knowledgeable about computer systems and operating systems. This chapter will review IT certifications and the components of a basic personal computer system.</a:t>
            </a:r>
            <a:endParaRPr lang="en-US" altLang="en-US" sz="1400" dirty="0"/>
          </a:p>
          <a:p>
            <a:pPr lvl="0">
              <a:buNone/>
            </a:pPr>
            <a:r>
              <a:rPr lang="en-US" altLang="en-US" sz="1400" dirty="0"/>
              <a:t>After completing this chapter, students will meet these objectives:</a:t>
            </a:r>
            <a:endParaRPr lang="en-US" altLang="en-US" sz="1400" dirty="0"/>
          </a:p>
          <a:p>
            <a:pPr lvl="0"/>
            <a:r>
              <a:rPr lang="en-US" altLang="en-US" dirty="0"/>
              <a:t>Explain the IT industry certification</a:t>
            </a:r>
            <a:endParaRPr lang="en-US" altLang="en-US" dirty="0"/>
          </a:p>
          <a:p>
            <a:pPr lvl="0"/>
            <a:r>
              <a:rPr lang="en-US" altLang="en-US" dirty="0"/>
              <a:t>Describe a computer system</a:t>
            </a:r>
            <a:endParaRPr lang="en-US" altLang="en-US" dirty="0"/>
          </a:p>
          <a:p>
            <a:pPr lvl="0"/>
            <a:r>
              <a:rPr lang="en-US" altLang="en-US" dirty="0"/>
              <a:t>Identify the names, purposes, and characteristics of cases and power supplies </a:t>
            </a:r>
            <a:endParaRPr lang="en-US" altLang="en-US" dirty="0"/>
          </a:p>
          <a:p>
            <a:pPr lvl="0"/>
            <a:r>
              <a:rPr lang="en-US" altLang="en-US" dirty="0"/>
              <a:t>Identify the names, purposes, and characteristics of internal components </a:t>
            </a:r>
            <a:endParaRPr lang="en-US" altLang="en-US" dirty="0"/>
          </a:p>
          <a:p>
            <a:pPr lvl="0"/>
            <a:r>
              <a:rPr lang="en-US" altLang="en-US" dirty="0"/>
              <a:t>Identify the names, purposes, and characteristics of ports and cables </a:t>
            </a:r>
            <a:endParaRPr lang="en-US" altLang="en-US" dirty="0"/>
          </a:p>
          <a:p>
            <a:pPr lvl="0"/>
            <a:r>
              <a:rPr lang="en-US" altLang="en-US" dirty="0"/>
              <a:t>Identify the names, purposes, and characteristics of input devices </a:t>
            </a:r>
            <a:endParaRPr lang="en-US" altLang="en-US" dirty="0"/>
          </a:p>
          <a:p>
            <a:pPr lvl="0"/>
            <a:r>
              <a:rPr lang="en-US" altLang="en-US" dirty="0"/>
              <a:t>Identify the names, purposes, and characteristics of output devices </a:t>
            </a:r>
            <a:endParaRPr lang="en-US" altLang="en-US" dirty="0"/>
          </a:p>
          <a:p>
            <a:pPr lvl="0"/>
            <a:r>
              <a:rPr lang="en-US" altLang="en-US" dirty="0"/>
              <a:t>Explain system resources and their purposes </a:t>
            </a:r>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12291" name="Rectangle 2"/>
          <p:cNvSpPr>
            <a:spLocks noChangeAspect="1" noTextEdit="1"/>
          </p:cNvSpPr>
          <p:nvPr>
            <p:ph type="sldImg"/>
          </p:nvPr>
        </p:nvSpPr>
        <p:spPr>
          <a:ln/>
        </p:spPr>
      </p:sp>
      <p:sp>
        <p:nvSpPr>
          <p:cNvPr id="12292" name="Rectangle 3"/>
          <p:cNvSpPr>
            <a:spLocks noGrp="1"/>
          </p:cNvSpPr>
          <p:nvPr>
            <p:ph type="body" idx="1"/>
          </p:nvPr>
        </p:nvSpPr>
        <p:spPr>
          <a:ln/>
        </p:spPr>
        <p:txBody>
          <a:bodyPr wrap="square" lIns="95667" tIns="50185" rIns="95667" bIns="50185" anchor="t" anchorCtr="0"/>
          <a:p>
            <a:pPr lvl="0">
              <a:buNone/>
            </a:pPr>
            <a:r>
              <a:rPr lang="en-US" altLang="en-US" dirty="0"/>
              <a:t>Slide 6 – IT Technician</a:t>
            </a:r>
            <a:endParaRPr lang="en-US" altLang="en-US" dirty="0"/>
          </a:p>
          <a:p>
            <a:pPr lvl="0">
              <a:buNone/>
            </a:pPr>
            <a:r>
              <a:rPr lang="en-US" altLang="en-US" dirty="0"/>
              <a:t>1.1 Explain the IT industry and your place in it </a:t>
            </a:r>
            <a:endParaRPr lang="en-US" altLang="en-US" dirty="0"/>
          </a:p>
          <a:p>
            <a:pPr lvl="0"/>
            <a:r>
              <a:rPr lang="en-US" altLang="en-US" dirty="0"/>
              <a:t>This course will focus on desktop and laptop computers. It will also discuss electronic devices, such as personal digital assistants and cell phones. Training and experience will qualify a technician to service these computers and personal electronic devices. Students will gain the specialized technical skills needed to install, maintain, and repair computers. </a:t>
            </a:r>
            <a:endParaRPr lang="en-US" altLang="en-US" dirty="0"/>
          </a:p>
          <a:p>
            <a:pPr lvl="0"/>
            <a:r>
              <a:rPr lang="en-US" altLang="en-US" dirty="0"/>
              <a:t>Earning an industry standard certification can improve confidence and can increase job opportunities in IT. This course is focused on the following two industry standard certifications:</a:t>
            </a:r>
            <a:endParaRPr lang="en-US" altLang="en-US" dirty="0"/>
          </a:p>
          <a:p>
            <a:pPr lvl="1"/>
            <a:r>
              <a:rPr lang="en-US" altLang="en-US" dirty="0"/>
              <a:t>The CompTIA A+ </a:t>
            </a:r>
            <a:endParaRPr lang="en-US" altLang="en-US" dirty="0"/>
          </a:p>
          <a:p>
            <a:pPr lvl="1"/>
            <a:r>
              <a:rPr lang="en-US" altLang="en-US" dirty="0"/>
              <a:t>The European Certification of Informatics Professional (EUCIP) IT Administrator Certification (Modules 1- 3) </a:t>
            </a:r>
            <a:endParaRPr lang="en-US" altLang="en-US" dirty="0"/>
          </a:p>
          <a:p>
            <a:pPr lvl="0">
              <a:buNone/>
            </a:pPr>
            <a:r>
              <a:rPr lang="en-US" altLang="en-US" dirty="0"/>
              <a:t>After completing this section, students will meet these objectives:</a:t>
            </a:r>
            <a:endParaRPr lang="en-US" altLang="en-US" dirty="0"/>
          </a:p>
          <a:p>
            <a:pPr lvl="0"/>
            <a:r>
              <a:rPr lang="en-US" altLang="en-US" dirty="0"/>
              <a:t>Identify the education and certifications required </a:t>
            </a:r>
            <a:endParaRPr lang="en-US" altLang="en-US" dirty="0"/>
          </a:p>
          <a:p>
            <a:pPr lvl="0"/>
            <a:r>
              <a:rPr lang="en-US" altLang="en-US" dirty="0"/>
              <a:t>Describe the A+ Certification </a:t>
            </a:r>
            <a:endParaRPr lang="en-US" altLang="en-US" dirty="0"/>
          </a:p>
          <a:p>
            <a:pPr lvl="0"/>
            <a:r>
              <a:rPr lang="en-US" altLang="en-US" dirty="0"/>
              <a:t>Describe the EUCIP Certification </a:t>
            </a:r>
            <a:endParaRPr lang="en-US" altLang="en-US" dirty="0"/>
          </a:p>
          <a:p>
            <a:pPr lvl="0"/>
            <a:r>
              <a:rPr lang="en-US" altLang="en-US" dirty="0"/>
              <a:t>Identify advanced careers </a:t>
            </a:r>
            <a:endParaRPr lang="en-US" altLang="en-US" dirty="0"/>
          </a:p>
          <a:p>
            <a:pPr lvl="0">
              <a:buNone/>
            </a:pPr>
            <a:endParaRPr lang="en-US"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14339" name="Rectangle 2"/>
          <p:cNvSpPr>
            <a:spLocks noChangeAspect="1" noTextEdit="1"/>
          </p:cNvSpPr>
          <p:nvPr>
            <p:ph type="sldImg"/>
          </p:nvPr>
        </p:nvSpPr>
        <p:spPr>
          <a:ln/>
        </p:spPr>
      </p:sp>
      <p:sp>
        <p:nvSpPr>
          <p:cNvPr id="14340" name="Rectangle 3"/>
          <p:cNvSpPr>
            <a:spLocks noGrp="1"/>
          </p:cNvSpPr>
          <p:nvPr>
            <p:ph type="body" idx="1"/>
          </p:nvPr>
        </p:nvSpPr>
        <p:spPr>
          <a:ln/>
        </p:spPr>
        <p:txBody>
          <a:bodyPr wrap="square" lIns="95667" tIns="50185" rIns="95667" bIns="50185" anchor="t" anchorCtr="0"/>
          <a:p>
            <a:pPr lvl="0">
              <a:buNone/>
            </a:pPr>
            <a:r>
              <a:rPr lang="en-US" altLang="en-US" dirty="0"/>
              <a:t>Slide 7 – Education and Certification</a:t>
            </a:r>
            <a:endParaRPr lang="en-US" altLang="en-US" dirty="0"/>
          </a:p>
          <a:p>
            <a:pPr lvl="0">
              <a:buNone/>
            </a:pPr>
            <a:r>
              <a:rPr lang="en-US" altLang="en-US" dirty="0"/>
              <a:t>1.1.1 Identify education and certifications</a:t>
            </a:r>
            <a:endParaRPr lang="en-US" altLang="en-US" dirty="0"/>
          </a:p>
          <a:p>
            <a:pPr lvl="0">
              <a:buNone/>
            </a:pPr>
            <a:r>
              <a:rPr lang="en-US" altLang="en-US" dirty="0"/>
              <a:t>This course covers the information that a technician needs to be successful in IT:</a:t>
            </a:r>
            <a:endParaRPr lang="en-US" altLang="en-US" dirty="0"/>
          </a:p>
          <a:p>
            <a:pPr lvl="0"/>
            <a:r>
              <a:rPr lang="en-US" altLang="en-US" dirty="0"/>
              <a:t>Personal computers </a:t>
            </a:r>
            <a:endParaRPr lang="en-US" altLang="en-US" dirty="0"/>
          </a:p>
          <a:p>
            <a:pPr lvl="0"/>
            <a:r>
              <a:rPr lang="en-US" altLang="en-US" dirty="0"/>
              <a:t>Safe lab procedures </a:t>
            </a:r>
            <a:endParaRPr lang="en-US" altLang="en-US" dirty="0"/>
          </a:p>
          <a:p>
            <a:pPr lvl="0"/>
            <a:r>
              <a:rPr lang="en-US" altLang="en-US" dirty="0"/>
              <a:t>Troubleshooting </a:t>
            </a:r>
            <a:endParaRPr lang="en-US" altLang="en-US" dirty="0"/>
          </a:p>
          <a:p>
            <a:pPr lvl="0"/>
            <a:r>
              <a:rPr lang="en-US" altLang="en-US" dirty="0"/>
              <a:t>Operating systems </a:t>
            </a:r>
            <a:endParaRPr lang="en-US" altLang="en-US" dirty="0"/>
          </a:p>
          <a:p>
            <a:pPr lvl="0"/>
            <a:r>
              <a:rPr lang="en-US" altLang="en-US" dirty="0"/>
              <a:t>Laptop computers </a:t>
            </a:r>
            <a:endParaRPr lang="en-US" altLang="en-US" dirty="0"/>
          </a:p>
          <a:p>
            <a:pPr lvl="0"/>
            <a:r>
              <a:rPr lang="en-US" altLang="en-US" dirty="0"/>
              <a:t>Printers and scanners </a:t>
            </a:r>
            <a:endParaRPr lang="en-US" altLang="en-US" dirty="0"/>
          </a:p>
          <a:p>
            <a:pPr lvl="0"/>
            <a:r>
              <a:rPr lang="en-US" altLang="en-US" dirty="0"/>
              <a:t>Networks </a:t>
            </a:r>
            <a:endParaRPr lang="en-US" altLang="en-US" dirty="0"/>
          </a:p>
          <a:p>
            <a:pPr lvl="0"/>
            <a:r>
              <a:rPr lang="en-US" altLang="en-US" dirty="0"/>
              <a:t>Security </a:t>
            </a:r>
            <a:endParaRPr lang="en-US" altLang="en-US" dirty="0"/>
          </a:p>
          <a:p>
            <a:pPr lvl="0"/>
            <a:r>
              <a:rPr lang="en-US" altLang="en-US" dirty="0"/>
              <a:t>Communication skills </a:t>
            </a:r>
            <a:endParaRPr lang="en-US" altLang="en-US" dirty="0"/>
          </a:p>
          <a:p>
            <a:pPr lvl="0">
              <a:buNone/>
            </a:pPr>
            <a:r>
              <a:rPr lang="en-US" altLang="en-US" dirty="0"/>
              <a:t>This course focuses on two hardware and software skills-based industry certifications: CompTIA A+ and EUCIP. This course is only an introduction into the world of IT. A technician may continue to study and earn the following certifications: </a:t>
            </a:r>
            <a:endParaRPr lang="en-US" altLang="en-US" dirty="0"/>
          </a:p>
          <a:p>
            <a:pPr lvl="0"/>
            <a:r>
              <a:rPr lang="en-US" altLang="en-US" dirty="0"/>
              <a:t>CCNA - Cisco Certified Networking Associate </a:t>
            </a:r>
            <a:endParaRPr lang="en-US" altLang="en-US" dirty="0"/>
          </a:p>
          <a:p>
            <a:pPr lvl="0"/>
            <a:r>
              <a:rPr lang="en-US" altLang="en-US" dirty="0"/>
              <a:t>CCNP - Cisco Certified Networking Professional </a:t>
            </a:r>
            <a:endParaRPr lang="en-US" altLang="en-US" dirty="0"/>
          </a:p>
          <a:p>
            <a:pPr lvl="0"/>
            <a:r>
              <a:rPr lang="en-US" altLang="en-US" dirty="0"/>
              <a:t>CCIE - Cisco Certified Internetworking Expert </a:t>
            </a:r>
            <a:endParaRPr lang="en-US" altLang="en-US" dirty="0"/>
          </a:p>
          <a:p>
            <a:pPr lvl="0"/>
            <a:r>
              <a:rPr lang="en-US" altLang="en-US" dirty="0"/>
              <a:t>CISSP - Certified Information Systems Security Professional </a:t>
            </a:r>
            <a:endParaRPr lang="en-US" altLang="en-US" dirty="0"/>
          </a:p>
          <a:p>
            <a:pPr lvl="0"/>
            <a:r>
              <a:rPr lang="en-US" altLang="en-US" dirty="0"/>
              <a:t>MCP - Microsoft Certified Professional </a:t>
            </a:r>
            <a:endParaRPr lang="en-US" altLang="en-US" dirty="0"/>
          </a:p>
          <a:p>
            <a:pPr lvl="0"/>
            <a:r>
              <a:rPr lang="en-US" altLang="en-US" dirty="0"/>
              <a:t>MCSA - Microsoft Certified Systems Administrator </a:t>
            </a:r>
            <a:endParaRPr lang="en-US" altLang="en-US" dirty="0"/>
          </a:p>
          <a:p>
            <a:pPr lvl="0"/>
            <a:r>
              <a:rPr lang="en-US" altLang="en-US" dirty="0"/>
              <a:t>MCSE - Microsoft Certified Systems Engineer </a:t>
            </a:r>
            <a:endParaRPr lang="en-US" altLang="en-US" dirty="0"/>
          </a:p>
          <a:p>
            <a:pPr lvl="0"/>
            <a:r>
              <a:rPr lang="en-US" altLang="en-US" dirty="0"/>
              <a:t>Network+ - CompTIA Network Certification </a:t>
            </a:r>
            <a:endParaRPr lang="en-US" altLang="en-US" dirty="0"/>
          </a:p>
          <a:p>
            <a:pPr lvl="0"/>
            <a:r>
              <a:rPr lang="en-US" altLang="en-US" dirty="0"/>
              <a:t>Linux+ - CompTIA Linux Certification </a:t>
            </a:r>
            <a:endParaRPr lang="en-US" altLang="en-US" dirty="0"/>
          </a:p>
          <a:p>
            <a:pPr lvl="0">
              <a:buNone/>
            </a:pPr>
            <a:r>
              <a:rPr lang="en-US" altLang="en-US" dirty="0"/>
              <a:t>IT certifications can be used as credits for university and college degrees in areas such as computer science and telecommunications. </a:t>
            </a:r>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16387" name="Rectangle 2"/>
          <p:cNvSpPr>
            <a:spLocks noChangeAspect="1" noTextEdit="1"/>
          </p:cNvSpPr>
          <p:nvPr>
            <p:ph type="sldImg"/>
          </p:nvPr>
        </p:nvSpPr>
        <p:spPr>
          <a:ln/>
        </p:spPr>
      </p:sp>
      <p:sp>
        <p:nvSpPr>
          <p:cNvPr id="16388" name="Rectangle 3"/>
          <p:cNvSpPr>
            <a:spLocks noGrp="1"/>
          </p:cNvSpPr>
          <p:nvPr>
            <p:ph type="body" idx="1"/>
          </p:nvPr>
        </p:nvSpPr>
        <p:spPr>
          <a:ln/>
        </p:spPr>
        <p:txBody>
          <a:bodyPr wrap="square" lIns="95667" tIns="50185" rIns="95667" bIns="50185" anchor="t" anchorCtr="0"/>
          <a:p>
            <a:pPr lvl="0">
              <a:buNone/>
            </a:pPr>
            <a:r>
              <a:rPr lang="en-US" altLang="en-US" dirty="0"/>
              <a:t>Slide 11 – PCs and Customer Needs</a:t>
            </a:r>
            <a:endParaRPr lang="en-US" altLang="en-US" dirty="0"/>
          </a:p>
          <a:p>
            <a:pPr lvl="0">
              <a:buNone/>
            </a:pPr>
            <a:r>
              <a:rPr lang="en-US" altLang="en-US" dirty="0"/>
              <a:t>1.2 Describe a computer system</a:t>
            </a:r>
            <a:endParaRPr lang="en-US" altLang="en-US" dirty="0"/>
          </a:p>
          <a:p>
            <a:pPr lvl="0">
              <a:buNone/>
            </a:pPr>
            <a:r>
              <a:rPr lang="en-US" altLang="en-US" dirty="0"/>
              <a:t>A computer system consists of hardware and software components. Hardware is the physical equipment such as the case, storage drives, keyboards, monitors, cables, speakers, and printers. The term software includes the operating system and programs. The operating system instructs the computer how to operate. These operations may include identifying, accessing, and processing information. Programs or applications perform different functions. Programs vary widely depending on the type of information that will be accessed or generated. For example, instructions for balancing a checkbook are very different from instructions for simulating a virtual reality world on the Internet.</a:t>
            </a:r>
            <a:br>
              <a:rPr lang="en-US" altLang="en-US" dirty="0"/>
            </a:br>
            <a:r>
              <a:rPr lang="en-US" altLang="en-US" dirty="0"/>
              <a:t>The following sections in this chapter discuss the hardware components found in a computer system. </a:t>
            </a:r>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20483" name="Rectangle 2"/>
          <p:cNvSpPr>
            <a:spLocks noChangeAspect="1" noTextEdit="1"/>
          </p:cNvSpPr>
          <p:nvPr>
            <p:ph type="sldImg"/>
          </p:nvPr>
        </p:nvSpPr>
        <p:spPr>
          <a:ln/>
        </p:spPr>
      </p:sp>
      <p:sp>
        <p:nvSpPr>
          <p:cNvPr id="20484" name="Rectangle 3"/>
          <p:cNvSpPr>
            <a:spLocks noGrp="1"/>
          </p:cNvSpPr>
          <p:nvPr>
            <p:ph type="body" idx="1"/>
          </p:nvPr>
        </p:nvSpPr>
        <p:spPr>
          <a:ln/>
        </p:spPr>
        <p:txBody>
          <a:bodyPr wrap="square" lIns="95667" tIns="50185" rIns="95667" bIns="50185" anchor="t" anchorCtr="0"/>
          <a:p>
            <a:pPr lvl="0">
              <a:buNone/>
            </a:pPr>
            <a:r>
              <a:rPr lang="en-US" altLang="en-US" sz="1000" dirty="0"/>
              <a:t>Slide 12 – Computer Cases and Power Supplies</a:t>
            </a:r>
            <a:endParaRPr lang="en-US" altLang="en-US" sz="1000" dirty="0"/>
          </a:p>
          <a:p>
            <a:pPr lvl="0">
              <a:buNone/>
            </a:pPr>
            <a:r>
              <a:rPr lang="en-US" altLang="ja-JP" sz="1000" dirty="0">
                <a:ea typeface="MS PGothic" panose="020B0600070205080204" pitchFamily="34" charset="-128"/>
              </a:rPr>
              <a:t>1.3 Identify the names, purposes, and characteristics of cases and power supplies </a:t>
            </a:r>
            <a:endParaRPr lang="en-US" altLang="ja-JP" sz="1000" dirty="0">
              <a:ea typeface="MS PGothic" panose="020B0600070205080204" pitchFamily="34" charset="-128"/>
            </a:endParaRPr>
          </a:p>
          <a:p>
            <a:pPr lvl="0">
              <a:buNone/>
            </a:pPr>
            <a:r>
              <a:rPr lang="en-US" altLang="en-US" dirty="0"/>
              <a:t>Computer case</a:t>
            </a:r>
            <a:endParaRPr lang="en-US" altLang="en-US" dirty="0"/>
          </a:p>
          <a:p>
            <a:pPr lvl="0"/>
            <a:r>
              <a:rPr lang="en-US" altLang="en-US" dirty="0"/>
              <a:t>Provides protection and support for the internal components of the computer.</a:t>
            </a:r>
            <a:endParaRPr lang="en-US" altLang="en-US" dirty="0"/>
          </a:p>
          <a:p>
            <a:pPr lvl="0"/>
            <a:r>
              <a:rPr lang="en-US" altLang="en-US" dirty="0"/>
              <a:t>Should be durable, easy to service, and have enough room for expansion</a:t>
            </a:r>
            <a:endParaRPr lang="en-US" altLang="en-US" dirty="0"/>
          </a:p>
          <a:p>
            <a:pPr lvl="0"/>
            <a:r>
              <a:rPr lang="en-US" altLang="en-US" dirty="0"/>
              <a:t>The size and shape of the computer case is usually determined by the motherboard and other internal components. </a:t>
            </a:r>
            <a:endParaRPr lang="en-US" altLang="en-US" sz="1000" dirty="0"/>
          </a:p>
          <a:p>
            <a:pPr lvl="0">
              <a:buNone/>
            </a:pPr>
            <a:r>
              <a:rPr lang="en-US" altLang="en-US" dirty="0"/>
              <a:t>Power supply </a:t>
            </a:r>
            <a:endParaRPr lang="en-US" altLang="en-US" dirty="0"/>
          </a:p>
          <a:p>
            <a:pPr lvl="0"/>
            <a:r>
              <a:rPr lang="en-US" altLang="en-US" sz="1000" dirty="0"/>
              <a:t>Converts alternating-current (AC) power from the wall socket into direct-current (DC) power</a:t>
            </a:r>
            <a:endParaRPr lang="en-US" altLang="en-US" sz="1000" dirty="0"/>
          </a:p>
          <a:p>
            <a:pPr lvl="0"/>
            <a:r>
              <a:rPr lang="en-US" altLang="en-US" dirty="0"/>
              <a:t>The power supply must provide enough power for the components that are currently installed and allow for additional components that may be added at a later time. If you choose a power supply that powers only the current components, it may be necessary to replace the power supply when other components are upgraded</a:t>
            </a:r>
            <a:r>
              <a:rPr lang="en-US" altLang="en-US" sz="1000" dirty="0"/>
              <a:t>.</a:t>
            </a:r>
            <a:endParaRPr lang="en-US" altLang="en-US" sz="1000" dirty="0"/>
          </a:p>
          <a:p>
            <a:pPr lvl="0">
              <a:buNone/>
            </a:pPr>
            <a:r>
              <a:rPr lang="en-US" altLang="en-US" sz="1000" dirty="0"/>
              <a:t>After completing this section, students will meet these objectives:</a:t>
            </a:r>
            <a:endParaRPr lang="en-US" altLang="en-US" sz="1000" dirty="0"/>
          </a:p>
          <a:p>
            <a:pPr lvl="0"/>
            <a:r>
              <a:rPr lang="en-US" altLang="en-US" sz="1000" dirty="0"/>
              <a:t>Describe cases </a:t>
            </a:r>
            <a:endParaRPr lang="en-US" altLang="en-US" sz="1000" dirty="0"/>
          </a:p>
          <a:p>
            <a:pPr lvl="0"/>
            <a:r>
              <a:rPr lang="en-US" altLang="en-US" sz="1000" dirty="0"/>
              <a:t>Describe power supplies </a:t>
            </a:r>
            <a:endParaRPr lang="en-US" altLang="en-US" sz="1000" dirty="0"/>
          </a:p>
          <a:p>
            <a:pPr lvl="0">
              <a:buNone/>
            </a:pPr>
            <a:endParaRPr lang="en-US" altLang="en-US" sz="10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22531" name="Rectangle 2"/>
          <p:cNvSpPr>
            <a:spLocks noChangeAspect="1" noTextEdit="1"/>
          </p:cNvSpPr>
          <p:nvPr>
            <p:ph type="sldImg"/>
          </p:nvPr>
        </p:nvSpPr>
        <p:spPr>
          <a:ln/>
        </p:spPr>
      </p:sp>
      <p:sp>
        <p:nvSpPr>
          <p:cNvPr id="22532" name="Rectangle 3"/>
          <p:cNvSpPr>
            <a:spLocks noGrp="1"/>
          </p:cNvSpPr>
          <p:nvPr>
            <p:ph type="body" idx="1"/>
          </p:nvPr>
        </p:nvSpPr>
        <p:spPr>
          <a:ln/>
        </p:spPr>
        <p:txBody>
          <a:bodyPr wrap="square" lIns="95667" tIns="50185" rIns="95667" bIns="50185" anchor="t" anchorCtr="0"/>
          <a:p>
            <a:pPr lvl="0">
              <a:buNone/>
            </a:pPr>
            <a:r>
              <a:rPr lang="en-US" altLang="en-US" dirty="0"/>
              <a:t>Slide 13 – Computer Cases</a:t>
            </a:r>
            <a:endParaRPr lang="en-US" altLang="en-US" dirty="0"/>
          </a:p>
          <a:p>
            <a:pPr lvl="0">
              <a:buNone/>
            </a:pPr>
            <a:r>
              <a:rPr lang="en-US" altLang="ja-JP" dirty="0">
                <a:ea typeface="MS PGothic" panose="020B0600070205080204" pitchFamily="34" charset="-128"/>
              </a:rPr>
              <a:t>1.3.1 Describe cases </a:t>
            </a:r>
            <a:endParaRPr lang="en-US" altLang="ja-JP" dirty="0">
              <a:ea typeface="MS PGothic" panose="020B0600070205080204" pitchFamily="34" charset="-128"/>
            </a:endParaRPr>
          </a:p>
          <a:p>
            <a:pPr lvl="0">
              <a:buNone/>
            </a:pPr>
            <a:r>
              <a:rPr lang="en-US" altLang="en-US" dirty="0"/>
              <a:t>A computer case contains the framework to support the internal components of a computer while providing an enclosure for added protection. Computer cases are typically made of plastic, steel, and aluminum and are available in a variety of styles. </a:t>
            </a:r>
            <a:endParaRPr lang="en-US" altLang="en-US" dirty="0"/>
          </a:p>
          <a:p>
            <a:pPr lvl="0">
              <a:buNone/>
            </a:pPr>
            <a:r>
              <a:rPr lang="en-US" altLang="en-US" dirty="0"/>
              <a:t>The size and layout of a case is called a form factor. There are many types of cases, but the basic form factors for computer cases include desktop and tower. Desktop cases may be slimline or full-sized, and tower cases may be mini or full-sized.</a:t>
            </a:r>
            <a:endParaRPr lang="en-US" altLang="en-US" dirty="0"/>
          </a:p>
          <a:p>
            <a:pPr lvl="0">
              <a:buNone/>
            </a:pPr>
            <a:r>
              <a:rPr lang="en-US" altLang="en-US" dirty="0"/>
              <a:t>Computer cases are referred to in a number of ways: </a:t>
            </a:r>
            <a:endParaRPr lang="en-US" altLang="en-US" dirty="0"/>
          </a:p>
          <a:p>
            <a:pPr lvl="0"/>
            <a:r>
              <a:rPr lang="en-US" altLang="en-US" dirty="0"/>
              <a:t>Computer chassis </a:t>
            </a:r>
            <a:endParaRPr lang="en-US" altLang="en-US" dirty="0"/>
          </a:p>
          <a:p>
            <a:pPr lvl="0"/>
            <a:r>
              <a:rPr lang="en-US" altLang="en-US" dirty="0"/>
              <a:t>Cabinet </a:t>
            </a:r>
            <a:endParaRPr lang="en-US" altLang="en-US" dirty="0"/>
          </a:p>
          <a:p>
            <a:pPr lvl="0"/>
            <a:r>
              <a:rPr lang="en-US" altLang="en-US" dirty="0"/>
              <a:t>Tower </a:t>
            </a:r>
            <a:endParaRPr lang="en-US" altLang="en-US" dirty="0"/>
          </a:p>
          <a:p>
            <a:pPr lvl="0"/>
            <a:r>
              <a:rPr lang="en-US" altLang="en-US" dirty="0"/>
              <a:t>Box </a:t>
            </a:r>
            <a:endParaRPr lang="en-US" altLang="en-US" dirty="0"/>
          </a:p>
          <a:p>
            <a:pPr lvl="0"/>
            <a:r>
              <a:rPr lang="en-US" altLang="en-US" dirty="0"/>
              <a:t>Housing </a:t>
            </a:r>
            <a:endParaRPr lang="en-US" altLang="en-US" dirty="0"/>
          </a:p>
          <a:p>
            <a:pPr lvl="0">
              <a:buNone/>
            </a:pPr>
            <a:r>
              <a:rPr lang="en-US" altLang="en-US" dirty="0"/>
              <a:t>In addition to providing protection and support, cases also provide an environment designed to keep the internal components cool. Case fans are used to move air through the computer case. As the air passes warm components, it absorbs heat and then exits the case. This process keeps the components of the computer from overheating.</a:t>
            </a:r>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24579" name="Rectangle 2"/>
          <p:cNvSpPr>
            <a:spLocks noChangeAspect="1" noTextEdit="1"/>
          </p:cNvSpPr>
          <p:nvPr>
            <p:ph type="sldImg"/>
          </p:nvPr>
        </p:nvSpPr>
        <p:spPr>
          <a:ln/>
        </p:spPr>
      </p:sp>
      <p:sp>
        <p:nvSpPr>
          <p:cNvPr id="24580" name="Rectangle 3"/>
          <p:cNvSpPr>
            <a:spLocks noGrp="1"/>
          </p:cNvSpPr>
          <p:nvPr>
            <p:ph type="body" idx="1"/>
          </p:nvPr>
        </p:nvSpPr>
        <p:spPr>
          <a:ln/>
        </p:spPr>
        <p:txBody>
          <a:bodyPr wrap="square" lIns="95667" tIns="50185" rIns="95667" bIns="50185" anchor="t" anchorCtr="0"/>
          <a:p>
            <a:pPr lvl="0">
              <a:buNone/>
            </a:pPr>
            <a:r>
              <a:rPr lang="en-US" altLang="en-US" dirty="0"/>
              <a:t>Slide 14 – Case Selection</a:t>
            </a:r>
            <a:endParaRPr lang="en-US" altLang="en-US" dirty="0"/>
          </a:p>
          <a:p>
            <a:pPr lvl="0">
              <a:buNone/>
            </a:pPr>
            <a:r>
              <a:rPr lang="en-US" altLang="ja-JP" dirty="0">
                <a:ea typeface="MS PGothic" panose="020B0600070205080204" pitchFamily="34" charset="-128"/>
              </a:rPr>
              <a:t>1.3.1 Describe cases </a:t>
            </a:r>
            <a:endParaRPr lang="en-US" altLang="ja-JP" dirty="0">
              <a:ea typeface="MS PGothic" panose="020B0600070205080204" pitchFamily="34" charset="-128"/>
            </a:endParaRPr>
          </a:p>
          <a:p>
            <a:pPr lvl="0">
              <a:buNone/>
            </a:pPr>
            <a:r>
              <a:rPr lang="en-US" altLang="en-US" dirty="0"/>
              <a:t>There are many factors that must be considered when choosing a case: </a:t>
            </a:r>
            <a:endParaRPr lang="en-US" altLang="en-US" dirty="0"/>
          </a:p>
          <a:p>
            <a:pPr lvl="0"/>
            <a:r>
              <a:rPr lang="en-US" altLang="en-US" dirty="0"/>
              <a:t>The size of the motherboard </a:t>
            </a:r>
            <a:endParaRPr lang="en-US" altLang="en-US" dirty="0"/>
          </a:p>
          <a:p>
            <a:pPr lvl="0"/>
            <a:r>
              <a:rPr lang="en-US" altLang="en-US" dirty="0"/>
              <a:t>The number of external or internal drive locations called bays </a:t>
            </a:r>
            <a:endParaRPr lang="en-US" altLang="en-US" dirty="0"/>
          </a:p>
          <a:p>
            <a:pPr lvl="0"/>
            <a:r>
              <a:rPr lang="en-US" altLang="en-US" dirty="0"/>
              <a:t>Available space </a:t>
            </a:r>
            <a:endParaRPr lang="en-US" altLang="en-US" dirty="0"/>
          </a:p>
          <a:p>
            <a:pPr lvl="0">
              <a:buNone/>
            </a:pPr>
            <a:r>
              <a:rPr lang="en-US" altLang="en-US" dirty="0"/>
              <a:t>In addition to providing protection from the environment, cases help to prevent damage from static electricity. Internal components of the computer are grounded by attachment to the case.</a:t>
            </a:r>
            <a:endParaRPr lang="en-US" altLang="en-US" dirty="0"/>
          </a:p>
          <a:p>
            <a:pPr lvl="0">
              <a:buNone/>
            </a:pPr>
            <a:r>
              <a:rPr lang="en-US" altLang="en-US" b="1" dirty="0"/>
              <a:t>NOTE: </a:t>
            </a:r>
            <a:r>
              <a:rPr lang="en-US" altLang="en-US" dirty="0"/>
              <a:t>You should select a case that matches the physical dimensions of the power supply and motherboard.</a:t>
            </a:r>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26627" name="Rectangle 2"/>
          <p:cNvSpPr>
            <a:spLocks noChangeAspect="1" noTextEdit="1"/>
          </p:cNvSpPr>
          <p:nvPr>
            <p:ph type="sldImg"/>
          </p:nvPr>
        </p:nvSpPr>
        <p:spPr>
          <a:ln/>
        </p:spPr>
      </p:sp>
      <p:sp>
        <p:nvSpPr>
          <p:cNvPr id="26628" name="Rectangle 3"/>
          <p:cNvSpPr>
            <a:spLocks noGrp="1"/>
          </p:cNvSpPr>
          <p:nvPr>
            <p:ph type="body" idx="1"/>
          </p:nvPr>
        </p:nvSpPr>
        <p:spPr>
          <a:ln/>
        </p:spPr>
        <p:txBody>
          <a:bodyPr wrap="square" lIns="95667" tIns="50185" rIns="95667" bIns="50185" anchor="t" anchorCtr="0"/>
          <a:p>
            <a:pPr lvl="0">
              <a:buNone/>
            </a:pPr>
            <a:r>
              <a:rPr lang="en-US" altLang="en-US" dirty="0"/>
              <a:t>Slide 18 – Internal Components</a:t>
            </a:r>
            <a:endParaRPr lang="en-US" altLang="en-US" dirty="0"/>
          </a:p>
          <a:p>
            <a:pPr lvl="0">
              <a:buNone/>
            </a:pPr>
            <a:r>
              <a:rPr lang="en-US" altLang="ja-JP" dirty="0">
                <a:ea typeface="MS PGothic" panose="020B0600070205080204" pitchFamily="34" charset="-128"/>
              </a:rPr>
              <a:t>1.4 Identify the names, purposes, and characteristics of internal components </a:t>
            </a:r>
            <a:endParaRPr lang="en-US" altLang="ja-JP" dirty="0">
              <a:ea typeface="MS PGothic" panose="020B0600070205080204" pitchFamily="34" charset="-128"/>
            </a:endParaRPr>
          </a:p>
          <a:p>
            <a:pPr lvl="0">
              <a:buNone/>
            </a:pPr>
            <a:r>
              <a:rPr lang="en-US" altLang="en-US" dirty="0"/>
              <a:t>This section discusses the names, purposes, and characteristics of the internal components of a computer. After completing this section, you will meet these objectives:</a:t>
            </a:r>
            <a:endParaRPr lang="en-US" altLang="en-US" dirty="0"/>
          </a:p>
          <a:p>
            <a:pPr lvl="0"/>
            <a:r>
              <a:rPr lang="en-US" altLang="en-US" dirty="0"/>
              <a:t>Identify the names, purposes, and characteristics of motherboards </a:t>
            </a:r>
            <a:endParaRPr lang="en-US" altLang="en-US" dirty="0"/>
          </a:p>
          <a:p>
            <a:pPr lvl="0"/>
            <a:r>
              <a:rPr lang="en-US" altLang="en-US" dirty="0"/>
              <a:t>Explain the names, purposes, and characteristics of CPUs </a:t>
            </a:r>
            <a:endParaRPr lang="en-US" altLang="en-US" dirty="0"/>
          </a:p>
          <a:p>
            <a:pPr lvl="0"/>
            <a:r>
              <a:rPr lang="en-US" altLang="en-US" dirty="0"/>
              <a:t>Identify the names, purposes, and characteristics of cooling systems </a:t>
            </a:r>
            <a:endParaRPr lang="en-US" altLang="en-US" dirty="0"/>
          </a:p>
          <a:p>
            <a:pPr lvl="0"/>
            <a:r>
              <a:rPr lang="en-US" altLang="en-US" dirty="0"/>
              <a:t>Identify the names, purposes, and characteristics of ROM and RAM </a:t>
            </a:r>
            <a:endParaRPr lang="en-US" altLang="en-US" dirty="0"/>
          </a:p>
          <a:p>
            <a:pPr lvl="0"/>
            <a:r>
              <a:rPr lang="en-US" altLang="en-US" dirty="0"/>
              <a:t>Identify the names, purposes, and characteristics of adapter cards </a:t>
            </a:r>
            <a:endParaRPr lang="en-US" altLang="en-US" dirty="0"/>
          </a:p>
          <a:p>
            <a:pPr lvl="0"/>
            <a:r>
              <a:rPr lang="en-US" altLang="en-US" dirty="0"/>
              <a:t>Identify the names, purposes, and characteristics of storage drives </a:t>
            </a:r>
            <a:endParaRPr lang="en-US" altLang="en-US" dirty="0"/>
          </a:p>
          <a:p>
            <a:pPr lvl="0"/>
            <a:r>
              <a:rPr lang="en-US" altLang="en-US" dirty="0"/>
              <a:t>Identify the names, purposes, and characteristics of internal cables </a:t>
            </a:r>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28675" name="Rectangle 2"/>
          <p:cNvSpPr>
            <a:spLocks noChangeAspect="1" noTextEdit="1"/>
          </p:cNvSpPr>
          <p:nvPr>
            <p:ph type="sldImg"/>
          </p:nvPr>
        </p:nvSpPr>
        <p:spPr>
          <a:ln/>
        </p:spPr>
      </p:sp>
      <p:sp>
        <p:nvSpPr>
          <p:cNvPr id="28676" name="Rectangle 3"/>
          <p:cNvSpPr>
            <a:spLocks noGrp="1"/>
          </p:cNvSpPr>
          <p:nvPr>
            <p:ph type="body" idx="1"/>
          </p:nvPr>
        </p:nvSpPr>
        <p:spPr>
          <a:ln/>
        </p:spPr>
        <p:txBody>
          <a:bodyPr wrap="square" lIns="95667" tIns="50185" rIns="95667" bIns="50185" anchor="t" anchorCtr="0"/>
          <a:p>
            <a:pPr marL="228600" lvl="0" indent="-228600">
              <a:lnSpc>
                <a:spcPct val="80000"/>
              </a:lnSpc>
              <a:buNone/>
            </a:pPr>
            <a:r>
              <a:rPr lang="en-US" altLang="en-US" sz="1000" dirty="0"/>
              <a:t>Slide 15 – Power Supplies</a:t>
            </a:r>
            <a:endParaRPr lang="en-US" altLang="en-US" sz="1000" dirty="0"/>
          </a:p>
          <a:p>
            <a:pPr marL="228600" lvl="0" indent="-228600">
              <a:lnSpc>
                <a:spcPct val="80000"/>
              </a:lnSpc>
              <a:buNone/>
            </a:pPr>
            <a:r>
              <a:rPr lang="en-US" altLang="ja-JP" sz="1000" dirty="0">
                <a:ea typeface="MS PGothic" panose="020B0600070205080204" pitchFamily="34" charset="-128"/>
              </a:rPr>
              <a:t>1.3.2 Describe power supplies </a:t>
            </a:r>
            <a:endParaRPr lang="en-US" altLang="ja-JP" sz="1000" dirty="0">
              <a:ea typeface="MS PGothic" panose="020B0600070205080204" pitchFamily="34" charset="-128"/>
            </a:endParaRPr>
          </a:p>
          <a:p>
            <a:pPr marL="228600" lvl="0" indent="-228600">
              <a:lnSpc>
                <a:spcPct val="80000"/>
              </a:lnSpc>
              <a:buNone/>
            </a:pPr>
            <a:r>
              <a:rPr lang="en-US" altLang="en-US" sz="1000" dirty="0"/>
              <a:t>The power supply converts alternating-current (AC) power coming from a wall outlet into direct-current (DC) power, which is a lower voltage. DC power is required for all of the components inside the computer. </a:t>
            </a:r>
            <a:endParaRPr lang="en-US" altLang="en-US" sz="1000" dirty="0"/>
          </a:p>
          <a:p>
            <a:pPr marL="228600" lvl="0" indent="-228600">
              <a:lnSpc>
                <a:spcPct val="80000"/>
              </a:lnSpc>
              <a:buNone/>
            </a:pPr>
            <a:r>
              <a:rPr lang="en-US" altLang="en-US" sz="1000" dirty="0"/>
              <a:t>Most connectors today are keyed connectors. Keyed connectors are designed to be inserted in only one direction. Each part of the connector has a colored wire with a different voltage running through it. Different connectors are used to connect specific components and various locations on the motherboard:</a:t>
            </a:r>
            <a:endParaRPr lang="en-US" altLang="en-US" sz="1000" dirty="0"/>
          </a:p>
          <a:p>
            <a:pPr marL="590550" lvl="1" indent="-228600">
              <a:lnSpc>
                <a:spcPct val="80000"/>
              </a:lnSpc>
            </a:pPr>
            <a:r>
              <a:rPr lang="en-US" altLang="en-US" sz="1000" dirty="0"/>
              <a:t>Molex connector is a keyed connector used to connect to an optical drive or a hard drive. </a:t>
            </a:r>
            <a:endParaRPr lang="en-US" altLang="en-US" sz="1000" dirty="0"/>
          </a:p>
          <a:p>
            <a:pPr marL="590550" lvl="1" indent="-228600">
              <a:lnSpc>
                <a:spcPct val="80000"/>
              </a:lnSpc>
            </a:pPr>
            <a:r>
              <a:rPr lang="en-US" altLang="en-US" sz="1000" dirty="0"/>
              <a:t>Berg connector is a keyed connector used to connect to a floppy drive. A Berg connector is smaller than a Molex connector. </a:t>
            </a:r>
            <a:endParaRPr lang="en-US" altLang="en-US" sz="1000" dirty="0"/>
          </a:p>
          <a:p>
            <a:pPr marL="590550" lvl="1" indent="-228600">
              <a:lnSpc>
                <a:spcPct val="80000"/>
              </a:lnSpc>
            </a:pPr>
            <a:r>
              <a:rPr lang="en-US" altLang="en-US" sz="1000" dirty="0"/>
              <a:t>A 20-pin or 24-pin slotted connector is used to connect to the motherboard. The 24-pin slotted connector has two rows of 12-pins each, and the 20-pin slotted connector has two rows of 10-pins each. </a:t>
            </a:r>
            <a:endParaRPr lang="en-US" altLang="en-US" sz="1000" dirty="0"/>
          </a:p>
          <a:p>
            <a:pPr marL="590550" lvl="1" indent="-228600">
              <a:lnSpc>
                <a:spcPct val="80000"/>
              </a:lnSpc>
            </a:pPr>
            <a:r>
              <a:rPr lang="en-US" altLang="en-US" sz="1000" dirty="0"/>
              <a:t>A 4-pin to 8-pin auxiliary power connector has two rows of two to four pins and supplies power to all areas of the motherboard. The 4-pin to 8-pin auxiliary power connector is the same shape as the main power connector, but smaller. </a:t>
            </a:r>
            <a:endParaRPr lang="en-US" altLang="en-US" sz="1000" dirty="0"/>
          </a:p>
          <a:p>
            <a:pPr marL="590550" lvl="1" indent="-228600">
              <a:lnSpc>
                <a:spcPct val="80000"/>
              </a:lnSpc>
            </a:pPr>
            <a:r>
              <a:rPr lang="en-US" altLang="en-US" sz="1000" dirty="0"/>
              <a:t>Older standard power supplies used two connectors called P8 and P9 to connect to the motherboard. P8 and P9 were unkeyed connectors. They could be installed backwards, potentially damaging the motherboard or power supply. The installation required that the connectors were lined up with the black wires together in the middle. </a:t>
            </a:r>
            <a:endParaRPr lang="en-US" altLang="en-US" sz="1000" dirty="0"/>
          </a:p>
          <a:p>
            <a:pPr marL="228600" lvl="0" indent="-228600">
              <a:lnSpc>
                <a:spcPct val="80000"/>
              </a:lnSpc>
              <a:buNone/>
            </a:pPr>
            <a:r>
              <a:rPr lang="en-US" altLang="en-US" sz="1000" b="1" dirty="0"/>
              <a:t>NOTE:</a:t>
            </a:r>
            <a:r>
              <a:rPr lang="en-US" altLang="en-US" sz="1000" dirty="0"/>
              <a:t> If you have a difficult time inserting a connector, try a different way, or check to make sure there are no bent pins or foreign objects in the way. Remember, if it seems difficult to plug in any cable or other part, there is something wrong. Cables, connectors, and components are designed to fit together snugly. Never force any connector or component. Take your time and make sure that you are handling the hardware correctly.</a:t>
            </a:r>
            <a:endParaRPr lang="en-US" altLang="en-US" sz="10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30723" name="Rectangle 2"/>
          <p:cNvSpPr>
            <a:spLocks noChangeAspect="1" noTextEdit="1"/>
          </p:cNvSpPr>
          <p:nvPr>
            <p:ph type="sldImg"/>
          </p:nvPr>
        </p:nvSpPr>
        <p:spPr>
          <a:ln/>
        </p:spPr>
      </p:sp>
      <p:sp>
        <p:nvSpPr>
          <p:cNvPr id="30724" name="Rectangle 3"/>
          <p:cNvSpPr>
            <a:spLocks noGrp="1"/>
          </p:cNvSpPr>
          <p:nvPr>
            <p:ph type="body" idx="1"/>
          </p:nvPr>
        </p:nvSpPr>
        <p:spPr>
          <a:ln/>
        </p:spPr>
        <p:txBody>
          <a:bodyPr wrap="square" lIns="95667" tIns="50185" rIns="95667" bIns="50185" anchor="t" anchorCtr="0"/>
          <a:p>
            <a:pPr marL="228600" lvl="0" indent="-228600">
              <a:buNone/>
            </a:pPr>
            <a:r>
              <a:rPr lang="en-US" altLang="en-US" dirty="0"/>
              <a:t>Slide 17 – Power Supplies</a:t>
            </a:r>
            <a:endParaRPr lang="en-US" altLang="en-US" dirty="0"/>
          </a:p>
          <a:p>
            <a:pPr marL="228600" lvl="0" indent="-228600">
              <a:buNone/>
            </a:pPr>
            <a:r>
              <a:rPr lang="en-US" altLang="ja-JP" dirty="0">
                <a:ea typeface="MS PGothic" panose="020B0600070205080204" pitchFamily="34" charset="-128"/>
              </a:rPr>
              <a:t>1.3.2 Describe power supplies</a:t>
            </a:r>
            <a:endParaRPr lang="en-US" altLang="ja-JP" dirty="0">
              <a:ea typeface="MS PGothic" panose="020B0600070205080204" pitchFamily="34" charset="-128"/>
            </a:endParaRPr>
          </a:p>
          <a:p>
            <a:pPr marL="228600" lvl="0" indent="-228600">
              <a:buNone/>
            </a:pPr>
            <a:r>
              <a:rPr lang="en-US" altLang="ja-JP" b="1" dirty="0">
                <a:ea typeface="MS PGothic" panose="020B0600070205080204" pitchFamily="34" charset="-128"/>
              </a:rPr>
              <a:t>CAUTION:</a:t>
            </a:r>
            <a:r>
              <a:rPr lang="en-US" altLang="ja-JP" dirty="0">
                <a:ea typeface="MS PGothic" panose="020B0600070205080204" pitchFamily="34" charset="-128"/>
              </a:rPr>
              <a:t> Do not open a power supply. Electronic capacitors located inside of a power supply can hold a charge for extended periods of time.</a:t>
            </a:r>
            <a:endParaRPr lang="en-US" altLang="ja-JP" dirty="0">
              <a:ea typeface="MS PGothic" panose="020B0600070205080204" pitchFamily="34" charset="-128"/>
            </a:endParaRPr>
          </a:p>
          <a:p>
            <a:pPr marL="228600" lvl="0" indent="-228600">
              <a:buNone/>
            </a:pPr>
            <a:endParaRPr lang="en-US" altLang="ja-JP" dirty="0">
              <a:ea typeface="MS PGothic"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34819" name="Rectangle 2"/>
          <p:cNvSpPr>
            <a:spLocks noChangeAspect="1" noTextEdit="1"/>
          </p:cNvSpPr>
          <p:nvPr>
            <p:ph type="sldImg"/>
          </p:nvPr>
        </p:nvSpPr>
        <p:spPr>
          <a:ln/>
        </p:spPr>
      </p:sp>
      <p:sp>
        <p:nvSpPr>
          <p:cNvPr id="34820" name="Rectangle 3"/>
          <p:cNvSpPr>
            <a:spLocks noGrp="1"/>
          </p:cNvSpPr>
          <p:nvPr>
            <p:ph type="body" idx="1"/>
          </p:nvPr>
        </p:nvSpPr>
        <p:spPr>
          <a:ln/>
        </p:spPr>
        <p:txBody>
          <a:bodyPr wrap="square" lIns="95667" tIns="50185" rIns="95667" bIns="50185" anchor="t" anchorCtr="0"/>
          <a:p>
            <a:pPr lvl="0">
              <a:buNone/>
            </a:pPr>
            <a:r>
              <a:rPr lang="en-US" altLang="en-US" dirty="0"/>
              <a:t>Slide 19 – Motherboards</a:t>
            </a:r>
            <a:endParaRPr lang="en-US" altLang="en-US" dirty="0"/>
          </a:p>
          <a:p>
            <a:pPr lvl="0">
              <a:buNone/>
            </a:pPr>
            <a:r>
              <a:rPr lang="en-US" altLang="ja-JP" dirty="0">
                <a:ea typeface="MS PGothic" panose="020B0600070205080204" pitchFamily="34" charset="-128"/>
              </a:rPr>
              <a:t>1.4.1 Identify the names, purposes, and characteristics of motherboards </a:t>
            </a:r>
            <a:endParaRPr lang="en-US" altLang="ja-JP" dirty="0">
              <a:ea typeface="MS PGothic" panose="020B0600070205080204" pitchFamily="34" charset="-128"/>
            </a:endParaRPr>
          </a:p>
          <a:p>
            <a:pPr lvl="0"/>
            <a:r>
              <a:rPr lang="en-US" altLang="ja-JP" dirty="0">
                <a:ea typeface="MS PGothic" panose="020B0600070205080204" pitchFamily="34" charset="-128"/>
              </a:rPr>
              <a:t>The motherboard is the main printed circuit board and contains the buses, or electrical pathways, found in a computer. These buses allow data to travel between the various components that comprise a computer. A motherboard is also known as the system board, the backplane, or the main board.</a:t>
            </a:r>
            <a:endParaRPr lang="en-US" altLang="ja-JP" dirty="0">
              <a:ea typeface="MS PGothic" panose="020B0600070205080204" pitchFamily="34" charset="-128"/>
            </a:endParaRPr>
          </a:p>
          <a:p>
            <a:pPr lvl="0"/>
            <a:r>
              <a:rPr lang="en-US" altLang="ja-JP" dirty="0">
                <a:ea typeface="MS PGothic" panose="020B0600070205080204" pitchFamily="34" charset="-128"/>
              </a:rPr>
              <a:t>The motherboard accommodates the central processing unit (CPU), RAM, expansion slots, heat sink/fan assembly, BIOS chip, chip set, and the embedded wires that interconnect the motherboard components. Sockets, internal and external connectors, and various ports are also placed on the motherboard.  </a:t>
            </a:r>
            <a:endParaRPr lang="en-US" altLang="ja-JP" dirty="0">
              <a:ea typeface="MS PGothic"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36867" name="Rectangle 2"/>
          <p:cNvSpPr>
            <a:spLocks noChangeAspect="1" noTextEdit="1"/>
          </p:cNvSpPr>
          <p:nvPr>
            <p:ph type="sldImg"/>
          </p:nvPr>
        </p:nvSpPr>
        <p:spPr>
          <a:ln/>
        </p:spPr>
      </p:sp>
      <p:sp>
        <p:nvSpPr>
          <p:cNvPr id="36868" name="Rectangle 3"/>
          <p:cNvSpPr>
            <a:spLocks noGrp="1"/>
          </p:cNvSpPr>
          <p:nvPr>
            <p:ph type="body" idx="1"/>
          </p:nvPr>
        </p:nvSpPr>
        <p:spPr>
          <a:ln/>
        </p:spPr>
        <p:txBody>
          <a:bodyPr wrap="square" lIns="95667" tIns="50185" rIns="95667" bIns="50185" anchor="t" anchorCtr="0"/>
          <a:p>
            <a:pPr lvl="0">
              <a:buNone/>
            </a:pPr>
            <a:r>
              <a:rPr lang="en-US" altLang="en-US" dirty="0"/>
              <a:t>Slide 20 – Motherboards</a:t>
            </a:r>
            <a:endParaRPr lang="en-US" altLang="en-US" dirty="0"/>
          </a:p>
          <a:p>
            <a:pPr lvl="0">
              <a:buNone/>
            </a:pPr>
            <a:r>
              <a:rPr lang="en-US" altLang="ja-JP" dirty="0">
                <a:ea typeface="MS PGothic" panose="020B0600070205080204" pitchFamily="34" charset="-128"/>
              </a:rPr>
              <a:t>1.4.1 Identify the names, purposes, and characteristics of motherboards </a:t>
            </a:r>
            <a:endParaRPr lang="en-US" altLang="ja-JP" dirty="0">
              <a:ea typeface="MS PGothic" panose="020B0600070205080204" pitchFamily="34" charset="-128"/>
            </a:endParaRPr>
          </a:p>
          <a:p>
            <a:pPr lvl="0"/>
            <a:r>
              <a:rPr lang="en-US" altLang="ja-JP" dirty="0">
                <a:ea typeface="MS PGothic" panose="020B0600070205080204" pitchFamily="34" charset="-128"/>
              </a:rPr>
              <a:t>The form factor of motherboards pertains to the size and shape of the board. It also describes the physical layout of the different components and devices on the motherboard. Various form factors exist for motherboards.</a:t>
            </a:r>
            <a:endParaRPr lang="en-US" altLang="ja-JP" dirty="0">
              <a:ea typeface="MS PGothic" panose="020B0600070205080204" pitchFamily="34" charset="-128"/>
            </a:endParaRPr>
          </a:p>
          <a:p>
            <a:pPr lvl="0"/>
            <a:r>
              <a:rPr lang="en-US" altLang="ja-JP" dirty="0">
                <a:ea typeface="MS PGothic" panose="020B0600070205080204" pitchFamily="34" charset="-128"/>
              </a:rPr>
              <a:t>An important set of components on the motherboard is the chip set. The chip set is composed of various integrated circuits attached to the motherboard that control how system hardware interacts with the CPU and motherboard. The CPU is installed into a slot or socket on the motherboard. The socket on the motherboard determines the type of CPU that can be installed.</a:t>
            </a:r>
            <a:endParaRPr lang="en-US" altLang="ja-JP" dirty="0">
              <a:ea typeface="MS PGothic" panose="020B0600070205080204" pitchFamily="34" charset="-128"/>
            </a:endParaRPr>
          </a:p>
          <a:p>
            <a:pPr lvl="0"/>
            <a:r>
              <a:rPr lang="en-US" altLang="ja-JP" dirty="0">
                <a:ea typeface="MS PGothic" panose="020B0600070205080204" pitchFamily="34" charset="-128"/>
              </a:rPr>
              <a:t>The chip set of a motherboard allows the CPU to communicate and interact with the other components of the computer, and to exchange data with system memory, or RAM, hard disk drives, video cards, and other output devices. The chip set establishes how much memory can be added to a motherboard. The chip set also determines the type of connectors on the motherboard.</a:t>
            </a:r>
            <a:endParaRPr lang="en-US" altLang="ja-JP" dirty="0">
              <a:ea typeface="MS PGothic" panose="020B0600070205080204" pitchFamily="34" charset="-128"/>
            </a:endParaRPr>
          </a:p>
          <a:p>
            <a:pPr lvl="0"/>
            <a:r>
              <a:rPr lang="en-US" altLang="ja-JP" dirty="0">
                <a:ea typeface="MS PGothic" panose="020B0600070205080204" pitchFamily="34" charset="-128"/>
              </a:rPr>
              <a:t>Most chip sets are divided into two distinct components, Northbridge and Southbridge. What each component does varies from manufacturer to manufacturer, but in general the Northbridge controls access to the RAM, video card, and the speeds at which the CPU can communicate with them. The video card is sometimes integrated into the Northbridge. The Southbridge, in most cases, allows the CPU to communicate with the hard drives, sound card, USB ports, and other I/O ports. </a:t>
            </a:r>
            <a:endParaRPr lang="en-US" altLang="ja-JP" dirty="0">
              <a:ea typeface="MS PGothic"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38915" name="Rectangle 2"/>
          <p:cNvSpPr>
            <a:spLocks noChangeAspect="1" noTextEdit="1"/>
          </p:cNvSpPr>
          <p:nvPr>
            <p:ph type="sldImg"/>
          </p:nvPr>
        </p:nvSpPr>
        <p:spPr>
          <a:ln/>
        </p:spPr>
      </p:sp>
      <p:sp>
        <p:nvSpPr>
          <p:cNvPr id="38916" name="Rectangle 3"/>
          <p:cNvSpPr>
            <a:spLocks noGrp="1"/>
          </p:cNvSpPr>
          <p:nvPr>
            <p:ph type="body" idx="1"/>
          </p:nvPr>
        </p:nvSpPr>
        <p:spPr>
          <a:ln/>
        </p:spPr>
        <p:txBody>
          <a:bodyPr wrap="square" lIns="95667" tIns="50185" rIns="95667" bIns="50185" anchor="t" anchorCtr="0"/>
          <a:p>
            <a:pPr lvl="0">
              <a:buNone/>
            </a:pPr>
            <a:r>
              <a:rPr lang="en-US" altLang="en-US" dirty="0"/>
              <a:t>Slide 21 – Central Processing Unit (CPU)</a:t>
            </a:r>
            <a:endParaRPr lang="en-US" altLang="en-US" dirty="0"/>
          </a:p>
          <a:p>
            <a:pPr lvl="0">
              <a:buNone/>
            </a:pPr>
            <a:r>
              <a:rPr lang="en-US" altLang="ja-JP" dirty="0">
                <a:ea typeface="MS PGothic" panose="020B0600070205080204" pitchFamily="34" charset="-128"/>
              </a:rPr>
              <a:t>1.4.2 Identify the names, purposes, and characteristics of CPUs </a:t>
            </a:r>
            <a:endParaRPr lang="en-US" altLang="ja-JP" dirty="0">
              <a:ea typeface="MS PGothic" panose="020B0600070205080204" pitchFamily="34" charset="-128"/>
            </a:endParaRPr>
          </a:p>
          <a:p>
            <a:pPr lvl="0"/>
            <a:r>
              <a:rPr lang="en-US" altLang="ja-JP" dirty="0">
                <a:ea typeface="MS PGothic" panose="020B0600070205080204" pitchFamily="34" charset="-128"/>
              </a:rPr>
              <a:t>The central processing unit (CPU) is considered the brain of the computer. It is sometimes referred to as the processor. Most calculations take place in the CPU. In terms of computing power, the CPU is the most important element of a computer system. CPUs come in different form factors, each style requiring a particular slot or socket on the motherboard. Common CPU manufacturers include Intel and AMD.</a:t>
            </a:r>
            <a:endParaRPr lang="en-US" altLang="ja-JP" dirty="0">
              <a:ea typeface="MS PGothic" panose="020B0600070205080204" pitchFamily="34" charset="-128"/>
            </a:endParaRPr>
          </a:p>
          <a:p>
            <a:pPr lvl="0"/>
            <a:r>
              <a:rPr lang="en-US" altLang="ja-JP" dirty="0">
                <a:ea typeface="MS PGothic" panose="020B0600070205080204" pitchFamily="34" charset="-128"/>
              </a:rPr>
              <a:t>The CPU socket or slot is the connector that interfaces between the motherboard and the processor itself. Most CPU sockets and processors in use today are built around the pin grid array (PGA) architecture, in which the pins on the underside of the processor are inserted into the socket, usually with zero insertion force (ZIF). ZIF refers to the amount of force needed to install a CPU into the motherboard socket or slot. Slot-based processors are cartridge-shaped and fit into a slot that looks similar to an expansion slot. </a:t>
            </a:r>
            <a:endParaRPr lang="en-US" altLang="ja-JP" dirty="0">
              <a:ea typeface="MS PGothic" panose="020B0600070205080204" pitchFamily="34" charset="-128"/>
            </a:endParaRPr>
          </a:p>
          <a:p>
            <a:pPr lvl="0"/>
            <a:r>
              <a:rPr lang="en-US" altLang="ja-JP" dirty="0">
                <a:ea typeface="MS PGothic" panose="020B0600070205080204" pitchFamily="34" charset="-128"/>
              </a:rPr>
              <a:t>The CPU executes a program, which is a sequence of stored instructions. Each model of processor has an instruction set, which it executes. The CPU executes the program by processing each piece of data as directed by the program and the instruction set. While the CPU is executing one step of the program, the remaining instructions and the data are stored nearby in a special memory called cache. There are two major CPU architectures related to instruction sets:</a:t>
            </a:r>
            <a:endParaRPr lang="en-US" altLang="ja-JP" dirty="0">
              <a:ea typeface="MS PGothic" panose="020B0600070205080204" pitchFamily="34" charset="-128"/>
            </a:endParaRPr>
          </a:p>
          <a:p>
            <a:pPr lvl="1"/>
            <a:r>
              <a:rPr lang="en-US" altLang="ja-JP" b="1" dirty="0">
                <a:ea typeface="MS PGothic" panose="020B0600070205080204" pitchFamily="34" charset="-128"/>
              </a:rPr>
              <a:t>Reduced Instruction Set Computer (RISC)</a:t>
            </a:r>
            <a:r>
              <a:rPr lang="en-US" altLang="ja-JP" dirty="0">
                <a:ea typeface="MS PGothic" panose="020B0600070205080204" pitchFamily="34" charset="-128"/>
              </a:rPr>
              <a:t> – Architectures use a relatively small set of instructions, and RISC chips are designed to execute these instructions very rapidly. </a:t>
            </a:r>
            <a:endParaRPr lang="en-US" altLang="ja-JP" dirty="0">
              <a:ea typeface="MS PGothic" panose="020B0600070205080204" pitchFamily="34" charset="-128"/>
            </a:endParaRPr>
          </a:p>
          <a:p>
            <a:pPr lvl="1"/>
            <a:r>
              <a:rPr lang="en-US" altLang="ja-JP" b="1" dirty="0">
                <a:ea typeface="MS PGothic" panose="020B0600070205080204" pitchFamily="34" charset="-128"/>
              </a:rPr>
              <a:t>Complex Instruction Set Computer (CISC)</a:t>
            </a:r>
            <a:r>
              <a:rPr lang="en-US" altLang="ja-JP" dirty="0">
                <a:ea typeface="MS PGothic" panose="020B0600070205080204" pitchFamily="34" charset="-128"/>
              </a:rPr>
              <a:t> – Architectures use a broad set of instructions, resulting in fewer steps per operation. </a:t>
            </a:r>
            <a:endParaRPr lang="en-US" altLang="ja-JP" dirty="0">
              <a:ea typeface="MS PGothic"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44035" name="Rectangle 2"/>
          <p:cNvSpPr>
            <a:spLocks noChangeAspect="1" noTextEdit="1"/>
          </p:cNvSpPr>
          <p:nvPr>
            <p:ph type="sldImg"/>
          </p:nvPr>
        </p:nvSpPr>
        <p:spPr>
          <a:ln/>
        </p:spPr>
      </p:sp>
      <p:sp>
        <p:nvSpPr>
          <p:cNvPr id="44036" name="Rectangle 3"/>
          <p:cNvSpPr>
            <a:spLocks noGrp="1"/>
          </p:cNvSpPr>
          <p:nvPr>
            <p:ph type="body" idx="1"/>
          </p:nvPr>
        </p:nvSpPr>
        <p:spPr>
          <a:ln/>
        </p:spPr>
        <p:txBody>
          <a:bodyPr wrap="square" lIns="95667" tIns="50185" rIns="95667" bIns="50185" anchor="t" anchorCtr="0"/>
          <a:p>
            <a:pPr lvl="0">
              <a:buNone/>
            </a:pPr>
            <a:r>
              <a:rPr lang="en-US" altLang="en-US" dirty="0"/>
              <a:t>Slide 23 – Cooling Systems</a:t>
            </a:r>
            <a:endParaRPr lang="en-US" altLang="en-US" dirty="0"/>
          </a:p>
          <a:p>
            <a:pPr lvl="0">
              <a:buNone/>
            </a:pPr>
            <a:r>
              <a:rPr lang="en-US" altLang="ja-JP" dirty="0">
                <a:ea typeface="MS PGothic" panose="020B0600070205080204" pitchFamily="34" charset="-128"/>
              </a:rPr>
              <a:t>1.4.3 Identify the names, purposes, and characteristics of cooling systems </a:t>
            </a:r>
            <a:endParaRPr lang="en-US" altLang="ja-JP" dirty="0">
              <a:ea typeface="MS PGothic" panose="020B0600070205080204" pitchFamily="34" charset="-128"/>
            </a:endParaRPr>
          </a:p>
          <a:p>
            <a:pPr lvl="0"/>
            <a:r>
              <a:rPr lang="en-US" altLang="en-US" dirty="0"/>
              <a:t>Electronic components generate heat. Heat is caused by the flow of current within the components. Computer components perform better when kept cool. If the heat is not removed, the computer may run slower. If too much heat builds up, computer components can be damaged.</a:t>
            </a:r>
            <a:endParaRPr lang="en-US" altLang="en-US" dirty="0"/>
          </a:p>
          <a:p>
            <a:pPr lvl="0"/>
            <a:r>
              <a:rPr lang="en-US" altLang="en-US" dirty="0"/>
              <a:t>Increasing the air flow in the computer case allows more heat to be removed. A case fan is installed in the computer case to make the cooling process more efficient.</a:t>
            </a:r>
            <a:endParaRPr lang="en-US" altLang="en-US" dirty="0"/>
          </a:p>
          <a:p>
            <a:pPr lvl="0"/>
            <a:r>
              <a:rPr lang="en-US" altLang="en-US" dirty="0"/>
              <a:t>In addition to case fans, a heat sink draws heat away from the core of the CPU. A fan on top of the heat sink moves the heat away from the CPU. </a:t>
            </a:r>
            <a:endParaRPr lang="en-US" altLang="en-US" dirty="0"/>
          </a:p>
          <a:p>
            <a:pPr lvl="0"/>
            <a:r>
              <a:rPr lang="en-US" altLang="en-US" dirty="0"/>
              <a:t>Other components are also susceptible to heat damage and are sometimes equipped with fans. Video adapter cards also produce a great deal of heat. Fans are dedicated to cool the graphics-processing unit (GPU). </a:t>
            </a:r>
            <a:endParaRPr lang="en-US" altLang="en-US" dirty="0"/>
          </a:p>
          <a:p>
            <a:pPr lvl="0"/>
            <a:r>
              <a:rPr lang="en-US" altLang="en-US" dirty="0"/>
              <a:t>Computers with extremely fast CPUs and GPUs may use a water-cooling system. A metal plate is placed over the processor and water is pumped over the top to collect the heat that the CPU creates. The water is pumped to a radiator to be cooled by the air, and then re-circulated.</a:t>
            </a:r>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46083" name="Rectangle 2"/>
          <p:cNvSpPr>
            <a:spLocks noChangeAspect="1" noTextEdit="1"/>
          </p:cNvSpPr>
          <p:nvPr>
            <p:ph type="sldImg"/>
          </p:nvPr>
        </p:nvSpPr>
        <p:spPr>
          <a:ln/>
        </p:spPr>
      </p:sp>
      <p:sp>
        <p:nvSpPr>
          <p:cNvPr id="46084" name="Rectangle 3"/>
          <p:cNvSpPr>
            <a:spLocks noGrp="1"/>
          </p:cNvSpPr>
          <p:nvPr>
            <p:ph type="body" idx="1"/>
          </p:nvPr>
        </p:nvSpPr>
        <p:spPr>
          <a:ln/>
        </p:spPr>
        <p:txBody>
          <a:bodyPr wrap="square" lIns="95667" tIns="50185" rIns="95667" bIns="50185" anchor="t" anchorCtr="0"/>
          <a:p>
            <a:pPr lvl="0">
              <a:buNone/>
            </a:pPr>
            <a:r>
              <a:rPr lang="en-US" altLang="en-US" dirty="0"/>
              <a:t>Slide 24 – Read-only Memory (ROM)</a:t>
            </a:r>
            <a:endParaRPr lang="en-US" altLang="en-US" dirty="0"/>
          </a:p>
          <a:p>
            <a:pPr lvl="0">
              <a:buNone/>
            </a:pPr>
            <a:r>
              <a:rPr lang="en-US" altLang="ja-JP" dirty="0">
                <a:ea typeface="MS PGothic" panose="020B0600070205080204" pitchFamily="34" charset="-128"/>
              </a:rPr>
              <a:t>1.4.4 Identify the names, purposes, and characteristics of ROM and RAM </a:t>
            </a:r>
            <a:endParaRPr lang="en-US" altLang="ja-JP" dirty="0">
              <a:ea typeface="MS PGothic" panose="020B0600070205080204" pitchFamily="34" charset="-128"/>
            </a:endParaRPr>
          </a:p>
          <a:p>
            <a:pPr lvl="0">
              <a:buNone/>
            </a:pPr>
            <a:r>
              <a:rPr lang="en-US" altLang="en-US" dirty="0"/>
              <a:t>Read-only memory (ROM) chips are located on the motherboard. ROM chips contain instructions that can be directly accessed by the CPU. Basic instructions for booting the computer and loading the operating system are stored in ROM. ROM chips retain their contents even when the computer is powered down. The contents cannot be erased or changed by normal means. </a:t>
            </a:r>
            <a:endParaRPr lang="en-US" altLang="en-US" b="1" dirty="0"/>
          </a:p>
          <a:p>
            <a:pPr lvl="0">
              <a:buNone/>
            </a:pPr>
            <a:r>
              <a:rPr lang="en-US" altLang="en-US" b="1" dirty="0"/>
              <a:t>NOTE:</a:t>
            </a:r>
            <a:r>
              <a:rPr lang="en-US" altLang="en-US" dirty="0"/>
              <a:t> ROM is sometimes called firmware. This is misleading because firmware is actually the software that is stored in a ROM chip.</a:t>
            </a:r>
            <a:endParaRPr lang="en-US" altLang="en-US" dirty="0"/>
          </a:p>
          <a:p>
            <a:pPr lvl="0">
              <a:buNone/>
            </a:pPr>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48131" name="Rectangle 2"/>
          <p:cNvSpPr>
            <a:spLocks noChangeAspect="1" noTextEdit="1"/>
          </p:cNvSpPr>
          <p:nvPr>
            <p:ph type="sldImg"/>
          </p:nvPr>
        </p:nvSpPr>
        <p:spPr>
          <a:ln/>
        </p:spPr>
      </p:sp>
      <p:sp>
        <p:nvSpPr>
          <p:cNvPr id="48132" name="Rectangle 3"/>
          <p:cNvSpPr>
            <a:spLocks noGrp="1"/>
          </p:cNvSpPr>
          <p:nvPr>
            <p:ph type="body" idx="1"/>
          </p:nvPr>
        </p:nvSpPr>
        <p:spPr>
          <a:ln/>
        </p:spPr>
        <p:txBody>
          <a:bodyPr wrap="square" lIns="95667" tIns="50185" rIns="95667" bIns="50185" anchor="t" anchorCtr="0"/>
          <a:p>
            <a:pPr lvl="0">
              <a:buNone/>
            </a:pPr>
            <a:r>
              <a:rPr lang="en-US" altLang="en-US" dirty="0"/>
              <a:t>Slide 25 – Random-access Memory (RAM)</a:t>
            </a:r>
            <a:endParaRPr lang="en-US" altLang="en-US" dirty="0"/>
          </a:p>
          <a:p>
            <a:pPr lvl="0">
              <a:buNone/>
            </a:pPr>
            <a:r>
              <a:rPr lang="en-US" altLang="ja-JP" dirty="0">
                <a:ea typeface="MS PGothic" panose="020B0600070205080204" pitchFamily="34" charset="-128"/>
              </a:rPr>
              <a:t>1.4.4 Identify the names, purposes, and characteristics of ROM and RAM </a:t>
            </a:r>
            <a:endParaRPr lang="en-US" altLang="ja-JP" dirty="0">
              <a:ea typeface="MS PGothic" panose="020B0600070205080204" pitchFamily="34" charset="-128"/>
            </a:endParaRPr>
          </a:p>
          <a:p>
            <a:pPr lvl="0">
              <a:buNone/>
            </a:pPr>
            <a:r>
              <a:rPr lang="en-US" altLang="en-US" dirty="0"/>
              <a:t>Random access memory (RAM) is the temporary storage for data and programs that are being accessed by the CPU. RAM is volatile memory, which means that the contents are erased when the computer is powered off. The more RAM in a computer, the more capacity the computer has to hold and process large programs and files, as well as enhance system performance. The different types of RAM are: </a:t>
            </a:r>
            <a:endParaRPr lang="en-US" altLang="en-US" dirty="0"/>
          </a:p>
          <a:p>
            <a:pPr lvl="0"/>
            <a:r>
              <a:rPr lang="en-US" altLang="en-US" b="1" dirty="0"/>
              <a:t>Dynamic Random Access Memory (DRAM)</a:t>
            </a:r>
            <a:r>
              <a:rPr lang="en-US" altLang="en-US" dirty="0"/>
              <a:t> is a memory chip that is used as main memory. DRAM must be constantly refreshed with pulses of electricity in order to maintain the data stored within a chip. </a:t>
            </a:r>
            <a:endParaRPr lang="en-US" altLang="en-US" b="1" dirty="0"/>
          </a:p>
          <a:p>
            <a:pPr lvl="0"/>
            <a:r>
              <a:rPr lang="en-US" altLang="en-US" b="1" dirty="0"/>
              <a:t>Static Random Access Memory (SRAM)</a:t>
            </a:r>
            <a:r>
              <a:rPr lang="en-US" altLang="en-US" dirty="0"/>
              <a:t> is a memory chip that is used as cache memory. SRAM is much faster than DRAM and does not have to be refreshed as often.</a:t>
            </a:r>
            <a:endParaRPr lang="en-US" altLang="en-US" dirty="0"/>
          </a:p>
          <a:p>
            <a:pPr lvl="0"/>
            <a:r>
              <a:rPr lang="en-US" altLang="en-US" b="1" dirty="0"/>
              <a:t>Fast Page Mode DRAM (FPM Memory)</a:t>
            </a:r>
            <a:r>
              <a:rPr lang="en-US" altLang="en-US" dirty="0"/>
              <a:t> is memory that supports paging. Paging enables faster access to the data than regular DRAM. Most 486 and Pentium systems from 1995 and earlier use FPM memory.</a:t>
            </a:r>
            <a:endParaRPr lang="en-US" altLang="en-US" dirty="0"/>
          </a:p>
          <a:p>
            <a:pPr lvl="0"/>
            <a:r>
              <a:rPr lang="en-US" altLang="en-US" b="1" dirty="0"/>
              <a:t>Extended Data Out RAM (EDO Memory)</a:t>
            </a:r>
            <a:r>
              <a:rPr lang="en-US" altLang="en-US" dirty="0"/>
              <a:t> is memory that overlaps consecutive data accesses. This speeds up the access time to retrieve data from memory, because the CPU does not have to wait fro one data access cycle to end before another data access cycle begins.</a:t>
            </a:r>
            <a:endParaRPr lang="en-US" altLang="en-US" dirty="0"/>
          </a:p>
          <a:p>
            <a:pPr lvl="0"/>
            <a:r>
              <a:rPr lang="en-US" altLang="en-US" b="1" dirty="0"/>
              <a:t>Synchronous DRAM (SDRAM)</a:t>
            </a:r>
            <a:r>
              <a:rPr lang="en-US" altLang="en-US" dirty="0"/>
              <a:t> is DRAM that operates in synchronization with the memory bus. The memory bus is the data path between the CPU and the main memory.</a:t>
            </a:r>
            <a:endParaRPr lang="en-US" altLang="en-US" dirty="0"/>
          </a:p>
          <a:p>
            <a:pPr lvl="0"/>
            <a:r>
              <a:rPr lang="en-US" altLang="en-US" b="1" dirty="0"/>
              <a:t>Double Data Rate SDRAM (DDR SDRAM)</a:t>
            </a:r>
            <a:r>
              <a:rPr lang="en-US" altLang="en-US" dirty="0"/>
              <a:t> is memory that transfers data twice as fast a SDRAM. DDR SDRAM increases performance by transferring data twice per cycle.</a:t>
            </a:r>
            <a:endParaRPr lang="en-US" altLang="en-US" dirty="0"/>
          </a:p>
          <a:p>
            <a:pPr lvl="0"/>
            <a:r>
              <a:rPr lang="en-US" altLang="en-US" b="1" dirty="0"/>
              <a:t>Double Data Rate 2 SDRAM (DDR2 SDRAM)</a:t>
            </a:r>
            <a:r>
              <a:rPr lang="en-US" altLang="en-US" dirty="0"/>
              <a:t> is faster than DDR SDRAM memory. DDR2 SDRAM improves performance over DDR SDRAM by decreasing noise and crosstalk between the signal wires.</a:t>
            </a:r>
            <a:endParaRPr lang="en-US" altLang="en-US" dirty="0"/>
          </a:p>
          <a:p>
            <a:pPr lvl="0"/>
            <a:r>
              <a:rPr lang="en-US" altLang="en-US" b="1" dirty="0"/>
              <a:t>RAMBus DRAM (RDRAM)</a:t>
            </a:r>
            <a:r>
              <a:rPr lang="en-US" altLang="en-US" dirty="0"/>
              <a:t> is a memory chip that was developed to communicate at very high rates of speed. RDRAM chips are not commonly used.</a:t>
            </a:r>
            <a:endParaRPr lang="en-US" altLang="en-US" dirty="0"/>
          </a:p>
          <a:p>
            <a:pPr lvl="0"/>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50179" name="Rectangle 2"/>
          <p:cNvSpPr>
            <a:spLocks noChangeAspect="1" noTextEdit="1"/>
          </p:cNvSpPr>
          <p:nvPr>
            <p:ph type="sldImg"/>
          </p:nvPr>
        </p:nvSpPr>
        <p:spPr>
          <a:ln/>
        </p:spPr>
      </p:sp>
      <p:sp>
        <p:nvSpPr>
          <p:cNvPr id="50180" name="Rectangle 3"/>
          <p:cNvSpPr>
            <a:spLocks noGrp="1"/>
          </p:cNvSpPr>
          <p:nvPr>
            <p:ph type="body" idx="1"/>
          </p:nvPr>
        </p:nvSpPr>
        <p:spPr>
          <a:ln/>
        </p:spPr>
        <p:txBody>
          <a:bodyPr wrap="square" lIns="95667" tIns="50185" rIns="95667" bIns="50185" anchor="t" anchorCtr="0"/>
          <a:p>
            <a:pPr lvl="0">
              <a:buNone/>
            </a:pPr>
            <a:r>
              <a:rPr lang="en-US" altLang="en-US" dirty="0"/>
              <a:t>Slide 26 – Memory Modules</a:t>
            </a:r>
            <a:endParaRPr lang="en-US" altLang="en-US" dirty="0"/>
          </a:p>
          <a:p>
            <a:pPr lvl="0">
              <a:buNone/>
            </a:pPr>
            <a:r>
              <a:rPr lang="en-US" altLang="ja-JP" dirty="0">
                <a:ea typeface="MS PGothic" panose="020B0600070205080204" pitchFamily="34" charset="-128"/>
              </a:rPr>
              <a:t>1.4.4 Identify the names, purposes, and characteristics of ROM and RAM </a:t>
            </a:r>
            <a:endParaRPr lang="en-US" altLang="ja-JP" dirty="0">
              <a:ea typeface="MS PGothic" panose="020B0600070205080204" pitchFamily="34" charset="-128"/>
            </a:endParaRPr>
          </a:p>
          <a:p>
            <a:pPr lvl="0">
              <a:buNone/>
            </a:pPr>
            <a:r>
              <a:rPr lang="en-US" altLang="en-US" dirty="0"/>
              <a:t>Early computers had RAM installed on the motherboard as individual chips. The individual memory chips, called dual inline package (DIP) chips, were difficult to install and often became loose on the motherboard. To solve this problem, designers soldered the memory chips on a special circuit board called a memory module. The different types of memory modules are:</a:t>
            </a:r>
            <a:endParaRPr lang="en-US" altLang="en-US" dirty="0"/>
          </a:p>
          <a:p>
            <a:pPr lvl="0"/>
            <a:r>
              <a:rPr lang="en-US" altLang="en-US" dirty="0"/>
              <a:t>Dual Inline Package (</a:t>
            </a:r>
            <a:r>
              <a:rPr lang="en-US" altLang="en-US" b="1" dirty="0"/>
              <a:t>DIP</a:t>
            </a:r>
            <a:r>
              <a:rPr lang="en-US" altLang="en-US" dirty="0"/>
              <a:t>) is an individual memory chip. A DIP had dual rows of pins used to attach it to the motherboard.</a:t>
            </a:r>
            <a:endParaRPr lang="en-US" altLang="en-US" dirty="0"/>
          </a:p>
          <a:p>
            <a:pPr lvl="0"/>
            <a:r>
              <a:rPr lang="en-US" altLang="en-US" dirty="0"/>
              <a:t>Single Inline Memory Module (</a:t>
            </a:r>
            <a:r>
              <a:rPr lang="en-US" altLang="en-US" b="1" dirty="0"/>
              <a:t>SIMM</a:t>
            </a:r>
            <a:r>
              <a:rPr lang="en-US" altLang="en-US" dirty="0"/>
              <a:t>) is a small circuit board that holds several memory chips. SIMMs have 30-pin and 72-pin configurations.</a:t>
            </a:r>
            <a:endParaRPr lang="en-US" altLang="en-US" dirty="0"/>
          </a:p>
          <a:p>
            <a:pPr lvl="0"/>
            <a:r>
              <a:rPr lang="en-US" altLang="en-US" dirty="0"/>
              <a:t>Dual Inline Memory Module (</a:t>
            </a:r>
            <a:r>
              <a:rPr lang="en-US" altLang="en-US" b="1" dirty="0"/>
              <a:t>DIMM</a:t>
            </a:r>
            <a:r>
              <a:rPr lang="en-US" altLang="en-US" dirty="0"/>
              <a:t>) is a circuit board that holds SDRAM, DDR SDRAM, and DDR2 SDRAM chips. There are 168-pin SDRAM DIMMs, 184-pin DDR DIMMs, and 240-pin DDR2 DIMMs.</a:t>
            </a:r>
            <a:endParaRPr lang="en-US" altLang="en-US" dirty="0"/>
          </a:p>
          <a:p>
            <a:pPr lvl="0"/>
            <a:r>
              <a:rPr lang="en-US" altLang="en-US" dirty="0"/>
              <a:t>RAM Bus Inline Memory Module (</a:t>
            </a:r>
            <a:r>
              <a:rPr lang="en-US" altLang="en-US" b="1" dirty="0"/>
              <a:t>RIMM</a:t>
            </a:r>
            <a:r>
              <a:rPr lang="en-US" altLang="en-US" dirty="0"/>
              <a:t>) is a circuit board that holds RDRAM chips. A typical RIMM has a 184-pin configuration.</a:t>
            </a:r>
            <a:endParaRPr lang="en-US" altLang="en-US" dirty="0"/>
          </a:p>
          <a:p>
            <a:pPr lvl="0">
              <a:buNone/>
            </a:pPr>
            <a:r>
              <a:rPr lang="en-US" altLang="en-US" b="1" dirty="0"/>
              <a:t>NOTE:</a:t>
            </a:r>
            <a:r>
              <a:rPr lang="en-US" altLang="en-US" dirty="0"/>
              <a:t> Memory modules can be single-sided or double-sided. Single-sided memory modules only contain RAM on one side of the module. Double-sided memory modules contain RAM on both sides of the module. </a:t>
            </a:r>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52227" name="Rectangle 2"/>
          <p:cNvSpPr>
            <a:spLocks noChangeAspect="1" noTextEdit="1"/>
          </p:cNvSpPr>
          <p:nvPr>
            <p:ph type="sldImg"/>
          </p:nvPr>
        </p:nvSpPr>
        <p:spPr>
          <a:ln/>
        </p:spPr>
      </p:sp>
      <p:sp>
        <p:nvSpPr>
          <p:cNvPr id="52228" name="Rectangle 3"/>
          <p:cNvSpPr>
            <a:spLocks noGrp="1"/>
          </p:cNvSpPr>
          <p:nvPr>
            <p:ph type="body" idx="1"/>
          </p:nvPr>
        </p:nvSpPr>
        <p:spPr>
          <a:ln/>
        </p:spPr>
        <p:txBody>
          <a:bodyPr wrap="square" lIns="95667" tIns="50185" rIns="95667" bIns="50185" anchor="t" anchorCtr="0"/>
          <a:p>
            <a:pPr lvl="0">
              <a:buNone/>
            </a:pPr>
            <a:r>
              <a:rPr lang="en-US" altLang="en-US" dirty="0"/>
              <a:t>Slide 27 – Cache and Error Checking</a:t>
            </a:r>
            <a:endParaRPr lang="en-US" altLang="en-US" dirty="0"/>
          </a:p>
          <a:p>
            <a:pPr lvl="0">
              <a:buNone/>
            </a:pPr>
            <a:r>
              <a:rPr lang="en-US" altLang="ja-JP" dirty="0">
                <a:ea typeface="MS PGothic" panose="020B0600070205080204" pitchFamily="34" charset="-128"/>
              </a:rPr>
              <a:t>1.4.4 Identify the names, purposes, and characteristics of ROM and RAM </a:t>
            </a:r>
            <a:endParaRPr lang="en-US" altLang="ja-JP" dirty="0">
              <a:ea typeface="MS PGothic" panose="020B0600070205080204" pitchFamily="34" charset="-128"/>
            </a:endParaRPr>
          </a:p>
          <a:p>
            <a:pPr lvl="0">
              <a:buNone/>
            </a:pPr>
            <a:r>
              <a:rPr lang="en-US" altLang="ja-JP" b="1" dirty="0">
                <a:ea typeface="MS PGothic" panose="020B0600070205080204" pitchFamily="34" charset="-128"/>
              </a:rPr>
              <a:t>Cache</a:t>
            </a:r>
            <a:r>
              <a:rPr lang="en-US" altLang="ja-JP" dirty="0">
                <a:ea typeface="MS PGothic" panose="020B0600070205080204" pitchFamily="34" charset="-128"/>
              </a:rPr>
              <a:t> - SRAM is used as cache memory to store the most frequently used data. SRAM provides the processor with faster access to the data than retrieving it from the slower DRAM, or main memory. The three types of cache memory are:</a:t>
            </a:r>
            <a:endParaRPr lang="en-US" altLang="ja-JP" dirty="0">
              <a:ea typeface="MS PGothic" panose="020B0600070205080204" pitchFamily="34" charset="-128"/>
            </a:endParaRPr>
          </a:p>
          <a:p>
            <a:pPr lvl="0"/>
            <a:r>
              <a:rPr lang="en-US" altLang="ja-JP" dirty="0">
                <a:ea typeface="MS PGothic" panose="020B0600070205080204" pitchFamily="34" charset="-128"/>
              </a:rPr>
              <a:t>L1 cache is internal cache and is integrated into the CPU.</a:t>
            </a:r>
            <a:endParaRPr lang="en-US" altLang="ja-JP" dirty="0">
              <a:ea typeface="MS PGothic" panose="020B0600070205080204" pitchFamily="34" charset="-128"/>
            </a:endParaRPr>
          </a:p>
          <a:p>
            <a:pPr lvl="0"/>
            <a:r>
              <a:rPr lang="en-US" altLang="ja-JP" dirty="0">
                <a:ea typeface="MS PGothic" panose="020B0600070205080204" pitchFamily="34" charset="-128"/>
              </a:rPr>
              <a:t>L2 cache is external cache and was originally mounted on the motherboard near the CPU. L2 cache is now integrated into the CPU.</a:t>
            </a:r>
            <a:endParaRPr lang="en-US" altLang="ja-JP" dirty="0">
              <a:ea typeface="MS PGothic" panose="020B0600070205080204" pitchFamily="34" charset="-128"/>
            </a:endParaRPr>
          </a:p>
          <a:p>
            <a:pPr lvl="0"/>
            <a:r>
              <a:rPr lang="en-US" altLang="ja-JP" dirty="0">
                <a:ea typeface="MS PGothic" panose="020B0600070205080204" pitchFamily="34" charset="-128"/>
              </a:rPr>
              <a:t>L3 cache is used on some high-end workstations and server CPUs.</a:t>
            </a:r>
            <a:endParaRPr lang="en-US" altLang="ja-JP" dirty="0">
              <a:ea typeface="MS PGothic" panose="020B0600070205080204" pitchFamily="34" charset="-128"/>
            </a:endParaRPr>
          </a:p>
          <a:p>
            <a:pPr lvl="0">
              <a:buNone/>
            </a:pPr>
            <a:r>
              <a:rPr lang="en-US" altLang="ja-JP" b="1" dirty="0">
                <a:ea typeface="MS PGothic" panose="020B0600070205080204" pitchFamily="34" charset="-128"/>
              </a:rPr>
              <a:t>Error Checking - </a:t>
            </a:r>
            <a:r>
              <a:rPr lang="en-US" altLang="ja-JP" dirty="0">
                <a:ea typeface="MS PGothic" panose="020B0600070205080204" pitchFamily="34" charset="-128"/>
              </a:rPr>
              <a:t>Memory errors occur when the data is not stored correctly in the RAM chips. The computer uses different methods to detect and correct data errors in memory. Three different methods of memory error checking are:</a:t>
            </a:r>
            <a:endParaRPr lang="en-US" altLang="ja-JP" dirty="0">
              <a:ea typeface="MS PGothic" panose="020B0600070205080204" pitchFamily="34" charset="-128"/>
            </a:endParaRPr>
          </a:p>
          <a:p>
            <a:pPr lvl="0"/>
            <a:r>
              <a:rPr lang="en-US" altLang="ja-JP" dirty="0">
                <a:ea typeface="MS PGothic" panose="020B0600070205080204" pitchFamily="34" charset="-128"/>
              </a:rPr>
              <a:t>Nonparity memory does not check for errors in memory.</a:t>
            </a:r>
            <a:endParaRPr lang="en-US" altLang="ja-JP" dirty="0">
              <a:ea typeface="MS PGothic" panose="020B0600070205080204" pitchFamily="34" charset="-128"/>
            </a:endParaRPr>
          </a:p>
          <a:p>
            <a:pPr lvl="0"/>
            <a:r>
              <a:rPr lang="en-US" altLang="ja-JP" dirty="0">
                <a:ea typeface="MS PGothic" panose="020B0600070205080204" pitchFamily="34" charset="-128"/>
              </a:rPr>
              <a:t>Parity memory contains eight bits for data and one bit for error checking. The error-checking bit is called the parity bit.</a:t>
            </a:r>
            <a:endParaRPr lang="en-US" altLang="ja-JP" dirty="0">
              <a:ea typeface="MS PGothic" panose="020B0600070205080204" pitchFamily="34" charset="-128"/>
            </a:endParaRPr>
          </a:p>
          <a:p>
            <a:pPr lvl="0"/>
            <a:r>
              <a:rPr lang="en-US" altLang="ja-JP" dirty="0">
                <a:ea typeface="MS PGothic" panose="020B0600070205080204" pitchFamily="34" charset="-128"/>
              </a:rPr>
              <a:t>Error Correction Code (ECC) memory can detect multiple bit errors in memory and correct single bit errors in memory.</a:t>
            </a:r>
            <a:endParaRPr lang="en-US" altLang="ja-JP" dirty="0">
              <a:ea typeface="MS PGothic" panose="020B0600070205080204" pitchFamily="34" charset="-128"/>
            </a:endParaRPr>
          </a:p>
          <a:p>
            <a:pPr lvl="0"/>
            <a:r>
              <a:rPr lang="en-US" altLang="en-US" dirty="0"/>
              <a:t>is a hardware or software component that stores data so that future requests for that data can be served faster; the data stored in a </a:t>
            </a:r>
            <a:r>
              <a:rPr lang="en-US" altLang="en-US" b="1" dirty="0"/>
              <a:t>cache</a:t>
            </a:r>
            <a:r>
              <a:rPr lang="en-US" altLang="en-US" dirty="0"/>
              <a:t> might be the result of an earlier computation or a copy of data stored elsewhere</a:t>
            </a:r>
            <a:endParaRPr lang="en-US" altLang="ja-JP" dirty="0">
              <a:ea typeface="MS PGothic"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54275" name="Rectangle 2"/>
          <p:cNvSpPr>
            <a:spLocks noChangeAspect="1" noTextEdit="1"/>
          </p:cNvSpPr>
          <p:nvPr>
            <p:ph type="sldImg"/>
          </p:nvPr>
        </p:nvSpPr>
        <p:spPr>
          <a:ln/>
        </p:spPr>
      </p:sp>
      <p:sp>
        <p:nvSpPr>
          <p:cNvPr id="54276" name="Rectangle 3"/>
          <p:cNvSpPr>
            <a:spLocks noGrp="1"/>
          </p:cNvSpPr>
          <p:nvPr>
            <p:ph type="body" idx="1"/>
          </p:nvPr>
        </p:nvSpPr>
        <p:spPr>
          <a:ln/>
        </p:spPr>
        <p:txBody>
          <a:bodyPr wrap="square" lIns="95667" tIns="50185" rIns="95667" bIns="50185" anchor="t" anchorCtr="0"/>
          <a:p>
            <a:pPr lvl="0">
              <a:buNone/>
            </a:pPr>
            <a:r>
              <a:rPr lang="en-US" altLang="en-US" dirty="0"/>
              <a:t>Slide 28 – Adapter Cards</a:t>
            </a:r>
            <a:endParaRPr lang="en-US" altLang="en-US" dirty="0"/>
          </a:p>
          <a:p>
            <a:pPr lvl="0">
              <a:buNone/>
            </a:pPr>
            <a:r>
              <a:rPr lang="en-US" altLang="ja-JP" dirty="0">
                <a:ea typeface="MS PGothic" panose="020B0600070205080204" pitchFamily="34" charset="-128"/>
              </a:rPr>
              <a:t>1.4.5 Identify the names, purposes, and characteristics of adapter cards </a:t>
            </a:r>
            <a:endParaRPr lang="en-US" altLang="ja-JP" dirty="0">
              <a:ea typeface="MS PGothic" panose="020B0600070205080204" pitchFamily="34" charset="-128"/>
            </a:endParaRPr>
          </a:p>
          <a:p>
            <a:pPr lvl="0">
              <a:buNone/>
            </a:pPr>
            <a:r>
              <a:rPr lang="en-US" altLang="en-US" dirty="0"/>
              <a:t>Adapter cards increase the functionality of a computer by adding controllers for specific devices or by replacing malfunctioning ports. Adapter cards are used to expand and customize the capability of the computer: </a:t>
            </a:r>
            <a:endParaRPr lang="en-US" altLang="en-US" dirty="0"/>
          </a:p>
          <a:p>
            <a:pPr lvl="0"/>
            <a:r>
              <a:rPr lang="en-US" altLang="en-US" dirty="0"/>
              <a:t>NIC - Connects computer to a network using a network cable </a:t>
            </a:r>
            <a:endParaRPr lang="en-US" altLang="en-US" dirty="0"/>
          </a:p>
          <a:p>
            <a:pPr lvl="0"/>
            <a:r>
              <a:rPr lang="en-US" altLang="en-US" dirty="0"/>
              <a:t>Wireless NIC - Connects computer to a network using radio frequencies </a:t>
            </a:r>
            <a:endParaRPr lang="en-US" altLang="en-US" dirty="0"/>
          </a:p>
          <a:p>
            <a:pPr lvl="0"/>
            <a:r>
              <a:rPr lang="en-US" altLang="en-US" dirty="0"/>
              <a:t>Sound adapter - Provides audio capability</a:t>
            </a:r>
            <a:endParaRPr lang="en-US" altLang="en-US" dirty="0"/>
          </a:p>
          <a:p>
            <a:pPr lvl="0"/>
            <a:r>
              <a:rPr lang="en-US" altLang="en-US" dirty="0"/>
              <a:t>Video adapter - Provides graphic capability</a:t>
            </a:r>
            <a:endParaRPr lang="en-US" altLang="en-US" dirty="0"/>
          </a:p>
          <a:p>
            <a:pPr lvl="0"/>
            <a:r>
              <a:rPr lang="en-US" altLang="en-US" dirty="0"/>
              <a:t>Modem adapter - Connects a computer to the Internet using a phone line</a:t>
            </a:r>
            <a:endParaRPr lang="en-US" altLang="en-US" dirty="0"/>
          </a:p>
          <a:p>
            <a:pPr lvl="0"/>
            <a:r>
              <a:rPr lang="en-US" altLang="en-US" dirty="0"/>
              <a:t>SCSI adapter - Connects SCSI devices, such as hard drives or tape drives, to a computer </a:t>
            </a:r>
            <a:endParaRPr lang="en-US" altLang="en-US" dirty="0"/>
          </a:p>
          <a:p>
            <a:pPr lvl="0"/>
            <a:r>
              <a:rPr lang="en-US" altLang="en-US" dirty="0"/>
              <a:t>RAID adapter - Connects multiple hard drives to a computer to provide redundancy and improve performance</a:t>
            </a:r>
            <a:endParaRPr lang="en-US" altLang="en-US" dirty="0"/>
          </a:p>
          <a:p>
            <a:pPr lvl="0"/>
            <a:r>
              <a:rPr lang="en-US" altLang="en-US" dirty="0"/>
              <a:t>USB port - Connects a computer to peripheral devices</a:t>
            </a:r>
            <a:endParaRPr lang="en-US" altLang="en-US" dirty="0"/>
          </a:p>
          <a:p>
            <a:pPr lvl="0"/>
            <a:r>
              <a:rPr lang="en-US" altLang="en-US" dirty="0"/>
              <a:t>Parallel port - Connects a computer to peripheral devices</a:t>
            </a:r>
            <a:endParaRPr lang="en-US" altLang="en-US" dirty="0"/>
          </a:p>
          <a:p>
            <a:pPr lvl="0"/>
            <a:r>
              <a:rPr lang="en-US" altLang="en-US" dirty="0"/>
              <a:t>Serial port - Connects a computer to peripheral devices</a:t>
            </a:r>
            <a:endParaRPr lang="en-US" altLang="en-US" dirty="0"/>
          </a:p>
          <a:p>
            <a:pPr lvl="0">
              <a:buNone/>
            </a:pPr>
            <a:r>
              <a:rPr lang="en-US" altLang="en-US" dirty="0"/>
              <a:t>Computers have expansion slots on the motherboard to install adapter cards. The type of adapter card connector must match the expansion slot. A riser card was used in computer systems with the LPX form factor to allow adapter cards to be installed horizontally. The riser card was mainly used in slim-line desktop computers. The different types of expansion slots are:</a:t>
            </a:r>
            <a:endParaRPr lang="en-US" altLang="en-US" dirty="0"/>
          </a:p>
          <a:p>
            <a:pPr lvl="0"/>
            <a:r>
              <a:rPr lang="en-US" altLang="en-US" dirty="0"/>
              <a:t>Industry Standard Architecture (ISA) is an 8-bit or 16-bit expansion slot. This is older technology and is seldom used.</a:t>
            </a:r>
            <a:endParaRPr lang="en-US" altLang="en-US" dirty="0"/>
          </a:p>
          <a:p>
            <a:pPr lvl="0"/>
            <a:r>
              <a:rPr lang="en-US" altLang="en-US" dirty="0"/>
              <a:t>Extended Industry Standard Architecture (EISA) is a 32-bit expansion slot. This is older technology and is seldom used.</a:t>
            </a:r>
            <a:endParaRPr lang="en-US" altLang="en-US" dirty="0"/>
          </a:p>
          <a:p>
            <a:pPr lvl="0"/>
            <a:r>
              <a:rPr lang="en-US" altLang="en-US" dirty="0"/>
              <a:t>Microchannel Architecture (MCA) is an IBM-proprietary 32-bit expansion slot. This is older technology and is seldom used.</a:t>
            </a:r>
            <a:endParaRPr lang="en-US" altLang="en-US" dirty="0"/>
          </a:p>
          <a:p>
            <a:pPr lvl="0"/>
            <a:r>
              <a:rPr lang="en-US" altLang="en-US" dirty="0"/>
              <a:t>Peripheral Component Interconnect (PCI) is a 32-bit or 64-bit expansion slot. PCI is the standard slot currently used in most computers.</a:t>
            </a:r>
            <a:endParaRPr lang="en-US" altLang="en-US" dirty="0"/>
          </a:p>
          <a:p>
            <a:pPr lvl="0"/>
            <a:r>
              <a:rPr lang="en-US" altLang="en-US" dirty="0"/>
              <a:t>Advanced Graphics Port (AGP) is a 32-bit expansion slot. AGP is designed for video adapters.</a:t>
            </a:r>
            <a:endParaRPr lang="en-US" altLang="en-US" dirty="0"/>
          </a:p>
          <a:p>
            <a:pPr lvl="0"/>
            <a:r>
              <a:rPr lang="en-US" altLang="en-US" dirty="0"/>
              <a:t>PCI-Express is a serial bus expansion slot. PCI-Express is backward compatible with PCI parallel slot. PCI-Express has x1, x4, x8, and x16 slots.</a:t>
            </a:r>
            <a:endParaRPr lang="en-US" altLang="en-US" dirty="0"/>
          </a:p>
          <a:p>
            <a:pPr lvl="0">
              <a:buNone/>
            </a:pPr>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56323" name="Rectangle 2"/>
          <p:cNvSpPr>
            <a:spLocks noChangeAspect="1" noTextEdit="1"/>
          </p:cNvSpPr>
          <p:nvPr>
            <p:ph type="sldImg"/>
          </p:nvPr>
        </p:nvSpPr>
        <p:spPr>
          <a:ln/>
        </p:spPr>
      </p:sp>
      <p:sp>
        <p:nvSpPr>
          <p:cNvPr id="56324" name="Rectangle 3"/>
          <p:cNvSpPr>
            <a:spLocks noGrp="1"/>
          </p:cNvSpPr>
          <p:nvPr>
            <p:ph type="body" idx="1"/>
          </p:nvPr>
        </p:nvSpPr>
        <p:spPr>
          <a:ln/>
        </p:spPr>
        <p:txBody>
          <a:bodyPr wrap="square" lIns="95667" tIns="50185" rIns="95667" bIns="50185" anchor="t" anchorCtr="0"/>
          <a:p>
            <a:pPr lvl="0">
              <a:buNone/>
            </a:pPr>
            <a:r>
              <a:rPr lang="en-US" altLang="en-US" dirty="0"/>
              <a:t>Slide 29 – Hard Drives and Floppy Drives</a:t>
            </a:r>
            <a:endParaRPr lang="en-US" altLang="en-US" dirty="0"/>
          </a:p>
          <a:p>
            <a:pPr lvl="0">
              <a:buNone/>
            </a:pPr>
            <a:r>
              <a:rPr lang="en-US" altLang="ja-JP" dirty="0">
                <a:ea typeface="MS PGothic" panose="020B0600070205080204" pitchFamily="34" charset="-128"/>
              </a:rPr>
              <a:t>1.4.6 Identify the names, purposes, and characteristics of storage drives </a:t>
            </a:r>
            <a:endParaRPr lang="en-US" altLang="ja-JP" dirty="0">
              <a:ea typeface="MS PGothic" panose="020B0600070205080204" pitchFamily="34" charset="-128"/>
            </a:endParaRPr>
          </a:p>
          <a:p>
            <a:pPr lvl="0">
              <a:buNone/>
            </a:pPr>
            <a:r>
              <a:rPr lang="en-US" altLang="en-US" dirty="0"/>
              <a:t>A storage drive reads or writes information to magnetic or optical storage media. The drive can be used to store data permanently or to retrieve information from a media disk. Storage drives can be installed inside the computer case, such as a hard drive. For portability, some storage drives can connect to the computer using a USB port, a FireWire port, or an SCSI port. These portable storage drives are sometimes referred to as removable drives and can be used on multiple computers. Here are some common types of storage drives:</a:t>
            </a:r>
            <a:endParaRPr lang="en-US" altLang="en-US" dirty="0"/>
          </a:p>
          <a:p>
            <a:pPr lvl="1"/>
            <a:r>
              <a:rPr lang="en-US" altLang="en-US" dirty="0"/>
              <a:t>Floppy drive </a:t>
            </a:r>
            <a:endParaRPr lang="en-US" altLang="en-US" dirty="0"/>
          </a:p>
          <a:p>
            <a:pPr lvl="1"/>
            <a:r>
              <a:rPr lang="en-US" altLang="en-US" dirty="0"/>
              <a:t>Hard drive </a:t>
            </a:r>
            <a:endParaRPr lang="en-US" altLang="en-US" dirty="0"/>
          </a:p>
          <a:p>
            <a:pPr lvl="1"/>
            <a:r>
              <a:rPr lang="en-US" altLang="en-US" dirty="0"/>
              <a:t>Optical drive </a:t>
            </a:r>
            <a:endParaRPr lang="en-US" altLang="en-US" dirty="0"/>
          </a:p>
          <a:p>
            <a:pPr lvl="1"/>
            <a:r>
              <a:rPr lang="en-US" altLang="en-US" dirty="0"/>
              <a:t>Flash drive </a:t>
            </a:r>
            <a:endParaRPr lang="en-US" altLang="en-US" dirty="0"/>
          </a:p>
          <a:p>
            <a:pPr lvl="1"/>
            <a:r>
              <a:rPr lang="en-US" altLang="en-US" dirty="0"/>
              <a:t>Network drive </a:t>
            </a:r>
            <a:endParaRPr lang="en-US" altLang="en-US" dirty="0"/>
          </a:p>
          <a:p>
            <a:pPr lvl="0"/>
            <a:r>
              <a:rPr lang="en-US" altLang="en-US" dirty="0"/>
              <a:t>A </a:t>
            </a:r>
            <a:r>
              <a:rPr lang="en-US" altLang="en-US" b="1" dirty="0"/>
              <a:t>floppy drive</a:t>
            </a:r>
            <a:r>
              <a:rPr lang="en-US" altLang="en-US" dirty="0"/>
              <a:t>, or floppy disk drive, is a storage device that uses removable 3.5-inch floppy disks. These magnetic floppy disks can store 720 KB or 1.44 MB of data. In a computer, the floppy drive is usually configured as the A: drive. The floppy drive can be used to boot the computer if it contains a bootable floppy disk. A 5.25-inch floppy drive is older technology and is seldom used.</a:t>
            </a:r>
            <a:endParaRPr lang="en-US" altLang="en-US" b="1" dirty="0"/>
          </a:p>
          <a:p>
            <a:pPr lvl="0"/>
            <a:r>
              <a:rPr lang="en-US" altLang="en-US" dirty="0"/>
              <a:t>A </a:t>
            </a:r>
            <a:r>
              <a:rPr lang="en-US" altLang="en-US" b="1" dirty="0"/>
              <a:t>hard drive</a:t>
            </a:r>
            <a:r>
              <a:rPr lang="en-US" altLang="en-US" dirty="0"/>
              <a:t>, or hard disk drive, is a magnetic storage device that is installed inside the computer. The hard drive is used as permanent storage for data. In a computer, the hard drive is usually configured as the C: drive and contains the operating system and applications. The hard drive is usually configured as the first drive in the boot sequence. The storage capacity of a hard drive is measured in billions of bytes, or gigabytes (GB). The speed of a hard drive is measured in revolutions per minute (RPM). Multiple hard drives can be added to increase storage capacity.</a:t>
            </a:r>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58371" name="Rectangle 2"/>
          <p:cNvSpPr>
            <a:spLocks noChangeAspect="1" noTextEdit="1"/>
          </p:cNvSpPr>
          <p:nvPr>
            <p:ph type="sldImg"/>
          </p:nvPr>
        </p:nvSpPr>
        <p:spPr>
          <a:ln/>
        </p:spPr>
      </p:sp>
      <p:sp>
        <p:nvSpPr>
          <p:cNvPr id="58372" name="Rectangle 3"/>
          <p:cNvSpPr>
            <a:spLocks noGrp="1"/>
          </p:cNvSpPr>
          <p:nvPr>
            <p:ph type="body" idx="1"/>
          </p:nvPr>
        </p:nvSpPr>
        <p:spPr>
          <a:ln/>
        </p:spPr>
        <p:txBody>
          <a:bodyPr wrap="square" lIns="95667" tIns="50185" rIns="95667" bIns="50185" anchor="t" anchorCtr="0"/>
          <a:p>
            <a:pPr lvl="0">
              <a:buNone/>
            </a:pPr>
            <a:r>
              <a:rPr lang="en-US" altLang="en-US" dirty="0"/>
              <a:t>Slide 30 – Optical Drives and Flash Drives</a:t>
            </a:r>
            <a:endParaRPr lang="en-US" altLang="en-US" dirty="0"/>
          </a:p>
          <a:p>
            <a:pPr lvl="0">
              <a:buNone/>
            </a:pPr>
            <a:r>
              <a:rPr lang="en-US" altLang="ja-JP" dirty="0">
                <a:ea typeface="MS PGothic" panose="020B0600070205080204" pitchFamily="34" charset="-128"/>
              </a:rPr>
              <a:t>1.4.6 Identify the names, purposes, and characteristics of storage drives </a:t>
            </a:r>
            <a:endParaRPr lang="en-US" altLang="ja-JP" dirty="0">
              <a:ea typeface="MS PGothic" panose="020B0600070205080204" pitchFamily="34" charset="-128"/>
            </a:endParaRPr>
          </a:p>
          <a:p>
            <a:pPr lvl="0">
              <a:buNone/>
            </a:pPr>
            <a:r>
              <a:rPr lang="en-US" altLang="en-US" dirty="0"/>
              <a:t>An optical drive is a storage device that uses lasers to read data on the optical media. There are two types of optical drives:</a:t>
            </a:r>
            <a:endParaRPr lang="en-US" altLang="en-US" dirty="0"/>
          </a:p>
          <a:p>
            <a:pPr lvl="1"/>
            <a:r>
              <a:rPr lang="en-US" altLang="en-US" dirty="0"/>
              <a:t>Compact disc (CD) </a:t>
            </a:r>
            <a:endParaRPr lang="en-US" altLang="en-US" dirty="0"/>
          </a:p>
          <a:p>
            <a:pPr lvl="1"/>
            <a:r>
              <a:rPr lang="en-US" altLang="en-US" dirty="0"/>
              <a:t>Digital versatile disc (DVD) </a:t>
            </a:r>
            <a:endParaRPr lang="en-US" altLang="en-US" dirty="0"/>
          </a:p>
          <a:p>
            <a:pPr lvl="0">
              <a:buNone/>
            </a:pPr>
            <a:r>
              <a:rPr lang="en-US" altLang="en-US" dirty="0"/>
              <a:t>CD and DVD media can be pre-recorded (read-only), recordable (write once), or re-recordable (read and write multiple times). CDs have a data storage capacity of approximately 700 MB. DVDs have a data storage capacity of approximately 8.5 GB on one side of the disc. There are several types of optical media:</a:t>
            </a:r>
            <a:endParaRPr lang="en-US" altLang="en-US" dirty="0"/>
          </a:p>
          <a:p>
            <a:pPr lvl="0"/>
            <a:r>
              <a:rPr lang="en-US" altLang="en-US" dirty="0"/>
              <a:t>CD-ROM – CD read-only memory media that is pre-recorded. </a:t>
            </a:r>
            <a:endParaRPr lang="en-US" altLang="en-US" dirty="0"/>
          </a:p>
          <a:p>
            <a:pPr lvl="0"/>
            <a:r>
              <a:rPr lang="en-US" altLang="en-US" dirty="0"/>
              <a:t>CD-R –CD-recordable media that can be recorded once. </a:t>
            </a:r>
            <a:endParaRPr lang="en-US" altLang="en-US" dirty="0"/>
          </a:p>
          <a:p>
            <a:pPr lvl="0"/>
            <a:r>
              <a:rPr lang="en-US" altLang="en-US" dirty="0"/>
              <a:t>CD-RW – CD-rewritable media that can be recorded, erased, and re-recorded. </a:t>
            </a:r>
            <a:endParaRPr lang="en-US" altLang="en-US" dirty="0"/>
          </a:p>
          <a:p>
            <a:pPr lvl="0"/>
            <a:r>
              <a:rPr lang="en-US" altLang="en-US" dirty="0"/>
              <a:t>DVD-ROM – DVD read-only memory media that is pre-recorded. </a:t>
            </a:r>
            <a:endParaRPr lang="en-US" altLang="en-US" dirty="0"/>
          </a:p>
          <a:p>
            <a:pPr lvl="0"/>
            <a:r>
              <a:rPr lang="en-US" altLang="en-US" dirty="0"/>
              <a:t>DVD-RAM – DVD-random access memory media that can be recorded, erased, and re-recorded. </a:t>
            </a:r>
            <a:endParaRPr lang="en-US" altLang="en-US" dirty="0"/>
          </a:p>
          <a:p>
            <a:pPr lvl="0"/>
            <a:r>
              <a:rPr lang="en-US" altLang="en-US" dirty="0"/>
              <a:t>DVD+/-R – DVD-recordable media that can be recorded once. </a:t>
            </a:r>
            <a:endParaRPr lang="en-US" altLang="en-US" dirty="0"/>
          </a:p>
          <a:p>
            <a:pPr lvl="0"/>
            <a:r>
              <a:rPr lang="en-US" altLang="en-US" dirty="0"/>
              <a:t>DVD+/-RW – DVD-rewritable media that can be recorded, erased, and re-recorded. </a:t>
            </a:r>
            <a:endParaRPr lang="en-US" altLang="en-US" dirty="0"/>
          </a:p>
          <a:p>
            <a:pPr lvl="0">
              <a:buNone/>
            </a:pPr>
            <a:r>
              <a:rPr lang="en-US" altLang="en-US" dirty="0"/>
              <a:t>A </a:t>
            </a:r>
            <a:r>
              <a:rPr lang="en-US" altLang="en-US" b="1" dirty="0"/>
              <a:t>flash drive</a:t>
            </a:r>
            <a:r>
              <a:rPr lang="en-US" altLang="en-US" dirty="0"/>
              <a:t>, also known as a thumb drive, is a removable storage device that connects to a USB port. A flash drive uses a special type of memory that requires no power to maintain the data. These drives can be accessed by the operating system in the same way other types of drives are accessed. </a:t>
            </a:r>
            <a:endParaRPr lang="en-US" altLang="en-US" dirty="0"/>
          </a:p>
          <a:p>
            <a:pPr lvl="0">
              <a:buNone/>
            </a:pPr>
            <a:r>
              <a:rPr lang="en-US" altLang="en-US" dirty="0"/>
              <a:t>Hard drives and optical drives are manufactured with different interfaces that are used to connect the drive to the computer. To install a storage drive in a computer, the connection interface on the drive must be the same as the controller on the motherboard. Here are some common drive interfaces:</a:t>
            </a:r>
            <a:endParaRPr lang="en-US" altLang="en-US" dirty="0"/>
          </a:p>
          <a:p>
            <a:pPr lvl="0"/>
            <a:r>
              <a:rPr lang="en-US" altLang="en-US" b="1" dirty="0"/>
              <a:t>IDE</a:t>
            </a:r>
            <a:r>
              <a:rPr lang="en-US" altLang="en-US" dirty="0"/>
              <a:t> – Integrated Drive Electronics, also called Advanced Technology Attachment (ATA) is an early drive controller interface that connects computers and hard disk drives. An IDE interface uses a 40-pin connector. </a:t>
            </a:r>
            <a:endParaRPr lang="en-US" altLang="en-US" dirty="0"/>
          </a:p>
          <a:p>
            <a:pPr lvl="0"/>
            <a:r>
              <a:rPr lang="en-US" altLang="en-US" b="1" dirty="0"/>
              <a:t>EIDE</a:t>
            </a:r>
            <a:r>
              <a:rPr lang="en-US" altLang="en-US" dirty="0"/>
              <a:t> – Enhanced Integrated Drive Electronics, also called ATA-2, is an updated version of the IDE drive controller interface. EIDE supports hard drives larger than 512 MB, enables Direct Memory Access (DMA) for speed, and uses the AT Attachment Packet Interface (ATAPI) to accommodate optical drives and tape drives on the EIDE bus. An EIDE interface uses a 40-pin connector. </a:t>
            </a:r>
            <a:endParaRPr lang="en-US" altLang="en-US" dirty="0"/>
          </a:p>
          <a:p>
            <a:pPr lvl="0"/>
            <a:r>
              <a:rPr lang="en-US" altLang="en-US" b="1" dirty="0"/>
              <a:t>PATA</a:t>
            </a:r>
            <a:r>
              <a:rPr lang="en-US" altLang="en-US" dirty="0"/>
              <a:t> – Parallel ATA refers to the parallel version of the ATA drive controller interface. </a:t>
            </a:r>
            <a:endParaRPr lang="en-US" altLang="en-US" dirty="0"/>
          </a:p>
          <a:p>
            <a:pPr lvl="0"/>
            <a:r>
              <a:rPr lang="en-US" altLang="en-US" b="1" dirty="0"/>
              <a:t>SATA</a:t>
            </a:r>
            <a:r>
              <a:rPr lang="en-US" altLang="en-US" dirty="0"/>
              <a:t> – Serial ATA refers to the serial version of the ATA drive controller interface. A SATA interface uses a 7-pin connector. </a:t>
            </a:r>
            <a:endParaRPr lang="en-US" altLang="en-US" dirty="0"/>
          </a:p>
          <a:p>
            <a:pPr lvl="0"/>
            <a:r>
              <a:rPr lang="en-US" altLang="en-US" b="1" dirty="0"/>
              <a:t>SCSI</a:t>
            </a:r>
            <a:r>
              <a:rPr lang="en-US" altLang="en-US" dirty="0"/>
              <a:t> – Small Computer System Interface is a drive controller interface that can connect up to 15 drives. SCSI can connect both internal and external drives. An SCSI interface uses a 50-pin, 68-pin, or 80-pin connector. </a:t>
            </a:r>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60419" name="Rectangle 2"/>
          <p:cNvSpPr>
            <a:spLocks noChangeAspect="1" noTextEdit="1"/>
          </p:cNvSpPr>
          <p:nvPr>
            <p:ph type="sldImg"/>
          </p:nvPr>
        </p:nvSpPr>
        <p:spPr>
          <a:ln/>
        </p:spPr>
      </p:sp>
      <p:sp>
        <p:nvSpPr>
          <p:cNvPr id="60420" name="Rectangle 3"/>
          <p:cNvSpPr>
            <a:spLocks noGrp="1"/>
          </p:cNvSpPr>
          <p:nvPr>
            <p:ph type="body" idx="1"/>
          </p:nvPr>
        </p:nvSpPr>
        <p:spPr>
          <a:ln/>
        </p:spPr>
        <p:txBody>
          <a:bodyPr wrap="square" lIns="95667" tIns="50185" rIns="95667" bIns="50185" anchor="t" anchorCtr="0"/>
          <a:p>
            <a:pPr lvl="0">
              <a:buNone/>
            </a:pPr>
            <a:r>
              <a:rPr lang="en-US" altLang="en-US" dirty="0"/>
              <a:t>Slide 31 – Internal Cables</a:t>
            </a:r>
            <a:endParaRPr lang="en-US" altLang="en-US" dirty="0"/>
          </a:p>
          <a:p>
            <a:pPr lvl="0">
              <a:buNone/>
            </a:pPr>
            <a:r>
              <a:rPr lang="en-US" altLang="ja-JP" dirty="0">
                <a:ea typeface="MS PGothic" panose="020B0600070205080204" pitchFamily="34" charset="-128"/>
              </a:rPr>
              <a:t>1.4.7 Identify the names, purposes, and characteristics of internal cables </a:t>
            </a:r>
            <a:endParaRPr lang="en-US" altLang="ja-JP" dirty="0">
              <a:ea typeface="MS PGothic" panose="020B0600070205080204" pitchFamily="34" charset="-128"/>
            </a:endParaRPr>
          </a:p>
          <a:p>
            <a:pPr lvl="0">
              <a:buNone/>
            </a:pPr>
            <a:r>
              <a:rPr lang="en-US" altLang="ja-JP" dirty="0">
                <a:ea typeface="MS PGothic" panose="020B0600070205080204" pitchFamily="34" charset="-128"/>
              </a:rPr>
              <a:t>Drives require both a power cable and a data cable. A power supply will have a SATA power connector for SATA drives, a Molex power connector for PATA drives, and a Berg 4-pin connector for floppy drives. The buttons and the LED lights on the front of the case connect to the motherboard with the front panel cables. Data cables connect drives to the drive controller, which is located on an adapter card or on the motherboard. Here are some common types of data cables:</a:t>
            </a:r>
            <a:endParaRPr lang="en-US" altLang="ja-JP" dirty="0">
              <a:ea typeface="MS PGothic" panose="020B0600070205080204" pitchFamily="34" charset="-128"/>
            </a:endParaRPr>
          </a:p>
          <a:p>
            <a:pPr lvl="0"/>
            <a:r>
              <a:rPr lang="en-US" altLang="ja-JP" dirty="0">
                <a:ea typeface="MS PGothic" panose="020B0600070205080204" pitchFamily="34" charset="-128"/>
              </a:rPr>
              <a:t>Floppy disk drive (FDD) data cable – Data cable has up to two 34-pin drive connectors and one 34-pin connector for the drive controller. </a:t>
            </a:r>
            <a:endParaRPr lang="en-US" altLang="ja-JP" dirty="0">
              <a:ea typeface="MS PGothic" panose="020B0600070205080204" pitchFamily="34" charset="-128"/>
            </a:endParaRPr>
          </a:p>
          <a:p>
            <a:pPr lvl="0"/>
            <a:r>
              <a:rPr lang="en-US" altLang="ja-JP" dirty="0">
                <a:ea typeface="MS PGothic" panose="020B0600070205080204" pitchFamily="34" charset="-128"/>
              </a:rPr>
              <a:t>PATA (IDE) data cable – Parallel ATA data cable has 40 conductors, up to two 40-pin connectors for drives, and one 40-pin connector for the drive controller. </a:t>
            </a:r>
            <a:endParaRPr lang="en-US" altLang="ja-JP" dirty="0">
              <a:ea typeface="MS PGothic" panose="020B0600070205080204" pitchFamily="34" charset="-128"/>
            </a:endParaRPr>
          </a:p>
          <a:p>
            <a:pPr lvl="0"/>
            <a:r>
              <a:rPr lang="en-US" altLang="ja-JP" dirty="0">
                <a:ea typeface="MS PGothic" panose="020B0600070205080204" pitchFamily="34" charset="-128"/>
              </a:rPr>
              <a:t>PATA (EIDE) data cable – Parallel ATA data cable has 80 conductors, up to two 40-pin connectors for drives, and one 40-pin connector for the drive controller. </a:t>
            </a:r>
            <a:endParaRPr lang="en-US" altLang="ja-JP" dirty="0">
              <a:ea typeface="MS PGothic" panose="020B0600070205080204" pitchFamily="34" charset="-128"/>
            </a:endParaRPr>
          </a:p>
          <a:p>
            <a:pPr lvl="0"/>
            <a:r>
              <a:rPr lang="en-US" altLang="ja-JP" dirty="0">
                <a:ea typeface="MS PGothic" panose="020B0600070205080204" pitchFamily="34" charset="-128"/>
              </a:rPr>
              <a:t>SATA data cable – Serial ATA data cable has seven conductors, one keyed connector for the drive, and one keyed connector the drive controller. </a:t>
            </a:r>
            <a:endParaRPr lang="en-US" altLang="ja-JP" dirty="0">
              <a:ea typeface="MS PGothic" panose="020B0600070205080204" pitchFamily="34" charset="-128"/>
            </a:endParaRPr>
          </a:p>
          <a:p>
            <a:pPr lvl="0"/>
            <a:r>
              <a:rPr lang="en-US" altLang="ja-JP" dirty="0">
                <a:ea typeface="MS PGothic" panose="020B0600070205080204" pitchFamily="34" charset="-128"/>
              </a:rPr>
              <a:t>SCSI data cable – There are three types of SCSI data cables. A narrow SCSI data cable has 50-conductors, up to seven 50-pin connectors for drives, and one 50-pin connector for the drive controller, also called the host adapter. A wide SCSI data cable has 68-conductors, up to fifteen 68-pin connectors for drives, and one 68-pin connector for the host adapter. An Alt-4 SCSI data cable has 80-conductors, up to "15" 80-pin connectors for drives, and one 80-pin connector for the host adapter. </a:t>
            </a:r>
            <a:endParaRPr lang="en-US" altLang="ja-JP" dirty="0">
              <a:ea typeface="MS PGothic" panose="020B0600070205080204" pitchFamily="34" charset="-128"/>
            </a:endParaRPr>
          </a:p>
          <a:p>
            <a:pPr lvl="0">
              <a:buNone/>
            </a:pPr>
            <a:r>
              <a:rPr lang="en-US" altLang="ja-JP" b="1" dirty="0">
                <a:ea typeface="MS PGothic" panose="020B0600070205080204" pitchFamily="34" charset="-128"/>
              </a:rPr>
              <a:t>NOTE:</a:t>
            </a:r>
            <a:r>
              <a:rPr lang="en-US" altLang="ja-JP" dirty="0">
                <a:ea typeface="MS PGothic" panose="020B0600070205080204" pitchFamily="34" charset="-128"/>
              </a:rPr>
              <a:t> A colored stripe on a cable identifies Pin 1 on the cable. When installing a data cable, always ensure that Pin 1 on the cable aligns with Pin 1 on the drive or drive controller. Some cables may be keyed and therefore they can only be connected one way to the drive and drive controller.</a:t>
            </a:r>
            <a:endParaRPr lang="en-US" altLang="ja-JP" dirty="0">
              <a:ea typeface="MS PGothic" panose="020B0600070205080204" pitchFamily="34" charset="-128"/>
            </a:endParaRPr>
          </a:p>
          <a:p>
            <a:pPr lvl="0">
              <a:buNone/>
            </a:pPr>
            <a:r>
              <a:rPr lang="en-US" altLang="ja-JP" b="1" dirty="0">
                <a:ea typeface="MS PGothic" panose="020B0600070205080204" pitchFamily="34" charset="-128"/>
              </a:rPr>
              <a:t>Student Activity: </a:t>
            </a:r>
            <a:r>
              <a:rPr lang="en-US" altLang="ja-JP" dirty="0">
                <a:ea typeface="MS PGothic" panose="020B0600070205080204" pitchFamily="34" charset="-128"/>
              </a:rPr>
              <a:t>The student course content includes worksheet, </a:t>
            </a:r>
            <a:r>
              <a:rPr lang="en-US" altLang="en-US" dirty="0"/>
              <a:t>1.4.7 Research Computer Components. To complete this worksheet, students will research the components needed to complete a customer’s computer. They should be prepared to discuss their selections.</a:t>
            </a:r>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62467" name="Rectangle 2"/>
          <p:cNvSpPr>
            <a:spLocks noChangeAspect="1" noTextEdit="1"/>
          </p:cNvSpPr>
          <p:nvPr>
            <p:ph type="sldImg"/>
          </p:nvPr>
        </p:nvSpPr>
        <p:spPr>
          <a:ln/>
        </p:spPr>
      </p:sp>
      <p:sp>
        <p:nvSpPr>
          <p:cNvPr id="62468" name="Rectangle 3"/>
          <p:cNvSpPr>
            <a:spLocks noGrp="1"/>
          </p:cNvSpPr>
          <p:nvPr>
            <p:ph type="body" idx="1"/>
          </p:nvPr>
        </p:nvSpPr>
        <p:spPr>
          <a:ln/>
        </p:spPr>
        <p:txBody>
          <a:bodyPr wrap="square" lIns="95667" tIns="50185" rIns="95667" bIns="50185" anchor="t" anchorCtr="0"/>
          <a:p>
            <a:pPr lvl="0">
              <a:buNone/>
            </a:pPr>
            <a:r>
              <a:rPr lang="en-US" altLang="en-US" dirty="0"/>
              <a:t>Slide 32 – Serial Ports and Cables</a:t>
            </a:r>
            <a:endParaRPr lang="en-US" altLang="en-US" dirty="0"/>
          </a:p>
          <a:p>
            <a:pPr lvl="0">
              <a:buNone/>
            </a:pPr>
            <a:r>
              <a:rPr lang="en-US" altLang="ja-JP" dirty="0">
                <a:ea typeface="MS PGothic" panose="020B0600070205080204" pitchFamily="34" charset="-128"/>
              </a:rPr>
              <a:t>1.5 Identify the names, purposes, and characteristics of ports and cables </a:t>
            </a:r>
            <a:endParaRPr lang="en-US" altLang="ja-JP" dirty="0">
              <a:ea typeface="MS PGothic" panose="020B0600070205080204" pitchFamily="34" charset="-128"/>
            </a:endParaRPr>
          </a:p>
          <a:p>
            <a:pPr lvl="0">
              <a:buNone/>
            </a:pPr>
            <a:r>
              <a:rPr lang="en-US" altLang="ja-JP" dirty="0">
                <a:ea typeface="MS PGothic" panose="020B0600070205080204" pitchFamily="34" charset="-128"/>
              </a:rPr>
              <a:t>Input/output (I/O) ports on a computer connect peripheral devices, such as printers, scanners, and portable drives. The following ports and cables are commonly used:</a:t>
            </a:r>
            <a:endParaRPr lang="en-US" altLang="ja-JP" dirty="0">
              <a:ea typeface="MS PGothic" panose="020B0600070205080204" pitchFamily="34" charset="-128"/>
            </a:endParaRPr>
          </a:p>
          <a:p>
            <a:pPr lvl="1"/>
            <a:r>
              <a:rPr lang="en-US" altLang="ja-JP" dirty="0">
                <a:ea typeface="MS PGothic" panose="020B0600070205080204" pitchFamily="34" charset="-128"/>
              </a:rPr>
              <a:t>Serial </a:t>
            </a:r>
            <a:endParaRPr lang="en-US" altLang="ja-JP" dirty="0">
              <a:ea typeface="MS PGothic" panose="020B0600070205080204" pitchFamily="34" charset="-128"/>
            </a:endParaRPr>
          </a:p>
          <a:p>
            <a:pPr lvl="1"/>
            <a:r>
              <a:rPr lang="en-US" altLang="ja-JP" dirty="0">
                <a:ea typeface="MS PGothic" panose="020B0600070205080204" pitchFamily="34" charset="-128"/>
              </a:rPr>
              <a:t>USB </a:t>
            </a:r>
            <a:endParaRPr lang="en-US" altLang="ja-JP" dirty="0">
              <a:ea typeface="MS PGothic" panose="020B0600070205080204" pitchFamily="34" charset="-128"/>
            </a:endParaRPr>
          </a:p>
          <a:p>
            <a:pPr lvl="1"/>
            <a:r>
              <a:rPr lang="en-US" altLang="ja-JP" dirty="0">
                <a:ea typeface="MS PGothic" panose="020B0600070205080204" pitchFamily="34" charset="-128"/>
              </a:rPr>
              <a:t>FireWire </a:t>
            </a:r>
            <a:endParaRPr lang="en-US" altLang="ja-JP" dirty="0">
              <a:ea typeface="MS PGothic" panose="020B0600070205080204" pitchFamily="34" charset="-128"/>
            </a:endParaRPr>
          </a:p>
          <a:p>
            <a:pPr lvl="1"/>
            <a:r>
              <a:rPr lang="en-US" altLang="ja-JP" dirty="0">
                <a:ea typeface="MS PGothic" panose="020B0600070205080204" pitchFamily="34" charset="-128"/>
              </a:rPr>
              <a:t>Parallel </a:t>
            </a:r>
            <a:endParaRPr lang="en-US" altLang="ja-JP" dirty="0">
              <a:ea typeface="MS PGothic" panose="020B0600070205080204" pitchFamily="34" charset="-128"/>
            </a:endParaRPr>
          </a:p>
          <a:p>
            <a:pPr lvl="1"/>
            <a:r>
              <a:rPr lang="en-US" altLang="ja-JP" dirty="0">
                <a:ea typeface="MS PGothic" panose="020B0600070205080204" pitchFamily="34" charset="-128"/>
              </a:rPr>
              <a:t>SCSI </a:t>
            </a:r>
            <a:endParaRPr lang="en-US" altLang="ja-JP" dirty="0">
              <a:ea typeface="MS PGothic" panose="020B0600070205080204" pitchFamily="34" charset="-128"/>
            </a:endParaRPr>
          </a:p>
          <a:p>
            <a:pPr lvl="1"/>
            <a:r>
              <a:rPr lang="en-US" altLang="ja-JP" dirty="0">
                <a:ea typeface="MS PGothic" panose="020B0600070205080204" pitchFamily="34" charset="-128"/>
              </a:rPr>
              <a:t>Network </a:t>
            </a:r>
            <a:endParaRPr lang="en-US" altLang="ja-JP" dirty="0">
              <a:ea typeface="MS PGothic" panose="020B0600070205080204" pitchFamily="34" charset="-128"/>
            </a:endParaRPr>
          </a:p>
          <a:p>
            <a:pPr lvl="1"/>
            <a:r>
              <a:rPr lang="en-US" altLang="ja-JP" dirty="0">
                <a:ea typeface="MS PGothic" panose="020B0600070205080204" pitchFamily="34" charset="-128"/>
              </a:rPr>
              <a:t>PS/2 </a:t>
            </a:r>
            <a:endParaRPr lang="en-US" altLang="ja-JP" dirty="0">
              <a:ea typeface="MS PGothic" panose="020B0600070205080204" pitchFamily="34" charset="-128"/>
            </a:endParaRPr>
          </a:p>
          <a:p>
            <a:pPr lvl="1"/>
            <a:r>
              <a:rPr lang="en-US" altLang="ja-JP" dirty="0">
                <a:ea typeface="MS PGothic" panose="020B0600070205080204" pitchFamily="34" charset="-128"/>
              </a:rPr>
              <a:t>Audio </a:t>
            </a:r>
            <a:endParaRPr lang="en-US" altLang="ja-JP" dirty="0">
              <a:ea typeface="MS PGothic" panose="020B0600070205080204" pitchFamily="34" charset="-128"/>
            </a:endParaRPr>
          </a:p>
          <a:p>
            <a:pPr lvl="1"/>
            <a:r>
              <a:rPr lang="en-US" altLang="ja-JP" dirty="0">
                <a:ea typeface="MS PGothic" panose="020B0600070205080204" pitchFamily="34" charset="-128"/>
              </a:rPr>
              <a:t>Video </a:t>
            </a:r>
            <a:endParaRPr lang="en-US" altLang="ja-JP" dirty="0">
              <a:ea typeface="MS PGothic" panose="020B0600070205080204" pitchFamily="34" charset="-128"/>
            </a:endParaRPr>
          </a:p>
          <a:p>
            <a:pPr lvl="0">
              <a:buNone/>
            </a:pPr>
            <a:r>
              <a:rPr lang="en-US" altLang="ja-JP" b="1" dirty="0">
                <a:ea typeface="MS PGothic" panose="020B0600070205080204" pitchFamily="34" charset="-128"/>
              </a:rPr>
              <a:t>Serial Ports and Cables</a:t>
            </a:r>
            <a:r>
              <a:rPr lang="en-US" altLang="ja-JP" dirty="0">
                <a:ea typeface="MS PGothic" panose="020B0600070205080204" pitchFamily="34" charset="-128"/>
              </a:rPr>
              <a:t> - A serial port can be either a DB-9 or a DB-25 male connector. Serial ports transmit one bit of data at a time. To connect a serial device, such as a modem or printer, a serial cable must be used. A serial cable has a maximum length of 50 feet (15.2 m). </a:t>
            </a:r>
            <a:endParaRPr lang="en-US" altLang="ja-JP" dirty="0">
              <a:ea typeface="MS PGothic"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64515" name="Rectangle 2"/>
          <p:cNvSpPr>
            <a:spLocks noChangeAspect="1" noTextEdit="1"/>
          </p:cNvSpPr>
          <p:nvPr>
            <p:ph type="sldImg"/>
          </p:nvPr>
        </p:nvSpPr>
        <p:spPr>
          <a:ln/>
        </p:spPr>
      </p:sp>
      <p:sp>
        <p:nvSpPr>
          <p:cNvPr id="64516" name="Rectangle 3"/>
          <p:cNvSpPr>
            <a:spLocks noGrp="1"/>
          </p:cNvSpPr>
          <p:nvPr>
            <p:ph type="body" idx="1"/>
          </p:nvPr>
        </p:nvSpPr>
        <p:spPr>
          <a:ln/>
        </p:spPr>
        <p:txBody>
          <a:bodyPr wrap="square" lIns="95667" tIns="50185" rIns="95667" bIns="50185" anchor="t" anchorCtr="0"/>
          <a:p>
            <a:pPr lvl="0">
              <a:buNone/>
            </a:pPr>
            <a:r>
              <a:rPr lang="en-US" altLang="en-US" dirty="0"/>
              <a:t>Slide 33 – USB Ports and Cables</a:t>
            </a:r>
            <a:endParaRPr lang="en-US" altLang="en-US" dirty="0"/>
          </a:p>
          <a:p>
            <a:pPr lvl="0">
              <a:buNone/>
            </a:pPr>
            <a:r>
              <a:rPr lang="en-US" altLang="ja-JP" dirty="0">
                <a:ea typeface="MS PGothic" panose="020B0600070205080204" pitchFamily="34" charset="-128"/>
              </a:rPr>
              <a:t>1.5 Identify the names, purposes, and characteristics of ports and cables </a:t>
            </a:r>
            <a:endParaRPr lang="en-US" altLang="ja-JP" dirty="0">
              <a:ea typeface="MS PGothic" panose="020B0600070205080204" pitchFamily="34" charset="-128"/>
            </a:endParaRPr>
          </a:p>
          <a:p>
            <a:pPr lvl="0">
              <a:buNone/>
            </a:pPr>
            <a:r>
              <a:rPr lang="en-US" altLang="en-US" b="1" dirty="0"/>
              <a:t>USB Ports and Cables – </a:t>
            </a:r>
            <a:r>
              <a:rPr lang="en-US" altLang="en-US" dirty="0"/>
              <a:t>The Universal Serial Bus (USB) is a standard interface that connects peripheral devices to a computer. It was originally designed to replace serial and parallel connections. USB devices are hot-swappable, which means that users can connect and disconnect the devices while the computer is powered on. USB connections can be found on computers, cameras, printers, scanners, storage devices, and many other electronic devices. A USB hub is used to connect multiple USB devices. A single USB port in a computer can support up to 127 separate devices with the use of multiple USB hubs. Some devices can also be powered through the USB port, eliminating the need for an external power source. </a:t>
            </a:r>
            <a:endParaRPr lang="en-US" altLang="en-US" dirty="0"/>
          </a:p>
          <a:p>
            <a:pPr lvl="0">
              <a:buNone/>
            </a:pPr>
            <a:r>
              <a:rPr lang="en-US" altLang="en-US" dirty="0"/>
              <a:t>USB 1.1 allowed transmission rates of up to 12 Mbps in full-speed mode and 1.5 Mbps in low speed mode. USB 2.0 allows transmission speeds up to 480 Mbps. USB devices can only transfer data up to the maximum speed allowed by the specific port. </a:t>
            </a:r>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66563" name="Rectangle 2"/>
          <p:cNvSpPr>
            <a:spLocks noChangeAspect="1" noTextEdit="1"/>
          </p:cNvSpPr>
          <p:nvPr>
            <p:ph type="sldImg"/>
          </p:nvPr>
        </p:nvSpPr>
        <p:spPr>
          <a:ln/>
        </p:spPr>
      </p:sp>
      <p:sp>
        <p:nvSpPr>
          <p:cNvPr id="66564" name="Rectangle 3"/>
          <p:cNvSpPr>
            <a:spLocks noGrp="1"/>
          </p:cNvSpPr>
          <p:nvPr>
            <p:ph type="body" idx="1"/>
          </p:nvPr>
        </p:nvSpPr>
        <p:spPr>
          <a:ln/>
        </p:spPr>
        <p:txBody>
          <a:bodyPr wrap="square" lIns="95667" tIns="50185" rIns="95667" bIns="50185" anchor="t" anchorCtr="0"/>
          <a:p>
            <a:pPr lvl="0">
              <a:buNone/>
            </a:pPr>
            <a:r>
              <a:rPr lang="en-US" altLang="en-US" dirty="0"/>
              <a:t>Slide 34 – FireWire Ports and Cables</a:t>
            </a:r>
            <a:endParaRPr lang="en-US" altLang="en-US" dirty="0"/>
          </a:p>
          <a:p>
            <a:pPr lvl="0">
              <a:buNone/>
            </a:pPr>
            <a:r>
              <a:rPr lang="en-US" altLang="ja-JP" dirty="0">
                <a:ea typeface="MS PGothic" panose="020B0600070205080204" pitchFamily="34" charset="-128"/>
              </a:rPr>
              <a:t>1.5 Identify the names, purposes, and characteristics of ports and cables </a:t>
            </a:r>
            <a:endParaRPr lang="en-US" altLang="ja-JP" dirty="0">
              <a:ea typeface="MS PGothic" panose="020B0600070205080204" pitchFamily="34" charset="-128"/>
            </a:endParaRPr>
          </a:p>
          <a:p>
            <a:pPr lvl="0">
              <a:buNone/>
            </a:pPr>
            <a:r>
              <a:rPr lang="en-US" altLang="ja-JP" b="1" dirty="0">
                <a:ea typeface="MS PGothic" panose="020B0600070205080204" pitchFamily="34" charset="-128"/>
              </a:rPr>
              <a:t>FireWire Ports and Cables</a:t>
            </a:r>
            <a:r>
              <a:rPr lang="en-US" altLang="ja-JP" dirty="0">
                <a:ea typeface="MS PGothic" panose="020B0600070205080204" pitchFamily="34" charset="-128"/>
              </a:rPr>
              <a:t> - FireWire is a high-speed, hot-swappable interface that connects peripheral devices to a computer. A single FireWire port in a computer can support up to 63 devices. Some devices can also be powered through the FireWire port, eliminating the need for an external power source. FireWire uses the IEEE 1394 standard and is also known as i.Link. </a:t>
            </a:r>
            <a:endParaRPr lang="en-US" altLang="ja-JP" dirty="0">
              <a:ea typeface="MS PGothic" panose="020B0600070205080204" pitchFamily="34" charset="-128"/>
            </a:endParaRPr>
          </a:p>
          <a:p>
            <a:pPr lvl="0"/>
            <a:r>
              <a:rPr lang="en-US" altLang="ja-JP" dirty="0">
                <a:ea typeface="MS PGothic" panose="020B0600070205080204" pitchFamily="34" charset="-128"/>
              </a:rPr>
              <a:t>The IEEE 1394a standard supports data rates up to 400 Mbps and cable lengths up to 15 feet (4.5 m). This standard uses a 6-pin connector or a 4-pin connector. The IEEE 1394b standard supports data rates in excess of 800 Mbps and uses a 9-pin connector. </a:t>
            </a:r>
            <a:endParaRPr lang="en-US" altLang="ja-JP" dirty="0">
              <a:ea typeface="MS PGothic"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68611" name="Rectangle 2"/>
          <p:cNvSpPr>
            <a:spLocks noChangeAspect="1" noTextEdit="1"/>
          </p:cNvSpPr>
          <p:nvPr>
            <p:ph type="sldImg"/>
          </p:nvPr>
        </p:nvSpPr>
        <p:spPr>
          <a:ln/>
        </p:spPr>
      </p:sp>
      <p:sp>
        <p:nvSpPr>
          <p:cNvPr id="68612" name="Rectangle 3"/>
          <p:cNvSpPr>
            <a:spLocks noGrp="1"/>
          </p:cNvSpPr>
          <p:nvPr>
            <p:ph type="body" idx="1"/>
          </p:nvPr>
        </p:nvSpPr>
        <p:spPr>
          <a:ln/>
        </p:spPr>
        <p:txBody>
          <a:bodyPr wrap="square" lIns="95667" tIns="50185" rIns="95667" bIns="50185" anchor="t" anchorCtr="0"/>
          <a:p>
            <a:pPr lvl="0">
              <a:buNone/>
            </a:pPr>
            <a:r>
              <a:rPr lang="en-US" altLang="en-US" dirty="0"/>
              <a:t>Slide 35 – Parallel Ports and Cables</a:t>
            </a:r>
            <a:endParaRPr lang="en-US" altLang="en-US" dirty="0"/>
          </a:p>
          <a:p>
            <a:pPr lvl="0">
              <a:buNone/>
            </a:pPr>
            <a:r>
              <a:rPr lang="en-US" altLang="ja-JP" dirty="0">
                <a:ea typeface="MS PGothic" panose="020B0600070205080204" pitchFamily="34" charset="-128"/>
              </a:rPr>
              <a:t>1.5 Identify the names, purposes, and characteristics of ports and cables </a:t>
            </a:r>
            <a:endParaRPr lang="en-US" altLang="ja-JP" dirty="0">
              <a:ea typeface="MS PGothic" panose="020B0600070205080204" pitchFamily="34" charset="-128"/>
            </a:endParaRPr>
          </a:p>
          <a:p>
            <a:pPr lvl="0">
              <a:buNone/>
            </a:pPr>
            <a:r>
              <a:rPr lang="en-US" altLang="en-US" b="1" dirty="0"/>
              <a:t>Parallel Ports and Cables – </a:t>
            </a:r>
            <a:r>
              <a:rPr lang="en-US" altLang="en-US" dirty="0"/>
              <a:t>A parallel port on a computer is a standard Type A DB-25 female connector. The parallel connector on a printer is a standard Type B 36-pin Centronics connector. Some newer printers may use a Type C high-density 36-pin connector. Parallel ports can transmit 8 bits of data at one time and use the IEEE 1284 standard. To connect a parallel device, such as a printer, a parallel cable must be used. A parallel cable has a maximum length of 15 feet (4.5 m). </a:t>
            </a:r>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70659" name="Rectangle 2"/>
          <p:cNvSpPr>
            <a:spLocks noChangeAspect="1" noTextEdit="1"/>
          </p:cNvSpPr>
          <p:nvPr>
            <p:ph type="sldImg"/>
          </p:nvPr>
        </p:nvSpPr>
        <p:spPr>
          <a:ln/>
        </p:spPr>
      </p:sp>
      <p:sp>
        <p:nvSpPr>
          <p:cNvPr id="70660" name="Rectangle 3"/>
          <p:cNvSpPr>
            <a:spLocks noGrp="1"/>
          </p:cNvSpPr>
          <p:nvPr>
            <p:ph type="body" idx="1"/>
          </p:nvPr>
        </p:nvSpPr>
        <p:spPr>
          <a:ln/>
        </p:spPr>
        <p:txBody>
          <a:bodyPr wrap="square" lIns="95667" tIns="50185" rIns="95667" bIns="50185" anchor="t" anchorCtr="0"/>
          <a:p>
            <a:pPr lvl="0">
              <a:buNone/>
            </a:pPr>
            <a:r>
              <a:rPr lang="en-US" altLang="en-US" dirty="0"/>
              <a:t>Slide 36 – SCSI Ports and Cables</a:t>
            </a:r>
            <a:endParaRPr lang="en-US" altLang="en-US" dirty="0"/>
          </a:p>
          <a:p>
            <a:pPr lvl="0">
              <a:buNone/>
            </a:pPr>
            <a:r>
              <a:rPr lang="en-US" altLang="ja-JP" dirty="0">
                <a:ea typeface="MS PGothic" panose="020B0600070205080204" pitchFamily="34" charset="-128"/>
              </a:rPr>
              <a:t>1.5 Identify the names, purposes, and characteristics of ports and cables </a:t>
            </a:r>
            <a:endParaRPr lang="en-US" altLang="ja-JP" dirty="0">
              <a:ea typeface="MS PGothic" panose="020B0600070205080204" pitchFamily="34" charset="-128"/>
            </a:endParaRPr>
          </a:p>
          <a:p>
            <a:pPr lvl="0">
              <a:buNone/>
            </a:pPr>
            <a:r>
              <a:rPr lang="en-US" altLang="en-US" b="1" dirty="0"/>
              <a:t>SCSI Ports and Cables</a:t>
            </a:r>
            <a:r>
              <a:rPr lang="en-US" altLang="en-US" dirty="0"/>
              <a:t> – A SCSI port can transmit data at rates in excess of 320 Mbps and can support up to 15 devices. If a single SCSI device is connected to an SCSI port, the cable can be up to 80 feet (24.4 m) in length. If multiple SCSI devices are connected to an SCSI port, the cable can be up to 40 (12.2 m) feet in length. An SCSI port on a computer can be one of three different types:</a:t>
            </a:r>
            <a:endParaRPr lang="en-US" altLang="en-US" dirty="0"/>
          </a:p>
          <a:p>
            <a:pPr lvl="0"/>
            <a:r>
              <a:rPr lang="en-US" altLang="en-US" dirty="0"/>
              <a:t>DB-25 female connector </a:t>
            </a:r>
            <a:endParaRPr lang="en-US" altLang="en-US" dirty="0"/>
          </a:p>
          <a:p>
            <a:pPr lvl="0"/>
            <a:r>
              <a:rPr lang="en-US" altLang="en-US" dirty="0"/>
              <a:t>High-density 50-pin female connector </a:t>
            </a:r>
            <a:endParaRPr lang="en-US" altLang="en-US" dirty="0"/>
          </a:p>
          <a:p>
            <a:pPr lvl="0"/>
            <a:r>
              <a:rPr lang="en-US" altLang="en-US" dirty="0"/>
              <a:t>High-density 68-pin female connector </a:t>
            </a:r>
            <a:endParaRPr lang="en-US" altLang="en-US" dirty="0"/>
          </a:p>
          <a:p>
            <a:pPr lvl="0">
              <a:buNone/>
            </a:pPr>
            <a:r>
              <a:rPr lang="en-US" altLang="en-US" b="1" dirty="0"/>
              <a:t>NOTE:</a:t>
            </a:r>
            <a:r>
              <a:rPr lang="en-US" altLang="en-US" dirty="0"/>
              <a:t> SCSI devices must be terminated at the endpoints of the SCSI chain. Check the device manual for termination procedures.</a:t>
            </a:r>
            <a:endParaRPr lang="en-US" altLang="en-US" b="1" dirty="0"/>
          </a:p>
          <a:p>
            <a:pPr lvl="0">
              <a:buNone/>
            </a:pPr>
            <a:r>
              <a:rPr lang="en-US" altLang="en-US" b="1" dirty="0"/>
              <a:t>CAUTION:</a:t>
            </a:r>
            <a:r>
              <a:rPr lang="en-US" altLang="en-US" dirty="0"/>
              <a:t> Some SCSI connectors resemble parallel connectors. Be careful not to connect the cable to the wrong port. The voltage used in the SCSI format may damage the parallel interface. SCSI connectors should be clearly labeled.</a:t>
            </a:r>
            <a:endParaRPr lang="en-US"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72707" name="Rectangle 2"/>
          <p:cNvSpPr>
            <a:spLocks noChangeAspect="1" noTextEdit="1"/>
          </p:cNvSpPr>
          <p:nvPr>
            <p:ph type="sldImg"/>
          </p:nvPr>
        </p:nvSpPr>
        <p:spPr>
          <a:ln/>
        </p:spPr>
      </p:sp>
      <p:sp>
        <p:nvSpPr>
          <p:cNvPr id="72708" name="Rectangle 3"/>
          <p:cNvSpPr>
            <a:spLocks noGrp="1"/>
          </p:cNvSpPr>
          <p:nvPr>
            <p:ph type="body" idx="1"/>
          </p:nvPr>
        </p:nvSpPr>
        <p:spPr>
          <a:ln/>
        </p:spPr>
        <p:txBody>
          <a:bodyPr wrap="square" lIns="95667" tIns="50185" rIns="95667" bIns="50185" anchor="t" anchorCtr="0"/>
          <a:p>
            <a:pPr lvl="0">
              <a:buNone/>
            </a:pPr>
            <a:r>
              <a:rPr lang="en-US" altLang="en-US" dirty="0"/>
              <a:t>Slide 37 – Network Ports and Cables</a:t>
            </a:r>
            <a:endParaRPr lang="en-US" altLang="en-US" dirty="0"/>
          </a:p>
          <a:p>
            <a:pPr lvl="0">
              <a:buNone/>
            </a:pPr>
            <a:r>
              <a:rPr lang="en-US" altLang="ja-JP" dirty="0">
                <a:ea typeface="MS PGothic" panose="020B0600070205080204" pitchFamily="34" charset="-128"/>
              </a:rPr>
              <a:t>1.5 Identify the names, purposes, and characteristics of ports and cables </a:t>
            </a:r>
            <a:endParaRPr lang="en-US" altLang="ja-JP" dirty="0">
              <a:ea typeface="MS PGothic" panose="020B0600070205080204" pitchFamily="34" charset="-128"/>
            </a:endParaRPr>
          </a:p>
          <a:p>
            <a:pPr lvl="0">
              <a:buNone/>
            </a:pPr>
            <a:r>
              <a:rPr lang="en-US" altLang="en-US" b="1" dirty="0"/>
              <a:t>Network Ports and Cables – </a:t>
            </a:r>
            <a:r>
              <a:rPr lang="en-US" altLang="en-US" dirty="0"/>
              <a:t>A network port, also known as an RJ-45 port, connects a computer to a network. The connection speed depends on the type of network port. Standard Ethernet can transmit up to 10 Mbps, Fast Ethernet can transmit up to 100 Mbps, and Gigabit Ethernet can transmit up to 1000 Mbps. The maximum length of network cable is 328 feet (100 m). </a:t>
            </a:r>
            <a:endParaRPr lang="en-US"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74755" name="Rectangle 2"/>
          <p:cNvSpPr>
            <a:spLocks noChangeAspect="1" noTextEdit="1"/>
          </p:cNvSpPr>
          <p:nvPr>
            <p:ph type="sldImg"/>
          </p:nvPr>
        </p:nvSpPr>
        <p:spPr>
          <a:ln/>
        </p:spPr>
      </p:sp>
      <p:sp>
        <p:nvSpPr>
          <p:cNvPr id="74756" name="Rectangle 3"/>
          <p:cNvSpPr>
            <a:spLocks noGrp="1"/>
          </p:cNvSpPr>
          <p:nvPr>
            <p:ph type="body" idx="1"/>
          </p:nvPr>
        </p:nvSpPr>
        <p:spPr>
          <a:ln/>
        </p:spPr>
        <p:txBody>
          <a:bodyPr wrap="square" lIns="95667" tIns="50185" rIns="95667" bIns="50185" anchor="t" anchorCtr="0"/>
          <a:p>
            <a:pPr lvl="0">
              <a:buNone/>
            </a:pPr>
            <a:r>
              <a:rPr lang="en-US" altLang="en-US" dirty="0"/>
              <a:t>Slide 38 – PS/2 Ports and Audio Ports</a:t>
            </a:r>
            <a:endParaRPr lang="en-US" altLang="en-US" dirty="0"/>
          </a:p>
          <a:p>
            <a:pPr lvl="0">
              <a:buNone/>
            </a:pPr>
            <a:r>
              <a:rPr lang="en-US" altLang="ja-JP" dirty="0">
                <a:ea typeface="MS PGothic" panose="020B0600070205080204" pitchFamily="34" charset="-128"/>
              </a:rPr>
              <a:t>1.5 Identify the names, purposes, and characteristics of ports and cables </a:t>
            </a:r>
            <a:endParaRPr lang="en-US" altLang="ja-JP" dirty="0">
              <a:ea typeface="MS PGothic" panose="020B0600070205080204" pitchFamily="34" charset="-128"/>
            </a:endParaRPr>
          </a:p>
          <a:p>
            <a:pPr lvl="0">
              <a:buNone/>
            </a:pPr>
            <a:r>
              <a:rPr lang="en-US" altLang="ja-JP" b="1" dirty="0">
                <a:ea typeface="MS PGothic" panose="020B0600070205080204" pitchFamily="34" charset="-128"/>
              </a:rPr>
              <a:t>PS/2 Ports</a:t>
            </a:r>
            <a:r>
              <a:rPr lang="en-US" altLang="ja-JP" dirty="0">
                <a:ea typeface="MS PGothic" panose="020B0600070205080204" pitchFamily="34" charset="-128"/>
              </a:rPr>
              <a:t> - A PS/2 port connects a keyboard or a mouse to a computer. The PS/2 port is a 6-pin mini-DIN female connector. The connectors for the keyboard and mouse are often colored differently. If the ports are not color-coded, look for a small figure of a mouse or keyboard next to each port.</a:t>
            </a:r>
            <a:endParaRPr lang="en-US" altLang="ja-JP" b="1" dirty="0">
              <a:ea typeface="MS PGothic" panose="020B0600070205080204" pitchFamily="34" charset="-128"/>
            </a:endParaRPr>
          </a:p>
          <a:p>
            <a:pPr lvl="0">
              <a:buNone/>
            </a:pPr>
            <a:r>
              <a:rPr lang="en-US" altLang="ja-JP" b="1" dirty="0">
                <a:ea typeface="MS PGothic" panose="020B0600070205080204" pitchFamily="34" charset="-128"/>
              </a:rPr>
              <a:t>Audio Ports</a:t>
            </a:r>
            <a:r>
              <a:rPr lang="en-US" altLang="ja-JP" dirty="0">
                <a:ea typeface="MS PGothic" panose="020B0600070205080204" pitchFamily="34" charset="-128"/>
              </a:rPr>
              <a:t> - An audio port connects audio devices to the computer. The following audio ports are commonly used:</a:t>
            </a:r>
            <a:endParaRPr lang="en-US" altLang="ja-JP" dirty="0">
              <a:ea typeface="MS PGothic" panose="020B0600070205080204" pitchFamily="34" charset="-128"/>
            </a:endParaRPr>
          </a:p>
          <a:p>
            <a:pPr lvl="0"/>
            <a:r>
              <a:rPr lang="en-US" altLang="ja-JP" dirty="0">
                <a:ea typeface="MS PGothic" panose="020B0600070205080204" pitchFamily="34" charset="-128"/>
              </a:rPr>
              <a:t>Line In – Connects to an external source, such as a stereo system </a:t>
            </a:r>
            <a:endParaRPr lang="en-US" altLang="ja-JP" dirty="0">
              <a:ea typeface="MS PGothic" panose="020B0600070205080204" pitchFamily="34" charset="-128"/>
            </a:endParaRPr>
          </a:p>
          <a:p>
            <a:pPr lvl="0"/>
            <a:r>
              <a:rPr lang="en-US" altLang="ja-JP" dirty="0">
                <a:ea typeface="MS PGothic" panose="020B0600070205080204" pitchFamily="34" charset="-128"/>
              </a:rPr>
              <a:t>Microphone – Connects to a microphone </a:t>
            </a:r>
            <a:endParaRPr lang="en-US" altLang="ja-JP" dirty="0">
              <a:ea typeface="MS PGothic" panose="020B0600070205080204" pitchFamily="34" charset="-128"/>
            </a:endParaRPr>
          </a:p>
          <a:p>
            <a:pPr lvl="0"/>
            <a:r>
              <a:rPr lang="en-US" altLang="ja-JP" dirty="0">
                <a:ea typeface="MS PGothic" panose="020B0600070205080204" pitchFamily="34" charset="-128"/>
              </a:rPr>
              <a:t>Line Out – Connects to speakers or headphones </a:t>
            </a:r>
            <a:endParaRPr lang="en-US" altLang="ja-JP" dirty="0">
              <a:ea typeface="MS PGothic" panose="020B0600070205080204" pitchFamily="34" charset="-128"/>
            </a:endParaRPr>
          </a:p>
          <a:p>
            <a:pPr lvl="0"/>
            <a:r>
              <a:rPr lang="en-US" altLang="ja-JP" dirty="0">
                <a:ea typeface="MS PGothic" panose="020B0600070205080204" pitchFamily="34" charset="-128"/>
              </a:rPr>
              <a:t>Gameport/MIDI – Connects to a joystick or MIDI-interfaced device </a:t>
            </a:r>
            <a:endParaRPr lang="en-US" altLang="ja-JP" dirty="0">
              <a:ea typeface="MS PGothic" panose="020B0600070205080204" pitchFamily="34" charset="-128"/>
            </a:endParaRPr>
          </a:p>
          <a:p>
            <a:pPr lvl="0">
              <a:buNone/>
            </a:pPr>
            <a:endParaRPr lang="en-US" altLang="ja-JP" dirty="0">
              <a:ea typeface="MS PGothic"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76803" name="Rectangle 2"/>
          <p:cNvSpPr>
            <a:spLocks noChangeAspect="1" noTextEdit="1"/>
          </p:cNvSpPr>
          <p:nvPr>
            <p:ph type="sldImg"/>
          </p:nvPr>
        </p:nvSpPr>
        <p:spPr>
          <a:ln/>
        </p:spPr>
      </p:sp>
      <p:sp>
        <p:nvSpPr>
          <p:cNvPr id="76804" name="Rectangle 3"/>
          <p:cNvSpPr>
            <a:spLocks noGrp="1"/>
          </p:cNvSpPr>
          <p:nvPr>
            <p:ph type="body" idx="1"/>
          </p:nvPr>
        </p:nvSpPr>
        <p:spPr>
          <a:ln/>
        </p:spPr>
        <p:txBody>
          <a:bodyPr wrap="square" lIns="95667" tIns="50185" rIns="95667" bIns="50185" anchor="t" anchorCtr="0"/>
          <a:p>
            <a:pPr lvl="0">
              <a:buNone/>
            </a:pPr>
            <a:r>
              <a:rPr lang="en-US" altLang="en-US" dirty="0"/>
              <a:t>Slide 39 – Video Ports</a:t>
            </a:r>
            <a:endParaRPr lang="en-US" altLang="en-US" dirty="0"/>
          </a:p>
          <a:p>
            <a:pPr lvl="0">
              <a:buNone/>
            </a:pPr>
            <a:r>
              <a:rPr lang="en-US" altLang="ja-JP" dirty="0">
                <a:ea typeface="MS PGothic" panose="020B0600070205080204" pitchFamily="34" charset="-128"/>
              </a:rPr>
              <a:t>1.5 Identify the names, purposes, and characteristics of ports and cables </a:t>
            </a:r>
            <a:endParaRPr lang="en-US" altLang="ja-JP" dirty="0">
              <a:ea typeface="MS PGothic" panose="020B0600070205080204" pitchFamily="34" charset="-128"/>
            </a:endParaRPr>
          </a:p>
          <a:p>
            <a:pPr lvl="0">
              <a:buNone/>
            </a:pPr>
            <a:r>
              <a:rPr lang="en-US" altLang="en-US" b="1" dirty="0"/>
              <a:t>Video Ports and Connectors</a:t>
            </a:r>
            <a:r>
              <a:rPr lang="en-US" altLang="en-US" dirty="0"/>
              <a:t> - A video port connects a monitor cable to a computer. There are several video port and connector types: </a:t>
            </a:r>
            <a:endParaRPr lang="en-US" altLang="en-US" dirty="0"/>
          </a:p>
          <a:p>
            <a:pPr lvl="0"/>
            <a:r>
              <a:rPr lang="en-US" altLang="en-US" b="1" dirty="0"/>
              <a:t>Video Graphics Array (VGA) </a:t>
            </a:r>
            <a:r>
              <a:rPr lang="en-US" altLang="en-US" dirty="0"/>
              <a:t>– VGA has a 3-row 15-pin female connector and provides analog output to a monitor. </a:t>
            </a:r>
            <a:endParaRPr lang="en-US" altLang="en-US" dirty="0"/>
          </a:p>
          <a:p>
            <a:pPr lvl="0"/>
            <a:r>
              <a:rPr lang="en-US" altLang="en-US" b="1" dirty="0"/>
              <a:t>Digital Visual Interface (DVI) </a:t>
            </a:r>
            <a:r>
              <a:rPr lang="en-US" altLang="en-US" dirty="0"/>
              <a:t>– DVI has a 24-pin female connector or a 29-pin female connector and provides a compressed digital output to a monitor. DVI-I provides both analog and digital signals. DVI-D provides digital signals only. </a:t>
            </a:r>
            <a:endParaRPr lang="en-US" altLang="en-US" dirty="0"/>
          </a:p>
          <a:p>
            <a:pPr lvl="0"/>
            <a:r>
              <a:rPr lang="en-US" altLang="en-US" b="1" dirty="0"/>
              <a:t>High-Definition Multimedia Interface (HDMi) </a:t>
            </a:r>
            <a:r>
              <a:rPr lang="en-US" altLang="en-US" dirty="0"/>
              <a:t>– HDMi has a 19-pin connector and provides digital video and digital audio signals. </a:t>
            </a:r>
            <a:endParaRPr lang="en-US" altLang="en-US" dirty="0"/>
          </a:p>
          <a:p>
            <a:pPr lvl="0"/>
            <a:r>
              <a:rPr lang="en-US" altLang="en-US" b="1" dirty="0"/>
              <a:t>S-Video </a:t>
            </a:r>
            <a:r>
              <a:rPr lang="en-US" altLang="en-US" dirty="0"/>
              <a:t>– S-Video has a 4-pin connector and provides analog video signals. </a:t>
            </a:r>
            <a:endParaRPr lang="en-US" altLang="en-US" dirty="0"/>
          </a:p>
          <a:p>
            <a:pPr lvl="0"/>
            <a:r>
              <a:rPr lang="en-US" altLang="en-US" b="1" dirty="0"/>
              <a:t>Component/RGB</a:t>
            </a:r>
            <a:r>
              <a:rPr lang="en-US" altLang="en-US" dirty="0"/>
              <a:t> – RGB has three shielded cables (red, green, blue) with RCA jacks and provides analog video signals. </a:t>
            </a:r>
            <a:endParaRPr lang="en-US" altLang="en-US" dirty="0"/>
          </a:p>
          <a:p>
            <a:pPr lvl="0">
              <a:buNone/>
            </a:pPr>
            <a:endParaRPr lang="en-US"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78851" name="Rectangle 2"/>
          <p:cNvSpPr>
            <a:spLocks noChangeAspect="1" noTextEdit="1"/>
          </p:cNvSpPr>
          <p:nvPr>
            <p:ph type="sldImg"/>
          </p:nvPr>
        </p:nvSpPr>
        <p:spPr>
          <a:ln/>
        </p:spPr>
      </p:sp>
      <p:sp>
        <p:nvSpPr>
          <p:cNvPr id="78852" name="Rectangle 3"/>
          <p:cNvSpPr>
            <a:spLocks noGrp="1"/>
          </p:cNvSpPr>
          <p:nvPr>
            <p:ph type="body" idx="1"/>
          </p:nvPr>
        </p:nvSpPr>
        <p:spPr>
          <a:ln/>
        </p:spPr>
        <p:txBody>
          <a:bodyPr wrap="square" lIns="95667" tIns="50185" rIns="95667" bIns="50185" anchor="t" anchorCtr="0"/>
          <a:p>
            <a:pPr lvl="0">
              <a:buNone/>
            </a:pPr>
            <a:r>
              <a:rPr lang="en-US" altLang="en-US" dirty="0"/>
              <a:t>Slide 40 – Input Devices</a:t>
            </a:r>
            <a:endParaRPr lang="en-US" altLang="en-US" dirty="0"/>
          </a:p>
          <a:p>
            <a:pPr lvl="0">
              <a:buNone/>
            </a:pPr>
            <a:r>
              <a:rPr lang="en-US" altLang="ja-JP" dirty="0">
                <a:ea typeface="MS PGothic" panose="020B0600070205080204" pitchFamily="34" charset="-128"/>
              </a:rPr>
              <a:t>1.6 Identify the names, purposes, and characteristics of input devices </a:t>
            </a:r>
            <a:endParaRPr lang="en-US" altLang="ja-JP" dirty="0">
              <a:ea typeface="MS PGothic" panose="020B0600070205080204" pitchFamily="34" charset="-128"/>
            </a:endParaRPr>
          </a:p>
          <a:p>
            <a:pPr lvl="0">
              <a:buNone/>
            </a:pPr>
            <a:r>
              <a:rPr lang="en-US" altLang="en-US" dirty="0"/>
              <a:t>Here are some examples of input devices used to enter data or instructions into a computer: </a:t>
            </a:r>
            <a:endParaRPr lang="en-US" altLang="en-US" dirty="0"/>
          </a:p>
          <a:p>
            <a:pPr lvl="0"/>
            <a:r>
              <a:rPr lang="en-US" altLang="en-US" dirty="0"/>
              <a:t>The </a:t>
            </a:r>
            <a:r>
              <a:rPr lang="en-US" altLang="en-US" b="1" dirty="0"/>
              <a:t>mouse</a:t>
            </a:r>
            <a:r>
              <a:rPr lang="en-US" altLang="en-US" dirty="0"/>
              <a:t> and </a:t>
            </a:r>
            <a:r>
              <a:rPr lang="en-US" altLang="en-US" b="1" dirty="0"/>
              <a:t>keyboard</a:t>
            </a:r>
            <a:r>
              <a:rPr lang="en-US" altLang="en-US" dirty="0"/>
              <a:t> are the two most commonly used input devices. The mouse is used to navigate the graphical user interface (GUI). The keyboard is used to enter text commands that control the computer.</a:t>
            </a:r>
            <a:endParaRPr lang="en-US" altLang="en-US" dirty="0"/>
          </a:p>
          <a:p>
            <a:pPr lvl="0"/>
            <a:r>
              <a:rPr lang="en-US" altLang="en-US" b="1" dirty="0"/>
              <a:t>Digital cameras</a:t>
            </a:r>
            <a:r>
              <a:rPr lang="en-US" altLang="en-US" dirty="0"/>
              <a:t> and </a:t>
            </a:r>
            <a:r>
              <a:rPr lang="en-US" altLang="en-US" b="1" dirty="0"/>
              <a:t>digital video cameras</a:t>
            </a:r>
            <a:r>
              <a:rPr lang="en-US" altLang="en-US" dirty="0"/>
              <a:t> create images that can be stored on magnetic media. The image is stored as a file that can be displayed, printed, or altered. </a:t>
            </a:r>
            <a:endParaRPr lang="en-US" altLang="en-US" dirty="0"/>
          </a:p>
          <a:p>
            <a:pPr lvl="0"/>
            <a:r>
              <a:rPr lang="en-US" altLang="en-US" b="1" dirty="0"/>
              <a:t>Biometric identification</a:t>
            </a:r>
            <a:r>
              <a:rPr lang="en-US" altLang="en-US" dirty="0"/>
              <a:t> makes use of features that are unique to an individual user, such as fingerprints, voice recognition, or a retinal scan. When combined with ordinary usernames, biometrics guarantees that the authorized person is accessing the data.</a:t>
            </a:r>
            <a:endParaRPr lang="en-US" altLang="en-US" dirty="0"/>
          </a:p>
          <a:p>
            <a:pPr lvl="0"/>
            <a:r>
              <a:rPr lang="en-US" altLang="en-US" dirty="0"/>
              <a:t>A </a:t>
            </a:r>
            <a:r>
              <a:rPr lang="en-US" altLang="en-US" b="1" dirty="0"/>
              <a:t>touch screen</a:t>
            </a:r>
            <a:r>
              <a:rPr lang="en-US" altLang="en-US" dirty="0"/>
              <a:t> has a pressure-sensitive transparent panel. The computer receives instructions specific to the place on the screen that the user touches. </a:t>
            </a:r>
            <a:endParaRPr lang="en-US" altLang="en-US" dirty="0"/>
          </a:p>
          <a:p>
            <a:pPr lvl="0"/>
            <a:r>
              <a:rPr lang="en-US" altLang="en-US" dirty="0"/>
              <a:t>A </a:t>
            </a:r>
            <a:r>
              <a:rPr lang="en-US" altLang="en-US" b="1" dirty="0"/>
              <a:t>scanner</a:t>
            </a:r>
            <a:r>
              <a:rPr lang="en-US" altLang="en-US" dirty="0"/>
              <a:t> digitizes an image or document. The digitization of the image is stored as a file that can be displayed, printed, or altered. A bar code reader is a type of scanner that reads universal product code (UPC) bar codes.  It is widely used for pricing and inventory information.</a:t>
            </a:r>
            <a:endParaRPr lang="en-US"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80899" name="Rectangle 2"/>
          <p:cNvSpPr>
            <a:spLocks noChangeAspect="1" noTextEdit="1"/>
          </p:cNvSpPr>
          <p:nvPr>
            <p:ph type="sldImg"/>
          </p:nvPr>
        </p:nvSpPr>
        <p:spPr>
          <a:ln/>
        </p:spPr>
      </p:sp>
      <p:sp>
        <p:nvSpPr>
          <p:cNvPr id="80900" name="Rectangle 3"/>
          <p:cNvSpPr>
            <a:spLocks noGrp="1"/>
          </p:cNvSpPr>
          <p:nvPr>
            <p:ph type="body" idx="1"/>
          </p:nvPr>
        </p:nvSpPr>
        <p:spPr>
          <a:ln/>
        </p:spPr>
        <p:txBody>
          <a:bodyPr wrap="square" lIns="95667" tIns="50185" rIns="95667" bIns="50185" anchor="t" anchorCtr="0"/>
          <a:p>
            <a:pPr lvl="0">
              <a:buNone/>
            </a:pPr>
            <a:r>
              <a:rPr lang="en-US" altLang="en-US" dirty="0"/>
              <a:t>Slide 41 – Monitors and Projectors</a:t>
            </a:r>
            <a:endParaRPr lang="en-US" altLang="en-US" dirty="0"/>
          </a:p>
          <a:p>
            <a:pPr lvl="0">
              <a:buNone/>
            </a:pPr>
            <a:r>
              <a:rPr lang="en-US" altLang="ja-JP" dirty="0">
                <a:ea typeface="MS PGothic" panose="020B0600070205080204" pitchFamily="34" charset="-128"/>
              </a:rPr>
              <a:t>1.7 Identify the names, purposes, and characteristics of output devices </a:t>
            </a:r>
            <a:endParaRPr lang="en-US" altLang="ja-JP" dirty="0">
              <a:ea typeface="MS PGothic" panose="020B0600070205080204" pitchFamily="34" charset="-128"/>
            </a:endParaRPr>
          </a:p>
          <a:p>
            <a:pPr lvl="0">
              <a:buNone/>
            </a:pPr>
            <a:r>
              <a:rPr lang="en-US" altLang="en-US" dirty="0"/>
              <a:t>An output device is used to present information to the user from a computer. Here are some examples of output devices:</a:t>
            </a:r>
            <a:endParaRPr lang="en-US" altLang="en-US" dirty="0"/>
          </a:p>
          <a:p>
            <a:pPr lvl="0"/>
            <a:r>
              <a:rPr lang="en-US" altLang="en-US" dirty="0"/>
              <a:t>Monitors and projectors </a:t>
            </a:r>
            <a:endParaRPr lang="en-US" altLang="en-US" dirty="0"/>
          </a:p>
          <a:p>
            <a:pPr lvl="0"/>
            <a:r>
              <a:rPr lang="en-US" altLang="en-US" dirty="0"/>
              <a:t>Printers, scanners, and fax machines </a:t>
            </a:r>
            <a:endParaRPr lang="en-US" altLang="en-US" dirty="0"/>
          </a:p>
          <a:p>
            <a:pPr lvl="0"/>
            <a:r>
              <a:rPr lang="en-US" altLang="en-US" dirty="0"/>
              <a:t>Speakers and headphones </a:t>
            </a:r>
            <a:endParaRPr lang="en-US" altLang="en-US" dirty="0"/>
          </a:p>
          <a:p>
            <a:pPr lvl="0">
              <a:buNone/>
            </a:pPr>
            <a:r>
              <a:rPr lang="en-US" altLang="en-US" b="1" dirty="0"/>
              <a:t>Monitors and Projectors</a:t>
            </a:r>
            <a:r>
              <a:rPr lang="en-US" altLang="en-US" dirty="0"/>
              <a:t> - Monitors and projectors are primary output devices for a computer. The most important difference between these monitor types is the technology used to create an image:</a:t>
            </a:r>
            <a:endParaRPr lang="en-US" altLang="en-US" dirty="0"/>
          </a:p>
          <a:p>
            <a:pPr lvl="0"/>
            <a:r>
              <a:rPr lang="en-US" altLang="en-US" b="1" dirty="0"/>
              <a:t>CRT </a:t>
            </a:r>
            <a:r>
              <a:rPr lang="en-US" altLang="en-US" dirty="0"/>
              <a:t>– Cathode-ray tube monitor is the most common monitor type. Red, green, and blue electron beams move back and forth across the phosphorous-coated screen. The phosphor glows when struck by the electron beam. Areas not struck by the electron beam do not glow. The combination of glowing and non-glowing areas is what creates the image on the screen. Most televisions also use this technology. </a:t>
            </a:r>
            <a:endParaRPr lang="en-US" altLang="en-US" dirty="0"/>
          </a:p>
          <a:p>
            <a:pPr lvl="0"/>
            <a:r>
              <a:rPr lang="en-US" altLang="en-US" b="1" dirty="0"/>
              <a:t>LCD </a:t>
            </a:r>
            <a:r>
              <a:rPr lang="en-US" altLang="en-US" dirty="0"/>
              <a:t>– Liquid crystal display is commonly used in laptops and some projectors. It consists of two polarizing filters with a liquid crystal solution between them. An electronic current aligns the crystals so that light can either pass through or not pass through. The effect of light passing through in certain areas and not in others is what creates the image. LCD comes in two forms, active matrix and passive matrix. Active matrix is sometimes called thin film transistor (TFT). TFT allows each pixel to be controlled, which creates very sharp color images. Passive matrix is less expensive than active matrix but does not provide the same level of image control. </a:t>
            </a:r>
            <a:endParaRPr lang="en-US" altLang="en-US" dirty="0"/>
          </a:p>
          <a:p>
            <a:pPr lvl="0"/>
            <a:r>
              <a:rPr lang="en-US" altLang="en-US" b="1" dirty="0"/>
              <a:t>DLP</a:t>
            </a:r>
            <a:r>
              <a:rPr lang="en-US" altLang="en-US" dirty="0"/>
              <a:t> – Digital light processing is another technology used in projectors. DLP projectors use a spinning color wheel with a microprocessor-controlled array of mirrors called a digital micromirror device (DMD). Each mirror corresponds to a specific pixel. Each mirror reflects light toward or away from the projector optics. This creates a monochromatic image of up to 1024 shades of gray in between white and black. The color wheel then adds the color data to complete the projected, color image. </a:t>
            </a:r>
            <a:endParaRPr lang="en-US" altLang="en-US" dirty="0"/>
          </a:p>
          <a:p>
            <a:pPr lvl="0">
              <a:buNone/>
            </a:pPr>
            <a:r>
              <a:rPr lang="en-US" altLang="en-US" dirty="0"/>
              <a:t>Monitor resolution refers to the level of image detail that can be reproduced. Higher resolution settings produce better image quality. There are several factors involved in monitor resolution:</a:t>
            </a:r>
            <a:endParaRPr lang="en-US" altLang="en-US" dirty="0"/>
          </a:p>
          <a:p>
            <a:pPr lvl="0"/>
            <a:r>
              <a:rPr lang="en-US" altLang="en-US" b="1" dirty="0"/>
              <a:t>Pixels </a:t>
            </a:r>
            <a:r>
              <a:rPr lang="en-US" altLang="en-US" dirty="0"/>
              <a:t>– The term pixel is an abbreviation for picture element. Pixels are the tiny dots that comprise a screen. Each pixel consists of red, green, and blue. </a:t>
            </a:r>
            <a:endParaRPr lang="en-US" altLang="en-US" dirty="0"/>
          </a:p>
          <a:p>
            <a:pPr lvl="0"/>
            <a:r>
              <a:rPr lang="en-US" altLang="en-US" b="1" dirty="0"/>
              <a:t>Dot Pitch </a:t>
            </a:r>
            <a:r>
              <a:rPr lang="en-US" altLang="en-US" dirty="0"/>
              <a:t>– Dot pitch is the distance between pixels on the screen. A lower dot pitch number produces a better image. </a:t>
            </a:r>
            <a:endParaRPr lang="en-US" altLang="en-US" dirty="0"/>
          </a:p>
          <a:p>
            <a:pPr lvl="0"/>
            <a:r>
              <a:rPr lang="en-US" altLang="en-US" b="1" dirty="0"/>
              <a:t>Refresh Rate </a:t>
            </a:r>
            <a:r>
              <a:rPr lang="en-US" altLang="en-US" dirty="0"/>
              <a:t>– The refresh rate is how often per second the image is rebuilt. A higher refresh rate produces a better image and reduces the level of flicker. </a:t>
            </a:r>
            <a:endParaRPr lang="en-US" altLang="en-US" dirty="0"/>
          </a:p>
          <a:p>
            <a:pPr lvl="0"/>
            <a:r>
              <a:rPr lang="en-US" altLang="en-US" b="1" dirty="0"/>
              <a:t>Interlace/Non-Interlace </a:t>
            </a:r>
            <a:r>
              <a:rPr lang="en-US" altLang="en-US" dirty="0"/>
              <a:t>– Interlaced monitors create the image by scanning the screen two times. The first scan covers the odd lines, top to bottom, and the second scan covers the even lines. Non-interlaced monitors create the image by scanning the screen, one line at a time from top to bottom. Most CRT monitors today are non-interlaced. </a:t>
            </a:r>
            <a:endParaRPr lang="en-US" altLang="en-US" dirty="0"/>
          </a:p>
          <a:p>
            <a:pPr lvl="0"/>
            <a:r>
              <a:rPr lang="en-US" altLang="en-US" b="1" dirty="0"/>
              <a:t>Horizontal Vertical Colors (HVC) </a:t>
            </a:r>
            <a:r>
              <a:rPr lang="en-US" altLang="en-US" dirty="0"/>
              <a:t>– The number of pixels in a line is the horizontal resolution. The number of lines in a screen is the vertical resolution. The number of colors that can be reproduced is the color resolution. </a:t>
            </a:r>
            <a:endParaRPr lang="en-US" altLang="en-US" dirty="0"/>
          </a:p>
          <a:p>
            <a:pPr lvl="0"/>
            <a:r>
              <a:rPr lang="en-US" altLang="en-US" b="1" dirty="0"/>
              <a:t>Aspect Ratio</a:t>
            </a:r>
            <a:r>
              <a:rPr lang="en-US" altLang="en-US" dirty="0"/>
              <a:t> – Aspect ratio is the horizontal to vertical measurement of the viewing area of a monitor. For example, a 4:3 aspect ratio would apply to a viewing area that is 16 inches wide by 12 inches high. A 4:3 aspect radio would also apply to a viewing area that is 24 inches wide by 18 inches high. A viewing area that is 22 inches wide by 12 inches high has an aspect ratio of 11:6. </a:t>
            </a:r>
            <a:endParaRPr lang="en-US" altLang="en-US" dirty="0"/>
          </a:p>
          <a:p>
            <a:pPr lvl="0">
              <a:buNone/>
            </a:pPr>
            <a:r>
              <a:rPr lang="en-US" altLang="en-US" dirty="0"/>
              <a:t>Monitors have controls for adjusting the quality of the image. Here are some common monitor settings:</a:t>
            </a:r>
            <a:endParaRPr lang="en-US" altLang="en-US" dirty="0"/>
          </a:p>
          <a:p>
            <a:pPr lvl="0"/>
            <a:r>
              <a:rPr lang="en-US" altLang="en-US" dirty="0"/>
              <a:t>Brightness – Intensity of the image </a:t>
            </a:r>
            <a:endParaRPr lang="en-US" altLang="en-US" dirty="0"/>
          </a:p>
          <a:p>
            <a:pPr lvl="0"/>
            <a:r>
              <a:rPr lang="en-US" altLang="en-US" dirty="0"/>
              <a:t>Contrast – Ratio of light to dark </a:t>
            </a:r>
            <a:endParaRPr lang="en-US" altLang="en-US" dirty="0"/>
          </a:p>
          <a:p>
            <a:pPr lvl="0"/>
            <a:r>
              <a:rPr lang="en-US" altLang="en-US" dirty="0"/>
              <a:t>Position – Vertical and horizontal location of image on the screen </a:t>
            </a:r>
            <a:endParaRPr lang="en-US" altLang="en-US" dirty="0"/>
          </a:p>
          <a:p>
            <a:pPr lvl="0"/>
            <a:r>
              <a:rPr lang="en-US" altLang="en-US" dirty="0"/>
              <a:t>Reset – Returns the monitor settings to factory settings </a:t>
            </a:r>
            <a:endParaRPr lang="en-US"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82947" name="Rectangle 2"/>
          <p:cNvSpPr>
            <a:spLocks noChangeAspect="1" noTextEdit="1"/>
          </p:cNvSpPr>
          <p:nvPr>
            <p:ph type="sldImg"/>
          </p:nvPr>
        </p:nvSpPr>
        <p:spPr>
          <a:ln/>
        </p:spPr>
      </p:sp>
      <p:sp>
        <p:nvSpPr>
          <p:cNvPr id="82948" name="Rectangle 3"/>
          <p:cNvSpPr>
            <a:spLocks noGrp="1"/>
          </p:cNvSpPr>
          <p:nvPr>
            <p:ph type="body" idx="1"/>
          </p:nvPr>
        </p:nvSpPr>
        <p:spPr>
          <a:ln/>
        </p:spPr>
        <p:txBody>
          <a:bodyPr wrap="square" lIns="95667" tIns="50185" rIns="95667" bIns="50185" anchor="t" anchorCtr="0"/>
          <a:p>
            <a:pPr lvl="0">
              <a:buNone/>
            </a:pPr>
            <a:r>
              <a:rPr lang="en-US" altLang="en-US" dirty="0"/>
              <a:t>Slide 42 – Other Output Devices</a:t>
            </a:r>
            <a:endParaRPr lang="en-US" altLang="en-US" dirty="0"/>
          </a:p>
          <a:p>
            <a:pPr lvl="0">
              <a:buNone/>
            </a:pPr>
            <a:r>
              <a:rPr lang="en-US" altLang="ja-JP" dirty="0">
                <a:ea typeface="MS PGothic" panose="020B0600070205080204" pitchFamily="34" charset="-128"/>
              </a:rPr>
              <a:t>1.7 Identify the names, purposes, and characteristics of output devices </a:t>
            </a:r>
            <a:endParaRPr lang="en-US" altLang="ja-JP" dirty="0">
              <a:ea typeface="MS PGothic" panose="020B0600070205080204" pitchFamily="34" charset="-128"/>
            </a:endParaRPr>
          </a:p>
          <a:p>
            <a:pPr lvl="0">
              <a:buNone/>
            </a:pPr>
            <a:r>
              <a:rPr lang="en-US" altLang="en-US" b="1" dirty="0"/>
              <a:t>Printers, Scanners, and Fax Machines </a:t>
            </a:r>
            <a:r>
              <a:rPr lang="en-US" altLang="en-US" dirty="0"/>
              <a:t>- Printers are output devices that create hard copies of computer files. Some printers specialize in particular applications, such as printing color photographs. Other all-in-one type printers are designed to provide multiple services such as printing, fax, and copier functions.</a:t>
            </a:r>
            <a:endParaRPr lang="en-US" altLang="en-US" dirty="0"/>
          </a:p>
          <a:p>
            <a:pPr lvl="0">
              <a:buNone/>
            </a:pPr>
            <a:r>
              <a:rPr lang="en-US" altLang="en-US" b="1" dirty="0"/>
              <a:t>Speakers and Headphones</a:t>
            </a:r>
            <a:r>
              <a:rPr lang="en-US" altLang="en-US" dirty="0"/>
              <a:t> - Speakers and headphones are output devices for audio signals. Most computers have audio support either integrated into the motherboard or on an adapter card. Audio support includes ports that allow input and output of audio signals. The audio card has an amplifier to power headphones and external speakers.</a:t>
            </a:r>
            <a:endParaRPr lang="en-US"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11"/>
          <p:cNvSpPr txBox="1">
            <a:spLocks noGrp="1"/>
          </p:cNvSpPr>
          <p:nvPr>
            <p:ph type="sldNum" sz="quarter"/>
          </p:nvPr>
        </p:nvSpPr>
        <p:spPr>
          <a:xfrm>
            <a:off x="5929313" y="8680450"/>
            <a:ext cx="812800" cy="287338"/>
          </a:xfrm>
          <a:prstGeom prst="rect">
            <a:avLst/>
          </a:prstGeom>
          <a:noFill/>
          <a:ln w="9525">
            <a:noFill/>
          </a:ln>
        </p:spPr>
        <p:txBody>
          <a:bodyPr lIns="18819" tIns="0" rIns="18819" bIns="0" anchor="b" anchorCtr="0"/>
          <a:p>
            <a:pPr marL="0" lvl="0" indent="0" algn="r" defTabSz="903605">
              <a:lnSpc>
                <a:spcPct val="100000"/>
              </a:lnSpc>
              <a:spcBef>
                <a:spcPct val="0"/>
              </a:spcBef>
              <a:buSzTx/>
              <a:buNone/>
            </a:pPr>
            <a:fld id="{9A0DB2DC-4C9A-4742-B13C-FB6460FD3503}" type="slidenum">
              <a:rPr lang="en-US" altLang="en-US" sz="800" dirty="0"/>
            </a:fld>
            <a:endParaRPr lang="en-US" altLang="en-US" sz="800" dirty="0"/>
          </a:p>
        </p:txBody>
      </p:sp>
      <p:sp>
        <p:nvSpPr>
          <p:cNvPr id="84995" name="Rectangle 2"/>
          <p:cNvSpPr>
            <a:spLocks noChangeAspect="1" noTextEdit="1"/>
          </p:cNvSpPr>
          <p:nvPr>
            <p:ph type="sldImg"/>
          </p:nvPr>
        </p:nvSpPr>
        <p:spPr>
          <a:ln/>
        </p:spPr>
      </p:sp>
      <p:sp>
        <p:nvSpPr>
          <p:cNvPr id="84996" name="Rectangle 3"/>
          <p:cNvSpPr>
            <a:spLocks noGrp="1"/>
          </p:cNvSpPr>
          <p:nvPr>
            <p:ph type="body" idx="1"/>
          </p:nvPr>
        </p:nvSpPr>
        <p:spPr>
          <a:ln/>
        </p:spPr>
        <p:txBody>
          <a:bodyPr wrap="square" lIns="95667" tIns="50185" rIns="95667" bIns="50185" anchor="t" anchorCtr="0"/>
          <a:p>
            <a:pPr lvl="0">
              <a:buNone/>
            </a:pPr>
            <a:r>
              <a:rPr lang="en-US" altLang="en-US" dirty="0"/>
              <a:t>Slide 52 – Q and A </a:t>
            </a:r>
            <a:endParaRPr lang="en-US" altLang="en-US" dirty="0"/>
          </a:p>
          <a:p>
            <a:pPr lvl="0"/>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PPt_CoverArt1"/>
          <p:cNvPicPr>
            <a:picLocks noChangeAspect="1"/>
          </p:cNvPicPr>
          <p:nvPr/>
        </p:nvPicPr>
        <p:blipFill>
          <a:blip r:embed="rId2"/>
          <a:stretch>
            <a:fillRect/>
          </a:stretch>
        </p:blipFill>
        <p:spPr>
          <a:xfrm>
            <a:off x="0" y="1893888"/>
            <a:ext cx="9140825" cy="2449512"/>
          </a:xfrm>
          <a:prstGeom prst="rect">
            <a:avLst/>
          </a:prstGeom>
          <a:noFill/>
          <a:ln w="9525">
            <a:noFill/>
          </a:ln>
        </p:spPr>
      </p:pic>
      <p:sp>
        <p:nvSpPr>
          <p:cNvPr id="10" name="Rectangle 3"/>
          <p:cNvSpPr>
            <a:spLocks noChangeArrowheads="1"/>
          </p:cNvSpPr>
          <p:nvPr/>
        </p:nvSpPr>
        <p:spPr bwMode="auto">
          <a:xfrm>
            <a:off x="4498975" y="6672263"/>
            <a:ext cx="2022475" cy="188913"/>
          </a:xfrm>
          <a:prstGeom prst="rect">
            <a:avLst/>
          </a:prstGeom>
          <a:noFill/>
          <a:ln>
            <a:noFill/>
          </a:ln>
        </p:spPr>
        <p:txBody>
          <a:bodyPr wrap="none" lIns="82124" tIns="41061" rIns="82124" bIns="41061" anchor="b" anchorCtr="1">
            <a:spAutoFit/>
          </a:bodyPr>
          <a:lstStyle>
            <a:lvl1pPr algn="ctr" defTabSz="814705">
              <a:lnSpc>
                <a:spcPct val="90000"/>
              </a:lnSpc>
              <a:defRPr sz="2400">
                <a:solidFill>
                  <a:schemeClr val="tx1"/>
                </a:solidFill>
                <a:latin typeface="Arial" panose="020B0604020202020204" pitchFamily="34" charset="0"/>
              </a:defRPr>
            </a:lvl1pPr>
            <a:lvl2pPr marL="742950" indent="-285750" algn="ctr" defTabSz="814705">
              <a:lnSpc>
                <a:spcPct val="90000"/>
              </a:lnSpc>
              <a:defRPr sz="2400">
                <a:solidFill>
                  <a:schemeClr val="tx1"/>
                </a:solidFill>
                <a:latin typeface="Arial" panose="020B0604020202020204" pitchFamily="34" charset="0"/>
              </a:defRPr>
            </a:lvl2pPr>
            <a:lvl3pPr marL="1143000" indent="-228600" algn="ctr" defTabSz="814705">
              <a:lnSpc>
                <a:spcPct val="90000"/>
              </a:lnSpc>
              <a:defRPr sz="2400">
                <a:solidFill>
                  <a:schemeClr val="tx1"/>
                </a:solidFill>
                <a:latin typeface="Arial" panose="020B0604020202020204" pitchFamily="34" charset="0"/>
              </a:defRPr>
            </a:lvl3pPr>
            <a:lvl4pPr marL="1600200" indent="-228600" algn="ctr" defTabSz="814705">
              <a:lnSpc>
                <a:spcPct val="90000"/>
              </a:lnSpc>
              <a:defRPr sz="2400">
                <a:solidFill>
                  <a:schemeClr val="tx1"/>
                </a:solidFill>
                <a:latin typeface="Arial" panose="020B0604020202020204" pitchFamily="34" charset="0"/>
              </a:defRPr>
            </a:lvl4pPr>
            <a:lvl5pPr marL="2057400" indent="-228600" algn="ctr" defTabSz="814705">
              <a:lnSpc>
                <a:spcPct val="90000"/>
              </a:lnSpc>
              <a:defRPr sz="2400">
                <a:solidFill>
                  <a:schemeClr val="tx1"/>
                </a:solidFill>
                <a:latin typeface="Arial" panose="020B0604020202020204" pitchFamily="34" charset="0"/>
              </a:defRPr>
            </a:lvl5pPr>
            <a:lvl6pPr marL="25146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marL="0" marR="0" lvl="0" indent="0" algn="l" defTabSz="814705" rtl="0" eaLnBrk="0" fontAlgn="base" latinLnBrk="0" hangingPunct="0">
              <a:lnSpc>
                <a:spcPct val="100000"/>
              </a:lnSpc>
              <a:spcBef>
                <a:spcPct val="0"/>
              </a:spcBef>
              <a:spcAft>
                <a:spcPct val="0"/>
              </a:spcAft>
              <a:buClrTx/>
              <a:buSzTx/>
              <a:buFontTx/>
              <a:buNone/>
              <a:defRPr/>
            </a:pPr>
            <a:r>
              <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rPr>
              <a:t>© 2007 Cisco Systems, Inc. All rights reserved.</a:t>
            </a:r>
            <a:endPar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endParaRPr>
          </a:p>
        </p:txBody>
      </p:sp>
      <p:sp>
        <p:nvSpPr>
          <p:cNvPr id="11" name="Rectangle 4"/>
          <p:cNvSpPr>
            <a:spLocks noChangeArrowheads="1"/>
          </p:cNvSpPr>
          <p:nvPr/>
        </p:nvSpPr>
        <p:spPr bwMode="auto">
          <a:xfrm>
            <a:off x="7123113" y="6672263"/>
            <a:ext cx="650875" cy="188913"/>
          </a:xfrm>
          <a:prstGeom prst="rect">
            <a:avLst/>
          </a:prstGeom>
          <a:noFill/>
          <a:ln>
            <a:noFill/>
          </a:ln>
        </p:spPr>
        <p:txBody>
          <a:bodyPr wrap="none" lIns="82124" tIns="41061" rIns="82124" bIns="41061" anchor="b">
            <a:spAutoFit/>
          </a:bodyPr>
          <a:lstStyle>
            <a:lvl1pPr algn="ctr" defTabSz="814705">
              <a:lnSpc>
                <a:spcPct val="90000"/>
              </a:lnSpc>
              <a:defRPr sz="2400">
                <a:solidFill>
                  <a:schemeClr val="tx1"/>
                </a:solidFill>
                <a:latin typeface="Arial" panose="020B0604020202020204" pitchFamily="34" charset="0"/>
              </a:defRPr>
            </a:lvl1pPr>
            <a:lvl2pPr marL="742950" indent="-285750" algn="ctr" defTabSz="814705">
              <a:lnSpc>
                <a:spcPct val="90000"/>
              </a:lnSpc>
              <a:defRPr sz="2400">
                <a:solidFill>
                  <a:schemeClr val="tx1"/>
                </a:solidFill>
                <a:latin typeface="Arial" panose="020B0604020202020204" pitchFamily="34" charset="0"/>
              </a:defRPr>
            </a:lvl2pPr>
            <a:lvl3pPr marL="1143000" indent="-228600" algn="ctr" defTabSz="814705">
              <a:lnSpc>
                <a:spcPct val="90000"/>
              </a:lnSpc>
              <a:defRPr sz="2400">
                <a:solidFill>
                  <a:schemeClr val="tx1"/>
                </a:solidFill>
                <a:latin typeface="Arial" panose="020B0604020202020204" pitchFamily="34" charset="0"/>
              </a:defRPr>
            </a:lvl3pPr>
            <a:lvl4pPr marL="1600200" indent="-228600" algn="ctr" defTabSz="814705">
              <a:lnSpc>
                <a:spcPct val="90000"/>
              </a:lnSpc>
              <a:defRPr sz="2400">
                <a:solidFill>
                  <a:schemeClr val="tx1"/>
                </a:solidFill>
                <a:latin typeface="Arial" panose="020B0604020202020204" pitchFamily="34" charset="0"/>
              </a:defRPr>
            </a:lvl4pPr>
            <a:lvl5pPr marL="2057400" indent="-228600" algn="ctr" defTabSz="814705">
              <a:lnSpc>
                <a:spcPct val="90000"/>
              </a:lnSpc>
              <a:defRPr sz="2400">
                <a:solidFill>
                  <a:schemeClr val="tx1"/>
                </a:solidFill>
                <a:latin typeface="Arial" panose="020B0604020202020204" pitchFamily="34" charset="0"/>
              </a:defRPr>
            </a:lvl5pPr>
            <a:lvl6pPr marL="25146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marL="0" marR="0" lvl="0" indent="0" algn="r" defTabSz="814705" rtl="0" eaLnBrk="0" fontAlgn="base" latinLnBrk="0" hangingPunct="0">
              <a:lnSpc>
                <a:spcPct val="100000"/>
              </a:lnSpc>
              <a:spcBef>
                <a:spcPct val="0"/>
              </a:spcBef>
              <a:spcAft>
                <a:spcPct val="0"/>
              </a:spcAft>
              <a:buClrTx/>
              <a:buSzTx/>
              <a:buFontTx/>
              <a:buNone/>
              <a:defRPr/>
            </a:pPr>
            <a:r>
              <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rPr>
              <a:t>Cisco Public</a:t>
            </a:r>
            <a:endPar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endParaRPr>
          </a:p>
        </p:txBody>
      </p:sp>
      <p:sp>
        <p:nvSpPr>
          <p:cNvPr id="12" name="Rectangle 5"/>
          <p:cNvSpPr>
            <a:spLocks noChangeArrowheads="1"/>
          </p:cNvSpPr>
          <p:nvPr/>
        </p:nvSpPr>
        <p:spPr bwMode="auto">
          <a:xfrm>
            <a:off x="193675" y="6565900"/>
            <a:ext cx="962025" cy="295275"/>
          </a:xfrm>
          <a:prstGeom prst="rect">
            <a:avLst/>
          </a:prstGeom>
          <a:noFill/>
          <a:ln>
            <a:noFill/>
          </a:ln>
        </p:spPr>
        <p:txBody>
          <a:bodyPr lIns="82124" tIns="41061" rIns="82124" bIns="41061" anchor="b">
            <a:spAutoFit/>
          </a:bodyPr>
          <a:lstStyle>
            <a:lvl1pPr algn="ctr" defTabSz="814705">
              <a:lnSpc>
                <a:spcPct val="90000"/>
              </a:lnSpc>
              <a:defRPr sz="2400">
                <a:solidFill>
                  <a:schemeClr val="tx1"/>
                </a:solidFill>
                <a:latin typeface="Arial" panose="020B0604020202020204" pitchFamily="34" charset="0"/>
              </a:defRPr>
            </a:lvl1pPr>
            <a:lvl2pPr marL="742950" indent="-285750" algn="ctr" defTabSz="814705">
              <a:lnSpc>
                <a:spcPct val="90000"/>
              </a:lnSpc>
              <a:defRPr sz="2400">
                <a:solidFill>
                  <a:schemeClr val="tx1"/>
                </a:solidFill>
                <a:latin typeface="Arial" panose="020B0604020202020204" pitchFamily="34" charset="0"/>
              </a:defRPr>
            </a:lvl2pPr>
            <a:lvl3pPr marL="1143000" indent="-228600" algn="ctr" defTabSz="814705">
              <a:lnSpc>
                <a:spcPct val="90000"/>
              </a:lnSpc>
              <a:defRPr sz="2400">
                <a:solidFill>
                  <a:schemeClr val="tx1"/>
                </a:solidFill>
                <a:latin typeface="Arial" panose="020B0604020202020204" pitchFamily="34" charset="0"/>
              </a:defRPr>
            </a:lvl3pPr>
            <a:lvl4pPr marL="1600200" indent="-228600" algn="ctr" defTabSz="814705">
              <a:lnSpc>
                <a:spcPct val="90000"/>
              </a:lnSpc>
              <a:defRPr sz="2400">
                <a:solidFill>
                  <a:schemeClr val="tx1"/>
                </a:solidFill>
                <a:latin typeface="Arial" panose="020B0604020202020204" pitchFamily="34" charset="0"/>
              </a:defRPr>
            </a:lvl4pPr>
            <a:lvl5pPr marL="2057400" indent="-228600" algn="ctr" defTabSz="814705">
              <a:lnSpc>
                <a:spcPct val="90000"/>
              </a:lnSpc>
              <a:defRPr sz="2400">
                <a:solidFill>
                  <a:schemeClr val="tx1"/>
                </a:solidFill>
                <a:latin typeface="Arial" panose="020B0604020202020204" pitchFamily="34" charset="0"/>
              </a:defRPr>
            </a:lvl5pPr>
            <a:lvl6pPr marL="25146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marL="0" marR="0" lvl="0" indent="0" algn="l" defTabSz="814705" rtl="0" eaLnBrk="0" fontAlgn="base" latinLnBrk="0" hangingPunct="0">
              <a:lnSpc>
                <a:spcPct val="100000"/>
              </a:lnSpc>
              <a:spcBef>
                <a:spcPct val="0"/>
              </a:spcBef>
              <a:spcAft>
                <a:spcPct val="0"/>
              </a:spcAft>
              <a:buClrTx/>
              <a:buSzTx/>
              <a:buFontTx/>
              <a:buNone/>
              <a:defRPr/>
            </a:pPr>
            <a:r>
              <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rPr>
              <a:t>ITE PC v4.0</a:t>
            </a:r>
            <a:endPar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endParaRPr>
          </a:p>
          <a:p>
            <a:pPr marL="0" marR="0" lvl="0" indent="0" algn="l" defTabSz="814705" rtl="0" eaLnBrk="0" fontAlgn="base" latinLnBrk="0" hangingPunct="0">
              <a:lnSpc>
                <a:spcPct val="100000"/>
              </a:lnSpc>
              <a:spcBef>
                <a:spcPct val="0"/>
              </a:spcBef>
              <a:spcAft>
                <a:spcPct val="0"/>
              </a:spcAft>
              <a:buClrTx/>
              <a:buSzTx/>
              <a:buFontTx/>
              <a:buNone/>
              <a:defRPr/>
            </a:pPr>
            <a:r>
              <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rPr>
              <a:t>Chapter 1</a:t>
            </a:r>
            <a:endPar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endParaRPr>
          </a:p>
        </p:txBody>
      </p:sp>
      <p:sp>
        <p:nvSpPr>
          <p:cNvPr id="13" name="Rectangle 6"/>
          <p:cNvSpPr>
            <a:spLocks noChangeArrowheads="1"/>
          </p:cNvSpPr>
          <p:nvPr/>
        </p:nvSpPr>
        <p:spPr bwMode="auto">
          <a:xfrm>
            <a:off x="8596313" y="6626225"/>
            <a:ext cx="320675" cy="234950"/>
          </a:xfrm>
          <a:prstGeom prst="rect">
            <a:avLst/>
          </a:prstGeom>
          <a:noFill/>
          <a:ln w="9525" algn="ctr">
            <a:noFill/>
            <a:miter lim="800000"/>
          </a:ln>
          <a:effectLst/>
        </p:spPr>
        <p:txBody>
          <a:bodyPr wrap="none" lIns="82124" tIns="41061" rIns="82124" bIns="41061" anchor="b">
            <a:spAutoFit/>
          </a:bodyPr>
          <a:lstStyle>
            <a:lvl1pPr defTabSz="814705">
              <a:defRPr sz="2400">
                <a:solidFill>
                  <a:schemeClr val="tx1"/>
                </a:solidFill>
                <a:latin typeface="Arial" panose="020B0604020202020204" pitchFamily="34" charset="0"/>
              </a:defRPr>
            </a:lvl1pPr>
            <a:lvl2pPr marL="742950" indent="-285750" defTabSz="814705">
              <a:defRPr sz="2400">
                <a:solidFill>
                  <a:schemeClr val="tx1"/>
                </a:solidFill>
                <a:latin typeface="Arial" panose="020B0604020202020204" pitchFamily="34" charset="0"/>
              </a:defRPr>
            </a:lvl2pPr>
            <a:lvl3pPr marL="1143000" indent="-228600" defTabSz="814705">
              <a:defRPr sz="2400">
                <a:solidFill>
                  <a:schemeClr val="tx1"/>
                </a:solidFill>
                <a:latin typeface="Arial" panose="020B0604020202020204" pitchFamily="34" charset="0"/>
              </a:defRPr>
            </a:lvl3pPr>
            <a:lvl4pPr marL="1600200" indent="-228600" defTabSz="814705">
              <a:defRPr sz="2400">
                <a:solidFill>
                  <a:schemeClr val="tx1"/>
                </a:solidFill>
                <a:latin typeface="Arial" panose="020B0604020202020204" pitchFamily="34" charset="0"/>
              </a:defRPr>
            </a:lvl4pPr>
            <a:lvl5pPr marL="2057400" indent="-228600" defTabSz="814705">
              <a:defRPr sz="2400">
                <a:solidFill>
                  <a:schemeClr val="tx1"/>
                </a:solidFill>
                <a:latin typeface="Arial" panose="020B0604020202020204" pitchFamily="34" charset="0"/>
              </a:defRPr>
            </a:lvl5pPr>
            <a:lvl6pPr marL="2514600" indent="-228600" defTabSz="81470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81470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81470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814705"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814705" rtl="0" eaLnBrk="0" fontAlgn="base" latinLnBrk="0" hangingPunct="0">
              <a:lnSpc>
                <a:spcPct val="100000"/>
              </a:lnSpc>
              <a:spcBef>
                <a:spcPct val="0"/>
              </a:spcBef>
              <a:spcAft>
                <a:spcPct val="0"/>
              </a:spcAft>
              <a:buClrTx/>
              <a:buSzTx/>
              <a:buFontTx/>
              <a:buNone/>
              <a:defRPr/>
            </a:pPr>
            <a:fld id="{1928D1E8-9590-421B-A24E-5B4547D102BA}" type="slidenum">
              <a:rPr kumimoji="0" lang="en-US" altLang="en-US" sz="1000" b="0" i="0" u="none" strike="noStrike" kern="1200" cap="none" spc="0" normalizeH="0" baseline="0" noProof="0" smtClean="0">
                <a:ln>
                  <a:noFill/>
                </a:ln>
                <a:solidFill>
                  <a:srgbClr val="D3D3D3"/>
                </a:solidFill>
                <a:effectLst/>
                <a:uLnTx/>
                <a:uFillTx/>
                <a:latin typeface="Arial" panose="020B0604020202020204" pitchFamily="34" charset="0"/>
                <a:ea typeface="+mn-ea"/>
                <a:cs typeface="+mn-cs"/>
              </a:rPr>
            </a:fld>
            <a:endParaRPr kumimoji="0" lang="en-US" altLang="en-US" sz="1000" b="0" i="0" u="none" strike="noStrike" kern="1200" cap="none" spc="0" normalizeH="0" baseline="0" noProof="0" smtClean="0">
              <a:ln>
                <a:noFill/>
              </a:ln>
              <a:solidFill>
                <a:srgbClr val="D3D3D3"/>
              </a:solidFill>
              <a:effectLst/>
              <a:uLnTx/>
              <a:uFillTx/>
              <a:latin typeface="Arial" panose="020B0604020202020204" pitchFamily="34" charset="0"/>
              <a:ea typeface="+mn-ea"/>
              <a:cs typeface="+mn-cs"/>
            </a:endParaRPr>
          </a:p>
        </p:txBody>
      </p:sp>
      <p:pic>
        <p:nvPicPr>
          <p:cNvPr id="2055" name="Picture 9" descr="Cisco_NewLogo"/>
          <p:cNvPicPr>
            <a:picLocks noChangeAspect="1"/>
          </p:cNvPicPr>
          <p:nvPr/>
        </p:nvPicPr>
        <p:blipFill>
          <a:blip r:embed="rId3"/>
          <a:stretch>
            <a:fillRect/>
          </a:stretch>
        </p:blipFill>
        <p:spPr>
          <a:xfrm>
            <a:off x="5483225" y="5940425"/>
            <a:ext cx="3354388" cy="474663"/>
          </a:xfrm>
          <a:prstGeom prst="rect">
            <a:avLst/>
          </a:prstGeom>
          <a:noFill/>
          <a:ln w="9525">
            <a:noFill/>
          </a:ln>
        </p:spPr>
      </p:pic>
      <p:pic>
        <p:nvPicPr>
          <p:cNvPr id="2056" name="Picture 10" descr="Cisco"/>
          <p:cNvPicPr>
            <a:picLocks noChangeAspect="1"/>
          </p:cNvPicPr>
          <p:nvPr/>
        </p:nvPicPr>
        <p:blipFill>
          <a:blip r:embed="rId4"/>
          <a:stretch>
            <a:fillRect/>
          </a:stretch>
        </p:blipFill>
        <p:spPr>
          <a:xfrm>
            <a:off x="246063" y="119063"/>
            <a:ext cx="1171575" cy="904875"/>
          </a:xfrm>
          <a:prstGeom prst="rect">
            <a:avLst/>
          </a:prstGeom>
          <a:noFill/>
          <a:ln w="9525">
            <a:noFill/>
          </a:ln>
        </p:spPr>
      </p:pic>
      <p:sp>
        <p:nvSpPr>
          <p:cNvPr id="1290247" name="Rectangle 7"/>
          <p:cNvSpPr>
            <a:spLocks noGrp="1" noChangeArrowheads="1"/>
          </p:cNvSpPr>
          <p:nvPr>
            <p:ph type="ctrTitle" hasCustomPrompt="1"/>
          </p:nvPr>
        </p:nvSpPr>
        <p:spPr bwMode="white">
          <a:xfrm>
            <a:off x="311150" y="2671763"/>
            <a:ext cx="3768725" cy="830262"/>
          </a:xfrm>
        </p:spPr>
        <p:txBody>
          <a:bodyPr anchor="ctr"/>
          <a:lstStyle>
            <a:lvl1pPr>
              <a:defRPr sz="3000" b="0">
                <a:solidFill>
                  <a:srgbClr val="FFFFFF"/>
                </a:solidFill>
              </a:defRPr>
            </a:lvl1pPr>
          </a:lstStyle>
          <a:p>
            <a:r>
              <a:rPr lang="en-US"/>
              <a:t>Click To Edit Master Title Style</a:t>
            </a:r>
            <a:endParaRPr lang="en-US"/>
          </a:p>
        </p:txBody>
      </p:sp>
      <p:sp>
        <p:nvSpPr>
          <p:cNvPr id="1290248" name="Rectangle 8"/>
          <p:cNvSpPr>
            <a:spLocks noGrp="1" noChangeArrowheads="1"/>
          </p:cNvSpPr>
          <p:nvPr>
            <p:ph type="subTitle" idx="1" hasCustomPrompt="1"/>
          </p:nvPr>
        </p:nvSpPr>
        <p:spPr>
          <a:xfrm>
            <a:off x="311150" y="4672013"/>
            <a:ext cx="4103688" cy="658812"/>
          </a:xfrm>
        </p:spPr>
        <p:txBody>
          <a:bodyPr/>
          <a:lstStyle>
            <a:lvl1pPr marL="0" indent="0">
              <a:lnSpc>
                <a:spcPct val="90000"/>
              </a:lnSpc>
              <a:buFont typeface="Wingdings" panose="05000000000000000000" pitchFamily="2" charset="2"/>
              <a:buNone/>
              <a:defRPr sz="2000" b="1">
                <a:solidFill>
                  <a:schemeClr val="bg2"/>
                </a:solidFill>
              </a:defRPr>
            </a:lvl1pPr>
          </a:lstStyle>
          <a:p>
            <a:r>
              <a:rPr lang="en-US"/>
              <a:t>Click to Edit Master Subtitle Style</a:t>
            </a:r>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82124" tIns="41061" rIns="82124" bIns="41061"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defRPr/>
            </a:pPr>
            <a:endParaRPr kumimoji="0" 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a:t>Click to edit Master title style</a:t>
            </a:r>
            <a:endParaRPr lang="en-US"/>
          </a:p>
        </p:txBody>
      </p:sp>
      <p:sp>
        <p:nvSpPr>
          <p:cNvPr id="3" name="Table Placeholder 2"/>
          <p:cNvSpPr>
            <a:spLocks noGrp="1"/>
          </p:cNvSpPr>
          <p:nvPr>
            <p:ph type="tbl" idx="1"/>
          </p:nvPr>
        </p:nvSpPr>
        <p:spPr>
          <a:xfrm>
            <a:off x="655638" y="2014538"/>
            <a:ext cx="7940675" cy="3571875"/>
          </a:xfrm>
        </p:spPr>
        <p:txBody>
          <a:bodyPr vert="horz" wrap="square" lIns="82124" tIns="41061" rIns="82124" bIns="41061" numCol="1" anchor="t" anchorCtr="0" compatLnSpc="1"/>
          <a:lstStyle/>
          <a:p>
            <a:pPr marL="236855" marR="0" lvl="0" indent="-236855"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Char char="§"/>
              <a:defRPr/>
            </a:pPr>
            <a:endParaRPr kumimoji="0" lang="en-US" sz="2400" b="0" i="0" u="none" strike="noStrike" kern="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4.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55638" y="798513"/>
            <a:ext cx="8145462" cy="838200"/>
          </a:xfrm>
          <a:prstGeom prst="rect">
            <a:avLst/>
          </a:prstGeom>
          <a:noFill/>
          <a:ln w="9525">
            <a:noFill/>
          </a:ln>
        </p:spPr>
        <p:txBody>
          <a:bodyPr lIns="82124" tIns="41061" rIns="82124" bIns="41061" anchor="b" anchorCtr="0"/>
          <a:p>
            <a:pPr lvl="0"/>
            <a:r>
              <a:rPr lang="en-US" altLang="en-US" dirty="0"/>
              <a:t>Slide Title</a:t>
            </a:r>
            <a:endParaRPr lang="en-US" altLang="en-US" dirty="0"/>
          </a:p>
        </p:txBody>
      </p:sp>
      <p:sp>
        <p:nvSpPr>
          <p:cNvPr id="1027" name="Rectangle 4"/>
          <p:cNvSpPr>
            <a:spLocks noChangeArrowheads="1"/>
          </p:cNvSpPr>
          <p:nvPr/>
        </p:nvSpPr>
        <p:spPr bwMode="auto">
          <a:xfrm>
            <a:off x="193675" y="6565900"/>
            <a:ext cx="962025" cy="295275"/>
          </a:xfrm>
          <a:prstGeom prst="rect">
            <a:avLst/>
          </a:prstGeom>
          <a:noFill/>
          <a:ln>
            <a:noFill/>
          </a:ln>
        </p:spPr>
        <p:txBody>
          <a:bodyPr lIns="82124" tIns="41061" rIns="82124" bIns="41061" anchor="b">
            <a:spAutoFit/>
          </a:bodyPr>
          <a:lstStyle>
            <a:lvl1pPr algn="ctr" defTabSz="814705">
              <a:lnSpc>
                <a:spcPct val="90000"/>
              </a:lnSpc>
              <a:defRPr sz="2400">
                <a:solidFill>
                  <a:schemeClr val="tx1"/>
                </a:solidFill>
                <a:latin typeface="Arial" panose="020B0604020202020204" pitchFamily="34" charset="0"/>
              </a:defRPr>
            </a:lvl1pPr>
            <a:lvl2pPr marL="742950" indent="-285750" algn="ctr" defTabSz="814705">
              <a:lnSpc>
                <a:spcPct val="90000"/>
              </a:lnSpc>
              <a:defRPr sz="2400">
                <a:solidFill>
                  <a:schemeClr val="tx1"/>
                </a:solidFill>
                <a:latin typeface="Arial" panose="020B0604020202020204" pitchFamily="34" charset="0"/>
              </a:defRPr>
            </a:lvl2pPr>
            <a:lvl3pPr marL="1143000" indent="-228600" algn="ctr" defTabSz="814705">
              <a:lnSpc>
                <a:spcPct val="90000"/>
              </a:lnSpc>
              <a:defRPr sz="2400">
                <a:solidFill>
                  <a:schemeClr val="tx1"/>
                </a:solidFill>
                <a:latin typeface="Arial" panose="020B0604020202020204" pitchFamily="34" charset="0"/>
              </a:defRPr>
            </a:lvl3pPr>
            <a:lvl4pPr marL="1600200" indent="-228600" algn="ctr" defTabSz="814705">
              <a:lnSpc>
                <a:spcPct val="90000"/>
              </a:lnSpc>
              <a:defRPr sz="2400">
                <a:solidFill>
                  <a:schemeClr val="tx1"/>
                </a:solidFill>
                <a:latin typeface="Arial" panose="020B0604020202020204" pitchFamily="34" charset="0"/>
              </a:defRPr>
            </a:lvl4pPr>
            <a:lvl5pPr marL="2057400" indent="-228600" algn="ctr" defTabSz="814705">
              <a:lnSpc>
                <a:spcPct val="90000"/>
              </a:lnSpc>
              <a:defRPr sz="2400">
                <a:solidFill>
                  <a:schemeClr val="tx1"/>
                </a:solidFill>
                <a:latin typeface="Arial" panose="020B0604020202020204" pitchFamily="34" charset="0"/>
              </a:defRPr>
            </a:lvl5pPr>
            <a:lvl6pPr marL="25146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marL="0" marR="0" lvl="0" indent="0" algn="l" defTabSz="814705" rtl="0" eaLnBrk="0" fontAlgn="base" latinLnBrk="0" hangingPunct="0">
              <a:lnSpc>
                <a:spcPct val="100000"/>
              </a:lnSpc>
              <a:spcBef>
                <a:spcPct val="0"/>
              </a:spcBef>
              <a:spcAft>
                <a:spcPct val="0"/>
              </a:spcAft>
              <a:buClrTx/>
              <a:buSzTx/>
              <a:buFontTx/>
              <a:buNone/>
              <a:defRPr/>
            </a:pPr>
            <a:r>
              <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rPr>
              <a:t>ITE PC v4.0</a:t>
            </a:r>
            <a:endPar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endParaRPr>
          </a:p>
          <a:p>
            <a:pPr marL="0" marR="0" lvl="0" indent="0" algn="l" defTabSz="814705" rtl="0" eaLnBrk="0" fontAlgn="base" latinLnBrk="0" hangingPunct="0">
              <a:lnSpc>
                <a:spcPct val="100000"/>
              </a:lnSpc>
              <a:spcBef>
                <a:spcPct val="0"/>
              </a:spcBef>
              <a:spcAft>
                <a:spcPct val="0"/>
              </a:spcAft>
              <a:buClrTx/>
              <a:buSzTx/>
              <a:buFontTx/>
              <a:buNone/>
              <a:defRPr/>
            </a:pPr>
            <a:r>
              <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rPr>
              <a:t>Chapter 1</a:t>
            </a:r>
            <a:endPar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endParaRPr>
          </a:p>
        </p:txBody>
      </p:sp>
      <p:sp>
        <p:nvSpPr>
          <p:cNvPr id="1289221" name="Rectangle 5"/>
          <p:cNvSpPr>
            <a:spLocks noChangeArrowheads="1"/>
          </p:cNvSpPr>
          <p:nvPr/>
        </p:nvSpPr>
        <p:spPr bwMode="auto">
          <a:xfrm>
            <a:off x="8596313" y="6626225"/>
            <a:ext cx="320675" cy="234950"/>
          </a:xfrm>
          <a:prstGeom prst="rect">
            <a:avLst/>
          </a:prstGeom>
          <a:noFill/>
          <a:ln w="9525" algn="ctr">
            <a:noFill/>
            <a:miter lim="800000"/>
          </a:ln>
          <a:effectLst/>
        </p:spPr>
        <p:txBody>
          <a:bodyPr wrap="none" lIns="82124" tIns="41061" rIns="82124" bIns="41061" anchor="b">
            <a:spAutoFit/>
          </a:bodyPr>
          <a:lstStyle>
            <a:lvl1pPr defTabSz="814705">
              <a:defRPr sz="2400">
                <a:solidFill>
                  <a:schemeClr val="tx1"/>
                </a:solidFill>
                <a:latin typeface="Arial" panose="020B0604020202020204" pitchFamily="34" charset="0"/>
              </a:defRPr>
            </a:lvl1pPr>
            <a:lvl2pPr marL="742950" indent="-285750" defTabSz="814705">
              <a:defRPr sz="2400">
                <a:solidFill>
                  <a:schemeClr val="tx1"/>
                </a:solidFill>
                <a:latin typeface="Arial" panose="020B0604020202020204" pitchFamily="34" charset="0"/>
              </a:defRPr>
            </a:lvl2pPr>
            <a:lvl3pPr marL="1143000" indent="-228600" defTabSz="814705">
              <a:defRPr sz="2400">
                <a:solidFill>
                  <a:schemeClr val="tx1"/>
                </a:solidFill>
                <a:latin typeface="Arial" panose="020B0604020202020204" pitchFamily="34" charset="0"/>
              </a:defRPr>
            </a:lvl3pPr>
            <a:lvl4pPr marL="1600200" indent="-228600" defTabSz="814705">
              <a:defRPr sz="2400">
                <a:solidFill>
                  <a:schemeClr val="tx1"/>
                </a:solidFill>
                <a:latin typeface="Arial" panose="020B0604020202020204" pitchFamily="34" charset="0"/>
              </a:defRPr>
            </a:lvl4pPr>
            <a:lvl5pPr marL="2057400" indent="-228600" defTabSz="814705">
              <a:defRPr sz="2400">
                <a:solidFill>
                  <a:schemeClr val="tx1"/>
                </a:solidFill>
                <a:latin typeface="Arial" panose="020B0604020202020204" pitchFamily="34" charset="0"/>
              </a:defRPr>
            </a:lvl5pPr>
            <a:lvl6pPr marL="2514600" indent="-228600" defTabSz="81470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81470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81470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814705"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814705" rtl="0" eaLnBrk="0" fontAlgn="base" latinLnBrk="0" hangingPunct="0">
              <a:lnSpc>
                <a:spcPct val="100000"/>
              </a:lnSpc>
              <a:spcBef>
                <a:spcPct val="0"/>
              </a:spcBef>
              <a:spcAft>
                <a:spcPct val="0"/>
              </a:spcAft>
              <a:buClrTx/>
              <a:buSzTx/>
              <a:buFontTx/>
              <a:buNone/>
              <a:defRPr/>
            </a:pPr>
            <a:fld id="{F8BB208A-20EC-4B0E-83DD-CD2BA9ECA099}" type="slidenum">
              <a:rPr kumimoji="0" lang="en-US" altLang="en-US" sz="1000" b="0" i="0" u="none" strike="noStrike" kern="1200" cap="none" spc="0" normalizeH="0" baseline="0" noProof="0" smtClean="0">
                <a:ln>
                  <a:noFill/>
                </a:ln>
                <a:solidFill>
                  <a:srgbClr val="D3D3D3"/>
                </a:solidFill>
                <a:effectLst/>
                <a:uLnTx/>
                <a:uFillTx/>
                <a:latin typeface="Arial" panose="020B0604020202020204" pitchFamily="34" charset="0"/>
                <a:ea typeface="+mn-ea"/>
                <a:cs typeface="+mn-cs"/>
              </a:rPr>
            </a:fld>
            <a:endParaRPr kumimoji="0" lang="en-US" altLang="en-US" sz="1000" b="0" i="0" u="none" strike="noStrike" kern="1200" cap="none" spc="0" normalizeH="0" baseline="0" noProof="0" smtClean="0">
              <a:ln>
                <a:noFill/>
              </a:ln>
              <a:solidFill>
                <a:srgbClr val="D3D3D3"/>
              </a:solidFill>
              <a:effectLst/>
              <a:uLnTx/>
              <a:uFillTx/>
              <a:latin typeface="Arial" panose="020B0604020202020204" pitchFamily="34" charset="0"/>
              <a:ea typeface="+mn-ea"/>
              <a:cs typeface="+mn-cs"/>
            </a:endParaRPr>
          </a:p>
        </p:txBody>
      </p:sp>
      <p:sp>
        <p:nvSpPr>
          <p:cNvPr id="1029" name="Rectangle 6"/>
          <p:cNvSpPr>
            <a:spLocks noGrp="1"/>
          </p:cNvSpPr>
          <p:nvPr>
            <p:ph type="body" idx="1"/>
          </p:nvPr>
        </p:nvSpPr>
        <p:spPr>
          <a:xfrm>
            <a:off x="655638" y="2014538"/>
            <a:ext cx="7940675" cy="3571875"/>
          </a:xfrm>
          <a:prstGeom prst="rect">
            <a:avLst/>
          </a:prstGeom>
          <a:noFill/>
          <a:ln w="9525">
            <a:noFill/>
          </a:ln>
        </p:spPr>
        <p:txBody>
          <a:bodyPr lIns="82124" tIns="41061" rIns="82124" bIns="41061"/>
          <a:p>
            <a:pPr lvl="0"/>
            <a:r>
              <a:rPr lang="en-US" altLang="en-US" dirty="0"/>
              <a:t>Body Text</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pic>
        <p:nvPicPr>
          <p:cNvPr id="1030" name="Picture 7" descr="PPt_TopBand_Artwork"/>
          <p:cNvPicPr>
            <a:picLocks noChangeAspect="1"/>
          </p:cNvPicPr>
          <p:nvPr/>
        </p:nvPicPr>
        <p:blipFill>
          <a:blip r:embed="rId13"/>
          <a:stretch>
            <a:fillRect/>
          </a:stretch>
        </p:blipFill>
        <p:spPr>
          <a:xfrm>
            <a:off x="0" y="0"/>
            <a:ext cx="9140825" cy="685800"/>
          </a:xfrm>
          <a:prstGeom prst="rect">
            <a:avLst/>
          </a:prstGeom>
          <a:noFill/>
          <a:ln w="9525">
            <a:noFill/>
          </a:ln>
        </p:spPr>
      </p:pic>
      <p:sp>
        <p:nvSpPr>
          <p:cNvPr id="1031" name="Rectangle 8"/>
          <p:cNvSpPr>
            <a:spLocks noChangeArrowheads="1"/>
          </p:cNvSpPr>
          <p:nvPr/>
        </p:nvSpPr>
        <p:spPr bwMode="auto">
          <a:xfrm>
            <a:off x="4498975" y="6672263"/>
            <a:ext cx="2022475" cy="188913"/>
          </a:xfrm>
          <a:prstGeom prst="rect">
            <a:avLst/>
          </a:prstGeom>
          <a:noFill/>
          <a:ln>
            <a:noFill/>
          </a:ln>
        </p:spPr>
        <p:txBody>
          <a:bodyPr wrap="none" lIns="82124" tIns="41061" rIns="82124" bIns="41061" anchor="b" anchorCtr="1">
            <a:spAutoFit/>
          </a:bodyPr>
          <a:lstStyle>
            <a:lvl1pPr algn="ctr" defTabSz="814705">
              <a:lnSpc>
                <a:spcPct val="90000"/>
              </a:lnSpc>
              <a:defRPr sz="2400">
                <a:solidFill>
                  <a:schemeClr val="tx1"/>
                </a:solidFill>
                <a:latin typeface="Arial" panose="020B0604020202020204" pitchFamily="34" charset="0"/>
              </a:defRPr>
            </a:lvl1pPr>
            <a:lvl2pPr marL="742950" indent="-285750" algn="ctr" defTabSz="814705">
              <a:lnSpc>
                <a:spcPct val="90000"/>
              </a:lnSpc>
              <a:defRPr sz="2400">
                <a:solidFill>
                  <a:schemeClr val="tx1"/>
                </a:solidFill>
                <a:latin typeface="Arial" panose="020B0604020202020204" pitchFamily="34" charset="0"/>
              </a:defRPr>
            </a:lvl2pPr>
            <a:lvl3pPr marL="1143000" indent="-228600" algn="ctr" defTabSz="814705">
              <a:lnSpc>
                <a:spcPct val="90000"/>
              </a:lnSpc>
              <a:defRPr sz="2400">
                <a:solidFill>
                  <a:schemeClr val="tx1"/>
                </a:solidFill>
                <a:latin typeface="Arial" panose="020B0604020202020204" pitchFamily="34" charset="0"/>
              </a:defRPr>
            </a:lvl3pPr>
            <a:lvl4pPr marL="1600200" indent="-228600" algn="ctr" defTabSz="814705">
              <a:lnSpc>
                <a:spcPct val="90000"/>
              </a:lnSpc>
              <a:defRPr sz="2400">
                <a:solidFill>
                  <a:schemeClr val="tx1"/>
                </a:solidFill>
                <a:latin typeface="Arial" panose="020B0604020202020204" pitchFamily="34" charset="0"/>
              </a:defRPr>
            </a:lvl4pPr>
            <a:lvl5pPr marL="2057400" indent="-228600" algn="ctr" defTabSz="814705">
              <a:lnSpc>
                <a:spcPct val="90000"/>
              </a:lnSpc>
              <a:defRPr sz="2400">
                <a:solidFill>
                  <a:schemeClr val="tx1"/>
                </a:solidFill>
                <a:latin typeface="Arial" panose="020B0604020202020204" pitchFamily="34" charset="0"/>
              </a:defRPr>
            </a:lvl5pPr>
            <a:lvl6pPr marL="25146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marL="0" marR="0" lvl="0" indent="0" algn="l" defTabSz="814705" rtl="0" eaLnBrk="0" fontAlgn="base" latinLnBrk="0" hangingPunct="0">
              <a:lnSpc>
                <a:spcPct val="100000"/>
              </a:lnSpc>
              <a:spcBef>
                <a:spcPct val="0"/>
              </a:spcBef>
              <a:spcAft>
                <a:spcPct val="0"/>
              </a:spcAft>
              <a:buClrTx/>
              <a:buSzTx/>
              <a:buFontTx/>
              <a:buNone/>
              <a:defRPr/>
            </a:pPr>
            <a:r>
              <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rPr>
              <a:t>© 2007 Cisco Systems, Inc. All rights reserved.</a:t>
            </a:r>
            <a:endPar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endParaRPr>
          </a:p>
        </p:txBody>
      </p:sp>
      <p:sp>
        <p:nvSpPr>
          <p:cNvPr id="1032" name="Rectangle 9"/>
          <p:cNvSpPr>
            <a:spLocks noChangeArrowheads="1"/>
          </p:cNvSpPr>
          <p:nvPr/>
        </p:nvSpPr>
        <p:spPr bwMode="auto">
          <a:xfrm>
            <a:off x="7123113" y="6672263"/>
            <a:ext cx="650875" cy="188913"/>
          </a:xfrm>
          <a:prstGeom prst="rect">
            <a:avLst/>
          </a:prstGeom>
          <a:noFill/>
          <a:ln>
            <a:noFill/>
          </a:ln>
        </p:spPr>
        <p:txBody>
          <a:bodyPr wrap="none" lIns="82124" tIns="41061" rIns="82124" bIns="41061" anchor="b">
            <a:spAutoFit/>
          </a:bodyPr>
          <a:lstStyle>
            <a:lvl1pPr algn="ctr" defTabSz="814705">
              <a:lnSpc>
                <a:spcPct val="90000"/>
              </a:lnSpc>
              <a:defRPr sz="2400">
                <a:solidFill>
                  <a:schemeClr val="tx1"/>
                </a:solidFill>
                <a:latin typeface="Arial" panose="020B0604020202020204" pitchFamily="34" charset="0"/>
              </a:defRPr>
            </a:lvl1pPr>
            <a:lvl2pPr marL="742950" indent="-285750" algn="ctr" defTabSz="814705">
              <a:lnSpc>
                <a:spcPct val="90000"/>
              </a:lnSpc>
              <a:defRPr sz="2400">
                <a:solidFill>
                  <a:schemeClr val="tx1"/>
                </a:solidFill>
                <a:latin typeface="Arial" panose="020B0604020202020204" pitchFamily="34" charset="0"/>
              </a:defRPr>
            </a:lvl2pPr>
            <a:lvl3pPr marL="1143000" indent="-228600" algn="ctr" defTabSz="814705">
              <a:lnSpc>
                <a:spcPct val="90000"/>
              </a:lnSpc>
              <a:defRPr sz="2400">
                <a:solidFill>
                  <a:schemeClr val="tx1"/>
                </a:solidFill>
                <a:latin typeface="Arial" panose="020B0604020202020204" pitchFamily="34" charset="0"/>
              </a:defRPr>
            </a:lvl3pPr>
            <a:lvl4pPr marL="1600200" indent="-228600" algn="ctr" defTabSz="814705">
              <a:lnSpc>
                <a:spcPct val="90000"/>
              </a:lnSpc>
              <a:defRPr sz="2400">
                <a:solidFill>
                  <a:schemeClr val="tx1"/>
                </a:solidFill>
                <a:latin typeface="Arial" panose="020B0604020202020204" pitchFamily="34" charset="0"/>
              </a:defRPr>
            </a:lvl4pPr>
            <a:lvl5pPr marL="2057400" indent="-228600" algn="ctr" defTabSz="814705">
              <a:lnSpc>
                <a:spcPct val="90000"/>
              </a:lnSpc>
              <a:defRPr sz="2400">
                <a:solidFill>
                  <a:schemeClr val="tx1"/>
                </a:solidFill>
                <a:latin typeface="Arial" panose="020B0604020202020204" pitchFamily="34" charset="0"/>
              </a:defRPr>
            </a:lvl5pPr>
            <a:lvl6pPr marL="25146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14705"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marL="0" marR="0" lvl="0" indent="0" algn="r" defTabSz="814705" rtl="0" eaLnBrk="0" fontAlgn="base" latinLnBrk="0" hangingPunct="0">
              <a:lnSpc>
                <a:spcPct val="100000"/>
              </a:lnSpc>
              <a:spcBef>
                <a:spcPct val="0"/>
              </a:spcBef>
              <a:spcAft>
                <a:spcPct val="0"/>
              </a:spcAft>
              <a:buClrTx/>
              <a:buSzTx/>
              <a:buFontTx/>
              <a:buNone/>
              <a:defRPr/>
            </a:pPr>
            <a:r>
              <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rPr>
              <a:t>Cisco Public</a:t>
            </a:r>
            <a:endParaRPr kumimoji="0" lang="en-US" altLang="en-US" sz="700" b="0" i="0" u="none" strike="noStrike" kern="1200" cap="none" spc="0" normalizeH="0" baseline="0" noProof="0">
              <a:ln>
                <a:noFill/>
              </a:ln>
              <a:solidFill>
                <a:srgbClr val="D3D3D3"/>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sldNum="0" hdr="0" ftr="0" dt="0"/>
  <p:txStyles>
    <p:titleStyle>
      <a:lvl1pPr algn="l" defTabSz="814705"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705" rtl="0" eaLnBrk="0" fontAlgn="base" hangingPunct="0">
        <a:lnSpc>
          <a:spcPct val="90000"/>
        </a:lnSpc>
        <a:spcBef>
          <a:spcPct val="0"/>
        </a:spcBef>
        <a:spcAft>
          <a:spcPct val="0"/>
        </a:spcAft>
        <a:defRPr sz="3200" b="1">
          <a:solidFill>
            <a:srgbClr val="708CA1"/>
          </a:solidFill>
          <a:latin typeface="Arial" panose="020B0604020202020204" pitchFamily="34" charset="0"/>
        </a:defRPr>
      </a:lvl2pPr>
      <a:lvl3pPr algn="l" defTabSz="814705" rtl="0" eaLnBrk="0" fontAlgn="base" hangingPunct="0">
        <a:lnSpc>
          <a:spcPct val="90000"/>
        </a:lnSpc>
        <a:spcBef>
          <a:spcPct val="0"/>
        </a:spcBef>
        <a:spcAft>
          <a:spcPct val="0"/>
        </a:spcAft>
        <a:defRPr sz="3200" b="1">
          <a:solidFill>
            <a:srgbClr val="708CA1"/>
          </a:solidFill>
          <a:latin typeface="Arial" panose="020B0604020202020204" pitchFamily="34" charset="0"/>
        </a:defRPr>
      </a:lvl3pPr>
      <a:lvl4pPr algn="l" defTabSz="814705" rtl="0" eaLnBrk="0" fontAlgn="base" hangingPunct="0">
        <a:lnSpc>
          <a:spcPct val="90000"/>
        </a:lnSpc>
        <a:spcBef>
          <a:spcPct val="0"/>
        </a:spcBef>
        <a:spcAft>
          <a:spcPct val="0"/>
        </a:spcAft>
        <a:defRPr sz="3200" b="1">
          <a:solidFill>
            <a:srgbClr val="708CA1"/>
          </a:solidFill>
          <a:latin typeface="Arial" panose="020B0604020202020204" pitchFamily="34" charset="0"/>
        </a:defRPr>
      </a:lvl4pPr>
      <a:lvl5pPr algn="l" defTabSz="814705" rtl="0" eaLnBrk="0" fontAlgn="base" hangingPunct="0">
        <a:lnSpc>
          <a:spcPct val="90000"/>
        </a:lnSpc>
        <a:spcBef>
          <a:spcPct val="0"/>
        </a:spcBef>
        <a:spcAft>
          <a:spcPct val="0"/>
        </a:spcAft>
        <a:defRPr sz="3200" b="1">
          <a:solidFill>
            <a:srgbClr val="708CA1"/>
          </a:solidFill>
          <a:latin typeface="Arial" panose="020B0604020202020204" pitchFamily="34" charset="0"/>
        </a:defRPr>
      </a:lvl5pPr>
      <a:lvl6pPr marL="457200" algn="l" defTabSz="814705" rtl="0" fontAlgn="base">
        <a:lnSpc>
          <a:spcPct val="90000"/>
        </a:lnSpc>
        <a:spcBef>
          <a:spcPct val="0"/>
        </a:spcBef>
        <a:spcAft>
          <a:spcPct val="0"/>
        </a:spcAft>
        <a:defRPr sz="3200" b="1">
          <a:solidFill>
            <a:srgbClr val="708CA1"/>
          </a:solidFill>
          <a:latin typeface="Arial" panose="020B0604020202020204" pitchFamily="34" charset="0"/>
        </a:defRPr>
      </a:lvl6pPr>
      <a:lvl7pPr marL="914400" algn="l" defTabSz="814705" rtl="0" fontAlgn="base">
        <a:lnSpc>
          <a:spcPct val="90000"/>
        </a:lnSpc>
        <a:spcBef>
          <a:spcPct val="0"/>
        </a:spcBef>
        <a:spcAft>
          <a:spcPct val="0"/>
        </a:spcAft>
        <a:defRPr sz="3200" b="1">
          <a:solidFill>
            <a:srgbClr val="708CA1"/>
          </a:solidFill>
          <a:latin typeface="Arial" panose="020B0604020202020204" pitchFamily="34" charset="0"/>
        </a:defRPr>
      </a:lvl7pPr>
      <a:lvl8pPr marL="1371600" algn="l" defTabSz="814705" rtl="0" fontAlgn="base">
        <a:lnSpc>
          <a:spcPct val="90000"/>
        </a:lnSpc>
        <a:spcBef>
          <a:spcPct val="0"/>
        </a:spcBef>
        <a:spcAft>
          <a:spcPct val="0"/>
        </a:spcAft>
        <a:defRPr sz="3200" b="1">
          <a:solidFill>
            <a:srgbClr val="708CA1"/>
          </a:solidFill>
          <a:latin typeface="Arial" panose="020B0604020202020204" pitchFamily="34" charset="0"/>
        </a:defRPr>
      </a:lvl8pPr>
      <a:lvl9pPr marL="1828800" algn="l" defTabSz="814705" rtl="0" fontAlgn="base">
        <a:lnSpc>
          <a:spcPct val="90000"/>
        </a:lnSpc>
        <a:spcBef>
          <a:spcPct val="0"/>
        </a:spcBef>
        <a:spcAft>
          <a:spcPct val="0"/>
        </a:spcAft>
        <a:defRPr sz="3200" b="1">
          <a:solidFill>
            <a:srgbClr val="708CA1"/>
          </a:solidFill>
          <a:latin typeface="Arial" panose="020B0604020202020204" pitchFamily="34" charset="0"/>
        </a:defRPr>
      </a:lvl9pPr>
    </p:titleStyle>
    <p:body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vl6pPr marL="2062480" algn="l" defTabSz="814705" rtl="0" eaLnBrk="0" fontAlgn="base" hangingPunct="0">
        <a:lnSpc>
          <a:spcPct val="95000"/>
        </a:lnSpc>
        <a:spcBef>
          <a:spcPct val="35000"/>
        </a:spcBef>
        <a:spcAft>
          <a:spcPct val="0"/>
        </a:spcAft>
        <a:buClr>
          <a:srgbClr val="708CA1"/>
        </a:buClr>
        <a:defRPr sz="2000">
          <a:solidFill>
            <a:schemeClr val="tx1"/>
          </a:solidFill>
          <a:latin typeface="+mn-lt"/>
        </a:defRPr>
      </a:lvl6pPr>
      <a:lvl7pPr marL="2519680" algn="l" defTabSz="814705" rtl="0" eaLnBrk="0" fontAlgn="base" hangingPunct="0">
        <a:lnSpc>
          <a:spcPct val="95000"/>
        </a:lnSpc>
        <a:spcBef>
          <a:spcPct val="35000"/>
        </a:spcBef>
        <a:spcAft>
          <a:spcPct val="0"/>
        </a:spcAft>
        <a:buClr>
          <a:srgbClr val="708CA1"/>
        </a:buClr>
        <a:defRPr sz="2000">
          <a:solidFill>
            <a:schemeClr val="tx1"/>
          </a:solidFill>
          <a:latin typeface="+mn-lt"/>
        </a:defRPr>
      </a:lvl7pPr>
      <a:lvl8pPr marL="2976880" algn="l" defTabSz="814705" rtl="0" eaLnBrk="0" fontAlgn="base" hangingPunct="0">
        <a:lnSpc>
          <a:spcPct val="95000"/>
        </a:lnSpc>
        <a:spcBef>
          <a:spcPct val="35000"/>
        </a:spcBef>
        <a:spcAft>
          <a:spcPct val="0"/>
        </a:spcAft>
        <a:buClr>
          <a:srgbClr val="708CA1"/>
        </a:buClr>
        <a:defRPr sz="2000">
          <a:solidFill>
            <a:schemeClr val="tx1"/>
          </a:solidFill>
          <a:latin typeface="+mn-lt"/>
        </a:defRPr>
      </a:lvl8pPr>
      <a:lvl9pPr marL="3434080" algn="l" defTabSz="814705" rtl="0" eaLnBrk="0" fontAlgn="base" hangingPunct="0">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31.jpeg"/><Relationship Id="rId1" Type="http://schemas.openxmlformats.org/officeDocument/2006/relationships/image" Target="../media/image3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33.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2.xml"/><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37.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image" Target="../media/image42.jpeg"/><Relationship Id="rId1" Type="http://schemas.openxmlformats.org/officeDocument/2006/relationships/image" Target="../media/image41.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45.jpeg"/><Relationship Id="rId1" Type="http://schemas.openxmlformats.org/officeDocument/2006/relationships/image" Target="../media/image44.png"/></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2.xml"/><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image" Target="../media/image50.png"/><Relationship Id="rId1" Type="http://schemas.openxmlformats.org/officeDocument/2006/relationships/image" Target="../media/image49.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image" Target="../media/image5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ctrTitle" hasCustomPrompt="1"/>
          </p:nvPr>
        </p:nvSpPr>
        <p:spPr>
          <a:xfrm>
            <a:off x="311150" y="2125663"/>
            <a:ext cx="3768725" cy="1376362"/>
          </a:xfrm>
          <a:ln/>
        </p:spPr>
        <p:txBody>
          <a:bodyPr vert="horz" wrap="square" lIns="82124" tIns="41061" rIns="82124" bIns="41061" anchor="ctr" anchorCtr="0"/>
          <a:p>
            <a:pPr defTabSz="814705" eaLnBrk="1" hangingPunct="1">
              <a:buClrTx/>
              <a:buSzTx/>
              <a:buFontTx/>
            </a:pPr>
            <a:r>
              <a:rPr lang="en-US" altLang="en-US" sz="2800" dirty="0">
                <a:solidFill>
                  <a:srgbClr val="FFFFFF"/>
                </a:solidFill>
                <a:latin typeface="+mj-lt"/>
                <a:ea typeface="+mj-ea"/>
                <a:cs typeface="+mj-cs"/>
              </a:rPr>
              <a:t>Chapter 1: Introduction to the Personal Computer</a:t>
            </a:r>
            <a:endParaRPr lang="en-US" altLang="en-US" sz="2800" dirty="0">
              <a:solidFill>
                <a:schemeClr val="folHlink"/>
              </a:solidFill>
              <a:latin typeface="+mj-lt"/>
              <a:ea typeface="+mj-ea"/>
              <a:cs typeface="+mj-cs"/>
            </a:endParaRPr>
          </a:p>
        </p:txBody>
      </p:sp>
      <p:sp>
        <p:nvSpPr>
          <p:cNvPr id="5123" name="Rectangle 3"/>
          <p:cNvSpPr>
            <a:spLocks noGrp="1"/>
          </p:cNvSpPr>
          <p:nvPr>
            <p:ph type="subTitle" idx="1" hasCustomPrompt="1"/>
          </p:nvPr>
        </p:nvSpPr>
        <p:spPr>
          <a:xfrm>
            <a:off x="311150" y="4672013"/>
            <a:ext cx="6788150" cy="658812"/>
          </a:xfrm>
          <a:ln/>
        </p:spPr>
        <p:txBody>
          <a:bodyPr vert="horz" wrap="square" lIns="82124" tIns="41061" rIns="82124" bIns="41061" anchor="t" anchorCtr="0"/>
          <a:p>
            <a:pPr defTabSz="814705">
              <a:buClr>
                <a:srgbClr val="708CA1"/>
              </a:buClr>
              <a:buSzTx/>
            </a:pPr>
            <a:r>
              <a:rPr lang="en-US" altLang="en-US" sz="2400" dirty="0">
                <a:latin typeface="+mn-lt"/>
                <a:ea typeface="+mn-ea"/>
                <a:cs typeface="+mn-cs"/>
              </a:rPr>
              <a:t>Introduction: PC Hardware and Software </a:t>
            </a:r>
            <a:endParaRPr lang="en-US" altLang="en-US" sz="2400" dirty="0">
              <a:latin typeface="+mn-lt"/>
              <a:ea typeface="+mn-ea"/>
              <a:cs typeface="+mn-cs"/>
            </a:endParaRPr>
          </a:p>
        </p:txBody>
      </p:sp>
      <p:sp>
        <p:nvSpPr>
          <p:cNvPr id="5124" name="TextBox 1"/>
          <p:cNvSpPr txBox="1"/>
          <p:nvPr/>
        </p:nvSpPr>
        <p:spPr>
          <a:xfrm>
            <a:off x="2593975" y="571500"/>
            <a:ext cx="5657850" cy="708025"/>
          </a:xfrm>
          <a:prstGeom prst="rect">
            <a:avLst/>
          </a:prstGeom>
          <a:noFill/>
          <a:ln w="9525">
            <a:noFill/>
          </a:ln>
        </p:spPr>
        <p:txBody>
          <a:bodyPr>
            <a:spAutoFit/>
          </a:bodyPr>
          <a:p>
            <a:r>
              <a:rPr sz="4000" b="1" dirty="0">
                <a:latin typeface="Arial" panose="020B0604020202020204" pitchFamily="34" charset="0"/>
              </a:rPr>
              <a:t>BIT1205</a:t>
            </a:r>
            <a:r>
              <a:rPr lang="en-US" altLang="en-US" sz="4000" b="1" dirty="0">
                <a:latin typeface="Arial" panose="020B0604020202020204" pitchFamily="34" charset="0"/>
              </a:rPr>
              <a:t> YEAR 1 SEM2</a:t>
            </a:r>
            <a:endParaRPr lang="en-US" altLang="en-US" sz="4000" b="1" dirty="0">
              <a:latin typeface="Arial" panose="020B0604020202020204" pitchFamily="34" charset="0"/>
            </a:endParaRPr>
          </a:p>
        </p:txBody>
      </p:sp>
    </p:spTree>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ln/>
        </p:spPr>
        <p:txBody>
          <a:bodyPr vert="horz" wrap="square" lIns="82124" tIns="41061" rIns="82124" bIns="41061" anchor="b" anchorCtr="0"/>
          <a:p>
            <a:pPr eaLnBrk="1" hangingPunct="1"/>
            <a:r>
              <a:rPr lang="en-US" altLang="en-US" dirty="0"/>
              <a:t>Chapter 1 Objectives</a:t>
            </a:r>
            <a:endParaRPr lang="en-US" altLang="en-US" dirty="0"/>
          </a:p>
        </p:txBody>
      </p:sp>
      <p:sp>
        <p:nvSpPr>
          <p:cNvPr id="7171" name="Rectangle 3"/>
          <p:cNvSpPr>
            <a:spLocks noGrp="1"/>
          </p:cNvSpPr>
          <p:nvPr>
            <p:ph idx="1"/>
          </p:nvPr>
        </p:nvSpPr>
        <p:spPr>
          <a:xfrm>
            <a:off x="655638" y="1679575"/>
            <a:ext cx="8131175" cy="5021263"/>
          </a:xfrm>
          <a:ln/>
        </p:spPr>
        <p:txBody>
          <a:bodyPr vert="horz" wrap="square" lIns="82124" tIns="41061" rIns="82124" bIns="41061" anchor="t" anchorCtr="0"/>
          <a:p>
            <a:r>
              <a:rPr lang="en-US" altLang="en-US" sz="2000" dirty="0"/>
              <a:t>1.2 Describe a computer system</a:t>
            </a:r>
            <a:endParaRPr lang="en-US" altLang="en-US" sz="2000" dirty="0"/>
          </a:p>
          <a:p>
            <a:r>
              <a:rPr lang="en-US" altLang="en-US" sz="2000" dirty="0"/>
              <a:t>1.3 Identify the names, purposes, and characteristics of cases and power supplies </a:t>
            </a:r>
            <a:endParaRPr lang="en-US" altLang="en-US" sz="2000" dirty="0"/>
          </a:p>
          <a:p>
            <a:r>
              <a:rPr lang="en-US" altLang="en-US" sz="2000" dirty="0"/>
              <a:t>1.4 Identify the names, purposes, and characteristics of internal components </a:t>
            </a:r>
            <a:endParaRPr lang="en-US" altLang="en-US" sz="2000" dirty="0"/>
          </a:p>
          <a:p>
            <a:r>
              <a:rPr lang="en-US" altLang="en-US" sz="2000" dirty="0"/>
              <a:t>1.5 Identify the names, purposes, and characteristics of ports and cables </a:t>
            </a:r>
            <a:endParaRPr lang="en-US" altLang="en-US" sz="2000" dirty="0"/>
          </a:p>
          <a:p>
            <a:r>
              <a:rPr lang="en-US" altLang="en-US" sz="2000" dirty="0"/>
              <a:t>1.6 Identify the names, purposes, and characteristics of input devices </a:t>
            </a:r>
            <a:endParaRPr lang="en-US" altLang="en-US" sz="2000" dirty="0"/>
          </a:p>
          <a:p>
            <a:r>
              <a:rPr lang="en-US" altLang="en-US" sz="2000" dirty="0"/>
              <a:t>1.7 Identify the names, purposes, and characteristics of output devices </a:t>
            </a:r>
            <a:endParaRPr lang="en-US" altLang="en-US" sz="2000" dirty="0"/>
          </a:p>
          <a:p>
            <a:r>
              <a:rPr lang="en-US" altLang="en-US" sz="2000" dirty="0"/>
              <a:t>1.8 Explain system resources and their purposes</a:t>
            </a:r>
            <a:endParaRPr lang="en-US" alt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3"/>
          <p:cNvSpPr>
            <a:spLocks noGrp="1"/>
          </p:cNvSpPr>
          <p:nvPr>
            <p:ph type="title"/>
          </p:nvPr>
        </p:nvSpPr>
        <p:spPr>
          <a:ln/>
        </p:spPr>
        <p:txBody>
          <a:bodyPr vert="horz" wrap="square" lIns="82124" tIns="41061" rIns="82124" bIns="41061" anchor="b" anchorCtr="0"/>
          <a:p>
            <a:pPr eaLnBrk="1" hangingPunct="1"/>
            <a:r>
              <a:rPr lang="en-US" altLang="en-US" dirty="0"/>
              <a:t>Information Technology (IT)</a:t>
            </a:r>
            <a:endParaRPr lang="en-US" altLang="en-US" dirty="0"/>
          </a:p>
        </p:txBody>
      </p:sp>
      <p:sp>
        <p:nvSpPr>
          <p:cNvPr id="9219" name="Rectangle 4"/>
          <p:cNvSpPr>
            <a:spLocks noGrp="1"/>
          </p:cNvSpPr>
          <p:nvPr>
            <p:ph idx="1"/>
          </p:nvPr>
        </p:nvSpPr>
        <p:spPr>
          <a:xfrm>
            <a:off x="655638" y="1758950"/>
            <a:ext cx="7940675" cy="4670425"/>
          </a:xfrm>
          <a:ln/>
        </p:spPr>
        <p:txBody>
          <a:bodyPr vert="horz" wrap="square" lIns="82124" tIns="41061" rIns="82124" bIns="41061" anchor="t" anchorCtr="0"/>
          <a:p>
            <a:r>
              <a:rPr lang="en-US" altLang="en-US" dirty="0"/>
              <a:t>The design, development, implementation, support, and management of computer hardware, software and communication applications.</a:t>
            </a:r>
            <a:endParaRPr lang="en-US" altLang="en-US" dirty="0"/>
          </a:p>
          <a:p>
            <a:r>
              <a:rPr lang="en-US" altLang="en-US" dirty="0"/>
              <a:t>An IT professional is knowledgeable about computer systems and operating systems. </a:t>
            </a:r>
            <a:endParaRPr lang="en-US" altLang="en-US" dirty="0"/>
          </a:p>
          <a:p>
            <a:endParaRPr lang="en-US" altLang="en-US" dirty="0"/>
          </a:p>
          <a:p>
            <a:endParaRPr lang="en-US" altLang="en-US" dirty="0"/>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3"/>
          <p:cNvSpPr>
            <a:spLocks noGrp="1"/>
          </p:cNvSpPr>
          <p:nvPr>
            <p:ph type="title"/>
          </p:nvPr>
        </p:nvSpPr>
        <p:spPr>
          <a:ln/>
        </p:spPr>
        <p:txBody>
          <a:bodyPr vert="horz" wrap="square" lIns="82124" tIns="41061" rIns="82124" bIns="41061" anchor="b" anchorCtr="0"/>
          <a:p>
            <a:pPr eaLnBrk="1" hangingPunct="1"/>
            <a:r>
              <a:rPr lang="en-US" altLang="en-US" dirty="0"/>
              <a:t>IT Technician</a:t>
            </a:r>
            <a:endParaRPr lang="en-US" altLang="en-US" dirty="0"/>
          </a:p>
        </p:txBody>
      </p:sp>
      <p:sp>
        <p:nvSpPr>
          <p:cNvPr id="11267" name="Rectangle 4"/>
          <p:cNvSpPr>
            <a:spLocks noGrp="1"/>
          </p:cNvSpPr>
          <p:nvPr>
            <p:ph idx="1"/>
          </p:nvPr>
        </p:nvSpPr>
        <p:spPr>
          <a:xfrm>
            <a:off x="646113" y="1716088"/>
            <a:ext cx="8054975" cy="4862512"/>
          </a:xfrm>
          <a:ln/>
        </p:spPr>
        <p:txBody>
          <a:bodyPr vert="horz" wrap="square" lIns="82124" tIns="41061" rIns="82124" bIns="41061" anchor="t" anchorCtr="0"/>
          <a:p>
            <a:r>
              <a:rPr lang="en-US" altLang="en-US" b="1" dirty="0"/>
              <a:t>An IT technician</a:t>
            </a:r>
            <a:r>
              <a:rPr lang="en-US" altLang="en-US" dirty="0"/>
              <a:t> provides computer or network support to customers or employees. ... </a:t>
            </a:r>
            <a:endParaRPr lang="en-US" altLang="en-US" dirty="0"/>
          </a:p>
          <a:p>
            <a:r>
              <a:rPr lang="en-US" altLang="en-US" dirty="0"/>
              <a:t>IT </a:t>
            </a:r>
            <a:r>
              <a:rPr lang="en-US" altLang="en-US" b="1" dirty="0"/>
              <a:t>technicians</a:t>
            </a:r>
            <a:r>
              <a:rPr lang="en-US" altLang="en-US" dirty="0"/>
              <a:t> troubleshoot technical issues and provide help desk support to users.</a:t>
            </a:r>
            <a:endParaRPr lang="en-US" altLang="en-US" dirty="0"/>
          </a:p>
          <a:p>
            <a:r>
              <a:rPr lang="en-US" altLang="en-US" dirty="0"/>
              <a:t>A </a:t>
            </a:r>
            <a:r>
              <a:rPr lang="en-US" altLang="en-US" i="1" dirty="0"/>
              <a:t>computer technician</a:t>
            </a:r>
            <a:r>
              <a:rPr lang="en-US" altLang="en-US" dirty="0"/>
              <a:t> is an individual who identifies, troubleshoots and resolves </a:t>
            </a:r>
            <a:r>
              <a:rPr lang="en-US" altLang="en-US" i="1" dirty="0"/>
              <a:t>computer</a:t>
            </a:r>
            <a:r>
              <a:rPr lang="en-US" altLang="en-US" dirty="0"/>
              <a:t> problems.</a:t>
            </a:r>
            <a:endParaRPr lang="en-US" altLang="en-US" dirty="0"/>
          </a:p>
          <a:p>
            <a:r>
              <a:rPr lang="en-US" altLang="en-US" dirty="0"/>
              <a:t>Computers include desktop, laptop, and personal electronic devices</a:t>
            </a:r>
            <a:endParaRPr lang="en-US" altLang="en-US" dirty="0"/>
          </a:p>
          <a:p>
            <a:r>
              <a:rPr lang="en-US" altLang="en-US" dirty="0"/>
              <a:t>Has specialized skills to install, maintain, and repair computers</a:t>
            </a:r>
            <a:endParaRPr lang="en-US" altLang="en-US" dirty="0"/>
          </a:p>
          <a:p>
            <a:endParaRPr lang="en-US" altLang="en-US" dirty="0"/>
          </a:p>
        </p:txBody>
      </p:sp>
      <p:pic>
        <p:nvPicPr>
          <p:cNvPr id="11268" name="Picture 9"/>
          <p:cNvPicPr>
            <a:picLocks noChangeAspect="1"/>
          </p:cNvPicPr>
          <p:nvPr/>
        </p:nvPicPr>
        <p:blipFill>
          <a:blip r:embed="rId1"/>
          <a:stretch>
            <a:fillRect/>
          </a:stretch>
        </p:blipFill>
        <p:spPr>
          <a:xfrm>
            <a:off x="6176963" y="5548313"/>
            <a:ext cx="2016125" cy="1309687"/>
          </a:xfrm>
          <a:prstGeom prst="rect">
            <a:avLst/>
          </a:prstGeom>
          <a:noFill/>
          <a:ln w="9525">
            <a:noFill/>
          </a:ln>
        </p:spPr>
      </p:pic>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ln/>
        </p:spPr>
        <p:txBody>
          <a:bodyPr vert="horz" wrap="square" lIns="82124" tIns="41061" rIns="82124" bIns="41061" anchor="b" anchorCtr="0"/>
          <a:p>
            <a:pPr eaLnBrk="1" hangingPunct="1"/>
            <a:r>
              <a:rPr lang="en-US" altLang="en-US" dirty="0"/>
              <a:t>Education and Certification</a:t>
            </a:r>
            <a:endParaRPr lang="en-US" altLang="en-US" dirty="0"/>
          </a:p>
        </p:txBody>
      </p:sp>
      <p:sp>
        <p:nvSpPr>
          <p:cNvPr id="13315" name="Rectangle 9"/>
          <p:cNvSpPr>
            <a:spLocks noGrp="1"/>
          </p:cNvSpPr>
          <p:nvPr>
            <p:ph idx="1"/>
          </p:nvPr>
        </p:nvSpPr>
        <p:spPr>
          <a:xfrm>
            <a:off x="655638" y="1668463"/>
            <a:ext cx="7940675" cy="5018087"/>
          </a:xfrm>
          <a:ln/>
        </p:spPr>
        <p:txBody>
          <a:bodyPr vert="horz" wrap="square" lIns="82124" tIns="41061" rIns="82124" bIns="41061" anchor="t" anchorCtr="0"/>
          <a:p>
            <a:pPr>
              <a:lnSpc>
                <a:spcPct val="85000"/>
              </a:lnSpc>
            </a:pPr>
            <a:r>
              <a:rPr lang="en-US" altLang="en-US" dirty="0"/>
              <a:t>A successful IT technician has training and experience in the following:</a:t>
            </a:r>
            <a:endParaRPr lang="en-US" altLang="en-US" dirty="0"/>
          </a:p>
          <a:p>
            <a:pPr lvl="1" indent="0">
              <a:lnSpc>
                <a:spcPct val="85000"/>
              </a:lnSpc>
              <a:buNone/>
            </a:pPr>
            <a:r>
              <a:rPr lang="en-US" altLang="en-US" dirty="0"/>
              <a:t>Personal computers, printers, </a:t>
            </a:r>
            <a:br>
              <a:rPr lang="en-US" altLang="en-US" dirty="0"/>
            </a:br>
            <a:r>
              <a:rPr lang="en-US" altLang="en-US" dirty="0"/>
              <a:t>scanners, and laptop computers</a:t>
            </a:r>
            <a:endParaRPr lang="en-US" altLang="en-US" dirty="0"/>
          </a:p>
          <a:p>
            <a:pPr lvl="1" indent="0">
              <a:lnSpc>
                <a:spcPct val="85000"/>
              </a:lnSpc>
              <a:buNone/>
            </a:pPr>
            <a:r>
              <a:rPr lang="en-US" altLang="en-US" dirty="0"/>
              <a:t>Safe lab procedures </a:t>
            </a:r>
            <a:endParaRPr lang="en-US" altLang="en-US" dirty="0"/>
          </a:p>
          <a:p>
            <a:pPr lvl="1" indent="0">
              <a:lnSpc>
                <a:spcPct val="85000"/>
              </a:lnSpc>
              <a:buNone/>
            </a:pPr>
            <a:r>
              <a:rPr lang="en-US" altLang="en-US" dirty="0"/>
              <a:t>Troubleshooting </a:t>
            </a:r>
            <a:endParaRPr lang="en-US" altLang="en-US" dirty="0"/>
          </a:p>
          <a:p>
            <a:pPr lvl="1" indent="0">
              <a:lnSpc>
                <a:spcPct val="85000"/>
              </a:lnSpc>
              <a:buNone/>
            </a:pPr>
            <a:r>
              <a:rPr lang="en-US" altLang="en-US" dirty="0"/>
              <a:t>Operating systems </a:t>
            </a:r>
            <a:endParaRPr lang="en-US" altLang="en-US" dirty="0"/>
          </a:p>
          <a:p>
            <a:pPr lvl="1" indent="0">
              <a:lnSpc>
                <a:spcPct val="85000"/>
              </a:lnSpc>
              <a:buNone/>
            </a:pPr>
            <a:r>
              <a:rPr lang="en-US" altLang="en-US" dirty="0"/>
              <a:t>Networks </a:t>
            </a:r>
            <a:endParaRPr lang="en-US" altLang="en-US" dirty="0"/>
          </a:p>
          <a:p>
            <a:pPr lvl="1" indent="0">
              <a:lnSpc>
                <a:spcPct val="85000"/>
              </a:lnSpc>
              <a:buNone/>
            </a:pPr>
            <a:r>
              <a:rPr lang="en-US" altLang="en-US" dirty="0"/>
              <a:t>Security </a:t>
            </a:r>
            <a:endParaRPr lang="en-US" altLang="en-US" dirty="0"/>
          </a:p>
          <a:p>
            <a:pPr lvl="1" indent="0">
              <a:lnSpc>
                <a:spcPct val="85000"/>
              </a:lnSpc>
              <a:buNone/>
            </a:pPr>
            <a:r>
              <a:rPr lang="en-US" altLang="en-US" dirty="0"/>
              <a:t>Communication skills </a:t>
            </a:r>
            <a:endParaRPr lang="en-US" altLang="en-US" dirty="0"/>
          </a:p>
        </p:txBody>
      </p:sp>
      <p:pic>
        <p:nvPicPr>
          <p:cNvPr id="13316" name="Picture 10"/>
          <p:cNvPicPr>
            <a:picLocks noChangeAspect="1"/>
          </p:cNvPicPr>
          <p:nvPr/>
        </p:nvPicPr>
        <p:blipFill>
          <a:blip r:embed="rId1"/>
          <a:stretch>
            <a:fillRect/>
          </a:stretch>
        </p:blipFill>
        <p:spPr>
          <a:xfrm>
            <a:off x="5046663" y="2090738"/>
            <a:ext cx="3832225" cy="3317875"/>
          </a:xfrm>
          <a:prstGeom prst="rect">
            <a:avLst/>
          </a:prstGeom>
          <a:noFill/>
          <a:ln w="9525">
            <a:noFill/>
          </a:ln>
        </p:spPr>
      </p:pic>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ln/>
        </p:spPr>
        <p:txBody>
          <a:bodyPr vert="horz" wrap="square" lIns="82124" tIns="41061" rIns="82124" bIns="41061" anchor="b" anchorCtr="0"/>
          <a:p>
            <a:pPr eaLnBrk="1" hangingPunct="1"/>
            <a:r>
              <a:rPr lang="en-US" altLang="en-US" dirty="0"/>
              <a:t>Basic Personal Computer System</a:t>
            </a:r>
            <a:endParaRPr lang="en-US" altLang="en-US" dirty="0"/>
          </a:p>
        </p:txBody>
      </p:sp>
      <p:sp>
        <p:nvSpPr>
          <p:cNvPr id="15363" name="Rectangle 9"/>
          <p:cNvSpPr/>
          <p:nvPr/>
        </p:nvSpPr>
        <p:spPr>
          <a:xfrm>
            <a:off x="655638" y="1657350"/>
            <a:ext cx="7940675" cy="5187950"/>
          </a:xfrm>
          <a:prstGeom prst="rect">
            <a:avLst/>
          </a:prstGeom>
          <a:noFill/>
          <a:ln w="9525">
            <a:noFill/>
          </a:ln>
        </p:spPr>
        <p:txBody>
          <a:bodyPr lIns="82124" tIns="41061" rIns="82124" bIns="41061"/>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381000" lvl="0" indent="-381000" defTabSz="814705"/>
            <a:r>
              <a:rPr lang="en-US" altLang="en-US" dirty="0"/>
              <a:t>A computer system consists of hardware, software and users components.</a:t>
            </a:r>
            <a:endParaRPr lang="en-US" altLang="en-US" dirty="0"/>
          </a:p>
          <a:p>
            <a:pPr marL="381000" lvl="0" indent="-381000" defTabSz="814705"/>
            <a:r>
              <a:rPr lang="en-US" altLang="en-US" dirty="0"/>
              <a:t>Hardware is the physical equipment such as the case, storage drives, keyboards, monitors, cables, speakers, and printers.</a:t>
            </a:r>
            <a:endParaRPr lang="en-US" altLang="en-US" dirty="0"/>
          </a:p>
          <a:p>
            <a:pPr marL="381000" lvl="0" indent="-381000" defTabSz="814705"/>
            <a:r>
              <a:rPr lang="en-US" altLang="en-US" dirty="0"/>
              <a:t>Software is the operating </a:t>
            </a:r>
            <a:br>
              <a:rPr lang="en-US" altLang="en-US" dirty="0"/>
            </a:br>
            <a:r>
              <a:rPr lang="en-US" altLang="en-US" dirty="0"/>
              <a:t>system and programs.</a:t>
            </a:r>
            <a:endParaRPr lang="en-US" altLang="en-US" dirty="0"/>
          </a:p>
          <a:p>
            <a:pPr marL="381000" lvl="0" indent="-381000" defTabSz="814705"/>
            <a:r>
              <a:rPr lang="en-US" altLang="en-US" dirty="0"/>
              <a:t>The operating system </a:t>
            </a:r>
            <a:br>
              <a:rPr lang="en-US" altLang="en-US" dirty="0"/>
            </a:br>
            <a:r>
              <a:rPr lang="en-US" altLang="en-US" dirty="0"/>
              <a:t>instructs the computer how </a:t>
            </a:r>
            <a:br>
              <a:rPr lang="en-US" altLang="en-US" dirty="0"/>
            </a:br>
            <a:r>
              <a:rPr lang="en-US" altLang="en-US" dirty="0"/>
              <a:t>to operate.</a:t>
            </a:r>
            <a:endParaRPr lang="en-US" altLang="en-US" dirty="0"/>
          </a:p>
          <a:p>
            <a:pPr marL="381000" lvl="0" indent="-381000" defTabSz="814705"/>
            <a:r>
              <a:rPr lang="en-US" altLang="en-US" dirty="0"/>
              <a:t>Programs or applications </a:t>
            </a:r>
            <a:br>
              <a:rPr lang="en-US" altLang="en-US" dirty="0"/>
            </a:br>
            <a:r>
              <a:rPr lang="en-US" altLang="en-US" dirty="0"/>
              <a:t>perform different functions.</a:t>
            </a:r>
            <a:endParaRPr lang="en-US" altLang="en-US" dirty="0"/>
          </a:p>
        </p:txBody>
      </p:sp>
      <p:pic>
        <p:nvPicPr>
          <p:cNvPr id="15364" name="Picture 11"/>
          <p:cNvPicPr>
            <a:picLocks noChangeAspect="1"/>
          </p:cNvPicPr>
          <p:nvPr/>
        </p:nvPicPr>
        <p:blipFill>
          <a:blip r:embed="rId1"/>
          <a:stretch>
            <a:fillRect/>
          </a:stretch>
        </p:blipFill>
        <p:spPr>
          <a:xfrm>
            <a:off x="5170488" y="3359150"/>
            <a:ext cx="3452812" cy="3303588"/>
          </a:xfrm>
          <a:prstGeom prst="rect">
            <a:avLst/>
          </a:prstGeom>
          <a:noFill/>
          <a:ln w="9525">
            <a:noFill/>
          </a:ln>
        </p:spPr>
      </p:pic>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410" name="Picture 1"/>
          <p:cNvPicPr>
            <a:picLocks noChangeAspect="1"/>
          </p:cNvPicPr>
          <p:nvPr/>
        </p:nvPicPr>
        <p:blipFill>
          <a:blip r:embed="rId1"/>
          <a:stretch>
            <a:fillRect/>
          </a:stretch>
        </p:blipFill>
        <p:spPr>
          <a:xfrm>
            <a:off x="161925" y="1593850"/>
            <a:ext cx="8736013" cy="411480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4" name="Picture 1"/>
          <p:cNvPicPr>
            <a:picLocks noChangeAspect="1"/>
          </p:cNvPicPr>
          <p:nvPr/>
        </p:nvPicPr>
        <p:blipFill>
          <a:blip r:embed="rId1"/>
          <a:stretch>
            <a:fillRect/>
          </a:stretch>
        </p:blipFill>
        <p:spPr>
          <a:xfrm>
            <a:off x="3692525" y="3532188"/>
            <a:ext cx="5026025" cy="3236912"/>
          </a:xfrm>
          <a:prstGeom prst="rect">
            <a:avLst/>
          </a:prstGeom>
          <a:noFill/>
          <a:ln w="9525">
            <a:noFill/>
          </a:ln>
        </p:spPr>
      </p:pic>
      <p:pic>
        <p:nvPicPr>
          <p:cNvPr id="18435" name="Picture 2"/>
          <p:cNvPicPr>
            <a:picLocks noChangeAspect="1"/>
          </p:cNvPicPr>
          <p:nvPr/>
        </p:nvPicPr>
        <p:blipFill>
          <a:blip r:embed="rId2"/>
          <a:stretch>
            <a:fillRect/>
          </a:stretch>
        </p:blipFill>
        <p:spPr>
          <a:xfrm>
            <a:off x="331788" y="773113"/>
            <a:ext cx="4852987" cy="2870200"/>
          </a:xfrm>
          <a:prstGeom prst="rect">
            <a:avLst/>
          </a:prstGeom>
          <a:noFill/>
          <a:ln w="9525">
            <a:noFill/>
          </a:ln>
        </p:spPr>
      </p:pic>
      <p:pic>
        <p:nvPicPr>
          <p:cNvPr id="18436" name="Picture 3"/>
          <p:cNvPicPr>
            <a:picLocks noChangeAspect="1"/>
          </p:cNvPicPr>
          <p:nvPr/>
        </p:nvPicPr>
        <p:blipFill>
          <a:blip r:embed="rId3"/>
          <a:stretch>
            <a:fillRect/>
          </a:stretch>
        </p:blipFill>
        <p:spPr>
          <a:xfrm>
            <a:off x="5627688" y="828675"/>
            <a:ext cx="3189287" cy="2522538"/>
          </a:xfrm>
          <a:prstGeom prst="rect">
            <a:avLst/>
          </a:prstGeom>
          <a:noFill/>
          <a:ln w="9525">
            <a:noFill/>
          </a:ln>
        </p:spPr>
      </p:pic>
      <p:pic>
        <p:nvPicPr>
          <p:cNvPr id="18437" name="Picture 4"/>
          <p:cNvPicPr>
            <a:picLocks noChangeAspect="1"/>
          </p:cNvPicPr>
          <p:nvPr/>
        </p:nvPicPr>
        <p:blipFill>
          <a:blip r:embed="rId4"/>
          <a:stretch>
            <a:fillRect/>
          </a:stretch>
        </p:blipFill>
        <p:spPr>
          <a:xfrm>
            <a:off x="184150" y="3540125"/>
            <a:ext cx="3406775" cy="290830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ln/>
        </p:spPr>
        <p:txBody>
          <a:bodyPr vert="horz" wrap="square" lIns="82124" tIns="41061" rIns="82124" bIns="41061" anchor="b" anchorCtr="0"/>
          <a:p>
            <a:pPr eaLnBrk="1" hangingPunct="1"/>
            <a:r>
              <a:rPr lang="en-US" altLang="en-US" dirty="0"/>
              <a:t>Computer Cases and Power Supplies</a:t>
            </a:r>
            <a:endParaRPr lang="en-US" altLang="en-US" dirty="0"/>
          </a:p>
        </p:txBody>
      </p:sp>
      <p:sp>
        <p:nvSpPr>
          <p:cNvPr id="19459" name="Rectangle 6"/>
          <p:cNvSpPr>
            <a:spLocks noGrp="1"/>
          </p:cNvSpPr>
          <p:nvPr>
            <p:ph idx="1"/>
          </p:nvPr>
        </p:nvSpPr>
        <p:spPr>
          <a:xfrm>
            <a:off x="655638" y="1731963"/>
            <a:ext cx="8066087" cy="4524375"/>
          </a:xfrm>
          <a:ln/>
        </p:spPr>
        <p:txBody>
          <a:bodyPr vert="horz" wrap="square" lIns="82124" tIns="41061" rIns="82124" bIns="41061" anchor="t" anchorCtr="0"/>
          <a:p>
            <a:pPr>
              <a:buNone/>
            </a:pPr>
            <a:r>
              <a:rPr lang="en-US" altLang="en-US" b="1" dirty="0">
                <a:solidFill>
                  <a:schemeClr val="accent2"/>
                </a:solidFill>
              </a:rPr>
              <a:t>Computer case</a:t>
            </a:r>
            <a:endParaRPr lang="en-US" altLang="en-US" b="1" dirty="0">
              <a:solidFill>
                <a:schemeClr val="accent2"/>
              </a:solidFill>
            </a:endParaRPr>
          </a:p>
          <a:p>
            <a:r>
              <a:rPr lang="en-US" altLang="en-US" dirty="0"/>
              <a:t>Provides protection and support for internal components</a:t>
            </a:r>
            <a:endParaRPr lang="en-US" altLang="en-US" dirty="0"/>
          </a:p>
          <a:p>
            <a:r>
              <a:rPr lang="en-US" altLang="en-US" dirty="0"/>
              <a:t>Should be durable, easy to service, and have enough room for expansion</a:t>
            </a:r>
            <a:endParaRPr lang="en-US" altLang="en-US" dirty="0"/>
          </a:p>
          <a:p>
            <a:pPr>
              <a:buNone/>
            </a:pPr>
            <a:r>
              <a:rPr lang="en-US" altLang="en-US" b="1" dirty="0">
                <a:solidFill>
                  <a:schemeClr val="accent2"/>
                </a:solidFill>
              </a:rPr>
              <a:t>Power supply </a:t>
            </a:r>
            <a:endParaRPr lang="en-US" altLang="en-US" b="1" dirty="0">
              <a:solidFill>
                <a:schemeClr val="accent2"/>
              </a:solidFill>
            </a:endParaRPr>
          </a:p>
          <a:p>
            <a:r>
              <a:rPr lang="en-US" altLang="en-US" dirty="0"/>
              <a:t>Converts AC power from the </a:t>
            </a:r>
            <a:br>
              <a:rPr lang="en-US" altLang="en-US" dirty="0"/>
            </a:br>
            <a:r>
              <a:rPr lang="en-US" altLang="en-US" dirty="0"/>
              <a:t>wall socket into DC</a:t>
            </a:r>
            <a:endParaRPr lang="en-US" altLang="en-US" dirty="0"/>
          </a:p>
          <a:p>
            <a:r>
              <a:rPr lang="en-US" altLang="en-US" dirty="0"/>
              <a:t>Must provide enough power </a:t>
            </a:r>
            <a:br>
              <a:rPr lang="en-US" altLang="en-US" dirty="0"/>
            </a:br>
            <a:r>
              <a:rPr lang="en-US" altLang="en-US" dirty="0"/>
              <a:t>for the installed components </a:t>
            </a:r>
            <a:br>
              <a:rPr lang="en-US" altLang="en-US" dirty="0"/>
            </a:br>
            <a:r>
              <a:rPr lang="en-US" altLang="en-US" dirty="0"/>
              <a:t>and future additions</a:t>
            </a:r>
            <a:endParaRPr lang="en-US" altLang="en-US" dirty="0"/>
          </a:p>
        </p:txBody>
      </p:sp>
      <p:pic>
        <p:nvPicPr>
          <p:cNvPr id="19460" name="Picture 7"/>
          <p:cNvPicPr>
            <a:picLocks noChangeAspect="1"/>
          </p:cNvPicPr>
          <p:nvPr/>
        </p:nvPicPr>
        <p:blipFill>
          <a:blip r:embed="rId1"/>
          <a:stretch>
            <a:fillRect/>
          </a:stretch>
        </p:blipFill>
        <p:spPr>
          <a:xfrm>
            <a:off x="5397500" y="3298825"/>
            <a:ext cx="3305175" cy="3289300"/>
          </a:xfrm>
          <a:prstGeom prst="rect">
            <a:avLst/>
          </a:prstGeom>
          <a:noFill/>
          <a:ln w="9525">
            <a:noFill/>
          </a:ln>
        </p:spPr>
      </p:pic>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ln/>
        </p:spPr>
        <p:txBody>
          <a:bodyPr vert="horz" wrap="square" lIns="82124" tIns="41061" rIns="82124" bIns="41061" anchor="b" anchorCtr="0"/>
          <a:p>
            <a:pPr eaLnBrk="1" hangingPunct="1"/>
            <a:r>
              <a:rPr lang="en-US" altLang="en-US" dirty="0"/>
              <a:t>Computer Cases</a:t>
            </a:r>
            <a:endParaRPr lang="en-US" altLang="en-US" dirty="0"/>
          </a:p>
        </p:txBody>
      </p:sp>
      <p:sp>
        <p:nvSpPr>
          <p:cNvPr id="21507" name="Rectangle 6"/>
          <p:cNvSpPr>
            <a:spLocks noGrp="1"/>
          </p:cNvSpPr>
          <p:nvPr>
            <p:ph idx="1"/>
          </p:nvPr>
        </p:nvSpPr>
        <p:spPr>
          <a:xfrm>
            <a:off x="4246563" y="1797050"/>
            <a:ext cx="4473575" cy="4984750"/>
          </a:xfrm>
          <a:ln/>
        </p:spPr>
        <p:txBody>
          <a:bodyPr vert="horz" wrap="square" lIns="82124" tIns="41061" rIns="82124" bIns="41061" anchor="t" anchorCtr="0"/>
          <a:p>
            <a:pPr>
              <a:lnSpc>
                <a:spcPct val="85000"/>
              </a:lnSpc>
            </a:pPr>
            <a:r>
              <a:rPr lang="en-US" altLang="en-US" dirty="0"/>
              <a:t>Contain the framework to support and enclose internal components of the computer</a:t>
            </a:r>
            <a:endParaRPr lang="en-US" altLang="en-US" dirty="0"/>
          </a:p>
          <a:p>
            <a:pPr>
              <a:lnSpc>
                <a:spcPct val="85000"/>
              </a:lnSpc>
            </a:pPr>
            <a:r>
              <a:rPr lang="en-US" altLang="en-US" dirty="0"/>
              <a:t>Typically made of plastic, steel, and aluminum</a:t>
            </a:r>
            <a:endParaRPr lang="en-US" altLang="en-US" dirty="0"/>
          </a:p>
          <a:p>
            <a:pPr>
              <a:lnSpc>
                <a:spcPct val="85000"/>
              </a:lnSpc>
            </a:pPr>
            <a:r>
              <a:rPr lang="en-US" altLang="en-US" dirty="0"/>
              <a:t>Available in a variety of styles</a:t>
            </a:r>
            <a:endParaRPr lang="en-US" altLang="en-US" dirty="0"/>
          </a:p>
          <a:p>
            <a:pPr>
              <a:lnSpc>
                <a:spcPct val="85000"/>
              </a:lnSpc>
            </a:pPr>
            <a:r>
              <a:rPr lang="en-US" altLang="en-US" dirty="0"/>
              <a:t>The size and layout of a case is called a </a:t>
            </a:r>
            <a:r>
              <a:rPr lang="en-US" altLang="en-US" b="1" dirty="0">
                <a:solidFill>
                  <a:schemeClr val="accent2"/>
                </a:solidFill>
              </a:rPr>
              <a:t>form factor</a:t>
            </a:r>
            <a:endParaRPr lang="en-US" altLang="en-US" dirty="0"/>
          </a:p>
          <a:p>
            <a:pPr>
              <a:lnSpc>
                <a:spcPct val="85000"/>
              </a:lnSpc>
            </a:pPr>
            <a:r>
              <a:rPr lang="en-US" altLang="en-US" dirty="0"/>
              <a:t>Designed to keep internal components cool</a:t>
            </a:r>
            <a:endParaRPr lang="en-US" altLang="en-US" dirty="0"/>
          </a:p>
          <a:p>
            <a:pPr>
              <a:lnSpc>
                <a:spcPct val="85000"/>
              </a:lnSpc>
            </a:pPr>
            <a:r>
              <a:rPr lang="en-US" altLang="en-US" dirty="0"/>
              <a:t>Helps to prevent damage from static electricity</a:t>
            </a:r>
            <a:endParaRPr lang="en-US" altLang="en-US" dirty="0"/>
          </a:p>
        </p:txBody>
      </p:sp>
      <p:pic>
        <p:nvPicPr>
          <p:cNvPr id="21508" name="Picture 8"/>
          <p:cNvPicPr>
            <a:picLocks noChangeAspect="1"/>
          </p:cNvPicPr>
          <p:nvPr/>
        </p:nvPicPr>
        <p:blipFill>
          <a:blip r:embed="rId1"/>
          <a:stretch>
            <a:fillRect/>
          </a:stretch>
        </p:blipFill>
        <p:spPr>
          <a:xfrm>
            <a:off x="222250" y="1800225"/>
            <a:ext cx="3924300" cy="4305300"/>
          </a:xfrm>
          <a:prstGeom prst="rect">
            <a:avLst/>
          </a:prstGeom>
          <a:noFill/>
          <a:ln w="9525">
            <a:noFill/>
          </a:ln>
        </p:spPr>
      </p:pic>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655638" y="798513"/>
            <a:ext cx="8145462" cy="717550"/>
          </a:xfrm>
          <a:ln/>
        </p:spPr>
        <p:txBody>
          <a:bodyPr vert="horz" wrap="square" lIns="82124" tIns="41061" rIns="82124" bIns="41061" anchor="b" anchorCtr="0"/>
          <a:p>
            <a:pPr eaLnBrk="1" hangingPunct="1"/>
            <a:r>
              <a:rPr lang="en-US" altLang="en-US" dirty="0"/>
              <a:t>Case Selection</a:t>
            </a:r>
            <a:endParaRPr lang="en-US" altLang="en-US" dirty="0"/>
          </a:p>
        </p:txBody>
      </p:sp>
      <p:graphicFrame>
        <p:nvGraphicFramePr>
          <p:cNvPr id="1262637" name="Group 45"/>
          <p:cNvGraphicFramePr>
            <a:graphicFrameLocks noGrp="1"/>
          </p:cNvGraphicFramePr>
          <p:nvPr>
            <p:ph idx="1"/>
          </p:nvPr>
        </p:nvGraphicFramePr>
        <p:xfrm>
          <a:off x="446088" y="1597025"/>
          <a:ext cx="8207375" cy="5045075"/>
        </p:xfrm>
        <a:graphic>
          <a:graphicData uri="http://schemas.openxmlformats.org/drawingml/2006/table">
            <a:tbl>
              <a:tblPr/>
              <a:tblGrid>
                <a:gridCol w="1839912"/>
                <a:gridCol w="6367463"/>
              </a:tblGrid>
              <a:tr h="362737">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2000" b="1" i="0" u="none" strike="noStrike" cap="none" normalizeH="0" baseline="0">
                          <a:ln>
                            <a:noFill/>
                          </a:ln>
                          <a:solidFill>
                            <a:srgbClr val="FFFFFF"/>
                          </a:solidFill>
                          <a:effectLst/>
                          <a:latin typeface="Arial" panose="020B0604020202020204" pitchFamily="34" charset="0"/>
                        </a:rPr>
                        <a:t>Factor</a:t>
                      </a:r>
                      <a:endParaRPr kumimoji="0" lang="en-US" sz="2000" b="1" i="0" u="none" strike="noStrike" cap="none" normalizeH="0" baseline="0">
                        <a:ln>
                          <a:noFill/>
                        </a:ln>
                        <a:solidFill>
                          <a:srgbClr val="FFFFFF"/>
                        </a:solidFill>
                        <a:effectLst/>
                        <a:latin typeface="Arial" panose="020B0604020202020204" pitchFamily="34" charset="0"/>
                      </a:endParaRPr>
                    </a:p>
                  </a:txBody>
                  <a:tcPr marL="73129" marR="73129" marT="36570" marB="36570" anchor="ctr" anchorCtr="1" horzOverflow="overflow">
                    <a:lnL cap="flat">
                      <a:noFill/>
                    </a:lnL>
                    <a:lnR w="19050" cap="flat" cmpd="sng" algn="ctr">
                      <a:solidFill>
                        <a:schemeClr val="bg1"/>
                      </a:solidFill>
                      <a:prstDash val="solid"/>
                      <a:round/>
                      <a:headEnd type="none" w="med" len="med"/>
                      <a:tailEnd type="none" w="med" len="med"/>
                    </a:lnR>
                    <a:lnT cap="flat">
                      <a:noFill/>
                    </a:lnT>
                    <a:lnB w="1905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2000" b="1" i="0" u="none" strike="noStrike" cap="none" normalizeH="0" baseline="0">
                          <a:ln>
                            <a:noFill/>
                          </a:ln>
                          <a:solidFill>
                            <a:srgbClr val="FFFFFF"/>
                          </a:solidFill>
                          <a:effectLst/>
                          <a:latin typeface="Arial" panose="020B0604020202020204" pitchFamily="34" charset="0"/>
                        </a:rPr>
                        <a:t>Rationale</a:t>
                      </a:r>
                      <a:endParaRPr kumimoji="0" lang="en-US" sz="2000" b="1" i="0" u="none" strike="noStrike" cap="none" normalizeH="0" baseline="0">
                        <a:ln>
                          <a:noFill/>
                        </a:ln>
                        <a:solidFill>
                          <a:srgbClr val="FFFFFF"/>
                        </a:solidFill>
                        <a:effectLst/>
                        <a:latin typeface="Arial" panose="020B0604020202020204" pitchFamily="34" charset="0"/>
                      </a:endParaRPr>
                    </a:p>
                  </a:txBody>
                  <a:tcPr marL="73129" marR="73129" marT="36570" marB="36570" anchor="ctr" anchorCtr="1"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cap="flat">
                      <a:noFill/>
                    </a:lnT>
                    <a:lnB w="19050" cap="flat" cmpd="sng" algn="ctr">
                      <a:solidFill>
                        <a:schemeClr val="bg1"/>
                      </a:solidFill>
                      <a:prstDash val="solid"/>
                      <a:round/>
                      <a:headEnd type="none" w="med" len="med"/>
                      <a:tailEnd type="none" w="med" len="med"/>
                    </a:lnB>
                    <a:lnTlToBr>
                      <a:noFill/>
                    </a:lnTlToBr>
                    <a:lnBlToTr>
                      <a:noFill/>
                    </a:lnBlToTr>
                    <a:solidFill>
                      <a:schemeClr val="accent1"/>
                    </a:solidFill>
                  </a:tcPr>
                </a:tc>
              </a:tr>
              <a:tr h="768196">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Model Type</a:t>
                      </a:r>
                      <a:endParaRPr kumimoji="0" lang="en-US" sz="1800" b="1" i="0" u="none" strike="noStrike" cap="none" normalizeH="0" baseline="0">
                        <a:ln>
                          <a:noFill/>
                        </a:ln>
                        <a:solidFill>
                          <a:schemeClr val="tx1"/>
                        </a:solidFill>
                        <a:effectLst/>
                        <a:latin typeface="Arial" panose="020B0604020202020204" pitchFamily="34" charset="0"/>
                      </a:endParaRPr>
                    </a:p>
                  </a:txBody>
                  <a:tcPr marL="73129" marR="73129" marT="36570" marB="36570" anchor="ctr" anchorCtr="1" horzOverflow="overflow">
                    <a:lnL cap="flat">
                      <a:noFill/>
                    </a:lnL>
                    <a:lnR>
                      <a:noFill/>
                    </a:lnR>
                    <a:lnT w="19050" cap="flat" cmpd="sng" algn="ctr">
                      <a:solidFill>
                        <a:schemeClr val="bg1"/>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600" b="1" i="0" u="none" strike="noStrike" cap="none" normalizeH="0" baseline="0">
                          <a:ln>
                            <a:noFill/>
                          </a:ln>
                          <a:solidFill>
                            <a:schemeClr val="tx1"/>
                          </a:solidFill>
                          <a:effectLst/>
                          <a:latin typeface="Arial" panose="020B0604020202020204" pitchFamily="34" charset="0"/>
                        </a:rPr>
                        <a:t>Two main case models (one for desktop PCs and the other for tower PCs). The type of motherboard determines the type of case. Size and shape must match exactly.</a:t>
                      </a:r>
                      <a:endParaRPr kumimoji="0" lang="en-US" sz="1600" b="1" i="0" u="none" strike="noStrike" cap="none" normalizeH="0" baseline="0">
                        <a:ln>
                          <a:noFill/>
                        </a:ln>
                        <a:solidFill>
                          <a:schemeClr val="tx1"/>
                        </a:solidFill>
                        <a:effectLst/>
                        <a:latin typeface="Arial" panose="020B0604020202020204" pitchFamily="34" charset="0"/>
                      </a:endParaRPr>
                    </a:p>
                  </a:txBody>
                  <a:tcPr marL="73152" marR="73152" marT="36581" marB="36581" anchor="ctr" horzOverflow="overflow">
                    <a:lnL>
                      <a:noFill/>
                    </a:lnL>
                    <a:lnR cap="flat">
                      <a:noFill/>
                    </a:lnR>
                    <a:lnT w="19050" cap="flat" cmpd="sng" algn="ctr">
                      <a:solidFill>
                        <a:schemeClr val="bg1"/>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D2D2D4"/>
                    </a:solidFill>
                  </a:tcPr>
                </a:tc>
              </a:tr>
              <a:tr h="536518">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Size</a:t>
                      </a:r>
                      <a:endParaRPr kumimoji="0" lang="en-US" sz="1800" b="1" i="0" u="none" strike="noStrike" cap="none" normalizeH="0" baseline="0">
                        <a:ln>
                          <a:noFill/>
                        </a:ln>
                        <a:solidFill>
                          <a:schemeClr val="tx1"/>
                        </a:solidFill>
                        <a:effectLst/>
                        <a:latin typeface="Arial" panose="020B0604020202020204" pitchFamily="34" charset="0"/>
                      </a:endParaRPr>
                    </a:p>
                  </a:txBody>
                  <a:tcPr marL="73129" marR="73129" marT="36570" marB="36570" anchor="ctr" anchorCtr="1" horzOverflow="overflow">
                    <a:lnL cap="flat">
                      <a:noFill/>
                    </a:lnL>
                    <a:lnR>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600" b="1" i="0" u="none" strike="noStrike" cap="none" normalizeH="0" baseline="0">
                          <a:ln>
                            <a:noFill/>
                          </a:ln>
                          <a:solidFill>
                            <a:schemeClr val="tx1"/>
                          </a:solidFill>
                          <a:effectLst/>
                          <a:latin typeface="Arial" panose="020B0604020202020204" pitchFamily="34" charset="0"/>
                        </a:rPr>
                        <a:t>If a computer has many components, it will need more room for airflow to keep the system cool.</a:t>
                      </a:r>
                      <a:endParaRPr kumimoji="0" lang="en-US" sz="1600" b="1" i="0" u="none" strike="noStrike" cap="none" normalizeH="0" baseline="0">
                        <a:ln>
                          <a:noFill/>
                        </a:ln>
                        <a:solidFill>
                          <a:schemeClr val="tx1"/>
                        </a:solidFill>
                        <a:effectLst/>
                        <a:latin typeface="Arial" panose="020B0604020202020204" pitchFamily="34" charset="0"/>
                      </a:endParaRPr>
                    </a:p>
                  </a:txBody>
                  <a:tcPr marL="73152" marR="73152" marT="36581" marB="36581" anchor="ctr" horzOverflow="overflow">
                    <a:lnL>
                      <a:noFill/>
                    </a:lnL>
                    <a:lnR cap="flat">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D2D2D4"/>
                    </a:solidFill>
                  </a:tcPr>
                </a:tc>
              </a:tr>
              <a:tr h="999874">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Available Space</a:t>
                      </a:r>
                      <a:endParaRPr kumimoji="0" lang="en-US" sz="1800" b="1" i="0" u="none" strike="noStrike" cap="none" normalizeH="0" baseline="0">
                        <a:ln>
                          <a:noFill/>
                        </a:ln>
                        <a:solidFill>
                          <a:schemeClr val="tx1"/>
                        </a:solidFill>
                        <a:effectLst/>
                        <a:latin typeface="Arial" panose="020B0604020202020204" pitchFamily="34" charset="0"/>
                      </a:endParaRPr>
                    </a:p>
                  </a:txBody>
                  <a:tcPr marL="73129" marR="73129" marT="36570" marB="36570" anchor="ctr" anchorCtr="1" horzOverflow="overflow">
                    <a:lnL cap="flat">
                      <a:noFill/>
                    </a:lnL>
                    <a:lnR>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600" b="1" i="0" u="none" strike="noStrike" cap="none" normalizeH="0" baseline="0">
                          <a:ln>
                            <a:noFill/>
                          </a:ln>
                          <a:solidFill>
                            <a:schemeClr val="tx1"/>
                          </a:solidFill>
                          <a:effectLst/>
                          <a:latin typeface="Arial" panose="020B0604020202020204" pitchFamily="34" charset="0"/>
                        </a:rPr>
                        <a:t>Desktop cases allow space conservation in tight areas because the monitor can be placed on top of the unit. The case design may limit the number and size of the components that can be added.</a:t>
                      </a:r>
                      <a:endParaRPr kumimoji="0" lang="en-US" sz="1600" b="1" i="0" u="none" strike="noStrike" cap="none" normalizeH="0" baseline="0">
                        <a:ln>
                          <a:noFill/>
                        </a:ln>
                        <a:solidFill>
                          <a:schemeClr val="tx1"/>
                        </a:solidFill>
                        <a:effectLst/>
                        <a:latin typeface="Arial" panose="020B0604020202020204" pitchFamily="34" charset="0"/>
                      </a:endParaRPr>
                    </a:p>
                  </a:txBody>
                  <a:tcPr marL="73152" marR="73152" marT="36581" marB="36581" anchor="ctr" horzOverflow="overflow">
                    <a:lnL>
                      <a:noFill/>
                    </a:lnL>
                    <a:lnR cap="flat">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D2D2D4"/>
                    </a:solidFill>
                  </a:tcPr>
                </a:tc>
              </a:tr>
              <a:tr h="536518">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Power Supply</a:t>
                      </a:r>
                      <a:endParaRPr kumimoji="0" lang="en-US" sz="1800" b="1" i="0" u="none" strike="noStrike" cap="none" normalizeH="0" baseline="0">
                        <a:ln>
                          <a:noFill/>
                        </a:ln>
                        <a:solidFill>
                          <a:schemeClr val="tx1"/>
                        </a:solidFill>
                        <a:effectLst/>
                        <a:latin typeface="Arial" panose="020B0604020202020204" pitchFamily="34" charset="0"/>
                      </a:endParaRPr>
                    </a:p>
                  </a:txBody>
                  <a:tcPr marL="73129" marR="73129" marT="36570" marB="36570" anchor="ctr" anchorCtr="1" horzOverflow="overflow">
                    <a:lnL cap="flat">
                      <a:noFill/>
                    </a:lnL>
                    <a:lnR>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600" b="1" i="0" u="none" strike="noStrike" cap="none" normalizeH="0" baseline="0">
                          <a:ln>
                            <a:noFill/>
                          </a:ln>
                          <a:solidFill>
                            <a:schemeClr val="tx1"/>
                          </a:solidFill>
                          <a:effectLst/>
                          <a:latin typeface="Arial" panose="020B0604020202020204" pitchFamily="34" charset="0"/>
                        </a:rPr>
                        <a:t>Match the power rating and connection type of the power supply to the type of motherboard chosen.</a:t>
                      </a:r>
                      <a:endParaRPr kumimoji="0" lang="en-US" sz="1600" b="1" i="0" u="none" strike="noStrike" cap="none" normalizeH="0" baseline="0">
                        <a:ln>
                          <a:noFill/>
                        </a:ln>
                        <a:solidFill>
                          <a:schemeClr val="tx1"/>
                        </a:solidFill>
                        <a:effectLst/>
                        <a:latin typeface="Arial" panose="020B0604020202020204" pitchFamily="34" charset="0"/>
                      </a:endParaRPr>
                    </a:p>
                  </a:txBody>
                  <a:tcPr marL="73152" marR="73152" marT="36581" marB="36581" anchor="ctr" horzOverflow="overflow">
                    <a:lnL>
                      <a:noFill/>
                    </a:lnL>
                    <a:lnR cap="flat">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D2D2D4"/>
                    </a:solidFill>
                  </a:tcPr>
                </a:tc>
              </a:tr>
              <a:tr h="536518">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Appearance</a:t>
                      </a:r>
                      <a:endParaRPr kumimoji="0" lang="en-US" sz="1800" b="1" i="0" u="none" strike="noStrike" cap="none" normalizeH="0" baseline="0">
                        <a:ln>
                          <a:noFill/>
                        </a:ln>
                        <a:solidFill>
                          <a:schemeClr val="tx1"/>
                        </a:solidFill>
                        <a:effectLst/>
                        <a:latin typeface="Arial" panose="020B0604020202020204" pitchFamily="34" charset="0"/>
                      </a:endParaRPr>
                    </a:p>
                  </a:txBody>
                  <a:tcPr marL="73129" marR="73129" marT="36570" marB="36570" anchor="ctr" anchorCtr="1" horzOverflow="overflow">
                    <a:lnL cap="flat">
                      <a:noFill/>
                    </a:lnL>
                    <a:lnR>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600" b="1" i="0" u="none" strike="noStrike" cap="none" normalizeH="0" baseline="0">
                          <a:ln>
                            <a:noFill/>
                          </a:ln>
                          <a:solidFill>
                            <a:schemeClr val="tx1"/>
                          </a:solidFill>
                          <a:effectLst/>
                          <a:latin typeface="Arial" panose="020B0604020202020204" pitchFamily="34" charset="0"/>
                        </a:rPr>
                        <a:t>There are many case designs to choose from if it is necessary to have a case that is attractive.</a:t>
                      </a:r>
                      <a:endParaRPr kumimoji="0" lang="en-US" sz="1600" b="1" i="0" u="none" strike="noStrike" cap="none" normalizeH="0" baseline="0">
                        <a:ln>
                          <a:noFill/>
                        </a:ln>
                        <a:solidFill>
                          <a:schemeClr val="tx1"/>
                        </a:solidFill>
                        <a:effectLst/>
                        <a:latin typeface="Arial" panose="020B0604020202020204" pitchFamily="34" charset="0"/>
                      </a:endParaRPr>
                    </a:p>
                  </a:txBody>
                  <a:tcPr marL="73152" marR="73152" marT="36581" marB="36581" anchor="ctr" horzOverflow="overflow">
                    <a:lnL>
                      <a:noFill/>
                    </a:lnL>
                    <a:lnR cap="flat">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D2D2D4"/>
                    </a:solidFill>
                  </a:tcPr>
                </a:tc>
              </a:tr>
              <a:tr h="768196">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Status Display</a:t>
                      </a:r>
                      <a:endParaRPr kumimoji="0" lang="en-US" sz="1800" b="1" i="0" u="none" strike="noStrike" cap="none" normalizeH="0" baseline="0">
                        <a:ln>
                          <a:noFill/>
                        </a:ln>
                        <a:solidFill>
                          <a:schemeClr val="tx1"/>
                        </a:solidFill>
                        <a:effectLst/>
                        <a:latin typeface="Arial" panose="020B0604020202020204" pitchFamily="34" charset="0"/>
                      </a:endParaRPr>
                    </a:p>
                  </a:txBody>
                  <a:tcPr marL="73129" marR="73129" marT="36570" marB="36570" anchor="ctr" anchorCtr="1" horzOverflow="overflow">
                    <a:lnL cap="flat">
                      <a:noFill/>
                    </a:lnL>
                    <a:lnR>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600" b="1" i="0" u="none" strike="noStrike" cap="none" normalizeH="0" baseline="0">
                          <a:ln>
                            <a:noFill/>
                          </a:ln>
                          <a:solidFill>
                            <a:schemeClr val="tx1"/>
                          </a:solidFill>
                          <a:effectLst/>
                          <a:latin typeface="Arial" panose="020B0604020202020204" pitchFamily="34" charset="0"/>
                        </a:rPr>
                        <a:t>LED indicators that are mounted on the front of the case can tell you if the system is receiving power, when the hard drive is being used, and when the computer is on standby or sleeping.</a:t>
                      </a:r>
                      <a:endParaRPr kumimoji="0" lang="en-US" sz="1600" b="1" i="0" u="none" strike="noStrike" cap="none" normalizeH="0" baseline="0">
                        <a:ln>
                          <a:noFill/>
                        </a:ln>
                        <a:solidFill>
                          <a:schemeClr val="tx1"/>
                        </a:solidFill>
                        <a:effectLst/>
                        <a:latin typeface="Arial" panose="020B0604020202020204" pitchFamily="34" charset="0"/>
                      </a:endParaRPr>
                    </a:p>
                  </a:txBody>
                  <a:tcPr marL="73152" marR="73152" marT="36581" marB="36581" anchor="ctr" horzOverflow="overflow">
                    <a:lnL>
                      <a:noFill/>
                    </a:lnL>
                    <a:lnR cap="flat">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D2D2D4"/>
                    </a:solidFill>
                  </a:tcPr>
                </a:tc>
              </a:tr>
              <a:tr h="536518">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Vents</a:t>
                      </a:r>
                      <a:endParaRPr kumimoji="0" lang="en-US" sz="1800" b="1" i="0" u="none" strike="noStrike" cap="none" normalizeH="0" baseline="0">
                        <a:ln>
                          <a:noFill/>
                        </a:ln>
                        <a:solidFill>
                          <a:schemeClr val="tx1"/>
                        </a:solidFill>
                        <a:effectLst/>
                        <a:latin typeface="Arial" panose="020B0604020202020204" pitchFamily="34" charset="0"/>
                      </a:endParaRPr>
                    </a:p>
                  </a:txBody>
                  <a:tcPr marL="73129" marR="73129" marT="36570" marB="36570" anchor="ctr" anchorCtr="1" horzOverflow="overflow">
                    <a:lnL cap="flat">
                      <a:noFill/>
                    </a:lnL>
                    <a:lnR>
                      <a:noFill/>
                    </a:lnR>
                    <a:lnT w="12700" cap="flat" cmpd="sng" algn="ctr">
                      <a:solidFill>
                        <a:srgbClr val="8E8E95"/>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0C0C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600" b="1" i="0" u="none" strike="noStrike" cap="none" normalizeH="0" baseline="0">
                          <a:ln>
                            <a:noFill/>
                          </a:ln>
                          <a:solidFill>
                            <a:schemeClr val="tx1"/>
                          </a:solidFill>
                          <a:effectLst/>
                          <a:latin typeface="Arial" panose="020B0604020202020204" pitchFamily="34" charset="0"/>
                        </a:rPr>
                        <a:t>All cases have a vent on the power supply. Some cases have more vents to dissipate an unusual amount of heat.</a:t>
                      </a:r>
                      <a:endParaRPr kumimoji="0" lang="en-US" sz="1600" b="1" i="0" u="none" strike="noStrike" cap="none" normalizeH="0" baseline="0">
                        <a:ln>
                          <a:noFill/>
                        </a:ln>
                        <a:solidFill>
                          <a:schemeClr val="tx1"/>
                        </a:solidFill>
                        <a:effectLst/>
                        <a:latin typeface="Arial" panose="020B0604020202020204" pitchFamily="34" charset="0"/>
                      </a:endParaRPr>
                    </a:p>
                  </a:txBody>
                  <a:tcPr marL="73152" marR="73152" marT="36581" marB="36581" anchor="ctr" horzOverflow="overflow">
                    <a:lnL>
                      <a:noFill/>
                    </a:lnL>
                    <a:lnR cap="flat">
                      <a:noFill/>
                    </a:lnR>
                    <a:lnT w="12700" cap="flat" cmpd="sng" algn="ctr">
                      <a:solidFill>
                        <a:srgbClr val="8E8E95"/>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2D4"/>
                    </a:solidFill>
                  </a:tcPr>
                </a:tc>
              </a:tr>
            </a:tbl>
          </a:graphicData>
        </a:graphic>
      </p:graphicFrame>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ln/>
        </p:spPr>
        <p:txBody>
          <a:bodyPr vert="horz" wrap="square" lIns="82124" tIns="41061" rIns="82124" bIns="41061" anchor="b" anchorCtr="0"/>
          <a:p>
            <a:pPr eaLnBrk="1" hangingPunct="1"/>
            <a:r>
              <a:rPr lang="en-US" altLang="en-US" dirty="0"/>
              <a:t>Internal Components</a:t>
            </a:r>
            <a:endParaRPr lang="en-US" altLang="en-US" dirty="0"/>
          </a:p>
        </p:txBody>
      </p:sp>
      <p:pic>
        <p:nvPicPr>
          <p:cNvPr id="25603" name="Picture 24"/>
          <p:cNvPicPr>
            <a:picLocks noChangeAspect="1"/>
          </p:cNvPicPr>
          <p:nvPr/>
        </p:nvPicPr>
        <p:blipFill>
          <a:blip r:embed="rId1"/>
          <a:stretch>
            <a:fillRect/>
          </a:stretch>
        </p:blipFill>
        <p:spPr>
          <a:xfrm>
            <a:off x="1993900" y="1747838"/>
            <a:ext cx="5137150" cy="4803775"/>
          </a:xfrm>
          <a:prstGeom prst="rect">
            <a:avLst/>
          </a:prstGeom>
          <a:noFill/>
          <a:ln w="9525">
            <a:noFill/>
          </a:ln>
        </p:spPr>
      </p:pic>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ln/>
        </p:spPr>
        <p:txBody>
          <a:bodyPr vert="horz" wrap="square" lIns="82124" tIns="41061" rIns="82124" bIns="41061" anchor="b" anchorCtr="0"/>
          <a:p>
            <a:pPr eaLnBrk="1" hangingPunct="1"/>
            <a:r>
              <a:rPr lang="en-US" altLang="en-US" dirty="0"/>
              <a:t>Power Supplies</a:t>
            </a:r>
            <a:endParaRPr lang="en-US" altLang="en-US" dirty="0"/>
          </a:p>
        </p:txBody>
      </p:sp>
      <p:sp>
        <p:nvSpPr>
          <p:cNvPr id="27651" name="Rectangle 7"/>
          <p:cNvSpPr>
            <a:spLocks noGrp="1"/>
          </p:cNvSpPr>
          <p:nvPr>
            <p:ph idx="1"/>
          </p:nvPr>
        </p:nvSpPr>
        <p:spPr>
          <a:xfrm>
            <a:off x="655638" y="1819275"/>
            <a:ext cx="7905750" cy="4303713"/>
          </a:xfrm>
          <a:ln/>
        </p:spPr>
        <p:txBody>
          <a:bodyPr vert="horz" wrap="square" lIns="82124" tIns="41061" rIns="82124" bIns="41061" anchor="t" anchorCtr="0"/>
          <a:p>
            <a:r>
              <a:rPr lang="en-US" altLang="en-US" dirty="0"/>
              <a:t>The power supply converts alternating-current (AC) power coming from a wall outlet into direct-current (DC) power, which is a lower voltage. </a:t>
            </a:r>
            <a:endParaRPr lang="en-US" altLang="en-US" dirty="0"/>
          </a:p>
          <a:p>
            <a:r>
              <a:rPr lang="en-US" altLang="en-US" dirty="0"/>
              <a:t>DC power is required for all of the components inside the computer. </a:t>
            </a:r>
            <a:endParaRPr lang="en-US" altLang="en-US" dirty="0"/>
          </a:p>
          <a:p>
            <a:r>
              <a:rPr lang="en-US" altLang="en-US" dirty="0"/>
              <a:t>Cables, connectors, and </a:t>
            </a:r>
            <a:br>
              <a:rPr lang="en-US" altLang="en-US" dirty="0"/>
            </a:br>
            <a:r>
              <a:rPr lang="en-US" altLang="en-US" dirty="0"/>
              <a:t>components are designed </a:t>
            </a:r>
            <a:br>
              <a:rPr lang="en-US" altLang="en-US" dirty="0"/>
            </a:br>
            <a:r>
              <a:rPr lang="en-US" altLang="en-US" dirty="0"/>
              <a:t>to fit together snugly. </a:t>
            </a:r>
            <a:br>
              <a:rPr lang="en-US" altLang="en-US" dirty="0"/>
            </a:br>
            <a:r>
              <a:rPr lang="en-US" altLang="en-US" dirty="0"/>
              <a:t>Never force any connector </a:t>
            </a:r>
            <a:br>
              <a:rPr lang="en-US" altLang="en-US" dirty="0"/>
            </a:br>
            <a:r>
              <a:rPr lang="en-US" altLang="en-US" dirty="0"/>
              <a:t>or component.</a:t>
            </a:r>
            <a:endParaRPr lang="en-US" altLang="en-US" dirty="0"/>
          </a:p>
          <a:p>
            <a:pPr>
              <a:buNone/>
            </a:pPr>
            <a:endParaRPr lang="en-US" altLang="en-US" dirty="0"/>
          </a:p>
        </p:txBody>
      </p:sp>
      <p:pic>
        <p:nvPicPr>
          <p:cNvPr id="27652" name="Picture 9"/>
          <p:cNvPicPr>
            <a:picLocks noChangeAspect="1"/>
          </p:cNvPicPr>
          <p:nvPr/>
        </p:nvPicPr>
        <p:blipFill>
          <a:blip r:embed="rId1"/>
          <a:stretch>
            <a:fillRect/>
          </a:stretch>
        </p:blipFill>
        <p:spPr>
          <a:xfrm>
            <a:off x="5133975" y="3532188"/>
            <a:ext cx="3187700" cy="3108325"/>
          </a:xfrm>
          <a:prstGeom prst="rect">
            <a:avLst/>
          </a:prstGeom>
          <a:noFill/>
          <a:ln w="9525">
            <a:noFill/>
          </a:ln>
        </p:spPr>
      </p:pic>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ln/>
        </p:spPr>
        <p:txBody>
          <a:bodyPr vert="horz" wrap="square" lIns="82124" tIns="41061" rIns="82124" bIns="41061" anchor="b" anchorCtr="0"/>
          <a:p>
            <a:pPr eaLnBrk="1" hangingPunct="1"/>
            <a:r>
              <a:rPr lang="en-US" altLang="en-US" dirty="0"/>
              <a:t>Power Supplies</a:t>
            </a:r>
            <a:endParaRPr lang="en-US" altLang="en-US" dirty="0"/>
          </a:p>
        </p:txBody>
      </p:sp>
      <p:sp>
        <p:nvSpPr>
          <p:cNvPr id="29699" name="Rectangle 3"/>
          <p:cNvSpPr>
            <a:spLocks noGrp="1"/>
          </p:cNvSpPr>
          <p:nvPr>
            <p:ph idx="1"/>
          </p:nvPr>
        </p:nvSpPr>
        <p:spPr>
          <a:xfrm>
            <a:off x="4732338" y="2060575"/>
            <a:ext cx="4057650" cy="3971925"/>
          </a:xfrm>
          <a:ln/>
        </p:spPr>
        <p:txBody>
          <a:bodyPr vert="horz" wrap="square" lIns="82124" tIns="41061" rIns="82124" bIns="41061" anchor="t" anchorCtr="0"/>
          <a:p>
            <a:pPr>
              <a:buNone/>
            </a:pPr>
            <a:r>
              <a:rPr lang="en-US" altLang="en-US" b="1" dirty="0">
                <a:solidFill>
                  <a:schemeClr val="accent2"/>
                </a:solidFill>
              </a:rPr>
              <a:t>CAUTION:</a:t>
            </a:r>
            <a:r>
              <a:rPr lang="en-US" altLang="en-US" dirty="0"/>
              <a:t> Do not open a power supply. </a:t>
            </a:r>
            <a:endParaRPr lang="en-US" altLang="en-US" dirty="0"/>
          </a:p>
          <a:p>
            <a:pPr>
              <a:buNone/>
            </a:pPr>
            <a:r>
              <a:rPr lang="en-US" altLang="ja-JP" dirty="0">
                <a:ea typeface="MS PGothic" panose="020B0600070205080204" pitchFamily="34" charset="-128"/>
              </a:rPr>
              <a:t>Electronic capacitors located inside of a power supply can hold a charge for extended periods of time.</a:t>
            </a:r>
            <a:endParaRPr lang="en-US" altLang="en-US" dirty="0"/>
          </a:p>
        </p:txBody>
      </p:sp>
      <p:pic>
        <p:nvPicPr>
          <p:cNvPr id="29700" name="Picture 5"/>
          <p:cNvPicPr>
            <a:picLocks noChangeAspect="1"/>
          </p:cNvPicPr>
          <p:nvPr/>
        </p:nvPicPr>
        <p:blipFill>
          <a:blip r:embed="rId1"/>
          <a:stretch>
            <a:fillRect/>
          </a:stretch>
        </p:blipFill>
        <p:spPr>
          <a:xfrm>
            <a:off x="311150" y="1809750"/>
            <a:ext cx="4229100" cy="4305300"/>
          </a:xfrm>
          <a:prstGeom prst="rect">
            <a:avLst/>
          </a:prstGeom>
          <a:noFill/>
          <a:ln w="9525">
            <a:noFill/>
          </a:ln>
        </p:spPr>
      </p:pic>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p:cNvSpPr>
          <p:nvPr>
            <p:ph type="title"/>
          </p:nvPr>
        </p:nvSpPr>
        <p:spPr>
          <a:xfrm>
            <a:off x="862013" y="582613"/>
            <a:ext cx="7467600" cy="660400"/>
          </a:xfrm>
          <a:ln/>
        </p:spPr>
        <p:txBody>
          <a:bodyPr vert="horz" wrap="square" lIns="82124" tIns="41061" rIns="82124" bIns="41061" anchor="b" anchorCtr="0"/>
          <a:p>
            <a:r>
              <a:rPr lang="en-US" altLang="en-US" dirty="0"/>
              <a:t>A capacitor</a:t>
            </a:r>
            <a:endParaRPr lang="en-US" altLang="en-US" dirty="0"/>
          </a:p>
        </p:txBody>
      </p:sp>
      <p:sp>
        <p:nvSpPr>
          <p:cNvPr id="31747" name="Content Placeholder 2"/>
          <p:cNvSpPr>
            <a:spLocks noGrp="1"/>
          </p:cNvSpPr>
          <p:nvPr>
            <p:ph idx="1"/>
          </p:nvPr>
        </p:nvSpPr>
        <p:spPr>
          <a:xfrm>
            <a:off x="457200" y="1177925"/>
            <a:ext cx="7467600" cy="4873625"/>
          </a:xfrm>
          <a:ln/>
        </p:spPr>
        <p:txBody>
          <a:bodyPr vert="horz" wrap="square" lIns="82124" tIns="41061" rIns="82124" bIns="41061" anchor="t" anchorCtr="0"/>
          <a:p>
            <a:pPr>
              <a:buClr>
                <a:srgbClr val="708CA1"/>
              </a:buClr>
              <a:buSzTx/>
              <a:buFont typeface="Wingdings" panose="05000000000000000000" pitchFamily="2" charset="2"/>
            </a:pPr>
            <a:endParaRPr lang="en-US" altLang="en-US" b="1" dirty="0"/>
          </a:p>
          <a:p>
            <a:pPr>
              <a:buClr>
                <a:srgbClr val="708CA1"/>
              </a:buClr>
              <a:buSzTx/>
              <a:buFont typeface="Wingdings" panose="05000000000000000000" pitchFamily="2" charset="2"/>
            </a:pPr>
            <a:endParaRPr lang="en-US" altLang="en-US" b="1" dirty="0"/>
          </a:p>
          <a:p>
            <a:pPr>
              <a:buClr>
                <a:srgbClr val="708CA1"/>
              </a:buClr>
              <a:buSzTx/>
              <a:buFont typeface="Wingdings" panose="05000000000000000000" pitchFamily="2" charset="2"/>
            </a:pPr>
            <a:endParaRPr lang="en-US" altLang="en-US" b="1" dirty="0"/>
          </a:p>
          <a:p>
            <a:pPr>
              <a:buClr>
                <a:srgbClr val="708CA1"/>
              </a:buClr>
              <a:buSzTx/>
              <a:buFont typeface="Wingdings" panose="05000000000000000000" pitchFamily="2" charset="2"/>
            </a:pPr>
            <a:endParaRPr lang="en-US" altLang="en-US" b="1" dirty="0"/>
          </a:p>
          <a:p>
            <a:pPr>
              <a:buClr>
                <a:srgbClr val="708CA1"/>
              </a:buClr>
              <a:buSzTx/>
              <a:buFont typeface="Wingdings" panose="05000000000000000000" pitchFamily="2" charset="2"/>
            </a:pPr>
            <a:endParaRPr lang="en-US" altLang="en-US" b="1" dirty="0"/>
          </a:p>
          <a:p>
            <a:pPr>
              <a:buClr>
                <a:srgbClr val="708CA1"/>
              </a:buClr>
              <a:buSzTx/>
              <a:buFont typeface="Wingdings" panose="05000000000000000000" pitchFamily="2" charset="2"/>
            </a:pPr>
            <a:r>
              <a:rPr lang="en-US" altLang="en-US" b="1" dirty="0"/>
              <a:t>A capacitor </a:t>
            </a:r>
            <a:r>
              <a:rPr lang="en-US" altLang="en-US" dirty="0"/>
              <a:t>is a passive two-terminal electrical component that stores electrical energy in an electric field</a:t>
            </a:r>
            <a:endParaRPr lang="en-US" altLang="en-US" dirty="0"/>
          </a:p>
          <a:p>
            <a:pPr>
              <a:buClr>
                <a:srgbClr val="708CA1"/>
              </a:buClr>
              <a:buSzTx/>
              <a:buFont typeface="Wingdings" panose="05000000000000000000" pitchFamily="2" charset="2"/>
            </a:pPr>
            <a:r>
              <a:rPr lang="en-US" altLang="en-US" b="1" dirty="0"/>
              <a:t>A capacitor works like a tiny rechargeable battery with very very very low capacity.</a:t>
            </a:r>
            <a:endParaRPr lang="en-US" altLang="en-US" dirty="0"/>
          </a:p>
          <a:p>
            <a:pPr>
              <a:buClr>
                <a:srgbClr val="708CA1"/>
              </a:buClr>
              <a:buSzTx/>
              <a:buFont typeface="Wingdings" panose="05000000000000000000" pitchFamily="2" charset="2"/>
            </a:pPr>
            <a:r>
              <a:rPr lang="en-US" altLang="en-US" dirty="0"/>
              <a:t>The capacitor can store charge. And it can release the charge when needed. </a:t>
            </a:r>
            <a:endParaRPr lang="en-US" altLang="en-US" dirty="0"/>
          </a:p>
        </p:txBody>
      </p:sp>
      <p:pic>
        <p:nvPicPr>
          <p:cNvPr id="31748" name="Picture 3"/>
          <p:cNvPicPr>
            <a:picLocks noChangeAspect="1"/>
          </p:cNvPicPr>
          <p:nvPr/>
        </p:nvPicPr>
        <p:blipFill>
          <a:blip r:embed="rId1"/>
          <a:stretch>
            <a:fillRect/>
          </a:stretch>
        </p:blipFill>
        <p:spPr>
          <a:xfrm>
            <a:off x="1362075" y="1327150"/>
            <a:ext cx="6478588" cy="236855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itle 1"/>
          <p:cNvSpPr>
            <a:spLocks noGrp="1"/>
          </p:cNvSpPr>
          <p:nvPr>
            <p:ph type="title"/>
          </p:nvPr>
        </p:nvSpPr>
        <p:spPr>
          <a:xfrm>
            <a:off x="808038" y="709613"/>
            <a:ext cx="7467600" cy="595312"/>
          </a:xfrm>
          <a:ln/>
        </p:spPr>
        <p:txBody>
          <a:bodyPr vert="horz" wrap="square" lIns="82124" tIns="41061" rIns="82124" bIns="41061" anchor="b" anchorCtr="0"/>
          <a:p>
            <a:r>
              <a:rPr lang="en-US" altLang="en-US" dirty="0"/>
              <a:t>A resistor</a:t>
            </a:r>
            <a:endParaRPr lang="en-US" altLang="en-US" dirty="0"/>
          </a:p>
        </p:txBody>
      </p:sp>
      <p:sp>
        <p:nvSpPr>
          <p:cNvPr id="32771" name="Content Placeholder 2"/>
          <p:cNvSpPr>
            <a:spLocks noGrp="1"/>
          </p:cNvSpPr>
          <p:nvPr>
            <p:ph idx="1"/>
          </p:nvPr>
        </p:nvSpPr>
        <p:spPr>
          <a:xfrm>
            <a:off x="457200" y="1600200"/>
            <a:ext cx="7467600" cy="4873625"/>
          </a:xfrm>
          <a:ln/>
        </p:spPr>
        <p:txBody>
          <a:bodyPr vert="horz" wrap="square" lIns="82124" tIns="41061" rIns="82124" bIns="41061" anchor="t" anchorCtr="0"/>
          <a:p>
            <a:pPr algn="just">
              <a:buClr>
                <a:srgbClr val="708CA1"/>
              </a:buClr>
              <a:buSzTx/>
              <a:buFont typeface="Wingdings" panose="05000000000000000000" pitchFamily="2" charset="2"/>
            </a:pPr>
            <a:endParaRPr lang="en-US" altLang="en-US" b="1" dirty="0"/>
          </a:p>
          <a:p>
            <a:pPr algn="just">
              <a:buClr>
                <a:srgbClr val="708CA1"/>
              </a:buClr>
              <a:buSzTx/>
              <a:buFont typeface="Wingdings" panose="05000000000000000000" pitchFamily="2" charset="2"/>
            </a:pPr>
            <a:endParaRPr lang="en-US" altLang="en-US" b="1" dirty="0"/>
          </a:p>
          <a:p>
            <a:pPr algn="just">
              <a:buClr>
                <a:srgbClr val="708CA1"/>
              </a:buClr>
              <a:buSzTx/>
              <a:buFont typeface="Wingdings" panose="05000000000000000000" pitchFamily="2" charset="2"/>
            </a:pPr>
            <a:endParaRPr lang="en-US" altLang="en-US" b="1" dirty="0"/>
          </a:p>
          <a:p>
            <a:pPr algn="just">
              <a:buClr>
                <a:srgbClr val="708CA1"/>
              </a:buClr>
              <a:buSzTx/>
              <a:buFont typeface="Wingdings" panose="05000000000000000000" pitchFamily="2" charset="2"/>
            </a:pPr>
            <a:endParaRPr lang="en-US" altLang="en-US" b="1" dirty="0"/>
          </a:p>
          <a:p>
            <a:pPr algn="just">
              <a:buClr>
                <a:srgbClr val="708CA1"/>
              </a:buClr>
              <a:buSzTx/>
              <a:buFont typeface="Wingdings" panose="05000000000000000000" pitchFamily="2" charset="2"/>
            </a:pPr>
            <a:r>
              <a:rPr lang="en-US" altLang="en-US" b="1" dirty="0"/>
              <a:t>A resistor</a:t>
            </a:r>
            <a:r>
              <a:rPr lang="en-US" altLang="en-US" dirty="0"/>
              <a:t> is a passive two-terminal electrical component that implements electrical resistance as a circuit element. In electronic circuits, </a:t>
            </a:r>
            <a:r>
              <a:rPr lang="en-US" altLang="en-US" b="1" dirty="0"/>
              <a:t>resistors</a:t>
            </a:r>
            <a:r>
              <a:rPr lang="en-US" altLang="en-US" dirty="0"/>
              <a:t> are used to reduce current flow, adjust signal levels, to divide voltages,</a:t>
            </a:r>
            <a:endParaRPr lang="en-US" altLang="en-US" dirty="0"/>
          </a:p>
        </p:txBody>
      </p:sp>
      <p:pic>
        <p:nvPicPr>
          <p:cNvPr id="32772" name="Picture 3"/>
          <p:cNvPicPr>
            <a:picLocks noChangeAspect="1"/>
          </p:cNvPicPr>
          <p:nvPr/>
        </p:nvPicPr>
        <p:blipFill>
          <a:blip r:embed="rId1"/>
          <a:stretch>
            <a:fillRect/>
          </a:stretch>
        </p:blipFill>
        <p:spPr>
          <a:xfrm>
            <a:off x="2198688" y="1250950"/>
            <a:ext cx="4916487" cy="1971675"/>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p:cNvSpPr>
          <p:nvPr>
            <p:ph type="title"/>
          </p:nvPr>
        </p:nvSpPr>
        <p:spPr>
          <a:ln/>
        </p:spPr>
        <p:txBody>
          <a:bodyPr vert="horz" wrap="square" lIns="82124" tIns="41061" rIns="82124" bIns="41061" anchor="b" anchorCtr="0"/>
          <a:p>
            <a:pPr eaLnBrk="1" hangingPunct="1"/>
            <a:r>
              <a:rPr lang="en-US" altLang="en-US" dirty="0"/>
              <a:t>Motherboards</a:t>
            </a:r>
            <a:endParaRPr lang="en-US" altLang="en-US" dirty="0"/>
          </a:p>
        </p:txBody>
      </p:sp>
      <p:sp>
        <p:nvSpPr>
          <p:cNvPr id="33795" name="Rectangle 6"/>
          <p:cNvSpPr>
            <a:spLocks noGrp="1"/>
          </p:cNvSpPr>
          <p:nvPr>
            <p:ph idx="1"/>
          </p:nvPr>
        </p:nvSpPr>
        <p:spPr>
          <a:xfrm>
            <a:off x="655638" y="1674813"/>
            <a:ext cx="7940675" cy="4832350"/>
          </a:xfrm>
          <a:ln/>
        </p:spPr>
        <p:txBody>
          <a:bodyPr vert="horz" wrap="square" lIns="82124" tIns="41061" rIns="82124" bIns="41061" anchor="t" anchorCtr="0"/>
          <a:p>
            <a:r>
              <a:rPr lang="en-US" altLang="en-US" dirty="0"/>
              <a:t>The main printed circuit board.</a:t>
            </a:r>
            <a:endParaRPr lang="en-US" altLang="en-US" dirty="0"/>
          </a:p>
          <a:p>
            <a:r>
              <a:rPr lang="en-US" altLang="en-US" dirty="0"/>
              <a:t>Contains the buses, or electrical </a:t>
            </a:r>
            <a:br>
              <a:rPr lang="en-US" altLang="en-US" dirty="0"/>
            </a:br>
            <a:r>
              <a:rPr lang="en-US" altLang="en-US" dirty="0"/>
              <a:t>pathways found in a computer. </a:t>
            </a:r>
            <a:br>
              <a:rPr lang="en-US" altLang="en-US" dirty="0"/>
            </a:br>
            <a:r>
              <a:rPr lang="en-US" altLang="en-US" b="1" dirty="0">
                <a:solidFill>
                  <a:schemeClr val="accent2"/>
                </a:solidFill>
              </a:rPr>
              <a:t>Buses</a:t>
            </a:r>
            <a:r>
              <a:rPr lang="en-US" altLang="en-US" dirty="0"/>
              <a:t> allow data to travel </a:t>
            </a:r>
            <a:br>
              <a:rPr lang="en-US" altLang="en-US" dirty="0"/>
            </a:br>
            <a:r>
              <a:rPr lang="en-US" altLang="en-US" dirty="0"/>
              <a:t>among the various components. </a:t>
            </a:r>
            <a:endParaRPr lang="en-US" altLang="en-US" dirty="0"/>
          </a:p>
          <a:p>
            <a:r>
              <a:rPr lang="en-US" altLang="en-US" dirty="0"/>
              <a:t>Also known as the system board, </a:t>
            </a:r>
            <a:br>
              <a:rPr lang="en-US" altLang="en-US" dirty="0"/>
            </a:br>
            <a:r>
              <a:rPr lang="en-US" altLang="en-US" dirty="0"/>
              <a:t>the backplane, or the main board.</a:t>
            </a:r>
            <a:endParaRPr lang="en-US" altLang="en-US" dirty="0"/>
          </a:p>
          <a:p>
            <a:r>
              <a:rPr lang="en-US" altLang="en-US" dirty="0"/>
              <a:t>Accommodates CPU, RAM, expansion slots, heat sink/fan assembly, BIOS chip, chip set, sockets, internal and external connectors, various ports, and the embedded wires that interconnect the motherboard components.</a:t>
            </a:r>
            <a:endParaRPr lang="en-US" altLang="en-US" dirty="0"/>
          </a:p>
        </p:txBody>
      </p:sp>
      <p:pic>
        <p:nvPicPr>
          <p:cNvPr id="33796" name="Picture 9"/>
          <p:cNvPicPr>
            <a:picLocks noChangeAspect="1"/>
          </p:cNvPicPr>
          <p:nvPr/>
        </p:nvPicPr>
        <p:blipFill>
          <a:blip r:embed="rId1"/>
          <a:stretch>
            <a:fillRect/>
          </a:stretch>
        </p:blipFill>
        <p:spPr>
          <a:xfrm>
            <a:off x="5719763" y="1230313"/>
            <a:ext cx="3228975" cy="3219450"/>
          </a:xfrm>
          <a:prstGeom prst="rect">
            <a:avLst/>
          </a:prstGeom>
          <a:noFill/>
          <a:ln w="9525">
            <a:noFill/>
          </a:ln>
        </p:spPr>
      </p:pic>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ln/>
        </p:spPr>
        <p:txBody>
          <a:bodyPr vert="horz" wrap="square" lIns="82124" tIns="41061" rIns="82124" bIns="41061" anchor="b" anchorCtr="0"/>
          <a:p>
            <a:pPr eaLnBrk="1" hangingPunct="1"/>
            <a:r>
              <a:rPr lang="en-US" altLang="en-US" dirty="0"/>
              <a:t>Motherboard Form Factors</a:t>
            </a:r>
            <a:endParaRPr lang="en-US" altLang="en-US" dirty="0"/>
          </a:p>
        </p:txBody>
      </p:sp>
      <p:sp>
        <p:nvSpPr>
          <p:cNvPr id="35843" name="Rectangle 3"/>
          <p:cNvSpPr>
            <a:spLocks noGrp="1"/>
          </p:cNvSpPr>
          <p:nvPr>
            <p:ph idx="1"/>
          </p:nvPr>
        </p:nvSpPr>
        <p:spPr>
          <a:xfrm>
            <a:off x="655638" y="1646238"/>
            <a:ext cx="7940675" cy="5038725"/>
          </a:xfrm>
          <a:ln/>
        </p:spPr>
        <p:txBody>
          <a:bodyPr vert="horz" wrap="square" lIns="82124" tIns="41061" rIns="82124" bIns="41061" anchor="t" anchorCtr="0"/>
          <a:p>
            <a:r>
              <a:rPr lang="en-US" altLang="ja-JP" dirty="0">
                <a:ea typeface="MS PGothic" panose="020B0600070205080204" pitchFamily="34" charset="-128"/>
              </a:rPr>
              <a:t>The form factor of motherboards pertains to the size and shape of the board. </a:t>
            </a:r>
            <a:endParaRPr lang="en-US" altLang="ja-JP" dirty="0">
              <a:ea typeface="MS PGothic" panose="020B0600070205080204" pitchFamily="34" charset="-128"/>
            </a:endParaRPr>
          </a:p>
          <a:p>
            <a:r>
              <a:rPr lang="en-US" altLang="ja-JP" dirty="0">
                <a:ea typeface="MS PGothic" panose="020B0600070205080204" pitchFamily="34" charset="-128"/>
              </a:rPr>
              <a:t>It also describes the physical layout of the different components and devices on the motherboard. </a:t>
            </a:r>
            <a:endParaRPr lang="en-US" altLang="ja-JP" dirty="0">
              <a:ea typeface="MS PGothic" panose="020B0600070205080204" pitchFamily="34" charset="-128"/>
            </a:endParaRPr>
          </a:p>
          <a:p>
            <a:r>
              <a:rPr lang="en-US" altLang="ja-JP" dirty="0">
                <a:ea typeface="MS PGothic" panose="020B0600070205080204" pitchFamily="34" charset="-128"/>
              </a:rPr>
              <a:t>Various form factors exist for motherboards.</a:t>
            </a:r>
            <a:endParaRPr lang="en-US" altLang="ja-JP" dirty="0">
              <a:ea typeface="MS PGothic" panose="020B0600070205080204" pitchFamily="34" charset="-128"/>
            </a:endParaRPr>
          </a:p>
          <a:p>
            <a:pPr lvl="1" indent="0">
              <a:buNone/>
            </a:pPr>
            <a:r>
              <a:rPr lang="en-US" altLang="ja-JP" dirty="0">
                <a:ea typeface="MS PGothic" panose="020B0600070205080204" pitchFamily="34" charset="-128"/>
              </a:rPr>
              <a:t>AT – Advanced Technology</a:t>
            </a:r>
            <a:endParaRPr lang="en-US" altLang="ja-JP" dirty="0">
              <a:ea typeface="MS PGothic" panose="020B0600070205080204" pitchFamily="34" charset="-128"/>
            </a:endParaRPr>
          </a:p>
          <a:p>
            <a:pPr lvl="1" indent="0">
              <a:buNone/>
            </a:pPr>
            <a:r>
              <a:rPr lang="en-US" altLang="ja-JP" dirty="0">
                <a:ea typeface="MS PGothic" panose="020B0600070205080204" pitchFamily="34" charset="-128"/>
              </a:rPr>
              <a:t>ATX – Advanced Technology Extended</a:t>
            </a:r>
            <a:endParaRPr lang="en-US" altLang="ja-JP" dirty="0">
              <a:ea typeface="MS PGothic" panose="020B0600070205080204" pitchFamily="34" charset="-128"/>
            </a:endParaRPr>
          </a:p>
          <a:p>
            <a:pPr lvl="1" indent="0">
              <a:buNone/>
            </a:pPr>
            <a:r>
              <a:rPr lang="en-US" altLang="ja-JP" dirty="0">
                <a:ea typeface="MS PGothic" panose="020B0600070205080204" pitchFamily="34" charset="-128"/>
              </a:rPr>
              <a:t>Mini-ATX – Smaller footprint of ATX</a:t>
            </a:r>
            <a:endParaRPr lang="en-US" altLang="ja-JP" dirty="0">
              <a:ea typeface="MS PGothic" panose="020B0600070205080204" pitchFamily="34" charset="-128"/>
            </a:endParaRPr>
          </a:p>
          <a:p>
            <a:pPr lvl="1" indent="0">
              <a:buNone/>
            </a:pPr>
            <a:r>
              <a:rPr lang="en-US" altLang="ja-JP" dirty="0">
                <a:ea typeface="MS PGothic" panose="020B0600070205080204" pitchFamily="34" charset="-128"/>
              </a:rPr>
              <a:t>Micro-ATX – Smaller footprint of ATX</a:t>
            </a:r>
            <a:endParaRPr lang="en-US" altLang="ja-JP" dirty="0">
              <a:ea typeface="MS PGothic" panose="020B0600070205080204" pitchFamily="34" charset="-128"/>
            </a:endParaRPr>
          </a:p>
          <a:p>
            <a:pPr lvl="1" indent="0">
              <a:buNone/>
            </a:pPr>
            <a:r>
              <a:rPr lang="en-US" altLang="ja-JP" dirty="0">
                <a:ea typeface="MS PGothic" panose="020B0600070205080204" pitchFamily="34" charset="-128"/>
              </a:rPr>
              <a:t>LPX – Low-profile Extended</a:t>
            </a:r>
            <a:endParaRPr lang="en-US" altLang="ja-JP" dirty="0">
              <a:ea typeface="MS PGothic" panose="020B0600070205080204" pitchFamily="34" charset="-128"/>
            </a:endParaRPr>
          </a:p>
          <a:p>
            <a:pPr lvl="1" indent="0">
              <a:buNone/>
            </a:pPr>
            <a:r>
              <a:rPr lang="en-US" altLang="ja-JP" dirty="0">
                <a:ea typeface="MS PGothic" panose="020B0600070205080204" pitchFamily="34" charset="-128"/>
              </a:rPr>
              <a:t>NLX – New Low-profile Extended</a:t>
            </a:r>
            <a:endParaRPr lang="en-US" altLang="ja-JP" dirty="0">
              <a:ea typeface="MS PGothic" panose="020B0600070205080204" pitchFamily="34" charset="-128"/>
            </a:endParaRPr>
          </a:p>
          <a:p>
            <a:pPr lvl="1" indent="0">
              <a:buNone/>
            </a:pPr>
            <a:r>
              <a:rPr lang="en-US" altLang="ja-JP" dirty="0">
                <a:ea typeface="MS PGothic" panose="020B0600070205080204" pitchFamily="34" charset="-128"/>
              </a:rPr>
              <a:t>BTX – Balanced Technology Extended</a:t>
            </a:r>
            <a:endParaRPr lang="en-US" altLang="ja-JP" dirty="0">
              <a:ea typeface="MS PGothic" panose="020B0600070205080204" pitchFamily="34" charset="-128"/>
            </a:endParaRPr>
          </a:p>
        </p:txBody>
      </p:sp>
      <p:pic>
        <p:nvPicPr>
          <p:cNvPr id="35844" name="Picture 5"/>
          <p:cNvPicPr>
            <a:picLocks noChangeAspect="1"/>
          </p:cNvPicPr>
          <p:nvPr/>
        </p:nvPicPr>
        <p:blipFill>
          <a:blip r:embed="rId1"/>
          <a:stretch>
            <a:fillRect/>
          </a:stretch>
        </p:blipFill>
        <p:spPr>
          <a:xfrm>
            <a:off x="6140450" y="4017963"/>
            <a:ext cx="2647950" cy="2270125"/>
          </a:xfrm>
          <a:prstGeom prst="rect">
            <a:avLst/>
          </a:prstGeom>
          <a:noFill/>
          <a:ln w="9525">
            <a:noFill/>
          </a:ln>
        </p:spPr>
      </p:pic>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p:cNvSpPr>
          <p:nvPr>
            <p:ph type="title"/>
          </p:nvPr>
        </p:nvSpPr>
        <p:spPr>
          <a:ln/>
        </p:spPr>
        <p:txBody>
          <a:bodyPr vert="horz" wrap="square" lIns="82124" tIns="41061" rIns="82124" bIns="41061" anchor="b" anchorCtr="0"/>
          <a:p>
            <a:pPr eaLnBrk="1" hangingPunct="1"/>
            <a:r>
              <a:rPr lang="en-US" altLang="en-US" dirty="0"/>
              <a:t>Central Processing Unit (CPU)</a:t>
            </a:r>
            <a:endParaRPr lang="en-US" altLang="en-US" dirty="0"/>
          </a:p>
        </p:txBody>
      </p:sp>
      <p:sp>
        <p:nvSpPr>
          <p:cNvPr id="37891" name="Rectangle 6"/>
          <p:cNvSpPr>
            <a:spLocks noGrp="1"/>
          </p:cNvSpPr>
          <p:nvPr>
            <p:ph idx="1"/>
          </p:nvPr>
        </p:nvSpPr>
        <p:spPr>
          <a:xfrm>
            <a:off x="655638" y="1735138"/>
            <a:ext cx="7940675" cy="4386262"/>
          </a:xfrm>
          <a:ln/>
        </p:spPr>
        <p:txBody>
          <a:bodyPr vert="horz" wrap="square" lIns="82124" tIns="41061" rIns="82124" bIns="41061" anchor="t" anchorCtr="0"/>
          <a:p>
            <a:r>
              <a:rPr lang="en-US" altLang="en-US" dirty="0"/>
              <a:t>Known as the brain of the computer. Also </a:t>
            </a:r>
            <a:br>
              <a:rPr lang="en-US" altLang="en-US" dirty="0"/>
            </a:br>
            <a:r>
              <a:rPr lang="en-US" altLang="en-US" dirty="0"/>
              <a:t>referred to as the processor.</a:t>
            </a:r>
            <a:endParaRPr lang="en-US" altLang="en-US" dirty="0"/>
          </a:p>
          <a:p>
            <a:r>
              <a:rPr lang="en-US" altLang="en-US" dirty="0"/>
              <a:t>Most important element of a computer system. Executes a program, which is a sequence of stored instructions.</a:t>
            </a:r>
            <a:endParaRPr lang="en-US" altLang="en-US" dirty="0"/>
          </a:p>
          <a:p>
            <a:endParaRPr lang="en-US" altLang="en-US" dirty="0"/>
          </a:p>
        </p:txBody>
      </p:sp>
      <p:pic>
        <p:nvPicPr>
          <p:cNvPr id="37892" name="Picture 5"/>
          <p:cNvPicPr>
            <a:picLocks noChangeAspect="1"/>
          </p:cNvPicPr>
          <p:nvPr/>
        </p:nvPicPr>
        <p:blipFill>
          <a:blip r:embed="rId1"/>
          <a:stretch>
            <a:fillRect/>
          </a:stretch>
        </p:blipFill>
        <p:spPr>
          <a:xfrm>
            <a:off x="958850" y="4022725"/>
            <a:ext cx="2181225" cy="2066925"/>
          </a:xfrm>
          <a:prstGeom prst="rect">
            <a:avLst/>
          </a:prstGeom>
          <a:noFill/>
          <a:ln w="9525">
            <a:noFill/>
          </a:ln>
        </p:spPr>
      </p:pic>
      <p:pic>
        <p:nvPicPr>
          <p:cNvPr id="37893" name="Picture 6"/>
          <p:cNvPicPr>
            <a:picLocks noChangeAspect="1"/>
          </p:cNvPicPr>
          <p:nvPr/>
        </p:nvPicPr>
        <p:blipFill>
          <a:blip r:embed="rId2"/>
          <a:stretch>
            <a:fillRect/>
          </a:stretch>
        </p:blipFill>
        <p:spPr>
          <a:xfrm>
            <a:off x="3411538" y="4402138"/>
            <a:ext cx="2219325" cy="1409700"/>
          </a:xfrm>
          <a:prstGeom prst="rect">
            <a:avLst/>
          </a:prstGeom>
          <a:noFill/>
          <a:ln w="9525">
            <a:noFill/>
          </a:ln>
        </p:spPr>
      </p:pic>
      <p:pic>
        <p:nvPicPr>
          <p:cNvPr id="37894" name="Picture 7"/>
          <p:cNvPicPr>
            <a:picLocks noChangeAspect="1"/>
          </p:cNvPicPr>
          <p:nvPr/>
        </p:nvPicPr>
        <p:blipFill>
          <a:blip r:embed="rId3"/>
          <a:stretch>
            <a:fillRect/>
          </a:stretch>
        </p:blipFill>
        <p:spPr>
          <a:xfrm>
            <a:off x="5675313" y="4437063"/>
            <a:ext cx="3260725" cy="1401762"/>
          </a:xfrm>
          <a:prstGeom prst="rect">
            <a:avLst/>
          </a:prstGeom>
          <a:noFill/>
          <a:ln w="9525">
            <a:noFill/>
          </a:ln>
        </p:spPr>
      </p:pic>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Content Placeholder 2"/>
          <p:cNvSpPr>
            <a:spLocks noGrp="1"/>
          </p:cNvSpPr>
          <p:nvPr>
            <p:ph idx="1"/>
          </p:nvPr>
        </p:nvSpPr>
        <p:spPr>
          <a:xfrm>
            <a:off x="222250" y="793750"/>
            <a:ext cx="8691563" cy="5689600"/>
          </a:xfrm>
          <a:ln/>
        </p:spPr>
        <p:txBody>
          <a:bodyPr vert="horz" wrap="square" lIns="82124" tIns="41061" rIns="82124" bIns="41061" anchor="t" anchorCtr="0"/>
          <a:p>
            <a:r>
              <a:rPr lang="en-US" altLang="en-US" dirty="0"/>
              <a:t>Modern CPUs are designed with multiple cores, allowing them to execute multiple tasks simultaneously</a:t>
            </a:r>
            <a:endParaRPr lang="en-US" altLang="en-US" dirty="0"/>
          </a:p>
          <a:p>
            <a:r>
              <a:rPr lang="en-US" altLang="en-US" dirty="0"/>
              <a:t>Different manufacturers create CPUs, with some of the most well-known being Intel and AMD.</a:t>
            </a:r>
            <a:endParaRPr lang="en-US" altLang="en-US" dirty="0"/>
          </a:p>
          <a:p>
            <a:r>
              <a:rPr lang="en-US" altLang="en-US" dirty="0"/>
              <a:t>The performance of a CPU is influenced by factors like clock speed, number of cores, architecture, and manufacturing process</a:t>
            </a:r>
            <a:endParaRPr lang="en-US" altLang="en-US" dirty="0"/>
          </a:p>
          <a:p>
            <a:r>
              <a:rPr lang="en-US" altLang="en-US" dirty="0"/>
              <a:t>Intel and AMD are two of the most prominent manufacturers of CPUs (Central Processing Units) for personal computers and servers</a:t>
            </a: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58763" y="923925"/>
            <a:ext cx="8497888" cy="5476875"/>
          </a:xfrm>
        </p:spPr>
        <p:txBody>
          <a:bodyPr vert="horz" wrap="square" lIns="82124" tIns="41061" rIns="82124" bIns="41061" numCol="1" anchor="t" anchorCtr="0" compatLnSpc="1"/>
          <a:lstStyle/>
          <a:p>
            <a:pPr marL="236855" marR="0" lvl="0" indent="-236855"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Char char="§"/>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Intel Corporation is one of the oldest and most well-known CPU manufacturers. They have produced a variety of processors for desktops, laptops, and servers</a:t>
            </a: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236855" marR="0" lvl="0" indent="-236855"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Char char="§"/>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Intel's processor generations in clude names like Core i3, Core i5, Core i7, and Core i9 for desktops and laptops.</a:t>
            </a: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defRPr/>
            </a:pPr>
            <a:r>
              <a:rPr kumimoji="0" lang="en-US" sz="2400" b="1" i="0" u="none" strike="noStrike" kern="0" cap="none" spc="0" normalizeH="0" baseline="0" noProof="0" dirty="0" smtClean="0">
                <a:ln>
                  <a:noFill/>
                </a:ln>
                <a:solidFill>
                  <a:schemeClr val="tx1"/>
                </a:solidFill>
                <a:effectLst/>
                <a:uLnTx/>
                <a:uFillTx/>
                <a:latin typeface="+mn-lt"/>
                <a:ea typeface="+mn-ea"/>
                <a:cs typeface="+mn-cs"/>
              </a:rPr>
              <a:t>AMD CPU</a:t>
            </a:r>
            <a:endParaRPr kumimoji="0" lang="en-US" sz="2400" b="1" i="0" u="none" strike="noStrike" kern="0" cap="none" spc="0" normalizeH="0" baseline="0" noProof="0" dirty="0" smtClean="0">
              <a:ln>
                <a:noFill/>
              </a:ln>
              <a:solidFill>
                <a:schemeClr val="tx1"/>
              </a:solidFill>
              <a:effectLst/>
              <a:uLnTx/>
              <a:uFillTx/>
              <a:latin typeface="+mn-lt"/>
              <a:ea typeface="+mn-ea"/>
              <a:cs typeface="+mn-cs"/>
            </a:endParaRPr>
          </a:p>
          <a:p>
            <a:pPr marL="236855" marR="0" lvl="0" indent="-236855"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Char char="§"/>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Advanced Micro Devices (AMD) is another major player in the CPU market. They have gained significant popularity with their Ryzen series processors</a:t>
            </a: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236855" marR="0" lvl="0" indent="-236855"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Char char="§"/>
              <a:defRPr/>
            </a:pPr>
            <a:r>
              <a:rPr kumimoji="0" lang="en-US" sz="2400" b="0" i="0" u="none" strike="noStrike" kern="0" cap="none" spc="0" normalizeH="0" baseline="0" noProof="0" dirty="0" smtClean="0">
                <a:ln>
                  <a:noFill/>
                </a:ln>
                <a:solidFill>
                  <a:schemeClr val="tx1"/>
                </a:solidFill>
                <a:effectLst/>
                <a:uLnTx/>
                <a:uFillTx/>
                <a:latin typeface="+mn-lt"/>
                <a:ea typeface="+mn-ea"/>
                <a:cs typeface="+mn-cs"/>
              </a:rPr>
              <a:t>Ryzen processors are categorized into Ryzen 3, Ryzen 5, Ryzen 7, and Ryzen 9, with higher numbers denoting higher performance tiers.</a:t>
            </a: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Title 1"/>
          <p:cNvSpPr>
            <a:spLocks noGrp="1"/>
          </p:cNvSpPr>
          <p:nvPr>
            <p:ph type="title"/>
          </p:nvPr>
        </p:nvSpPr>
        <p:spPr>
          <a:ln/>
        </p:spPr>
        <p:txBody>
          <a:bodyPr vert="horz" wrap="square" lIns="82124" tIns="41061" rIns="82124" bIns="41061" anchor="b" anchorCtr="0"/>
          <a:p>
            <a:r>
              <a:rPr lang="en-US" altLang="en-US" dirty="0"/>
              <a:t>Read about </a:t>
            </a:r>
            <a:endParaRPr lang="en-US" altLang="en-US" dirty="0"/>
          </a:p>
        </p:txBody>
      </p:sp>
      <p:sp>
        <p:nvSpPr>
          <p:cNvPr id="41987" name="Content Placeholder 2"/>
          <p:cNvSpPr>
            <a:spLocks noGrp="1"/>
          </p:cNvSpPr>
          <p:nvPr>
            <p:ph idx="1"/>
          </p:nvPr>
        </p:nvSpPr>
        <p:spPr>
          <a:ln/>
        </p:spPr>
        <p:txBody>
          <a:bodyPr vert="horz" wrap="square" lIns="82124" tIns="41061" rIns="82124" bIns="41061" anchor="t" anchorCtr="0"/>
          <a:p>
            <a:pPr marL="0" indent="0">
              <a:buNone/>
            </a:pPr>
            <a:r>
              <a:rPr lang="en-US" altLang="en-US" dirty="0"/>
              <a:t>strengths and weaknesses of Intel and AMD</a:t>
            </a:r>
            <a:endParaRPr lang="en-US"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ln/>
        </p:spPr>
        <p:txBody>
          <a:bodyPr vert="horz" wrap="square" lIns="82124" tIns="41061" rIns="82124" bIns="41061" anchor="b" anchorCtr="0"/>
          <a:p>
            <a:pPr eaLnBrk="1" hangingPunct="1"/>
            <a:r>
              <a:rPr lang="en-US" altLang="en-US" dirty="0"/>
              <a:t>Cooling Systems</a:t>
            </a:r>
            <a:endParaRPr lang="en-US" altLang="en-US" dirty="0"/>
          </a:p>
        </p:txBody>
      </p:sp>
      <p:sp>
        <p:nvSpPr>
          <p:cNvPr id="43011" name="Rectangle 6"/>
          <p:cNvSpPr>
            <a:spLocks noGrp="1"/>
          </p:cNvSpPr>
          <p:nvPr>
            <p:ph idx="1"/>
          </p:nvPr>
        </p:nvSpPr>
        <p:spPr>
          <a:xfrm>
            <a:off x="3698875" y="1695450"/>
            <a:ext cx="4897438" cy="4875213"/>
          </a:xfrm>
          <a:ln/>
        </p:spPr>
        <p:txBody>
          <a:bodyPr vert="horz" wrap="square" lIns="82124" tIns="41061" rIns="82124" bIns="41061" anchor="t" anchorCtr="0"/>
          <a:p>
            <a:r>
              <a:rPr lang="en-US" altLang="en-US" dirty="0"/>
              <a:t>Electronic components generate heat. Too much heat can damage components.</a:t>
            </a:r>
            <a:endParaRPr lang="en-US" altLang="en-US" dirty="0"/>
          </a:p>
          <a:p>
            <a:r>
              <a:rPr lang="en-US" altLang="en-US" dirty="0"/>
              <a:t>A </a:t>
            </a:r>
            <a:r>
              <a:rPr lang="en-US" altLang="en-US" b="1" dirty="0">
                <a:solidFill>
                  <a:schemeClr val="accent2"/>
                </a:solidFill>
              </a:rPr>
              <a:t>case fan</a:t>
            </a:r>
            <a:r>
              <a:rPr lang="en-US" altLang="en-US" dirty="0"/>
              <a:t> makes the cooling process more efficient.</a:t>
            </a:r>
            <a:endParaRPr lang="en-US" altLang="en-US" dirty="0"/>
          </a:p>
          <a:p>
            <a:r>
              <a:rPr lang="en-US" altLang="en-US" dirty="0"/>
              <a:t>A </a:t>
            </a:r>
            <a:r>
              <a:rPr lang="en-US" altLang="en-US" b="1" dirty="0">
                <a:solidFill>
                  <a:schemeClr val="accent2"/>
                </a:solidFill>
              </a:rPr>
              <a:t>heat sink</a:t>
            </a:r>
            <a:r>
              <a:rPr lang="en-US" altLang="en-US" dirty="0"/>
              <a:t> draws heat away from the core of the CPU. A fan on top of the heat sink moves the heat away from the CPU. </a:t>
            </a:r>
            <a:endParaRPr lang="en-US" altLang="en-US" dirty="0"/>
          </a:p>
          <a:p>
            <a:r>
              <a:rPr lang="en-US" altLang="en-US" dirty="0"/>
              <a:t>Fans are dedicated to cool the </a:t>
            </a:r>
            <a:r>
              <a:rPr lang="en-US" altLang="en-US" b="1" dirty="0">
                <a:solidFill>
                  <a:schemeClr val="accent2"/>
                </a:solidFill>
              </a:rPr>
              <a:t>Graphics-processing unit (GPU)</a:t>
            </a:r>
            <a:r>
              <a:rPr lang="en-US" altLang="en-US" dirty="0"/>
              <a:t>.</a:t>
            </a:r>
            <a:endParaRPr lang="en-US" altLang="en-US" dirty="0"/>
          </a:p>
        </p:txBody>
      </p:sp>
      <p:grpSp>
        <p:nvGrpSpPr>
          <p:cNvPr id="43012" name="Group 13"/>
          <p:cNvGrpSpPr/>
          <p:nvPr/>
        </p:nvGrpSpPr>
        <p:grpSpPr>
          <a:xfrm>
            <a:off x="334963" y="1673225"/>
            <a:ext cx="3059112" cy="2500313"/>
            <a:chOff x="211" y="754"/>
            <a:chExt cx="2098" cy="1645"/>
          </a:xfrm>
        </p:grpSpPr>
        <p:pic>
          <p:nvPicPr>
            <p:cNvPr id="43016" name="Picture 9"/>
            <p:cNvPicPr>
              <a:picLocks noChangeAspect="1"/>
            </p:cNvPicPr>
            <p:nvPr/>
          </p:nvPicPr>
          <p:blipFill>
            <a:blip r:embed="rId1"/>
            <a:stretch>
              <a:fillRect/>
            </a:stretch>
          </p:blipFill>
          <p:spPr>
            <a:xfrm>
              <a:off x="211" y="754"/>
              <a:ext cx="2098" cy="1645"/>
            </a:xfrm>
            <a:prstGeom prst="rect">
              <a:avLst/>
            </a:prstGeom>
            <a:noFill/>
            <a:ln w="9525">
              <a:noFill/>
            </a:ln>
          </p:spPr>
        </p:pic>
        <p:sp>
          <p:nvSpPr>
            <p:cNvPr id="43017" name="Text Box 11"/>
            <p:cNvSpPr txBox="1"/>
            <p:nvPr/>
          </p:nvSpPr>
          <p:spPr>
            <a:xfrm>
              <a:off x="234" y="2098"/>
              <a:ext cx="875" cy="241"/>
            </a:xfrm>
            <a:prstGeom prst="rect">
              <a:avLst/>
            </a:prstGeom>
            <a:solidFill>
              <a:schemeClr val="bg1"/>
            </a:solidFill>
            <a:ln w="9525" cap="flat" cmpd="sng">
              <a:solidFill>
                <a:schemeClr val="tx1"/>
              </a:solidFill>
              <a:prstDash val="solid"/>
              <a:miter/>
              <a:headEnd type="none" w="med" len="med"/>
              <a:tailEnd type="none" w="med" len="med"/>
            </a:ln>
          </p:spPr>
          <p:txBody>
            <a:bodyPr wrap="none" lIns="82124" tIns="41061" rIns="82124" bIns="41061">
              <a:spAutoFit/>
            </a:bodyPr>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0" lvl="0" indent="0" algn="ctr">
                <a:lnSpc>
                  <a:spcPct val="90000"/>
                </a:lnSpc>
                <a:spcBef>
                  <a:spcPct val="0"/>
                </a:spcBef>
                <a:buClrTx/>
                <a:buFontTx/>
                <a:buNone/>
              </a:pPr>
              <a:r>
                <a:rPr lang="en-US" altLang="en-US" sz="2000" dirty="0"/>
                <a:t>Case Fan</a:t>
              </a:r>
              <a:endParaRPr lang="en-US" altLang="en-US" sz="2000" dirty="0"/>
            </a:p>
          </p:txBody>
        </p:sp>
      </p:grpSp>
      <p:grpSp>
        <p:nvGrpSpPr>
          <p:cNvPr id="43013" name="Group 14"/>
          <p:cNvGrpSpPr/>
          <p:nvPr/>
        </p:nvGrpSpPr>
        <p:grpSpPr>
          <a:xfrm>
            <a:off x="352425" y="4330700"/>
            <a:ext cx="3030538" cy="2325688"/>
            <a:chOff x="192" y="2470"/>
            <a:chExt cx="2080" cy="1647"/>
          </a:xfrm>
        </p:grpSpPr>
        <p:pic>
          <p:nvPicPr>
            <p:cNvPr id="43014" name="Picture 10"/>
            <p:cNvPicPr>
              <a:picLocks noChangeAspect="1"/>
            </p:cNvPicPr>
            <p:nvPr/>
          </p:nvPicPr>
          <p:blipFill>
            <a:blip r:embed="rId2"/>
            <a:stretch>
              <a:fillRect/>
            </a:stretch>
          </p:blipFill>
          <p:spPr>
            <a:xfrm>
              <a:off x="192" y="2470"/>
              <a:ext cx="2080" cy="1647"/>
            </a:xfrm>
            <a:prstGeom prst="rect">
              <a:avLst/>
            </a:prstGeom>
            <a:noFill/>
            <a:ln w="9525">
              <a:noFill/>
            </a:ln>
          </p:spPr>
        </p:pic>
        <p:sp>
          <p:nvSpPr>
            <p:cNvPr id="43015" name="Text Box 12"/>
            <p:cNvSpPr txBox="1"/>
            <p:nvPr/>
          </p:nvSpPr>
          <p:spPr>
            <a:xfrm>
              <a:off x="1325" y="2602"/>
              <a:ext cx="838" cy="259"/>
            </a:xfrm>
            <a:prstGeom prst="rect">
              <a:avLst/>
            </a:prstGeom>
            <a:solidFill>
              <a:schemeClr val="bg1"/>
            </a:solidFill>
            <a:ln w="9525" cap="flat" cmpd="sng">
              <a:solidFill>
                <a:schemeClr val="tx1"/>
              </a:solidFill>
              <a:prstDash val="solid"/>
              <a:miter/>
              <a:headEnd type="none" w="med" len="med"/>
              <a:tailEnd type="none" w="med" len="med"/>
            </a:ln>
          </p:spPr>
          <p:txBody>
            <a:bodyPr wrap="none" lIns="82124" tIns="41061" rIns="82124" bIns="41061">
              <a:spAutoFit/>
            </a:bodyPr>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0" lvl="0" indent="0" algn="ctr">
                <a:lnSpc>
                  <a:spcPct val="90000"/>
                </a:lnSpc>
                <a:spcBef>
                  <a:spcPct val="0"/>
                </a:spcBef>
                <a:buClrTx/>
                <a:buFontTx/>
                <a:buNone/>
              </a:pPr>
              <a:r>
                <a:rPr lang="en-US" altLang="en-US" sz="2000" dirty="0"/>
                <a:t>CPU Fan</a:t>
              </a:r>
              <a:endParaRPr lang="en-US" altLang="en-US" sz="2000" dirty="0"/>
            </a:p>
          </p:txBody>
        </p:sp>
      </p:gr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ln/>
        </p:spPr>
        <p:txBody>
          <a:bodyPr vert="horz" wrap="square" lIns="82124" tIns="41061" rIns="82124" bIns="41061" anchor="b" anchorCtr="0"/>
          <a:p>
            <a:pPr eaLnBrk="1" hangingPunct="1"/>
            <a:r>
              <a:rPr lang="en-US" altLang="en-US" dirty="0"/>
              <a:t>Read-only Memory (ROM)</a:t>
            </a:r>
            <a:endParaRPr lang="en-US" altLang="en-US" dirty="0"/>
          </a:p>
        </p:txBody>
      </p:sp>
      <p:graphicFrame>
        <p:nvGraphicFramePr>
          <p:cNvPr id="1276010" name="Group 106"/>
          <p:cNvGraphicFramePr>
            <a:graphicFrameLocks noGrp="1"/>
          </p:cNvGraphicFramePr>
          <p:nvPr/>
        </p:nvGraphicFramePr>
        <p:xfrm>
          <a:off x="355600" y="2354263"/>
          <a:ext cx="8407400" cy="4294188"/>
        </p:xfrm>
        <a:graphic>
          <a:graphicData uri="http://schemas.openxmlformats.org/drawingml/2006/table">
            <a:tbl>
              <a:tblPr/>
              <a:tblGrid>
                <a:gridCol w="1254125"/>
                <a:gridCol w="2933700"/>
                <a:gridCol w="4219575"/>
              </a:tblGrid>
              <a:tr h="596900">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rgbClr val="FFFFFF"/>
                          </a:solidFill>
                          <a:effectLst/>
                          <a:latin typeface="Arial" panose="020B0604020202020204" pitchFamily="34" charset="0"/>
                        </a:rPr>
                        <a:t>ROM Types</a:t>
                      </a:r>
                      <a:endParaRPr kumimoji="0" lang="en-US" sz="1800" b="1" i="0" u="none" strike="noStrike" cap="none" normalizeH="0" baseline="0">
                        <a:ln>
                          <a:noFill/>
                        </a:ln>
                        <a:solidFill>
                          <a:srgbClr val="FFFFFF"/>
                        </a:solidFill>
                        <a:effectLst/>
                        <a:latin typeface="Arial" panose="020B0604020202020204" pitchFamily="34" charset="0"/>
                      </a:endParaRPr>
                    </a:p>
                  </a:txBody>
                  <a:tcPr marL="73129" marR="73129" marT="36565" marB="36565" anchor="ctr" anchorCtr="1" horzOverflow="overflow">
                    <a:lnL cap="flat">
                      <a:noFill/>
                    </a:lnL>
                    <a:lnR w="19050" cap="flat" cmpd="sng" algn="ctr">
                      <a:solidFill>
                        <a:schemeClr val="bg1"/>
                      </a:solidFill>
                      <a:prstDash val="solid"/>
                      <a:round/>
                      <a:headEnd type="none" w="med" len="med"/>
                      <a:tailEnd type="none" w="med" len="med"/>
                    </a:lnR>
                    <a:lnT cap="flat">
                      <a:noFill/>
                    </a:lnT>
                    <a:lnB w="1905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rgbClr val="FFFFFF"/>
                          </a:solidFill>
                          <a:effectLst/>
                          <a:latin typeface="Arial" panose="020B0604020202020204" pitchFamily="34" charset="0"/>
                        </a:rPr>
                        <a:t>ROM Types</a:t>
                      </a:r>
                      <a:endParaRPr kumimoji="0" lang="en-US" sz="1800" b="1" i="0" u="none" strike="noStrike" cap="none" normalizeH="0" baseline="0">
                        <a:ln>
                          <a:noFill/>
                        </a:ln>
                        <a:solidFill>
                          <a:srgbClr val="FFFFFF"/>
                        </a:solidFill>
                        <a:effectLst/>
                        <a:latin typeface="Arial" panose="020B0604020202020204" pitchFamily="34" charset="0"/>
                      </a:endParaRPr>
                    </a:p>
                  </a:txBody>
                  <a:tcPr marL="73129" marR="73129" marT="36565" marB="36565" anchor="ctr" anchorCtr="1"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cap="flat">
                      <a:noFill/>
                    </a:lnT>
                    <a:lnB w="1905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rgbClr val="FFFFFF"/>
                          </a:solidFill>
                          <a:effectLst/>
                          <a:latin typeface="Arial" panose="020B0604020202020204" pitchFamily="34" charset="0"/>
                        </a:rPr>
                        <a:t>Description</a:t>
                      </a:r>
                      <a:endParaRPr kumimoji="0" lang="en-US" sz="1800" b="1" i="0" u="none" strike="noStrike" cap="none" normalizeH="0" baseline="0">
                        <a:ln>
                          <a:noFill/>
                        </a:ln>
                        <a:solidFill>
                          <a:srgbClr val="FFFFFF"/>
                        </a:solidFill>
                        <a:effectLst/>
                        <a:latin typeface="Arial" panose="020B0604020202020204" pitchFamily="34" charset="0"/>
                      </a:endParaRPr>
                    </a:p>
                  </a:txBody>
                  <a:tcPr marL="73129" marR="73129" marT="36565" marB="36565" anchor="ctr" anchorCtr="1" horzOverflow="overflow">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cap="flat">
                      <a:noFill/>
                    </a:lnT>
                    <a:lnB w="19050" cap="flat" cmpd="sng" algn="ctr">
                      <a:solidFill>
                        <a:schemeClr val="bg1"/>
                      </a:solidFill>
                      <a:prstDash val="solid"/>
                      <a:round/>
                      <a:headEnd type="none" w="med" len="med"/>
                      <a:tailEnd type="none" w="med" len="med"/>
                    </a:lnB>
                    <a:lnTlToBr>
                      <a:noFill/>
                    </a:lnTlToBr>
                    <a:lnBlToTr>
                      <a:noFill/>
                    </a:lnBlToTr>
                    <a:solidFill>
                      <a:schemeClr val="accent1"/>
                    </a:solidFill>
                  </a:tcPr>
                </a:tc>
              </a:tr>
              <a:tr h="755650">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ROM</a:t>
                      </a:r>
                      <a:endParaRPr kumimoji="0" lang="en-US" sz="1800" b="1" i="0" u="none" strike="noStrike" cap="none" normalizeH="0" baseline="0">
                        <a:ln>
                          <a:noFill/>
                        </a:ln>
                        <a:solidFill>
                          <a:schemeClr val="tx1"/>
                        </a:solidFill>
                        <a:effectLst/>
                        <a:latin typeface="Arial" panose="020B0604020202020204" pitchFamily="34" charset="0"/>
                      </a:endParaRPr>
                    </a:p>
                  </a:txBody>
                  <a:tcPr marL="73129" marR="73129" marT="36565" marB="36565" anchor="ctr" anchorCtr="1" horzOverflow="overflow">
                    <a:lnL cap="flat">
                      <a:noFill/>
                    </a:lnL>
                    <a:lnR>
                      <a:noFill/>
                    </a:lnR>
                    <a:lnT w="19050" cap="flat" cmpd="sng" algn="ctr">
                      <a:solidFill>
                        <a:schemeClr val="bg1"/>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Read-only memory chips</a:t>
                      </a:r>
                      <a:endParaRPr kumimoji="0" lang="en-US" sz="1800" b="1" i="0" u="none" strike="noStrike" cap="none" normalizeH="0" baseline="0">
                        <a:ln>
                          <a:noFill/>
                        </a:ln>
                        <a:solidFill>
                          <a:schemeClr val="tx1"/>
                        </a:solidFill>
                        <a:effectLst/>
                        <a:latin typeface="Arial" panose="020B0604020202020204" pitchFamily="34" charset="0"/>
                      </a:endParaRPr>
                    </a:p>
                  </a:txBody>
                  <a:tcPr marL="73152" marR="73152" marT="36576" marB="36576" anchor="ctr" horzOverflow="overflow">
                    <a:lnL>
                      <a:noFill/>
                    </a:lnL>
                    <a:lnR>
                      <a:noFill/>
                    </a:lnR>
                    <a:lnT w="19050" cap="flat" cmpd="sng" algn="ctr">
                      <a:solidFill>
                        <a:schemeClr val="bg1"/>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D2D2D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400" b="1" i="0" u="none" strike="noStrike" cap="none" normalizeH="0" baseline="0">
                          <a:ln>
                            <a:noFill/>
                          </a:ln>
                          <a:solidFill>
                            <a:schemeClr val="tx1"/>
                          </a:solidFill>
                          <a:effectLst/>
                          <a:latin typeface="Arial" panose="020B0604020202020204" pitchFamily="34" charset="0"/>
                        </a:rPr>
                        <a:t>Information is written to a ROM chip when it is manufactured. A ROM chip cannot be erased or re-written and can become obsolete.</a:t>
                      </a:r>
                      <a:endParaRPr kumimoji="0" lang="en-US" sz="1400" b="1" i="0" u="none" strike="noStrike" cap="none" normalizeH="0" baseline="0">
                        <a:ln>
                          <a:noFill/>
                        </a:ln>
                        <a:solidFill>
                          <a:schemeClr val="tx1"/>
                        </a:solidFill>
                        <a:effectLst/>
                        <a:latin typeface="Arial" panose="020B0604020202020204" pitchFamily="34" charset="0"/>
                      </a:endParaRPr>
                    </a:p>
                  </a:txBody>
                  <a:tcPr marL="73152" marR="73152" marT="36576" marB="36576" anchor="ctr" horzOverflow="overflow">
                    <a:lnL>
                      <a:noFill/>
                    </a:lnL>
                    <a:lnR cap="flat">
                      <a:noFill/>
                    </a:lnR>
                    <a:lnT w="19050" cap="flat" cmpd="sng" algn="ctr">
                      <a:solidFill>
                        <a:schemeClr val="bg1"/>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r>
              <a:tr h="782638">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PROM</a:t>
                      </a:r>
                      <a:endParaRPr kumimoji="0" lang="en-US" sz="1800" b="1" i="0" u="none" strike="noStrike" cap="none" normalizeH="0" baseline="0">
                        <a:ln>
                          <a:noFill/>
                        </a:ln>
                        <a:solidFill>
                          <a:schemeClr val="tx1"/>
                        </a:solidFill>
                        <a:effectLst/>
                        <a:latin typeface="Arial" panose="020B0604020202020204" pitchFamily="34" charset="0"/>
                      </a:endParaRPr>
                    </a:p>
                  </a:txBody>
                  <a:tcPr marL="73129" marR="73129" marT="36565" marB="36565" anchor="ctr" anchorCtr="1" horzOverflow="overflow">
                    <a:lnL cap="flat">
                      <a:noFill/>
                    </a:lnL>
                    <a:lnR>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Programmable read-only memory</a:t>
                      </a:r>
                      <a:endParaRPr kumimoji="0" lang="en-US" sz="1800" b="1" i="0" u="none" strike="noStrike" cap="none" normalizeH="0" baseline="0">
                        <a:ln>
                          <a:noFill/>
                        </a:ln>
                        <a:solidFill>
                          <a:schemeClr val="tx1"/>
                        </a:solidFill>
                        <a:effectLst/>
                        <a:latin typeface="Arial" panose="020B0604020202020204" pitchFamily="34" charset="0"/>
                      </a:endParaRPr>
                    </a:p>
                  </a:txBody>
                  <a:tcPr marL="73152" marR="73152" marT="36576" marB="36576" anchor="ctr" horzOverflow="overflow">
                    <a:lnL>
                      <a:noFill/>
                    </a:lnL>
                    <a:lnR>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D2D2D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400" b="1" i="0" u="none" strike="noStrike" cap="none" normalizeH="0" baseline="0">
                          <a:ln>
                            <a:noFill/>
                          </a:ln>
                          <a:solidFill>
                            <a:schemeClr val="tx1"/>
                          </a:solidFill>
                          <a:effectLst/>
                          <a:latin typeface="Arial" panose="020B0604020202020204" pitchFamily="34" charset="0"/>
                        </a:rPr>
                        <a:t>Information is written to a PROM chip after it is manufactured. A PROM chip cannot be erased or re-written.</a:t>
                      </a:r>
                      <a:endParaRPr kumimoji="0" lang="en-US" sz="1400" b="1" i="0" u="none" strike="noStrike" cap="none" normalizeH="0" baseline="0">
                        <a:ln>
                          <a:noFill/>
                        </a:ln>
                        <a:solidFill>
                          <a:schemeClr val="tx1"/>
                        </a:solidFill>
                        <a:effectLst/>
                        <a:latin typeface="Arial" panose="020B0604020202020204" pitchFamily="34" charset="0"/>
                      </a:endParaRPr>
                    </a:p>
                  </a:txBody>
                  <a:tcPr marL="73152" marR="73152" marT="36576" marB="36576" anchor="ctr" horzOverflow="overflow">
                    <a:lnL>
                      <a:noFill/>
                    </a:lnL>
                    <a:lnR cap="flat">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r>
              <a:tr h="915988">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EPROM</a:t>
                      </a:r>
                      <a:endParaRPr kumimoji="0" lang="en-US" sz="1800" b="1" i="0" u="none" strike="noStrike" cap="none" normalizeH="0" baseline="0">
                        <a:ln>
                          <a:noFill/>
                        </a:ln>
                        <a:solidFill>
                          <a:schemeClr val="tx1"/>
                        </a:solidFill>
                        <a:effectLst/>
                        <a:latin typeface="Arial" panose="020B0604020202020204" pitchFamily="34" charset="0"/>
                      </a:endParaRPr>
                    </a:p>
                  </a:txBody>
                  <a:tcPr marL="73129" marR="73129" marT="36565" marB="36565" anchor="ctr" anchorCtr="1" horzOverflow="overflow">
                    <a:lnL cap="flat">
                      <a:noFill/>
                    </a:lnL>
                    <a:lnR>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Erasable programmable read-only memory</a:t>
                      </a:r>
                      <a:endParaRPr kumimoji="0" lang="en-US" sz="1800" b="1" i="0" u="none" strike="noStrike" cap="none" normalizeH="0" baseline="0">
                        <a:ln>
                          <a:noFill/>
                        </a:ln>
                        <a:solidFill>
                          <a:schemeClr val="tx1"/>
                        </a:solidFill>
                        <a:effectLst/>
                        <a:latin typeface="Arial" panose="020B0604020202020204" pitchFamily="34" charset="0"/>
                      </a:endParaRPr>
                    </a:p>
                  </a:txBody>
                  <a:tcPr marL="73152" marR="73152" marT="36576" marB="36576" anchor="ctr" horzOverflow="overflow">
                    <a:lnL>
                      <a:noFill/>
                    </a:lnL>
                    <a:lnR>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D2D2D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400" b="1" i="0" u="none" strike="noStrike" cap="none" normalizeH="0" baseline="0">
                          <a:ln>
                            <a:noFill/>
                          </a:ln>
                          <a:solidFill>
                            <a:schemeClr val="tx1"/>
                          </a:solidFill>
                          <a:effectLst/>
                          <a:latin typeface="Arial" panose="020B0604020202020204" pitchFamily="34" charset="0"/>
                        </a:rPr>
                        <a:t>Information is written to an EPROM chip after it is manufactured. An EPROM chip can be erased with exposure to UV light. Special equipment is required.</a:t>
                      </a:r>
                      <a:endParaRPr kumimoji="0" lang="en-US" sz="1400" b="1" i="0" u="none" strike="noStrike" cap="none" normalizeH="0" baseline="0">
                        <a:ln>
                          <a:noFill/>
                        </a:ln>
                        <a:solidFill>
                          <a:schemeClr val="tx1"/>
                        </a:solidFill>
                        <a:effectLst/>
                        <a:latin typeface="Arial" panose="020B0604020202020204" pitchFamily="34" charset="0"/>
                      </a:endParaRPr>
                    </a:p>
                  </a:txBody>
                  <a:tcPr marL="73152" marR="73152" marT="36576" marB="36576" anchor="ctr" horzOverflow="overflow">
                    <a:lnL>
                      <a:noFill/>
                    </a:lnL>
                    <a:lnR cap="flat">
                      <a:noFill/>
                    </a:lnR>
                    <a:lnT w="12700" cap="flat" cmpd="sng" algn="ctr">
                      <a:solidFill>
                        <a:srgbClr val="8E8E95"/>
                      </a:solidFill>
                      <a:prstDash val="solid"/>
                      <a:round/>
                      <a:headEnd type="none" w="med" len="med"/>
                      <a:tailEnd type="none" w="med" len="med"/>
                    </a:lnT>
                    <a:lnB w="12700" cap="flat" cmpd="sng" algn="ctr">
                      <a:solidFill>
                        <a:srgbClr val="8E8E95"/>
                      </a:solidFill>
                      <a:prstDash val="solid"/>
                      <a:round/>
                      <a:headEnd type="none" w="med" len="med"/>
                      <a:tailEnd type="none" w="med" len="med"/>
                    </a:lnB>
                    <a:lnTlToBr>
                      <a:noFill/>
                    </a:lnTlToBr>
                    <a:lnBlToTr>
                      <a:noFill/>
                    </a:lnBlToTr>
                    <a:solidFill>
                      <a:srgbClr val="C0C0C4"/>
                    </a:solidFill>
                  </a:tcPr>
                </a:tc>
              </a:tr>
              <a:tr h="1243012">
                <a:tc>
                  <a:txBody>
                    <a:bodyPr/>
                    <a:lstStyle/>
                    <a:p>
                      <a:pPr marL="0" marR="0" lvl="0" indent="0" algn="ctr"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EEPROM</a:t>
                      </a:r>
                      <a:endParaRPr kumimoji="0" lang="en-US" sz="1800" b="1" i="0" u="none" strike="noStrike" cap="none" normalizeH="0" baseline="0">
                        <a:ln>
                          <a:noFill/>
                        </a:ln>
                        <a:solidFill>
                          <a:schemeClr val="tx1"/>
                        </a:solidFill>
                        <a:effectLst/>
                        <a:latin typeface="Arial" panose="020B0604020202020204" pitchFamily="34" charset="0"/>
                      </a:endParaRPr>
                    </a:p>
                  </a:txBody>
                  <a:tcPr marL="73129" marR="73129" marT="36565" marB="36565" anchor="ctr" anchorCtr="1" horzOverflow="overflow">
                    <a:lnL cap="flat">
                      <a:noFill/>
                    </a:lnL>
                    <a:lnR>
                      <a:noFill/>
                    </a:lnR>
                    <a:lnT w="12700" cap="flat" cmpd="sng" algn="ctr">
                      <a:solidFill>
                        <a:srgbClr val="8E8E95"/>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0C0C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800" b="1" i="0" u="none" strike="noStrike" cap="none" normalizeH="0" baseline="0">
                          <a:ln>
                            <a:noFill/>
                          </a:ln>
                          <a:solidFill>
                            <a:schemeClr val="tx1"/>
                          </a:solidFill>
                          <a:effectLst/>
                          <a:latin typeface="Arial" panose="020B0604020202020204" pitchFamily="34" charset="0"/>
                        </a:rPr>
                        <a:t>Electrically erasable programmable read-only memory</a:t>
                      </a:r>
                      <a:endParaRPr kumimoji="0" lang="en-US" sz="1800" b="1" i="0" u="none" strike="noStrike" cap="none" normalizeH="0" baseline="0">
                        <a:ln>
                          <a:noFill/>
                        </a:ln>
                        <a:solidFill>
                          <a:schemeClr val="tx1"/>
                        </a:solidFill>
                        <a:effectLst/>
                        <a:latin typeface="Arial" panose="020B0604020202020204" pitchFamily="34" charset="0"/>
                      </a:endParaRPr>
                    </a:p>
                  </a:txBody>
                  <a:tcPr marL="73152" marR="73152" marT="36576" marB="36576" anchor="ctr" horzOverflow="overflow">
                    <a:lnL>
                      <a:noFill/>
                    </a:lnL>
                    <a:lnR>
                      <a:noFill/>
                    </a:lnR>
                    <a:lnT w="12700" cap="flat" cmpd="sng" algn="ctr">
                      <a:solidFill>
                        <a:srgbClr val="8E8E95"/>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2D2D4"/>
                    </a:solidFill>
                  </a:tcPr>
                </a:tc>
                <a:tc>
                  <a:txBody>
                    <a:bodyPr/>
                    <a:lstStyle/>
                    <a:p>
                      <a:pPr marL="0" marR="0" lvl="0" indent="0" algn="l" defTabSz="814705" rtl="0" eaLnBrk="0" fontAlgn="base" latinLnBrk="0" hangingPunct="0">
                        <a:lnSpc>
                          <a:spcPct val="95000"/>
                        </a:lnSpc>
                        <a:spcBef>
                          <a:spcPct val="50000"/>
                        </a:spcBef>
                        <a:spcAft>
                          <a:spcPct val="0"/>
                        </a:spcAft>
                        <a:buClr>
                          <a:srgbClr val="708CA1"/>
                        </a:buClr>
                        <a:buSzTx/>
                        <a:buFont typeface="Wingdings" panose="05000000000000000000" pitchFamily="2" charset="2"/>
                        <a:buNone/>
                      </a:pPr>
                      <a:r>
                        <a:rPr kumimoji="0" lang="en-US" sz="1400" b="1" i="0" u="none" strike="noStrike" cap="none" normalizeH="0" baseline="0">
                          <a:ln>
                            <a:noFill/>
                          </a:ln>
                          <a:solidFill>
                            <a:schemeClr val="tx1"/>
                          </a:solidFill>
                          <a:effectLst/>
                          <a:latin typeface="Arial" panose="020B0604020202020204" pitchFamily="34" charset="0"/>
                        </a:rPr>
                        <a:t>Information is written to an EEPROM chip after it is manufactured. EEPROM chips are also called Flash ROMs. An EEPROM chip can be erased and re-written without having to remove the chip from the computer.</a:t>
                      </a:r>
                      <a:endParaRPr kumimoji="0" lang="en-US" sz="1400" b="1" i="0" u="none" strike="noStrike" cap="none" normalizeH="0" baseline="0">
                        <a:ln>
                          <a:noFill/>
                        </a:ln>
                        <a:solidFill>
                          <a:schemeClr val="tx1"/>
                        </a:solidFill>
                        <a:effectLst/>
                        <a:latin typeface="Arial" panose="020B0604020202020204" pitchFamily="34" charset="0"/>
                      </a:endParaRPr>
                    </a:p>
                  </a:txBody>
                  <a:tcPr marL="73152" marR="73152" marT="36576" marB="36576" anchor="ctr" horzOverflow="overflow">
                    <a:lnL>
                      <a:noFill/>
                    </a:lnL>
                    <a:lnR cap="flat">
                      <a:noFill/>
                    </a:lnR>
                    <a:lnT w="12700" cap="flat" cmpd="sng" algn="ctr">
                      <a:solidFill>
                        <a:srgbClr val="8E8E95"/>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0C0C4"/>
                    </a:solidFill>
                  </a:tcPr>
                </a:tc>
              </a:tr>
            </a:tbl>
          </a:graphicData>
        </a:graphic>
      </p:graphicFrame>
      <p:sp>
        <p:nvSpPr>
          <p:cNvPr id="45083" name="Rectangle 103"/>
          <p:cNvSpPr/>
          <p:nvPr/>
        </p:nvSpPr>
        <p:spPr>
          <a:xfrm>
            <a:off x="655638" y="1622425"/>
            <a:ext cx="7940675" cy="820738"/>
          </a:xfrm>
          <a:prstGeom prst="rect">
            <a:avLst/>
          </a:prstGeom>
          <a:noFill/>
          <a:ln w="9525">
            <a:noFill/>
          </a:ln>
        </p:spPr>
        <p:txBody>
          <a:bodyPr lIns="82124" tIns="41061" rIns="82124" bIns="41061"/>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236855" lvl="0" indent="-236855" defTabSz="814705"/>
            <a:r>
              <a:rPr lang="en-US" altLang="en-US" sz="2200" dirty="0"/>
              <a:t>Basic instructions for booting the computer and loading the operating system are stored in ROM.</a:t>
            </a:r>
            <a:endParaRPr lang="en-US" altLang="en-US" sz="2200" dirty="0"/>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ln/>
        </p:spPr>
        <p:txBody>
          <a:bodyPr vert="horz" wrap="square" lIns="82124" tIns="41061" rIns="82124" bIns="41061" anchor="b" anchorCtr="0"/>
          <a:p>
            <a:pPr eaLnBrk="1" hangingPunct="1"/>
            <a:r>
              <a:rPr lang="en-US" altLang="en-US" dirty="0"/>
              <a:t>Random-access Memory (RAM)</a:t>
            </a:r>
            <a:endParaRPr lang="en-US" altLang="en-US" dirty="0"/>
          </a:p>
        </p:txBody>
      </p:sp>
      <p:sp>
        <p:nvSpPr>
          <p:cNvPr id="47107" name="Rectangle 3"/>
          <p:cNvSpPr>
            <a:spLocks noGrp="1"/>
          </p:cNvSpPr>
          <p:nvPr>
            <p:ph idx="1"/>
          </p:nvPr>
        </p:nvSpPr>
        <p:spPr>
          <a:xfrm>
            <a:off x="655638" y="1593850"/>
            <a:ext cx="7940675" cy="5067300"/>
          </a:xfrm>
          <a:ln/>
        </p:spPr>
        <p:txBody>
          <a:bodyPr vert="horz" wrap="square" lIns="82124" tIns="41061" rIns="82124" bIns="41061" anchor="t" anchorCtr="0"/>
          <a:p>
            <a:pPr>
              <a:lnSpc>
                <a:spcPct val="85000"/>
              </a:lnSpc>
            </a:pPr>
            <a:r>
              <a:rPr lang="en-US" altLang="en-US" sz="2000" dirty="0"/>
              <a:t>Temporary storage for data and programs that are being accessed by the CPU</a:t>
            </a:r>
            <a:endParaRPr lang="en-US" altLang="en-US" sz="2000" dirty="0"/>
          </a:p>
          <a:p>
            <a:pPr>
              <a:lnSpc>
                <a:spcPct val="85000"/>
              </a:lnSpc>
            </a:pPr>
            <a:r>
              <a:rPr lang="en-US" altLang="en-US" sz="2000" dirty="0"/>
              <a:t>Volatile memory, which means that the contents are erased when the computer is powered off</a:t>
            </a:r>
            <a:endParaRPr lang="en-US" altLang="en-US" sz="2000" dirty="0"/>
          </a:p>
          <a:p>
            <a:pPr>
              <a:lnSpc>
                <a:spcPct val="85000"/>
              </a:lnSpc>
            </a:pPr>
            <a:r>
              <a:rPr lang="en-US" altLang="en-US" sz="2000" dirty="0"/>
              <a:t>More RAM means more capacity to hold and process large programs and files, as well as enhance system performance.</a:t>
            </a:r>
            <a:endParaRPr lang="en-US" altLang="en-US" sz="2000" dirty="0"/>
          </a:p>
          <a:p>
            <a:pPr>
              <a:lnSpc>
                <a:spcPct val="85000"/>
              </a:lnSpc>
            </a:pPr>
            <a:r>
              <a:rPr lang="en-US" altLang="en-US" sz="2000" dirty="0"/>
              <a:t>Types of RAM:</a:t>
            </a:r>
            <a:endParaRPr lang="en-US" altLang="en-US" sz="2000" dirty="0"/>
          </a:p>
          <a:p>
            <a:pPr lvl="1" indent="0">
              <a:lnSpc>
                <a:spcPct val="85000"/>
              </a:lnSpc>
              <a:buNone/>
            </a:pPr>
            <a:r>
              <a:rPr lang="en-US" altLang="en-US" sz="1800" dirty="0"/>
              <a:t>Dynamic Random Access Memory (DRAM)</a:t>
            </a:r>
            <a:endParaRPr lang="en-US" altLang="en-US" sz="1800" dirty="0"/>
          </a:p>
          <a:p>
            <a:pPr lvl="1" indent="0">
              <a:lnSpc>
                <a:spcPct val="85000"/>
              </a:lnSpc>
              <a:buNone/>
            </a:pPr>
            <a:r>
              <a:rPr lang="en-US" altLang="en-US" sz="1800" dirty="0"/>
              <a:t>Static Random Access Memory (SRAM)</a:t>
            </a:r>
            <a:endParaRPr lang="en-US" altLang="en-US" sz="1800" dirty="0"/>
          </a:p>
          <a:p>
            <a:pPr lvl="1" indent="0">
              <a:lnSpc>
                <a:spcPct val="85000"/>
              </a:lnSpc>
              <a:buNone/>
            </a:pPr>
            <a:r>
              <a:rPr lang="en-US" altLang="en-US" sz="1800" dirty="0"/>
              <a:t>Fast Page Mode DRAM (FPM Memory)</a:t>
            </a:r>
            <a:endParaRPr lang="en-US" altLang="en-US" sz="1800" dirty="0"/>
          </a:p>
          <a:p>
            <a:pPr lvl="1" indent="0">
              <a:lnSpc>
                <a:spcPct val="85000"/>
              </a:lnSpc>
              <a:buNone/>
            </a:pPr>
            <a:r>
              <a:rPr lang="en-US" altLang="en-US" sz="1800" dirty="0"/>
              <a:t>Extended Data Out RAM (EDO Memory)</a:t>
            </a:r>
            <a:endParaRPr lang="en-US" altLang="en-US" sz="1800" dirty="0"/>
          </a:p>
          <a:p>
            <a:pPr lvl="1" indent="0">
              <a:lnSpc>
                <a:spcPct val="85000"/>
              </a:lnSpc>
              <a:buNone/>
            </a:pPr>
            <a:r>
              <a:rPr lang="en-US" altLang="en-US" sz="1800" dirty="0"/>
              <a:t>Synchronous DRAM (SDRAM)</a:t>
            </a:r>
            <a:endParaRPr lang="en-US" altLang="en-US" sz="1800" dirty="0"/>
          </a:p>
          <a:p>
            <a:pPr lvl="1" indent="0">
              <a:lnSpc>
                <a:spcPct val="85000"/>
              </a:lnSpc>
              <a:buNone/>
            </a:pPr>
            <a:r>
              <a:rPr lang="en-US" altLang="en-US" sz="1800" dirty="0"/>
              <a:t>Double Data Rate SDRAM (DDR SDRAM)</a:t>
            </a:r>
            <a:endParaRPr lang="en-US" altLang="en-US" sz="1800" dirty="0"/>
          </a:p>
          <a:p>
            <a:pPr lvl="1" indent="0">
              <a:lnSpc>
                <a:spcPct val="85000"/>
              </a:lnSpc>
              <a:buNone/>
            </a:pPr>
            <a:r>
              <a:rPr lang="en-US" altLang="en-US" sz="1800" dirty="0"/>
              <a:t>Double Data Rate 2 SDRAM (DDR2 SDRAM)</a:t>
            </a:r>
            <a:endParaRPr lang="en-US" altLang="en-US" sz="1800" dirty="0"/>
          </a:p>
          <a:p>
            <a:pPr lvl="1" indent="0">
              <a:lnSpc>
                <a:spcPct val="85000"/>
              </a:lnSpc>
              <a:buNone/>
            </a:pPr>
            <a:r>
              <a:rPr lang="en-US" altLang="en-US" sz="1800" dirty="0"/>
              <a:t>RAMBus DRAM (RDRAM)</a:t>
            </a:r>
            <a:endParaRPr lang="en-US" altLang="en-US" sz="1800" dirty="0"/>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ln/>
        </p:spPr>
        <p:txBody>
          <a:bodyPr vert="horz" wrap="square" lIns="82124" tIns="41061" rIns="82124" bIns="41061" anchor="b" anchorCtr="0"/>
          <a:p>
            <a:pPr eaLnBrk="1" hangingPunct="1"/>
            <a:r>
              <a:rPr lang="en-US" altLang="en-US" dirty="0"/>
              <a:t>Memory Modules</a:t>
            </a:r>
            <a:endParaRPr lang="en-US" altLang="en-US" dirty="0"/>
          </a:p>
        </p:txBody>
      </p:sp>
      <p:sp>
        <p:nvSpPr>
          <p:cNvPr id="49155" name="Rectangle 3"/>
          <p:cNvSpPr>
            <a:spLocks noGrp="1"/>
          </p:cNvSpPr>
          <p:nvPr>
            <p:ph idx="1"/>
          </p:nvPr>
        </p:nvSpPr>
        <p:spPr>
          <a:xfrm>
            <a:off x="655638" y="1698625"/>
            <a:ext cx="7940675" cy="4906963"/>
          </a:xfrm>
          <a:ln/>
        </p:spPr>
        <p:txBody>
          <a:bodyPr vert="horz" wrap="square" lIns="82124" tIns="41061" rIns="82124" bIns="41061" anchor="t" anchorCtr="0"/>
          <a:p>
            <a:r>
              <a:rPr lang="en-US" altLang="en-US" sz="2200" dirty="0"/>
              <a:t>Dual Inline Package (</a:t>
            </a:r>
            <a:r>
              <a:rPr lang="en-US" altLang="en-US" sz="2200" b="1" dirty="0">
                <a:solidFill>
                  <a:schemeClr val="accent2"/>
                </a:solidFill>
              </a:rPr>
              <a:t>DIP</a:t>
            </a:r>
            <a:r>
              <a:rPr lang="en-US" altLang="en-US" sz="2200" dirty="0"/>
              <a:t>) is an individual memory chip. A DIP had dual rows of pins used to attach it to the motherboard.</a:t>
            </a:r>
            <a:endParaRPr lang="en-US" altLang="en-US" sz="2200" dirty="0"/>
          </a:p>
          <a:p>
            <a:r>
              <a:rPr lang="en-US" altLang="en-US" sz="2200" dirty="0"/>
              <a:t>Single Inline Memory Module (</a:t>
            </a:r>
            <a:r>
              <a:rPr lang="en-US" altLang="en-US" sz="2200" b="1" dirty="0">
                <a:solidFill>
                  <a:schemeClr val="accent2"/>
                </a:solidFill>
              </a:rPr>
              <a:t>SIMM</a:t>
            </a:r>
            <a:r>
              <a:rPr lang="en-US" altLang="en-US" sz="2200" dirty="0"/>
              <a:t>) is a small circuit board that holds several memory chips. SIMMs have 30-pin and 72-pin configurations.</a:t>
            </a:r>
            <a:endParaRPr lang="en-US" altLang="en-US" sz="2200" dirty="0"/>
          </a:p>
          <a:p>
            <a:r>
              <a:rPr lang="en-US" altLang="en-US" sz="2200" dirty="0"/>
              <a:t>Dual Inline Memory Module (</a:t>
            </a:r>
            <a:r>
              <a:rPr lang="en-US" altLang="en-US" sz="2200" b="1" dirty="0">
                <a:solidFill>
                  <a:schemeClr val="accent2"/>
                </a:solidFill>
              </a:rPr>
              <a:t>DIMM</a:t>
            </a:r>
            <a:r>
              <a:rPr lang="en-US" altLang="en-US" sz="2200" dirty="0"/>
              <a:t>) is a circuit board that holds SDRAM, DDR SDRAM, and DDR2 SDRAM chips. There are 168-pin SDRAM DIMMs, 184-pin DDR DIMMs, and 240-pin DDR2 DIMMs.</a:t>
            </a:r>
            <a:endParaRPr lang="en-US" altLang="en-US" sz="2200" dirty="0"/>
          </a:p>
          <a:p>
            <a:r>
              <a:rPr lang="en-US" altLang="en-US" sz="2200" dirty="0"/>
              <a:t>RAM Bus Inline Memory Module (</a:t>
            </a:r>
            <a:r>
              <a:rPr lang="en-US" altLang="en-US" sz="2200" b="1" dirty="0">
                <a:solidFill>
                  <a:schemeClr val="accent2"/>
                </a:solidFill>
              </a:rPr>
              <a:t>RIMM</a:t>
            </a:r>
            <a:r>
              <a:rPr lang="en-US" altLang="en-US" sz="2200" dirty="0"/>
              <a:t>) is a circuit board that holds RDRAM chips. A typical RIMM has a 184-pin configuration.</a:t>
            </a:r>
            <a:endParaRPr lang="en-US" altLang="en-US" sz="2200" dirty="0"/>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ln/>
        </p:spPr>
        <p:txBody>
          <a:bodyPr vert="horz" wrap="square" lIns="82124" tIns="41061" rIns="82124" bIns="41061" anchor="b" anchorCtr="0"/>
          <a:p>
            <a:pPr eaLnBrk="1" hangingPunct="1"/>
            <a:r>
              <a:rPr lang="en-US" altLang="en-US" dirty="0"/>
              <a:t>Cache and Error Checking</a:t>
            </a:r>
            <a:endParaRPr lang="en-US" altLang="en-US" dirty="0"/>
          </a:p>
        </p:txBody>
      </p:sp>
      <p:sp>
        <p:nvSpPr>
          <p:cNvPr id="51203" name="Rectangle 3"/>
          <p:cNvSpPr>
            <a:spLocks noGrp="1"/>
          </p:cNvSpPr>
          <p:nvPr>
            <p:ph idx="1"/>
          </p:nvPr>
        </p:nvSpPr>
        <p:spPr>
          <a:xfrm>
            <a:off x="655638" y="1689100"/>
            <a:ext cx="7940675" cy="4865688"/>
          </a:xfrm>
          <a:ln/>
        </p:spPr>
        <p:txBody>
          <a:bodyPr vert="horz" wrap="square" lIns="82124" tIns="41061" rIns="82124" bIns="41061" anchor="t" anchorCtr="0"/>
          <a:p>
            <a:pPr>
              <a:buNone/>
            </a:pPr>
            <a:r>
              <a:rPr lang="en-US" altLang="ja-JP" b="1" dirty="0">
                <a:ea typeface="MS PGothic" panose="020B0600070205080204" pitchFamily="34" charset="-128"/>
              </a:rPr>
              <a:t>Cache</a:t>
            </a:r>
            <a:r>
              <a:rPr lang="en-US" altLang="ja-JP" dirty="0">
                <a:ea typeface="MS PGothic" panose="020B0600070205080204" pitchFamily="34" charset="-128"/>
              </a:rPr>
              <a:t> </a:t>
            </a:r>
            <a:endParaRPr lang="en-US" altLang="ja-JP" dirty="0">
              <a:ea typeface="MS PGothic" panose="020B0600070205080204" pitchFamily="34" charset="-128"/>
            </a:endParaRPr>
          </a:p>
          <a:p>
            <a:r>
              <a:rPr lang="en-US" altLang="ja-JP" dirty="0">
                <a:ea typeface="MS PGothic" panose="020B0600070205080204" pitchFamily="34" charset="-128"/>
              </a:rPr>
              <a:t>SRAM is used as cache memory to store the most frequently used data. </a:t>
            </a:r>
            <a:endParaRPr lang="en-US" altLang="ja-JP" dirty="0">
              <a:ea typeface="MS PGothic" panose="020B0600070205080204" pitchFamily="34" charset="-128"/>
            </a:endParaRPr>
          </a:p>
          <a:p>
            <a:r>
              <a:rPr lang="en-US" altLang="ja-JP" dirty="0">
                <a:ea typeface="MS PGothic" panose="020B0600070205080204" pitchFamily="34" charset="-128"/>
              </a:rPr>
              <a:t>SRAM provides the processor with faster access to the data than retrieving it from the slower DRAM, or main memory. </a:t>
            </a:r>
            <a:endParaRPr lang="en-US" altLang="ja-JP" dirty="0">
              <a:ea typeface="MS PGothic" panose="020B0600070205080204" pitchFamily="34" charset="-128"/>
            </a:endParaRPr>
          </a:p>
          <a:p>
            <a:pPr>
              <a:buNone/>
            </a:pPr>
            <a:r>
              <a:rPr lang="en-US" altLang="ja-JP" b="1" dirty="0">
                <a:ea typeface="MS PGothic" panose="020B0600070205080204" pitchFamily="34" charset="-128"/>
              </a:rPr>
              <a:t>Error Checking</a:t>
            </a:r>
            <a:endParaRPr lang="en-US" altLang="ja-JP" b="1" dirty="0">
              <a:ea typeface="MS PGothic" panose="020B0600070205080204" pitchFamily="34" charset="-128"/>
            </a:endParaRPr>
          </a:p>
          <a:p>
            <a:r>
              <a:rPr lang="en-US" altLang="ja-JP" dirty="0">
                <a:ea typeface="MS PGothic" panose="020B0600070205080204" pitchFamily="34" charset="-128"/>
              </a:rPr>
              <a:t>Memory errors occur when the data is not stored correctly in the RAM chips. </a:t>
            </a:r>
            <a:endParaRPr lang="en-US" altLang="ja-JP" dirty="0">
              <a:ea typeface="MS PGothic" panose="020B0600070205080204" pitchFamily="34" charset="-128"/>
            </a:endParaRPr>
          </a:p>
          <a:p>
            <a:r>
              <a:rPr lang="en-US" altLang="ja-JP" dirty="0">
                <a:ea typeface="MS PGothic" panose="020B0600070205080204" pitchFamily="34" charset="-128"/>
              </a:rPr>
              <a:t>The computer uses different methods to detect and correct data errors in memory. </a:t>
            </a:r>
            <a:endParaRPr lang="en-US" altLang="en-US" dirty="0"/>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a:ln/>
        </p:spPr>
        <p:txBody>
          <a:bodyPr vert="horz" wrap="square" lIns="82124" tIns="41061" rIns="82124" bIns="41061" anchor="b" anchorCtr="0"/>
          <a:p>
            <a:pPr eaLnBrk="1" hangingPunct="1"/>
            <a:r>
              <a:rPr lang="en-US" altLang="en-US" dirty="0"/>
              <a:t>Adapter Cards</a:t>
            </a:r>
            <a:endParaRPr lang="en-US" altLang="en-US" dirty="0"/>
          </a:p>
        </p:txBody>
      </p:sp>
      <p:sp>
        <p:nvSpPr>
          <p:cNvPr id="53251" name="Rectangle 6"/>
          <p:cNvSpPr>
            <a:spLocks noGrp="1"/>
          </p:cNvSpPr>
          <p:nvPr>
            <p:ph idx="1"/>
          </p:nvPr>
        </p:nvSpPr>
        <p:spPr>
          <a:xfrm>
            <a:off x="633413" y="1582738"/>
            <a:ext cx="8174037" cy="5168900"/>
          </a:xfrm>
          <a:ln/>
        </p:spPr>
        <p:txBody>
          <a:bodyPr vert="horz" wrap="square" lIns="82124" tIns="41061" rIns="82124" bIns="41061" anchor="t" anchorCtr="0"/>
          <a:p>
            <a:pPr>
              <a:lnSpc>
                <a:spcPct val="85000"/>
              </a:lnSpc>
              <a:buNone/>
            </a:pPr>
            <a:r>
              <a:rPr lang="en-US" altLang="en-US" sz="2200" dirty="0"/>
              <a:t>Increase the functionality of a computer by adding controllers for specific devices or by replacing malfunctioning ports. </a:t>
            </a:r>
            <a:endParaRPr lang="en-US" altLang="en-US" sz="2200" dirty="0"/>
          </a:p>
          <a:p>
            <a:pPr>
              <a:lnSpc>
                <a:spcPct val="85000"/>
              </a:lnSpc>
            </a:pPr>
            <a:r>
              <a:rPr lang="en-US" altLang="en-US" sz="2200" dirty="0"/>
              <a:t>Examples of adapter cards:</a:t>
            </a:r>
            <a:endParaRPr lang="en-US" altLang="en-US" sz="2200" dirty="0"/>
          </a:p>
          <a:p>
            <a:pPr lvl="1" indent="0">
              <a:lnSpc>
                <a:spcPct val="85000"/>
              </a:lnSpc>
              <a:buNone/>
            </a:pPr>
            <a:r>
              <a:rPr lang="en-US" altLang="en-US" sz="1800" dirty="0"/>
              <a:t>Sound adapter and video adapter</a:t>
            </a:r>
            <a:endParaRPr lang="en-US" altLang="en-US" sz="1800" dirty="0"/>
          </a:p>
          <a:p>
            <a:pPr lvl="1" indent="0">
              <a:lnSpc>
                <a:spcPct val="85000"/>
              </a:lnSpc>
              <a:buNone/>
            </a:pPr>
            <a:r>
              <a:rPr lang="en-US" altLang="en-US" sz="1800" dirty="0"/>
              <a:t>USB, parallel, and serial ports</a:t>
            </a:r>
            <a:endParaRPr lang="en-US" altLang="en-US" sz="1800" dirty="0"/>
          </a:p>
          <a:p>
            <a:pPr lvl="1" indent="0">
              <a:lnSpc>
                <a:spcPct val="85000"/>
              </a:lnSpc>
              <a:buNone/>
            </a:pPr>
            <a:r>
              <a:rPr lang="en-US" altLang="en-US" sz="1800" dirty="0"/>
              <a:t>RAID adapter and SCSI adapter</a:t>
            </a:r>
            <a:endParaRPr lang="en-US" altLang="en-US" sz="1800" dirty="0"/>
          </a:p>
          <a:p>
            <a:pPr lvl="1" indent="0">
              <a:lnSpc>
                <a:spcPct val="85000"/>
              </a:lnSpc>
              <a:buNone/>
            </a:pPr>
            <a:r>
              <a:rPr lang="en-US" altLang="en-US" sz="1800" dirty="0"/>
              <a:t>Network Interface Card (NIC), </a:t>
            </a:r>
            <a:br>
              <a:rPr lang="en-US" altLang="en-US" sz="1800" dirty="0"/>
            </a:br>
            <a:r>
              <a:rPr lang="en-US" altLang="en-US" sz="1800" dirty="0"/>
              <a:t>wireless NIC, and modem adapter</a:t>
            </a:r>
            <a:endParaRPr lang="en-US" altLang="en-US" sz="1800" dirty="0"/>
          </a:p>
          <a:p>
            <a:pPr>
              <a:lnSpc>
                <a:spcPct val="85000"/>
              </a:lnSpc>
            </a:pPr>
            <a:r>
              <a:rPr lang="en-US" altLang="en-US" sz="2200" dirty="0"/>
              <a:t>Types of expansion slots:</a:t>
            </a:r>
            <a:r>
              <a:rPr lang="en-US" altLang="en-US" dirty="0"/>
              <a:t> </a:t>
            </a:r>
            <a:endParaRPr lang="en-US" altLang="en-US" dirty="0"/>
          </a:p>
          <a:p>
            <a:pPr lvl="1" indent="0">
              <a:lnSpc>
                <a:spcPct val="85000"/>
              </a:lnSpc>
              <a:buNone/>
            </a:pPr>
            <a:r>
              <a:rPr lang="en-US" altLang="en-US" sz="1800" dirty="0"/>
              <a:t>Industry Standard Architecture (ISA) </a:t>
            </a:r>
            <a:endParaRPr lang="en-US" altLang="en-US" sz="1800" dirty="0"/>
          </a:p>
          <a:p>
            <a:pPr lvl="1" indent="0">
              <a:lnSpc>
                <a:spcPct val="85000"/>
              </a:lnSpc>
              <a:buNone/>
            </a:pPr>
            <a:r>
              <a:rPr lang="en-US" altLang="en-US" sz="1800" dirty="0"/>
              <a:t>Extended Industry Standard Architecture (EISA)</a:t>
            </a:r>
            <a:endParaRPr lang="en-US" altLang="en-US" sz="1800" dirty="0"/>
          </a:p>
          <a:p>
            <a:pPr lvl="1" indent="0">
              <a:lnSpc>
                <a:spcPct val="85000"/>
              </a:lnSpc>
              <a:buNone/>
            </a:pPr>
            <a:r>
              <a:rPr lang="en-US" altLang="en-US" sz="1800" dirty="0"/>
              <a:t>Microchannel Architecture (MCA)</a:t>
            </a:r>
            <a:endParaRPr lang="en-US" altLang="en-US" sz="1800" dirty="0"/>
          </a:p>
          <a:p>
            <a:pPr lvl="1" indent="0">
              <a:lnSpc>
                <a:spcPct val="85000"/>
              </a:lnSpc>
              <a:buNone/>
            </a:pPr>
            <a:r>
              <a:rPr lang="en-US" altLang="en-US" sz="1800" dirty="0"/>
              <a:t>Peripheral Component Interconnect (PCI) </a:t>
            </a:r>
            <a:endParaRPr lang="en-US" altLang="en-US" sz="1800" dirty="0"/>
          </a:p>
          <a:p>
            <a:pPr lvl="1" indent="0">
              <a:lnSpc>
                <a:spcPct val="85000"/>
              </a:lnSpc>
              <a:buNone/>
            </a:pPr>
            <a:r>
              <a:rPr lang="en-US" altLang="en-US" sz="1800" dirty="0"/>
              <a:t>Advanced Graphics Port (AGP) </a:t>
            </a:r>
            <a:endParaRPr lang="en-US" altLang="en-US" sz="1800" dirty="0"/>
          </a:p>
          <a:p>
            <a:pPr lvl="1" indent="0">
              <a:lnSpc>
                <a:spcPct val="85000"/>
              </a:lnSpc>
              <a:buNone/>
            </a:pPr>
            <a:r>
              <a:rPr lang="en-US" altLang="en-US" sz="1800" dirty="0"/>
              <a:t>PCI-Express</a:t>
            </a:r>
            <a:endParaRPr lang="en-US" altLang="en-US" sz="1800" dirty="0"/>
          </a:p>
        </p:txBody>
      </p:sp>
      <p:pic>
        <p:nvPicPr>
          <p:cNvPr id="53252" name="Picture 8"/>
          <p:cNvPicPr>
            <a:picLocks noChangeAspect="1"/>
          </p:cNvPicPr>
          <p:nvPr/>
        </p:nvPicPr>
        <p:blipFill>
          <a:blip r:embed="rId1"/>
          <a:stretch>
            <a:fillRect/>
          </a:stretch>
        </p:blipFill>
        <p:spPr>
          <a:xfrm>
            <a:off x="6161088" y="2301875"/>
            <a:ext cx="2795587" cy="2713038"/>
          </a:xfrm>
          <a:prstGeom prst="rect">
            <a:avLst/>
          </a:prstGeom>
          <a:noFill/>
          <a:ln w="9525">
            <a:noFill/>
          </a:ln>
        </p:spPr>
      </p:pic>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a:ln/>
        </p:spPr>
        <p:txBody>
          <a:bodyPr vert="horz" wrap="square" lIns="82124" tIns="41061" rIns="82124" bIns="41061" anchor="b" anchorCtr="0"/>
          <a:p>
            <a:pPr eaLnBrk="1" hangingPunct="1"/>
            <a:r>
              <a:rPr lang="en-US" altLang="en-US" dirty="0"/>
              <a:t>Hard Drives and Floppy Drives</a:t>
            </a:r>
            <a:endParaRPr lang="en-US" altLang="en-US" dirty="0"/>
          </a:p>
        </p:txBody>
      </p:sp>
      <p:sp>
        <p:nvSpPr>
          <p:cNvPr id="55299" name="Rectangle 6"/>
          <p:cNvSpPr>
            <a:spLocks noGrp="1"/>
          </p:cNvSpPr>
          <p:nvPr>
            <p:ph idx="1"/>
          </p:nvPr>
        </p:nvSpPr>
        <p:spPr>
          <a:xfrm>
            <a:off x="655638" y="1693863"/>
            <a:ext cx="7940675" cy="3040062"/>
          </a:xfrm>
          <a:ln/>
        </p:spPr>
        <p:txBody>
          <a:bodyPr vert="horz" wrap="square" lIns="82124" tIns="41061" rIns="82124" bIns="41061" anchor="t" anchorCtr="0"/>
          <a:p>
            <a:r>
              <a:rPr lang="en-US" altLang="en-US" dirty="0"/>
              <a:t>Reads or writes information to magnetic or optical storage media</a:t>
            </a:r>
            <a:endParaRPr lang="en-US" altLang="en-US" dirty="0"/>
          </a:p>
          <a:p>
            <a:r>
              <a:rPr lang="en-US" altLang="en-US" dirty="0"/>
              <a:t>May be fixed or removable</a:t>
            </a:r>
            <a:endParaRPr lang="en-US" altLang="en-US" dirty="0"/>
          </a:p>
          <a:p>
            <a:r>
              <a:rPr lang="en-US" altLang="en-US" dirty="0"/>
              <a:t>The </a:t>
            </a:r>
            <a:r>
              <a:rPr lang="en-US" altLang="en-US" b="1" dirty="0">
                <a:solidFill>
                  <a:schemeClr val="accent2"/>
                </a:solidFill>
              </a:rPr>
              <a:t>hard disk drive (HDD)</a:t>
            </a:r>
            <a:r>
              <a:rPr lang="en-US" altLang="en-US" dirty="0"/>
              <a:t> is a </a:t>
            </a:r>
            <a:br>
              <a:rPr lang="en-US" altLang="en-US" dirty="0"/>
            </a:br>
            <a:r>
              <a:rPr lang="en-US" altLang="en-US" dirty="0"/>
              <a:t>magnetic storage device installed </a:t>
            </a:r>
            <a:br>
              <a:rPr lang="en-US" altLang="en-US" dirty="0"/>
            </a:br>
            <a:r>
              <a:rPr lang="en-US" altLang="en-US" dirty="0"/>
              <a:t>inside the computer. The storage </a:t>
            </a:r>
            <a:br>
              <a:rPr lang="en-US" altLang="en-US" dirty="0"/>
            </a:br>
            <a:r>
              <a:rPr lang="en-US" altLang="en-US" dirty="0"/>
              <a:t>capacity is measured in gigabytes (GB).</a:t>
            </a:r>
            <a:endParaRPr lang="en-US" altLang="en-US" dirty="0"/>
          </a:p>
        </p:txBody>
      </p:sp>
      <p:pic>
        <p:nvPicPr>
          <p:cNvPr id="55300" name="Picture 8"/>
          <p:cNvPicPr>
            <a:picLocks noChangeAspect="1"/>
          </p:cNvPicPr>
          <p:nvPr/>
        </p:nvPicPr>
        <p:blipFill>
          <a:blip r:embed="rId1"/>
          <a:stretch>
            <a:fillRect/>
          </a:stretch>
        </p:blipFill>
        <p:spPr>
          <a:xfrm>
            <a:off x="6316663" y="2286000"/>
            <a:ext cx="2298700" cy="1838325"/>
          </a:xfrm>
          <a:prstGeom prst="rect">
            <a:avLst/>
          </a:prstGeom>
          <a:noFill/>
          <a:ln w="9525">
            <a:noFill/>
          </a:ln>
        </p:spPr>
      </p:pic>
      <p:pic>
        <p:nvPicPr>
          <p:cNvPr id="55301" name="Picture 9"/>
          <p:cNvPicPr>
            <a:picLocks noChangeAspect="1"/>
          </p:cNvPicPr>
          <p:nvPr/>
        </p:nvPicPr>
        <p:blipFill>
          <a:blip r:embed="rId2"/>
          <a:stretch>
            <a:fillRect/>
          </a:stretch>
        </p:blipFill>
        <p:spPr>
          <a:xfrm>
            <a:off x="266700" y="4676775"/>
            <a:ext cx="2381250" cy="1841500"/>
          </a:xfrm>
          <a:prstGeom prst="rect">
            <a:avLst/>
          </a:prstGeom>
          <a:noFill/>
          <a:ln w="9525">
            <a:noFill/>
          </a:ln>
        </p:spPr>
      </p:pic>
      <p:sp>
        <p:nvSpPr>
          <p:cNvPr id="55302" name="Rectangle 10"/>
          <p:cNvSpPr/>
          <p:nvPr/>
        </p:nvSpPr>
        <p:spPr>
          <a:xfrm>
            <a:off x="2751138" y="4675188"/>
            <a:ext cx="5845175" cy="1706562"/>
          </a:xfrm>
          <a:prstGeom prst="rect">
            <a:avLst/>
          </a:prstGeom>
          <a:noFill/>
          <a:ln w="9525">
            <a:noFill/>
          </a:ln>
        </p:spPr>
        <p:txBody>
          <a:bodyPr lIns="82124" tIns="41061" rIns="82124" bIns="41061"/>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236855" lvl="0" indent="-236855" defTabSz="814705"/>
            <a:r>
              <a:rPr lang="en-US" altLang="en-US" dirty="0"/>
              <a:t>A </a:t>
            </a:r>
            <a:r>
              <a:rPr lang="en-US" altLang="en-US" b="1" dirty="0">
                <a:solidFill>
                  <a:schemeClr val="accent2"/>
                </a:solidFill>
              </a:rPr>
              <a:t>floppy disk drive (FDD)</a:t>
            </a:r>
            <a:r>
              <a:rPr lang="en-US" altLang="en-US" dirty="0"/>
              <a:t> is storage device that uses removable 3.5 inch floppy disks that can store 1.44 MB of data. </a:t>
            </a:r>
            <a:endParaRPr lang="en-US" altLang="en-US" dirty="0"/>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a:ln/>
        </p:spPr>
        <p:txBody>
          <a:bodyPr vert="horz" wrap="square" lIns="82124" tIns="41061" rIns="82124" bIns="41061" anchor="b" anchorCtr="0"/>
          <a:p>
            <a:pPr eaLnBrk="1" hangingPunct="1"/>
            <a:r>
              <a:rPr lang="en-US" altLang="en-US" dirty="0"/>
              <a:t>Optical Drives and Flash Drives</a:t>
            </a:r>
            <a:endParaRPr lang="en-US" altLang="en-US" dirty="0"/>
          </a:p>
        </p:txBody>
      </p:sp>
      <p:sp>
        <p:nvSpPr>
          <p:cNvPr id="57347" name="Rectangle 5"/>
          <p:cNvSpPr>
            <a:spLocks noGrp="1"/>
          </p:cNvSpPr>
          <p:nvPr>
            <p:ph idx="1"/>
          </p:nvPr>
        </p:nvSpPr>
        <p:spPr>
          <a:xfrm>
            <a:off x="655638" y="1560513"/>
            <a:ext cx="7940675" cy="5135562"/>
          </a:xfrm>
          <a:ln/>
        </p:spPr>
        <p:txBody>
          <a:bodyPr vert="horz" wrap="square" lIns="82124" tIns="41061" rIns="82124" bIns="41061" anchor="t" anchorCtr="0"/>
          <a:p>
            <a:r>
              <a:rPr lang="en-US" altLang="en-US" dirty="0"/>
              <a:t>An </a:t>
            </a:r>
            <a:r>
              <a:rPr lang="en-US" altLang="en-US" b="1" dirty="0">
                <a:solidFill>
                  <a:schemeClr val="accent2"/>
                </a:solidFill>
              </a:rPr>
              <a:t>optical drive</a:t>
            </a:r>
            <a:r>
              <a:rPr lang="en-US" altLang="en-US" dirty="0"/>
              <a:t> is a storage device that uses lasers to read data on the optical media. The two types are CD and DVD. </a:t>
            </a:r>
            <a:endParaRPr lang="en-US" altLang="en-US" dirty="0"/>
          </a:p>
          <a:p>
            <a:r>
              <a:rPr lang="en-US" altLang="en-US" dirty="0"/>
              <a:t>A </a:t>
            </a:r>
            <a:r>
              <a:rPr lang="en-US" altLang="en-US" b="1" dirty="0">
                <a:solidFill>
                  <a:schemeClr val="accent2"/>
                </a:solidFill>
              </a:rPr>
              <a:t>flash drive</a:t>
            </a:r>
            <a:r>
              <a:rPr lang="en-US" altLang="en-US" dirty="0"/>
              <a:t> is a removable storage device that connects to a USB port. A flash drive uses a type </a:t>
            </a:r>
            <a:br>
              <a:rPr lang="en-US" altLang="en-US" dirty="0"/>
            </a:br>
            <a:r>
              <a:rPr lang="en-US" altLang="en-US" dirty="0"/>
              <a:t>of memory that requires no power to maintain the </a:t>
            </a:r>
            <a:br>
              <a:rPr lang="en-US" altLang="en-US" dirty="0"/>
            </a:br>
            <a:r>
              <a:rPr lang="en-US" altLang="en-US" dirty="0"/>
              <a:t>data.</a:t>
            </a:r>
            <a:endParaRPr lang="en-US" altLang="en-US" dirty="0"/>
          </a:p>
          <a:p>
            <a:r>
              <a:rPr lang="en-US" altLang="en-US" dirty="0"/>
              <a:t>Some common drive interfaces:</a:t>
            </a:r>
            <a:endParaRPr lang="en-US" altLang="en-US" dirty="0"/>
          </a:p>
          <a:p>
            <a:pPr lvl="1" indent="0">
              <a:buNone/>
            </a:pPr>
            <a:r>
              <a:rPr lang="en-US" altLang="en-US" dirty="0"/>
              <a:t>Integrated Drive Electronics (IDE)</a:t>
            </a:r>
            <a:endParaRPr lang="en-US" altLang="en-US" dirty="0"/>
          </a:p>
          <a:p>
            <a:pPr lvl="1" indent="0">
              <a:buNone/>
            </a:pPr>
            <a:r>
              <a:rPr lang="en-US" altLang="en-US" dirty="0"/>
              <a:t>Enhanced Integrated Drive Electronics (EIDE)</a:t>
            </a:r>
            <a:endParaRPr lang="en-US" altLang="en-US" dirty="0"/>
          </a:p>
          <a:p>
            <a:pPr lvl="1" indent="0">
              <a:buNone/>
            </a:pPr>
            <a:r>
              <a:rPr lang="en-US" altLang="en-US" dirty="0"/>
              <a:t>Parallel ATA (PATA)</a:t>
            </a:r>
            <a:endParaRPr lang="en-US" altLang="en-US" dirty="0"/>
          </a:p>
          <a:p>
            <a:pPr lvl="1" indent="0">
              <a:buNone/>
            </a:pPr>
            <a:r>
              <a:rPr lang="en-US" altLang="en-US" dirty="0"/>
              <a:t>Serial ATA (SATA)</a:t>
            </a:r>
            <a:endParaRPr lang="en-US" altLang="en-US" dirty="0"/>
          </a:p>
          <a:p>
            <a:pPr lvl="1" indent="0">
              <a:buNone/>
            </a:pPr>
            <a:r>
              <a:rPr lang="en-US" altLang="en-US" dirty="0"/>
              <a:t>Small Computer System Interface (SCSI)</a:t>
            </a:r>
            <a:endParaRPr lang="en-US" altLang="en-US" dirty="0"/>
          </a:p>
        </p:txBody>
      </p:sp>
      <p:pic>
        <p:nvPicPr>
          <p:cNvPr id="57348" name="Picture 6"/>
          <p:cNvPicPr>
            <a:picLocks noChangeAspect="1"/>
          </p:cNvPicPr>
          <p:nvPr/>
        </p:nvPicPr>
        <p:blipFill>
          <a:blip r:embed="rId1"/>
          <a:stretch>
            <a:fillRect/>
          </a:stretch>
        </p:blipFill>
        <p:spPr>
          <a:xfrm>
            <a:off x="6630988" y="4416425"/>
            <a:ext cx="2057400" cy="1190625"/>
          </a:xfrm>
          <a:prstGeom prst="rect">
            <a:avLst/>
          </a:prstGeom>
          <a:noFill/>
          <a:ln w="9525">
            <a:noFill/>
          </a:ln>
        </p:spPr>
      </p:pic>
      <p:pic>
        <p:nvPicPr>
          <p:cNvPr id="57349" name="Picture 7"/>
          <p:cNvPicPr>
            <a:picLocks noChangeAspect="1"/>
          </p:cNvPicPr>
          <p:nvPr/>
        </p:nvPicPr>
        <p:blipFill>
          <a:blip r:embed="rId2"/>
          <a:stretch>
            <a:fillRect/>
          </a:stretch>
        </p:blipFill>
        <p:spPr>
          <a:xfrm>
            <a:off x="7658100" y="2565400"/>
            <a:ext cx="1349375" cy="1558925"/>
          </a:xfrm>
          <a:prstGeom prst="rect">
            <a:avLst/>
          </a:prstGeom>
          <a:noFill/>
          <a:ln w="9525">
            <a:noFill/>
          </a:ln>
        </p:spPr>
      </p:pic>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p:nvPr>
        </p:nvSpPr>
        <p:spPr>
          <a:ln/>
        </p:spPr>
        <p:txBody>
          <a:bodyPr vert="horz" wrap="square" lIns="82124" tIns="41061" rIns="82124" bIns="41061" anchor="b" anchorCtr="0"/>
          <a:p>
            <a:pPr eaLnBrk="1" hangingPunct="1"/>
            <a:r>
              <a:rPr lang="en-US" altLang="en-US" dirty="0"/>
              <a:t>Internal Cables</a:t>
            </a:r>
            <a:endParaRPr lang="en-US" altLang="en-US" dirty="0"/>
          </a:p>
        </p:txBody>
      </p:sp>
      <p:sp>
        <p:nvSpPr>
          <p:cNvPr id="59395" name="Rectangle 11"/>
          <p:cNvSpPr>
            <a:spLocks noGrp="1"/>
          </p:cNvSpPr>
          <p:nvPr>
            <p:ph idx="1"/>
          </p:nvPr>
        </p:nvSpPr>
        <p:spPr>
          <a:xfrm>
            <a:off x="655638" y="1682750"/>
            <a:ext cx="7727950" cy="4611688"/>
          </a:xfrm>
          <a:ln/>
        </p:spPr>
        <p:txBody>
          <a:bodyPr vert="horz" wrap="square" lIns="82124" tIns="41061" rIns="82124" bIns="41061" anchor="t" anchorCtr="0"/>
          <a:p>
            <a:pPr>
              <a:buNone/>
            </a:pPr>
            <a:r>
              <a:rPr lang="en-US" altLang="ja-JP" dirty="0">
                <a:ea typeface="MS PGothic" panose="020B0600070205080204" pitchFamily="34" charset="-128"/>
              </a:rPr>
              <a:t>Data cables connect drives to the drive controller, which is located on an adapter card or on the motherboard. </a:t>
            </a:r>
            <a:endParaRPr lang="en-US" altLang="ja-JP" dirty="0">
              <a:ea typeface="MS PGothic" panose="020B0600070205080204" pitchFamily="34" charset="-128"/>
            </a:endParaRPr>
          </a:p>
          <a:p>
            <a:r>
              <a:rPr lang="en-US" altLang="ja-JP" dirty="0">
                <a:ea typeface="MS PGothic" panose="020B0600070205080204" pitchFamily="34" charset="-128"/>
              </a:rPr>
              <a:t>Floppy disk drive (FDD) data cable</a:t>
            </a:r>
            <a:endParaRPr lang="en-US" altLang="ja-JP" dirty="0">
              <a:ea typeface="MS PGothic" panose="020B0600070205080204" pitchFamily="34" charset="-128"/>
            </a:endParaRPr>
          </a:p>
          <a:p>
            <a:r>
              <a:rPr lang="en-US" altLang="ja-JP" dirty="0">
                <a:ea typeface="MS PGothic" panose="020B0600070205080204" pitchFamily="34" charset="-128"/>
              </a:rPr>
              <a:t>PATA (IDE) data cable</a:t>
            </a:r>
            <a:endParaRPr lang="en-US" altLang="ja-JP" dirty="0">
              <a:ea typeface="MS PGothic" panose="020B0600070205080204" pitchFamily="34" charset="-128"/>
            </a:endParaRPr>
          </a:p>
          <a:p>
            <a:r>
              <a:rPr lang="en-US" altLang="ja-JP" dirty="0">
                <a:ea typeface="MS PGothic" panose="020B0600070205080204" pitchFamily="34" charset="-128"/>
              </a:rPr>
              <a:t>PATA (EIDE) data cable</a:t>
            </a:r>
            <a:endParaRPr lang="en-US" altLang="ja-JP" dirty="0">
              <a:ea typeface="MS PGothic" panose="020B0600070205080204" pitchFamily="34" charset="-128"/>
            </a:endParaRPr>
          </a:p>
          <a:p>
            <a:r>
              <a:rPr lang="en-US" altLang="ja-JP" dirty="0">
                <a:ea typeface="MS PGothic" panose="020B0600070205080204" pitchFamily="34" charset="-128"/>
              </a:rPr>
              <a:t>SATA data cable</a:t>
            </a:r>
            <a:endParaRPr lang="en-US" altLang="ja-JP" dirty="0">
              <a:ea typeface="MS PGothic" panose="020B0600070205080204" pitchFamily="34" charset="-128"/>
            </a:endParaRPr>
          </a:p>
          <a:p>
            <a:r>
              <a:rPr lang="en-US" altLang="ja-JP" dirty="0">
                <a:ea typeface="MS PGothic" panose="020B0600070205080204" pitchFamily="34" charset="-128"/>
              </a:rPr>
              <a:t>SCSI data cable</a:t>
            </a:r>
            <a:endParaRPr lang="en-US" altLang="en-US" dirty="0"/>
          </a:p>
        </p:txBody>
      </p:sp>
      <p:pic>
        <p:nvPicPr>
          <p:cNvPr id="59396" name="Picture 13"/>
          <p:cNvPicPr>
            <a:picLocks noChangeAspect="1"/>
          </p:cNvPicPr>
          <p:nvPr/>
        </p:nvPicPr>
        <p:blipFill>
          <a:blip r:embed="rId1"/>
          <a:stretch>
            <a:fillRect/>
          </a:stretch>
        </p:blipFill>
        <p:spPr>
          <a:xfrm>
            <a:off x="4516438" y="2997200"/>
            <a:ext cx="4251325" cy="3632200"/>
          </a:xfrm>
          <a:prstGeom prst="rect">
            <a:avLst/>
          </a:prstGeom>
          <a:noFill/>
          <a:ln w="9525">
            <a:noFill/>
          </a:ln>
        </p:spPr>
      </p:pic>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a:ln/>
        </p:spPr>
        <p:txBody>
          <a:bodyPr vert="horz" wrap="square" lIns="82124" tIns="41061" rIns="82124" bIns="41061" anchor="b" anchorCtr="0"/>
          <a:p>
            <a:pPr eaLnBrk="1" hangingPunct="1"/>
            <a:r>
              <a:rPr lang="en-US" altLang="en-US" dirty="0"/>
              <a:t>Serial Ports and Cables</a:t>
            </a:r>
            <a:endParaRPr lang="en-US" altLang="en-US" dirty="0"/>
          </a:p>
        </p:txBody>
      </p:sp>
      <p:sp>
        <p:nvSpPr>
          <p:cNvPr id="61443" name="Rectangle 6"/>
          <p:cNvSpPr>
            <a:spLocks noGrp="1"/>
          </p:cNvSpPr>
          <p:nvPr>
            <p:ph idx="1"/>
          </p:nvPr>
        </p:nvSpPr>
        <p:spPr>
          <a:xfrm>
            <a:off x="4137025" y="1816100"/>
            <a:ext cx="4705350" cy="4413250"/>
          </a:xfrm>
          <a:ln/>
        </p:spPr>
        <p:txBody>
          <a:bodyPr vert="horz" wrap="square" lIns="82124" tIns="41061" rIns="82124" bIns="41061" anchor="t" anchorCtr="0"/>
          <a:p>
            <a:r>
              <a:rPr lang="en-US" altLang="ja-JP" dirty="0">
                <a:ea typeface="MS PGothic" panose="020B0600070205080204" pitchFamily="34" charset="-128"/>
              </a:rPr>
              <a:t>A serial port can be either a DB-9, as shown, or a DB-25 male connector. </a:t>
            </a:r>
            <a:endParaRPr lang="en-US" altLang="ja-JP" dirty="0">
              <a:ea typeface="MS PGothic" panose="020B0600070205080204" pitchFamily="34" charset="-128"/>
            </a:endParaRPr>
          </a:p>
          <a:p>
            <a:r>
              <a:rPr lang="en-US" altLang="ja-JP" dirty="0">
                <a:ea typeface="MS PGothic" panose="020B0600070205080204" pitchFamily="34" charset="-128"/>
              </a:rPr>
              <a:t>Serial ports transmit one bit of data at a time. </a:t>
            </a:r>
            <a:endParaRPr lang="en-US" altLang="ja-JP" dirty="0">
              <a:ea typeface="MS PGothic" panose="020B0600070205080204" pitchFamily="34" charset="-128"/>
            </a:endParaRPr>
          </a:p>
          <a:p>
            <a:r>
              <a:rPr lang="en-US" altLang="ja-JP" dirty="0">
                <a:ea typeface="MS PGothic" panose="020B0600070205080204" pitchFamily="34" charset="-128"/>
              </a:rPr>
              <a:t>To connect a serial device, such as a modem or printer, a serial cable must be used. </a:t>
            </a:r>
            <a:endParaRPr lang="en-US" altLang="ja-JP" dirty="0">
              <a:ea typeface="MS PGothic" panose="020B0600070205080204" pitchFamily="34" charset="-128"/>
            </a:endParaRPr>
          </a:p>
          <a:p>
            <a:r>
              <a:rPr lang="en-US" altLang="ja-JP" dirty="0">
                <a:ea typeface="MS PGothic" panose="020B0600070205080204" pitchFamily="34" charset="-128"/>
              </a:rPr>
              <a:t>A serial cable has a maximum length of 50 feet (15.2 m).</a:t>
            </a:r>
            <a:endParaRPr lang="en-US" altLang="en-US" dirty="0"/>
          </a:p>
        </p:txBody>
      </p:sp>
      <p:pic>
        <p:nvPicPr>
          <p:cNvPr id="61444" name="Picture 9"/>
          <p:cNvPicPr>
            <a:picLocks noChangeAspect="1"/>
          </p:cNvPicPr>
          <p:nvPr/>
        </p:nvPicPr>
        <p:blipFill>
          <a:blip r:embed="rId1"/>
          <a:stretch>
            <a:fillRect/>
          </a:stretch>
        </p:blipFill>
        <p:spPr>
          <a:xfrm>
            <a:off x="228600" y="1771650"/>
            <a:ext cx="3829050" cy="4229100"/>
          </a:xfrm>
          <a:prstGeom prst="rect">
            <a:avLst/>
          </a:prstGeom>
          <a:noFill/>
          <a:ln w="9525">
            <a:noFill/>
          </a:ln>
        </p:spPr>
      </p:pic>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ln/>
        </p:spPr>
        <p:txBody>
          <a:bodyPr vert="horz" wrap="square" lIns="82124" tIns="41061" rIns="82124" bIns="41061" anchor="b" anchorCtr="0"/>
          <a:p>
            <a:pPr eaLnBrk="1" hangingPunct="1"/>
            <a:r>
              <a:rPr lang="en-US" altLang="en-US" dirty="0"/>
              <a:t>USB Ports and Cables</a:t>
            </a:r>
            <a:endParaRPr lang="en-US" altLang="en-US" dirty="0"/>
          </a:p>
        </p:txBody>
      </p:sp>
      <p:sp>
        <p:nvSpPr>
          <p:cNvPr id="63491" name="Rectangle 6"/>
          <p:cNvSpPr>
            <a:spLocks noGrp="1"/>
          </p:cNvSpPr>
          <p:nvPr>
            <p:ph idx="1"/>
          </p:nvPr>
        </p:nvSpPr>
        <p:spPr>
          <a:xfrm>
            <a:off x="687388" y="1711325"/>
            <a:ext cx="7927975" cy="4862513"/>
          </a:xfrm>
          <a:ln/>
        </p:spPr>
        <p:txBody>
          <a:bodyPr vert="horz" wrap="square" lIns="82124" tIns="41061" rIns="82124" bIns="41061" anchor="t" anchorCtr="0"/>
          <a:p>
            <a:r>
              <a:rPr lang="en-US" altLang="en-US" dirty="0"/>
              <a:t>USB is a standard interface for </a:t>
            </a:r>
            <a:br>
              <a:rPr lang="en-US" altLang="en-US" dirty="0"/>
            </a:br>
            <a:r>
              <a:rPr lang="en-US" altLang="en-US" dirty="0"/>
              <a:t>connecting peripheral devices to </a:t>
            </a:r>
            <a:br>
              <a:rPr lang="en-US" altLang="en-US" dirty="0"/>
            </a:br>
            <a:r>
              <a:rPr lang="en-US" altLang="en-US" dirty="0"/>
              <a:t>a computer.</a:t>
            </a:r>
            <a:endParaRPr lang="en-US" altLang="en-US" dirty="0"/>
          </a:p>
          <a:p>
            <a:r>
              <a:rPr lang="en-US" altLang="en-US" dirty="0"/>
              <a:t>USB devices are hot-swappable.</a:t>
            </a:r>
            <a:endParaRPr lang="en-US" altLang="en-US" dirty="0"/>
          </a:p>
          <a:p>
            <a:r>
              <a:rPr lang="en-US" altLang="en-US" dirty="0"/>
              <a:t>USB ports are found on computers, </a:t>
            </a:r>
            <a:br>
              <a:rPr lang="en-US" altLang="en-US" dirty="0"/>
            </a:br>
            <a:r>
              <a:rPr lang="en-US" altLang="en-US" dirty="0"/>
              <a:t>cameras, printers, scanners, </a:t>
            </a:r>
            <a:br>
              <a:rPr lang="en-US" altLang="en-US" dirty="0"/>
            </a:br>
            <a:r>
              <a:rPr lang="en-US" altLang="en-US" dirty="0"/>
              <a:t>storage devices, and many other electronic devices.</a:t>
            </a:r>
            <a:endParaRPr lang="en-US" altLang="en-US" dirty="0"/>
          </a:p>
          <a:p>
            <a:r>
              <a:rPr lang="en-US" altLang="en-US" dirty="0"/>
              <a:t>A single USB port in a computer can support up to 127 separate devices with the use of multiple USB hubs.</a:t>
            </a:r>
            <a:endParaRPr lang="en-US" altLang="en-US" dirty="0"/>
          </a:p>
          <a:p>
            <a:r>
              <a:rPr lang="en-US" altLang="en-US" dirty="0"/>
              <a:t>Some devices can also be powered through the USB port, eliminating the need for an external power source.</a:t>
            </a:r>
            <a:endParaRPr lang="en-US" altLang="en-US" dirty="0"/>
          </a:p>
        </p:txBody>
      </p:sp>
      <p:pic>
        <p:nvPicPr>
          <p:cNvPr id="63492" name="Picture 7"/>
          <p:cNvPicPr>
            <a:picLocks noChangeAspect="1"/>
          </p:cNvPicPr>
          <p:nvPr/>
        </p:nvPicPr>
        <p:blipFill>
          <a:blip r:embed="rId1"/>
          <a:stretch>
            <a:fillRect/>
          </a:stretch>
        </p:blipFill>
        <p:spPr>
          <a:xfrm>
            <a:off x="5902325" y="762000"/>
            <a:ext cx="3238500" cy="3252788"/>
          </a:xfrm>
          <a:prstGeom prst="rect">
            <a:avLst/>
          </a:prstGeom>
          <a:noFill/>
          <a:ln w="9525">
            <a:noFill/>
          </a:ln>
        </p:spPr>
      </p:pic>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a:ln/>
        </p:spPr>
        <p:txBody>
          <a:bodyPr vert="horz" wrap="square" lIns="82124" tIns="41061" rIns="82124" bIns="41061" anchor="b" anchorCtr="0"/>
          <a:p>
            <a:pPr eaLnBrk="1" hangingPunct="1"/>
            <a:r>
              <a:rPr lang="en-US" altLang="en-US" dirty="0"/>
              <a:t>FireWire Ports and Cables</a:t>
            </a:r>
            <a:endParaRPr lang="en-US" altLang="en-US" dirty="0"/>
          </a:p>
        </p:txBody>
      </p:sp>
      <p:sp>
        <p:nvSpPr>
          <p:cNvPr id="65539" name="Rectangle 6"/>
          <p:cNvSpPr>
            <a:spLocks noGrp="1"/>
          </p:cNvSpPr>
          <p:nvPr>
            <p:ph idx="1"/>
          </p:nvPr>
        </p:nvSpPr>
        <p:spPr>
          <a:xfrm>
            <a:off x="633413" y="1674813"/>
            <a:ext cx="7940675" cy="5013325"/>
          </a:xfrm>
          <a:ln/>
        </p:spPr>
        <p:txBody>
          <a:bodyPr vert="horz" wrap="square" lIns="82124" tIns="41061" rIns="82124" bIns="41061" anchor="t" anchorCtr="0"/>
          <a:p>
            <a:r>
              <a:rPr lang="en-US" altLang="en-US" dirty="0"/>
              <a:t>FireWire is a high-speed, </a:t>
            </a:r>
            <a:br>
              <a:rPr lang="en-US" altLang="en-US" dirty="0"/>
            </a:br>
            <a:r>
              <a:rPr lang="en-US" altLang="en-US" dirty="0"/>
              <a:t>hot-swappable interface.</a:t>
            </a:r>
            <a:endParaRPr lang="en-US" altLang="en-US" dirty="0"/>
          </a:p>
          <a:p>
            <a:r>
              <a:rPr lang="en-US" altLang="ja-JP" dirty="0">
                <a:ea typeface="MS PGothic" panose="020B0600070205080204" pitchFamily="34" charset="-128"/>
              </a:rPr>
              <a:t>A single FireWire port in a computer </a:t>
            </a:r>
            <a:br>
              <a:rPr lang="en-US" altLang="ja-JP" dirty="0">
                <a:ea typeface="MS PGothic" panose="020B0600070205080204" pitchFamily="34" charset="-128"/>
              </a:rPr>
            </a:br>
            <a:r>
              <a:rPr lang="en-US" altLang="ja-JP" dirty="0">
                <a:ea typeface="MS PGothic" panose="020B0600070205080204" pitchFamily="34" charset="-128"/>
              </a:rPr>
              <a:t>can support up to 63 devices. </a:t>
            </a:r>
            <a:endParaRPr lang="en-US" altLang="ja-JP" dirty="0">
              <a:ea typeface="MS PGothic" panose="020B0600070205080204" pitchFamily="34" charset="-128"/>
            </a:endParaRPr>
          </a:p>
          <a:p>
            <a:r>
              <a:rPr lang="en-US" altLang="ja-JP" dirty="0">
                <a:ea typeface="MS PGothic" panose="020B0600070205080204" pitchFamily="34" charset="-128"/>
              </a:rPr>
              <a:t>Some devices can also be powered </a:t>
            </a:r>
            <a:br>
              <a:rPr lang="en-US" altLang="ja-JP" dirty="0">
                <a:ea typeface="MS PGothic" panose="020B0600070205080204" pitchFamily="34" charset="-128"/>
              </a:rPr>
            </a:br>
            <a:r>
              <a:rPr lang="en-US" altLang="ja-JP" dirty="0">
                <a:ea typeface="MS PGothic" panose="020B0600070205080204" pitchFamily="34" charset="-128"/>
              </a:rPr>
              <a:t>through the FireWire port, eliminating the need for an external power source.</a:t>
            </a:r>
            <a:endParaRPr lang="en-US" altLang="ja-JP" dirty="0">
              <a:ea typeface="MS PGothic" panose="020B0600070205080204" pitchFamily="34" charset="-128"/>
            </a:endParaRPr>
          </a:p>
          <a:p>
            <a:r>
              <a:rPr lang="en-US" altLang="ja-JP" dirty="0">
                <a:ea typeface="MS PGothic" panose="020B0600070205080204" pitchFamily="34" charset="-128"/>
              </a:rPr>
              <a:t>The IEEE 1394a standard supports data rates up to 400 Mbps and cable lengths up to 15 feet (4.5 m). This standard uses a 6-pin connector or a 4-pin connector. </a:t>
            </a:r>
            <a:endParaRPr lang="en-US" altLang="ja-JP" dirty="0">
              <a:ea typeface="MS PGothic" panose="020B0600070205080204" pitchFamily="34" charset="-128"/>
            </a:endParaRPr>
          </a:p>
          <a:p>
            <a:r>
              <a:rPr lang="en-US" altLang="ja-JP" dirty="0">
                <a:ea typeface="MS PGothic" panose="020B0600070205080204" pitchFamily="34" charset="-128"/>
              </a:rPr>
              <a:t>The IEEE 1394b standard supports data rates in excess of 800 Mbps and uses a 9-pin connector. </a:t>
            </a:r>
            <a:endParaRPr lang="en-US" altLang="en-US" dirty="0"/>
          </a:p>
        </p:txBody>
      </p:sp>
      <p:pic>
        <p:nvPicPr>
          <p:cNvPr id="65540" name="Picture 7"/>
          <p:cNvPicPr>
            <a:picLocks noChangeAspect="1"/>
          </p:cNvPicPr>
          <p:nvPr/>
        </p:nvPicPr>
        <p:blipFill>
          <a:blip r:embed="rId1"/>
          <a:stretch>
            <a:fillRect/>
          </a:stretch>
        </p:blipFill>
        <p:spPr>
          <a:xfrm>
            <a:off x="6069013" y="763588"/>
            <a:ext cx="2925762" cy="2925762"/>
          </a:xfrm>
          <a:prstGeom prst="rect">
            <a:avLst/>
          </a:prstGeom>
          <a:noFill/>
          <a:ln w="38100">
            <a:noFill/>
          </a:ln>
        </p:spPr>
      </p:pic>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ln/>
        </p:spPr>
        <p:txBody>
          <a:bodyPr vert="horz" wrap="square" lIns="82124" tIns="41061" rIns="82124" bIns="41061" anchor="b" anchorCtr="0"/>
          <a:p>
            <a:pPr eaLnBrk="1" hangingPunct="1"/>
            <a:r>
              <a:rPr lang="en-US" altLang="en-US" dirty="0"/>
              <a:t>Parallel Ports and Cables</a:t>
            </a:r>
            <a:endParaRPr lang="en-US" altLang="en-US" dirty="0"/>
          </a:p>
        </p:txBody>
      </p:sp>
      <p:sp>
        <p:nvSpPr>
          <p:cNvPr id="67587" name="Rectangle 6"/>
          <p:cNvSpPr>
            <a:spLocks noGrp="1"/>
          </p:cNvSpPr>
          <p:nvPr>
            <p:ph idx="1"/>
          </p:nvPr>
        </p:nvSpPr>
        <p:spPr>
          <a:xfrm>
            <a:off x="4046538" y="1838325"/>
            <a:ext cx="4581525" cy="4298950"/>
          </a:xfrm>
          <a:ln/>
        </p:spPr>
        <p:txBody>
          <a:bodyPr vert="horz" wrap="square" lIns="82124" tIns="41061" rIns="82124" bIns="41061" anchor="t" anchorCtr="0"/>
          <a:p>
            <a:r>
              <a:rPr lang="en-US" altLang="en-US" dirty="0"/>
              <a:t>Parallel ports can transmit 8 bits of data at one time and use the IEEE 1284 standard. </a:t>
            </a:r>
            <a:endParaRPr lang="en-US" altLang="en-US" dirty="0"/>
          </a:p>
          <a:p>
            <a:r>
              <a:rPr lang="en-US" altLang="en-US" dirty="0"/>
              <a:t>To connect a parallel device, such as a printer, a parallel cable must be used. </a:t>
            </a:r>
            <a:endParaRPr lang="en-US" altLang="en-US" dirty="0"/>
          </a:p>
          <a:p>
            <a:r>
              <a:rPr lang="en-US" altLang="en-US" dirty="0"/>
              <a:t>A parallel cable has a maximum length of 15 feet (4.5 m).</a:t>
            </a:r>
            <a:endParaRPr lang="en-US" altLang="en-US" dirty="0"/>
          </a:p>
        </p:txBody>
      </p:sp>
      <p:pic>
        <p:nvPicPr>
          <p:cNvPr id="67588" name="Picture 7"/>
          <p:cNvPicPr>
            <a:picLocks noChangeAspect="1"/>
          </p:cNvPicPr>
          <p:nvPr/>
        </p:nvPicPr>
        <p:blipFill>
          <a:blip r:embed="rId1"/>
          <a:stretch>
            <a:fillRect/>
          </a:stretch>
        </p:blipFill>
        <p:spPr>
          <a:xfrm>
            <a:off x="280988" y="1828800"/>
            <a:ext cx="3619500" cy="4440238"/>
          </a:xfrm>
          <a:prstGeom prst="rect">
            <a:avLst/>
          </a:prstGeom>
          <a:noFill/>
          <a:ln w="9525">
            <a:noFill/>
          </a:ln>
        </p:spPr>
      </p:pic>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ln/>
        </p:spPr>
        <p:txBody>
          <a:bodyPr vert="horz" wrap="square" lIns="82124" tIns="41061" rIns="82124" bIns="41061" anchor="b" anchorCtr="0"/>
          <a:p>
            <a:pPr eaLnBrk="1" hangingPunct="1"/>
            <a:r>
              <a:rPr lang="en-US" altLang="en-US" dirty="0"/>
              <a:t>SCSI Ports and Cables</a:t>
            </a:r>
            <a:endParaRPr lang="en-US" altLang="en-US" dirty="0"/>
          </a:p>
        </p:txBody>
      </p:sp>
      <p:sp>
        <p:nvSpPr>
          <p:cNvPr id="69635" name="Rectangle 6"/>
          <p:cNvSpPr>
            <a:spLocks noGrp="1"/>
          </p:cNvSpPr>
          <p:nvPr>
            <p:ph idx="1"/>
          </p:nvPr>
        </p:nvSpPr>
        <p:spPr>
          <a:xfrm>
            <a:off x="655638" y="1674813"/>
            <a:ext cx="7940675" cy="4995862"/>
          </a:xfrm>
          <a:ln/>
        </p:spPr>
        <p:txBody>
          <a:bodyPr vert="horz" wrap="square" lIns="82124" tIns="41061" rIns="82124" bIns="41061" anchor="t" anchorCtr="0"/>
          <a:p>
            <a:pPr>
              <a:lnSpc>
                <a:spcPct val="85000"/>
              </a:lnSpc>
            </a:pPr>
            <a:r>
              <a:rPr lang="en-US" altLang="en-US" dirty="0"/>
              <a:t>A SCSI port can transmit data at rates in </a:t>
            </a:r>
            <a:br>
              <a:rPr lang="en-US" altLang="en-US" dirty="0"/>
            </a:br>
            <a:r>
              <a:rPr lang="en-US" altLang="en-US" dirty="0"/>
              <a:t>excess of 320 Mbps and can support up </a:t>
            </a:r>
            <a:br>
              <a:rPr lang="en-US" altLang="en-US" dirty="0"/>
            </a:br>
            <a:r>
              <a:rPr lang="en-US" altLang="en-US" dirty="0"/>
              <a:t>to 15 devices. </a:t>
            </a:r>
            <a:endParaRPr lang="en-US" altLang="en-US" dirty="0"/>
          </a:p>
          <a:p>
            <a:pPr>
              <a:lnSpc>
                <a:spcPct val="85000"/>
              </a:lnSpc>
            </a:pPr>
            <a:r>
              <a:rPr lang="en-US" altLang="en-US" dirty="0"/>
              <a:t>Three different types of SCSI ports:</a:t>
            </a:r>
            <a:endParaRPr lang="en-US" altLang="en-US" dirty="0"/>
          </a:p>
          <a:p>
            <a:pPr lvl="1" indent="0">
              <a:lnSpc>
                <a:spcPct val="85000"/>
              </a:lnSpc>
              <a:buNone/>
            </a:pPr>
            <a:r>
              <a:rPr lang="en-US" altLang="en-US" dirty="0"/>
              <a:t>DB-25 female connector </a:t>
            </a:r>
            <a:endParaRPr lang="en-US" altLang="en-US" dirty="0"/>
          </a:p>
          <a:p>
            <a:pPr lvl="1" indent="0">
              <a:lnSpc>
                <a:spcPct val="85000"/>
              </a:lnSpc>
              <a:buNone/>
            </a:pPr>
            <a:r>
              <a:rPr lang="en-US" altLang="en-US" dirty="0"/>
              <a:t>High-density 50-pin female connector </a:t>
            </a:r>
            <a:endParaRPr lang="en-US" altLang="en-US" dirty="0"/>
          </a:p>
          <a:p>
            <a:pPr lvl="1" indent="0">
              <a:lnSpc>
                <a:spcPct val="85000"/>
              </a:lnSpc>
              <a:buNone/>
            </a:pPr>
            <a:r>
              <a:rPr lang="en-US" altLang="en-US" dirty="0"/>
              <a:t>High-density 68-pin female connector</a:t>
            </a:r>
            <a:endParaRPr lang="en-US" altLang="en-US" sz="1000" b="1" dirty="0">
              <a:solidFill>
                <a:schemeClr val="folHlink"/>
              </a:solidFill>
            </a:endParaRPr>
          </a:p>
          <a:p>
            <a:pPr>
              <a:lnSpc>
                <a:spcPct val="85000"/>
              </a:lnSpc>
            </a:pPr>
            <a:r>
              <a:rPr lang="en-US" altLang="en-US" b="1" dirty="0">
                <a:solidFill>
                  <a:schemeClr val="folHlink"/>
                </a:solidFill>
              </a:rPr>
              <a:t>NOTE:</a:t>
            </a:r>
            <a:r>
              <a:rPr lang="en-US" altLang="en-US" dirty="0"/>
              <a:t> SCSI devices must be terminated at the endpoints of the SCSI chain. Check the device manual for termination procedures.</a:t>
            </a:r>
            <a:endParaRPr lang="en-US" altLang="en-US" b="1" dirty="0">
              <a:solidFill>
                <a:schemeClr val="folHlink"/>
              </a:solidFill>
            </a:endParaRPr>
          </a:p>
          <a:p>
            <a:pPr>
              <a:lnSpc>
                <a:spcPct val="85000"/>
              </a:lnSpc>
            </a:pPr>
            <a:r>
              <a:rPr lang="en-US" altLang="en-US" b="1" dirty="0">
                <a:solidFill>
                  <a:schemeClr val="accent2"/>
                </a:solidFill>
              </a:rPr>
              <a:t>CAUTION:</a:t>
            </a:r>
            <a:r>
              <a:rPr lang="en-US" altLang="en-US" dirty="0">
                <a:solidFill>
                  <a:schemeClr val="folHlink"/>
                </a:solidFill>
              </a:rPr>
              <a:t> </a:t>
            </a:r>
            <a:r>
              <a:rPr lang="en-US" altLang="en-US" dirty="0"/>
              <a:t>Some SCSI connectors resemble parallel connectors. The voltage used in the SCSI format may damage the parallel interface. </a:t>
            </a:r>
            <a:endParaRPr lang="en-US" altLang="en-US" dirty="0"/>
          </a:p>
        </p:txBody>
      </p:sp>
      <p:pic>
        <p:nvPicPr>
          <p:cNvPr id="69636" name="Picture 9"/>
          <p:cNvPicPr>
            <a:picLocks noChangeAspect="1"/>
          </p:cNvPicPr>
          <p:nvPr/>
        </p:nvPicPr>
        <p:blipFill>
          <a:blip r:embed="rId1"/>
          <a:stretch>
            <a:fillRect/>
          </a:stretch>
        </p:blipFill>
        <p:spPr>
          <a:xfrm>
            <a:off x="6261100" y="3371850"/>
            <a:ext cx="2663825" cy="788988"/>
          </a:xfrm>
          <a:prstGeom prst="rect">
            <a:avLst/>
          </a:prstGeom>
          <a:noFill/>
          <a:ln w="9525">
            <a:noFill/>
          </a:ln>
        </p:spPr>
      </p:pic>
      <p:pic>
        <p:nvPicPr>
          <p:cNvPr id="69637" name="Picture 10"/>
          <p:cNvPicPr>
            <a:picLocks noChangeAspect="1"/>
          </p:cNvPicPr>
          <p:nvPr/>
        </p:nvPicPr>
        <p:blipFill>
          <a:blip r:embed="rId2"/>
          <a:stretch>
            <a:fillRect/>
          </a:stretch>
        </p:blipFill>
        <p:spPr>
          <a:xfrm>
            <a:off x="6475413" y="2447925"/>
            <a:ext cx="2216150" cy="806450"/>
          </a:xfrm>
          <a:prstGeom prst="rect">
            <a:avLst/>
          </a:prstGeom>
          <a:noFill/>
          <a:ln w="9525">
            <a:noFill/>
          </a:ln>
        </p:spPr>
      </p:pic>
      <p:pic>
        <p:nvPicPr>
          <p:cNvPr id="69638" name="Picture 11"/>
          <p:cNvPicPr>
            <a:picLocks noChangeAspect="1"/>
          </p:cNvPicPr>
          <p:nvPr/>
        </p:nvPicPr>
        <p:blipFill>
          <a:blip r:embed="rId3"/>
          <a:stretch>
            <a:fillRect/>
          </a:stretch>
        </p:blipFill>
        <p:spPr>
          <a:xfrm>
            <a:off x="6651625" y="1395413"/>
            <a:ext cx="1849438" cy="868362"/>
          </a:xfrm>
          <a:prstGeom prst="rect">
            <a:avLst/>
          </a:prstGeom>
          <a:noFill/>
          <a:ln w="9525">
            <a:noFill/>
          </a:ln>
        </p:spPr>
      </p:pic>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p:cNvSpPr>
          <p:nvPr>
            <p:ph type="title"/>
          </p:nvPr>
        </p:nvSpPr>
        <p:spPr>
          <a:ln/>
        </p:spPr>
        <p:txBody>
          <a:bodyPr vert="horz" wrap="square" lIns="82124" tIns="41061" rIns="82124" bIns="41061" anchor="b" anchorCtr="0"/>
          <a:p>
            <a:pPr eaLnBrk="1" hangingPunct="1"/>
            <a:r>
              <a:rPr lang="en-US" altLang="en-US" dirty="0"/>
              <a:t>Network Ports and Cables</a:t>
            </a:r>
            <a:endParaRPr lang="en-US" altLang="en-US" dirty="0"/>
          </a:p>
        </p:txBody>
      </p:sp>
      <p:sp>
        <p:nvSpPr>
          <p:cNvPr id="71683" name="Rectangle 6"/>
          <p:cNvSpPr>
            <a:spLocks noGrp="1"/>
          </p:cNvSpPr>
          <p:nvPr>
            <p:ph idx="1"/>
          </p:nvPr>
        </p:nvSpPr>
        <p:spPr>
          <a:xfrm>
            <a:off x="693738" y="1633538"/>
            <a:ext cx="7531100" cy="4681537"/>
          </a:xfrm>
          <a:ln/>
        </p:spPr>
        <p:txBody>
          <a:bodyPr vert="horz" wrap="square" lIns="82124" tIns="41061" rIns="82124" bIns="41061" anchor="t" anchorCtr="0"/>
          <a:p>
            <a:r>
              <a:rPr lang="en-US" altLang="en-US" dirty="0"/>
              <a:t>A network port, also known as an RJ-45 port, connects a computer to a network. </a:t>
            </a:r>
            <a:endParaRPr lang="en-US" altLang="en-US" dirty="0"/>
          </a:p>
          <a:p>
            <a:r>
              <a:rPr lang="en-US" altLang="en-US" dirty="0"/>
              <a:t>Standard Ethernet can transmit up to 10 Mbps.</a:t>
            </a:r>
            <a:endParaRPr lang="en-US" altLang="en-US" dirty="0"/>
          </a:p>
          <a:p>
            <a:r>
              <a:rPr lang="en-US" altLang="en-US" dirty="0"/>
              <a:t>Fast Ethernet can transmit up to 100 Mbps.</a:t>
            </a:r>
            <a:endParaRPr lang="en-US" altLang="en-US" dirty="0"/>
          </a:p>
          <a:p>
            <a:r>
              <a:rPr lang="en-US" altLang="en-US" dirty="0"/>
              <a:t>Gigabit Ethernet can transmit up to 1000 Mbps. </a:t>
            </a:r>
            <a:endParaRPr lang="en-US" altLang="en-US" dirty="0"/>
          </a:p>
          <a:p>
            <a:r>
              <a:rPr lang="en-US" altLang="en-US" dirty="0"/>
              <a:t>The maximum length of network cable is 328 feet (100 m).</a:t>
            </a:r>
            <a:endParaRPr lang="en-US" altLang="en-US" dirty="0"/>
          </a:p>
          <a:p>
            <a:pPr>
              <a:buNone/>
            </a:pPr>
            <a:endParaRPr lang="en-US" altLang="en-US" dirty="0"/>
          </a:p>
        </p:txBody>
      </p:sp>
      <p:pic>
        <p:nvPicPr>
          <p:cNvPr id="71684" name="Picture 7"/>
          <p:cNvPicPr>
            <a:picLocks noChangeAspect="1"/>
          </p:cNvPicPr>
          <p:nvPr/>
        </p:nvPicPr>
        <p:blipFill>
          <a:blip r:embed="rId1"/>
          <a:stretch>
            <a:fillRect/>
          </a:stretch>
        </p:blipFill>
        <p:spPr>
          <a:xfrm>
            <a:off x="1941513" y="4913313"/>
            <a:ext cx="5153025" cy="1755775"/>
          </a:xfrm>
          <a:prstGeom prst="rect">
            <a:avLst/>
          </a:prstGeom>
          <a:noFill/>
          <a:ln w="9525">
            <a:noFill/>
          </a:ln>
        </p:spPr>
      </p:pic>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ln/>
        </p:spPr>
        <p:txBody>
          <a:bodyPr vert="horz" wrap="square" lIns="82124" tIns="41061" rIns="82124" bIns="41061" anchor="b" anchorCtr="0"/>
          <a:p>
            <a:pPr eaLnBrk="1" hangingPunct="1"/>
            <a:r>
              <a:rPr lang="en-US" altLang="en-US" dirty="0"/>
              <a:t>PS/2 Ports and Audio Ports</a:t>
            </a:r>
            <a:endParaRPr lang="en-US" altLang="en-US" dirty="0"/>
          </a:p>
        </p:txBody>
      </p:sp>
      <p:sp>
        <p:nvSpPr>
          <p:cNvPr id="73731" name="Rectangle 6"/>
          <p:cNvSpPr>
            <a:spLocks noGrp="1"/>
          </p:cNvSpPr>
          <p:nvPr>
            <p:ph idx="1"/>
          </p:nvPr>
        </p:nvSpPr>
        <p:spPr>
          <a:xfrm>
            <a:off x="2232025" y="1703388"/>
            <a:ext cx="6507163" cy="1544637"/>
          </a:xfrm>
          <a:ln/>
        </p:spPr>
        <p:txBody>
          <a:bodyPr vert="horz" wrap="square" lIns="82124" tIns="41061" rIns="82124" bIns="41061" anchor="t" anchorCtr="0"/>
          <a:p>
            <a:pPr>
              <a:lnSpc>
                <a:spcPct val="85000"/>
              </a:lnSpc>
            </a:pPr>
            <a:r>
              <a:rPr lang="en-US" altLang="en-US" dirty="0"/>
              <a:t>A PS/2 port connects a keyboard or a mouse to a computer.</a:t>
            </a:r>
            <a:endParaRPr lang="en-US" altLang="en-US" dirty="0"/>
          </a:p>
          <a:p>
            <a:pPr>
              <a:lnSpc>
                <a:spcPct val="85000"/>
              </a:lnSpc>
            </a:pPr>
            <a:r>
              <a:rPr lang="en-US" altLang="ja-JP" dirty="0">
                <a:ea typeface="MS PGothic" panose="020B0600070205080204" pitchFamily="34" charset="-128"/>
              </a:rPr>
              <a:t>The PS/2 port is a 6-pin mini-DIN female connector.</a:t>
            </a:r>
            <a:endParaRPr lang="en-US" altLang="en-US" dirty="0"/>
          </a:p>
        </p:txBody>
      </p:sp>
      <p:pic>
        <p:nvPicPr>
          <p:cNvPr id="73732" name="Picture 7"/>
          <p:cNvPicPr>
            <a:picLocks noChangeAspect="1"/>
          </p:cNvPicPr>
          <p:nvPr/>
        </p:nvPicPr>
        <p:blipFill>
          <a:blip r:embed="rId1"/>
          <a:stretch>
            <a:fillRect/>
          </a:stretch>
        </p:blipFill>
        <p:spPr>
          <a:xfrm>
            <a:off x="863600" y="1724025"/>
            <a:ext cx="1254125" cy="1387475"/>
          </a:xfrm>
          <a:prstGeom prst="rect">
            <a:avLst/>
          </a:prstGeom>
          <a:noFill/>
          <a:ln w="9525">
            <a:noFill/>
          </a:ln>
        </p:spPr>
      </p:pic>
      <p:sp>
        <p:nvSpPr>
          <p:cNvPr id="73733" name="Rectangle 10"/>
          <p:cNvSpPr/>
          <p:nvPr/>
        </p:nvSpPr>
        <p:spPr>
          <a:xfrm>
            <a:off x="641350" y="3255963"/>
            <a:ext cx="7940675" cy="3325812"/>
          </a:xfrm>
          <a:prstGeom prst="rect">
            <a:avLst/>
          </a:prstGeom>
          <a:noFill/>
          <a:ln w="9525">
            <a:noFill/>
          </a:ln>
        </p:spPr>
        <p:txBody>
          <a:bodyPr lIns="82124" tIns="41061" rIns="82124" bIns="41061"/>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236855" lvl="0" indent="-236855" defTabSz="814705"/>
            <a:r>
              <a:rPr lang="en-US" altLang="en-US" dirty="0"/>
              <a:t>Line In connects to an external source</a:t>
            </a:r>
            <a:endParaRPr lang="en-US" altLang="en-US" dirty="0"/>
          </a:p>
          <a:p>
            <a:pPr marL="236855" lvl="0" indent="-236855" defTabSz="814705"/>
            <a:r>
              <a:rPr lang="en-US" altLang="en-US" dirty="0"/>
              <a:t>Microphone In connects to a microphone</a:t>
            </a:r>
            <a:endParaRPr lang="en-US" altLang="en-US" dirty="0"/>
          </a:p>
          <a:p>
            <a:pPr marL="236855" lvl="0" indent="-236855" defTabSz="814705"/>
            <a:r>
              <a:rPr lang="en-US" altLang="en-US" dirty="0"/>
              <a:t>Line Out connects to speakers or headphones</a:t>
            </a:r>
            <a:endParaRPr lang="en-US" altLang="en-US" dirty="0"/>
          </a:p>
          <a:p>
            <a:pPr marL="236855" lvl="0" indent="-236855" defTabSz="814705"/>
            <a:r>
              <a:rPr lang="en-US" altLang="en-US" dirty="0"/>
              <a:t>Gameport/MIDI connects </a:t>
            </a:r>
            <a:br>
              <a:rPr lang="en-US" altLang="en-US" dirty="0"/>
            </a:br>
            <a:r>
              <a:rPr lang="en-US" altLang="en-US" dirty="0"/>
              <a:t>to a joystick or </a:t>
            </a:r>
            <a:br>
              <a:rPr lang="en-US" altLang="en-US" dirty="0"/>
            </a:br>
            <a:r>
              <a:rPr lang="en-US" altLang="en-US" dirty="0"/>
              <a:t>MIDI-interfaced device</a:t>
            </a:r>
            <a:endParaRPr lang="en-US" altLang="en-US" dirty="0"/>
          </a:p>
        </p:txBody>
      </p:sp>
      <p:pic>
        <p:nvPicPr>
          <p:cNvPr id="73734" name="Picture 11"/>
          <p:cNvPicPr>
            <a:picLocks noChangeAspect="1"/>
          </p:cNvPicPr>
          <p:nvPr/>
        </p:nvPicPr>
        <p:blipFill>
          <a:blip r:embed="rId2"/>
          <a:stretch>
            <a:fillRect/>
          </a:stretch>
        </p:blipFill>
        <p:spPr>
          <a:xfrm>
            <a:off x="4471988" y="4762500"/>
            <a:ext cx="4572000" cy="1936750"/>
          </a:xfrm>
          <a:prstGeom prst="rect">
            <a:avLst/>
          </a:prstGeom>
          <a:noFill/>
          <a:ln w="9525">
            <a:noFill/>
          </a:ln>
        </p:spPr>
      </p:pic>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ln/>
        </p:spPr>
        <p:txBody>
          <a:bodyPr vert="horz" wrap="square" lIns="82124" tIns="41061" rIns="82124" bIns="41061" anchor="b" anchorCtr="0"/>
          <a:p>
            <a:pPr eaLnBrk="1" hangingPunct="1"/>
            <a:r>
              <a:rPr lang="en-US" altLang="en-US" dirty="0"/>
              <a:t>Video Ports</a:t>
            </a:r>
            <a:endParaRPr lang="en-US" altLang="en-US" dirty="0"/>
          </a:p>
        </p:txBody>
      </p:sp>
      <p:sp>
        <p:nvSpPr>
          <p:cNvPr id="75779" name="Rectangle 6"/>
          <p:cNvSpPr/>
          <p:nvPr/>
        </p:nvSpPr>
        <p:spPr>
          <a:xfrm>
            <a:off x="4406900" y="1928813"/>
            <a:ext cx="4346575" cy="4008437"/>
          </a:xfrm>
          <a:prstGeom prst="rect">
            <a:avLst/>
          </a:prstGeom>
          <a:noFill/>
          <a:ln w="9525">
            <a:noFill/>
          </a:ln>
        </p:spPr>
        <p:txBody>
          <a:bodyPr lIns="82124" tIns="41061" rIns="82124" bIns="41061"/>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236855" lvl="0" indent="-236855" defTabSz="814705">
              <a:buNone/>
            </a:pPr>
            <a:r>
              <a:rPr lang="en-US" altLang="en-US" dirty="0"/>
              <a:t>A video port connects a monitor cable to a computer.</a:t>
            </a:r>
            <a:endParaRPr lang="en-US" altLang="en-US" dirty="0"/>
          </a:p>
          <a:p>
            <a:pPr marL="236855" lvl="0" indent="-236855" defTabSz="814705">
              <a:buFont typeface="Wingdings" panose="05000000000000000000" pitchFamily="2" charset="2"/>
              <a:buChar char="§"/>
            </a:pPr>
            <a:r>
              <a:rPr lang="en-US" altLang="en-US" dirty="0"/>
              <a:t>Video Graphics Array (VGA)</a:t>
            </a:r>
            <a:endParaRPr lang="en-US" altLang="en-US" dirty="0"/>
          </a:p>
          <a:p>
            <a:pPr marL="236855" lvl="0" indent="-236855" defTabSz="814705">
              <a:buFont typeface="Wingdings" panose="05000000000000000000" pitchFamily="2" charset="2"/>
              <a:buChar char="§"/>
            </a:pPr>
            <a:r>
              <a:rPr lang="en-US" altLang="en-US" dirty="0"/>
              <a:t>Digital Visual Interface (DVI)</a:t>
            </a:r>
            <a:endParaRPr lang="en-US" altLang="en-US" dirty="0"/>
          </a:p>
          <a:p>
            <a:pPr marL="236855" lvl="0" indent="-236855" defTabSz="814705">
              <a:buFont typeface="Wingdings" panose="05000000000000000000" pitchFamily="2" charset="2"/>
              <a:buChar char="§"/>
            </a:pPr>
            <a:r>
              <a:rPr lang="en-US" altLang="en-US" dirty="0"/>
              <a:t>High-Definition Multimedia Interface (HDMi)</a:t>
            </a:r>
            <a:endParaRPr lang="en-US" altLang="en-US" dirty="0"/>
          </a:p>
          <a:p>
            <a:pPr marL="236855" lvl="0" indent="-236855" defTabSz="814705">
              <a:buFont typeface="Wingdings" panose="05000000000000000000" pitchFamily="2" charset="2"/>
              <a:buChar char="§"/>
            </a:pPr>
            <a:r>
              <a:rPr lang="en-US" altLang="en-US" dirty="0"/>
              <a:t>S-Video</a:t>
            </a:r>
            <a:endParaRPr lang="en-US" altLang="en-US" dirty="0"/>
          </a:p>
          <a:p>
            <a:pPr marL="236855" lvl="0" indent="-236855" defTabSz="814705">
              <a:buFont typeface="Wingdings" panose="05000000000000000000" pitchFamily="2" charset="2"/>
              <a:buChar char="§"/>
            </a:pPr>
            <a:r>
              <a:rPr lang="en-US" altLang="en-US" dirty="0"/>
              <a:t>Component/RGB</a:t>
            </a:r>
            <a:endParaRPr lang="en-US" altLang="en-US" dirty="0"/>
          </a:p>
        </p:txBody>
      </p:sp>
      <p:pic>
        <p:nvPicPr>
          <p:cNvPr id="75780" name="Picture 7"/>
          <p:cNvPicPr>
            <a:picLocks noChangeAspect="1"/>
          </p:cNvPicPr>
          <p:nvPr/>
        </p:nvPicPr>
        <p:blipFill>
          <a:blip r:embed="rId1"/>
          <a:stretch>
            <a:fillRect/>
          </a:stretch>
        </p:blipFill>
        <p:spPr>
          <a:xfrm>
            <a:off x="169863" y="1847850"/>
            <a:ext cx="4135437" cy="3981450"/>
          </a:xfrm>
          <a:prstGeom prst="rect">
            <a:avLst/>
          </a:prstGeom>
          <a:noFill/>
          <a:ln w="9525">
            <a:noFill/>
          </a:ln>
        </p:spPr>
      </p:pic>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ln/>
        </p:spPr>
        <p:txBody>
          <a:bodyPr vert="horz" wrap="square" lIns="82124" tIns="41061" rIns="82124" bIns="41061" anchor="b" anchorCtr="0"/>
          <a:p>
            <a:pPr eaLnBrk="1" hangingPunct="1"/>
            <a:r>
              <a:rPr lang="en-US" altLang="en-US" dirty="0"/>
              <a:t>Input Devices</a:t>
            </a:r>
            <a:endParaRPr lang="en-US" altLang="en-US" dirty="0"/>
          </a:p>
        </p:txBody>
      </p:sp>
      <p:sp>
        <p:nvSpPr>
          <p:cNvPr id="77827" name="Rectangle 6"/>
          <p:cNvSpPr>
            <a:spLocks noGrp="1"/>
          </p:cNvSpPr>
          <p:nvPr>
            <p:ph idx="1"/>
          </p:nvPr>
        </p:nvSpPr>
        <p:spPr>
          <a:xfrm>
            <a:off x="655638" y="1663700"/>
            <a:ext cx="7940675" cy="3892550"/>
          </a:xfrm>
          <a:ln/>
        </p:spPr>
        <p:txBody>
          <a:bodyPr vert="horz" wrap="square" lIns="82124" tIns="41061" rIns="82124" bIns="41061" anchor="t" anchorCtr="0"/>
          <a:p>
            <a:pPr>
              <a:buNone/>
            </a:pPr>
            <a:r>
              <a:rPr lang="en-US" altLang="en-US" dirty="0"/>
              <a:t>Input devices used to enter data or </a:t>
            </a:r>
            <a:br>
              <a:rPr lang="en-US" altLang="en-US" dirty="0"/>
            </a:br>
            <a:r>
              <a:rPr lang="en-US" altLang="en-US" dirty="0"/>
              <a:t>instructions into a computer: </a:t>
            </a:r>
            <a:endParaRPr lang="en-US" altLang="en-US" dirty="0"/>
          </a:p>
          <a:p>
            <a:r>
              <a:rPr lang="en-US" altLang="en-US" dirty="0"/>
              <a:t>Mouse and Keyboard </a:t>
            </a:r>
            <a:endParaRPr lang="en-US" altLang="en-US" dirty="0"/>
          </a:p>
          <a:p>
            <a:r>
              <a:rPr lang="en-US" altLang="en-US" dirty="0"/>
              <a:t>Digital camera and digital video </a:t>
            </a:r>
            <a:br>
              <a:rPr lang="en-US" altLang="en-US" dirty="0"/>
            </a:br>
            <a:r>
              <a:rPr lang="en-US" altLang="en-US" dirty="0"/>
              <a:t>camera </a:t>
            </a:r>
            <a:endParaRPr lang="en-US" altLang="en-US" dirty="0"/>
          </a:p>
          <a:p>
            <a:r>
              <a:rPr lang="en-US" altLang="en-US" dirty="0"/>
              <a:t>Biometric authentication device </a:t>
            </a:r>
            <a:endParaRPr lang="en-US" altLang="en-US" dirty="0"/>
          </a:p>
          <a:p>
            <a:r>
              <a:rPr lang="en-US" altLang="en-US" dirty="0"/>
              <a:t>Touch screen </a:t>
            </a:r>
            <a:endParaRPr lang="en-US" altLang="en-US" dirty="0"/>
          </a:p>
          <a:p>
            <a:r>
              <a:rPr lang="en-US" altLang="en-US" dirty="0"/>
              <a:t>Scanner </a:t>
            </a:r>
            <a:endParaRPr lang="en-US" altLang="en-US" dirty="0"/>
          </a:p>
        </p:txBody>
      </p:sp>
      <p:grpSp>
        <p:nvGrpSpPr>
          <p:cNvPr id="77828" name="Group 23"/>
          <p:cNvGrpSpPr/>
          <p:nvPr/>
        </p:nvGrpSpPr>
        <p:grpSpPr>
          <a:xfrm>
            <a:off x="6029325" y="827088"/>
            <a:ext cx="2852738" cy="2819400"/>
            <a:chOff x="1987" y="2415"/>
            <a:chExt cx="1797" cy="1776"/>
          </a:xfrm>
        </p:grpSpPr>
        <p:pic>
          <p:nvPicPr>
            <p:cNvPr id="77832" name="Picture 20"/>
            <p:cNvPicPr>
              <a:picLocks noChangeAspect="1"/>
            </p:cNvPicPr>
            <p:nvPr/>
          </p:nvPicPr>
          <p:blipFill>
            <a:blip r:embed="rId1"/>
            <a:stretch>
              <a:fillRect/>
            </a:stretch>
          </p:blipFill>
          <p:spPr>
            <a:xfrm>
              <a:off x="2061" y="2415"/>
              <a:ext cx="1614" cy="1776"/>
            </a:xfrm>
            <a:prstGeom prst="rect">
              <a:avLst/>
            </a:prstGeom>
            <a:noFill/>
            <a:ln w="9525">
              <a:noFill/>
            </a:ln>
          </p:spPr>
        </p:pic>
        <p:sp>
          <p:nvSpPr>
            <p:cNvPr id="77833" name="Text Box 12"/>
            <p:cNvSpPr txBox="1"/>
            <p:nvPr/>
          </p:nvSpPr>
          <p:spPr>
            <a:xfrm>
              <a:off x="1987" y="2423"/>
              <a:ext cx="1797" cy="275"/>
            </a:xfrm>
            <a:prstGeom prst="rect">
              <a:avLst/>
            </a:prstGeom>
            <a:solidFill>
              <a:schemeClr val="bg1"/>
            </a:solidFill>
            <a:ln w="25400" cap="flat" cmpd="sng">
              <a:solidFill>
                <a:schemeClr val="tx2"/>
              </a:solidFill>
              <a:prstDash val="solid"/>
              <a:miter/>
              <a:headEnd type="none" w="med" len="med"/>
              <a:tailEnd type="none" w="med" len="med"/>
            </a:ln>
          </p:spPr>
          <p:txBody>
            <a:bodyPr lIns="82124" tIns="41061" rIns="82124" bIns="41061">
              <a:spAutoFit/>
            </a:bodyPr>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0" lvl="0" indent="0" algn="ctr">
                <a:lnSpc>
                  <a:spcPct val="90000"/>
                </a:lnSpc>
                <a:spcBef>
                  <a:spcPct val="0"/>
                </a:spcBef>
                <a:buClrTx/>
                <a:buFontTx/>
                <a:buNone/>
              </a:pPr>
              <a:r>
                <a:rPr lang="en-US" altLang="en-US" dirty="0"/>
                <a:t>Fingerprint scanner</a:t>
              </a:r>
              <a:endParaRPr lang="en-US" altLang="en-US" dirty="0"/>
            </a:p>
          </p:txBody>
        </p:sp>
      </p:grpSp>
      <p:grpSp>
        <p:nvGrpSpPr>
          <p:cNvPr id="77829" name="Group 24"/>
          <p:cNvGrpSpPr/>
          <p:nvPr/>
        </p:nvGrpSpPr>
        <p:grpSpPr>
          <a:xfrm>
            <a:off x="5470525" y="3833813"/>
            <a:ext cx="2897188" cy="2784475"/>
            <a:chOff x="1538" y="2193"/>
            <a:chExt cx="1825" cy="1754"/>
          </a:xfrm>
        </p:grpSpPr>
        <p:pic>
          <p:nvPicPr>
            <p:cNvPr id="77830" name="Picture 21"/>
            <p:cNvPicPr>
              <a:picLocks noChangeAspect="1"/>
            </p:cNvPicPr>
            <p:nvPr/>
          </p:nvPicPr>
          <p:blipFill>
            <a:blip r:embed="rId2"/>
            <a:stretch>
              <a:fillRect/>
            </a:stretch>
          </p:blipFill>
          <p:spPr>
            <a:xfrm>
              <a:off x="1542" y="2193"/>
              <a:ext cx="1821" cy="1754"/>
            </a:xfrm>
            <a:prstGeom prst="rect">
              <a:avLst/>
            </a:prstGeom>
            <a:noFill/>
            <a:ln w="9525">
              <a:noFill/>
            </a:ln>
          </p:spPr>
        </p:pic>
        <p:sp>
          <p:nvSpPr>
            <p:cNvPr id="77831" name="Text Box 14"/>
            <p:cNvSpPr txBox="1"/>
            <p:nvPr/>
          </p:nvSpPr>
          <p:spPr>
            <a:xfrm>
              <a:off x="1538" y="2195"/>
              <a:ext cx="1349" cy="275"/>
            </a:xfrm>
            <a:prstGeom prst="rect">
              <a:avLst/>
            </a:prstGeom>
            <a:solidFill>
              <a:schemeClr val="bg1"/>
            </a:solidFill>
            <a:ln w="25400" cap="flat" cmpd="sng">
              <a:solidFill>
                <a:schemeClr val="tx2"/>
              </a:solidFill>
              <a:prstDash val="solid"/>
              <a:miter/>
              <a:headEnd type="none" w="med" len="med"/>
              <a:tailEnd type="none" w="med" len="med"/>
            </a:ln>
          </p:spPr>
          <p:txBody>
            <a:bodyPr wrap="none" lIns="82124" tIns="41061" rIns="82124" bIns="41061">
              <a:spAutoFit/>
            </a:bodyPr>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0" lvl="0" indent="0" algn="ctr">
                <a:lnSpc>
                  <a:spcPct val="90000"/>
                </a:lnSpc>
                <a:spcBef>
                  <a:spcPct val="0"/>
                </a:spcBef>
                <a:buClrTx/>
                <a:buFontTx/>
                <a:buNone/>
              </a:pPr>
              <a:r>
                <a:rPr lang="en-US" altLang="en-US" dirty="0"/>
                <a:t>Digital camera</a:t>
              </a:r>
              <a:endParaRPr lang="en-US" altLang="en-US" dirty="0"/>
            </a:p>
          </p:txBody>
        </p:sp>
      </p:gr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a:ln/>
        </p:spPr>
        <p:txBody>
          <a:bodyPr vert="horz" wrap="square" lIns="82124" tIns="41061" rIns="82124" bIns="41061" anchor="b" anchorCtr="0"/>
          <a:p>
            <a:pPr eaLnBrk="1" hangingPunct="1"/>
            <a:r>
              <a:rPr lang="en-US" altLang="en-US" dirty="0"/>
              <a:t>Monitors and Projectors</a:t>
            </a:r>
            <a:endParaRPr lang="en-US" altLang="en-US" dirty="0"/>
          </a:p>
        </p:txBody>
      </p:sp>
      <p:sp>
        <p:nvSpPr>
          <p:cNvPr id="79875" name="Rectangle 6"/>
          <p:cNvSpPr>
            <a:spLocks noGrp="1"/>
          </p:cNvSpPr>
          <p:nvPr>
            <p:ph idx="1"/>
          </p:nvPr>
        </p:nvSpPr>
        <p:spPr>
          <a:xfrm>
            <a:off x="3184525" y="1692275"/>
            <a:ext cx="5668963" cy="4930775"/>
          </a:xfrm>
          <a:ln/>
        </p:spPr>
        <p:txBody>
          <a:bodyPr vert="horz" wrap="square" lIns="82124" tIns="41061" rIns="82124" bIns="41061" anchor="t" anchorCtr="0"/>
          <a:p>
            <a:pPr>
              <a:buNone/>
            </a:pPr>
            <a:r>
              <a:rPr lang="en-US" altLang="en-US" dirty="0"/>
              <a:t>The most important difference between these monitor types is the technology used to create an image:</a:t>
            </a:r>
            <a:endParaRPr lang="en-US" altLang="en-US" dirty="0"/>
          </a:p>
          <a:p>
            <a:r>
              <a:rPr lang="en-US" altLang="en-US" dirty="0"/>
              <a:t>Cathode-ray tube (CRT) monitor is the most common monitor type. Most televisions also use this technology. </a:t>
            </a:r>
            <a:endParaRPr lang="en-US" altLang="en-US" dirty="0"/>
          </a:p>
          <a:p>
            <a:r>
              <a:rPr lang="en-US" altLang="en-US" dirty="0"/>
              <a:t>Liquid crystal display (LCD) is commonly used in laptops and some projectors. LCD comes in two forms, active matrix and passive matrix. </a:t>
            </a:r>
            <a:endParaRPr lang="en-US" altLang="en-US" dirty="0"/>
          </a:p>
          <a:p>
            <a:r>
              <a:rPr lang="en-US" altLang="en-US" dirty="0"/>
              <a:t>Digital light processing (DLP) is another technology used in projectors. </a:t>
            </a:r>
            <a:endParaRPr lang="en-US" altLang="en-US" dirty="0"/>
          </a:p>
        </p:txBody>
      </p:sp>
      <p:pic>
        <p:nvPicPr>
          <p:cNvPr id="79876" name="Picture 14"/>
          <p:cNvPicPr>
            <a:picLocks noChangeAspect="1"/>
          </p:cNvPicPr>
          <p:nvPr/>
        </p:nvPicPr>
        <p:blipFill>
          <a:blip r:embed="rId1"/>
          <a:stretch>
            <a:fillRect/>
          </a:stretch>
        </p:blipFill>
        <p:spPr>
          <a:xfrm>
            <a:off x="227013" y="1746250"/>
            <a:ext cx="1562100" cy="1866900"/>
          </a:xfrm>
          <a:prstGeom prst="rect">
            <a:avLst/>
          </a:prstGeom>
          <a:noFill/>
          <a:ln w="9525">
            <a:noFill/>
          </a:ln>
        </p:spPr>
      </p:pic>
      <p:pic>
        <p:nvPicPr>
          <p:cNvPr id="79877" name="Picture 15"/>
          <p:cNvPicPr>
            <a:picLocks noChangeAspect="1"/>
          </p:cNvPicPr>
          <p:nvPr/>
        </p:nvPicPr>
        <p:blipFill>
          <a:blip r:embed="rId2"/>
          <a:stretch>
            <a:fillRect/>
          </a:stretch>
        </p:blipFill>
        <p:spPr>
          <a:xfrm>
            <a:off x="149225" y="5251450"/>
            <a:ext cx="2444750" cy="1222375"/>
          </a:xfrm>
          <a:prstGeom prst="rect">
            <a:avLst/>
          </a:prstGeom>
          <a:noFill/>
          <a:ln w="9525">
            <a:noFill/>
          </a:ln>
        </p:spPr>
      </p:pic>
      <p:pic>
        <p:nvPicPr>
          <p:cNvPr id="79878" name="Picture 13"/>
          <p:cNvPicPr>
            <a:picLocks noChangeAspect="1"/>
          </p:cNvPicPr>
          <p:nvPr/>
        </p:nvPicPr>
        <p:blipFill>
          <a:blip r:embed="rId3"/>
          <a:stretch>
            <a:fillRect/>
          </a:stretch>
        </p:blipFill>
        <p:spPr>
          <a:xfrm>
            <a:off x="1417638" y="3495675"/>
            <a:ext cx="1612900" cy="1765300"/>
          </a:xfrm>
          <a:prstGeom prst="rect">
            <a:avLst/>
          </a:prstGeom>
          <a:noFill/>
          <a:ln w="9525">
            <a:noFill/>
          </a:ln>
        </p:spPr>
      </p:pic>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a:ln/>
        </p:spPr>
        <p:txBody>
          <a:bodyPr vert="horz" wrap="square" lIns="82124" tIns="41061" rIns="82124" bIns="41061" anchor="b" anchorCtr="0"/>
          <a:p>
            <a:pPr eaLnBrk="1" hangingPunct="1"/>
            <a:r>
              <a:rPr lang="en-US" altLang="en-US" dirty="0"/>
              <a:t>Other Output Devices</a:t>
            </a:r>
            <a:endParaRPr lang="en-US" altLang="en-US" dirty="0"/>
          </a:p>
        </p:txBody>
      </p:sp>
      <p:sp>
        <p:nvSpPr>
          <p:cNvPr id="81923" name="Rectangle 3"/>
          <p:cNvSpPr>
            <a:spLocks noGrp="1"/>
          </p:cNvSpPr>
          <p:nvPr>
            <p:ph idx="1"/>
          </p:nvPr>
        </p:nvSpPr>
        <p:spPr>
          <a:xfrm>
            <a:off x="655638" y="1616075"/>
            <a:ext cx="5845175" cy="5122863"/>
          </a:xfrm>
          <a:ln/>
        </p:spPr>
        <p:txBody>
          <a:bodyPr vert="horz" wrap="square" lIns="82124" tIns="41061" rIns="82124" bIns="41061" anchor="t" anchorCtr="0"/>
          <a:p>
            <a:r>
              <a:rPr lang="en-US" altLang="en-US" b="1" dirty="0"/>
              <a:t>Printers, Scanners, and Fax Machines </a:t>
            </a:r>
            <a:r>
              <a:rPr lang="en-US" altLang="en-US" dirty="0"/>
              <a:t>- Printers are output devices that create hard copies of computer files. Other all-in-one type printers are designed to provide multiple services such as printing, fax, and copier functions.</a:t>
            </a:r>
            <a:endParaRPr lang="en-US" altLang="en-US" dirty="0"/>
          </a:p>
          <a:p>
            <a:r>
              <a:rPr lang="en-US" altLang="en-US" b="1" dirty="0"/>
              <a:t>Speakers and headphones</a:t>
            </a:r>
            <a:r>
              <a:rPr lang="en-US" altLang="en-US" dirty="0"/>
              <a:t> are output devices for audio signals. </a:t>
            </a:r>
            <a:endParaRPr lang="en-US" altLang="en-US" dirty="0"/>
          </a:p>
          <a:p>
            <a:pPr lvl="1" indent="0">
              <a:buNone/>
            </a:pPr>
            <a:r>
              <a:rPr lang="en-US" altLang="en-US" dirty="0"/>
              <a:t>Most computers have audio support either integrated into the motherboard or on an adapter card. </a:t>
            </a:r>
            <a:endParaRPr lang="en-US" altLang="en-US" dirty="0"/>
          </a:p>
          <a:p>
            <a:pPr lvl="1" indent="0">
              <a:buNone/>
            </a:pPr>
            <a:r>
              <a:rPr lang="en-US" altLang="en-US" dirty="0"/>
              <a:t>Audio support includes ports that allow input and output of audio signals. </a:t>
            </a:r>
            <a:endParaRPr lang="en-US" altLang="en-US" dirty="0"/>
          </a:p>
        </p:txBody>
      </p:sp>
      <p:grpSp>
        <p:nvGrpSpPr>
          <p:cNvPr id="81924" name="Group 5"/>
          <p:cNvGrpSpPr/>
          <p:nvPr/>
        </p:nvGrpSpPr>
        <p:grpSpPr>
          <a:xfrm>
            <a:off x="6565900" y="4068763"/>
            <a:ext cx="2686050" cy="2459037"/>
            <a:chOff x="339" y="1833"/>
            <a:chExt cx="2615" cy="2287"/>
          </a:xfrm>
        </p:grpSpPr>
        <p:pic>
          <p:nvPicPr>
            <p:cNvPr id="81926" name="Picture 6"/>
            <p:cNvPicPr>
              <a:picLocks noChangeAspect="1"/>
            </p:cNvPicPr>
            <p:nvPr/>
          </p:nvPicPr>
          <p:blipFill>
            <a:blip r:embed="rId1"/>
            <a:stretch>
              <a:fillRect/>
            </a:stretch>
          </p:blipFill>
          <p:spPr>
            <a:xfrm>
              <a:off x="339" y="1833"/>
              <a:ext cx="2458" cy="2287"/>
            </a:xfrm>
            <a:prstGeom prst="rect">
              <a:avLst/>
            </a:prstGeom>
            <a:noFill/>
            <a:ln w="9525">
              <a:noFill/>
            </a:ln>
          </p:spPr>
        </p:pic>
        <p:sp>
          <p:nvSpPr>
            <p:cNvPr id="81927" name="Text Box 7"/>
            <p:cNvSpPr txBox="1"/>
            <p:nvPr/>
          </p:nvSpPr>
          <p:spPr>
            <a:xfrm>
              <a:off x="430" y="3622"/>
              <a:ext cx="1039" cy="282"/>
            </a:xfrm>
            <a:prstGeom prst="rect">
              <a:avLst/>
            </a:prstGeom>
            <a:noFill/>
            <a:ln w="9525">
              <a:noFill/>
            </a:ln>
          </p:spPr>
          <p:txBody>
            <a:bodyPr wrap="none" lIns="82124" tIns="41061" rIns="82124" bIns="41061">
              <a:spAutoFit/>
            </a:bodyPr>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0" lvl="0" indent="0" algn="ctr">
                <a:lnSpc>
                  <a:spcPct val="90000"/>
                </a:lnSpc>
                <a:spcBef>
                  <a:spcPct val="0"/>
                </a:spcBef>
                <a:buClrTx/>
                <a:buFontTx/>
                <a:buNone/>
              </a:pPr>
              <a:r>
                <a:rPr lang="en-US" altLang="en-US" sz="1600" b="1" dirty="0">
                  <a:solidFill>
                    <a:schemeClr val="bg1"/>
                  </a:solidFill>
                </a:rPr>
                <a:t>Speakers</a:t>
              </a:r>
              <a:endParaRPr lang="en-US" altLang="en-US" sz="1600" b="1" dirty="0">
                <a:solidFill>
                  <a:schemeClr val="bg1"/>
                </a:solidFill>
              </a:endParaRPr>
            </a:p>
          </p:txBody>
        </p:sp>
        <p:sp>
          <p:nvSpPr>
            <p:cNvPr id="81928" name="Text Box 8"/>
            <p:cNvSpPr txBox="1"/>
            <p:nvPr/>
          </p:nvSpPr>
          <p:spPr>
            <a:xfrm>
              <a:off x="1610" y="3268"/>
              <a:ext cx="1344" cy="282"/>
            </a:xfrm>
            <a:prstGeom prst="rect">
              <a:avLst/>
            </a:prstGeom>
            <a:noFill/>
            <a:ln w="9525">
              <a:noFill/>
            </a:ln>
          </p:spPr>
          <p:txBody>
            <a:bodyPr wrap="none" lIns="82124" tIns="41061" rIns="82124" bIns="41061">
              <a:spAutoFit/>
            </a:bodyPr>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0" lvl="0" indent="0" algn="ctr">
                <a:lnSpc>
                  <a:spcPct val="90000"/>
                </a:lnSpc>
                <a:spcBef>
                  <a:spcPct val="0"/>
                </a:spcBef>
                <a:buClrTx/>
                <a:buFontTx/>
                <a:buNone/>
              </a:pPr>
              <a:r>
                <a:rPr lang="en-US" altLang="en-US" sz="1600" b="1" dirty="0">
                  <a:solidFill>
                    <a:schemeClr val="bg1"/>
                  </a:solidFill>
                </a:rPr>
                <a:t>Headphones</a:t>
              </a:r>
              <a:endParaRPr lang="en-US" altLang="en-US" sz="1600" b="1" dirty="0">
                <a:solidFill>
                  <a:schemeClr val="bg1"/>
                </a:solidFill>
              </a:endParaRPr>
            </a:p>
          </p:txBody>
        </p:sp>
      </p:grpSp>
      <p:pic>
        <p:nvPicPr>
          <p:cNvPr id="81925" name="Picture 9"/>
          <p:cNvPicPr>
            <a:picLocks noChangeAspect="1"/>
          </p:cNvPicPr>
          <p:nvPr/>
        </p:nvPicPr>
        <p:blipFill>
          <a:blip r:embed="rId2"/>
          <a:stretch>
            <a:fillRect/>
          </a:stretch>
        </p:blipFill>
        <p:spPr>
          <a:xfrm>
            <a:off x="6538913" y="1292225"/>
            <a:ext cx="2532062" cy="2579688"/>
          </a:xfrm>
          <a:prstGeom prst="rect">
            <a:avLst/>
          </a:prstGeom>
          <a:noFill/>
          <a:ln w="9525">
            <a:noFill/>
          </a:ln>
        </p:spPr>
      </p:pic>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3970" name="Picture 2" descr="CNA-s4B"/>
          <p:cNvPicPr>
            <a:picLocks noChangeAspect="1"/>
          </p:cNvPicPr>
          <p:nvPr/>
        </p:nvPicPr>
        <p:blipFill>
          <a:blip r:embed="rId1"/>
          <a:stretch>
            <a:fillRect/>
          </a:stretch>
        </p:blipFill>
        <p:spPr>
          <a:xfrm>
            <a:off x="0" y="1598613"/>
            <a:ext cx="9140825" cy="3149600"/>
          </a:xfrm>
          <a:prstGeom prst="rect">
            <a:avLst/>
          </a:prstGeom>
          <a:noFill/>
          <a:ln w="9525">
            <a:noFill/>
          </a:ln>
        </p:spPr>
      </p:pic>
      <p:sp>
        <p:nvSpPr>
          <p:cNvPr id="83971" name="Rectangle 3"/>
          <p:cNvSpPr/>
          <p:nvPr/>
        </p:nvSpPr>
        <p:spPr>
          <a:xfrm>
            <a:off x="0" y="0"/>
            <a:ext cx="9144000" cy="1600200"/>
          </a:xfrm>
          <a:prstGeom prst="rect">
            <a:avLst/>
          </a:prstGeom>
          <a:solidFill>
            <a:schemeClr val="bg1"/>
          </a:solidFill>
          <a:ln w="9525">
            <a:noFill/>
          </a:ln>
        </p:spPr>
        <p:txBody>
          <a:bodyPr wrap="none" lIns="82124" tIns="41061" rIns="82124" bIns="41061" anchor="ctr" anchorCtr="0">
            <a:spAutoFit/>
          </a:bodyPr>
          <a:p>
            <a:pPr algn="ctr">
              <a:lnSpc>
                <a:spcPct val="90000"/>
              </a:lnSpc>
            </a:pPr>
            <a:endParaRPr lang="en-US" altLang="en-US" dirty="0">
              <a:latin typeface="Arial" panose="020B0604020202020204" pitchFamily="34" charset="0"/>
            </a:endParaRPr>
          </a:p>
        </p:txBody>
      </p:sp>
      <p:sp>
        <p:nvSpPr>
          <p:cNvPr id="83972" name="Rectangle 4"/>
          <p:cNvSpPr/>
          <p:nvPr/>
        </p:nvSpPr>
        <p:spPr>
          <a:xfrm>
            <a:off x="636588" y="2770188"/>
            <a:ext cx="3349625" cy="838200"/>
          </a:xfrm>
          <a:prstGeom prst="rect">
            <a:avLst/>
          </a:prstGeom>
          <a:noFill/>
          <a:ln w="9525">
            <a:noFill/>
          </a:ln>
        </p:spPr>
        <p:txBody>
          <a:bodyPr lIns="82124" tIns="41061" rIns="82124" bIns="41061" anchor="ctr" anchorCtr="0"/>
          <a:lstStyle>
            <a:lvl1pPr marL="236855" indent="-236855" algn="l" defTabSz="814705" rtl="0" eaLnBrk="0" fontAlgn="base" hangingPunct="0">
              <a:lnSpc>
                <a:spcPct val="95000"/>
              </a:lnSpc>
              <a:spcBef>
                <a:spcPct val="50000"/>
              </a:spcBef>
              <a:spcAft>
                <a:spcPct val="0"/>
              </a:spcAft>
              <a:buClr>
                <a:srgbClr val="708CA1"/>
              </a:buClr>
              <a:buFont typeface="Wingdings" panose="05000000000000000000" pitchFamily="2" charset="2"/>
              <a:buChar char="§"/>
              <a:defRPr sz="2400">
                <a:solidFill>
                  <a:schemeClr val="tx1"/>
                </a:solidFill>
                <a:latin typeface="+mn-lt"/>
                <a:ea typeface="+mn-ea"/>
                <a:cs typeface="+mn-cs"/>
              </a:defRPr>
            </a:lvl1pPr>
            <a:lvl2pPr marL="57467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2pPr>
            <a:lvl3pPr marL="914400"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3pPr>
            <a:lvl4pPr marL="1254125" indent="11747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4pPr>
            <a:lvl5pPr marL="1605280" indent="224155" algn="l" defTabSz="814705" rtl="0" eaLnBrk="0" fontAlgn="base" hangingPunct="0">
              <a:lnSpc>
                <a:spcPct val="95000"/>
              </a:lnSpc>
              <a:spcBef>
                <a:spcPct val="35000"/>
              </a:spcBef>
              <a:spcAft>
                <a:spcPct val="0"/>
              </a:spcAft>
              <a:buClr>
                <a:srgbClr val="708CA1"/>
              </a:buClr>
              <a:buChar char="»"/>
              <a:defRPr sz="2000">
                <a:solidFill>
                  <a:schemeClr val="tx1"/>
                </a:solidFill>
                <a:latin typeface="+mn-lt"/>
              </a:defRPr>
            </a:lvl5pPr>
          </a:lstStyle>
          <a:p>
            <a:pPr marL="0" lvl="0" indent="0" eaLnBrk="1" hangingPunct="1">
              <a:lnSpc>
                <a:spcPct val="90000"/>
              </a:lnSpc>
              <a:spcBef>
                <a:spcPct val="0"/>
              </a:spcBef>
              <a:buClrTx/>
              <a:buFontTx/>
              <a:buNone/>
            </a:pPr>
            <a:r>
              <a:rPr lang="en-US" altLang="en-US" sz="3000" dirty="0">
                <a:solidFill>
                  <a:srgbClr val="FFFFFF"/>
                </a:solidFill>
              </a:rPr>
              <a:t>Q and A</a:t>
            </a:r>
            <a:endParaRPr lang="en-US" altLang="en-US" sz="3000" dirty="0">
              <a:solidFill>
                <a:schemeClr val="folHlink"/>
              </a:solidFill>
            </a:endParaRPr>
          </a:p>
        </p:txBody>
      </p:sp>
    </p:spTree>
  </p:cSld>
  <p:clrMapOvr>
    <a:masterClrMapping/>
  </p:clrMapOvr>
  <p:transition>
    <p:wipe dir="r"/>
  </p:transition>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82124" tIns="41061" rIns="82124" bIns="41061" numCol="1" anchor="ctr" anchorCtr="0" compatLnSpc="1">
        <a:spAutoFit/>
      </a:bodyPr>
      <a:lstStyle>
        <a:defPPr marL="0" marR="0" indent="0" algn="ctr" defTabSz="814705" rtl="0" eaLnBrk="0" fontAlgn="base" latinLnBrk="0" hangingPunct="0">
          <a:lnSpc>
            <a:spcPct val="9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82124" tIns="41061" rIns="82124" bIns="41061" numCol="1" anchor="ctr" anchorCtr="0" compatLnSpc="1">
        <a:spAutoFit/>
      </a:bodyPr>
      <a:lstStyle>
        <a:defPPr marL="0" marR="0" indent="0" algn="ctr" defTabSz="814705" rtl="0" eaLnBrk="0" fontAlgn="base" latinLnBrk="0" hangingPunct="0">
          <a:lnSpc>
            <a:spcPct val="9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NetAcad-PPT-TMPLT-WHT_C</Template>
  <TotalTime>0</TotalTime>
  <Words>15048</Words>
  <Application>WPS Presentation</Application>
  <PresentationFormat>On-screen Show (4:3)</PresentationFormat>
  <Paragraphs>395</Paragraphs>
  <Slides>43</Slides>
  <Notes>36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43</vt:i4>
      </vt:variant>
    </vt:vector>
  </HeadingPairs>
  <TitlesOfParts>
    <vt:vector size="50" baseType="lpstr">
      <vt:lpstr>Arial</vt:lpstr>
      <vt:lpstr>SimSun</vt:lpstr>
      <vt:lpstr>Wingdings</vt:lpstr>
      <vt:lpstr>MS PGothic</vt:lpstr>
      <vt:lpstr>Microsoft YaHei</vt:lpstr>
      <vt:lpstr>Arial Unicode MS</vt:lpstr>
      <vt:lpstr>PPT-TMPLT-WHT_C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ages>28</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 PC v4.0 Chapter 1</dc:title>
  <dc:creator>Karen Alderson</dc:creator>
  <cp:lastModifiedBy>skurge</cp:lastModifiedBy>
  <cp:revision>393</cp:revision>
  <cp:lastPrinted>1999-01-27T00:54:54Z</cp:lastPrinted>
  <dcterms:created xsi:type="dcterms:W3CDTF">2006-10-23T15:07:30Z</dcterms:created>
  <dcterms:modified xsi:type="dcterms:W3CDTF">2024-05-16T22:24:05Z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943BEA5A23B94263AF23AAD645875937_12</vt:lpwstr>
  </property>
  <property fmtid="{D5CDD505-2E9C-101B-9397-08002B2CF9AE}" pid="3" name="KSOProductBuildVer">
    <vt:lpwstr>1033-12.2.0.16909</vt:lpwstr>
  </property>
</Properties>
</file>