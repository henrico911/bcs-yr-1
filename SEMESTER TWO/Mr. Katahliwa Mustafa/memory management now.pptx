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23.xml" ContentType="application/vnd.openxmlformats-officedocument.presentationml.notesSlide+xml"/>
  <Override PartName="/docProps/custom.xml" ContentType="application/vnd.openxmlformats-officedocument.custom-propertie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Default Extension="emf" ContentType="image/x-emf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6" r:id="rId1"/>
    <p:sldMasterId id="2147483675" r:id="rId2"/>
    <p:sldMasterId id="2147483677" r:id="rId3"/>
  </p:sldMasterIdLst>
  <p:notesMasterIdLst>
    <p:notesMasterId r:id="rId47"/>
  </p:notesMasterIdLst>
  <p:handoutMasterIdLst>
    <p:handoutMasterId r:id="rId48"/>
  </p:handoutMasterIdLst>
  <p:sldIdLst>
    <p:sldId id="331" r:id="rId4"/>
    <p:sldId id="408" r:id="rId5"/>
    <p:sldId id="409" r:id="rId6"/>
    <p:sldId id="410" r:id="rId7"/>
    <p:sldId id="411" r:id="rId8"/>
    <p:sldId id="412" r:id="rId9"/>
    <p:sldId id="413" r:id="rId10"/>
    <p:sldId id="414" r:id="rId11"/>
    <p:sldId id="415" r:id="rId12"/>
    <p:sldId id="416" r:id="rId13"/>
    <p:sldId id="417" r:id="rId14"/>
    <p:sldId id="418" r:id="rId15"/>
    <p:sldId id="419" r:id="rId16"/>
    <p:sldId id="422" r:id="rId17"/>
    <p:sldId id="423" r:id="rId18"/>
    <p:sldId id="424" r:id="rId19"/>
    <p:sldId id="426" r:id="rId20"/>
    <p:sldId id="395" r:id="rId21"/>
    <p:sldId id="333" r:id="rId22"/>
    <p:sldId id="335" r:id="rId23"/>
    <p:sldId id="337" r:id="rId24"/>
    <p:sldId id="396" r:id="rId25"/>
    <p:sldId id="397" r:id="rId26"/>
    <p:sldId id="398" r:id="rId27"/>
    <p:sldId id="399" r:id="rId28"/>
    <p:sldId id="400" r:id="rId29"/>
    <p:sldId id="401" r:id="rId30"/>
    <p:sldId id="402" r:id="rId31"/>
    <p:sldId id="403" r:id="rId32"/>
    <p:sldId id="404" r:id="rId33"/>
    <p:sldId id="405" r:id="rId34"/>
    <p:sldId id="406" r:id="rId35"/>
    <p:sldId id="407" r:id="rId36"/>
    <p:sldId id="338" r:id="rId37"/>
    <p:sldId id="339" r:id="rId38"/>
    <p:sldId id="341" r:id="rId39"/>
    <p:sldId id="368" r:id="rId40"/>
    <p:sldId id="342" r:id="rId41"/>
    <p:sldId id="343" r:id="rId42"/>
    <p:sldId id="351" r:id="rId43"/>
    <p:sldId id="427" r:id="rId44"/>
    <p:sldId id="428" r:id="rId45"/>
    <p:sldId id="429" r:id="rId46"/>
  </p:sldIdLst>
  <p:sldSz cx="9144000" cy="6858000" type="screen4x3"/>
  <p:notesSz cx="9309100" cy="705326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222" userDrawn="1">
          <p15:clr>
            <a:srgbClr val="A4A3A4"/>
          </p15:clr>
        </p15:guide>
        <p15:guide id="2" pos="2933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DADA"/>
    <a:srgbClr val="333399"/>
    <a:srgbClr val="003399"/>
    <a:srgbClr val="000099"/>
    <a:srgbClr val="FF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121" autoAdjust="0"/>
    <p:restoredTop sz="94431" autoAdjust="0"/>
  </p:normalViewPr>
  <p:slideViewPr>
    <p:cSldViewPr>
      <p:cViewPr varScale="1">
        <p:scale>
          <a:sx n="69" d="100"/>
          <a:sy n="69" d="100"/>
        </p:scale>
        <p:origin x="-139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1752" y="-84"/>
      </p:cViewPr>
      <p:guideLst>
        <p:guide orient="horz" pos="2222"/>
        <p:guide pos="2933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51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033891" cy="35282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2180" tIns="47933" rIns="92180" bIns="47933" numCol="1" anchor="ctr" anchorCtr="0" compatLnSpc="1">
            <a:prstTxWarp prst="textNoShape">
              <a:avLst/>
            </a:prstTxWarp>
          </a:bodyPr>
          <a:lstStyle>
            <a:lvl1pPr defTabSz="93672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75211" y="1"/>
            <a:ext cx="4033891" cy="35282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2180" tIns="47933" rIns="92180" bIns="47933" numCol="1" anchor="ctr" anchorCtr="0" compatLnSpc="1">
            <a:prstTxWarp prst="textNoShape">
              <a:avLst/>
            </a:prstTxWarp>
          </a:bodyPr>
          <a:lstStyle>
            <a:lvl1pPr algn="r" defTabSz="93672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700441"/>
            <a:ext cx="4033891" cy="35282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2180" tIns="47933" rIns="92180" bIns="47933" numCol="1" anchor="b" anchorCtr="0" compatLnSpc="1">
            <a:prstTxWarp prst="textNoShape">
              <a:avLst/>
            </a:prstTxWarp>
          </a:bodyPr>
          <a:lstStyle>
            <a:lvl1pPr defTabSz="93672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75211" y="6700441"/>
            <a:ext cx="4033891" cy="35282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2180" tIns="47933" rIns="92180" bIns="47933" numCol="1" anchor="b" anchorCtr="0" compatLnSpc="1">
            <a:prstTxWarp prst="textNoShape">
              <a:avLst/>
            </a:prstTxWarp>
          </a:bodyPr>
          <a:lstStyle>
            <a:lvl1pPr algn="r" defTabSz="936721">
              <a:defRPr sz="1300">
                <a:latin typeface="Arial" charset="0"/>
              </a:defRPr>
            </a:lvl1pPr>
          </a:lstStyle>
          <a:p>
            <a:pPr>
              <a:defRPr/>
            </a:pPr>
            <a:fld id="{AFCBD60A-A1FB-42D9-9171-22E189320D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033891" cy="35282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2180" tIns="47933" rIns="92180" bIns="47933" numCol="1" anchor="ctr" anchorCtr="0" compatLnSpc="1">
            <a:prstTxWarp prst="textNoShape">
              <a:avLst/>
            </a:prstTxWarp>
          </a:bodyPr>
          <a:lstStyle>
            <a:lvl1pPr defTabSz="93672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75211" y="1"/>
            <a:ext cx="4033891" cy="35282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2180" tIns="47933" rIns="92180" bIns="47933" numCol="1" anchor="ctr" anchorCtr="0" compatLnSpc="1">
            <a:prstTxWarp prst="textNoShape">
              <a:avLst/>
            </a:prstTxWarp>
          </a:bodyPr>
          <a:lstStyle>
            <a:lvl1pPr algn="r" defTabSz="93672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90838" y="528638"/>
            <a:ext cx="3527425" cy="264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39739" y="3350220"/>
            <a:ext cx="6829625" cy="317381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2180" tIns="47933" rIns="92180" bIns="4793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700441"/>
            <a:ext cx="4033891" cy="35282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2180" tIns="47933" rIns="92180" bIns="47933" numCol="1" anchor="b" anchorCtr="0" compatLnSpc="1">
            <a:prstTxWarp prst="textNoShape">
              <a:avLst/>
            </a:prstTxWarp>
          </a:bodyPr>
          <a:lstStyle>
            <a:lvl1pPr defTabSz="93672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275211" y="6700441"/>
            <a:ext cx="4033891" cy="35282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8596" tIns="44298" rIns="88596" bIns="44298"/>
          <a:lstStyle/>
          <a:p>
            <a:fld id="{3045B9BB-D0CE-403D-A9F6-EEB2405ABA8B}" type="slidenum">
              <a:rPr lang="en-US"/>
              <a:pPr/>
              <a:t>1</a:t>
            </a:fld>
            <a:endParaRPr lang="en-US"/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275211" y="6700441"/>
            <a:ext cx="4033891" cy="35282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8596" tIns="44298" rIns="88596" bIns="44298"/>
          <a:lstStyle/>
          <a:p>
            <a:fld id="{BFC858A9-E477-449D-BBA4-15335E3BB774}" type="slidenum">
              <a:rPr lang="en-US"/>
              <a:pPr/>
              <a:t>18</a:t>
            </a:fld>
            <a:endParaRPr lang="en-US"/>
          </a:p>
        </p:txBody>
      </p:sp>
      <p:sp>
        <p:nvSpPr>
          <p:cNvPr id="17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275211" y="6700441"/>
            <a:ext cx="4033891" cy="35282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8596" tIns="44298" rIns="88596" bIns="44298"/>
          <a:lstStyle/>
          <a:p>
            <a:fld id="{1F426632-FF84-4C29-8892-13E2AE75CAFF}" type="slidenum">
              <a:rPr lang="en-US"/>
              <a:pPr/>
              <a:t>19</a:t>
            </a:fld>
            <a:endParaRPr lang="en-US"/>
          </a:p>
        </p:txBody>
      </p:sp>
      <p:sp>
        <p:nvSpPr>
          <p:cNvPr id="178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275211" y="6700441"/>
            <a:ext cx="4033891" cy="35282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8596" tIns="44298" rIns="88596" bIns="44298"/>
          <a:lstStyle/>
          <a:p>
            <a:fld id="{4F4ECA3C-D7E3-45D6-995C-7657D7FD4610}" type="slidenum">
              <a:rPr lang="en-US"/>
              <a:pPr/>
              <a:t>20</a:t>
            </a:fld>
            <a:endParaRPr lang="en-US"/>
          </a:p>
        </p:txBody>
      </p:sp>
      <p:sp>
        <p:nvSpPr>
          <p:cNvPr id="179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275211" y="6700441"/>
            <a:ext cx="4033891" cy="35282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8596" tIns="44298" rIns="88596" bIns="44298"/>
          <a:lstStyle/>
          <a:p>
            <a:fld id="{56D5AD6B-E6D6-419C-81EC-AA047C5F5427}" type="slidenum">
              <a:rPr lang="en-US"/>
              <a:pPr/>
              <a:t>21</a:t>
            </a:fld>
            <a:endParaRPr lang="en-US"/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275211" y="6700441"/>
            <a:ext cx="4033891" cy="35282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8596" tIns="44298" rIns="88596" bIns="44298"/>
          <a:lstStyle/>
          <a:p>
            <a:fld id="{CC2546E7-B150-489E-BADC-09980E5FBC66}" type="slidenum">
              <a:rPr lang="en-US"/>
              <a:pPr/>
              <a:t>22</a:t>
            </a:fld>
            <a:endParaRPr lang="en-US"/>
          </a:p>
        </p:txBody>
      </p:sp>
      <p:sp>
        <p:nvSpPr>
          <p:cNvPr id="181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275211" y="6700441"/>
            <a:ext cx="4033891" cy="35282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8596" tIns="44298" rIns="88596" bIns="44298"/>
          <a:lstStyle/>
          <a:p>
            <a:fld id="{3B8241C2-566F-4426-8455-57222E841ED0}" type="slidenum">
              <a:rPr lang="en-US"/>
              <a:pPr/>
              <a:t>23</a:t>
            </a:fld>
            <a:endParaRPr lang="en-US"/>
          </a:p>
        </p:txBody>
      </p:sp>
      <p:sp>
        <p:nvSpPr>
          <p:cNvPr id="182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275211" y="6700441"/>
            <a:ext cx="4033891" cy="35282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8596" tIns="44298" rIns="88596" bIns="44298"/>
          <a:lstStyle/>
          <a:p>
            <a:fld id="{A8294253-4249-4BA9-ACA2-8EF6AFFE0343}" type="slidenum">
              <a:rPr lang="en-US"/>
              <a:pPr/>
              <a:t>24</a:t>
            </a:fld>
            <a:endParaRPr lang="en-US"/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275211" y="6700441"/>
            <a:ext cx="4033891" cy="35282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8596" tIns="44298" rIns="88596" bIns="44298"/>
          <a:lstStyle/>
          <a:p>
            <a:fld id="{7860ACC1-688A-4F33-9C32-C9B4074714A6}" type="slidenum">
              <a:rPr lang="en-US"/>
              <a:pPr/>
              <a:t>25</a:t>
            </a:fld>
            <a:endParaRPr lang="en-US"/>
          </a:p>
        </p:txBody>
      </p:sp>
      <p:sp>
        <p:nvSpPr>
          <p:cNvPr id="184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275211" y="6700441"/>
            <a:ext cx="4033891" cy="35282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8596" tIns="44298" rIns="88596" bIns="44298"/>
          <a:lstStyle/>
          <a:p>
            <a:fld id="{5052FD76-2ABD-4B27-B7F3-8E32D2EC13A4}" type="slidenum">
              <a:rPr lang="en-US"/>
              <a:pPr/>
              <a:t>26</a:t>
            </a:fld>
            <a:endParaRPr lang="en-US"/>
          </a:p>
        </p:txBody>
      </p:sp>
      <p:sp>
        <p:nvSpPr>
          <p:cNvPr id="185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275211" y="6700441"/>
            <a:ext cx="4033891" cy="35282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8596" tIns="44298" rIns="88596" bIns="44298"/>
          <a:lstStyle/>
          <a:p>
            <a:fld id="{2FA5C427-ADF8-4C85-9D48-6FA6CF379BD8}" type="slidenum">
              <a:rPr lang="en-US"/>
              <a:pPr/>
              <a:t>27</a:t>
            </a:fld>
            <a:endParaRPr lang="en-US"/>
          </a:p>
        </p:txBody>
      </p:sp>
      <p:sp>
        <p:nvSpPr>
          <p:cNvPr id="186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275211" y="6700441"/>
            <a:ext cx="4033891" cy="35282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8596" tIns="44298" rIns="88596" bIns="44298"/>
          <a:lstStyle/>
          <a:p>
            <a:fld id="{AA60C004-057F-4828-B4A9-55D5DBEFF2C0}" type="slidenum">
              <a:rPr lang="en-US"/>
              <a:pPr/>
              <a:t>28</a:t>
            </a:fld>
            <a:endParaRPr lang="en-US"/>
          </a:p>
        </p:txBody>
      </p:sp>
      <p:sp>
        <p:nvSpPr>
          <p:cNvPr id="187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275211" y="6700441"/>
            <a:ext cx="4033891" cy="35282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8596" tIns="44298" rIns="88596" bIns="44298"/>
          <a:lstStyle/>
          <a:p>
            <a:fld id="{547322AD-CED3-4E67-B464-37E2B14D698A}" type="slidenum">
              <a:rPr lang="en-US"/>
              <a:pPr/>
              <a:t>29</a:t>
            </a:fld>
            <a:endParaRPr lang="en-US"/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275211" y="6700441"/>
            <a:ext cx="4033891" cy="35282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8596" tIns="44298" rIns="88596" bIns="44298"/>
          <a:lstStyle/>
          <a:p>
            <a:fld id="{6F457D89-8166-4C8C-9C6D-F04EC80E7A71}" type="slidenum">
              <a:rPr lang="en-US"/>
              <a:pPr/>
              <a:t>30</a:t>
            </a:fld>
            <a:endParaRPr lang="en-US"/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275211" y="6700441"/>
            <a:ext cx="4033891" cy="35282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8596" tIns="44298" rIns="88596" bIns="44298"/>
          <a:lstStyle/>
          <a:p>
            <a:fld id="{BD5097E1-618E-4380-A9EF-21075A2BDF24}" type="slidenum">
              <a:rPr lang="en-US"/>
              <a:pPr/>
              <a:t>31</a:t>
            </a:fld>
            <a:endParaRPr lang="en-US"/>
          </a:p>
        </p:txBody>
      </p:sp>
      <p:sp>
        <p:nvSpPr>
          <p:cNvPr id="190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275211" y="6700441"/>
            <a:ext cx="4033891" cy="35282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8596" tIns="44298" rIns="88596" bIns="44298"/>
          <a:lstStyle/>
          <a:p>
            <a:fld id="{CBD1F187-F50B-4C9E-AF03-3CF853E78825}" type="slidenum">
              <a:rPr lang="en-US"/>
              <a:pPr/>
              <a:t>32</a:t>
            </a:fld>
            <a:endParaRPr lang="en-US"/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275211" y="6700441"/>
            <a:ext cx="4033891" cy="35282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8596" tIns="44298" rIns="88596" bIns="44298"/>
          <a:lstStyle/>
          <a:p>
            <a:fld id="{787D6F9A-1B47-49CE-A489-91260F9A9B6C}" type="slidenum">
              <a:rPr lang="en-US"/>
              <a:pPr/>
              <a:t>33</a:t>
            </a:fld>
            <a:endParaRPr lang="en-US"/>
          </a:p>
        </p:txBody>
      </p:sp>
      <p:sp>
        <p:nvSpPr>
          <p:cNvPr id="192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2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275211" y="6700441"/>
            <a:ext cx="4033891" cy="35282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8596" tIns="44298" rIns="88596" bIns="44298"/>
          <a:lstStyle/>
          <a:p>
            <a:fld id="{057EAFE4-AA64-4C65-9519-AF23B7888638}" type="slidenum">
              <a:rPr lang="en-US"/>
              <a:pPr/>
              <a:t>34</a:t>
            </a:fld>
            <a:endParaRPr lang="en-US"/>
          </a:p>
        </p:txBody>
      </p:sp>
      <p:sp>
        <p:nvSpPr>
          <p:cNvPr id="193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275211" y="6700441"/>
            <a:ext cx="4033891" cy="35282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8596" tIns="44298" rIns="88596" bIns="44298"/>
          <a:lstStyle/>
          <a:p>
            <a:fld id="{4E1F14D5-1917-4FBF-AC7F-04E0E4FC51C3}" type="slidenum">
              <a:rPr lang="en-US"/>
              <a:pPr/>
              <a:t>35</a:t>
            </a:fld>
            <a:endParaRPr lang="en-US"/>
          </a:p>
        </p:txBody>
      </p:sp>
      <p:sp>
        <p:nvSpPr>
          <p:cNvPr id="194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275211" y="6700441"/>
            <a:ext cx="4033891" cy="35282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8596" tIns="44298" rIns="88596" bIns="44298"/>
          <a:lstStyle/>
          <a:p>
            <a:fld id="{F079AED7-8AAB-4B5F-8C8D-721036B57888}" type="slidenum">
              <a:rPr lang="en-US"/>
              <a:pPr/>
              <a:t>36</a:t>
            </a:fld>
            <a:endParaRPr lang="en-US"/>
          </a:p>
        </p:txBody>
      </p:sp>
      <p:sp>
        <p:nvSpPr>
          <p:cNvPr id="195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275211" y="6700441"/>
            <a:ext cx="4033891" cy="35282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8596" tIns="44298" rIns="88596" bIns="44298"/>
          <a:lstStyle/>
          <a:p>
            <a:fld id="{D5E9A901-9F3B-4680-B01D-CB1C3B21CB3D}" type="slidenum">
              <a:rPr lang="en-US"/>
              <a:pPr/>
              <a:t>37</a:t>
            </a:fld>
            <a:endParaRPr lang="en-US"/>
          </a:p>
        </p:txBody>
      </p:sp>
      <p:sp>
        <p:nvSpPr>
          <p:cNvPr id="196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275211" y="6700441"/>
            <a:ext cx="4033891" cy="35282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8596" tIns="44298" rIns="88596" bIns="44298"/>
          <a:lstStyle/>
          <a:p>
            <a:fld id="{2F77AFF8-94E1-4AE1-B532-4799357A5FCF}" type="slidenum">
              <a:rPr lang="en-US"/>
              <a:pPr/>
              <a:t>38</a:t>
            </a:fld>
            <a:endParaRPr lang="en-US"/>
          </a:p>
        </p:txBody>
      </p:sp>
      <p:sp>
        <p:nvSpPr>
          <p:cNvPr id="197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275211" y="6700441"/>
            <a:ext cx="4033891" cy="35282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8596" tIns="44298" rIns="88596" bIns="44298"/>
          <a:lstStyle/>
          <a:p>
            <a:fld id="{DE5B3823-89A3-4FAC-9414-057B77112F63}" type="slidenum">
              <a:rPr lang="en-US"/>
              <a:pPr/>
              <a:t>39</a:t>
            </a:fld>
            <a:endParaRPr lang="en-US"/>
          </a:p>
        </p:txBody>
      </p:sp>
      <p:sp>
        <p:nvSpPr>
          <p:cNvPr id="198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8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275211" y="6700441"/>
            <a:ext cx="4033891" cy="35282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8596" tIns="44298" rIns="88596" bIns="44298"/>
          <a:lstStyle/>
          <a:p>
            <a:fld id="{F1AA4105-1416-48CE-B99C-1B599B09597C}" type="slidenum">
              <a:rPr lang="en-US"/>
              <a:pPr/>
              <a:t>40</a:t>
            </a:fld>
            <a:endParaRPr lang="en-US"/>
          </a:p>
        </p:txBody>
      </p:sp>
      <p:sp>
        <p:nvSpPr>
          <p:cNvPr id="199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1600200"/>
            <a:ext cx="2095500" cy="4525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61341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9425" y="190500"/>
            <a:ext cx="2124075" cy="59356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219825" cy="59356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9425" y="190500"/>
            <a:ext cx="2124075" cy="59356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219825" cy="59356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5814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r-TR"/>
              <a:t>Click to edit Master title style</a:t>
            </a:r>
          </a:p>
        </p:txBody>
      </p:sp>
      <p:sp>
        <p:nvSpPr>
          <p:cNvPr id="1027" name="Text Box 10"/>
          <p:cNvSpPr txBox="1">
            <a:spLocks noChangeArrowheads="1"/>
          </p:cNvSpPr>
          <p:nvPr userDrawn="1"/>
        </p:nvSpPr>
        <p:spPr bwMode="auto">
          <a:xfrm>
            <a:off x="381000" y="1981200"/>
            <a:ext cx="8763000" cy="9461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b="1">
                <a:solidFill>
                  <a:schemeClr val="accent2"/>
                </a:solidFill>
                <a:latin typeface="Arial" charset="0"/>
              </a:rPr>
              <a:t>BCS 1203</a:t>
            </a:r>
          </a:p>
          <a:p>
            <a:pPr algn="ctr">
              <a:defRPr/>
            </a:pPr>
            <a:r>
              <a:rPr lang="en-US" b="1">
                <a:solidFill>
                  <a:schemeClr val="accent2"/>
                </a:solidFill>
                <a:latin typeface="Arial" charset="0"/>
              </a:rPr>
              <a:t>Computer Organization &amp; Architecture</a:t>
            </a:r>
            <a:endParaRPr lang="tr-TR" b="1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1028" name="AutoShape 12"/>
          <p:cNvSpPr>
            <a:spLocks noChangeArrowheads="1"/>
          </p:cNvSpPr>
          <p:nvPr userDrawn="1"/>
        </p:nvSpPr>
        <p:spPr bwMode="auto">
          <a:xfrm>
            <a:off x="8534400" y="6400800"/>
            <a:ext cx="609600" cy="457200"/>
          </a:xfrm>
          <a:prstGeom prst="sun">
            <a:avLst>
              <a:gd name="adj" fmla="val 25000"/>
            </a:avLst>
          </a:prstGeom>
          <a:gradFill rotWithShape="1">
            <a:gsLst>
              <a:gs pos="0">
                <a:schemeClr val="hlink"/>
              </a:gs>
              <a:gs pos="100000">
                <a:srgbClr val="333399"/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fld id="{79E63DBB-268D-4DA4-BE58-980023337CCE}" type="slidenum">
              <a:rPr lang="en-US" sz="1400" b="1">
                <a:solidFill>
                  <a:schemeClr val="bg1"/>
                </a:solidFill>
                <a:latin typeface="Tahoma" pitchFamily="34" charset="0"/>
              </a:rPr>
              <a:pPr algn="ctr">
                <a:defRPr/>
              </a:pPr>
              <a:t>‹#›</a:t>
            </a:fld>
            <a:endParaRPr lang="tr-TR" sz="1400" b="1">
              <a:solidFill>
                <a:schemeClr val="bg1"/>
              </a:solidFill>
              <a:latin typeface="Tahoma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9"/>
          <p:cNvSpPr txBox="1">
            <a:spLocks noChangeArrowheads="1"/>
          </p:cNvSpPr>
          <p:nvPr userDrawn="1"/>
        </p:nvSpPr>
        <p:spPr bwMode="auto">
          <a:xfrm rot="-5400000">
            <a:off x="-3275012" y="3276600"/>
            <a:ext cx="6858000" cy="3048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400" b="1">
                <a:solidFill>
                  <a:schemeClr val="bg1"/>
                </a:solidFill>
                <a:latin typeface="Tahoma" pitchFamily="34" charset="0"/>
              </a:rPr>
              <a:t>CSIT 255 Computer Organization &amp; Architecture</a:t>
            </a:r>
            <a:endParaRPr lang="tr-TR" sz="1400" b="1">
              <a:solidFill>
                <a:schemeClr val="bg1"/>
              </a:solidFill>
              <a:latin typeface="Tahoma" pitchFamily="34" charset="0"/>
            </a:endParaRPr>
          </a:p>
        </p:txBody>
      </p:sp>
      <p:grpSp>
        <p:nvGrpSpPr>
          <p:cNvPr id="14339" name="Group 10"/>
          <p:cNvGrpSpPr>
            <a:grpSpLocks/>
          </p:cNvGrpSpPr>
          <p:nvPr userDrawn="1"/>
        </p:nvGrpSpPr>
        <p:grpSpPr bwMode="auto">
          <a:xfrm>
            <a:off x="381000" y="0"/>
            <a:ext cx="8763000" cy="1052513"/>
            <a:chOff x="0" y="1536"/>
            <a:chExt cx="5675" cy="663"/>
          </a:xfrm>
        </p:grpSpPr>
        <p:grpSp>
          <p:nvGrpSpPr>
            <p:cNvPr id="14342" name="Group 11"/>
            <p:cNvGrpSpPr>
              <a:grpSpLocks/>
            </p:cNvGrpSpPr>
            <p:nvPr userDrawn="1"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061" name="Rectangle 12"/>
              <p:cNvSpPr>
                <a:spLocks noChangeArrowheads="1"/>
              </p:cNvSpPr>
              <p:nvPr userDrawn="1"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062" name="Rectangle 13"/>
              <p:cNvSpPr>
                <a:spLocks noChangeArrowheads="1"/>
              </p:cNvSpPr>
              <p:nvPr userDrawn="1"/>
            </p:nvSpPr>
            <p:spPr bwMode="auto">
              <a:xfrm>
                <a:off x="1057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14343" name="Group 14"/>
            <p:cNvGrpSpPr>
              <a:grpSpLocks/>
            </p:cNvGrpSpPr>
            <p:nvPr userDrawn="1"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059" name="Rectangle 15"/>
              <p:cNvSpPr>
                <a:spLocks noChangeArrowheads="1"/>
              </p:cNvSpPr>
              <p:nvPr userDrawn="1"/>
            </p:nvSpPr>
            <p:spPr bwMode="auto">
              <a:xfrm>
                <a:off x="912" y="2640"/>
                <a:ext cx="383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060" name="Rectangle 16"/>
              <p:cNvSpPr>
                <a:spLocks noChangeArrowheads="1"/>
              </p:cNvSpPr>
              <p:nvPr userDrawn="1"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2056" name="Rectangle 17"/>
            <p:cNvSpPr>
              <a:spLocks noChangeArrowheads="1"/>
            </p:cNvSpPr>
            <p:nvPr userDrawn="1"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57" name="Rectangle 18"/>
            <p:cNvSpPr>
              <a:spLocks noChangeArrowheads="1"/>
            </p:cNvSpPr>
            <p:nvPr userDrawn="1"/>
          </p:nvSpPr>
          <p:spPr bwMode="auto">
            <a:xfrm>
              <a:off x="400" y="1536"/>
              <a:ext cx="21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58" name="Rectangle 19"/>
            <p:cNvSpPr>
              <a:spLocks noChangeArrowheads="1"/>
            </p:cNvSpPr>
            <p:nvPr userDrawn="1"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4340" name="Rectangle 20"/>
          <p:cNvSpPr>
            <a:spLocks noGrp="1" noChangeArrowheads="1"/>
          </p:cNvSpPr>
          <p:nvPr>
            <p:ph type="title"/>
          </p:nvPr>
        </p:nvSpPr>
        <p:spPr bwMode="auto">
          <a:xfrm>
            <a:off x="1409700" y="190500"/>
            <a:ext cx="7543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r-TR"/>
              <a:t>Click to edit Master title style</a:t>
            </a:r>
          </a:p>
        </p:txBody>
      </p:sp>
      <p:sp>
        <p:nvSpPr>
          <p:cNvPr id="2053" name="AutoShape 23"/>
          <p:cNvSpPr>
            <a:spLocks noChangeArrowheads="1"/>
          </p:cNvSpPr>
          <p:nvPr userDrawn="1"/>
        </p:nvSpPr>
        <p:spPr bwMode="auto">
          <a:xfrm>
            <a:off x="8534400" y="6400800"/>
            <a:ext cx="609600" cy="457200"/>
          </a:xfrm>
          <a:prstGeom prst="sun">
            <a:avLst>
              <a:gd name="adj" fmla="val 25000"/>
            </a:avLst>
          </a:prstGeom>
          <a:gradFill rotWithShape="1">
            <a:gsLst>
              <a:gs pos="0">
                <a:schemeClr val="hlink"/>
              </a:gs>
              <a:gs pos="100000">
                <a:srgbClr val="333399"/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fld id="{CEAF16B7-A39E-4C12-A782-12F1E29B7981}" type="slidenum">
              <a:rPr lang="en-US" sz="1400" b="1">
                <a:solidFill>
                  <a:schemeClr val="bg1"/>
                </a:solidFill>
                <a:latin typeface="Tahoma" pitchFamily="34" charset="0"/>
              </a:rPr>
              <a:pPr algn="ctr">
                <a:defRPr/>
              </a:pPr>
              <a:t>‹#›</a:t>
            </a:fld>
            <a:endParaRPr lang="tr-TR" sz="1400" b="1">
              <a:solidFill>
                <a:schemeClr val="bg1"/>
              </a:solidFill>
              <a:latin typeface="Tahoma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FF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FF0000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FF0000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FF0000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FF0000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rgbClr val="FF0000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rgbClr val="FF0000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rgbClr val="FF0000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rgbClr val="FF0000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 userDrawn="1"/>
        </p:nvSpPr>
        <p:spPr bwMode="auto">
          <a:xfrm rot="-5400000">
            <a:off x="-3275012" y="3276600"/>
            <a:ext cx="6858000" cy="3048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400" b="1">
                <a:solidFill>
                  <a:schemeClr val="bg1"/>
                </a:solidFill>
                <a:latin typeface="Tahoma" pitchFamily="34" charset="0"/>
              </a:rPr>
              <a:t>CSIT 255 Computer Organization &amp; Architecture</a:t>
            </a:r>
            <a:endParaRPr lang="tr-TR" sz="1400" b="1">
              <a:solidFill>
                <a:schemeClr val="bg1"/>
              </a:solidFill>
              <a:latin typeface="Tahoma" pitchFamily="34" charset="0"/>
            </a:endParaRPr>
          </a:p>
        </p:txBody>
      </p:sp>
      <p:grpSp>
        <p:nvGrpSpPr>
          <p:cNvPr id="15363" name="Group 3"/>
          <p:cNvGrpSpPr>
            <a:grpSpLocks/>
          </p:cNvGrpSpPr>
          <p:nvPr userDrawn="1"/>
        </p:nvGrpSpPr>
        <p:grpSpPr bwMode="auto">
          <a:xfrm>
            <a:off x="381000" y="0"/>
            <a:ext cx="8763000" cy="1052513"/>
            <a:chOff x="0" y="1536"/>
            <a:chExt cx="5675" cy="663"/>
          </a:xfrm>
        </p:grpSpPr>
        <p:grpSp>
          <p:nvGrpSpPr>
            <p:cNvPr id="15375" name="Group 4"/>
            <p:cNvGrpSpPr>
              <a:grpSpLocks/>
            </p:cNvGrpSpPr>
            <p:nvPr userDrawn="1"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3094" name="Rectangle 5"/>
              <p:cNvSpPr>
                <a:spLocks noChangeArrowheads="1"/>
              </p:cNvSpPr>
              <p:nvPr userDrawn="1"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095" name="Rectangle 6"/>
              <p:cNvSpPr>
                <a:spLocks noChangeArrowheads="1"/>
              </p:cNvSpPr>
              <p:nvPr userDrawn="1"/>
            </p:nvSpPr>
            <p:spPr bwMode="auto">
              <a:xfrm>
                <a:off x="1057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15376" name="Group 7"/>
            <p:cNvGrpSpPr>
              <a:grpSpLocks/>
            </p:cNvGrpSpPr>
            <p:nvPr userDrawn="1"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3092" name="Rectangle 8"/>
              <p:cNvSpPr>
                <a:spLocks noChangeArrowheads="1"/>
              </p:cNvSpPr>
              <p:nvPr userDrawn="1"/>
            </p:nvSpPr>
            <p:spPr bwMode="auto">
              <a:xfrm>
                <a:off x="912" y="2640"/>
                <a:ext cx="383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093" name="Rectangle 9"/>
              <p:cNvSpPr>
                <a:spLocks noChangeArrowheads="1"/>
              </p:cNvSpPr>
              <p:nvPr userDrawn="1"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3089" name="Rectangle 10"/>
            <p:cNvSpPr>
              <a:spLocks noChangeArrowheads="1"/>
            </p:cNvSpPr>
            <p:nvPr userDrawn="1"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90" name="Rectangle 11"/>
            <p:cNvSpPr>
              <a:spLocks noChangeArrowheads="1"/>
            </p:cNvSpPr>
            <p:nvPr userDrawn="1"/>
          </p:nvSpPr>
          <p:spPr bwMode="auto">
            <a:xfrm>
              <a:off x="400" y="1536"/>
              <a:ext cx="21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91" name="Rectangle 12"/>
            <p:cNvSpPr>
              <a:spLocks noChangeArrowheads="1"/>
            </p:cNvSpPr>
            <p:nvPr userDrawn="1"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5364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1409700" y="190500"/>
            <a:ext cx="7543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r-TR"/>
              <a:t>Click to edit Master title style</a:t>
            </a:r>
          </a:p>
        </p:txBody>
      </p:sp>
      <p:sp>
        <p:nvSpPr>
          <p:cNvPr id="3077" name="AutoShape 14"/>
          <p:cNvSpPr>
            <a:spLocks noChangeArrowheads="1"/>
          </p:cNvSpPr>
          <p:nvPr userDrawn="1"/>
        </p:nvSpPr>
        <p:spPr bwMode="auto">
          <a:xfrm>
            <a:off x="8534400" y="6400800"/>
            <a:ext cx="609600" cy="457200"/>
          </a:xfrm>
          <a:prstGeom prst="sun">
            <a:avLst>
              <a:gd name="adj" fmla="val 25000"/>
            </a:avLst>
          </a:prstGeom>
          <a:gradFill rotWithShape="1">
            <a:gsLst>
              <a:gs pos="0">
                <a:schemeClr val="hlink"/>
              </a:gs>
              <a:gs pos="100000">
                <a:srgbClr val="333399"/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fld id="{C89356C3-2F5E-4D65-B690-2BD74C549077}" type="slidenum">
              <a:rPr lang="en-US" sz="1400" b="1">
                <a:solidFill>
                  <a:schemeClr val="bg1"/>
                </a:solidFill>
                <a:latin typeface="Tahoma" pitchFamily="34" charset="0"/>
              </a:rPr>
              <a:pPr algn="ctr">
                <a:defRPr/>
              </a:pPr>
              <a:t>‹#›</a:t>
            </a:fld>
            <a:endParaRPr lang="tr-TR" sz="1400" b="1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3078" name="Oval 15"/>
          <p:cNvSpPr>
            <a:spLocks noChangeArrowheads="1"/>
          </p:cNvSpPr>
          <p:nvPr userDrawn="1"/>
        </p:nvSpPr>
        <p:spPr bwMode="auto">
          <a:xfrm>
            <a:off x="3848100" y="1943100"/>
            <a:ext cx="1905000" cy="1752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079" name="AutoShape 16"/>
          <p:cNvSpPr>
            <a:spLocks noChangeArrowheads="1"/>
          </p:cNvSpPr>
          <p:nvPr userDrawn="1"/>
        </p:nvSpPr>
        <p:spPr bwMode="auto">
          <a:xfrm>
            <a:off x="2247900" y="2400300"/>
            <a:ext cx="1600200" cy="762000"/>
          </a:xfrm>
          <a:prstGeom prst="rightArrow">
            <a:avLst>
              <a:gd name="adj1" fmla="val 50000"/>
              <a:gd name="adj2" fmla="val 5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800" b="1">
                <a:solidFill>
                  <a:srgbClr val="008000"/>
                </a:solidFill>
                <a:latin typeface="Arial" charset="0"/>
              </a:rPr>
              <a:t>NEW</a:t>
            </a:r>
            <a:endParaRPr lang="tr-TR" sz="1800" b="1">
              <a:solidFill>
                <a:srgbClr val="008000"/>
              </a:solidFill>
              <a:latin typeface="Arial" charset="0"/>
            </a:endParaRPr>
          </a:p>
        </p:txBody>
      </p:sp>
      <p:sp>
        <p:nvSpPr>
          <p:cNvPr id="3080" name="AutoShape 17"/>
          <p:cNvSpPr>
            <a:spLocks noChangeArrowheads="1"/>
          </p:cNvSpPr>
          <p:nvPr userDrawn="1"/>
        </p:nvSpPr>
        <p:spPr bwMode="auto">
          <a:xfrm>
            <a:off x="5753100" y="2400300"/>
            <a:ext cx="1600200" cy="762000"/>
          </a:xfrm>
          <a:prstGeom prst="rightArrow">
            <a:avLst>
              <a:gd name="adj1" fmla="val 50000"/>
              <a:gd name="adj2" fmla="val 5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800" b="1">
                <a:solidFill>
                  <a:srgbClr val="008000"/>
                </a:solidFill>
                <a:latin typeface="Arial" charset="0"/>
              </a:rPr>
              <a:t>EXIT</a:t>
            </a:r>
            <a:endParaRPr lang="tr-TR" sz="1800" b="1">
              <a:solidFill>
                <a:srgbClr val="008000"/>
              </a:solidFill>
              <a:latin typeface="Arial" charset="0"/>
            </a:endParaRPr>
          </a:p>
        </p:txBody>
      </p:sp>
      <p:sp>
        <p:nvSpPr>
          <p:cNvPr id="3081" name="Text Box 18"/>
          <p:cNvSpPr txBox="1">
            <a:spLocks noChangeArrowheads="1"/>
          </p:cNvSpPr>
          <p:nvPr userDrawn="1"/>
        </p:nvSpPr>
        <p:spPr bwMode="auto">
          <a:xfrm>
            <a:off x="3784600" y="3695700"/>
            <a:ext cx="1892300" cy="3667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sz="1800" b="1">
                <a:solidFill>
                  <a:srgbClr val="008000"/>
                </a:solidFill>
                <a:latin typeface="Arial" charset="0"/>
              </a:rPr>
              <a:t>running state</a:t>
            </a:r>
            <a:endParaRPr lang="tr-TR" sz="1800" b="1">
              <a:solidFill>
                <a:srgbClr val="008000"/>
              </a:solidFill>
              <a:latin typeface="Arial" charset="0"/>
            </a:endParaRPr>
          </a:p>
        </p:txBody>
      </p:sp>
      <p:sp>
        <p:nvSpPr>
          <p:cNvPr id="3082" name="Rectangle 19"/>
          <p:cNvSpPr>
            <a:spLocks noChangeArrowheads="1"/>
          </p:cNvSpPr>
          <p:nvPr userDrawn="1"/>
        </p:nvSpPr>
        <p:spPr bwMode="auto">
          <a:xfrm>
            <a:off x="4457700" y="15367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000" b="1">
                <a:solidFill>
                  <a:srgbClr val="008000"/>
                </a:solidFill>
                <a:latin typeface="Arial" charset="0"/>
              </a:rPr>
              <a:t>CPU</a:t>
            </a:r>
          </a:p>
        </p:txBody>
      </p:sp>
      <p:sp>
        <p:nvSpPr>
          <p:cNvPr id="3083" name="AutoShape 20"/>
          <p:cNvSpPr>
            <a:spLocks noChangeArrowheads="1"/>
          </p:cNvSpPr>
          <p:nvPr userDrawn="1"/>
        </p:nvSpPr>
        <p:spPr bwMode="auto">
          <a:xfrm rot="-2500985">
            <a:off x="5651500" y="3238500"/>
            <a:ext cx="558800" cy="1295400"/>
          </a:xfrm>
          <a:prstGeom prst="upDownArrow">
            <a:avLst>
              <a:gd name="adj1" fmla="val 50000"/>
              <a:gd name="adj2" fmla="val 4636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084" name="Oval 21"/>
          <p:cNvSpPr>
            <a:spLocks noChangeArrowheads="1"/>
          </p:cNvSpPr>
          <p:nvPr userDrawn="1"/>
        </p:nvSpPr>
        <p:spPr bwMode="auto">
          <a:xfrm>
            <a:off x="6057900" y="4152900"/>
            <a:ext cx="1905000" cy="1752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085" name="Rectangle 22"/>
          <p:cNvSpPr>
            <a:spLocks noChangeArrowheads="1"/>
          </p:cNvSpPr>
          <p:nvPr userDrawn="1"/>
        </p:nvSpPr>
        <p:spPr bwMode="auto">
          <a:xfrm>
            <a:off x="6591300" y="36957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000" b="1">
                <a:solidFill>
                  <a:srgbClr val="008000"/>
                </a:solidFill>
                <a:latin typeface="Arial" charset="0"/>
              </a:rPr>
              <a:t>I/O</a:t>
            </a:r>
          </a:p>
        </p:txBody>
      </p:sp>
      <p:sp>
        <p:nvSpPr>
          <p:cNvPr id="3086" name="Text Box 23"/>
          <p:cNvSpPr txBox="1">
            <a:spLocks noChangeArrowheads="1"/>
          </p:cNvSpPr>
          <p:nvPr userDrawn="1"/>
        </p:nvSpPr>
        <p:spPr bwMode="auto">
          <a:xfrm>
            <a:off x="6210300" y="5981700"/>
            <a:ext cx="1892300" cy="3667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sz="1800" b="1">
                <a:solidFill>
                  <a:srgbClr val="008000"/>
                </a:solidFill>
                <a:latin typeface="Arial" charset="0"/>
              </a:rPr>
              <a:t>waiting state</a:t>
            </a:r>
            <a:endParaRPr lang="tr-TR" sz="1800" b="1">
              <a:solidFill>
                <a:srgbClr val="008000"/>
              </a:solidFill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FF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FF0000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FF0000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FF0000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FF0000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rgbClr val="FF0000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rgbClr val="FF0000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rgbClr val="FF0000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rgbClr val="FF0000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3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4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5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ext Box 2"/>
          <p:cNvSpPr txBox="1">
            <a:spLocks noChangeArrowheads="1"/>
          </p:cNvSpPr>
          <p:nvPr/>
        </p:nvSpPr>
        <p:spPr bwMode="auto">
          <a:xfrm>
            <a:off x="685800" y="1295400"/>
            <a:ext cx="7772400" cy="521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 dirty="0">
                <a:solidFill>
                  <a:srgbClr val="333399"/>
                </a:solidFill>
              </a:rPr>
              <a:t>In a </a:t>
            </a:r>
            <a:r>
              <a:rPr lang="en-GB" b="1" dirty="0" err="1">
                <a:solidFill>
                  <a:srgbClr val="333399"/>
                </a:solidFill>
              </a:rPr>
              <a:t>uniprogramming</a:t>
            </a:r>
            <a:r>
              <a:rPr lang="en-GB" b="1" dirty="0">
                <a:solidFill>
                  <a:srgbClr val="333399"/>
                </a:solidFill>
              </a:rPr>
              <a:t> system, main memory is divided into two parts:</a:t>
            </a:r>
          </a:p>
          <a:p>
            <a:pPr>
              <a:buFontTx/>
              <a:buChar char="•"/>
            </a:pPr>
            <a:r>
              <a:rPr lang="en-GB" b="1" dirty="0">
                <a:solidFill>
                  <a:srgbClr val="333399"/>
                </a:solidFill>
              </a:rPr>
              <a:t> </a:t>
            </a:r>
            <a:r>
              <a:rPr lang="en-GB" b="1" dirty="0">
                <a:solidFill>
                  <a:srgbClr val="FF0000"/>
                </a:solidFill>
              </a:rPr>
              <a:t>One part for operating system</a:t>
            </a:r>
            <a:r>
              <a:rPr lang="en-GB" b="1" dirty="0">
                <a:solidFill>
                  <a:srgbClr val="333399"/>
                </a:solidFill>
              </a:rPr>
              <a:t>.</a:t>
            </a:r>
          </a:p>
          <a:p>
            <a:pPr>
              <a:buFontTx/>
              <a:buChar char="•"/>
            </a:pPr>
            <a:r>
              <a:rPr lang="en-GB" b="1" dirty="0">
                <a:solidFill>
                  <a:srgbClr val="333399"/>
                </a:solidFill>
              </a:rPr>
              <a:t> </a:t>
            </a:r>
            <a:r>
              <a:rPr lang="en-GB" b="1" dirty="0">
                <a:solidFill>
                  <a:srgbClr val="FF0000"/>
                </a:solidFill>
              </a:rPr>
              <a:t>One part for program currently being executed</a:t>
            </a:r>
            <a:r>
              <a:rPr lang="en-GB" b="1" dirty="0">
                <a:solidFill>
                  <a:srgbClr val="333399"/>
                </a:solidFill>
              </a:rPr>
              <a:t>.</a:t>
            </a:r>
          </a:p>
          <a:p>
            <a:endParaRPr lang="en-GB" b="1" dirty="0">
              <a:solidFill>
                <a:srgbClr val="333399"/>
              </a:solidFill>
            </a:endParaRPr>
          </a:p>
          <a:p>
            <a:r>
              <a:rPr lang="en-GB" b="1" dirty="0">
                <a:solidFill>
                  <a:srgbClr val="333399"/>
                </a:solidFill>
              </a:rPr>
              <a:t>In a </a:t>
            </a:r>
            <a:r>
              <a:rPr lang="en-GB" b="1" dirty="0">
                <a:solidFill>
                  <a:srgbClr val="FF0000"/>
                </a:solidFill>
              </a:rPr>
              <a:t>multiprogramming system</a:t>
            </a:r>
            <a:r>
              <a:rPr lang="en-GB" b="1" dirty="0">
                <a:solidFill>
                  <a:srgbClr val="333399"/>
                </a:solidFill>
              </a:rPr>
              <a:t>, “user” part of memory is subdivided to accommodate multiple processes.</a:t>
            </a:r>
          </a:p>
          <a:p>
            <a:endParaRPr lang="en-GB" b="1" dirty="0">
              <a:solidFill>
                <a:srgbClr val="333399"/>
              </a:solidFill>
            </a:endParaRPr>
          </a:p>
          <a:p>
            <a:r>
              <a:rPr lang="en-GB" b="1" dirty="0">
                <a:solidFill>
                  <a:srgbClr val="333399"/>
                </a:solidFill>
              </a:rPr>
              <a:t>Task of subdivision is carried out dynamically by operating system and is known as </a:t>
            </a:r>
            <a:r>
              <a:rPr lang="en-GB" b="1" dirty="0">
                <a:solidFill>
                  <a:srgbClr val="FF0000"/>
                </a:solidFill>
              </a:rPr>
              <a:t>memory management</a:t>
            </a:r>
            <a:r>
              <a:rPr lang="en-GB" b="1" dirty="0">
                <a:solidFill>
                  <a:srgbClr val="333399"/>
                </a:solidFill>
              </a:rPr>
              <a:t>.</a:t>
            </a:r>
          </a:p>
        </p:txBody>
      </p:sp>
      <p:sp>
        <p:nvSpPr>
          <p:cNvPr id="99331" name="Text Box 3"/>
          <p:cNvSpPr txBox="1">
            <a:spLocks noChangeArrowheads="1"/>
          </p:cNvSpPr>
          <p:nvPr/>
        </p:nvSpPr>
        <p:spPr bwMode="auto">
          <a:xfrm>
            <a:off x="1524000" y="346075"/>
            <a:ext cx="6858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Memory 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Objectives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827088" y="1425575"/>
            <a:ext cx="6651625" cy="4440238"/>
          </a:xfrm>
        </p:spPr>
        <p:txBody>
          <a:bodyPr/>
          <a:lstStyle/>
          <a:p>
            <a:pPr eaLnBrk="1" hangingPunct="1"/>
            <a:r>
              <a:rPr lang="en-US" dirty="0"/>
              <a:t>To provide a detailed description of various ways of organizing memory hardware</a:t>
            </a:r>
          </a:p>
          <a:p>
            <a:pPr eaLnBrk="1" hangingPunct="1"/>
            <a:r>
              <a:rPr lang="en-US" dirty="0"/>
              <a:t>To discuss various memory-management techniques, including paging and segmentation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231063" cy="609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Background</a:t>
            </a:r>
          </a:p>
        </p:txBody>
      </p:sp>
      <p:sp>
        <p:nvSpPr>
          <p:cNvPr id="8195" name="Rectangle 1027"/>
          <p:cNvSpPr>
            <a:spLocks noGrp="1" noChangeArrowheads="1"/>
          </p:cNvSpPr>
          <p:nvPr>
            <p:ph idx="1"/>
          </p:nvPr>
        </p:nvSpPr>
        <p:spPr>
          <a:xfrm>
            <a:off x="762000" y="1377950"/>
            <a:ext cx="7351713" cy="4483100"/>
          </a:xfrm>
        </p:spPr>
        <p:txBody>
          <a:bodyPr/>
          <a:lstStyle/>
          <a:p>
            <a:pPr eaLnBrk="1" hangingPunct="1"/>
            <a:r>
              <a:rPr lang="en-US" sz="2800" dirty="0"/>
              <a:t>Program must be brought (from disk)  into memory and placed within a process for it to be run</a:t>
            </a:r>
          </a:p>
          <a:p>
            <a:pPr eaLnBrk="1" hangingPunct="1"/>
            <a:r>
              <a:rPr lang="en-US" sz="2800" dirty="0"/>
              <a:t>Main memory and registers are only storage CPU can access directly</a:t>
            </a:r>
          </a:p>
          <a:p>
            <a:pPr eaLnBrk="1" hangingPunct="1"/>
            <a:r>
              <a:rPr lang="en-US" sz="2800" dirty="0"/>
              <a:t>Register access in one CPU clock (or less)</a:t>
            </a:r>
          </a:p>
          <a:p>
            <a:pPr eaLnBrk="1" hangingPunct="1"/>
            <a:r>
              <a:rPr lang="en-US" sz="2800" dirty="0"/>
              <a:t>Main memory can take many cycles</a:t>
            </a:r>
          </a:p>
          <a:p>
            <a:pPr eaLnBrk="1" hangingPunct="1"/>
            <a:r>
              <a:rPr lang="en-US" sz="2800" b="1" dirty="0"/>
              <a:t>Cache</a:t>
            </a:r>
            <a:r>
              <a:rPr lang="en-US" sz="2800" dirty="0"/>
              <a:t> sits between main memory and CPU registers</a:t>
            </a:r>
          </a:p>
          <a:p>
            <a:pPr eaLnBrk="1" hangingPunct="1"/>
            <a:r>
              <a:rPr lang="en-US" sz="2800" dirty="0"/>
              <a:t>Protection of memory required to ensure correct operation</a:t>
            </a:r>
          </a:p>
          <a:p>
            <a:pPr eaLnBrk="1" hangingPunct="1">
              <a:buFont typeface="Monotype Sorts" pitchFamily="2" charset="2"/>
              <a:buNone/>
            </a:pPr>
            <a:endParaRPr lang="en-US" sz="28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231063" cy="609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Base and Limit Registers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377950"/>
            <a:ext cx="7351713" cy="4483100"/>
          </a:xfrm>
        </p:spPr>
        <p:txBody>
          <a:bodyPr/>
          <a:lstStyle/>
          <a:p>
            <a:pPr eaLnBrk="1" hangingPunct="1"/>
            <a:r>
              <a:rPr lang="en-US" sz="1800"/>
              <a:t>A pair of </a:t>
            </a:r>
            <a:r>
              <a:rPr lang="en-US" sz="1800" b="1">
                <a:solidFill>
                  <a:srgbClr val="FF0000"/>
                </a:solidFill>
              </a:rPr>
              <a:t>base</a:t>
            </a:r>
            <a:r>
              <a:rPr lang="en-US" sz="1800"/>
              <a:t> and</a:t>
            </a:r>
            <a:r>
              <a:rPr lang="en-US" sz="1800" b="1">
                <a:solidFill>
                  <a:srgbClr val="FF0000"/>
                </a:solidFill>
              </a:rPr>
              <a:t> limit</a:t>
            </a:r>
            <a:r>
              <a:rPr lang="en-US" sz="1800"/>
              <a:t> registers define the logical address space</a:t>
            </a: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/>
          <a:srcRect l="18016" t="906" r="18016" b="1501"/>
          <a:stretch>
            <a:fillRect/>
          </a:stretch>
        </p:blipFill>
        <p:spPr bwMode="auto">
          <a:xfrm>
            <a:off x="2816225" y="2179638"/>
            <a:ext cx="3355975" cy="3840162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09650" y="0"/>
            <a:ext cx="8134350" cy="4572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/>
              <a:t>Binding of Instructions and Data to Memory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457200"/>
            <a:ext cx="7029450" cy="4114800"/>
          </a:xfrm>
        </p:spPr>
        <p:txBody>
          <a:bodyPr/>
          <a:lstStyle/>
          <a:p>
            <a:pPr eaLnBrk="1" hangingPunct="1">
              <a:buFont typeface="Monotype Sorts" pitchFamily="2" charset="2"/>
              <a:buNone/>
            </a:pPr>
            <a:endParaRPr lang="en-US" sz="1800" dirty="0"/>
          </a:p>
          <a:p>
            <a:pPr eaLnBrk="1" hangingPunct="1"/>
            <a:r>
              <a:rPr lang="en-US" sz="2800" dirty="0"/>
              <a:t>Address binding of instructions and data to memory addresses can happen at three different stages</a:t>
            </a:r>
          </a:p>
          <a:p>
            <a:pPr lvl="1" eaLnBrk="1" hangingPunct="1"/>
            <a:r>
              <a:rPr lang="en-US" sz="2400" b="1" dirty="0"/>
              <a:t>Compile time</a:t>
            </a:r>
            <a:r>
              <a:rPr lang="en-US" sz="2400" dirty="0"/>
              <a:t>:  If memory location known a priori, </a:t>
            </a:r>
            <a:r>
              <a:rPr lang="en-US" sz="2400" b="1" dirty="0"/>
              <a:t>absolute code</a:t>
            </a:r>
            <a:r>
              <a:rPr lang="en-US" sz="2400" dirty="0"/>
              <a:t> can be generated; must recompile code if starting location changes</a:t>
            </a:r>
          </a:p>
          <a:p>
            <a:pPr lvl="1" eaLnBrk="1" hangingPunct="1"/>
            <a:r>
              <a:rPr lang="en-US" sz="2400" b="1" dirty="0"/>
              <a:t>Load time</a:t>
            </a:r>
            <a:r>
              <a:rPr lang="en-US" sz="2400" dirty="0"/>
              <a:t>:  Must generate </a:t>
            </a:r>
            <a:r>
              <a:rPr lang="en-US" sz="2400" b="1" dirty="0" err="1"/>
              <a:t>relocatable</a:t>
            </a:r>
            <a:r>
              <a:rPr lang="en-US" sz="2400" b="1" dirty="0"/>
              <a:t> code</a:t>
            </a:r>
            <a:r>
              <a:rPr lang="en-US" sz="2400" dirty="0"/>
              <a:t> if memory location is not known at compile time</a:t>
            </a:r>
          </a:p>
          <a:p>
            <a:pPr lvl="1" eaLnBrk="1" hangingPunct="1"/>
            <a:r>
              <a:rPr lang="en-US" sz="2400" b="1" dirty="0"/>
              <a:t>Execution time</a:t>
            </a:r>
            <a:r>
              <a:rPr lang="en-US" sz="2400" dirty="0"/>
              <a:t>:  Binding delayed until run time if the process can be moved during its execution from one memory segment to another.  Need hardware support for address maps (e.g., base and limit</a:t>
            </a:r>
            <a:r>
              <a:rPr lang="en-US" sz="2400" i="1" dirty="0"/>
              <a:t> </a:t>
            </a:r>
            <a:r>
              <a:rPr lang="en-US" sz="2400" dirty="0"/>
              <a:t>registers)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Logical vs. Physical Address Space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990600"/>
            <a:ext cx="6937375" cy="4468813"/>
          </a:xfrm>
        </p:spPr>
        <p:txBody>
          <a:bodyPr/>
          <a:lstStyle/>
          <a:p>
            <a:pPr eaLnBrk="1" hangingPunct="1"/>
            <a:endParaRPr lang="en-US" sz="1800" dirty="0"/>
          </a:p>
          <a:p>
            <a:pPr eaLnBrk="1" hangingPunct="1"/>
            <a:r>
              <a:rPr lang="en-US" sz="2400" dirty="0"/>
              <a:t>The concept of a logical address space that is bound to a separate </a:t>
            </a:r>
            <a:r>
              <a:rPr lang="en-US" sz="2400" b="1" dirty="0"/>
              <a:t>physical address space</a:t>
            </a:r>
            <a:r>
              <a:rPr lang="en-US" sz="2400" dirty="0"/>
              <a:t> is central to proper memory management</a:t>
            </a:r>
          </a:p>
          <a:p>
            <a:pPr lvl="1" eaLnBrk="1" hangingPunct="1"/>
            <a:r>
              <a:rPr lang="en-US" b="1" dirty="0"/>
              <a:t>Logical address</a:t>
            </a:r>
            <a:r>
              <a:rPr lang="en-US" dirty="0"/>
              <a:t> – generated by the CPU; also referred to as </a:t>
            </a:r>
            <a:r>
              <a:rPr lang="en-US" b="1" dirty="0"/>
              <a:t>virtual address</a:t>
            </a:r>
          </a:p>
          <a:p>
            <a:pPr lvl="1" eaLnBrk="1" hangingPunct="1"/>
            <a:r>
              <a:rPr lang="en-US" b="1" dirty="0"/>
              <a:t>Physical address</a:t>
            </a:r>
            <a:r>
              <a:rPr lang="en-US" dirty="0"/>
              <a:t> – address seen by the memory unit</a:t>
            </a:r>
          </a:p>
          <a:p>
            <a:pPr eaLnBrk="1" hangingPunct="1"/>
            <a:r>
              <a:rPr lang="en-US" sz="2400" dirty="0"/>
              <a:t>Logical and physical addresses are the same in compile-time and load-time address-binding schemes; logical (virtual) and physical addresses differ in execution-time address-binding scheme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Memory-Management Unit (</a:t>
            </a:r>
            <a:r>
              <a:rPr lang="en-US" sz="2400"/>
              <a:t>MMU</a:t>
            </a:r>
            <a:r>
              <a:rPr lang="en-US"/>
              <a:t>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143000"/>
            <a:ext cx="7351713" cy="4483100"/>
          </a:xfrm>
        </p:spPr>
        <p:txBody>
          <a:bodyPr/>
          <a:lstStyle/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/>
              <a:t>Hardware device that maps virtual to physical address</a:t>
            </a:r>
            <a:br>
              <a:rPr lang="en-US" sz="2800" dirty="0"/>
            </a:br>
            <a:endParaRPr lang="en-US" sz="2800" dirty="0"/>
          </a:p>
          <a:p>
            <a:pPr eaLnBrk="1" hangingPunct="1"/>
            <a:r>
              <a:rPr lang="en-US" sz="2800" dirty="0"/>
              <a:t>In MMU scheme, the value in the relocation register is added to every address generated by a user process at the time it is sent to memory</a:t>
            </a:r>
            <a:br>
              <a:rPr lang="en-US" sz="2800" dirty="0"/>
            </a:br>
            <a:endParaRPr lang="en-US" sz="2800" dirty="0"/>
          </a:p>
          <a:p>
            <a:pPr eaLnBrk="1" hangingPunct="1"/>
            <a:r>
              <a:rPr lang="en-US" sz="2800" dirty="0"/>
              <a:t>The user program deals with </a:t>
            </a:r>
            <a:r>
              <a:rPr lang="en-US" sz="2800" i="1" dirty="0"/>
              <a:t>logical</a:t>
            </a:r>
            <a:r>
              <a:rPr lang="en-US" sz="2800" dirty="0"/>
              <a:t> addresses; it never sees the </a:t>
            </a:r>
            <a:r>
              <a:rPr lang="en-US" sz="2800" i="1" dirty="0"/>
              <a:t>real</a:t>
            </a:r>
            <a:r>
              <a:rPr lang="en-US" sz="2800" dirty="0"/>
              <a:t> physical addresses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0"/>
            <a:ext cx="8054975" cy="844550"/>
          </a:xfrm>
        </p:spPr>
        <p:txBody>
          <a:bodyPr/>
          <a:lstStyle/>
          <a:p>
            <a:pPr eaLnBrk="1" hangingPunct="1"/>
            <a:r>
              <a:rPr lang="en-US" sz="2800"/>
              <a:t>Dynamic relocation using a relocation register</a:t>
            </a:r>
          </a:p>
        </p:txBody>
      </p:sp>
      <p:pic>
        <p:nvPicPr>
          <p:cNvPr id="14339" name="Picture 4"/>
          <p:cNvPicPr>
            <a:picLocks noChangeAspect="1" noChangeArrowheads="1"/>
          </p:cNvPicPr>
          <p:nvPr/>
        </p:nvPicPr>
        <p:blipFill>
          <a:blip r:embed="rId2"/>
          <a:srcRect l="841" t="3482" r="1089" b="3784"/>
          <a:stretch>
            <a:fillRect/>
          </a:stretch>
        </p:blipFill>
        <p:spPr bwMode="auto">
          <a:xfrm>
            <a:off x="1819275" y="1941513"/>
            <a:ext cx="5384800" cy="395922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Dynamic Loading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377950"/>
            <a:ext cx="7351713" cy="4483100"/>
          </a:xfrm>
        </p:spPr>
        <p:txBody>
          <a:bodyPr/>
          <a:lstStyle/>
          <a:p>
            <a:pPr eaLnBrk="1" hangingPunct="1"/>
            <a:r>
              <a:rPr lang="en-US" sz="2800" dirty="0"/>
              <a:t>Routine is not loaded until it is called</a:t>
            </a:r>
          </a:p>
          <a:p>
            <a:pPr eaLnBrk="1" hangingPunct="1"/>
            <a:r>
              <a:rPr lang="en-US" sz="2800" dirty="0"/>
              <a:t>Better memory-space utilization; unused routine is never loaded</a:t>
            </a:r>
          </a:p>
          <a:p>
            <a:pPr eaLnBrk="1" hangingPunct="1"/>
            <a:r>
              <a:rPr lang="en-US" sz="2800" dirty="0"/>
              <a:t>Useful when large amounts of code are needed to handle infrequently occurring cases</a:t>
            </a:r>
          </a:p>
          <a:p>
            <a:pPr eaLnBrk="1" hangingPunct="1"/>
            <a:r>
              <a:rPr lang="en-US" sz="2800" dirty="0"/>
              <a:t>No special support from the operating system is required implemented through program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Swapping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914400"/>
            <a:ext cx="8001000" cy="3657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 dirty="0"/>
              <a:t>A process can be swapped temporarily out of memory to a backing store, and then brought back into memory for continued execution</a:t>
            </a:r>
            <a:br>
              <a:rPr lang="en-US" sz="2000" dirty="0"/>
            </a:br>
            <a:endParaRPr lang="en-US" sz="2000" dirty="0"/>
          </a:p>
          <a:p>
            <a:pPr eaLnBrk="1" hangingPunct="1">
              <a:lnSpc>
                <a:spcPct val="80000"/>
              </a:lnSpc>
            </a:pPr>
            <a:r>
              <a:rPr lang="en-US" sz="2000" b="1" dirty="0"/>
              <a:t>Backing store</a:t>
            </a:r>
            <a:r>
              <a:rPr lang="en-US" sz="2000" dirty="0"/>
              <a:t> – fast disk large enough to accommodate copies of all memory images for all users; must provide direct access to these memory images</a:t>
            </a:r>
            <a:br>
              <a:rPr lang="en-US" sz="2000" dirty="0"/>
            </a:br>
            <a:endParaRPr lang="en-US" sz="2000" dirty="0"/>
          </a:p>
          <a:p>
            <a:pPr eaLnBrk="1" hangingPunct="1">
              <a:lnSpc>
                <a:spcPct val="80000"/>
              </a:lnSpc>
            </a:pPr>
            <a:r>
              <a:rPr lang="en-US" sz="2000" b="1" dirty="0"/>
              <a:t>Roll out, roll in</a:t>
            </a:r>
            <a:r>
              <a:rPr lang="en-US" sz="2000" dirty="0"/>
              <a:t> – swapping variant used for priority-based scheduling algorithms; lower-priority process is swapped out so higher-priority process can be loaded and executed</a:t>
            </a:r>
            <a:br>
              <a:rPr lang="en-US" sz="2000" dirty="0"/>
            </a:br>
            <a:endParaRPr lang="en-US" sz="2000" dirty="0"/>
          </a:p>
          <a:p>
            <a:pPr eaLnBrk="1" hangingPunct="1">
              <a:lnSpc>
                <a:spcPct val="80000"/>
              </a:lnSpc>
            </a:pPr>
            <a:r>
              <a:rPr lang="en-US" sz="2000" dirty="0"/>
              <a:t>Major part of swap time is transfer time; total transfer time is directly proportional to the amount of memory swapped</a:t>
            </a:r>
            <a:br>
              <a:rPr lang="en-US" sz="2000" dirty="0"/>
            </a:br>
            <a:endParaRPr lang="en-US" sz="2000" dirty="0"/>
          </a:p>
          <a:p>
            <a:pPr eaLnBrk="1" hangingPunct="1">
              <a:lnSpc>
                <a:spcPct val="80000"/>
              </a:lnSpc>
            </a:pPr>
            <a:r>
              <a:rPr lang="en-US" sz="2000" dirty="0"/>
              <a:t>Modified versions of swapping are found on many systems (i.e., UNIX, Linux, and Windows)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/>
              <a:t>System maintains a </a:t>
            </a:r>
            <a:r>
              <a:rPr lang="en-US" sz="2000" b="1" dirty="0"/>
              <a:t>ready queue</a:t>
            </a:r>
            <a:r>
              <a:rPr lang="en-US" sz="2000" dirty="0"/>
              <a:t> of ready-to-run processes which have memory images on disk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Schematic View of Swapping</a:t>
            </a:r>
            <a:endParaRPr lang="en-US" sz="2400"/>
          </a:p>
        </p:txBody>
      </p:sp>
      <p:pic>
        <p:nvPicPr>
          <p:cNvPr id="18435" name="Picture 6"/>
          <p:cNvPicPr>
            <a:picLocks noChangeAspect="1" noChangeArrowheads="1"/>
          </p:cNvPicPr>
          <p:nvPr/>
        </p:nvPicPr>
        <p:blipFill>
          <a:blip r:embed="rId2"/>
          <a:srcRect l="743" t="342" r="487" b="1299"/>
          <a:stretch>
            <a:fillRect/>
          </a:stretch>
        </p:blipFill>
        <p:spPr bwMode="auto">
          <a:xfrm>
            <a:off x="1722438" y="1692275"/>
            <a:ext cx="5578475" cy="416560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295400" y="0"/>
            <a:ext cx="7543800" cy="838200"/>
          </a:xfrm>
        </p:spPr>
        <p:txBody>
          <a:bodyPr/>
          <a:lstStyle/>
          <a:p>
            <a:pPr eaLnBrk="1" hangingPunct="1"/>
            <a:r>
              <a:rPr lang="en-US" dirty="0"/>
              <a:t>Contiguous Allocation</a:t>
            </a:r>
          </a:p>
        </p:txBody>
      </p:sp>
      <p:sp>
        <p:nvSpPr>
          <p:cNvPr id="19459" name="Rectangle 1027"/>
          <p:cNvSpPr>
            <a:spLocks noGrp="1" noChangeArrowheads="1"/>
          </p:cNvSpPr>
          <p:nvPr>
            <p:ph idx="1"/>
          </p:nvPr>
        </p:nvSpPr>
        <p:spPr>
          <a:xfrm>
            <a:off x="838200" y="685800"/>
            <a:ext cx="7037388" cy="4511675"/>
          </a:xfrm>
        </p:spPr>
        <p:txBody>
          <a:bodyPr/>
          <a:lstStyle/>
          <a:p>
            <a:pPr eaLnBrk="1" hangingPunct="1"/>
            <a:r>
              <a:rPr lang="en-US" sz="2800" dirty="0"/>
              <a:t>Main memory usually into two partitions:</a:t>
            </a:r>
          </a:p>
          <a:p>
            <a:pPr lvl="1" eaLnBrk="1" hangingPunct="1"/>
            <a:r>
              <a:rPr lang="en-US" sz="2400" dirty="0"/>
              <a:t>Resident operating system, usually held in low memory with interrupt vector</a:t>
            </a:r>
          </a:p>
          <a:p>
            <a:pPr lvl="1" eaLnBrk="1" hangingPunct="1"/>
            <a:r>
              <a:rPr lang="en-US" sz="2400" dirty="0"/>
              <a:t>User processes then held in high memory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eaLnBrk="1" hangingPunct="1"/>
            <a:r>
              <a:rPr lang="en-US" sz="2800" dirty="0"/>
              <a:t>Relocation registers used to protect user processes from each other, and from changing operating-system code and data</a:t>
            </a:r>
          </a:p>
          <a:p>
            <a:pPr lvl="1" eaLnBrk="1" hangingPunct="1"/>
            <a:r>
              <a:rPr lang="en-US" sz="2200" dirty="0"/>
              <a:t>Base register contains value of smallest physical address</a:t>
            </a:r>
          </a:p>
          <a:p>
            <a:pPr lvl="1" eaLnBrk="1" hangingPunct="1"/>
            <a:r>
              <a:rPr lang="en-US" sz="2200" dirty="0"/>
              <a:t>Limit register contains range of logical addresses – each logical address must be less than the limit register </a:t>
            </a:r>
          </a:p>
          <a:p>
            <a:pPr lvl="1" eaLnBrk="1" hangingPunct="1"/>
            <a:r>
              <a:rPr lang="en-US" sz="2200" dirty="0"/>
              <a:t>MMU maps logical address </a:t>
            </a:r>
            <a:r>
              <a:rPr lang="en-US" sz="2200" i="1" dirty="0"/>
              <a:t>dynamically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Dynamic Storage-Allocation Problem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860425" y="2092325"/>
            <a:ext cx="6713538" cy="2268538"/>
          </a:xfrm>
        </p:spPr>
        <p:txBody>
          <a:bodyPr rtlCol="0">
            <a:no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First-fit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:  Allocate the </a:t>
            </a: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first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hole that is big enough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None/>
              <a:defRPr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Best-fit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:  Allocate the </a:t>
            </a: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smallest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hole that is big enough; must search entire list, unless ordered by size  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Produces the smallest leftover hole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Worst-fit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:  Allocate the </a:t>
            </a: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largest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hole; must also search entire list  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Produces the largest leftover hole</a:t>
            </a: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762000" y="914400"/>
            <a:ext cx="8404865" cy="1046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endParaRPr lang="en-US" sz="2000" dirty="0"/>
          </a:p>
          <a:p>
            <a:pPr>
              <a:spcBef>
                <a:spcPct val="50000"/>
              </a:spcBef>
            </a:pPr>
            <a:r>
              <a:rPr lang="en-US" dirty="0"/>
              <a:t>How to satisfy a request of size </a:t>
            </a:r>
            <a:r>
              <a:rPr lang="en-US" i="1" dirty="0"/>
              <a:t>n</a:t>
            </a:r>
            <a:r>
              <a:rPr lang="en-US" dirty="0"/>
              <a:t> from a list of free holes</a:t>
            </a: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914400" y="5791200"/>
            <a:ext cx="653097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First-fit and best-fit better than worst-fit in terms of speed and storage utilization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Associative Memory</a:t>
            </a:r>
          </a:p>
        </p:txBody>
      </p:sp>
      <p:sp>
        <p:nvSpPr>
          <p:cNvPr id="31747" name="Rectangle 2051"/>
          <p:cNvSpPr>
            <a:spLocks noGrp="1" noChangeArrowheads="1"/>
          </p:cNvSpPr>
          <p:nvPr>
            <p:ph idx="1"/>
          </p:nvPr>
        </p:nvSpPr>
        <p:spPr>
          <a:xfrm>
            <a:off x="762000" y="1306513"/>
            <a:ext cx="7351713" cy="4483100"/>
          </a:xfrm>
        </p:spPr>
        <p:txBody>
          <a:bodyPr/>
          <a:lstStyle/>
          <a:p>
            <a:pPr eaLnBrk="1" hangingPunct="1"/>
            <a:r>
              <a:rPr lang="en-US" sz="2400" dirty="0"/>
              <a:t>Associative memory – parallel search </a:t>
            </a:r>
          </a:p>
          <a:p>
            <a:pPr eaLnBrk="1" hangingPunct="1"/>
            <a:endParaRPr lang="en-US" sz="1800" dirty="0"/>
          </a:p>
          <a:p>
            <a:pPr eaLnBrk="1" hangingPunct="1"/>
            <a:endParaRPr lang="en-US" sz="1800" dirty="0"/>
          </a:p>
          <a:p>
            <a:pPr eaLnBrk="1" hangingPunct="1"/>
            <a:endParaRPr lang="en-US" sz="1800" dirty="0"/>
          </a:p>
          <a:p>
            <a:pPr eaLnBrk="1" hangingPunct="1"/>
            <a:endParaRPr lang="en-US" sz="1800" dirty="0"/>
          </a:p>
          <a:p>
            <a:pPr eaLnBrk="1" hangingPunct="1"/>
            <a:endParaRPr lang="en-US" sz="1800" dirty="0"/>
          </a:p>
          <a:p>
            <a:pPr eaLnBrk="1" hangingPunct="1">
              <a:buFont typeface="Monotype Sorts" pitchFamily="2" charset="2"/>
              <a:buNone/>
            </a:pPr>
            <a:r>
              <a:rPr lang="en-US" sz="2400" dirty="0"/>
              <a:t>	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sz="2400" dirty="0"/>
              <a:t>Address translation (p, d)</a:t>
            </a:r>
          </a:p>
          <a:p>
            <a:pPr marL="628650" lvl="1" eaLnBrk="1" hangingPunct="1"/>
            <a:r>
              <a:rPr lang="en-US" dirty="0"/>
              <a:t>If p is in associative register, get frame # out</a:t>
            </a:r>
          </a:p>
          <a:p>
            <a:pPr marL="628650" lvl="1" eaLnBrk="1" hangingPunct="1"/>
            <a:r>
              <a:rPr lang="en-US" dirty="0"/>
              <a:t>Otherwise get frame # from page table in memory</a:t>
            </a:r>
          </a:p>
          <a:p>
            <a:pPr marL="628650" lvl="1" eaLnBrk="1" hangingPunct="1"/>
            <a:endParaRPr lang="en-US" dirty="0"/>
          </a:p>
        </p:txBody>
      </p:sp>
      <p:sp>
        <p:nvSpPr>
          <p:cNvPr id="31748" name="Rectangle 2052"/>
          <p:cNvSpPr>
            <a:spLocks noChangeArrowheads="1"/>
          </p:cNvSpPr>
          <p:nvPr/>
        </p:nvSpPr>
        <p:spPr bwMode="auto">
          <a:xfrm>
            <a:off x="3059113" y="2105025"/>
            <a:ext cx="28956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49" name="Line 2053"/>
          <p:cNvSpPr>
            <a:spLocks noChangeShapeType="1"/>
          </p:cNvSpPr>
          <p:nvPr/>
        </p:nvSpPr>
        <p:spPr bwMode="auto">
          <a:xfrm>
            <a:off x="4506913" y="1647825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0" name="Line 2054"/>
          <p:cNvSpPr>
            <a:spLocks noChangeShapeType="1"/>
          </p:cNvSpPr>
          <p:nvPr/>
        </p:nvSpPr>
        <p:spPr bwMode="auto">
          <a:xfrm>
            <a:off x="3059113" y="2409825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1" name="Line 2055"/>
          <p:cNvSpPr>
            <a:spLocks noChangeShapeType="1"/>
          </p:cNvSpPr>
          <p:nvPr/>
        </p:nvSpPr>
        <p:spPr bwMode="auto">
          <a:xfrm>
            <a:off x="3059113" y="2714625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2" name="Line 2056"/>
          <p:cNvSpPr>
            <a:spLocks noChangeShapeType="1"/>
          </p:cNvSpPr>
          <p:nvPr/>
        </p:nvSpPr>
        <p:spPr bwMode="auto">
          <a:xfrm>
            <a:off x="3059113" y="3095625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3" name="Rectangle 2057"/>
          <p:cNvSpPr>
            <a:spLocks noChangeArrowheads="1"/>
          </p:cNvSpPr>
          <p:nvPr/>
        </p:nvSpPr>
        <p:spPr bwMode="auto">
          <a:xfrm>
            <a:off x="3363913" y="1724025"/>
            <a:ext cx="1295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400"/>
              <a:t>Page #</a:t>
            </a:r>
          </a:p>
        </p:txBody>
      </p:sp>
      <p:sp>
        <p:nvSpPr>
          <p:cNvPr id="31754" name="Rectangle 2058"/>
          <p:cNvSpPr>
            <a:spLocks noChangeArrowheads="1"/>
          </p:cNvSpPr>
          <p:nvPr/>
        </p:nvSpPr>
        <p:spPr bwMode="auto">
          <a:xfrm>
            <a:off x="4735513" y="1724025"/>
            <a:ext cx="1295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400"/>
              <a:t>Frame #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6348413" cy="1320800"/>
          </a:xfrm>
        </p:spPr>
        <p:txBody>
          <a:bodyPr/>
          <a:lstStyle/>
          <a:p>
            <a:pPr eaLnBrk="1" hangingPunct="1"/>
            <a:r>
              <a:rPr lang="en-US"/>
              <a:t>Paging Hardware With TLB</a:t>
            </a:r>
            <a:endParaRPr lang="en-US" sz="2400"/>
          </a:p>
        </p:txBody>
      </p:sp>
      <p:pic>
        <p:nvPicPr>
          <p:cNvPr id="32771" name="Picture 4"/>
          <p:cNvPicPr>
            <a:picLocks noChangeAspect="1" noChangeArrowheads="1"/>
          </p:cNvPicPr>
          <p:nvPr/>
        </p:nvPicPr>
        <p:blipFill>
          <a:blip r:embed="rId2"/>
          <a:srcRect l="1292" t="1041" r="1292" b="682"/>
          <a:stretch>
            <a:fillRect/>
          </a:stretch>
        </p:blipFill>
        <p:spPr bwMode="auto">
          <a:xfrm>
            <a:off x="1658938" y="1670050"/>
            <a:ext cx="5770562" cy="436562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>
          <a:xfrm>
            <a:off x="922338" y="0"/>
            <a:ext cx="8161337" cy="84455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Valid (v) or Invalid (i) Bit In A Page Table</a:t>
            </a:r>
          </a:p>
        </p:txBody>
      </p:sp>
      <p:pic>
        <p:nvPicPr>
          <p:cNvPr id="35843" name="Picture 4"/>
          <p:cNvPicPr>
            <a:picLocks noChangeAspect="1" noChangeArrowheads="1"/>
          </p:cNvPicPr>
          <p:nvPr/>
        </p:nvPicPr>
        <p:blipFill>
          <a:blip r:embed="rId2"/>
          <a:srcRect l="7301" t="603" r="7301" b="603"/>
          <a:stretch>
            <a:fillRect/>
          </a:stretch>
        </p:blipFill>
        <p:spPr bwMode="auto">
          <a:xfrm>
            <a:off x="1836738" y="1493838"/>
            <a:ext cx="5329237" cy="4624387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</p:spTree>
  </p:cSld>
  <p:clrMapOvr>
    <a:masterClrMapping/>
  </p:clrMapOvr>
  <p:transition spd="slow">
    <p:wheel spokes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6348413" cy="1320800"/>
          </a:xfrm>
        </p:spPr>
        <p:txBody>
          <a:bodyPr/>
          <a:lstStyle/>
          <a:p>
            <a:pPr eaLnBrk="1" hangingPunct="1"/>
            <a:r>
              <a:rPr lang="en-US"/>
              <a:t>Shared Pages Example</a:t>
            </a:r>
            <a:endParaRPr lang="en-US" sz="2400"/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2"/>
          <a:srcRect l="13399" t="1540" r="13159" b="609"/>
          <a:stretch>
            <a:fillRect/>
          </a:stretch>
        </p:blipFill>
        <p:spPr bwMode="auto">
          <a:xfrm>
            <a:off x="2219325" y="1555750"/>
            <a:ext cx="4573588" cy="4570413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ext Box 3"/>
          <p:cNvSpPr txBox="1">
            <a:spLocks noChangeArrowheads="1"/>
          </p:cNvSpPr>
          <p:nvPr/>
        </p:nvSpPr>
        <p:spPr bwMode="auto">
          <a:xfrm>
            <a:off x="1524000" y="346075"/>
            <a:ext cx="6858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Memory Management</a:t>
            </a:r>
          </a:p>
        </p:txBody>
      </p:sp>
      <p:sp>
        <p:nvSpPr>
          <p:cNvPr id="1197060" name="Rectangle 4"/>
          <p:cNvSpPr>
            <a:spLocks noChangeArrowheads="1"/>
          </p:cNvSpPr>
          <p:nvPr/>
        </p:nvSpPr>
        <p:spPr bwMode="auto">
          <a:xfrm>
            <a:off x="2590800" y="1257300"/>
            <a:ext cx="1295400" cy="1295400"/>
          </a:xfrm>
          <a:prstGeom prst="rect">
            <a:avLst/>
          </a:prstGeom>
          <a:solidFill>
            <a:srgbClr val="BAF4B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1800">
                <a:latin typeface="Arial" charset="0"/>
              </a:rPr>
              <a:t>Kernel</a:t>
            </a:r>
          </a:p>
          <a:p>
            <a:pPr algn="ctr" eaLnBrk="1" hangingPunct="1"/>
            <a:r>
              <a:rPr lang="en-US" sz="1800">
                <a:latin typeface="Arial" charset="0"/>
              </a:rPr>
              <a:t>(OS)</a:t>
            </a:r>
          </a:p>
        </p:txBody>
      </p:sp>
      <p:sp>
        <p:nvSpPr>
          <p:cNvPr id="1197061" name="Rectangle 5"/>
          <p:cNvSpPr>
            <a:spLocks noChangeArrowheads="1"/>
          </p:cNvSpPr>
          <p:nvPr/>
        </p:nvSpPr>
        <p:spPr bwMode="auto">
          <a:xfrm>
            <a:off x="2590800" y="2552700"/>
            <a:ext cx="1295400" cy="3200400"/>
          </a:xfrm>
          <a:prstGeom prst="rect">
            <a:avLst/>
          </a:prstGeom>
          <a:solidFill>
            <a:srgbClr val="EBF4C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1800">
                <a:latin typeface="Arial" charset="0"/>
              </a:rPr>
              <a:t>Program</a:t>
            </a:r>
          </a:p>
          <a:p>
            <a:pPr algn="ctr" eaLnBrk="1" hangingPunct="1"/>
            <a:r>
              <a:rPr lang="en-US" sz="1800">
                <a:latin typeface="Arial" charset="0"/>
              </a:rPr>
              <a:t>(user)</a:t>
            </a:r>
          </a:p>
        </p:txBody>
      </p:sp>
      <p:sp>
        <p:nvSpPr>
          <p:cNvPr id="1197062" name="Rectangle 6"/>
          <p:cNvSpPr>
            <a:spLocks noChangeArrowheads="1"/>
          </p:cNvSpPr>
          <p:nvPr/>
        </p:nvSpPr>
        <p:spPr bwMode="auto">
          <a:xfrm>
            <a:off x="5334000" y="1271588"/>
            <a:ext cx="1295400" cy="1295400"/>
          </a:xfrm>
          <a:prstGeom prst="rect">
            <a:avLst/>
          </a:prstGeom>
          <a:solidFill>
            <a:srgbClr val="BAF4B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1800">
                <a:latin typeface="Arial" charset="0"/>
              </a:rPr>
              <a:t>Kernel</a:t>
            </a:r>
          </a:p>
          <a:p>
            <a:pPr algn="ctr" eaLnBrk="1" hangingPunct="1"/>
            <a:r>
              <a:rPr lang="en-US" sz="1800">
                <a:latin typeface="Arial" charset="0"/>
              </a:rPr>
              <a:t>(OS)</a:t>
            </a:r>
          </a:p>
        </p:txBody>
      </p:sp>
      <p:sp>
        <p:nvSpPr>
          <p:cNvPr id="1197063" name="Rectangle 7"/>
          <p:cNvSpPr>
            <a:spLocks noChangeArrowheads="1"/>
          </p:cNvSpPr>
          <p:nvPr/>
        </p:nvSpPr>
        <p:spPr bwMode="auto">
          <a:xfrm>
            <a:off x="5334000" y="2566988"/>
            <a:ext cx="1295400" cy="838200"/>
          </a:xfrm>
          <a:prstGeom prst="rect">
            <a:avLst/>
          </a:prstGeom>
          <a:solidFill>
            <a:srgbClr val="EBF4C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1800">
                <a:latin typeface="Arial" charset="0"/>
              </a:rPr>
              <a:t>Program 1</a:t>
            </a:r>
          </a:p>
        </p:txBody>
      </p:sp>
      <p:sp>
        <p:nvSpPr>
          <p:cNvPr id="1197064" name="Rectangle 8"/>
          <p:cNvSpPr>
            <a:spLocks noChangeArrowheads="1"/>
          </p:cNvSpPr>
          <p:nvPr/>
        </p:nvSpPr>
        <p:spPr bwMode="auto">
          <a:xfrm>
            <a:off x="5334000" y="3409950"/>
            <a:ext cx="1295400" cy="838200"/>
          </a:xfrm>
          <a:prstGeom prst="rect">
            <a:avLst/>
          </a:prstGeom>
          <a:solidFill>
            <a:srgbClr val="EBF4C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1800">
                <a:latin typeface="Arial" charset="0"/>
              </a:rPr>
              <a:t>Program 2</a:t>
            </a:r>
          </a:p>
        </p:txBody>
      </p:sp>
      <p:sp>
        <p:nvSpPr>
          <p:cNvPr id="1197065" name="Rectangle 9"/>
          <p:cNvSpPr>
            <a:spLocks noChangeArrowheads="1"/>
          </p:cNvSpPr>
          <p:nvPr/>
        </p:nvSpPr>
        <p:spPr bwMode="auto">
          <a:xfrm>
            <a:off x="5334000" y="4962525"/>
            <a:ext cx="1295400" cy="838200"/>
          </a:xfrm>
          <a:prstGeom prst="rect">
            <a:avLst/>
          </a:prstGeom>
          <a:solidFill>
            <a:srgbClr val="EBF4C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1800">
                <a:latin typeface="Arial" charset="0"/>
              </a:rPr>
              <a:t>Program </a:t>
            </a:r>
            <a:r>
              <a:rPr lang="en-US" sz="1800" i="1">
                <a:latin typeface="Arial" charset="0"/>
              </a:rPr>
              <a:t>n</a:t>
            </a:r>
          </a:p>
        </p:txBody>
      </p:sp>
      <p:sp>
        <p:nvSpPr>
          <p:cNvPr id="1197066" name="Rectangle 10"/>
          <p:cNvSpPr>
            <a:spLocks noChangeArrowheads="1"/>
          </p:cNvSpPr>
          <p:nvPr/>
        </p:nvSpPr>
        <p:spPr bwMode="auto">
          <a:xfrm>
            <a:off x="5334000" y="4243388"/>
            <a:ext cx="1295400" cy="762000"/>
          </a:xfrm>
          <a:prstGeom prst="rect">
            <a:avLst/>
          </a:prstGeom>
          <a:solidFill>
            <a:srgbClr val="EBF4C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60000"/>
              </a:lnSpc>
            </a:pPr>
            <a:endParaRPr lang="en-US" sz="2400">
              <a:latin typeface="Arial" charset="0"/>
            </a:endParaRPr>
          </a:p>
          <a:p>
            <a:pPr algn="ctr" eaLnBrk="1" hangingPunct="1">
              <a:lnSpc>
                <a:spcPct val="60000"/>
              </a:lnSpc>
            </a:pPr>
            <a:r>
              <a:rPr lang="en-US" sz="2400">
                <a:latin typeface="Arial" charset="0"/>
              </a:rPr>
              <a:t>.</a:t>
            </a:r>
          </a:p>
          <a:p>
            <a:pPr algn="ctr" eaLnBrk="1" hangingPunct="1">
              <a:lnSpc>
                <a:spcPct val="60000"/>
              </a:lnSpc>
            </a:pPr>
            <a:r>
              <a:rPr lang="en-US" sz="2400">
                <a:latin typeface="Arial" charset="0"/>
              </a:rPr>
              <a:t>.</a:t>
            </a:r>
          </a:p>
          <a:p>
            <a:pPr algn="ctr" eaLnBrk="1" hangingPunct="1">
              <a:lnSpc>
                <a:spcPct val="60000"/>
              </a:lnSpc>
            </a:pPr>
            <a:r>
              <a:rPr lang="en-US" sz="2400">
                <a:latin typeface="Arial" charset="0"/>
              </a:rPr>
              <a:t>.</a:t>
            </a:r>
          </a:p>
          <a:p>
            <a:pPr algn="ctr" eaLnBrk="1" hangingPunct="1"/>
            <a:endParaRPr lang="en-US" sz="2400">
              <a:latin typeface="Arial" charset="0"/>
            </a:endParaRPr>
          </a:p>
        </p:txBody>
      </p:sp>
      <p:sp>
        <p:nvSpPr>
          <p:cNvPr id="1197067" name="Rectangle 11"/>
          <p:cNvSpPr>
            <a:spLocks noChangeArrowheads="1"/>
          </p:cNvSpPr>
          <p:nvPr/>
        </p:nvSpPr>
        <p:spPr bwMode="auto">
          <a:xfrm>
            <a:off x="2276475" y="5910263"/>
            <a:ext cx="2025650" cy="696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spcBef>
                <a:spcPct val="20000"/>
              </a:spcBef>
            </a:pPr>
            <a:r>
              <a:rPr lang="en-US" sz="1800" b="1">
                <a:solidFill>
                  <a:schemeClr val="accent2"/>
                </a:solidFill>
                <a:latin typeface="Arial" charset="0"/>
              </a:rPr>
              <a:t>Uniprogramming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sz="1800" b="1">
                <a:solidFill>
                  <a:schemeClr val="accent2"/>
                </a:solidFill>
                <a:latin typeface="Arial" charset="0"/>
              </a:rPr>
              <a:t>System</a:t>
            </a:r>
          </a:p>
        </p:txBody>
      </p:sp>
      <p:sp>
        <p:nvSpPr>
          <p:cNvPr id="1197068" name="Rectangle 12"/>
          <p:cNvSpPr>
            <a:spLocks noChangeArrowheads="1"/>
          </p:cNvSpPr>
          <p:nvPr/>
        </p:nvSpPr>
        <p:spPr bwMode="auto">
          <a:xfrm>
            <a:off x="4875213" y="5905500"/>
            <a:ext cx="2190750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spcBef>
                <a:spcPct val="20000"/>
              </a:spcBef>
            </a:pPr>
            <a:r>
              <a:rPr lang="en-US" sz="1800" b="1">
                <a:solidFill>
                  <a:schemeClr val="accent2"/>
                </a:solidFill>
                <a:latin typeface="Arial" charset="0"/>
              </a:rPr>
              <a:t>Multiprogramming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sz="1800" b="1">
                <a:solidFill>
                  <a:schemeClr val="accent2"/>
                </a:solidFill>
                <a:latin typeface="Arial" charset="0"/>
              </a:rPr>
              <a:t>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9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97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97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97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97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97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97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97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97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7060" grpId="0" animBg="1"/>
      <p:bldP spid="1197061" grpId="0" animBg="1"/>
      <p:bldP spid="1197062" grpId="0" animBg="1"/>
      <p:bldP spid="1197063" grpId="0" animBg="1"/>
      <p:bldP spid="1197064" grpId="0" animBg="1"/>
      <p:bldP spid="1197065" grpId="0" animBg="1"/>
      <p:bldP spid="1197066" grpId="0" animBg="1"/>
      <p:bldP spid="1197067" grpId="0"/>
      <p:bldP spid="119706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400050" y="1081088"/>
            <a:ext cx="80772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sz="2400" b="1">
                <a:solidFill>
                  <a:srgbClr val="FF0000"/>
                </a:solidFill>
              </a:rPr>
              <a:t>Problem</a:t>
            </a:r>
            <a:r>
              <a:rPr lang="en-GB" sz="2400" b="1">
                <a:solidFill>
                  <a:srgbClr val="333399"/>
                </a:solidFill>
              </a:rPr>
              <a:t>: I/O is so slow compared with CPU that even in multiprogramming system, CPU can be idle most of time.</a:t>
            </a:r>
          </a:p>
        </p:txBody>
      </p:sp>
      <p:sp>
        <p:nvSpPr>
          <p:cNvPr id="8196" name="Text Box 3"/>
          <p:cNvSpPr txBox="1">
            <a:spLocks noChangeArrowheads="1"/>
          </p:cNvSpPr>
          <p:nvPr/>
        </p:nvSpPr>
        <p:spPr bwMode="auto">
          <a:xfrm>
            <a:off x="1524000" y="346075"/>
            <a:ext cx="6858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Memory Management</a:t>
            </a:r>
          </a:p>
        </p:txBody>
      </p:sp>
      <p:sp>
        <p:nvSpPr>
          <p:cNvPr id="8197" name="Text Box 4"/>
          <p:cNvSpPr txBox="1">
            <a:spLocks noChangeArrowheads="1"/>
          </p:cNvSpPr>
          <p:nvPr/>
        </p:nvSpPr>
        <p:spPr bwMode="auto">
          <a:xfrm>
            <a:off x="342900" y="2209800"/>
            <a:ext cx="5029200" cy="447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sz="2400" b="1">
                <a:solidFill>
                  <a:srgbClr val="333399"/>
                </a:solidFill>
              </a:rPr>
              <a:t>One solution is </a:t>
            </a:r>
            <a:r>
              <a:rPr lang="en-GB" sz="2400" b="1">
                <a:solidFill>
                  <a:srgbClr val="FF0000"/>
                </a:solidFill>
              </a:rPr>
              <a:t>swapping</a:t>
            </a:r>
          </a:p>
          <a:p>
            <a:pPr>
              <a:buFontTx/>
              <a:buChar char="•"/>
            </a:pPr>
            <a:r>
              <a:rPr lang="en-GB" sz="2400" b="1">
                <a:solidFill>
                  <a:srgbClr val="333399"/>
                </a:solidFill>
              </a:rPr>
              <a:t> Is used when all processes currently in system become blocked waiting for I/O.</a:t>
            </a:r>
          </a:p>
          <a:p>
            <a:pPr>
              <a:buFontTx/>
              <a:buChar char="•"/>
            </a:pPr>
            <a:r>
              <a:rPr lang="en-GB" sz="2400" b="1">
                <a:solidFill>
                  <a:srgbClr val="333399"/>
                </a:solidFill>
              </a:rPr>
              <a:t> Some waiting processes are swapped out to an intermediate queue in disk storage.</a:t>
            </a:r>
          </a:p>
          <a:p>
            <a:pPr>
              <a:buFontTx/>
              <a:buChar char="•"/>
            </a:pPr>
            <a:r>
              <a:rPr lang="en-GB" sz="2400" b="1">
                <a:solidFill>
                  <a:srgbClr val="333399"/>
                </a:solidFill>
              </a:rPr>
              <a:t> Other processes (which have all resources they need) are admitted from long-term queue or swapped in from intermediate queue to keep processor busy.</a:t>
            </a:r>
          </a:p>
        </p:txBody>
      </p:sp>
      <p:graphicFrame>
        <p:nvGraphicFramePr>
          <p:cNvPr id="1052677" name="Object 5"/>
          <p:cNvGraphicFramePr>
            <a:graphicFrameLocks noChangeAspect="1"/>
          </p:cNvGraphicFramePr>
          <p:nvPr/>
        </p:nvGraphicFramePr>
        <p:xfrm>
          <a:off x="5395913" y="2552700"/>
          <a:ext cx="3671887" cy="3600450"/>
        </p:xfrm>
        <a:graphic>
          <a:graphicData uri="http://schemas.openxmlformats.org/presentationml/2006/ole">
            <p:oleObj spid="_x0000_s8195" name="RFFlow" r:id="rId4" imgW="3672000" imgH="36000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52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ext Box 3"/>
          <p:cNvSpPr txBox="1">
            <a:spLocks noChangeArrowheads="1"/>
          </p:cNvSpPr>
          <p:nvPr/>
        </p:nvSpPr>
        <p:spPr bwMode="auto">
          <a:xfrm>
            <a:off x="628650" y="1444625"/>
            <a:ext cx="8210550" cy="502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sz="2700" b="1">
                <a:solidFill>
                  <a:srgbClr val="FF0000"/>
                </a:solidFill>
              </a:rPr>
              <a:t>Partitioning</a:t>
            </a:r>
          </a:p>
          <a:p>
            <a:pPr>
              <a:buFontTx/>
              <a:buChar char="•"/>
            </a:pPr>
            <a:r>
              <a:rPr lang="en-GB" sz="2700" b="1">
                <a:solidFill>
                  <a:srgbClr val="333399"/>
                </a:solidFill>
              </a:rPr>
              <a:t> Memory is partitioned among running processes. </a:t>
            </a:r>
          </a:p>
          <a:p>
            <a:pPr lvl="1">
              <a:buFont typeface="Wingdings" pitchFamily="2" charset="2"/>
              <a:buChar char="Ø"/>
            </a:pPr>
            <a:r>
              <a:rPr lang="en-GB" sz="2700" b="1">
                <a:solidFill>
                  <a:srgbClr val="333399"/>
                </a:solidFill>
              </a:rPr>
              <a:t> Operating system occupies a fixed portion of main memory.</a:t>
            </a:r>
          </a:p>
          <a:p>
            <a:pPr lvl="1">
              <a:buFont typeface="Wingdings" pitchFamily="2" charset="2"/>
              <a:buChar char="Ø"/>
            </a:pPr>
            <a:r>
              <a:rPr lang="en-GB" sz="2700" b="1">
                <a:solidFill>
                  <a:srgbClr val="333399"/>
                </a:solidFill>
              </a:rPr>
              <a:t> Remaining memory is partitioned among other processes.</a:t>
            </a:r>
          </a:p>
          <a:p>
            <a:pPr lvl="2">
              <a:buFontTx/>
              <a:buChar char="o"/>
            </a:pPr>
            <a:r>
              <a:rPr lang="en-GB" sz="2700" b="1">
                <a:solidFill>
                  <a:srgbClr val="333399"/>
                </a:solidFill>
              </a:rPr>
              <a:t> </a:t>
            </a:r>
            <a:r>
              <a:rPr lang="en-GB" sz="2700" b="1">
                <a:solidFill>
                  <a:srgbClr val="FF0000"/>
                </a:solidFill>
              </a:rPr>
              <a:t>Fixed-size partitions</a:t>
            </a:r>
            <a:r>
              <a:rPr lang="en-GB" sz="2700" b="1">
                <a:solidFill>
                  <a:srgbClr val="333399"/>
                </a:solidFill>
              </a:rPr>
              <a:t>. Different sized partitions are pre-set and processes are loaded into the smallest that will work.</a:t>
            </a:r>
          </a:p>
          <a:p>
            <a:pPr lvl="2">
              <a:buFontTx/>
              <a:buChar char="o"/>
            </a:pPr>
            <a:r>
              <a:rPr lang="en-GB" sz="2700" b="1">
                <a:solidFill>
                  <a:srgbClr val="333399"/>
                </a:solidFill>
              </a:rPr>
              <a:t> </a:t>
            </a:r>
            <a:r>
              <a:rPr lang="en-GB" sz="2700" b="1">
                <a:solidFill>
                  <a:srgbClr val="FF0000"/>
                </a:solidFill>
              </a:rPr>
              <a:t>Variable-size partitions (Dynamic partitioning)</a:t>
            </a:r>
            <a:r>
              <a:rPr lang="en-GB" sz="2700" b="1">
                <a:solidFill>
                  <a:srgbClr val="333399"/>
                </a:solidFill>
              </a:rPr>
              <a:t>. A process is allocated exactly as much memory as it requires.</a:t>
            </a:r>
          </a:p>
        </p:txBody>
      </p:sp>
      <p:sp>
        <p:nvSpPr>
          <p:cNvPr id="101379" name="Text Box 4"/>
          <p:cNvSpPr txBox="1">
            <a:spLocks noChangeArrowheads="1"/>
          </p:cNvSpPr>
          <p:nvPr/>
        </p:nvSpPr>
        <p:spPr bwMode="auto">
          <a:xfrm>
            <a:off x="1524000" y="346075"/>
            <a:ext cx="6858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Memory Management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ext Box 2"/>
          <p:cNvSpPr txBox="1">
            <a:spLocks noChangeArrowheads="1"/>
          </p:cNvSpPr>
          <p:nvPr/>
        </p:nvSpPr>
        <p:spPr bwMode="auto">
          <a:xfrm>
            <a:off x="628650" y="955675"/>
            <a:ext cx="7848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sz="2000" b="1">
                <a:solidFill>
                  <a:srgbClr val="333399"/>
                </a:solidFill>
              </a:rPr>
              <a:t>Example of fixed partitioning of a 64 Mbyte memory.</a:t>
            </a:r>
          </a:p>
        </p:txBody>
      </p:sp>
      <p:sp>
        <p:nvSpPr>
          <p:cNvPr id="102403" name="Text Box 3"/>
          <p:cNvSpPr txBox="1">
            <a:spLocks noChangeArrowheads="1"/>
          </p:cNvSpPr>
          <p:nvPr/>
        </p:nvSpPr>
        <p:spPr bwMode="auto">
          <a:xfrm>
            <a:off x="1524000" y="346075"/>
            <a:ext cx="6858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Memory Management</a:t>
            </a:r>
          </a:p>
        </p:txBody>
      </p:sp>
      <p:pic>
        <p:nvPicPr>
          <p:cNvPr id="1064964" name="Picture 4"/>
          <p:cNvPicPr>
            <a:picLocks noChangeAspect="1" noChangeArrowheads="1"/>
          </p:cNvPicPr>
          <p:nvPr/>
        </p:nvPicPr>
        <p:blipFill>
          <a:blip r:embed="rId3"/>
          <a:srcRect b="8139"/>
          <a:stretch>
            <a:fillRect/>
          </a:stretch>
        </p:blipFill>
        <p:spPr bwMode="auto">
          <a:xfrm>
            <a:off x="2514600" y="1390650"/>
            <a:ext cx="46355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64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ext Box 2"/>
          <p:cNvSpPr txBox="1">
            <a:spLocks noChangeArrowheads="1"/>
          </p:cNvSpPr>
          <p:nvPr/>
        </p:nvSpPr>
        <p:spPr bwMode="auto">
          <a:xfrm>
            <a:off x="704850" y="2209800"/>
            <a:ext cx="8210550" cy="265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Fixed Partitioning</a:t>
            </a:r>
          </a:p>
          <a:p>
            <a:pPr>
              <a:buFontTx/>
              <a:buChar char="•"/>
            </a:pPr>
            <a:r>
              <a:rPr lang="en-GB" b="1">
                <a:solidFill>
                  <a:srgbClr val="333399"/>
                </a:solidFill>
              </a:rPr>
              <a:t> </a:t>
            </a:r>
            <a:r>
              <a:rPr lang="en-US" b="1">
                <a:solidFill>
                  <a:srgbClr val="333399"/>
                </a:solidFill>
              </a:rPr>
              <a:t>In this scheme, available memory is divided into fixed portions.</a:t>
            </a:r>
          </a:p>
          <a:p>
            <a:pPr>
              <a:buFontTx/>
              <a:buChar char="•"/>
            </a:pPr>
            <a:r>
              <a:rPr lang="en-US" b="1">
                <a:solidFill>
                  <a:srgbClr val="333399"/>
                </a:solidFill>
              </a:rPr>
              <a:t> Main memory use is inefficient. Any program, no matter how small, occupies an entire partition. This is called </a:t>
            </a:r>
            <a:r>
              <a:rPr lang="en-US" b="1">
                <a:solidFill>
                  <a:srgbClr val="FF0000"/>
                </a:solidFill>
              </a:rPr>
              <a:t>internal fragmentation</a:t>
            </a:r>
            <a:r>
              <a:rPr lang="en-US" b="1">
                <a:solidFill>
                  <a:srgbClr val="333399"/>
                </a:solidFill>
              </a:rPr>
              <a:t>.</a:t>
            </a:r>
            <a:r>
              <a:rPr lang="en-GB" sz="2700" b="1">
                <a:solidFill>
                  <a:srgbClr val="333399"/>
                </a:solidFill>
              </a:rPr>
              <a:t> </a:t>
            </a:r>
          </a:p>
        </p:txBody>
      </p:sp>
      <p:sp>
        <p:nvSpPr>
          <p:cNvPr id="103427" name="Text Box 3"/>
          <p:cNvSpPr txBox="1">
            <a:spLocks noChangeArrowheads="1"/>
          </p:cNvSpPr>
          <p:nvPr/>
        </p:nvSpPr>
        <p:spPr bwMode="auto">
          <a:xfrm>
            <a:off x="1524000" y="346075"/>
            <a:ext cx="6858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Memory Management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ext Box 2"/>
          <p:cNvSpPr txBox="1">
            <a:spLocks noChangeArrowheads="1"/>
          </p:cNvSpPr>
          <p:nvPr/>
        </p:nvSpPr>
        <p:spPr bwMode="auto">
          <a:xfrm>
            <a:off x="704850" y="2209800"/>
            <a:ext cx="8210550" cy="350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Fixed Partitioning – Equal-size partitions</a:t>
            </a:r>
          </a:p>
          <a:p>
            <a:pPr>
              <a:buFontTx/>
              <a:buChar char="•"/>
            </a:pPr>
            <a:r>
              <a:rPr lang="en-GB" b="1">
                <a:solidFill>
                  <a:srgbClr val="333399"/>
                </a:solidFill>
              </a:rPr>
              <a:t> </a:t>
            </a:r>
            <a:r>
              <a:rPr lang="en-US" b="1">
                <a:solidFill>
                  <a:srgbClr val="333399"/>
                </a:solidFill>
              </a:rPr>
              <a:t>Any process whose size is less than or equal to partition size can be loaded into an available partition.</a:t>
            </a:r>
          </a:p>
          <a:p>
            <a:pPr>
              <a:buFontTx/>
              <a:buChar char="•"/>
            </a:pPr>
            <a:r>
              <a:rPr lang="en-US" b="1">
                <a:solidFill>
                  <a:srgbClr val="333399"/>
                </a:solidFill>
              </a:rPr>
              <a:t> If all partitions are full, operating system can </a:t>
            </a:r>
            <a:r>
              <a:rPr lang="en-US" b="1">
                <a:solidFill>
                  <a:srgbClr val="FF0000"/>
                </a:solidFill>
              </a:rPr>
              <a:t>swap</a:t>
            </a:r>
            <a:r>
              <a:rPr lang="en-US" b="1">
                <a:solidFill>
                  <a:srgbClr val="333399"/>
                </a:solidFill>
              </a:rPr>
              <a:t> a process out of a partition.</a:t>
            </a:r>
          </a:p>
          <a:p>
            <a:pPr>
              <a:buFontTx/>
              <a:buChar char="•"/>
            </a:pPr>
            <a:r>
              <a:rPr lang="en-US" b="1">
                <a:solidFill>
                  <a:srgbClr val="333399"/>
                </a:solidFill>
              </a:rPr>
              <a:t> A program may not fit in a partition.  Programmer must design program with overlays.</a:t>
            </a:r>
            <a:endParaRPr lang="en-GB" b="1">
              <a:solidFill>
                <a:srgbClr val="333399"/>
              </a:solidFill>
            </a:endParaRPr>
          </a:p>
        </p:txBody>
      </p:sp>
      <p:sp>
        <p:nvSpPr>
          <p:cNvPr id="104451" name="Text Box 3"/>
          <p:cNvSpPr txBox="1">
            <a:spLocks noChangeArrowheads="1"/>
          </p:cNvSpPr>
          <p:nvPr/>
        </p:nvSpPr>
        <p:spPr bwMode="auto">
          <a:xfrm>
            <a:off x="1524000" y="346075"/>
            <a:ext cx="6858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Memory Management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 Box 2"/>
          <p:cNvSpPr txBox="1">
            <a:spLocks noChangeArrowheads="1"/>
          </p:cNvSpPr>
          <p:nvPr/>
        </p:nvSpPr>
        <p:spPr bwMode="auto">
          <a:xfrm>
            <a:off x="914400" y="2286000"/>
            <a:ext cx="2743200" cy="265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endParaRPr lang="en-GB" b="1">
              <a:solidFill>
                <a:srgbClr val="FF0000"/>
              </a:solidFill>
            </a:endParaRPr>
          </a:p>
          <a:p>
            <a:r>
              <a:rPr lang="en-US">
                <a:solidFill>
                  <a:schemeClr val="accent2"/>
                </a:solidFill>
              </a:rPr>
              <a:t>Because all partitions are of equal size, it does not matter which partition is used.</a:t>
            </a:r>
            <a:endParaRPr lang="en-GB" b="1">
              <a:solidFill>
                <a:srgbClr val="333399"/>
              </a:solidFill>
            </a:endParaRPr>
          </a:p>
        </p:txBody>
      </p:sp>
      <p:sp>
        <p:nvSpPr>
          <p:cNvPr id="9220" name="Text Box 3"/>
          <p:cNvSpPr txBox="1">
            <a:spLocks noChangeArrowheads="1"/>
          </p:cNvSpPr>
          <p:nvPr/>
        </p:nvSpPr>
        <p:spPr bwMode="auto">
          <a:xfrm>
            <a:off x="1524000" y="346075"/>
            <a:ext cx="6858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Memory Management</a:t>
            </a:r>
          </a:p>
        </p:txBody>
      </p:sp>
      <p:graphicFrame>
        <p:nvGraphicFramePr>
          <p:cNvPr id="9218" name="Object 7"/>
          <p:cNvGraphicFramePr>
            <a:graphicFrameLocks noChangeAspect="1"/>
          </p:cNvGraphicFramePr>
          <p:nvPr/>
        </p:nvGraphicFramePr>
        <p:xfrm>
          <a:off x="7323138" y="1524000"/>
          <a:ext cx="1287462" cy="4724400"/>
        </p:xfrm>
        <a:graphic>
          <a:graphicData uri="http://schemas.openxmlformats.org/presentationml/2006/ole">
            <p:oleObj spid="_x0000_s9219" name="RFFlow" r:id="rId4" imgW="1296000" imgH="4752000" progId="">
              <p:embed/>
            </p:oleObj>
          </a:graphicData>
        </a:graphic>
      </p:graphicFrame>
      <p:sp>
        <p:nvSpPr>
          <p:cNvPr id="1203208" name="Rectangle 8"/>
          <p:cNvSpPr>
            <a:spLocks noChangeArrowheads="1"/>
          </p:cNvSpPr>
          <p:nvPr/>
        </p:nvSpPr>
        <p:spPr bwMode="auto">
          <a:xfrm>
            <a:off x="5341938" y="2667000"/>
            <a:ext cx="1143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1800">
                <a:latin typeface="Arial" charset="0"/>
              </a:rPr>
              <a:t>10 M</a:t>
            </a:r>
            <a:endParaRPr lang="tr-TR" sz="1800">
              <a:latin typeface="Arial" charset="0"/>
            </a:endParaRPr>
          </a:p>
        </p:txBody>
      </p:sp>
      <p:sp>
        <p:nvSpPr>
          <p:cNvPr id="1203209" name="Text Box 9"/>
          <p:cNvSpPr txBox="1">
            <a:spLocks noChangeArrowheads="1"/>
          </p:cNvSpPr>
          <p:nvPr/>
        </p:nvSpPr>
        <p:spPr bwMode="auto">
          <a:xfrm>
            <a:off x="5386388" y="2286000"/>
            <a:ext cx="1009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800">
                <a:latin typeface="Arial" charset="0"/>
              </a:rPr>
              <a:t>Process</a:t>
            </a:r>
            <a:endParaRPr lang="tr-TR" sz="1800">
              <a:latin typeface="Arial" charset="0"/>
            </a:endParaRPr>
          </a:p>
        </p:txBody>
      </p:sp>
      <p:sp>
        <p:nvSpPr>
          <p:cNvPr id="1203210" name="Rectangle 10"/>
          <p:cNvSpPr>
            <a:spLocks noChangeArrowheads="1"/>
          </p:cNvSpPr>
          <p:nvPr/>
        </p:nvSpPr>
        <p:spPr bwMode="auto">
          <a:xfrm>
            <a:off x="7399338" y="2827338"/>
            <a:ext cx="1143000" cy="493712"/>
          </a:xfrm>
          <a:prstGeom prst="rect">
            <a:avLst/>
          </a:prstGeom>
          <a:solidFill>
            <a:srgbClr val="F0EAFE"/>
          </a:solidFill>
          <a:ln w="9525">
            <a:solidFill>
              <a:srgbClr val="F7173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tr-TR" sz="1800">
              <a:solidFill>
                <a:srgbClr val="F0EAFE"/>
              </a:solidFill>
              <a:latin typeface="Arial" charset="0"/>
            </a:endParaRPr>
          </a:p>
        </p:txBody>
      </p:sp>
      <p:sp>
        <p:nvSpPr>
          <p:cNvPr id="1203211" name="Rectangle 11"/>
          <p:cNvSpPr>
            <a:spLocks noChangeArrowheads="1"/>
          </p:cNvSpPr>
          <p:nvPr/>
        </p:nvSpPr>
        <p:spPr bwMode="auto">
          <a:xfrm>
            <a:off x="7399338" y="2133600"/>
            <a:ext cx="1143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1800">
                <a:latin typeface="Arial" charset="0"/>
              </a:rPr>
              <a:t>10 M</a:t>
            </a:r>
            <a:endParaRPr lang="tr-TR" sz="1800">
              <a:latin typeface="Arial" charset="0"/>
            </a:endParaRPr>
          </a:p>
        </p:txBody>
      </p:sp>
      <p:sp>
        <p:nvSpPr>
          <p:cNvPr id="1203212" name="Text Box 12"/>
          <p:cNvSpPr txBox="1">
            <a:spLocks noChangeArrowheads="1"/>
          </p:cNvSpPr>
          <p:nvPr/>
        </p:nvSpPr>
        <p:spPr bwMode="auto">
          <a:xfrm>
            <a:off x="7726363" y="2917825"/>
            <a:ext cx="565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800">
                <a:latin typeface="Arial" charset="0"/>
              </a:rPr>
              <a:t>6 M</a:t>
            </a:r>
            <a:endParaRPr lang="tr-TR" sz="1800">
              <a:latin typeface="Arial" charset="0"/>
            </a:endParaRPr>
          </a:p>
        </p:txBody>
      </p:sp>
      <p:sp>
        <p:nvSpPr>
          <p:cNvPr id="1203213" name="AutoShape 13"/>
          <p:cNvSpPr>
            <a:spLocks noChangeArrowheads="1"/>
          </p:cNvSpPr>
          <p:nvPr/>
        </p:nvSpPr>
        <p:spPr bwMode="auto">
          <a:xfrm rot="10322416">
            <a:off x="2900363" y="5095875"/>
            <a:ext cx="3124200" cy="1457325"/>
          </a:xfrm>
          <a:prstGeom prst="wedgeEllipseCallout">
            <a:avLst>
              <a:gd name="adj1" fmla="val -101472"/>
              <a:gd name="adj2" fmla="val 15398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/>
          <a:lstStyle/>
          <a:p>
            <a:pPr algn="ctr" eaLnBrk="1" hangingPunct="1"/>
            <a:endParaRPr lang="tr-TR" sz="1800">
              <a:latin typeface="Arial" charset="0"/>
            </a:endParaRPr>
          </a:p>
        </p:txBody>
      </p:sp>
      <p:sp>
        <p:nvSpPr>
          <p:cNvPr id="1203214" name="Text Box 14"/>
          <p:cNvSpPr txBox="1">
            <a:spLocks noChangeArrowheads="1"/>
          </p:cNvSpPr>
          <p:nvPr/>
        </p:nvSpPr>
        <p:spPr bwMode="auto">
          <a:xfrm>
            <a:off x="3579813" y="5419725"/>
            <a:ext cx="20574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2000" b="1">
                <a:solidFill>
                  <a:srgbClr val="F7173C"/>
                </a:solidFill>
                <a:latin typeface="Arial" charset="0"/>
              </a:rPr>
              <a:t>Internal</a:t>
            </a:r>
          </a:p>
          <a:p>
            <a:pPr eaLnBrk="1" hangingPunct="1"/>
            <a:r>
              <a:rPr lang="en-US" sz="2000" b="1">
                <a:solidFill>
                  <a:srgbClr val="F7173C"/>
                </a:solidFill>
                <a:latin typeface="Arial" charset="0"/>
              </a:rPr>
              <a:t>Fragmentation</a:t>
            </a:r>
          </a:p>
          <a:p>
            <a:pPr eaLnBrk="1" hangingPunct="1"/>
            <a:r>
              <a:rPr lang="en-US" sz="2000" b="1">
                <a:solidFill>
                  <a:srgbClr val="F7173C"/>
                </a:solidFill>
                <a:latin typeface="Arial" charset="0"/>
              </a:rPr>
              <a:t>6M</a:t>
            </a:r>
            <a:endParaRPr lang="tr-TR" sz="2000" b="1">
              <a:solidFill>
                <a:srgbClr val="F7173C"/>
              </a:solidFill>
              <a:latin typeface="Arial" charset="0"/>
            </a:endParaRPr>
          </a:p>
        </p:txBody>
      </p:sp>
      <p:sp>
        <p:nvSpPr>
          <p:cNvPr id="9228" name="Text Box 15"/>
          <p:cNvSpPr txBox="1">
            <a:spLocks noChangeArrowheads="1"/>
          </p:cNvSpPr>
          <p:nvPr/>
        </p:nvSpPr>
        <p:spPr bwMode="auto">
          <a:xfrm>
            <a:off x="762000" y="1066800"/>
            <a:ext cx="67056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Fixed Partitioning Placement Algorithms</a:t>
            </a:r>
          </a:p>
          <a:p>
            <a:r>
              <a:rPr lang="en-GB" b="1">
                <a:solidFill>
                  <a:srgbClr val="FF0000"/>
                </a:solidFill>
              </a:rPr>
              <a:t>Equal-size partitions</a:t>
            </a:r>
            <a:endParaRPr lang="en-GB" b="1">
              <a:solidFill>
                <a:srgbClr val="3333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03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203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03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03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03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03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03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03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03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03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03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03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3208" grpId="0" animBg="1"/>
      <p:bldP spid="1203209" grpId="0"/>
      <p:bldP spid="1203210" grpId="0" animBg="1"/>
      <p:bldP spid="1203211" grpId="0" animBg="1"/>
      <p:bldP spid="1203212" grpId="0"/>
      <p:bldP spid="1203213" grpId="0" animBg="1"/>
      <p:bldP spid="12032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2"/>
          <p:cNvSpPr txBox="1">
            <a:spLocks noChangeArrowheads="1"/>
          </p:cNvSpPr>
          <p:nvPr/>
        </p:nvSpPr>
        <p:spPr bwMode="auto">
          <a:xfrm>
            <a:off x="685800" y="1550988"/>
            <a:ext cx="2743200" cy="3935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endParaRPr lang="en-GB" b="1">
              <a:solidFill>
                <a:srgbClr val="FF0000"/>
              </a:solidFill>
            </a:endParaRPr>
          </a:p>
          <a:p>
            <a:r>
              <a:rPr lang="en-US">
                <a:solidFill>
                  <a:schemeClr val="accent2"/>
                </a:solidFill>
              </a:rPr>
              <a:t>Can assign each process to smallest partition within which it will fit to minimize wasted memory within a partition.</a:t>
            </a:r>
            <a:endParaRPr lang="en-GB">
              <a:solidFill>
                <a:schemeClr val="accent2"/>
              </a:solidFill>
            </a:endParaRPr>
          </a:p>
        </p:txBody>
      </p:sp>
      <p:sp>
        <p:nvSpPr>
          <p:cNvPr id="10244" name="Text Box 3"/>
          <p:cNvSpPr txBox="1">
            <a:spLocks noChangeArrowheads="1"/>
          </p:cNvSpPr>
          <p:nvPr/>
        </p:nvSpPr>
        <p:spPr bwMode="auto">
          <a:xfrm>
            <a:off x="1524000" y="346075"/>
            <a:ext cx="6858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Memory Management</a:t>
            </a:r>
          </a:p>
        </p:txBody>
      </p:sp>
      <p:sp>
        <p:nvSpPr>
          <p:cNvPr id="10245" name="Text Box 12"/>
          <p:cNvSpPr txBox="1">
            <a:spLocks noChangeArrowheads="1"/>
          </p:cNvSpPr>
          <p:nvPr/>
        </p:nvSpPr>
        <p:spPr bwMode="auto">
          <a:xfrm>
            <a:off x="685800" y="1066800"/>
            <a:ext cx="67056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Fixed Partitioning Placement Algorithms</a:t>
            </a:r>
          </a:p>
          <a:p>
            <a:r>
              <a:rPr lang="en-GB" b="1">
                <a:solidFill>
                  <a:srgbClr val="FF0000"/>
                </a:solidFill>
              </a:rPr>
              <a:t>Unequal-size partitions</a:t>
            </a:r>
            <a:endParaRPr lang="en-GB" b="1">
              <a:solidFill>
                <a:srgbClr val="333399"/>
              </a:solidFill>
            </a:endParaRPr>
          </a:p>
        </p:txBody>
      </p:sp>
      <p:graphicFrame>
        <p:nvGraphicFramePr>
          <p:cNvPr id="10242" name="Object 14"/>
          <p:cNvGraphicFramePr>
            <a:graphicFrameLocks noChangeAspect="1"/>
          </p:cNvGraphicFramePr>
          <p:nvPr/>
        </p:nvGraphicFramePr>
        <p:xfrm>
          <a:off x="6877050" y="1638300"/>
          <a:ext cx="1287463" cy="4724400"/>
        </p:xfrm>
        <a:graphic>
          <a:graphicData uri="http://schemas.openxmlformats.org/presentationml/2006/ole">
            <p:oleObj spid="_x0000_s10243" name="RFFlow" r:id="rId4" imgW="1296000" imgH="4752000" progId="">
              <p:embed/>
            </p:oleObj>
          </a:graphicData>
        </a:graphic>
      </p:graphicFrame>
      <p:sp>
        <p:nvSpPr>
          <p:cNvPr id="1205265" name="Rectangle 17"/>
          <p:cNvSpPr>
            <a:spLocks noChangeArrowheads="1"/>
          </p:cNvSpPr>
          <p:nvPr/>
        </p:nvSpPr>
        <p:spPr bwMode="auto">
          <a:xfrm>
            <a:off x="4895850" y="2705100"/>
            <a:ext cx="1143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1800">
                <a:latin typeface="Arial" charset="0"/>
              </a:rPr>
              <a:t>10 M</a:t>
            </a:r>
            <a:endParaRPr lang="tr-TR" sz="1800">
              <a:latin typeface="Arial" charset="0"/>
            </a:endParaRPr>
          </a:p>
        </p:txBody>
      </p:sp>
      <p:sp>
        <p:nvSpPr>
          <p:cNvPr id="1205266" name="Text Box 18"/>
          <p:cNvSpPr txBox="1">
            <a:spLocks noChangeArrowheads="1"/>
          </p:cNvSpPr>
          <p:nvPr/>
        </p:nvSpPr>
        <p:spPr bwMode="auto">
          <a:xfrm>
            <a:off x="4940300" y="2324100"/>
            <a:ext cx="1009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800">
                <a:latin typeface="Arial" charset="0"/>
              </a:rPr>
              <a:t>Process</a:t>
            </a:r>
            <a:endParaRPr lang="tr-TR" sz="1800">
              <a:latin typeface="Arial" charset="0"/>
            </a:endParaRPr>
          </a:p>
        </p:txBody>
      </p:sp>
      <p:sp>
        <p:nvSpPr>
          <p:cNvPr id="1205267" name="Rectangle 19"/>
          <p:cNvSpPr>
            <a:spLocks noChangeArrowheads="1"/>
          </p:cNvSpPr>
          <p:nvPr/>
        </p:nvSpPr>
        <p:spPr bwMode="auto">
          <a:xfrm>
            <a:off x="6946900" y="4286250"/>
            <a:ext cx="1143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1800">
                <a:latin typeface="Arial" charset="0"/>
              </a:rPr>
              <a:t>10 M</a:t>
            </a:r>
            <a:endParaRPr lang="tr-TR" sz="1800">
              <a:latin typeface="Arial" charset="0"/>
            </a:endParaRPr>
          </a:p>
        </p:txBody>
      </p:sp>
      <p:sp>
        <p:nvSpPr>
          <p:cNvPr id="1205268" name="Text Box 20"/>
          <p:cNvSpPr txBox="1">
            <a:spLocks noChangeArrowheads="1"/>
          </p:cNvSpPr>
          <p:nvPr/>
        </p:nvSpPr>
        <p:spPr bwMode="auto">
          <a:xfrm>
            <a:off x="8248650" y="4838700"/>
            <a:ext cx="565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800">
                <a:solidFill>
                  <a:srgbClr val="F7173C"/>
                </a:solidFill>
                <a:latin typeface="Arial" charset="0"/>
              </a:rPr>
              <a:t>2 M</a:t>
            </a:r>
            <a:endParaRPr lang="tr-TR" sz="1800">
              <a:solidFill>
                <a:srgbClr val="F7173C"/>
              </a:solidFill>
              <a:latin typeface="Arial" charset="0"/>
            </a:endParaRPr>
          </a:p>
        </p:txBody>
      </p:sp>
      <p:sp>
        <p:nvSpPr>
          <p:cNvPr id="1205269" name="AutoShape 21"/>
          <p:cNvSpPr>
            <a:spLocks noChangeArrowheads="1"/>
          </p:cNvSpPr>
          <p:nvPr/>
        </p:nvSpPr>
        <p:spPr bwMode="auto">
          <a:xfrm rot="10322416">
            <a:off x="1612900" y="5230813"/>
            <a:ext cx="2897188" cy="1304925"/>
          </a:xfrm>
          <a:prstGeom prst="wedgeEllipseCallout">
            <a:avLst>
              <a:gd name="adj1" fmla="val -134167"/>
              <a:gd name="adj2" fmla="val 2312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/>
          <a:lstStyle/>
          <a:p>
            <a:pPr algn="ctr" eaLnBrk="1" hangingPunct="1"/>
            <a:endParaRPr lang="tr-TR" sz="1800">
              <a:latin typeface="Arial" charset="0"/>
            </a:endParaRPr>
          </a:p>
        </p:txBody>
      </p:sp>
      <p:sp>
        <p:nvSpPr>
          <p:cNvPr id="1205270" name="Text Box 22"/>
          <p:cNvSpPr txBox="1">
            <a:spLocks noChangeArrowheads="1"/>
          </p:cNvSpPr>
          <p:nvPr/>
        </p:nvSpPr>
        <p:spPr bwMode="auto">
          <a:xfrm>
            <a:off x="2305050" y="5372100"/>
            <a:ext cx="20574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2000" b="1">
                <a:solidFill>
                  <a:srgbClr val="F7173C"/>
                </a:solidFill>
                <a:latin typeface="Arial" charset="0"/>
              </a:rPr>
              <a:t>Internal</a:t>
            </a:r>
          </a:p>
          <a:p>
            <a:pPr eaLnBrk="1" hangingPunct="1"/>
            <a:r>
              <a:rPr lang="en-US" sz="2000" b="1">
                <a:solidFill>
                  <a:srgbClr val="F7173C"/>
                </a:solidFill>
                <a:latin typeface="Arial" charset="0"/>
              </a:rPr>
              <a:t>Fragmentation</a:t>
            </a:r>
          </a:p>
          <a:p>
            <a:pPr eaLnBrk="1" hangingPunct="1"/>
            <a:r>
              <a:rPr lang="en-US" sz="2000" b="1">
                <a:solidFill>
                  <a:srgbClr val="F7173C"/>
                </a:solidFill>
                <a:latin typeface="Arial" charset="0"/>
              </a:rPr>
              <a:t>2M</a:t>
            </a:r>
            <a:endParaRPr lang="tr-TR" sz="2000" b="1">
              <a:solidFill>
                <a:srgbClr val="F7173C"/>
              </a:solidFill>
              <a:latin typeface="Arial" charset="0"/>
            </a:endParaRPr>
          </a:p>
        </p:txBody>
      </p:sp>
      <p:sp>
        <p:nvSpPr>
          <p:cNvPr id="1205271" name="Rectangle 23"/>
          <p:cNvSpPr>
            <a:spLocks noChangeArrowheads="1"/>
          </p:cNvSpPr>
          <p:nvPr/>
        </p:nvSpPr>
        <p:spPr bwMode="auto">
          <a:xfrm>
            <a:off x="6946900" y="4978400"/>
            <a:ext cx="1143000" cy="165100"/>
          </a:xfrm>
          <a:prstGeom prst="rect">
            <a:avLst/>
          </a:prstGeom>
          <a:solidFill>
            <a:srgbClr val="F0EAFE"/>
          </a:solidFill>
          <a:ln w="9525">
            <a:solidFill>
              <a:srgbClr val="F7173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tr-TR" sz="180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05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205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05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05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05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05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05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05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052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052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05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05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5265" grpId="0" animBg="1"/>
      <p:bldP spid="1205266" grpId="0"/>
      <p:bldP spid="1205267" grpId="0" animBg="1"/>
      <p:bldP spid="1205268" grpId="0"/>
      <p:bldP spid="1205269" grpId="0" animBg="1"/>
      <p:bldP spid="1205270" grpId="0"/>
      <p:bldP spid="120527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ext Box 2"/>
          <p:cNvSpPr txBox="1">
            <a:spLocks noChangeArrowheads="1"/>
          </p:cNvSpPr>
          <p:nvPr/>
        </p:nvSpPr>
        <p:spPr bwMode="auto">
          <a:xfrm>
            <a:off x="685800" y="2146300"/>
            <a:ext cx="8210550" cy="265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Variable-size Partitions (Dynamic Partitioning)</a:t>
            </a:r>
          </a:p>
          <a:p>
            <a:pPr>
              <a:buFontTx/>
              <a:buChar char="•"/>
            </a:pPr>
            <a:r>
              <a:rPr lang="en-GB" b="1">
                <a:solidFill>
                  <a:srgbClr val="333399"/>
                </a:solidFill>
              </a:rPr>
              <a:t> </a:t>
            </a:r>
            <a:r>
              <a:rPr lang="en-US" b="1">
                <a:solidFill>
                  <a:srgbClr val="333399"/>
                </a:solidFill>
              </a:rPr>
              <a:t>Partitions are of variable length and number.</a:t>
            </a:r>
          </a:p>
          <a:p>
            <a:pPr>
              <a:buFontTx/>
              <a:buChar char="•"/>
            </a:pPr>
            <a:r>
              <a:rPr lang="en-US" b="1">
                <a:solidFill>
                  <a:srgbClr val="333399"/>
                </a:solidFill>
              </a:rPr>
              <a:t> Process is allocated exactly as much memory as required.</a:t>
            </a:r>
          </a:p>
          <a:p>
            <a:pPr>
              <a:buFontTx/>
              <a:buChar char="•"/>
            </a:pPr>
            <a:r>
              <a:rPr lang="en-US" b="1">
                <a:solidFill>
                  <a:srgbClr val="333399"/>
                </a:solidFill>
              </a:rPr>
              <a:t> Eventually get holes in memory. This is called </a:t>
            </a:r>
            <a:r>
              <a:rPr lang="en-US" b="1">
                <a:solidFill>
                  <a:srgbClr val="FF0000"/>
                </a:solidFill>
              </a:rPr>
              <a:t>external fragmentation</a:t>
            </a:r>
            <a:r>
              <a:rPr lang="en-US" b="1">
                <a:solidFill>
                  <a:srgbClr val="333399"/>
                </a:solidFill>
              </a:rPr>
              <a:t>.</a:t>
            </a:r>
            <a:endParaRPr lang="en-GB" b="1">
              <a:solidFill>
                <a:srgbClr val="333399"/>
              </a:solidFill>
            </a:endParaRPr>
          </a:p>
        </p:txBody>
      </p:sp>
      <p:sp>
        <p:nvSpPr>
          <p:cNvPr id="105475" name="Text Box 3"/>
          <p:cNvSpPr txBox="1">
            <a:spLocks noChangeArrowheads="1"/>
          </p:cNvSpPr>
          <p:nvPr/>
        </p:nvSpPr>
        <p:spPr bwMode="auto">
          <a:xfrm>
            <a:off x="1524000" y="346075"/>
            <a:ext cx="6858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Memory Management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ext Box 2"/>
          <p:cNvSpPr txBox="1">
            <a:spLocks noChangeArrowheads="1"/>
          </p:cNvSpPr>
          <p:nvPr/>
        </p:nvSpPr>
        <p:spPr bwMode="auto">
          <a:xfrm>
            <a:off x="685800" y="1371600"/>
            <a:ext cx="8210550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Variable-size Partitions (Dynamic Partitioning)</a:t>
            </a:r>
          </a:p>
          <a:p>
            <a:endParaRPr lang="en-US" b="1">
              <a:solidFill>
                <a:srgbClr val="333399"/>
              </a:solidFill>
            </a:endParaRPr>
          </a:p>
          <a:p>
            <a:r>
              <a:rPr lang="en-US" b="1">
                <a:solidFill>
                  <a:srgbClr val="333399"/>
                </a:solidFill>
              </a:rPr>
              <a:t>Assume 64 Mbytes of main memory is available for processes:</a:t>
            </a:r>
            <a:endParaRPr lang="en-GB" b="1">
              <a:solidFill>
                <a:srgbClr val="333399"/>
              </a:solidFill>
            </a:endParaRPr>
          </a:p>
        </p:txBody>
      </p:sp>
      <p:sp>
        <p:nvSpPr>
          <p:cNvPr id="106499" name="Text Box 3"/>
          <p:cNvSpPr txBox="1">
            <a:spLocks noChangeArrowheads="1"/>
          </p:cNvSpPr>
          <p:nvPr/>
        </p:nvSpPr>
        <p:spPr bwMode="auto">
          <a:xfrm>
            <a:off x="1524000" y="346075"/>
            <a:ext cx="6858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Memory Management</a:t>
            </a:r>
          </a:p>
        </p:txBody>
      </p:sp>
      <p:sp>
        <p:nvSpPr>
          <p:cNvPr id="1209348" name="Rectangle 4"/>
          <p:cNvSpPr>
            <a:spLocks noChangeArrowheads="1"/>
          </p:cNvSpPr>
          <p:nvPr/>
        </p:nvSpPr>
        <p:spPr bwMode="auto">
          <a:xfrm>
            <a:off x="3143250" y="4060825"/>
            <a:ext cx="1066800" cy="858838"/>
          </a:xfrm>
          <a:prstGeom prst="rect">
            <a:avLst/>
          </a:prstGeom>
          <a:solidFill>
            <a:srgbClr val="F0EAFE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800" b="1">
                <a:latin typeface="Arial" charset="0"/>
              </a:rPr>
              <a:t>P2</a:t>
            </a:r>
          </a:p>
          <a:p>
            <a:pPr algn="ctr" eaLnBrk="1" hangingPunct="1">
              <a:defRPr/>
            </a:pPr>
            <a:r>
              <a:rPr lang="en-US" sz="1800" b="1">
                <a:latin typeface="Arial" charset="0"/>
              </a:rPr>
              <a:t>14 M</a:t>
            </a:r>
            <a:endParaRPr lang="tr-TR" sz="1800" b="1">
              <a:latin typeface="Arial" charset="0"/>
            </a:endParaRPr>
          </a:p>
        </p:txBody>
      </p:sp>
      <p:sp>
        <p:nvSpPr>
          <p:cNvPr id="1209349" name="Rectangle 5"/>
          <p:cNvSpPr>
            <a:spLocks noChangeArrowheads="1"/>
          </p:cNvSpPr>
          <p:nvPr/>
        </p:nvSpPr>
        <p:spPr bwMode="auto">
          <a:xfrm>
            <a:off x="1695450" y="4038600"/>
            <a:ext cx="1066800" cy="1219200"/>
          </a:xfrm>
          <a:prstGeom prst="rect">
            <a:avLst/>
          </a:prstGeom>
          <a:solidFill>
            <a:srgbClr val="F0EAFE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800" b="1">
                <a:latin typeface="Arial" charset="0"/>
              </a:rPr>
              <a:t>P1</a:t>
            </a:r>
          </a:p>
          <a:p>
            <a:pPr algn="ctr" eaLnBrk="1" hangingPunct="1">
              <a:defRPr/>
            </a:pPr>
            <a:r>
              <a:rPr lang="en-US" sz="1800" b="1">
                <a:latin typeface="Arial" charset="0"/>
              </a:rPr>
              <a:t>20 M</a:t>
            </a:r>
            <a:endParaRPr lang="tr-TR" sz="1800" b="1">
              <a:latin typeface="Arial" charset="0"/>
            </a:endParaRPr>
          </a:p>
        </p:txBody>
      </p:sp>
      <p:sp>
        <p:nvSpPr>
          <p:cNvPr id="1209350" name="Rectangle 6"/>
          <p:cNvSpPr>
            <a:spLocks noChangeArrowheads="1"/>
          </p:cNvSpPr>
          <p:nvPr/>
        </p:nvSpPr>
        <p:spPr bwMode="auto">
          <a:xfrm>
            <a:off x="4613275" y="4006850"/>
            <a:ext cx="1066800" cy="1096963"/>
          </a:xfrm>
          <a:prstGeom prst="rect">
            <a:avLst/>
          </a:prstGeom>
          <a:solidFill>
            <a:srgbClr val="F0EAFE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800" b="1">
                <a:latin typeface="Arial" charset="0"/>
              </a:rPr>
              <a:t>P3</a:t>
            </a:r>
          </a:p>
          <a:p>
            <a:pPr algn="ctr" eaLnBrk="1" hangingPunct="1">
              <a:defRPr/>
            </a:pPr>
            <a:r>
              <a:rPr lang="en-US" sz="1800" b="1">
                <a:latin typeface="Arial" charset="0"/>
              </a:rPr>
              <a:t>18 M</a:t>
            </a:r>
            <a:endParaRPr lang="tr-TR" sz="1800" b="1">
              <a:latin typeface="Arial" charset="0"/>
            </a:endParaRPr>
          </a:p>
        </p:txBody>
      </p:sp>
      <p:sp>
        <p:nvSpPr>
          <p:cNvPr id="1209351" name="Rectangle 7"/>
          <p:cNvSpPr>
            <a:spLocks noChangeArrowheads="1"/>
          </p:cNvSpPr>
          <p:nvPr/>
        </p:nvSpPr>
        <p:spPr bwMode="auto">
          <a:xfrm>
            <a:off x="6213475" y="4137025"/>
            <a:ext cx="1066800" cy="493713"/>
          </a:xfrm>
          <a:prstGeom prst="rect">
            <a:avLst/>
          </a:prstGeom>
          <a:solidFill>
            <a:srgbClr val="F0EAFE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800" b="1">
                <a:latin typeface="Arial" charset="0"/>
              </a:rPr>
              <a:t>P4</a:t>
            </a:r>
          </a:p>
          <a:p>
            <a:pPr algn="ctr" eaLnBrk="1" hangingPunct="1">
              <a:defRPr/>
            </a:pPr>
            <a:r>
              <a:rPr lang="en-US" sz="1800" b="1">
                <a:latin typeface="Arial" charset="0"/>
              </a:rPr>
              <a:t>8 M</a:t>
            </a:r>
            <a:endParaRPr lang="tr-TR" sz="1800" b="1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09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09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09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09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9348" grpId="0" animBg="1"/>
      <p:bldP spid="1209349" grpId="0" animBg="1"/>
      <p:bldP spid="1209350" grpId="0" animBg="1"/>
      <p:bldP spid="120935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ext Box 2"/>
          <p:cNvSpPr txBox="1">
            <a:spLocks noChangeArrowheads="1"/>
          </p:cNvSpPr>
          <p:nvPr/>
        </p:nvSpPr>
        <p:spPr bwMode="auto">
          <a:xfrm>
            <a:off x="685800" y="1371600"/>
            <a:ext cx="82105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Variable-size Partitions (Dynamic Partitioning)</a:t>
            </a:r>
          </a:p>
        </p:txBody>
      </p:sp>
      <p:sp>
        <p:nvSpPr>
          <p:cNvPr id="107523" name="Text Box 3"/>
          <p:cNvSpPr txBox="1">
            <a:spLocks noChangeArrowheads="1"/>
          </p:cNvSpPr>
          <p:nvPr/>
        </p:nvSpPr>
        <p:spPr bwMode="auto">
          <a:xfrm>
            <a:off x="1524000" y="346075"/>
            <a:ext cx="6858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Memory Management</a:t>
            </a:r>
          </a:p>
        </p:txBody>
      </p:sp>
      <p:sp>
        <p:nvSpPr>
          <p:cNvPr id="107524" name="Rectangle 9"/>
          <p:cNvSpPr>
            <a:spLocks noChangeArrowheads="1"/>
          </p:cNvSpPr>
          <p:nvPr/>
        </p:nvSpPr>
        <p:spPr bwMode="auto">
          <a:xfrm>
            <a:off x="4267200" y="3352800"/>
            <a:ext cx="29718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en-US" b="1">
                <a:solidFill>
                  <a:schemeClr val="accent2"/>
                </a:solidFill>
              </a:rPr>
              <a:t>Initially, main memory is empty, expect for operating system.</a:t>
            </a:r>
          </a:p>
        </p:txBody>
      </p:sp>
      <p:pic>
        <p:nvPicPr>
          <p:cNvPr id="107525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7400" y="2362200"/>
            <a:ext cx="17399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ext Box 2"/>
          <p:cNvSpPr txBox="1">
            <a:spLocks noChangeArrowheads="1"/>
          </p:cNvSpPr>
          <p:nvPr/>
        </p:nvSpPr>
        <p:spPr bwMode="auto">
          <a:xfrm>
            <a:off x="685800" y="1066800"/>
            <a:ext cx="82105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Variable-size Partitions (Dynamic Partitioning)</a:t>
            </a:r>
          </a:p>
        </p:txBody>
      </p:sp>
      <p:sp>
        <p:nvSpPr>
          <p:cNvPr id="108547" name="Text Box 3"/>
          <p:cNvSpPr txBox="1">
            <a:spLocks noChangeArrowheads="1"/>
          </p:cNvSpPr>
          <p:nvPr/>
        </p:nvSpPr>
        <p:spPr bwMode="auto">
          <a:xfrm>
            <a:off x="1524000" y="346075"/>
            <a:ext cx="6858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Memory Management</a:t>
            </a:r>
          </a:p>
        </p:txBody>
      </p:sp>
      <p:sp>
        <p:nvSpPr>
          <p:cNvPr id="108548" name="Rectangle 7"/>
          <p:cNvSpPr>
            <a:spLocks noChangeArrowheads="1"/>
          </p:cNvSpPr>
          <p:nvPr/>
        </p:nvSpPr>
        <p:spPr bwMode="auto">
          <a:xfrm>
            <a:off x="5867400" y="1524000"/>
            <a:ext cx="3276600" cy="392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20000"/>
              </a:spcBef>
              <a:spcAft>
                <a:spcPct val="10000"/>
              </a:spcAft>
            </a:pPr>
            <a:r>
              <a:rPr lang="en-US" sz="2000" b="1">
                <a:solidFill>
                  <a:schemeClr val="accent2"/>
                </a:solidFill>
                <a:latin typeface="Arial" charset="0"/>
              </a:rPr>
              <a:t>First three processes are loaded in, starting where operating system ends and occupying </a:t>
            </a:r>
            <a:r>
              <a:rPr lang="en-US" sz="2000" b="1">
                <a:solidFill>
                  <a:srgbClr val="FF0000"/>
                </a:solidFill>
                <a:latin typeface="Arial" charset="0"/>
              </a:rPr>
              <a:t>just enough space for each process</a:t>
            </a:r>
            <a:r>
              <a:rPr lang="en-US" sz="2000" b="1">
                <a:solidFill>
                  <a:schemeClr val="accent2"/>
                </a:solidFill>
                <a:latin typeface="Arial" charset="0"/>
              </a:rPr>
              <a:t>.</a:t>
            </a:r>
          </a:p>
          <a:p>
            <a:pPr eaLnBrk="1" hangingPunct="1">
              <a:spcBef>
                <a:spcPct val="20000"/>
              </a:spcBef>
              <a:spcAft>
                <a:spcPct val="10000"/>
              </a:spcAft>
            </a:pPr>
            <a:endParaRPr lang="en-US" sz="2000" b="1">
              <a:solidFill>
                <a:schemeClr val="accent2"/>
              </a:solidFill>
              <a:latin typeface="Arial" charset="0"/>
            </a:endParaRPr>
          </a:p>
          <a:p>
            <a:pPr eaLnBrk="1" hangingPunct="1">
              <a:spcBef>
                <a:spcPct val="20000"/>
              </a:spcBef>
              <a:spcAft>
                <a:spcPct val="10000"/>
              </a:spcAft>
            </a:pPr>
            <a:r>
              <a:rPr lang="en-US" sz="2000" b="1">
                <a:solidFill>
                  <a:schemeClr val="accent2"/>
                </a:solidFill>
                <a:latin typeface="Arial" charset="0"/>
              </a:rPr>
              <a:t>This leaves a “</a:t>
            </a:r>
            <a:r>
              <a:rPr lang="en-US" sz="2000" b="1">
                <a:solidFill>
                  <a:srgbClr val="FF0000"/>
                </a:solidFill>
                <a:latin typeface="Arial" charset="0"/>
              </a:rPr>
              <a:t>hole</a:t>
            </a:r>
            <a:r>
              <a:rPr lang="en-US" sz="2000" b="1">
                <a:solidFill>
                  <a:schemeClr val="accent2"/>
                </a:solidFill>
                <a:latin typeface="Arial" charset="0"/>
              </a:rPr>
              <a:t>” at end of memory that is too small for fourth process that needs 8 Mbytes. </a:t>
            </a:r>
          </a:p>
          <a:p>
            <a:pPr algn="ctr" eaLnBrk="1" hangingPunct="1">
              <a:spcBef>
                <a:spcPct val="20000"/>
              </a:spcBef>
              <a:spcAft>
                <a:spcPct val="10000"/>
              </a:spcAft>
            </a:pPr>
            <a:r>
              <a:rPr lang="en-US" sz="2000">
                <a:latin typeface="Arial" charset="0"/>
              </a:rPr>
              <a:t>	</a:t>
            </a:r>
          </a:p>
        </p:txBody>
      </p:sp>
      <p:pic>
        <p:nvPicPr>
          <p:cNvPr id="108549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0050" y="1695450"/>
            <a:ext cx="5105400" cy="284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13451" name="Rectangle 11"/>
          <p:cNvSpPr>
            <a:spLocks noChangeArrowheads="1"/>
          </p:cNvSpPr>
          <p:nvPr/>
        </p:nvSpPr>
        <p:spPr bwMode="auto">
          <a:xfrm>
            <a:off x="2076450" y="1619250"/>
            <a:ext cx="1752600" cy="3124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3452" name="Rectangle 12"/>
          <p:cNvSpPr>
            <a:spLocks noChangeArrowheads="1"/>
          </p:cNvSpPr>
          <p:nvPr/>
        </p:nvSpPr>
        <p:spPr bwMode="auto">
          <a:xfrm>
            <a:off x="4057650" y="1619250"/>
            <a:ext cx="1752600" cy="3124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712" name="Rectangle 13"/>
          <p:cNvSpPr>
            <a:spLocks noChangeArrowheads="1"/>
          </p:cNvSpPr>
          <p:nvPr/>
        </p:nvSpPr>
        <p:spPr bwMode="auto">
          <a:xfrm>
            <a:off x="1943100" y="4746625"/>
            <a:ext cx="838200" cy="663575"/>
          </a:xfrm>
          <a:prstGeom prst="rect">
            <a:avLst/>
          </a:prstGeom>
          <a:solidFill>
            <a:srgbClr val="F0EAFE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800" b="1">
                <a:latin typeface="Arial" charset="0"/>
              </a:rPr>
              <a:t>P2</a:t>
            </a:r>
          </a:p>
          <a:p>
            <a:pPr algn="ctr" eaLnBrk="1" hangingPunct="1">
              <a:defRPr/>
            </a:pPr>
            <a:r>
              <a:rPr lang="en-US" sz="1800" b="1">
                <a:latin typeface="Arial" charset="0"/>
              </a:rPr>
              <a:t>14 M</a:t>
            </a:r>
            <a:endParaRPr lang="tr-TR" sz="1800" b="1">
              <a:latin typeface="Arial" charset="0"/>
            </a:endParaRPr>
          </a:p>
        </p:txBody>
      </p:sp>
      <p:sp>
        <p:nvSpPr>
          <p:cNvPr id="72713" name="Rectangle 14"/>
          <p:cNvSpPr>
            <a:spLocks noChangeArrowheads="1"/>
          </p:cNvSpPr>
          <p:nvPr/>
        </p:nvSpPr>
        <p:spPr bwMode="auto">
          <a:xfrm>
            <a:off x="495300" y="4724400"/>
            <a:ext cx="914400" cy="990600"/>
          </a:xfrm>
          <a:prstGeom prst="rect">
            <a:avLst/>
          </a:prstGeom>
          <a:solidFill>
            <a:srgbClr val="F0EAFE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800" b="1">
                <a:latin typeface="Arial" charset="0"/>
              </a:rPr>
              <a:t>P1</a:t>
            </a:r>
          </a:p>
          <a:p>
            <a:pPr algn="ctr" eaLnBrk="1" hangingPunct="1">
              <a:defRPr/>
            </a:pPr>
            <a:r>
              <a:rPr lang="en-US" sz="1800" b="1">
                <a:latin typeface="Arial" charset="0"/>
              </a:rPr>
              <a:t>20 M</a:t>
            </a:r>
            <a:endParaRPr lang="tr-TR" sz="1800" b="1">
              <a:latin typeface="Arial" charset="0"/>
            </a:endParaRPr>
          </a:p>
        </p:txBody>
      </p:sp>
      <p:sp>
        <p:nvSpPr>
          <p:cNvPr id="72714" name="Rectangle 15"/>
          <p:cNvSpPr>
            <a:spLocks noChangeArrowheads="1"/>
          </p:cNvSpPr>
          <p:nvPr/>
        </p:nvSpPr>
        <p:spPr bwMode="auto">
          <a:xfrm>
            <a:off x="3413125" y="4692650"/>
            <a:ext cx="892175" cy="869950"/>
          </a:xfrm>
          <a:prstGeom prst="rect">
            <a:avLst/>
          </a:prstGeom>
          <a:solidFill>
            <a:srgbClr val="F0EAFE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800" b="1">
                <a:latin typeface="Arial" charset="0"/>
              </a:rPr>
              <a:t>P3</a:t>
            </a:r>
          </a:p>
          <a:p>
            <a:pPr algn="ctr" eaLnBrk="1" hangingPunct="1">
              <a:defRPr/>
            </a:pPr>
            <a:r>
              <a:rPr lang="en-US" sz="1800" b="1">
                <a:latin typeface="Arial" charset="0"/>
              </a:rPr>
              <a:t>18 M</a:t>
            </a:r>
            <a:endParaRPr lang="tr-TR" sz="1800" b="1">
              <a:latin typeface="Arial" charset="0"/>
            </a:endParaRPr>
          </a:p>
        </p:txBody>
      </p:sp>
      <p:sp>
        <p:nvSpPr>
          <p:cNvPr id="72715" name="Rectangle 16"/>
          <p:cNvSpPr>
            <a:spLocks noChangeArrowheads="1"/>
          </p:cNvSpPr>
          <p:nvPr/>
        </p:nvSpPr>
        <p:spPr bwMode="auto">
          <a:xfrm>
            <a:off x="4686300" y="4800600"/>
            <a:ext cx="968375" cy="434975"/>
          </a:xfrm>
          <a:prstGeom prst="rect">
            <a:avLst/>
          </a:prstGeom>
          <a:solidFill>
            <a:srgbClr val="F0EAFE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800" b="1">
                <a:latin typeface="Arial" charset="0"/>
              </a:rPr>
              <a:t>P4</a:t>
            </a:r>
          </a:p>
          <a:p>
            <a:pPr algn="ctr" eaLnBrk="1" hangingPunct="1">
              <a:defRPr/>
            </a:pPr>
            <a:r>
              <a:rPr lang="en-US" sz="1800" b="1">
                <a:latin typeface="Arial" charset="0"/>
              </a:rPr>
              <a:t>8 M</a:t>
            </a:r>
            <a:endParaRPr lang="tr-TR" sz="1800" b="1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213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13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000"/>
                                        <p:tgtEl>
                                          <p:spTgt spid="1213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13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3451" grpId="0" animBg="1"/>
      <p:bldP spid="121345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ext Box 2"/>
          <p:cNvSpPr txBox="1">
            <a:spLocks noChangeArrowheads="1"/>
          </p:cNvSpPr>
          <p:nvPr/>
        </p:nvSpPr>
        <p:spPr bwMode="auto">
          <a:xfrm>
            <a:off x="647700" y="914400"/>
            <a:ext cx="82105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Variable-size Partitions (Dynamic Partitioning)</a:t>
            </a:r>
          </a:p>
        </p:txBody>
      </p:sp>
      <p:sp>
        <p:nvSpPr>
          <p:cNvPr id="109571" name="Text Box 3"/>
          <p:cNvSpPr txBox="1">
            <a:spLocks noChangeArrowheads="1"/>
          </p:cNvSpPr>
          <p:nvPr/>
        </p:nvSpPr>
        <p:spPr bwMode="auto">
          <a:xfrm>
            <a:off x="1524000" y="346075"/>
            <a:ext cx="6858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Memory Management</a:t>
            </a:r>
          </a:p>
        </p:txBody>
      </p:sp>
      <p:sp>
        <p:nvSpPr>
          <p:cNvPr id="109572" name="Text Box 7"/>
          <p:cNvSpPr txBox="1">
            <a:spLocks noChangeArrowheads="1"/>
          </p:cNvSpPr>
          <p:nvPr/>
        </p:nvSpPr>
        <p:spPr bwMode="auto">
          <a:xfrm>
            <a:off x="361950" y="4914900"/>
            <a:ext cx="8763000" cy="135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spcAft>
                <a:spcPct val="10000"/>
              </a:spcAft>
              <a:buFontTx/>
              <a:buChar char="•"/>
            </a:pPr>
            <a:r>
              <a:rPr lang="en-US" sz="1800" b="1">
                <a:solidFill>
                  <a:schemeClr val="accent2"/>
                </a:solidFill>
                <a:latin typeface="Arial" charset="0"/>
              </a:rPr>
              <a:t> At some point, none of processes in memory is ready.</a:t>
            </a:r>
          </a:p>
          <a:p>
            <a:pPr eaLnBrk="1" hangingPunct="1">
              <a:spcBef>
                <a:spcPct val="20000"/>
              </a:spcBef>
              <a:spcAft>
                <a:spcPct val="10000"/>
              </a:spcAft>
              <a:buFontTx/>
              <a:buChar char="•"/>
            </a:pPr>
            <a:r>
              <a:rPr lang="en-US" sz="1800" b="1">
                <a:solidFill>
                  <a:schemeClr val="accent2"/>
                </a:solidFill>
                <a:latin typeface="Arial" charset="0"/>
              </a:rPr>
              <a:t> Operating system swaps out process 2, which leaves sufficient room to load a new process, process 4.</a:t>
            </a:r>
          </a:p>
          <a:p>
            <a:pPr eaLnBrk="1" hangingPunct="1">
              <a:spcBef>
                <a:spcPct val="20000"/>
              </a:spcBef>
              <a:spcAft>
                <a:spcPct val="10000"/>
              </a:spcAft>
              <a:buFontTx/>
              <a:buChar char="•"/>
            </a:pPr>
            <a:r>
              <a:rPr lang="en-US" sz="1800" b="1">
                <a:solidFill>
                  <a:schemeClr val="accent2"/>
                </a:solidFill>
                <a:latin typeface="Arial" charset="0"/>
              </a:rPr>
              <a:t> Because process 4 is smaller than process 2, another small hole is created.</a:t>
            </a:r>
            <a:endParaRPr lang="tr-TR" sz="1800" b="1">
              <a:solidFill>
                <a:schemeClr val="accent2"/>
              </a:solidFill>
              <a:latin typeface="Arial" charset="0"/>
            </a:endParaRPr>
          </a:p>
        </p:txBody>
      </p:sp>
      <p:pic>
        <p:nvPicPr>
          <p:cNvPr id="109573" name="Picture 1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63775" y="1390650"/>
            <a:ext cx="3962400" cy="332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9574" name="Picture 1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5150" y="1574800"/>
            <a:ext cx="164465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15505" name="Rectangle 17"/>
          <p:cNvSpPr>
            <a:spLocks noChangeArrowheads="1"/>
          </p:cNvSpPr>
          <p:nvPr/>
        </p:nvSpPr>
        <p:spPr bwMode="auto">
          <a:xfrm>
            <a:off x="2362200" y="1466850"/>
            <a:ext cx="1828800" cy="3429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5506" name="Rectangle 18"/>
          <p:cNvSpPr>
            <a:spLocks noChangeArrowheads="1"/>
          </p:cNvSpPr>
          <p:nvPr/>
        </p:nvSpPr>
        <p:spPr bwMode="auto">
          <a:xfrm>
            <a:off x="4495800" y="1466850"/>
            <a:ext cx="1828800" cy="3429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2155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15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000"/>
                                        <p:tgtEl>
                                          <p:spTgt spid="12155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1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5505" grpId="0" animBg="1"/>
      <p:bldP spid="121550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ext Box 2"/>
          <p:cNvSpPr txBox="1">
            <a:spLocks noChangeArrowheads="1"/>
          </p:cNvSpPr>
          <p:nvPr/>
        </p:nvSpPr>
        <p:spPr bwMode="auto">
          <a:xfrm>
            <a:off x="647700" y="914400"/>
            <a:ext cx="82105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Variable-size Partitions (Dynamic Partitioning)</a:t>
            </a:r>
          </a:p>
        </p:txBody>
      </p:sp>
      <p:sp>
        <p:nvSpPr>
          <p:cNvPr id="110595" name="Text Box 3"/>
          <p:cNvSpPr txBox="1">
            <a:spLocks noChangeArrowheads="1"/>
          </p:cNvSpPr>
          <p:nvPr/>
        </p:nvSpPr>
        <p:spPr bwMode="auto">
          <a:xfrm>
            <a:off x="1524000" y="346075"/>
            <a:ext cx="6858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Memory Management</a:t>
            </a:r>
          </a:p>
        </p:txBody>
      </p:sp>
      <p:sp>
        <p:nvSpPr>
          <p:cNvPr id="110596" name="Text Box 5"/>
          <p:cNvSpPr txBox="1">
            <a:spLocks noChangeArrowheads="1"/>
          </p:cNvSpPr>
          <p:nvPr/>
        </p:nvSpPr>
        <p:spPr bwMode="auto">
          <a:xfrm>
            <a:off x="381000" y="4899025"/>
            <a:ext cx="8763000" cy="127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spcAft>
                <a:spcPct val="10000"/>
              </a:spcAft>
              <a:buFontTx/>
              <a:buChar char="•"/>
            </a:pPr>
            <a:r>
              <a:rPr lang="en-US" sz="1800" b="1">
                <a:solidFill>
                  <a:schemeClr val="accent2"/>
                </a:solidFill>
                <a:latin typeface="Arial" charset="0"/>
              </a:rPr>
              <a:t> Later, a point is reached at which none of processes in main memory is ready, but process 2, in Ready-Suspended state, is available.</a:t>
            </a:r>
          </a:p>
          <a:p>
            <a:pPr eaLnBrk="1" hangingPunct="1">
              <a:spcBef>
                <a:spcPct val="20000"/>
              </a:spcBef>
              <a:spcAft>
                <a:spcPct val="10000"/>
              </a:spcAft>
              <a:buFontTx/>
              <a:buChar char="•"/>
            </a:pPr>
            <a:r>
              <a:rPr lang="en-US" sz="1800" b="1">
                <a:solidFill>
                  <a:schemeClr val="accent2"/>
                </a:solidFill>
                <a:latin typeface="Arial" charset="0"/>
              </a:rPr>
              <a:t> Because there is insufficient room in memory for process 2, operating system swaps process 1 out and swaps process 2 back in.</a:t>
            </a:r>
            <a:endParaRPr lang="tr-TR" sz="1800" b="1">
              <a:solidFill>
                <a:schemeClr val="accent2"/>
              </a:solidFill>
              <a:latin typeface="Arial" charset="0"/>
            </a:endParaRPr>
          </a:p>
        </p:txBody>
      </p:sp>
      <p:pic>
        <p:nvPicPr>
          <p:cNvPr id="110597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1676400"/>
            <a:ext cx="5410200" cy="2954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17547" name="Rectangle 11"/>
          <p:cNvSpPr>
            <a:spLocks noChangeArrowheads="1"/>
          </p:cNvSpPr>
          <p:nvPr/>
        </p:nvSpPr>
        <p:spPr bwMode="auto">
          <a:xfrm>
            <a:off x="2514600" y="1600200"/>
            <a:ext cx="1752600" cy="3124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7548" name="Rectangle 12"/>
          <p:cNvSpPr>
            <a:spLocks noChangeArrowheads="1"/>
          </p:cNvSpPr>
          <p:nvPr/>
        </p:nvSpPr>
        <p:spPr bwMode="auto">
          <a:xfrm>
            <a:off x="4495800" y="1600200"/>
            <a:ext cx="1752600" cy="3124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2175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17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000"/>
                                        <p:tgtEl>
                                          <p:spTgt spid="12175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17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7547" grpId="0" animBg="1"/>
      <p:bldP spid="121754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ext Box 2"/>
          <p:cNvSpPr txBox="1">
            <a:spLocks noChangeArrowheads="1"/>
          </p:cNvSpPr>
          <p:nvPr/>
        </p:nvSpPr>
        <p:spPr bwMode="auto">
          <a:xfrm>
            <a:off x="647700" y="1905000"/>
            <a:ext cx="8210550" cy="436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US" b="1">
                <a:solidFill>
                  <a:schemeClr val="accent2"/>
                </a:solidFill>
              </a:rPr>
              <a:t>As seen in example, this method eventually leaves holes in memory. This is called </a:t>
            </a:r>
            <a:r>
              <a:rPr lang="en-US" b="1">
                <a:solidFill>
                  <a:srgbClr val="FF0000"/>
                </a:solidFill>
              </a:rPr>
              <a:t>external fragmentation</a:t>
            </a:r>
            <a:r>
              <a:rPr lang="en-US" b="1">
                <a:solidFill>
                  <a:schemeClr val="accent2"/>
                </a:solidFill>
              </a:rPr>
              <a:t>.</a:t>
            </a:r>
          </a:p>
          <a:p>
            <a:endParaRPr lang="en-US" b="1">
              <a:solidFill>
                <a:schemeClr val="accent2"/>
              </a:solidFill>
            </a:endParaRPr>
          </a:p>
          <a:p>
            <a:r>
              <a:rPr lang="en-US" b="1">
                <a:solidFill>
                  <a:schemeClr val="accent2"/>
                </a:solidFill>
              </a:rPr>
              <a:t>One technique to overcome external fragmentation is </a:t>
            </a:r>
            <a:r>
              <a:rPr lang="en-US" b="1">
                <a:solidFill>
                  <a:srgbClr val="FF0000"/>
                </a:solidFill>
              </a:rPr>
              <a:t>compaction</a:t>
            </a:r>
            <a:r>
              <a:rPr lang="en-US" b="1">
                <a:solidFill>
                  <a:schemeClr val="accent2"/>
                </a:solidFill>
              </a:rPr>
              <a:t>.</a:t>
            </a:r>
          </a:p>
          <a:p>
            <a:endParaRPr lang="en-US" b="1">
              <a:solidFill>
                <a:schemeClr val="accent2"/>
              </a:solidFill>
            </a:endParaRPr>
          </a:p>
          <a:p>
            <a:r>
              <a:rPr lang="en-US" b="1">
                <a:solidFill>
                  <a:schemeClr val="accent2"/>
                </a:solidFill>
              </a:rPr>
              <a:t>From time to time operating system shifts processes so they are contiguous and all free memory is together in one block.</a:t>
            </a:r>
            <a:endParaRPr lang="en-GB" b="1">
              <a:solidFill>
                <a:schemeClr val="accent2"/>
              </a:solidFill>
            </a:endParaRPr>
          </a:p>
        </p:txBody>
      </p:sp>
      <p:sp>
        <p:nvSpPr>
          <p:cNvPr id="111619" name="Text Box 9"/>
          <p:cNvSpPr txBox="1">
            <a:spLocks noChangeArrowheads="1"/>
          </p:cNvSpPr>
          <p:nvPr/>
        </p:nvSpPr>
        <p:spPr bwMode="auto">
          <a:xfrm>
            <a:off x="1524000" y="346075"/>
            <a:ext cx="6858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Memory Management</a:t>
            </a:r>
          </a:p>
        </p:txBody>
      </p:sp>
      <p:sp>
        <p:nvSpPr>
          <p:cNvPr id="111620" name="Text Box 10"/>
          <p:cNvSpPr txBox="1">
            <a:spLocks noChangeArrowheads="1"/>
          </p:cNvSpPr>
          <p:nvPr/>
        </p:nvSpPr>
        <p:spPr bwMode="auto">
          <a:xfrm>
            <a:off x="647700" y="1104900"/>
            <a:ext cx="82105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Variable-size Partitions (Dynamic Partitioning)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1371600" y="365125"/>
            <a:ext cx="76200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sz="2500" b="1">
                <a:solidFill>
                  <a:srgbClr val="FF0000"/>
                </a:solidFill>
              </a:rPr>
              <a:t>Memory Management – Memory Compaction Process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4667250" y="1752600"/>
            <a:ext cx="356235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20000"/>
              </a:spcBef>
              <a:spcAft>
                <a:spcPct val="10000"/>
              </a:spcAft>
            </a:pPr>
            <a:r>
              <a:rPr lang="en-US" sz="2400" b="1">
                <a:solidFill>
                  <a:schemeClr val="accent2"/>
                </a:solidFill>
                <a:latin typeface="Arial" charset="0"/>
              </a:rPr>
              <a:t>Compaction will result in a block of free memory of length 16 Mbytes.</a:t>
            </a:r>
          </a:p>
          <a:p>
            <a:pPr eaLnBrk="1" hangingPunct="1">
              <a:spcBef>
                <a:spcPct val="20000"/>
              </a:spcBef>
              <a:spcAft>
                <a:spcPct val="10000"/>
              </a:spcAft>
            </a:pPr>
            <a:endParaRPr lang="en-US" sz="2400" b="1">
              <a:solidFill>
                <a:schemeClr val="accent2"/>
              </a:solidFill>
              <a:latin typeface="Arial" charset="0"/>
            </a:endParaRPr>
          </a:p>
          <a:p>
            <a:pPr eaLnBrk="1" hangingPunct="1">
              <a:spcBef>
                <a:spcPct val="20000"/>
              </a:spcBef>
              <a:spcAft>
                <a:spcPct val="10000"/>
              </a:spcAft>
            </a:pPr>
            <a:r>
              <a:rPr lang="en-US" sz="2400" b="1">
                <a:solidFill>
                  <a:schemeClr val="accent2"/>
                </a:solidFill>
                <a:latin typeface="Arial" charset="0"/>
              </a:rPr>
              <a:t>Difficulty with compaction is that it is a time consuming procedure and wasteful of processor time.</a:t>
            </a:r>
          </a:p>
        </p:txBody>
      </p:sp>
      <p:graphicFrame>
        <p:nvGraphicFramePr>
          <p:cNvPr id="1221637" name="Object 5"/>
          <p:cNvGraphicFramePr>
            <a:graphicFrameLocks noChangeAspect="1"/>
          </p:cNvGraphicFramePr>
          <p:nvPr/>
        </p:nvGraphicFramePr>
        <p:xfrm>
          <a:off x="990600" y="1952625"/>
          <a:ext cx="3327400" cy="3762375"/>
        </p:xfrm>
        <a:graphic>
          <a:graphicData uri="http://schemas.openxmlformats.org/presentationml/2006/ole">
            <p:oleObj spid="_x0000_s11267" name="RFFlow" r:id="rId4" imgW="4392000" imgH="49680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1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2"/>
          <p:cNvSpPr txBox="1">
            <a:spLocks noChangeArrowheads="1"/>
          </p:cNvSpPr>
          <p:nvPr/>
        </p:nvSpPr>
        <p:spPr bwMode="auto">
          <a:xfrm>
            <a:off x="533400" y="1905000"/>
            <a:ext cx="8248650" cy="3935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333399"/>
                </a:solidFill>
              </a:rPr>
              <a:t>It is obvious that a process is not likely to be loaded into same place in main memory each time it is swapped in.</a:t>
            </a:r>
          </a:p>
          <a:p>
            <a:endParaRPr lang="en-GB" b="1">
              <a:solidFill>
                <a:srgbClr val="333399"/>
              </a:solidFill>
            </a:endParaRPr>
          </a:p>
          <a:p>
            <a:r>
              <a:rPr lang="en-GB" b="1">
                <a:solidFill>
                  <a:srgbClr val="333399"/>
                </a:solidFill>
              </a:rPr>
              <a:t>Furthermore, if compaction is used, a process may be shifted while in main memory. </a:t>
            </a:r>
          </a:p>
          <a:p>
            <a:endParaRPr lang="en-GB" b="1">
              <a:solidFill>
                <a:srgbClr val="333399"/>
              </a:solidFill>
            </a:endParaRPr>
          </a:p>
          <a:p>
            <a:r>
              <a:rPr lang="en-GB" b="1">
                <a:solidFill>
                  <a:srgbClr val="333399"/>
                </a:solidFill>
              </a:rPr>
              <a:t>A process in memory consists of instruction plus data.</a:t>
            </a:r>
          </a:p>
        </p:txBody>
      </p:sp>
      <p:sp>
        <p:nvSpPr>
          <p:cNvPr id="112643" name="Text Box 4"/>
          <p:cNvSpPr txBox="1">
            <a:spLocks noChangeArrowheads="1"/>
          </p:cNvSpPr>
          <p:nvPr/>
        </p:nvSpPr>
        <p:spPr bwMode="auto">
          <a:xfrm>
            <a:off x="1371600" y="365125"/>
            <a:ext cx="76200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sz="2500" b="1">
                <a:solidFill>
                  <a:srgbClr val="FF0000"/>
                </a:solidFill>
              </a:rPr>
              <a:t>Memory Management – Memory Compaction Process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ext Box 2"/>
          <p:cNvSpPr txBox="1">
            <a:spLocks noChangeArrowheads="1"/>
          </p:cNvSpPr>
          <p:nvPr/>
        </p:nvSpPr>
        <p:spPr bwMode="auto">
          <a:xfrm>
            <a:off x="628650" y="1031875"/>
            <a:ext cx="8210550" cy="554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sz="2100" b="1">
                <a:solidFill>
                  <a:srgbClr val="333399"/>
                </a:solidFill>
              </a:rPr>
              <a:t>Instructions will contain addresses for memory locations of two types:</a:t>
            </a:r>
          </a:p>
          <a:p>
            <a:pPr>
              <a:buFontTx/>
              <a:buChar char="•"/>
            </a:pPr>
            <a:r>
              <a:rPr lang="en-GB" sz="2100" b="1">
                <a:solidFill>
                  <a:srgbClr val="333399"/>
                </a:solidFill>
              </a:rPr>
              <a:t> </a:t>
            </a:r>
            <a:r>
              <a:rPr lang="en-GB" sz="2100" b="1">
                <a:solidFill>
                  <a:srgbClr val="FF0000"/>
                </a:solidFill>
              </a:rPr>
              <a:t>Addresses of data items</a:t>
            </a:r>
            <a:r>
              <a:rPr lang="en-GB" sz="2100" b="1">
                <a:solidFill>
                  <a:srgbClr val="333399"/>
                </a:solidFill>
              </a:rPr>
              <a:t>.</a:t>
            </a:r>
          </a:p>
          <a:p>
            <a:pPr>
              <a:buFontTx/>
              <a:buChar char="•"/>
            </a:pPr>
            <a:r>
              <a:rPr lang="en-GB" sz="2100" b="1">
                <a:solidFill>
                  <a:srgbClr val="333399"/>
                </a:solidFill>
              </a:rPr>
              <a:t> </a:t>
            </a:r>
            <a:r>
              <a:rPr lang="en-GB" sz="2100" b="1">
                <a:solidFill>
                  <a:srgbClr val="FF0000"/>
                </a:solidFill>
              </a:rPr>
              <a:t>Addresses of instructions</a:t>
            </a:r>
            <a:r>
              <a:rPr lang="en-GB" sz="2100" b="1">
                <a:solidFill>
                  <a:srgbClr val="333399"/>
                </a:solidFill>
              </a:rPr>
              <a:t>, used for branching instructions.</a:t>
            </a:r>
          </a:p>
          <a:p>
            <a:pPr>
              <a:buFontTx/>
              <a:buChar char="•"/>
            </a:pPr>
            <a:endParaRPr lang="en-GB" sz="2100" b="1">
              <a:solidFill>
                <a:srgbClr val="333399"/>
              </a:solidFill>
            </a:endParaRPr>
          </a:p>
          <a:p>
            <a:r>
              <a:rPr lang="en-GB" sz="2100" b="1">
                <a:solidFill>
                  <a:srgbClr val="333399"/>
                </a:solidFill>
              </a:rPr>
              <a:t>These addresses are not fixed. </a:t>
            </a:r>
          </a:p>
          <a:p>
            <a:endParaRPr lang="en-GB" sz="2100" b="1">
              <a:solidFill>
                <a:srgbClr val="333399"/>
              </a:solidFill>
            </a:endParaRPr>
          </a:p>
          <a:p>
            <a:r>
              <a:rPr lang="en-GB" sz="2100" b="1">
                <a:solidFill>
                  <a:srgbClr val="333399"/>
                </a:solidFill>
              </a:rPr>
              <a:t>They will change each time a process is swapped in.</a:t>
            </a:r>
          </a:p>
          <a:p>
            <a:endParaRPr lang="en-GB" sz="2100" b="1">
              <a:solidFill>
                <a:srgbClr val="333399"/>
              </a:solidFill>
            </a:endParaRPr>
          </a:p>
          <a:p>
            <a:r>
              <a:rPr lang="en-GB" sz="2100" b="1">
                <a:solidFill>
                  <a:srgbClr val="333399"/>
                </a:solidFill>
              </a:rPr>
              <a:t>To solve this problem, a distinction is made between logical addresses and physical addresses.</a:t>
            </a:r>
          </a:p>
          <a:p>
            <a:pPr>
              <a:buFontTx/>
              <a:buChar char="•"/>
            </a:pPr>
            <a:r>
              <a:rPr lang="en-GB" sz="2100" b="1">
                <a:solidFill>
                  <a:srgbClr val="333399"/>
                </a:solidFill>
              </a:rPr>
              <a:t> </a:t>
            </a:r>
            <a:r>
              <a:rPr lang="en-GB" sz="2100" b="1">
                <a:solidFill>
                  <a:srgbClr val="FF0000"/>
                </a:solidFill>
              </a:rPr>
              <a:t>A logical address</a:t>
            </a:r>
            <a:r>
              <a:rPr lang="en-GB" sz="2100" b="1">
                <a:solidFill>
                  <a:srgbClr val="333399"/>
                </a:solidFill>
              </a:rPr>
              <a:t>. Is expressed as a location relative to beginning of program.</a:t>
            </a:r>
          </a:p>
          <a:p>
            <a:pPr>
              <a:buFontTx/>
              <a:buChar char="•"/>
            </a:pPr>
            <a:r>
              <a:rPr lang="en-GB" sz="2100" b="1">
                <a:solidFill>
                  <a:srgbClr val="333399"/>
                </a:solidFill>
              </a:rPr>
              <a:t> </a:t>
            </a:r>
            <a:r>
              <a:rPr lang="en-GB" sz="2100" b="1">
                <a:solidFill>
                  <a:srgbClr val="FF0000"/>
                </a:solidFill>
              </a:rPr>
              <a:t>A physical address</a:t>
            </a:r>
            <a:r>
              <a:rPr lang="en-GB" sz="2100" b="1">
                <a:solidFill>
                  <a:srgbClr val="333399"/>
                </a:solidFill>
              </a:rPr>
              <a:t>. Is an actual location in main memory.</a:t>
            </a:r>
          </a:p>
          <a:p>
            <a:pPr>
              <a:buFontTx/>
              <a:buChar char="•"/>
            </a:pPr>
            <a:endParaRPr lang="en-GB" sz="2100" b="1">
              <a:solidFill>
                <a:srgbClr val="333399"/>
              </a:solidFill>
            </a:endParaRPr>
          </a:p>
          <a:p>
            <a:r>
              <a:rPr lang="en-GB" sz="2100" b="1">
                <a:solidFill>
                  <a:srgbClr val="FF0000"/>
                </a:solidFill>
              </a:rPr>
              <a:t>When processor executes a process</a:t>
            </a:r>
            <a:r>
              <a:rPr lang="en-GB" sz="2100" b="1">
                <a:solidFill>
                  <a:srgbClr val="333399"/>
                </a:solidFill>
              </a:rPr>
              <a:t>, it automatically </a:t>
            </a:r>
            <a:r>
              <a:rPr lang="en-GB" sz="2100" b="1">
                <a:solidFill>
                  <a:srgbClr val="FF0000"/>
                </a:solidFill>
              </a:rPr>
              <a:t>converts from logical to physical address</a:t>
            </a:r>
            <a:r>
              <a:rPr lang="en-GB" sz="2100" b="1">
                <a:solidFill>
                  <a:srgbClr val="333399"/>
                </a:solidFill>
              </a:rPr>
              <a:t> by adding current starting location process called its </a:t>
            </a:r>
            <a:r>
              <a:rPr lang="en-GB" sz="2100" b="1">
                <a:solidFill>
                  <a:srgbClr val="FF0000"/>
                </a:solidFill>
              </a:rPr>
              <a:t>base address</a:t>
            </a:r>
            <a:r>
              <a:rPr lang="en-GB" sz="2100" b="1">
                <a:solidFill>
                  <a:srgbClr val="333399"/>
                </a:solidFill>
              </a:rPr>
              <a:t>, to each logical address.</a:t>
            </a:r>
          </a:p>
        </p:txBody>
      </p:sp>
      <p:sp>
        <p:nvSpPr>
          <p:cNvPr id="113667" name="Text Box 3"/>
          <p:cNvSpPr txBox="1">
            <a:spLocks noChangeArrowheads="1"/>
          </p:cNvSpPr>
          <p:nvPr/>
        </p:nvSpPr>
        <p:spPr bwMode="auto">
          <a:xfrm>
            <a:off x="1524000" y="346075"/>
            <a:ext cx="6858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Memory Management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2"/>
          <p:cNvSpPr txBox="1">
            <a:spLocks noChangeArrowheads="1"/>
          </p:cNvSpPr>
          <p:nvPr/>
        </p:nvSpPr>
        <p:spPr bwMode="auto">
          <a:xfrm>
            <a:off x="609600" y="1295400"/>
            <a:ext cx="8210550" cy="502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sz="2700" b="1">
                <a:solidFill>
                  <a:srgbClr val="333399"/>
                </a:solidFill>
              </a:rPr>
              <a:t>Both unequal fixed-size and variable-size positions are inefficient in use of memory.</a:t>
            </a:r>
          </a:p>
          <a:p>
            <a:endParaRPr lang="en-GB" sz="2700" b="1">
              <a:solidFill>
                <a:srgbClr val="333399"/>
              </a:solidFill>
            </a:endParaRPr>
          </a:p>
          <a:p>
            <a:r>
              <a:rPr lang="en-GB" sz="2700" b="1">
                <a:solidFill>
                  <a:srgbClr val="FF0000"/>
                </a:solidFill>
              </a:rPr>
              <a:t>Paging</a:t>
            </a:r>
          </a:p>
          <a:p>
            <a:pPr>
              <a:buFontTx/>
              <a:buChar char="•"/>
            </a:pPr>
            <a:r>
              <a:rPr lang="en-GB" sz="2700" b="1">
                <a:solidFill>
                  <a:srgbClr val="333399"/>
                </a:solidFill>
              </a:rPr>
              <a:t> Extends partition idea by dividing up both memory and processes into equal size pieces.</a:t>
            </a:r>
          </a:p>
          <a:p>
            <a:pPr lvl="1">
              <a:buFont typeface="Wingdings" pitchFamily="2" charset="2"/>
              <a:buChar char="Ø"/>
            </a:pPr>
            <a:r>
              <a:rPr lang="en-GB" sz="2700" b="1">
                <a:solidFill>
                  <a:srgbClr val="333399"/>
                </a:solidFill>
              </a:rPr>
              <a:t> </a:t>
            </a:r>
            <a:r>
              <a:rPr lang="en-GB" sz="2700" b="1">
                <a:solidFill>
                  <a:srgbClr val="FF0000"/>
                </a:solidFill>
              </a:rPr>
              <a:t>Pieces of memory are called frames</a:t>
            </a:r>
            <a:r>
              <a:rPr lang="en-GB" sz="2700" b="1">
                <a:solidFill>
                  <a:srgbClr val="333399"/>
                </a:solidFill>
              </a:rPr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en-GB" sz="2700" b="1">
                <a:solidFill>
                  <a:srgbClr val="333399"/>
                </a:solidFill>
              </a:rPr>
              <a:t> </a:t>
            </a:r>
            <a:r>
              <a:rPr lang="en-GB" sz="2700" b="1">
                <a:solidFill>
                  <a:srgbClr val="FF0000"/>
                </a:solidFill>
              </a:rPr>
              <a:t>Pieces of a process are called pages</a:t>
            </a:r>
            <a:r>
              <a:rPr lang="en-GB" sz="2700" b="1">
                <a:solidFill>
                  <a:srgbClr val="333399"/>
                </a:solidFill>
              </a:rPr>
              <a:t>.</a:t>
            </a:r>
          </a:p>
          <a:p>
            <a:pPr>
              <a:buFontTx/>
              <a:buChar char="•"/>
            </a:pPr>
            <a:r>
              <a:rPr lang="en-GB" sz="2700" b="1">
                <a:solidFill>
                  <a:srgbClr val="333399"/>
                </a:solidFill>
              </a:rPr>
              <a:t> Each process has a list of frames that it is using, called a </a:t>
            </a:r>
            <a:r>
              <a:rPr lang="en-GB" sz="2700" b="1">
                <a:solidFill>
                  <a:srgbClr val="FF0000"/>
                </a:solidFill>
              </a:rPr>
              <a:t>page table</a:t>
            </a:r>
            <a:r>
              <a:rPr lang="en-GB" sz="2700" b="1">
                <a:solidFill>
                  <a:srgbClr val="333399"/>
                </a:solidFill>
              </a:rPr>
              <a:t>, stored in process control block.</a:t>
            </a:r>
          </a:p>
          <a:p>
            <a:pPr>
              <a:buFontTx/>
              <a:buChar char="•"/>
            </a:pPr>
            <a:r>
              <a:rPr lang="en-GB" sz="2700" b="1">
                <a:solidFill>
                  <a:srgbClr val="333399"/>
                </a:solidFill>
              </a:rPr>
              <a:t> Operating system maintains a list of free frames that it can assign to new processes.</a:t>
            </a:r>
          </a:p>
        </p:txBody>
      </p:sp>
      <p:sp>
        <p:nvSpPr>
          <p:cNvPr id="114691" name="Text Box 3"/>
          <p:cNvSpPr txBox="1">
            <a:spLocks noChangeArrowheads="1"/>
          </p:cNvSpPr>
          <p:nvPr/>
        </p:nvSpPr>
        <p:spPr bwMode="auto">
          <a:xfrm>
            <a:off x="1524000" y="346075"/>
            <a:ext cx="6858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Memory Management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1524000" y="346075"/>
            <a:ext cx="6858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Memory Management</a:t>
            </a:r>
          </a:p>
        </p:txBody>
      </p:sp>
      <p:graphicFrame>
        <p:nvGraphicFramePr>
          <p:cNvPr id="1132548" name="Object 4"/>
          <p:cNvGraphicFramePr>
            <a:graphicFrameLocks noChangeAspect="1"/>
          </p:cNvGraphicFramePr>
          <p:nvPr/>
        </p:nvGraphicFramePr>
        <p:xfrm>
          <a:off x="3200400" y="1524000"/>
          <a:ext cx="5943600" cy="4284663"/>
        </p:xfrm>
        <a:graphic>
          <a:graphicData uri="http://schemas.openxmlformats.org/presentationml/2006/ole">
            <p:oleObj spid="_x0000_s12291" name="RFFlow" r:id="rId4" imgW="4896000" imgH="3528000" progId="">
              <p:embed/>
            </p:oleObj>
          </a:graphicData>
        </a:graphic>
      </p:graphicFrame>
      <p:sp>
        <p:nvSpPr>
          <p:cNvPr id="12292" name="Text Box 5"/>
          <p:cNvSpPr txBox="1">
            <a:spLocks noChangeArrowheads="1"/>
          </p:cNvSpPr>
          <p:nvPr/>
        </p:nvSpPr>
        <p:spPr bwMode="auto">
          <a:xfrm>
            <a:off x="457200" y="2133600"/>
            <a:ext cx="2743200" cy="338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sz="1800" b="1">
                <a:solidFill>
                  <a:srgbClr val="FF0000"/>
                </a:solidFill>
              </a:rPr>
              <a:t>Use of pages and frames:</a:t>
            </a:r>
          </a:p>
          <a:p>
            <a:pPr>
              <a:buFontTx/>
              <a:buChar char="•"/>
            </a:pPr>
            <a:r>
              <a:rPr lang="en-GB" sz="1800" b="1">
                <a:solidFill>
                  <a:srgbClr val="000099"/>
                </a:solidFill>
              </a:rPr>
              <a:t> At a</a:t>
            </a:r>
            <a:r>
              <a:rPr lang="tr-TR" sz="1800" b="1">
                <a:solidFill>
                  <a:srgbClr val="000099"/>
                </a:solidFill>
              </a:rPr>
              <a:t> </a:t>
            </a:r>
            <a:r>
              <a:rPr lang="en-GB" sz="1800" b="1">
                <a:solidFill>
                  <a:srgbClr val="000099"/>
                </a:solidFill>
              </a:rPr>
              <a:t>given point in time, some of frames in memory are</a:t>
            </a:r>
            <a:r>
              <a:rPr lang="tr-TR" sz="1800" b="1">
                <a:solidFill>
                  <a:srgbClr val="000099"/>
                </a:solidFill>
              </a:rPr>
              <a:t> </a:t>
            </a:r>
            <a:r>
              <a:rPr lang="en-GB" sz="1800" b="1">
                <a:solidFill>
                  <a:srgbClr val="000099"/>
                </a:solidFill>
              </a:rPr>
              <a:t>in use and some are free.</a:t>
            </a:r>
          </a:p>
          <a:p>
            <a:pPr>
              <a:buFontTx/>
              <a:buChar char="•"/>
            </a:pPr>
            <a:r>
              <a:rPr lang="en-GB" sz="1800" b="1">
                <a:solidFill>
                  <a:srgbClr val="000099"/>
                </a:solidFill>
              </a:rPr>
              <a:t> Process A, stored on disk, consists of 4 pages.</a:t>
            </a:r>
          </a:p>
          <a:p>
            <a:pPr>
              <a:buFontTx/>
              <a:buChar char="•"/>
            </a:pPr>
            <a:r>
              <a:rPr lang="en-GB" sz="1800" b="1">
                <a:solidFill>
                  <a:srgbClr val="000099"/>
                </a:solidFill>
              </a:rPr>
              <a:t> When it comes time to load this process, OS finds 4 frames and loads 4 pages of process A into 4 frames.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3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ext Box 2"/>
          <p:cNvSpPr txBox="1">
            <a:spLocks noChangeArrowheads="1"/>
          </p:cNvSpPr>
          <p:nvPr/>
        </p:nvSpPr>
        <p:spPr bwMode="auto">
          <a:xfrm>
            <a:off x="609600" y="1447800"/>
            <a:ext cx="8210550" cy="485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sz="2600" b="1">
                <a:solidFill>
                  <a:srgbClr val="FF0000"/>
                </a:solidFill>
              </a:rPr>
              <a:t>If there are not sufficient unused neighbouring frames to hold process, does this prevent operating system from loading process?</a:t>
            </a:r>
          </a:p>
          <a:p>
            <a:pPr>
              <a:buFontTx/>
              <a:buChar char="•"/>
            </a:pPr>
            <a:r>
              <a:rPr lang="en-GB" sz="2600" b="1">
                <a:solidFill>
                  <a:srgbClr val="333399"/>
                </a:solidFill>
              </a:rPr>
              <a:t> Answer is no, because we can use concept of logical address.</a:t>
            </a:r>
          </a:p>
          <a:p>
            <a:pPr>
              <a:buFontTx/>
              <a:buChar char="•"/>
            </a:pPr>
            <a:r>
              <a:rPr lang="en-GB" sz="2600" b="1">
                <a:solidFill>
                  <a:srgbClr val="333399"/>
                </a:solidFill>
              </a:rPr>
              <a:t> A simple base address will no longer suffice.</a:t>
            </a:r>
          </a:p>
          <a:p>
            <a:pPr>
              <a:buFontTx/>
              <a:buChar char="•"/>
            </a:pPr>
            <a:r>
              <a:rPr lang="en-GB" sz="2600" b="1">
                <a:solidFill>
                  <a:srgbClr val="333399"/>
                </a:solidFill>
              </a:rPr>
              <a:t> Operating system maintains a page table for each process.</a:t>
            </a:r>
          </a:p>
          <a:p>
            <a:pPr>
              <a:buFontTx/>
              <a:buChar char="•"/>
            </a:pPr>
            <a:r>
              <a:rPr lang="en-GB" sz="2600" b="1">
                <a:solidFill>
                  <a:srgbClr val="333399"/>
                </a:solidFill>
              </a:rPr>
              <a:t>  Page table shows frame location for each page of process.</a:t>
            </a:r>
          </a:p>
          <a:p>
            <a:pPr>
              <a:buFontTx/>
              <a:buChar char="•"/>
            </a:pPr>
            <a:r>
              <a:rPr lang="en-GB" sz="2600" b="1">
                <a:solidFill>
                  <a:srgbClr val="333399"/>
                </a:solidFill>
              </a:rPr>
              <a:t> Each logical address consists of a page number and a relative address within page.</a:t>
            </a:r>
          </a:p>
        </p:txBody>
      </p:sp>
      <p:sp>
        <p:nvSpPr>
          <p:cNvPr id="115715" name="Text Box 3"/>
          <p:cNvSpPr txBox="1">
            <a:spLocks noChangeArrowheads="1"/>
          </p:cNvSpPr>
          <p:nvPr/>
        </p:nvSpPr>
        <p:spPr bwMode="auto">
          <a:xfrm>
            <a:off x="1524000" y="346075"/>
            <a:ext cx="6858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Memory Management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ext Box 3"/>
          <p:cNvSpPr txBox="1">
            <a:spLocks noChangeArrowheads="1"/>
          </p:cNvSpPr>
          <p:nvPr/>
        </p:nvSpPr>
        <p:spPr bwMode="auto">
          <a:xfrm>
            <a:off x="1524000" y="346075"/>
            <a:ext cx="6858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tr-TR" b="1">
                <a:solidFill>
                  <a:srgbClr val="FF0000"/>
                </a:solidFill>
              </a:rPr>
              <a:t>Memory Management</a:t>
            </a:r>
          </a:p>
        </p:txBody>
      </p:sp>
      <p:pic>
        <p:nvPicPr>
          <p:cNvPr id="1077252" name="Picture 4"/>
          <p:cNvPicPr>
            <a:picLocks noChangeAspect="1" noChangeArrowheads="1"/>
          </p:cNvPicPr>
          <p:nvPr/>
        </p:nvPicPr>
        <p:blipFill>
          <a:blip r:embed="rId3"/>
          <a:srcRect b="15283"/>
          <a:stretch>
            <a:fillRect/>
          </a:stretch>
        </p:blipFill>
        <p:spPr bwMode="auto">
          <a:xfrm>
            <a:off x="1828800" y="1227138"/>
            <a:ext cx="5410200" cy="523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77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ext Box 2"/>
          <p:cNvSpPr txBox="1">
            <a:spLocks noChangeArrowheads="1"/>
          </p:cNvSpPr>
          <p:nvPr/>
        </p:nvSpPr>
        <p:spPr bwMode="auto">
          <a:xfrm>
            <a:off x="628650" y="1066800"/>
            <a:ext cx="8210550" cy="543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buFontTx/>
              <a:buChar char="•"/>
            </a:pPr>
            <a:r>
              <a:rPr lang="en-GB" sz="2700" b="1">
                <a:solidFill>
                  <a:srgbClr val="333399"/>
                </a:solidFill>
              </a:rPr>
              <a:t> Another way in which addressable memory can be subdivided is </a:t>
            </a:r>
            <a:r>
              <a:rPr lang="en-GB" sz="2700" b="1">
                <a:solidFill>
                  <a:srgbClr val="FF0000"/>
                </a:solidFill>
              </a:rPr>
              <a:t>segmentation</a:t>
            </a:r>
            <a:r>
              <a:rPr lang="en-GB" sz="2700" b="1">
                <a:solidFill>
                  <a:srgbClr val="333399"/>
                </a:solidFill>
              </a:rPr>
              <a:t>. </a:t>
            </a:r>
          </a:p>
          <a:p>
            <a:pPr>
              <a:buFontTx/>
              <a:buChar char="•"/>
            </a:pPr>
            <a:r>
              <a:rPr lang="en-GB" sz="2700" b="1">
                <a:solidFill>
                  <a:srgbClr val="333399"/>
                </a:solidFill>
              </a:rPr>
              <a:t> Segmentation allows programmer to view memory as multiple address spaces or segments.</a:t>
            </a:r>
          </a:p>
          <a:p>
            <a:pPr lvl="1">
              <a:buFont typeface="Wingdings" pitchFamily="2" charset="2"/>
              <a:buChar char="Ø"/>
            </a:pPr>
            <a:r>
              <a:rPr lang="en-GB" sz="2700" b="1">
                <a:solidFill>
                  <a:srgbClr val="333399"/>
                </a:solidFill>
              </a:rPr>
              <a:t> Segmentation is transparent to programmer.</a:t>
            </a:r>
          </a:p>
          <a:p>
            <a:pPr lvl="1">
              <a:buFont typeface="Wingdings" pitchFamily="2" charset="2"/>
              <a:buChar char="Ø"/>
            </a:pPr>
            <a:r>
              <a:rPr lang="en-GB" sz="2700" b="1">
                <a:solidFill>
                  <a:srgbClr val="333399"/>
                </a:solidFill>
              </a:rPr>
              <a:t> Advantages</a:t>
            </a:r>
          </a:p>
          <a:p>
            <a:pPr lvl="2">
              <a:buFontTx/>
              <a:buChar char="o"/>
            </a:pPr>
            <a:r>
              <a:rPr lang="en-GB" sz="2700" b="1">
                <a:solidFill>
                  <a:srgbClr val="333399"/>
                </a:solidFill>
              </a:rPr>
              <a:t> It simplifies handling of growing data structures. OS will expand or shrink segment as needed.</a:t>
            </a:r>
          </a:p>
          <a:p>
            <a:pPr lvl="2">
              <a:buFontTx/>
              <a:buChar char="o"/>
            </a:pPr>
            <a:r>
              <a:rPr lang="en-GB" sz="2700" b="1">
                <a:solidFill>
                  <a:srgbClr val="333399"/>
                </a:solidFill>
              </a:rPr>
              <a:t> It lends itself to sharing among processes.</a:t>
            </a:r>
          </a:p>
          <a:p>
            <a:pPr lvl="2">
              <a:buFontTx/>
              <a:buChar char="o"/>
            </a:pPr>
            <a:r>
              <a:rPr lang="en-GB" sz="2700" b="1">
                <a:solidFill>
                  <a:srgbClr val="333399"/>
                </a:solidFill>
              </a:rPr>
              <a:t> It lends itself to protection. Programmer or system administrator can assign access privileges to a segment.</a:t>
            </a:r>
          </a:p>
        </p:txBody>
      </p:sp>
      <p:sp>
        <p:nvSpPr>
          <p:cNvPr id="117763" name="Text Box 3"/>
          <p:cNvSpPr txBox="1">
            <a:spLocks noChangeArrowheads="1"/>
          </p:cNvSpPr>
          <p:nvPr/>
        </p:nvSpPr>
        <p:spPr bwMode="auto">
          <a:xfrm>
            <a:off x="1524000" y="346075"/>
            <a:ext cx="6858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Memory Management - Segmentation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Fragmentation</a:t>
            </a:r>
          </a:p>
        </p:txBody>
      </p:sp>
      <p:sp>
        <p:nvSpPr>
          <p:cNvPr id="23555" name="Rectangle 1027"/>
          <p:cNvSpPr>
            <a:spLocks noGrp="1" noChangeArrowheads="1"/>
          </p:cNvSpPr>
          <p:nvPr>
            <p:ph idx="1"/>
          </p:nvPr>
        </p:nvSpPr>
        <p:spPr>
          <a:xfrm>
            <a:off x="838200" y="838200"/>
            <a:ext cx="7351713" cy="4483100"/>
          </a:xfrm>
        </p:spPr>
        <p:txBody>
          <a:bodyPr/>
          <a:lstStyle/>
          <a:p>
            <a:pPr eaLnBrk="1" hangingPunct="1"/>
            <a:r>
              <a:rPr lang="en-US" sz="1800" b="1" dirty="0"/>
              <a:t>External Fragmentation</a:t>
            </a:r>
            <a:r>
              <a:rPr lang="en-US" sz="1800" dirty="0"/>
              <a:t> – total memory space exists to satisfy a request, but it is not contiguous</a:t>
            </a:r>
          </a:p>
          <a:p>
            <a:pPr eaLnBrk="1" hangingPunct="1"/>
            <a:r>
              <a:rPr lang="en-US" sz="1800" b="1" dirty="0"/>
              <a:t>Internal Fragmentation</a:t>
            </a:r>
            <a:r>
              <a:rPr lang="en-US" sz="1800" dirty="0"/>
              <a:t> – allocated memory may be slightly larger than requested memory; this size difference is memory internal to a partition, but not being used</a:t>
            </a:r>
          </a:p>
          <a:p>
            <a:pPr eaLnBrk="1" hangingPunct="1"/>
            <a:r>
              <a:rPr lang="en-US" sz="1800" dirty="0"/>
              <a:t>Reduce external fragmentation by </a:t>
            </a:r>
            <a:r>
              <a:rPr lang="en-US" sz="1800" b="1" dirty="0"/>
              <a:t>compaction</a:t>
            </a:r>
          </a:p>
          <a:p>
            <a:pPr lvl="1" eaLnBrk="1" hangingPunct="1"/>
            <a:r>
              <a:rPr lang="en-US" dirty="0"/>
              <a:t>Shuffle memory contents to place all free memory together in one large block</a:t>
            </a:r>
          </a:p>
          <a:p>
            <a:pPr lvl="1" eaLnBrk="1" hangingPunct="1"/>
            <a:r>
              <a:rPr lang="en-US" dirty="0"/>
              <a:t>Compaction is possible </a:t>
            </a:r>
            <a:r>
              <a:rPr lang="en-US" i="1" dirty="0"/>
              <a:t>only</a:t>
            </a:r>
            <a:r>
              <a:rPr lang="en-US" dirty="0"/>
              <a:t> if relocation is dynamic, and is done at execution time</a:t>
            </a:r>
          </a:p>
          <a:p>
            <a:pPr lvl="1" eaLnBrk="1" hangingPunct="1"/>
            <a:r>
              <a:rPr lang="en-US" dirty="0"/>
              <a:t>I/O problem</a:t>
            </a:r>
          </a:p>
          <a:p>
            <a:pPr lvl="2" eaLnBrk="1" hangingPunct="1"/>
            <a:r>
              <a:rPr lang="en-US" dirty="0"/>
              <a:t>Latch job in memory while it is involved in I/O</a:t>
            </a:r>
          </a:p>
          <a:p>
            <a:pPr lvl="2" eaLnBrk="1" hangingPunct="1"/>
            <a:r>
              <a:rPr lang="en-US" dirty="0"/>
              <a:t>Do I/O only into OS buffers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Paging</a:t>
            </a:r>
          </a:p>
        </p:txBody>
      </p:sp>
      <p:sp>
        <p:nvSpPr>
          <p:cNvPr id="24579" name="Rectangle 1027"/>
          <p:cNvSpPr>
            <a:spLocks noGrp="1" noChangeArrowheads="1"/>
          </p:cNvSpPr>
          <p:nvPr>
            <p:ph idx="1"/>
          </p:nvPr>
        </p:nvSpPr>
        <p:spPr>
          <a:xfrm>
            <a:off x="990600" y="1066800"/>
            <a:ext cx="6883400" cy="4524375"/>
          </a:xfrm>
        </p:spPr>
        <p:txBody>
          <a:bodyPr/>
          <a:lstStyle/>
          <a:p>
            <a:pPr eaLnBrk="1" hangingPunct="1"/>
            <a:r>
              <a:rPr lang="en-US" sz="2400" dirty="0"/>
              <a:t>Logical address space of a process can be noncontiguous; process is allocated physical memory whenever the latter is available</a:t>
            </a:r>
          </a:p>
          <a:p>
            <a:pPr eaLnBrk="1" hangingPunct="1"/>
            <a:r>
              <a:rPr lang="en-US" sz="2400" dirty="0"/>
              <a:t>Divide physical memory into fixed-sized blocks called </a:t>
            </a:r>
            <a:r>
              <a:rPr lang="en-US" sz="2400" b="1" dirty="0"/>
              <a:t>frames</a:t>
            </a:r>
            <a:r>
              <a:rPr lang="en-US" sz="2400" dirty="0"/>
              <a:t> (size is power of 2, between 512 bytes and 8,192 bytes)</a:t>
            </a:r>
          </a:p>
          <a:p>
            <a:pPr eaLnBrk="1" hangingPunct="1"/>
            <a:r>
              <a:rPr lang="en-US" sz="2400" dirty="0"/>
              <a:t>Divide logical memory into blocks of same size called </a:t>
            </a:r>
            <a:r>
              <a:rPr lang="en-US" sz="2400" b="1" dirty="0"/>
              <a:t>pages</a:t>
            </a:r>
            <a:endParaRPr lang="en-US" sz="2400" dirty="0"/>
          </a:p>
          <a:p>
            <a:pPr eaLnBrk="1" hangingPunct="1"/>
            <a:r>
              <a:rPr lang="en-US" sz="2400" dirty="0"/>
              <a:t>Keep track of all free frames</a:t>
            </a:r>
          </a:p>
          <a:p>
            <a:pPr eaLnBrk="1" hangingPunct="1"/>
            <a:r>
              <a:rPr lang="en-US" sz="2400" dirty="0"/>
              <a:t>To run a program of size </a:t>
            </a:r>
            <a:r>
              <a:rPr lang="en-US" sz="2400" b="1" i="1" dirty="0">
                <a:solidFill>
                  <a:srgbClr val="FF0000"/>
                </a:solidFill>
              </a:rPr>
              <a:t>n</a:t>
            </a:r>
            <a:r>
              <a:rPr lang="en-US" sz="2400" dirty="0"/>
              <a:t> pages, need to find </a:t>
            </a:r>
            <a:r>
              <a:rPr lang="en-US" sz="2400" i="1" dirty="0"/>
              <a:t>n</a:t>
            </a:r>
            <a:r>
              <a:rPr lang="en-US" sz="2400" dirty="0"/>
              <a:t> free frames and load program</a:t>
            </a:r>
          </a:p>
          <a:p>
            <a:pPr eaLnBrk="1" hangingPunct="1"/>
            <a:r>
              <a:rPr lang="en-US" sz="2400" dirty="0"/>
              <a:t>Set up a page table to translate logical to physical addresses</a:t>
            </a:r>
          </a:p>
          <a:p>
            <a:pPr eaLnBrk="1" hangingPunct="1"/>
            <a:r>
              <a:rPr lang="en-US" sz="2400" dirty="0"/>
              <a:t>Internal fragmentation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Shared Pages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762000"/>
            <a:ext cx="6821488" cy="4483100"/>
          </a:xfrm>
        </p:spPr>
        <p:txBody>
          <a:bodyPr/>
          <a:lstStyle/>
          <a:p>
            <a:pPr eaLnBrk="1" hangingPunct="1"/>
            <a:r>
              <a:rPr lang="en-US" sz="2400" b="1" dirty="0"/>
              <a:t>Shared code</a:t>
            </a:r>
          </a:p>
          <a:p>
            <a:pPr lvl="1" eaLnBrk="1" hangingPunct="1"/>
            <a:r>
              <a:rPr lang="en-US" sz="2400" dirty="0"/>
              <a:t>One copy of read-only (reentrant) code shared among processes (i.e., text editors, compilers, window systems).</a:t>
            </a:r>
          </a:p>
          <a:p>
            <a:pPr lvl="1" eaLnBrk="1" hangingPunct="1"/>
            <a:r>
              <a:rPr lang="en-US" sz="2400" dirty="0"/>
              <a:t>Shared code must appear in same location in the logical address space of all processes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eaLnBrk="1" hangingPunct="1"/>
            <a:r>
              <a:rPr lang="en-US" sz="2400" b="1" dirty="0"/>
              <a:t>Private code and data</a:t>
            </a:r>
            <a:r>
              <a:rPr lang="en-US" sz="2400" dirty="0"/>
              <a:t> </a:t>
            </a:r>
          </a:p>
          <a:p>
            <a:pPr lvl="1" eaLnBrk="1" hangingPunct="1"/>
            <a:r>
              <a:rPr lang="en-US" sz="2400" dirty="0"/>
              <a:t>Each process keeps a separate copy of the code and data</a:t>
            </a:r>
          </a:p>
          <a:p>
            <a:pPr lvl="1" eaLnBrk="1" hangingPunct="1"/>
            <a:r>
              <a:rPr lang="en-US" sz="2400" dirty="0"/>
              <a:t>The pages for the private code and data can appear anywhere in the logical address space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Custom Design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2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Settings\adrian\Application Data\Microsoft\Templates\ajp2.pot</Template>
  <TotalTime>6270</TotalTime>
  <Words>2084</Words>
  <Application>Microsoft Office PowerPoint</Application>
  <PresentationFormat>On-screen Show (4:3)</PresentationFormat>
  <Paragraphs>303</Paragraphs>
  <Slides>43</Slides>
  <Notes>24</Notes>
  <HiddenSlides>0</HiddenSlides>
  <MMClips>0</MMClips>
  <ScaleCrop>false</ScaleCrop>
  <HeadingPairs>
    <vt:vector size="6" baseType="variant"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1_Custom Design</vt:lpstr>
      <vt:lpstr>Custom Design</vt:lpstr>
      <vt:lpstr>2_Custom Design</vt:lpstr>
      <vt:lpstr>RFFlow</vt:lpstr>
      <vt:lpstr>Slide 1</vt:lpstr>
      <vt:lpstr>Objectives</vt:lpstr>
      <vt:lpstr>Background</vt:lpstr>
      <vt:lpstr>Base and Limit Registers</vt:lpstr>
      <vt:lpstr>Binding of Instructions and Data to Memory</vt:lpstr>
      <vt:lpstr>Logical vs. Physical Address Space</vt:lpstr>
      <vt:lpstr>Memory-Management Unit (MMU)</vt:lpstr>
      <vt:lpstr>Dynamic relocation using a relocation register</vt:lpstr>
      <vt:lpstr>Dynamic Loading</vt:lpstr>
      <vt:lpstr>Swapping</vt:lpstr>
      <vt:lpstr>Schematic View of Swapping</vt:lpstr>
      <vt:lpstr>Contiguous Allocation</vt:lpstr>
      <vt:lpstr>Dynamic Storage-Allocation Problem</vt:lpstr>
      <vt:lpstr>Associative Memory</vt:lpstr>
      <vt:lpstr>Paging Hardware With TLB</vt:lpstr>
      <vt:lpstr>Valid (v) or Invalid (i) Bit In A Page Table</vt:lpstr>
      <vt:lpstr>Shared Pages Example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Fragmentation</vt:lpstr>
      <vt:lpstr>Paging</vt:lpstr>
      <vt:lpstr>Shared Pages</vt:lpstr>
    </vt:vector>
  </TitlesOfParts>
  <Company>NEWI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basics</dc:title>
  <dc:creator>Adrian J Pullin</dc:creator>
  <cp:lastModifiedBy>MUSTA</cp:lastModifiedBy>
  <cp:revision>1645</cp:revision>
  <cp:lastPrinted>2019-02-17T08:27:48Z</cp:lastPrinted>
  <dcterms:created xsi:type="dcterms:W3CDTF">1998-09-03T13:41:33Z</dcterms:created>
  <dcterms:modified xsi:type="dcterms:W3CDTF">2019-04-28T12:12:11Z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1</vt:i4>
  </property>
  <property fmtid="{D5CDD505-2E9C-101B-9397-08002B2CF9AE}" pid="7" name="MailAddress">
    <vt:lpwstr>a.j.pullin@newi.ac.uk</vt:lpwstr>
  </property>
  <property fmtid="{D5CDD505-2E9C-101B-9397-08002B2CF9AE}" pid="8" name="HomePage">
    <vt:lpwstr>http://www.newi.ac.uk/pullina/default.htm</vt:lpwstr>
  </property>
  <property fmtid="{D5CDD505-2E9C-101B-9397-08002B2CF9AE}" pid="9" name="Other">
    <vt:lpwstr/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H:\Data\Networks\Notes\HTML</vt:lpwstr>
  </property>
</Properties>
</file>