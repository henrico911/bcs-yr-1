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sldIdLst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552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93139" y="2006599"/>
            <a:ext cx="2795270" cy="413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1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1" y="2763521"/>
            <a:ext cx="9909969" cy="1192848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089660" y="1899920"/>
            <a:ext cx="8549640" cy="165703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089660" y="7081520"/>
            <a:ext cx="2095500" cy="5181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71900" y="7081520"/>
            <a:ext cx="3185160" cy="5181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43800" y="7081520"/>
            <a:ext cx="2095500" cy="51816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6596D3E-A31F-4D02-A1C1-F2578AE2631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A7059AB-02AF-440F-B2B6-0ED0F5C76DD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87"/>
            <a:ext cx="8549640" cy="154368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75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920" indent="0">
              <a:buNone/>
              <a:defRPr sz="1980"/>
            </a:lvl2pPr>
            <a:lvl3pPr marL="1005840" indent="0">
              <a:buNone/>
              <a:defRPr sz="1760"/>
            </a:lvl3pPr>
            <a:lvl4pPr marL="1508760" indent="0">
              <a:buNone/>
              <a:defRPr sz="1540"/>
            </a:lvl4pPr>
            <a:lvl5pPr marL="2011680" indent="0">
              <a:buNone/>
              <a:defRPr sz="1540"/>
            </a:lvl5pPr>
            <a:lvl6pPr marL="2514600" indent="0">
              <a:buNone/>
              <a:defRPr sz="1540"/>
            </a:lvl6pPr>
            <a:lvl7pPr marL="3017520" indent="0">
              <a:buNone/>
              <a:defRPr sz="1540"/>
            </a:lvl7pPr>
            <a:lvl8pPr marL="3520440" indent="0">
              <a:buNone/>
              <a:defRPr sz="1540"/>
            </a:lvl8pPr>
            <a:lvl9pPr marL="4023360" indent="0">
              <a:buNone/>
              <a:defRPr sz="154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828689A-CEB9-4A1E-B807-3EF5461E7F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0957" y="2286741"/>
            <a:ext cx="4191000" cy="4663440"/>
          </a:xfrm>
        </p:spPr>
        <p:txBody>
          <a:bodyPr/>
          <a:lstStyle>
            <a:lvl1pPr>
              <a:defRPr sz="3080"/>
            </a:lvl1pPr>
            <a:lvl2pPr>
              <a:defRPr sz="2640"/>
            </a:lvl2pPr>
            <a:lvl3pPr>
              <a:defRPr sz="220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9597" y="2286741"/>
            <a:ext cx="4191000" cy="4663440"/>
          </a:xfrm>
        </p:spPr>
        <p:txBody>
          <a:bodyPr/>
          <a:lstStyle>
            <a:lvl1pPr>
              <a:defRPr sz="3080"/>
            </a:lvl1pPr>
            <a:lvl2pPr>
              <a:defRPr sz="2640"/>
            </a:lvl2pPr>
            <a:lvl3pPr>
              <a:defRPr sz="220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FE360B2-6A24-4592-96A6-BF6F5509A4B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1256"/>
            <a:ext cx="90525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739795"/>
            <a:ext cx="4444207" cy="72506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" y="2464859"/>
            <a:ext cx="4444207" cy="4478126"/>
          </a:xfrm>
        </p:spPr>
        <p:txBody>
          <a:bodyPr/>
          <a:lstStyle>
            <a:lvl1pPr>
              <a:defRPr sz="2640"/>
            </a:lvl1pPr>
            <a:lvl2pPr>
              <a:defRPr sz="2200"/>
            </a:lvl2pPr>
            <a:lvl3pPr>
              <a:defRPr sz="1980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9528" y="1739795"/>
            <a:ext cx="4445953" cy="72506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9528" y="2464859"/>
            <a:ext cx="4445953" cy="4478126"/>
          </a:xfrm>
        </p:spPr>
        <p:txBody>
          <a:bodyPr/>
          <a:lstStyle>
            <a:lvl1pPr>
              <a:defRPr sz="2640"/>
            </a:lvl1pPr>
            <a:lvl2pPr>
              <a:defRPr sz="2200"/>
            </a:lvl2pPr>
            <a:lvl3pPr>
              <a:defRPr sz="1980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4AF3BE-991E-405D-BA89-C00F2F02A12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7492822-69DC-49CD-99F8-E5A0CCEE1AB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03DFA07-A698-475F-A4EC-7AFD5E9C79A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1" y="309457"/>
            <a:ext cx="3309144" cy="1316990"/>
          </a:xfrm>
        </p:spPr>
        <p:txBody>
          <a:bodyPr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555" y="309457"/>
            <a:ext cx="5622925" cy="6633528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1" y="1626447"/>
            <a:ext cx="3309144" cy="5316538"/>
          </a:xfrm>
        </p:spPr>
        <p:txBody>
          <a:bodyPr/>
          <a:lstStyle>
            <a:lvl1pPr marL="0" indent="0">
              <a:buNone/>
              <a:defRPr sz="1540"/>
            </a:lvl1pPr>
            <a:lvl2pPr marL="502920" indent="0">
              <a:buNone/>
              <a:defRPr sz="1320"/>
            </a:lvl2pPr>
            <a:lvl3pPr marL="1005840" indent="0">
              <a:buNone/>
              <a:defRPr sz="1100"/>
            </a:lvl3pPr>
            <a:lvl4pPr marL="1508760" indent="0">
              <a:buNone/>
              <a:defRPr sz="990"/>
            </a:lvl4pPr>
            <a:lvl5pPr marL="2011680" indent="0">
              <a:buNone/>
              <a:defRPr sz="990"/>
            </a:lvl5pPr>
            <a:lvl6pPr marL="2514600" indent="0">
              <a:buNone/>
              <a:defRPr sz="990"/>
            </a:lvl6pPr>
            <a:lvl7pPr marL="3017520" indent="0">
              <a:buNone/>
              <a:defRPr sz="990"/>
            </a:lvl7pPr>
            <a:lvl8pPr marL="3520440" indent="0">
              <a:buNone/>
              <a:defRPr sz="990"/>
            </a:lvl8pPr>
            <a:lvl9pPr marL="4023360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3DF6C08-AAB1-484A-92D7-A305A881C9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517" y="5440680"/>
            <a:ext cx="6035040" cy="642303"/>
          </a:xfrm>
        </p:spPr>
        <p:txBody>
          <a:bodyPr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517" y="694478"/>
            <a:ext cx="6035040" cy="4663440"/>
          </a:xfrm>
        </p:spPr>
        <p:txBody>
          <a:bodyPr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517" y="6082983"/>
            <a:ext cx="6035040" cy="912177"/>
          </a:xfrm>
        </p:spPr>
        <p:txBody>
          <a:bodyPr/>
          <a:lstStyle>
            <a:lvl1pPr marL="0" indent="0">
              <a:buNone/>
              <a:defRPr sz="1540"/>
            </a:lvl1pPr>
            <a:lvl2pPr marL="502920" indent="0">
              <a:buNone/>
              <a:defRPr sz="1320"/>
            </a:lvl2pPr>
            <a:lvl3pPr marL="1005840" indent="0">
              <a:buNone/>
              <a:defRPr sz="1100"/>
            </a:lvl3pPr>
            <a:lvl4pPr marL="1508760" indent="0">
              <a:buNone/>
              <a:defRPr sz="990"/>
            </a:lvl4pPr>
            <a:lvl5pPr marL="2011680" indent="0">
              <a:buNone/>
              <a:defRPr sz="990"/>
            </a:lvl5pPr>
            <a:lvl6pPr marL="2514600" indent="0">
              <a:buNone/>
              <a:defRPr sz="990"/>
            </a:lvl6pPr>
            <a:lvl7pPr marL="3017520" indent="0">
              <a:buNone/>
              <a:defRPr sz="990"/>
            </a:lvl7pPr>
            <a:lvl8pPr marL="3520440" indent="0">
              <a:buNone/>
              <a:defRPr sz="990"/>
            </a:lvl8pPr>
            <a:lvl9pPr marL="4023360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D594622-C5E0-4056-B711-98C5F60E96D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0A711F-430A-4E19-82C6-D2171290DFA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04455" y="242888"/>
            <a:ext cx="2146142" cy="6707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6032" y="242888"/>
            <a:ext cx="6270783" cy="6707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4B3E928-D56B-4785-850D-B6DEA4AE204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939800"/>
            <a:ext cx="620712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702104"/>
            <a:ext cx="8072120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4816" y="6747818"/>
            <a:ext cx="28702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59264" y="1245024"/>
            <a:ext cx="481965" cy="5379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64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80111" y="1245024"/>
            <a:ext cx="361474" cy="537951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64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95472" y="1723602"/>
            <a:ext cx="464503" cy="53795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64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02348" y="1723602"/>
            <a:ext cx="405130" cy="537951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64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39700" y="1640841"/>
            <a:ext cx="616427" cy="47857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64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38200" y="1122681"/>
            <a:ext cx="34925" cy="11928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64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87205" y="2018665"/>
            <a:ext cx="9049068" cy="3598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64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66032" y="242889"/>
            <a:ext cx="8572341" cy="165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0957" y="2286741"/>
            <a:ext cx="8549640" cy="466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78255" y="7076123"/>
            <a:ext cx="2095500" cy="518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540"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23360" y="7076123"/>
            <a:ext cx="3185160" cy="518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540"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6365" y="7076123"/>
            <a:ext cx="2095500" cy="518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540" smtClean="0"/>
            </a:lvl1pPr>
          </a:lstStyle>
          <a:p>
            <a:pPr>
              <a:defRPr/>
            </a:pPr>
            <a:fld id="{BD8461FE-AFC4-4382-BF54-FB454DDD8566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84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4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4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4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4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5pPr>
      <a:lvl6pPr marL="502920" algn="l" rtl="0" fontAlgn="base">
        <a:spcBef>
          <a:spcPct val="0"/>
        </a:spcBef>
        <a:spcAft>
          <a:spcPct val="0"/>
        </a:spcAft>
        <a:defRPr sz="484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6pPr>
      <a:lvl7pPr marL="1005840" algn="l" rtl="0" fontAlgn="base">
        <a:spcBef>
          <a:spcPct val="0"/>
        </a:spcBef>
        <a:spcAft>
          <a:spcPct val="0"/>
        </a:spcAft>
        <a:defRPr sz="484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7pPr>
      <a:lvl8pPr marL="1508760" algn="l" rtl="0" fontAlgn="base">
        <a:spcBef>
          <a:spcPct val="0"/>
        </a:spcBef>
        <a:spcAft>
          <a:spcPct val="0"/>
        </a:spcAft>
        <a:defRPr sz="484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8pPr>
      <a:lvl9pPr marL="2011680" algn="l" rtl="0" fontAlgn="base">
        <a:spcBef>
          <a:spcPct val="0"/>
        </a:spcBef>
        <a:spcAft>
          <a:spcPct val="0"/>
        </a:spcAft>
        <a:defRPr sz="484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9pPr>
    </p:titleStyle>
    <p:bodyStyle>
      <a:lvl1pPr marL="377190" indent="-37719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520">
          <a:solidFill>
            <a:schemeClr val="tx1"/>
          </a:solidFill>
          <a:latin typeface="+mn-lt"/>
          <a:ea typeface="+mn-ea"/>
          <a:cs typeface="+mn-cs"/>
        </a:defRPr>
      </a:lvl1pPr>
      <a:lvl2pPr marL="817245" indent="-31432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3080">
          <a:solidFill>
            <a:schemeClr val="tx1"/>
          </a:solidFill>
          <a:latin typeface="+mn-lt"/>
          <a:cs typeface="+mn-cs"/>
        </a:defRPr>
      </a:lvl2pPr>
      <a:lvl3pPr marL="1257300" indent="-25146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640">
          <a:solidFill>
            <a:schemeClr val="tx1"/>
          </a:solidFill>
          <a:latin typeface="+mn-lt"/>
          <a:cs typeface="+mn-cs"/>
        </a:defRPr>
      </a:lvl3pPr>
      <a:lvl4pPr marL="1760220" indent="-25146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4pPr>
      <a:lvl5pPr marL="2263140" indent="-25146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5pPr>
      <a:lvl6pPr marL="2766060" indent="-2514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6pPr>
      <a:lvl7pPr marL="3268980" indent="-2514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7pPr>
      <a:lvl8pPr marL="3771900" indent="-2514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8pPr>
      <a:lvl9pPr marL="4274820" indent="-2514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16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LOGIC GATES</a:t>
            </a:r>
            <a:endParaRPr lang="en-US" altLang="en-US" b="1">
              <a:solidFill>
                <a:schemeClr val="tx1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64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 b="1"/>
              <a:t>Formal logic</a:t>
            </a:r>
            <a:r>
              <a:rPr lang="en-US" altLang="en-US" sz="2640"/>
              <a:t>: In formal logic, a statement (proposition) is a declarative sentence that is either 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true(1) or false (0). 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It is easier to communicate with computers using formal logic.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• </a:t>
            </a:r>
            <a:r>
              <a:rPr lang="en-US" altLang="en-US" sz="2640" b="1"/>
              <a:t>Boolean variable: </a:t>
            </a:r>
            <a:r>
              <a:rPr lang="en-US" altLang="en-US" sz="2640"/>
              <a:t>Takes only two values – either 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true (1) or false (0). 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They are used as basic units of formal logic.</a:t>
            </a:r>
            <a:endParaRPr lang="en-US" altLang="en-US" sz="2640"/>
          </a:p>
          <a:p>
            <a:pPr eaLnBrk="1" hangingPunct="1">
              <a:lnSpc>
                <a:spcPct val="90000"/>
              </a:lnSpc>
            </a:pPr>
            <a:endParaRPr lang="en-US" altLang="en-US" sz="26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Boolean function and logic diagram</a:t>
            </a:r>
            <a:endParaRPr lang="en-US" altLang="en-US" b="1">
              <a:solidFill>
                <a:schemeClr val="tx1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080"/>
              <a:t>• </a:t>
            </a:r>
            <a:r>
              <a:rPr lang="en-US" altLang="en-US" sz="3080" b="1"/>
              <a:t>Boolean function: </a:t>
            </a:r>
            <a:r>
              <a:rPr lang="en-US" altLang="en-US" sz="3080"/>
              <a:t>Mapping from Boolean variables to a Boolean value.</a:t>
            </a:r>
            <a:endParaRPr lang="en-US" altLang="en-US" sz="3080"/>
          </a:p>
          <a:p>
            <a:pPr eaLnBrk="1" hangingPunct="1"/>
            <a:endParaRPr lang="en-US" altLang="en-US" sz="308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080"/>
              <a:t>• </a:t>
            </a:r>
            <a:r>
              <a:rPr lang="en-US" altLang="en-US" sz="3080" b="1"/>
              <a:t>Truth table</a:t>
            </a:r>
            <a:r>
              <a:rPr lang="en-US" altLang="en-US" sz="3080"/>
              <a:t>: </a:t>
            </a:r>
            <a:endParaRPr lang="en-US" altLang="en-US" sz="3080"/>
          </a:p>
          <a:p>
            <a:pPr lvl="1" eaLnBrk="1" hangingPunct="1"/>
            <a:r>
              <a:rPr lang="en-US" altLang="en-US" sz="2640"/>
              <a:t>Represents relationship between a Boolean function and its binary variables. </a:t>
            </a:r>
            <a:endParaRPr lang="en-US" altLang="en-US" sz="2640"/>
          </a:p>
          <a:p>
            <a:pPr lvl="1" eaLnBrk="1" hangingPunct="1"/>
            <a:r>
              <a:rPr lang="en-US" altLang="en-US" sz="2640"/>
              <a:t>It enumerates all possible combinations of arguments and the corresponding function values. </a:t>
            </a:r>
            <a:endParaRPr lang="en-US" altLang="en-US" sz="264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Boolean function and logic diagram</a:t>
            </a:r>
            <a:endParaRPr lang="en-US" altLang="en-US" b="1">
              <a:solidFill>
                <a:schemeClr val="tx1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• </a:t>
            </a:r>
            <a:r>
              <a:rPr lang="en-US" altLang="en-US" b="1"/>
              <a:t>Boolean algebra</a:t>
            </a:r>
            <a:r>
              <a:rPr lang="en-US" altLang="en-US"/>
              <a:t>: Deals with binary variables and logic operations operating on those variables.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•</a:t>
            </a:r>
            <a:r>
              <a:rPr lang="en-US" altLang="en-US" b="1"/>
              <a:t> Logic diagram</a:t>
            </a:r>
            <a:r>
              <a:rPr lang="en-US" altLang="en-US"/>
              <a:t>: Composed of graphic symbols for logic gates. A simple circuit sketch that represents inputs and outputs of Boolean functions.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Gates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640"/>
              <a:t>Refer to the hardware  to implement Boolean operators. </a:t>
            </a:r>
            <a:br>
              <a:rPr lang="en-US" altLang="en-US" sz="2640"/>
            </a:br>
            <a:endParaRPr lang="en-US" altLang="en-US" sz="2640"/>
          </a:p>
          <a:p>
            <a:pPr eaLnBrk="1" hangingPunct="1"/>
            <a:r>
              <a:rPr lang="en-US" altLang="en-US" sz="2640"/>
              <a:t>The most basic gates are</a:t>
            </a:r>
            <a:endParaRPr lang="en-US" altLang="en-US" sz="2640"/>
          </a:p>
        </p:txBody>
      </p:sp>
      <p:pic>
        <p:nvPicPr>
          <p:cNvPr id="1638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" y="4146392"/>
            <a:ext cx="7879080" cy="3511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Boolean function and truth table</a:t>
            </a:r>
            <a:endParaRPr lang="en-US" altLang="en-US" b="1">
              <a:solidFill>
                <a:schemeClr val="tx1"/>
              </a:solidFill>
            </a:endParaRP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" y="2461260"/>
            <a:ext cx="8130540" cy="4631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BASIC IDENTITIES OF BOOLEAN ALGEBRA</a:t>
            </a:r>
            <a:endParaRPr lang="en-US" altLang="en-US" b="1">
              <a:solidFill>
                <a:schemeClr val="tx1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SzTx/>
              <a:buFontTx/>
              <a:buChar char="•"/>
            </a:pPr>
            <a:r>
              <a:rPr lang="en-US" altLang="en-US" b="1" i="1"/>
              <a:t>Postulate 1</a:t>
            </a:r>
            <a:r>
              <a:rPr lang="en-US" altLang="en-US"/>
              <a:t> </a:t>
            </a:r>
            <a:r>
              <a:rPr lang="en-US" altLang="en-US" i="1"/>
              <a:t>(</a:t>
            </a:r>
            <a:r>
              <a:rPr lang="en-US" altLang="en-US" b="1" i="1"/>
              <a:t>Definition)</a:t>
            </a:r>
            <a:r>
              <a:rPr lang="en-US" altLang="en-US"/>
              <a:t>: A Boolean algebra is a closed algebraic system containing a set </a:t>
            </a:r>
            <a:r>
              <a:rPr lang="en-US" altLang="en-US" i="1"/>
              <a:t>K</a:t>
            </a:r>
            <a:r>
              <a:rPr lang="en-US" altLang="en-US"/>
              <a:t> of two or more elements and the two operators · and + which refer to logical AND and logical OR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20" b="1" i="1">
                <a:solidFill>
                  <a:schemeClr val="tx1"/>
                </a:solidFill>
              </a:rPr>
              <a:t>Basic Identities of Boolean Algebra</a:t>
            </a:r>
            <a:br>
              <a:rPr lang="en-US" altLang="en-US" sz="3520" b="1" i="1">
                <a:solidFill>
                  <a:schemeClr val="tx1"/>
                </a:solidFill>
              </a:rPr>
            </a:br>
            <a:r>
              <a:rPr lang="en-US" altLang="en-US" sz="3520" b="1" i="1">
                <a:solidFill>
                  <a:schemeClr val="tx1"/>
                </a:solidFill>
              </a:rPr>
              <a:t>(Existence of 1 and 0 element)</a:t>
            </a:r>
            <a:endParaRPr lang="en-US" altLang="en-US" sz="3520">
              <a:solidFill>
                <a:schemeClr val="tx1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70560" indent="-670560" eaLnBrk="1" hangingPunct="1">
              <a:buClrTx/>
              <a:buSzTx/>
              <a:buFontTx/>
              <a:buAutoNum type="arabicParenBoth"/>
            </a:pPr>
            <a:r>
              <a:rPr lang="en-US" altLang="en-US" i="1"/>
              <a:t>x + 0 = x</a:t>
            </a:r>
            <a:endParaRPr lang="en-US" altLang="en-US" i="1"/>
          </a:p>
          <a:p>
            <a:pPr marL="670560" indent="-670560" eaLnBrk="1" hangingPunct="1">
              <a:buClrTx/>
              <a:buSzTx/>
              <a:buFontTx/>
              <a:buAutoNum type="arabicParenBoth"/>
            </a:pPr>
            <a:r>
              <a:rPr lang="en-US" altLang="en-US" i="1"/>
              <a:t>x  </a:t>
            </a:r>
            <a:r>
              <a:rPr lang="en-US" altLang="en-US"/>
              <a:t>· </a:t>
            </a:r>
            <a:r>
              <a:rPr lang="en-US" altLang="en-US" i="1"/>
              <a:t>0 = 0</a:t>
            </a:r>
            <a:endParaRPr lang="en-US" altLang="en-US" i="1"/>
          </a:p>
          <a:p>
            <a:pPr marL="670560" indent="-670560" eaLnBrk="1" hangingPunct="1">
              <a:buClrTx/>
              <a:buSzTx/>
              <a:buFontTx/>
              <a:buAutoNum type="arabicParenBoth"/>
            </a:pPr>
            <a:r>
              <a:rPr lang="en-US" altLang="en-US" i="1"/>
              <a:t>x + 1 = 1</a:t>
            </a:r>
            <a:endParaRPr lang="en-US" altLang="en-US" i="1"/>
          </a:p>
          <a:p>
            <a:pPr marL="670560" indent="-670560" eaLnBrk="1" hangingPunct="1">
              <a:buClrTx/>
              <a:buSzTx/>
              <a:buFontTx/>
              <a:buAutoNum type="arabicParenBoth"/>
            </a:pPr>
            <a:r>
              <a:rPr lang="en-US" altLang="en-US" i="1"/>
              <a:t>x </a:t>
            </a:r>
            <a:r>
              <a:rPr lang="en-US" altLang="en-US"/>
              <a:t>· </a:t>
            </a:r>
            <a:r>
              <a:rPr lang="en-US" altLang="en-US" i="1"/>
              <a:t>1 = 1</a:t>
            </a:r>
            <a:endParaRPr lang="en-US" altLang="en-US" i="1"/>
          </a:p>
          <a:p>
            <a:pPr marL="670560" indent="-670560" eaLnBrk="1" hangingPunct="1"/>
            <a:endParaRPr lang="en-US" altLang="en-US"/>
          </a:p>
          <a:p>
            <a:pPr marL="670560" indent="-670560" eaLnBrk="1" hangingPunct="1">
              <a:buNone/>
            </a:pPr>
            <a:r>
              <a:rPr lang="en-US" altLang="en-US"/>
              <a:t>(Table 1-1)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20" b="1" i="1">
                <a:solidFill>
                  <a:schemeClr val="tx1"/>
                </a:solidFill>
              </a:rPr>
              <a:t>Basic Identities of Boolean Algebra (Existence of complement)</a:t>
            </a:r>
            <a:endParaRPr lang="en-US" altLang="en-US" sz="3520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(5) x + x = x</a:t>
            </a:r>
            <a:endParaRPr lang="en-US" altLang="en-US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(6) x · x = x</a:t>
            </a:r>
            <a:endParaRPr lang="en-US" altLang="en-US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(7) x + x’ = x</a:t>
            </a:r>
            <a:endParaRPr lang="en-US" altLang="en-US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(8) x · x’ = 0</a:t>
            </a:r>
            <a:endParaRPr lang="en-US" altLang="en-US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960" b="1" i="1">
                <a:solidFill>
                  <a:schemeClr val="tx1"/>
                </a:solidFill>
              </a:rPr>
              <a:t>Basic Identities of Boolean Algebra </a:t>
            </a:r>
            <a:r>
              <a:rPr lang="en-US" altLang="en-US" sz="3520" b="1" i="1">
                <a:solidFill>
                  <a:schemeClr val="tx1"/>
                </a:solidFill>
              </a:rPr>
              <a:t>(Commutativity)</a:t>
            </a:r>
            <a:r>
              <a:rPr lang="en-US" altLang="en-US" sz="3520">
                <a:solidFill>
                  <a:schemeClr val="tx1"/>
                </a:solidFill>
              </a:rPr>
              <a:t>:</a:t>
            </a:r>
            <a:endParaRPr lang="en-US" altLang="en-US" sz="3520">
              <a:solidFill>
                <a:schemeClr val="tx1"/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(9) x + y = y + x</a:t>
            </a:r>
            <a:endParaRPr lang="en-US" altLang="en-US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(10) xy = yx</a:t>
            </a:r>
            <a:endParaRPr lang="en-US" altLang="en-US" i="1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365760"/>
            <a:ext cx="8572342" cy="1608297"/>
          </a:xfrm>
        </p:spPr>
        <p:txBody>
          <a:bodyPr/>
          <a:lstStyle/>
          <a:p>
            <a:pPr eaLnBrk="1" hangingPunct="1"/>
            <a:r>
              <a:rPr lang="en-US" altLang="en-US" sz="3960" b="1" i="1">
                <a:solidFill>
                  <a:schemeClr val="tx1"/>
                </a:solidFill>
              </a:rPr>
              <a:t>Basic Identities of Boolean Algebra </a:t>
            </a:r>
            <a:r>
              <a:rPr lang="en-US" altLang="en-US" sz="3520" b="1" i="1">
                <a:solidFill>
                  <a:schemeClr val="tx1"/>
                </a:solidFill>
              </a:rPr>
              <a:t>(Associativity)</a:t>
            </a:r>
            <a:r>
              <a:rPr lang="en-US" altLang="en-US" sz="3520">
                <a:solidFill>
                  <a:schemeClr val="tx1"/>
                </a:solidFill>
              </a:rPr>
              <a:t>:</a:t>
            </a:r>
            <a:endParaRPr lang="en-US" altLang="en-US" sz="3520">
              <a:solidFill>
                <a:schemeClr val="tx1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(11) x + ( y + z ) = ( x + y ) + z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(12) x (yz) = (xy) z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960" b="1" i="1">
                <a:solidFill>
                  <a:schemeClr val="tx1"/>
                </a:solidFill>
              </a:rPr>
              <a:t>Basic Identities of Boolean Algebra </a:t>
            </a:r>
            <a:r>
              <a:rPr lang="en-US" altLang="en-US" sz="3520" b="1" i="1">
                <a:solidFill>
                  <a:schemeClr val="tx1"/>
                </a:solidFill>
              </a:rPr>
              <a:t>(Distributivity)</a:t>
            </a:r>
            <a:r>
              <a:rPr lang="en-US" altLang="en-US" sz="3520">
                <a:solidFill>
                  <a:schemeClr val="tx1"/>
                </a:solidFill>
              </a:rPr>
              <a:t>:</a:t>
            </a:r>
            <a:endParaRPr lang="en-US" altLang="en-US" sz="3520">
              <a:solidFill>
                <a:schemeClr val="tx1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(13) x ( y + z ) = xy + xz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(14) </a:t>
            </a:r>
            <a:r>
              <a:rPr lang="en-US" altLang="en-US">
                <a:solidFill>
                  <a:schemeClr val="hlink"/>
                </a:solidFill>
              </a:rPr>
              <a:t>x + yz = ( x + y )( x + z)</a:t>
            </a:r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960" b="1" i="1">
                <a:solidFill>
                  <a:schemeClr val="tx1"/>
                </a:solidFill>
              </a:rPr>
              <a:t>Basic Identities of Boolean Algebra (DeMorgan’s Theorem)</a:t>
            </a:r>
            <a:endParaRPr lang="en-US" altLang="en-US" sz="3960" b="1" i="1">
              <a:solidFill>
                <a:schemeClr val="tx1"/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(15) </a:t>
            </a:r>
            <a:r>
              <a:rPr lang="en-US" altLang="en-US">
                <a:solidFill>
                  <a:schemeClr val="hlink"/>
                </a:solidFill>
              </a:rPr>
              <a:t>( x + y )’ = x’ y’</a:t>
            </a:r>
            <a:endParaRPr lang="en-US" altLang="en-US">
              <a:solidFill>
                <a:schemeClr val="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(16) </a:t>
            </a:r>
            <a:r>
              <a:rPr lang="en-US" altLang="en-US">
                <a:solidFill>
                  <a:schemeClr val="hlink"/>
                </a:solidFill>
              </a:rPr>
              <a:t>( xy )’ = x’ + y’</a:t>
            </a:r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960" b="1" i="1">
                <a:solidFill>
                  <a:schemeClr val="tx1"/>
                </a:solidFill>
              </a:rPr>
              <a:t>Basic Identities of Boolean Algebra (Involution)</a:t>
            </a:r>
            <a:endParaRPr lang="en-US" altLang="en-US" sz="3960">
              <a:solidFill>
                <a:schemeClr val="tx1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(17) (x’)’ = x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4380" y="449580"/>
            <a:ext cx="8549640" cy="1257300"/>
          </a:xfrm>
          <a:noFill/>
        </p:spPr>
        <p:txBody>
          <a:bodyPr vert="horz" wrap="square" lIns="101283" tIns="50642" rIns="101283" bIns="50642" numCol="1" anchor="ctr" anchorCtr="0" compatLnSpc="1"/>
          <a:lstStyle/>
          <a:p>
            <a:pPr eaLnBrk="1" hangingPunct="1"/>
            <a:r>
              <a:rPr lang="en-US" altLang="en-US" sz="3080" b="1"/>
              <a:t>Function Minimization using  Boolean Algebra</a:t>
            </a:r>
            <a:r>
              <a:rPr lang="en-US" altLang="en-US"/>
              <a:t> </a:t>
            </a:r>
            <a:endParaRPr lang="en-US" altLang="en-US" b="1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4380" y="2545080"/>
            <a:ext cx="8549640" cy="4526280"/>
          </a:xfrm>
          <a:noFill/>
        </p:spPr>
        <p:txBody>
          <a:bodyPr vert="horz" wrap="square" lIns="101283" tIns="50642" rIns="101283" bIns="50642" numCol="1" anchor="t" anchorCtr="0" compatLnSpc="1"/>
          <a:lstStyle/>
          <a:p>
            <a:pPr eaLnBrk="1" hangingPunct="1"/>
            <a:r>
              <a:rPr lang="en-US" altLang="en-US" sz="2640" b="1" i="1"/>
              <a:t>Examples</a:t>
            </a:r>
            <a:r>
              <a:rPr lang="en-US" altLang="en-US" sz="2640"/>
              <a:t>:</a:t>
            </a:r>
            <a:endParaRPr lang="en-US" altLang="en-US" sz="2640"/>
          </a:p>
          <a:p>
            <a:pPr eaLnBrk="1" hangingPunct="1"/>
            <a:endParaRPr lang="en-US" altLang="en-US" sz="264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40"/>
              <a:t>	(a) </a:t>
            </a:r>
            <a:r>
              <a:rPr lang="en-US" altLang="en-US" sz="2640" i="1"/>
              <a:t>a + ab = a(1+b)=a</a:t>
            </a:r>
            <a:r>
              <a:rPr lang="en-US" altLang="en-US" sz="2640"/>
              <a:t>			</a:t>
            </a:r>
            <a:endParaRPr lang="en-US" altLang="en-US" sz="264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40"/>
              <a:t>	</a:t>
            </a:r>
            <a:endParaRPr lang="en-US" altLang="en-US" sz="264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40"/>
              <a:t>	(b) </a:t>
            </a:r>
            <a:r>
              <a:rPr lang="en-US" altLang="en-US" sz="2640" i="1"/>
              <a:t>a</a:t>
            </a:r>
            <a:r>
              <a:rPr lang="en-US" altLang="en-US" sz="2640"/>
              <a:t>(</a:t>
            </a:r>
            <a:r>
              <a:rPr lang="en-US" altLang="en-US" sz="2640" i="1"/>
              <a:t>a + b</a:t>
            </a:r>
            <a:r>
              <a:rPr lang="en-US" altLang="en-US" sz="2640"/>
              <a:t>) = </a:t>
            </a:r>
            <a:r>
              <a:rPr lang="en-US" altLang="en-US" sz="2640" i="1"/>
              <a:t>a.a +ab=a+ab=a(1+b)=a.</a:t>
            </a:r>
            <a:endParaRPr lang="en-US" altLang="en-US" sz="2640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40"/>
              <a:t>	</a:t>
            </a:r>
            <a:endParaRPr lang="en-US" altLang="en-US" sz="264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40"/>
              <a:t>	(c) </a:t>
            </a:r>
            <a:r>
              <a:rPr lang="en-US" altLang="en-US" sz="2640" i="1"/>
              <a:t>a + a</a:t>
            </a:r>
            <a:r>
              <a:rPr lang="en-US" altLang="en-US" sz="2640"/>
              <a:t>'</a:t>
            </a:r>
            <a:r>
              <a:rPr lang="en-US" altLang="en-US" sz="2640" i="1"/>
              <a:t>b = (a + a</a:t>
            </a:r>
            <a:r>
              <a:rPr lang="en-US" altLang="en-US" sz="2640"/>
              <a:t>')(</a:t>
            </a:r>
            <a:r>
              <a:rPr lang="en-US" altLang="en-US" sz="2640" i="1"/>
              <a:t>a </a:t>
            </a:r>
            <a:r>
              <a:rPr lang="en-US" altLang="en-US" sz="2640"/>
              <a:t>+</a:t>
            </a:r>
            <a:r>
              <a:rPr lang="en-US" altLang="en-US" sz="2640" i="1"/>
              <a:t> b</a:t>
            </a:r>
            <a:r>
              <a:rPr lang="en-US" altLang="en-US" sz="2640"/>
              <a:t>)=1(</a:t>
            </a:r>
            <a:r>
              <a:rPr lang="en-US" altLang="en-US" sz="2640" i="1"/>
              <a:t>a </a:t>
            </a:r>
            <a:r>
              <a:rPr lang="en-US" altLang="en-US" sz="2640"/>
              <a:t>+</a:t>
            </a:r>
            <a:r>
              <a:rPr lang="en-US" altLang="en-US" sz="2640" i="1"/>
              <a:t> b</a:t>
            </a:r>
            <a:r>
              <a:rPr lang="en-US" altLang="en-US" sz="2640"/>
              <a:t>) =</a:t>
            </a:r>
            <a:r>
              <a:rPr lang="en-US" altLang="en-US" sz="2640" i="1"/>
              <a:t>a+b</a:t>
            </a:r>
            <a:r>
              <a:rPr lang="en-US" altLang="en-US" sz="2640"/>
              <a:t>	</a:t>
            </a:r>
            <a:endParaRPr lang="en-US" altLang="en-US" sz="264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40"/>
              <a:t>	</a:t>
            </a:r>
            <a:endParaRPr lang="en-US" altLang="en-US" sz="264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40"/>
              <a:t>	(d) </a:t>
            </a:r>
            <a:r>
              <a:rPr lang="en-US" altLang="en-US" sz="2640" i="1"/>
              <a:t>a</a:t>
            </a:r>
            <a:r>
              <a:rPr lang="en-US" altLang="en-US" sz="2640"/>
              <a:t>(</a:t>
            </a:r>
            <a:r>
              <a:rPr lang="en-US" altLang="en-US" sz="2640" i="1"/>
              <a:t>a</a:t>
            </a:r>
            <a:r>
              <a:rPr lang="en-US" altLang="en-US" sz="2640"/>
              <a:t>' + </a:t>
            </a:r>
            <a:r>
              <a:rPr lang="en-US" altLang="en-US" sz="2640" i="1"/>
              <a:t>b</a:t>
            </a:r>
            <a:r>
              <a:rPr lang="en-US" altLang="en-US" sz="2640"/>
              <a:t>) = </a:t>
            </a:r>
            <a:r>
              <a:rPr lang="en-US" altLang="en-US" sz="2640" i="1"/>
              <a:t>a. a</a:t>
            </a:r>
            <a:r>
              <a:rPr lang="en-US" altLang="en-US" sz="2640"/>
              <a:t>'</a:t>
            </a:r>
            <a:r>
              <a:rPr lang="en-US" altLang="en-US" sz="2640" i="1"/>
              <a:t> +ab=0+ab=ab</a:t>
            </a:r>
            <a:endParaRPr lang="en-US" altLang="en-US" sz="264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Try</a:t>
            </a:r>
            <a:endParaRPr lang="en-US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 = abc + abc’ + a’c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other type of question</a:t>
            </a:r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1120" y="2293620"/>
            <a:ext cx="8549640" cy="452628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Show that;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	1- </a:t>
            </a:r>
            <a:r>
              <a:rPr lang="en-US" altLang="en-US" sz="2640" i="1"/>
              <a:t>ab + ab</a:t>
            </a:r>
            <a:r>
              <a:rPr lang="en-US" altLang="en-US" sz="2640"/>
              <a:t>' = </a:t>
            </a:r>
            <a:r>
              <a:rPr lang="en-US" altLang="en-US" sz="2640" i="1"/>
              <a:t>a</a:t>
            </a:r>
            <a:r>
              <a:rPr lang="en-US" altLang="en-US" sz="2640"/>
              <a:t>			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	2- (</a:t>
            </a:r>
            <a:r>
              <a:rPr lang="en-US" altLang="en-US" sz="2640" i="1"/>
              <a:t>a + b</a:t>
            </a:r>
            <a:r>
              <a:rPr lang="en-US" altLang="en-US" sz="2640"/>
              <a:t>)(</a:t>
            </a:r>
            <a:r>
              <a:rPr lang="en-US" altLang="en-US" sz="2640" i="1"/>
              <a:t>a + b</a:t>
            </a:r>
            <a:r>
              <a:rPr lang="en-US" altLang="en-US" sz="2640"/>
              <a:t>') = </a:t>
            </a:r>
            <a:r>
              <a:rPr lang="en-US" altLang="en-US" sz="2640" i="1"/>
              <a:t>a</a:t>
            </a:r>
            <a:endParaRPr lang="en-US" altLang="en-US" sz="264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64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1- </a:t>
            </a:r>
            <a:r>
              <a:rPr lang="en-US" altLang="en-US" sz="2640" i="1"/>
              <a:t>ab + ab</a:t>
            </a:r>
            <a:r>
              <a:rPr lang="en-US" altLang="en-US" sz="2640"/>
              <a:t>' = </a:t>
            </a:r>
            <a:r>
              <a:rPr lang="en-US" altLang="en-US" sz="2640" i="1"/>
              <a:t>a(b+b</a:t>
            </a:r>
            <a:r>
              <a:rPr lang="en-US" altLang="en-US" sz="2640"/>
              <a:t>') = </a:t>
            </a:r>
            <a:r>
              <a:rPr lang="en-US" altLang="en-US" sz="2640" i="1"/>
              <a:t>a.1=a</a:t>
            </a:r>
            <a:endParaRPr lang="en-US" altLang="en-US" sz="264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2- (</a:t>
            </a:r>
            <a:r>
              <a:rPr lang="en-US" altLang="en-US" sz="2640" i="1"/>
              <a:t>a + b</a:t>
            </a:r>
            <a:r>
              <a:rPr lang="en-US" altLang="en-US" sz="2640"/>
              <a:t>)(</a:t>
            </a:r>
            <a:r>
              <a:rPr lang="en-US" altLang="en-US" sz="2640" i="1"/>
              <a:t>a + b</a:t>
            </a:r>
            <a:r>
              <a:rPr lang="en-US" altLang="en-US" sz="2640"/>
              <a:t>') = </a:t>
            </a:r>
            <a:r>
              <a:rPr lang="en-US" altLang="en-US" sz="2640" i="1"/>
              <a:t>a.a +a.b</a:t>
            </a:r>
            <a:r>
              <a:rPr lang="en-US" altLang="en-US" sz="2640"/>
              <a:t>' +</a:t>
            </a:r>
            <a:r>
              <a:rPr lang="en-US" altLang="en-US" sz="2640" i="1"/>
              <a:t>a.b+b.b</a:t>
            </a:r>
            <a:r>
              <a:rPr lang="en-US" altLang="en-US" sz="2640"/>
              <a:t>'</a:t>
            </a:r>
            <a:endParaRPr lang="en-US" altLang="en-US" sz="264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 i="1"/>
              <a:t>				 =   a  + a.b</a:t>
            </a:r>
            <a:r>
              <a:rPr lang="en-US" altLang="en-US" sz="2640"/>
              <a:t>'</a:t>
            </a:r>
            <a:r>
              <a:rPr lang="en-US" altLang="en-US" sz="2640" i="1"/>
              <a:t> +a.b + 0</a:t>
            </a:r>
            <a:endParaRPr lang="en-US" altLang="en-US" sz="264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 i="1"/>
              <a:t>				 =   a  + a.(b</a:t>
            </a:r>
            <a:r>
              <a:rPr lang="en-US" altLang="en-US" sz="2640"/>
              <a:t>'</a:t>
            </a:r>
            <a:r>
              <a:rPr lang="en-US" altLang="en-US" sz="2640" i="1"/>
              <a:t> +b) + 0</a:t>
            </a:r>
            <a:endParaRPr lang="en-US" altLang="en-US" sz="264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 i="1"/>
              <a:t>				 =   a  + a.1 	  + 0</a:t>
            </a:r>
            <a:endParaRPr lang="en-US" altLang="en-US" sz="264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 i="1"/>
              <a:t>				 =   a  + a = a</a:t>
            </a:r>
            <a:endParaRPr lang="en-US" altLang="en-US" sz="2640" i="1"/>
          </a:p>
          <a:p>
            <a:pPr eaLnBrk="1" hangingPunct="1">
              <a:lnSpc>
                <a:spcPct val="90000"/>
              </a:lnSpc>
            </a:pPr>
            <a:endParaRPr lang="en-US" altLang="en-US" sz="264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280" b="1" i="1"/>
              <a:t>More Examples</a:t>
            </a:r>
            <a:endParaRPr lang="en-US" altLang="en-US" sz="528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40"/>
              <a:t>Show that;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	(a) </a:t>
            </a:r>
            <a:r>
              <a:rPr lang="en-US" altLang="en-US" sz="2640" i="1"/>
              <a:t>ab + ab</a:t>
            </a:r>
            <a:r>
              <a:rPr lang="en-US" altLang="en-US" sz="2640"/>
              <a:t>'</a:t>
            </a:r>
            <a:r>
              <a:rPr lang="en-US" altLang="en-US" sz="2640" i="1"/>
              <a:t>c</a:t>
            </a:r>
            <a:r>
              <a:rPr lang="en-US" altLang="en-US" sz="2640"/>
              <a:t> = </a:t>
            </a:r>
            <a:r>
              <a:rPr lang="en-US" altLang="en-US" sz="2640" i="1"/>
              <a:t>ab + ac</a:t>
            </a:r>
            <a:r>
              <a:rPr lang="en-US" altLang="en-US" sz="2640"/>
              <a:t>		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	(b) (</a:t>
            </a:r>
            <a:r>
              <a:rPr lang="en-US" altLang="en-US" sz="2640" i="1"/>
              <a:t>a + b</a:t>
            </a:r>
            <a:r>
              <a:rPr lang="en-US" altLang="en-US" sz="2640"/>
              <a:t>)(</a:t>
            </a:r>
            <a:r>
              <a:rPr lang="en-US" altLang="en-US" sz="2640" i="1"/>
              <a:t>a + b</a:t>
            </a:r>
            <a:r>
              <a:rPr lang="en-US" altLang="en-US" sz="2640"/>
              <a:t>' + </a:t>
            </a:r>
            <a:r>
              <a:rPr lang="en-US" altLang="en-US" sz="2640" i="1"/>
              <a:t>c</a:t>
            </a:r>
            <a:r>
              <a:rPr lang="en-US" altLang="en-US" sz="2640"/>
              <a:t>) = </a:t>
            </a:r>
            <a:r>
              <a:rPr lang="en-US" altLang="en-US" sz="2640" i="1"/>
              <a:t>a + bc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64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(a) </a:t>
            </a:r>
            <a:r>
              <a:rPr lang="en-US" altLang="en-US" sz="2640" i="1"/>
              <a:t>ab + ab</a:t>
            </a:r>
            <a:r>
              <a:rPr lang="en-US" altLang="en-US" sz="2640"/>
              <a:t>'</a:t>
            </a:r>
            <a:r>
              <a:rPr lang="en-US" altLang="en-US" sz="2640" i="1"/>
              <a:t>c</a:t>
            </a:r>
            <a:r>
              <a:rPr lang="en-US" altLang="en-US" sz="2640"/>
              <a:t> = </a:t>
            </a:r>
            <a:r>
              <a:rPr lang="en-US" altLang="en-US" sz="2640" i="1"/>
              <a:t>a(b + b</a:t>
            </a:r>
            <a:r>
              <a:rPr lang="en-US" altLang="en-US" sz="2640"/>
              <a:t>'</a:t>
            </a:r>
            <a:r>
              <a:rPr lang="en-US" altLang="en-US" sz="2640" i="1"/>
              <a:t>c)</a:t>
            </a:r>
            <a:endParaRPr lang="en-US" altLang="en-US" sz="2640" i="1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 i="1"/>
              <a:t>     = a((b+b</a:t>
            </a:r>
            <a:r>
              <a:rPr lang="en-US" altLang="en-US" sz="2640"/>
              <a:t>'</a:t>
            </a:r>
            <a:r>
              <a:rPr lang="en-US" altLang="en-US" sz="2640" i="1"/>
              <a:t>).(b+c))=a(b+c)=ab+ac</a:t>
            </a:r>
            <a:r>
              <a:rPr lang="en-US" altLang="en-US" sz="2640"/>
              <a:t>	</a:t>
            </a:r>
            <a:endParaRPr lang="en-US" altLang="en-US" sz="264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	 (b) (</a:t>
            </a:r>
            <a:r>
              <a:rPr lang="en-US" altLang="en-US" sz="2640" i="1"/>
              <a:t>a + b</a:t>
            </a:r>
            <a:r>
              <a:rPr lang="en-US" altLang="en-US" sz="2640"/>
              <a:t>)(</a:t>
            </a:r>
            <a:r>
              <a:rPr lang="en-US" altLang="en-US" sz="2640" i="1"/>
              <a:t>a + b</a:t>
            </a:r>
            <a:r>
              <a:rPr lang="en-US" altLang="en-US" sz="2640"/>
              <a:t>' + </a:t>
            </a:r>
            <a:r>
              <a:rPr lang="en-US" altLang="en-US" sz="2640" i="1"/>
              <a:t>c</a:t>
            </a:r>
            <a:r>
              <a:rPr lang="en-US" altLang="en-US" sz="2640"/>
              <a:t>) </a:t>
            </a:r>
            <a:endParaRPr lang="en-US" altLang="en-US" sz="264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		 = (</a:t>
            </a:r>
            <a:r>
              <a:rPr lang="en-US" altLang="en-US" sz="2640" i="1"/>
              <a:t>a.a + a.b</a:t>
            </a:r>
            <a:r>
              <a:rPr lang="en-US" altLang="en-US" sz="2640"/>
              <a:t>' </a:t>
            </a:r>
            <a:r>
              <a:rPr lang="en-US" altLang="en-US" sz="2640" i="1"/>
              <a:t>+ a.c + ab +b.b</a:t>
            </a:r>
            <a:r>
              <a:rPr lang="en-US" altLang="en-US" sz="2640"/>
              <a:t>' </a:t>
            </a:r>
            <a:r>
              <a:rPr lang="en-US" altLang="en-US" sz="2640" i="1"/>
              <a:t>+bc)</a:t>
            </a:r>
            <a:endParaRPr lang="en-US" altLang="en-US" sz="264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40"/>
              <a:t> 	       = …</a:t>
            </a:r>
            <a:endParaRPr lang="en-US" altLang="en-US" sz="264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i="1"/>
              <a:t>DeMorgan's Theorem</a:t>
            </a:r>
            <a:endParaRPr lang="en-US" altLang="en-US" b="1" i="1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(a) (</a:t>
            </a:r>
            <a:r>
              <a:rPr lang="en-US" altLang="en-US" i="1"/>
              <a:t>a + b</a:t>
            </a:r>
            <a:r>
              <a:rPr lang="en-US" altLang="en-US"/>
              <a:t>)' = </a:t>
            </a:r>
            <a:r>
              <a:rPr lang="en-US" altLang="en-US" i="1"/>
              <a:t>a</a:t>
            </a:r>
            <a:r>
              <a:rPr lang="en-US" altLang="en-US"/>
              <a:t>'</a:t>
            </a:r>
            <a:r>
              <a:rPr lang="en-US" altLang="en-US" i="1"/>
              <a:t>b</a:t>
            </a:r>
            <a:r>
              <a:rPr lang="en-US" altLang="en-US"/>
              <a:t>'	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(b) (</a:t>
            </a:r>
            <a:r>
              <a:rPr lang="en-US" altLang="en-US" i="1"/>
              <a:t>ab</a:t>
            </a:r>
            <a:r>
              <a:rPr lang="en-US" altLang="en-US"/>
              <a:t>)' = </a:t>
            </a:r>
            <a:r>
              <a:rPr lang="en-US" altLang="en-US" i="1"/>
              <a:t>a</a:t>
            </a:r>
            <a:r>
              <a:rPr lang="en-US" altLang="en-US"/>
              <a:t>' + </a:t>
            </a:r>
            <a:r>
              <a:rPr lang="en-US" altLang="en-US" i="1"/>
              <a:t>b</a:t>
            </a:r>
            <a:r>
              <a:rPr lang="en-US" altLang="en-US"/>
              <a:t>'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Generalized DeMorgan's Theorem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(a) (</a:t>
            </a:r>
            <a:r>
              <a:rPr lang="en-US" altLang="en-US" i="1"/>
              <a:t>a + b + … z</a:t>
            </a:r>
            <a:r>
              <a:rPr lang="en-US" altLang="en-US"/>
              <a:t>)' = </a:t>
            </a:r>
            <a:r>
              <a:rPr lang="en-US" altLang="en-US" i="1"/>
              <a:t>a</a:t>
            </a:r>
            <a:r>
              <a:rPr lang="en-US" altLang="en-US"/>
              <a:t>'</a:t>
            </a:r>
            <a:r>
              <a:rPr lang="en-US" altLang="en-US" i="1"/>
              <a:t>b</a:t>
            </a:r>
            <a:r>
              <a:rPr lang="en-US" altLang="en-US"/>
              <a:t>'</a:t>
            </a:r>
            <a:r>
              <a:rPr lang="en-US" altLang="en-US" i="1"/>
              <a:t> … z</a:t>
            </a:r>
            <a:r>
              <a:rPr lang="en-US" altLang="en-US"/>
              <a:t>'	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(b) (</a:t>
            </a:r>
            <a:r>
              <a:rPr lang="en-US" altLang="en-US" i="1"/>
              <a:t>a.b … z</a:t>
            </a:r>
            <a:r>
              <a:rPr lang="en-US" altLang="en-US"/>
              <a:t>)' = </a:t>
            </a:r>
            <a:r>
              <a:rPr lang="en-US" altLang="en-US" i="1"/>
              <a:t>a</a:t>
            </a:r>
            <a:r>
              <a:rPr lang="en-US" altLang="en-US"/>
              <a:t>'</a:t>
            </a:r>
            <a:r>
              <a:rPr lang="en-US" altLang="en-US" i="1"/>
              <a:t> + b</a:t>
            </a:r>
            <a:r>
              <a:rPr lang="en-US" altLang="en-US"/>
              <a:t>'</a:t>
            </a:r>
            <a:r>
              <a:rPr lang="en-US" altLang="en-US" i="1"/>
              <a:t> + … z</a:t>
            </a:r>
            <a:r>
              <a:rPr lang="en-US" altLang="en-US"/>
              <a:t>‘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i="1"/>
              <a:t>DeMorgan's Theorem</a:t>
            </a:r>
            <a:endParaRPr lang="en-US" altLang="en-US" b="1" i="1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 = ab + c’d’</a:t>
            </a:r>
            <a:endParaRPr lang="en-US" altLang="en-US"/>
          </a:p>
          <a:p>
            <a:pPr eaLnBrk="1" hangingPunct="1"/>
            <a:r>
              <a:rPr lang="en-US" altLang="en-US"/>
              <a:t>F’ = ??</a:t>
            </a: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F = ab + c’d’ + b’d</a:t>
            </a:r>
            <a:endParaRPr lang="en-US" altLang="en-US"/>
          </a:p>
          <a:p>
            <a:pPr eaLnBrk="1" hangingPunct="1"/>
            <a:r>
              <a:rPr lang="en-US" altLang="en-US"/>
              <a:t>F’ = ??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i="1"/>
              <a:t>DeMorgan's Theorem</a:t>
            </a:r>
            <a:endParaRPr lang="en-US" altLang="en-US" b="1" i="1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i="1"/>
              <a:t>Show that</a:t>
            </a:r>
            <a:r>
              <a:rPr lang="en-US" altLang="en-US"/>
              <a:t>: (</a:t>
            </a:r>
            <a:r>
              <a:rPr lang="en-US" altLang="en-US" i="1"/>
              <a:t>a + b.c</a:t>
            </a:r>
            <a:r>
              <a:rPr lang="en-US" altLang="en-US"/>
              <a:t>)' = </a:t>
            </a:r>
            <a:r>
              <a:rPr lang="en-US" altLang="en-US" i="1"/>
              <a:t>a</a:t>
            </a:r>
            <a:r>
              <a:rPr lang="en-US" altLang="en-US"/>
              <a:t>'.</a:t>
            </a:r>
            <a:r>
              <a:rPr lang="en-US" altLang="en-US" i="1"/>
              <a:t>b</a:t>
            </a:r>
            <a:r>
              <a:rPr lang="en-US" altLang="en-US"/>
              <a:t>'</a:t>
            </a:r>
            <a:r>
              <a:rPr lang="en-US" altLang="en-US" i="1"/>
              <a:t> + a</a:t>
            </a:r>
            <a:r>
              <a:rPr lang="en-US" altLang="en-US"/>
              <a:t>'.</a:t>
            </a:r>
            <a:r>
              <a:rPr lang="en-US" altLang="en-US" i="1"/>
              <a:t>c</a:t>
            </a:r>
            <a:r>
              <a:rPr lang="en-US" altLang="en-US"/>
              <a:t>'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</a:t>
            </a:r>
            <a:r>
              <a:rPr lang="en-US" altLang="en-US" b="1" i="1"/>
              <a:t>DeMorgan's</a:t>
            </a:r>
            <a:r>
              <a:rPr lang="en-US" altLang="en-US"/>
              <a:t>  example</a:t>
            </a:r>
            <a:endParaRPr lang="en-US" altLang="en-US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586740" y="2125980"/>
            <a:ext cx="8968740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080" b="1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Show that: 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(</a:t>
            </a:r>
            <a:r>
              <a:rPr lang="en-US" altLang="en-US" sz="308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(</a:t>
            </a:r>
            <a:r>
              <a:rPr lang="en-US" altLang="en-US" sz="308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308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(</a:t>
            </a:r>
            <a:r>
              <a:rPr lang="en-US" altLang="en-US" sz="308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308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')))' =</a:t>
            </a:r>
            <a:r>
              <a:rPr lang="en-US" altLang="en-US" sz="308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308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(</a:t>
            </a:r>
            <a:r>
              <a:rPr lang="en-US" altLang="en-US" sz="308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308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308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')	</a:t>
            </a:r>
            <a:endParaRPr lang="en-US" altLang="en-US" sz="3080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  <a:p>
            <a:pPr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3080" b="1" i="1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')))' 	=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'))'	 </a:t>
            </a:r>
            <a:endParaRPr lang="en-US" altLang="en-US" sz="2640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				=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'))'		 </a:t>
            </a:r>
            <a:endParaRPr lang="en-US" altLang="en-US" sz="2640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				=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')')	 </a:t>
            </a:r>
            <a:endParaRPr lang="en-US" altLang="en-US" sz="2640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				=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')')		 </a:t>
            </a:r>
            <a:endParaRPr lang="en-US" altLang="en-US" sz="2640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				=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)</a:t>
            </a:r>
            <a:endParaRPr lang="en-US" altLang="en-US" sz="2640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				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=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‘+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a</a:t>
            </a:r>
            <a:endParaRPr lang="en-US" altLang="en-US" sz="2640" i="1" kern="1200">
              <a:solidFill>
                <a:srgbClr val="FFCF01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				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=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(a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‘+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a)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 </a:t>
            </a:r>
            <a:endParaRPr lang="en-US" altLang="en-US" sz="2640" kern="1200">
              <a:solidFill>
                <a:srgbClr val="FFCF01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				=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(a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‘+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‘)(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a 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+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‘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)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 +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 </a:t>
            </a:r>
            <a:endParaRPr lang="en-US" altLang="en-US" sz="2640" kern="1200">
              <a:solidFill>
                <a:srgbClr val="FFCF01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				=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‘+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‘+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' </a:t>
            </a:r>
            <a:r>
              <a:rPr lang="en-US" altLang="en-US" sz="2640" i="1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FFCF01"/>
                </a:solidFill>
                <a:latin typeface="Times New Roman" panose="02020603050405020304" pitchFamily="18" charset="0"/>
                <a:ea typeface="+mn-ea"/>
              </a:rPr>
              <a:t>‘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	 </a:t>
            </a:r>
            <a:endParaRPr lang="en-US" altLang="en-US" sz="2640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				=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b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(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z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 + </a:t>
            </a:r>
            <a:r>
              <a:rPr lang="en-US" altLang="en-US" sz="2640" i="1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')		 </a:t>
            </a:r>
            <a:endParaRPr lang="en-US" altLang="en-US" sz="2640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  <a:p>
            <a:pPr marL="502920" lvl="1" algn="l" defTabSz="1005840" rtl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40" kern="12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rPr>
              <a:t>	 </a:t>
            </a:r>
            <a:endParaRPr lang="en-US" altLang="en-US" sz="2640" kern="1200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Examples</a:t>
            </a:r>
            <a:endParaRPr lang="en-US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(</a:t>
            </a:r>
            <a:r>
              <a:rPr lang="en-US" altLang="en-US" i="1"/>
              <a:t>a</a:t>
            </a:r>
            <a:r>
              <a:rPr lang="en-US" altLang="en-US"/>
              <a:t>(</a:t>
            </a:r>
            <a:r>
              <a:rPr lang="en-US" altLang="en-US" i="1"/>
              <a:t>b + c</a:t>
            </a:r>
            <a:r>
              <a:rPr lang="en-US" altLang="en-US"/>
              <a:t>)</a:t>
            </a:r>
            <a:r>
              <a:rPr lang="en-US" altLang="en-US" i="1"/>
              <a:t> + a</a:t>
            </a:r>
            <a:r>
              <a:rPr lang="en-US" altLang="en-US"/>
              <a:t>'</a:t>
            </a:r>
            <a:r>
              <a:rPr lang="en-US" altLang="en-US" i="1"/>
              <a:t>b</a:t>
            </a:r>
            <a:r>
              <a:rPr lang="en-US" altLang="en-US"/>
              <a:t>)'=</a:t>
            </a:r>
            <a:r>
              <a:rPr lang="en-US" altLang="en-US" i="1"/>
              <a:t>b</a:t>
            </a:r>
            <a:r>
              <a:rPr lang="en-US" altLang="en-US"/>
              <a:t>'(</a:t>
            </a:r>
            <a:r>
              <a:rPr lang="en-US" altLang="en-US" i="1"/>
              <a:t>a</a:t>
            </a:r>
            <a:r>
              <a:rPr lang="en-US" altLang="en-US"/>
              <a:t>' + </a:t>
            </a:r>
            <a:r>
              <a:rPr lang="en-US" altLang="en-US" i="1"/>
              <a:t>c</a:t>
            </a:r>
            <a:r>
              <a:rPr lang="en-US" altLang="en-US"/>
              <a:t>')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/>
              <a:t>ab + a</a:t>
            </a:r>
            <a:r>
              <a:rPr lang="en-US" altLang="en-US"/>
              <a:t>'</a:t>
            </a:r>
            <a:r>
              <a:rPr lang="en-US" altLang="en-US" i="1"/>
              <a:t>c + bc = ab + a</a:t>
            </a:r>
            <a:r>
              <a:rPr lang="en-US" altLang="en-US"/>
              <a:t>'</a:t>
            </a:r>
            <a:r>
              <a:rPr lang="en-US" altLang="en-US" i="1"/>
              <a:t>c</a:t>
            </a:r>
            <a:r>
              <a:rPr lang="en-US" altLang="en-US"/>
              <a:t> 	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(</a:t>
            </a:r>
            <a:r>
              <a:rPr lang="en-US" altLang="en-US" i="1"/>
              <a:t>a + b</a:t>
            </a:r>
            <a:r>
              <a:rPr lang="en-US" altLang="en-US"/>
              <a:t>)(</a:t>
            </a:r>
            <a:r>
              <a:rPr lang="en-US" altLang="en-US" i="1"/>
              <a:t>a</a:t>
            </a:r>
            <a:r>
              <a:rPr lang="en-US" altLang="en-US"/>
              <a:t>' + </a:t>
            </a:r>
            <a:r>
              <a:rPr lang="en-US" altLang="en-US" i="1"/>
              <a:t>c</a:t>
            </a:r>
            <a:r>
              <a:rPr lang="en-US" altLang="en-US"/>
              <a:t>)(</a:t>
            </a:r>
            <a:r>
              <a:rPr lang="en-US" altLang="en-US" i="1"/>
              <a:t>b + c</a:t>
            </a:r>
            <a:r>
              <a:rPr lang="en-US" altLang="en-US"/>
              <a:t>) = (</a:t>
            </a:r>
            <a:r>
              <a:rPr lang="en-US" altLang="en-US" i="1"/>
              <a:t>a + b</a:t>
            </a:r>
            <a:r>
              <a:rPr lang="en-US" altLang="en-US"/>
              <a:t>)(</a:t>
            </a:r>
            <a:r>
              <a:rPr lang="en-US" altLang="en-US" i="1"/>
              <a:t>a</a:t>
            </a:r>
            <a:r>
              <a:rPr lang="en-US" altLang="en-US"/>
              <a:t>' + </a:t>
            </a:r>
            <a:r>
              <a:rPr lang="en-US" altLang="en-US" i="1"/>
              <a:t>c</a:t>
            </a:r>
            <a:r>
              <a:rPr lang="en-US" altLang="en-US"/>
              <a:t>)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6639" y="1617980"/>
            <a:ext cx="57086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00FF"/>
                </a:solidFill>
              </a:rPr>
              <a:t>DeMorgan’s</a:t>
            </a:r>
            <a:r>
              <a:rPr spc="-2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Theorems</a:t>
            </a:r>
            <a:endParaRPr spc="-1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4" y="601231"/>
            <a:ext cx="57086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DeMorgan’s</a:t>
            </a:r>
            <a:r>
              <a:rPr spc="-245" dirty="0"/>
              <a:t> </a:t>
            </a:r>
            <a:r>
              <a:rPr spc="-10" dirty="0"/>
              <a:t>Theorems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436369"/>
            <a:ext cx="9144000" cy="979169"/>
            <a:chOff x="457200" y="1436369"/>
            <a:chExt cx="9144000" cy="979169"/>
          </a:xfrm>
        </p:grpSpPr>
        <p:sp>
          <p:nvSpPr>
            <p:cNvPr id="4" name="object 4"/>
            <p:cNvSpPr/>
            <p:nvPr/>
          </p:nvSpPr>
          <p:spPr>
            <a:xfrm>
              <a:off x="457200" y="1436369"/>
              <a:ext cx="9144000" cy="979169"/>
            </a:xfrm>
            <a:custGeom>
              <a:avLst/>
              <a:gdLst/>
              <a:ahLst/>
              <a:cxnLst/>
              <a:rect l="l" t="t" r="r" b="b"/>
              <a:pathLst>
                <a:path w="9144000" h="979169">
                  <a:moveTo>
                    <a:pt x="9144000" y="979169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170"/>
                  </a:lnTo>
                  <a:lnTo>
                    <a:pt x="9144000" y="97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6508" y="1638299"/>
              <a:ext cx="8046719" cy="92202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865626" y="4574285"/>
            <a:ext cx="994410" cy="0"/>
          </a:xfrm>
          <a:custGeom>
            <a:avLst/>
            <a:gdLst/>
            <a:ahLst/>
            <a:cxnLst/>
            <a:rect l="l" t="t" r="r" b="b"/>
            <a:pathLst>
              <a:path w="994410">
                <a:moveTo>
                  <a:pt x="0" y="0"/>
                </a:moveTo>
                <a:lnTo>
                  <a:pt x="994410" y="0"/>
                </a:lnTo>
              </a:path>
            </a:pathLst>
          </a:custGeom>
          <a:ln w="138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50764" y="4574285"/>
            <a:ext cx="297180" cy="0"/>
          </a:xfrm>
          <a:custGeom>
            <a:avLst/>
            <a:gdLst/>
            <a:ahLst/>
            <a:cxnLst/>
            <a:rect l="l" t="t" r="r" b="b"/>
            <a:pathLst>
              <a:path w="297179">
                <a:moveTo>
                  <a:pt x="0" y="0"/>
                </a:moveTo>
                <a:lnTo>
                  <a:pt x="297180" y="0"/>
                </a:lnTo>
              </a:path>
            </a:pathLst>
          </a:custGeom>
          <a:ln w="138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24550" y="4574285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>
                <a:moveTo>
                  <a:pt x="0" y="0"/>
                </a:moveTo>
                <a:lnTo>
                  <a:pt x="241554" y="0"/>
                </a:lnTo>
              </a:path>
            </a:pathLst>
          </a:custGeom>
          <a:ln w="138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65626" y="5747765"/>
            <a:ext cx="815340" cy="0"/>
          </a:xfrm>
          <a:custGeom>
            <a:avLst/>
            <a:gdLst/>
            <a:ahLst/>
            <a:cxnLst/>
            <a:rect l="l" t="t" r="r" b="b"/>
            <a:pathLst>
              <a:path w="815339">
                <a:moveTo>
                  <a:pt x="0" y="0"/>
                </a:moveTo>
                <a:lnTo>
                  <a:pt x="815340" y="0"/>
                </a:lnTo>
              </a:path>
            </a:pathLst>
          </a:custGeom>
          <a:ln w="138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70932" y="5747765"/>
            <a:ext cx="297180" cy="0"/>
          </a:xfrm>
          <a:custGeom>
            <a:avLst/>
            <a:gdLst/>
            <a:ahLst/>
            <a:cxnLst/>
            <a:rect l="l" t="t" r="r" b="b"/>
            <a:pathLst>
              <a:path w="297179">
                <a:moveTo>
                  <a:pt x="0" y="0"/>
                </a:moveTo>
                <a:lnTo>
                  <a:pt x="297180" y="0"/>
                </a:lnTo>
              </a:path>
            </a:pathLst>
          </a:custGeom>
          <a:ln w="138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24550" y="5747765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>
                <a:moveTo>
                  <a:pt x="0" y="0"/>
                </a:moveTo>
                <a:lnTo>
                  <a:pt x="241554" y="0"/>
                </a:lnTo>
              </a:path>
            </a:pathLst>
          </a:custGeom>
          <a:ln w="138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93134" y="1928113"/>
            <a:ext cx="7761605" cy="436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898390" algn="l"/>
              </a:tabLst>
            </a:pPr>
            <a:r>
              <a:rPr sz="2800" dirty="0">
                <a:latin typeface="Arial" panose="020B0604020202020204"/>
                <a:cs typeface="Arial" panose="020B0604020202020204"/>
              </a:rPr>
              <a:t>DeMorgan’s</a:t>
            </a:r>
            <a:r>
              <a:rPr sz="28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Theorems</a:t>
            </a:r>
            <a:r>
              <a:rPr sz="28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are</a:t>
            </a:r>
            <a:r>
              <a:rPr sz="28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two</a:t>
            </a:r>
            <a:r>
              <a:rPr sz="28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additional </a:t>
            </a:r>
            <a:r>
              <a:rPr sz="2800" dirty="0">
                <a:latin typeface="Arial" panose="020B0604020202020204"/>
                <a:cs typeface="Arial" panose="020B0604020202020204"/>
              </a:rPr>
              <a:t>simplification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techniques that can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be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used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latin typeface="Arial" panose="020B0604020202020204"/>
                <a:cs typeface="Arial" panose="020B0604020202020204"/>
              </a:rPr>
              <a:t>to </a:t>
            </a:r>
            <a:r>
              <a:rPr sz="2800" dirty="0">
                <a:latin typeface="Arial" panose="020B0604020202020204"/>
                <a:cs typeface="Arial" panose="020B0604020202020204"/>
              </a:rPr>
              <a:t>simplify</a:t>
            </a:r>
            <a:r>
              <a:rPr sz="28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Boolean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expressions.</a:t>
            </a:r>
            <a:r>
              <a:rPr sz="2800" dirty="0">
                <a:latin typeface="Arial" panose="020B0604020202020204"/>
                <a:cs typeface="Arial" panose="020B0604020202020204"/>
              </a:rPr>
              <a:t>	Again,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the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simpler </a:t>
            </a:r>
            <a:r>
              <a:rPr sz="2800" dirty="0">
                <a:latin typeface="Arial" panose="020B0604020202020204"/>
                <a:cs typeface="Arial" panose="020B0604020202020204"/>
              </a:rPr>
              <a:t>the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Boolean</a:t>
            </a:r>
            <a:r>
              <a:rPr sz="28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expression,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the</a:t>
            </a:r>
            <a:r>
              <a:rPr sz="2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simpler</a:t>
            </a:r>
            <a:r>
              <a:rPr sz="28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the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resulting logic.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872105" marR="2559050" indent="-635">
              <a:lnSpc>
                <a:spcPts val="9240"/>
              </a:lnSpc>
            </a:pPr>
            <a:r>
              <a:rPr sz="3500" dirty="0">
                <a:latin typeface="Arial" panose="020B0604020202020204"/>
                <a:cs typeface="Arial" panose="020B0604020202020204"/>
              </a:rPr>
              <a:t>A</a:t>
            </a:r>
            <a:r>
              <a:rPr sz="35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3500" dirty="0">
                <a:latin typeface="Symbol" panose="05050102010706020507"/>
                <a:cs typeface="Symbol" panose="05050102010706020507"/>
              </a:rPr>
              <a:t></a:t>
            </a:r>
            <a:r>
              <a:rPr sz="3500" spc="-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Arial" panose="020B0604020202020204"/>
                <a:cs typeface="Arial" panose="020B0604020202020204"/>
              </a:rPr>
              <a:t>B</a:t>
            </a:r>
            <a:r>
              <a:rPr sz="35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3500" dirty="0">
                <a:latin typeface="Symbol" panose="05050102010706020507"/>
                <a:cs typeface="Symbol" panose="05050102010706020507"/>
              </a:rPr>
              <a:t></a:t>
            </a:r>
            <a:r>
              <a:rPr sz="35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Arial" panose="020B0604020202020204"/>
                <a:cs typeface="Arial" panose="020B0604020202020204"/>
              </a:rPr>
              <a:t>A</a:t>
            </a:r>
            <a:r>
              <a:rPr sz="3500" spc="-290" dirty="0">
                <a:latin typeface="Arial" panose="020B0604020202020204"/>
                <a:cs typeface="Arial" panose="020B0604020202020204"/>
              </a:rPr>
              <a:t> </a:t>
            </a:r>
            <a:r>
              <a:rPr sz="3500" spc="145" dirty="0">
                <a:latin typeface="Symbol" panose="05050102010706020507"/>
                <a:cs typeface="Symbol" panose="05050102010706020507"/>
              </a:rPr>
              <a:t></a:t>
            </a:r>
            <a:r>
              <a:rPr sz="3500" spc="145" dirty="0">
                <a:latin typeface="Arial" panose="020B0604020202020204"/>
                <a:cs typeface="Arial" panose="020B0604020202020204"/>
              </a:rPr>
              <a:t>B </a:t>
            </a:r>
            <a:r>
              <a:rPr sz="3500" dirty="0">
                <a:latin typeface="Arial" panose="020B0604020202020204"/>
                <a:cs typeface="Arial" panose="020B0604020202020204"/>
              </a:rPr>
              <a:t>A</a:t>
            </a:r>
            <a:r>
              <a:rPr sz="3500" spc="-310" dirty="0">
                <a:latin typeface="Arial" panose="020B0604020202020204"/>
                <a:cs typeface="Arial" panose="020B0604020202020204"/>
              </a:rPr>
              <a:t> </a:t>
            </a:r>
            <a:r>
              <a:rPr sz="3500" spc="170" dirty="0">
                <a:latin typeface="Symbol" panose="05050102010706020507"/>
                <a:cs typeface="Symbol" panose="05050102010706020507"/>
              </a:rPr>
              <a:t></a:t>
            </a:r>
            <a:r>
              <a:rPr sz="3500" spc="170" dirty="0">
                <a:latin typeface="Arial" panose="020B0604020202020204"/>
                <a:cs typeface="Arial" panose="020B0604020202020204"/>
              </a:rPr>
              <a:t>B</a:t>
            </a:r>
            <a:r>
              <a:rPr sz="35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3500" dirty="0">
                <a:latin typeface="Symbol" panose="05050102010706020507"/>
                <a:cs typeface="Symbol" panose="05050102010706020507"/>
              </a:rPr>
              <a:t></a:t>
            </a:r>
            <a:r>
              <a:rPr sz="35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Arial" panose="020B0604020202020204"/>
                <a:cs typeface="Arial" panose="020B0604020202020204"/>
              </a:rPr>
              <a:t>A</a:t>
            </a:r>
            <a:r>
              <a:rPr sz="35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3500" dirty="0">
                <a:latin typeface="Symbol" panose="05050102010706020507"/>
                <a:cs typeface="Symbol" panose="05050102010706020507"/>
              </a:rPr>
              <a:t></a:t>
            </a:r>
            <a:r>
              <a:rPr sz="3500" spc="-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-50" dirty="0">
                <a:latin typeface="Arial" panose="020B0604020202020204"/>
                <a:cs typeface="Arial" panose="020B0604020202020204"/>
              </a:rPr>
              <a:t>B</a:t>
            </a:r>
            <a:endParaRPr sz="3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39276" y="6731000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 panose="020B0604020202020204"/>
                <a:cs typeface="Arial" panose="020B0604020202020204"/>
              </a:rPr>
              <a:t>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026" y="519048"/>
            <a:ext cx="62071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DeMorgan’s</a:t>
            </a:r>
            <a:r>
              <a:rPr spc="-215" dirty="0"/>
              <a:t> </a:t>
            </a:r>
            <a:r>
              <a:rPr dirty="0"/>
              <a:t>Theorem</a:t>
            </a:r>
            <a:r>
              <a:rPr spc="-200" dirty="0"/>
              <a:t> </a:t>
            </a:r>
            <a:r>
              <a:rPr spc="-25" dirty="0"/>
              <a:t>#1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436369"/>
            <a:ext cx="9144000" cy="1029969"/>
            <a:chOff x="457200" y="1436369"/>
            <a:chExt cx="9144000" cy="1029969"/>
          </a:xfrm>
        </p:grpSpPr>
        <p:sp>
          <p:nvSpPr>
            <p:cNvPr id="4" name="object 4"/>
            <p:cNvSpPr/>
            <p:nvPr/>
          </p:nvSpPr>
          <p:spPr>
            <a:xfrm>
              <a:off x="457200" y="1436369"/>
              <a:ext cx="9144000" cy="979169"/>
            </a:xfrm>
            <a:custGeom>
              <a:avLst/>
              <a:gdLst/>
              <a:ahLst/>
              <a:cxnLst/>
              <a:rect l="l" t="t" r="r" b="b"/>
              <a:pathLst>
                <a:path w="9144000" h="979169">
                  <a:moveTo>
                    <a:pt x="9144000" y="979169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170"/>
                  </a:lnTo>
                  <a:lnTo>
                    <a:pt x="9144000" y="97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6508" y="1638299"/>
              <a:ext cx="8046719" cy="922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13453" y="1876043"/>
              <a:ext cx="750570" cy="0"/>
            </a:xfrm>
            <a:custGeom>
              <a:avLst/>
              <a:gdLst/>
              <a:ahLst/>
              <a:cxnLst/>
              <a:rect l="l" t="t" r="r" b="b"/>
              <a:pathLst>
                <a:path w="750570">
                  <a:moveTo>
                    <a:pt x="0" y="0"/>
                  </a:moveTo>
                  <a:lnTo>
                    <a:pt x="750570" y="0"/>
                  </a:lnTo>
                </a:path>
              </a:pathLst>
            </a:custGeom>
            <a:ln w="12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215890" y="1876043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ln w="12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910071" y="1876043"/>
              <a:ext cx="222885" cy="0"/>
            </a:xfrm>
            <a:custGeom>
              <a:avLst/>
              <a:gdLst/>
              <a:ahLst/>
              <a:cxnLst/>
              <a:rect l="l" t="t" r="r" b="b"/>
              <a:pathLst>
                <a:path w="222885">
                  <a:moveTo>
                    <a:pt x="0" y="0"/>
                  </a:moveTo>
                  <a:lnTo>
                    <a:pt x="222504" y="0"/>
                  </a:lnTo>
                </a:path>
              </a:pathLst>
            </a:custGeom>
            <a:ln w="12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" y="2373630"/>
              <a:ext cx="8047481" cy="9220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47241" y="1618609"/>
            <a:ext cx="5116195" cy="1329055"/>
          </a:xfrm>
          <a:prstGeom prst="rect">
            <a:avLst/>
          </a:prstGeom>
        </p:spPr>
        <p:txBody>
          <a:bodyPr vert="horz" wrap="square" lIns="0" tIns="220979" rIns="0" bIns="0" rtlCol="0">
            <a:spAutoFit/>
          </a:bodyPr>
          <a:lstStyle/>
          <a:p>
            <a:pPr marL="2966085">
              <a:lnSpc>
                <a:spcPct val="100000"/>
              </a:lnSpc>
              <a:spcBef>
                <a:spcPts val="1740"/>
              </a:spcBef>
            </a:pPr>
            <a:r>
              <a:rPr sz="3200" dirty="0">
                <a:latin typeface="Arial" panose="020B0604020202020204"/>
                <a:cs typeface="Arial" panose="020B0604020202020204"/>
              </a:rPr>
              <a:t>A</a:t>
            </a:r>
            <a:r>
              <a:rPr sz="3200" spc="-26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160" dirty="0">
                <a:latin typeface="Symbol" panose="05050102010706020507"/>
                <a:cs typeface="Symbol" panose="05050102010706020507"/>
              </a:rPr>
              <a:t></a:t>
            </a:r>
            <a:r>
              <a:rPr sz="3200" spc="160" dirty="0">
                <a:latin typeface="Arial" panose="020B0604020202020204"/>
                <a:cs typeface="Arial" panose="020B0604020202020204"/>
              </a:rPr>
              <a:t>B</a:t>
            </a:r>
            <a:r>
              <a:rPr sz="32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Symbol" panose="05050102010706020507"/>
                <a:cs typeface="Symbol" panose="05050102010706020507"/>
              </a:rPr>
              <a:t>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Arial" panose="020B0604020202020204"/>
                <a:cs typeface="Arial" panose="020B0604020202020204"/>
              </a:rPr>
              <a:t>A</a:t>
            </a:r>
            <a:r>
              <a:rPr sz="32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Symbol" panose="05050102010706020507"/>
                <a:cs typeface="Symbol" panose="05050102010706020507"/>
              </a:rPr>
              <a:t></a:t>
            </a:r>
            <a:r>
              <a:rPr sz="3200" spc="-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50" dirty="0">
                <a:latin typeface="Arial" panose="020B0604020202020204"/>
                <a:cs typeface="Arial" panose="020B0604020202020204"/>
              </a:rPr>
              <a:t>B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i="1" spc="-10" dirty="0">
                <a:latin typeface="Arial" panose="020B0604020202020204"/>
                <a:cs typeface="Arial" panose="020B0604020202020204"/>
              </a:rPr>
              <a:t>Proof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80631" y="3050285"/>
            <a:ext cx="238760" cy="0"/>
          </a:xfrm>
          <a:custGeom>
            <a:avLst/>
            <a:gdLst/>
            <a:ahLst/>
            <a:cxnLst/>
            <a:rect l="l" t="t" r="r" b="b"/>
            <a:pathLst>
              <a:path w="238759">
                <a:moveTo>
                  <a:pt x="0" y="0"/>
                </a:moveTo>
                <a:lnTo>
                  <a:pt x="238506" y="0"/>
                </a:lnTo>
              </a:path>
            </a:pathLst>
          </a:custGeom>
          <a:ln w="11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84897" y="3050285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>
                <a:moveTo>
                  <a:pt x="0" y="0"/>
                </a:moveTo>
                <a:lnTo>
                  <a:pt x="194310" y="0"/>
                </a:lnTo>
              </a:path>
            </a:pathLst>
          </a:custGeom>
          <a:ln w="11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567931" y="3004421"/>
            <a:ext cx="83946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 panose="020B0604020202020204"/>
                <a:cs typeface="Arial" panose="020B0604020202020204"/>
              </a:rPr>
              <a:t>A</a:t>
            </a:r>
            <a:r>
              <a:rPr sz="2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0" dirty="0">
                <a:latin typeface="Arial" panose="020B0604020202020204"/>
                <a:cs typeface="Arial" panose="020B0604020202020204"/>
              </a:rPr>
              <a:t>B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25979" y="3050285"/>
            <a:ext cx="650240" cy="0"/>
          </a:xfrm>
          <a:custGeom>
            <a:avLst/>
            <a:gdLst/>
            <a:ahLst/>
            <a:cxnLst/>
            <a:rect l="l" t="t" r="r" b="b"/>
            <a:pathLst>
              <a:path w="650239">
                <a:moveTo>
                  <a:pt x="0" y="0"/>
                </a:moveTo>
                <a:lnTo>
                  <a:pt x="649986" y="0"/>
                </a:lnTo>
              </a:path>
            </a:pathLst>
          </a:custGeom>
          <a:ln w="11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13279" y="3004421"/>
            <a:ext cx="6927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 panose="020B0604020202020204"/>
                <a:cs typeface="Arial" panose="020B0604020202020204"/>
              </a:rPr>
              <a:t>A</a:t>
            </a:r>
            <a:r>
              <a:rPr sz="2800" spc="-240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100" dirty="0">
                <a:latin typeface="Symbol" panose="05050102010706020507"/>
                <a:cs typeface="Symbol" panose="05050102010706020507"/>
              </a:rPr>
              <a:t></a:t>
            </a:r>
            <a:r>
              <a:rPr sz="2800" spc="100" dirty="0">
                <a:latin typeface="Arial" panose="020B0604020202020204"/>
                <a:cs typeface="Arial" panose="020B0604020202020204"/>
              </a:rPr>
              <a:t>B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393947"/>
            <a:ext cx="9144000" cy="980440"/>
            <a:chOff x="457200" y="3393947"/>
            <a:chExt cx="9144000" cy="980440"/>
          </a:xfrm>
        </p:grpSpPr>
        <p:sp>
          <p:nvSpPr>
            <p:cNvPr id="17" name="object 17"/>
            <p:cNvSpPr/>
            <p:nvPr/>
          </p:nvSpPr>
          <p:spPr>
            <a:xfrm>
              <a:off x="457200" y="339394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1391" y="3885437"/>
              <a:ext cx="2561844" cy="39928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906016" y="3761485"/>
            <a:ext cx="407034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Arial" panose="020B0604020202020204"/>
                <a:cs typeface="Arial" panose="020B0604020202020204"/>
              </a:rPr>
              <a:t>A</a:t>
            </a:r>
            <a:r>
              <a:rPr sz="155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550" spc="70" dirty="0">
                <a:latin typeface="Symbol" panose="05050102010706020507"/>
                <a:cs typeface="Symbol" panose="05050102010706020507"/>
              </a:rPr>
              <a:t></a:t>
            </a:r>
            <a:r>
              <a:rPr sz="1550" spc="70" dirty="0">
                <a:latin typeface="Arial" panose="020B0604020202020204"/>
                <a:cs typeface="Arial" panose="020B0604020202020204"/>
              </a:rPr>
              <a:t>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85108" y="3761485"/>
            <a:ext cx="407670" cy="457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50"/>
              </a:lnSpc>
              <a:spcBef>
                <a:spcPts val="135"/>
              </a:spcBef>
              <a:tabLst>
                <a:tab pos="385445" algn="l"/>
              </a:tabLst>
            </a:pPr>
            <a:r>
              <a:rPr sz="1550" u="sng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	</a:t>
            </a:r>
            <a:endParaRPr sz="15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710"/>
              </a:lnSpc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50" dirty="0">
                <a:latin typeface="Symbol" panose="05050102010706020507"/>
                <a:cs typeface="Symbol" panose="05050102010706020507"/>
              </a:rPr>
              <a:t></a:t>
            </a:r>
            <a:r>
              <a:rPr sz="1600" spc="50" dirty="0">
                <a:latin typeface="Arial" panose="020B0604020202020204"/>
                <a:cs typeface="Arial" panose="020B0604020202020204"/>
              </a:rPr>
              <a:t>B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5436" y="3847591"/>
            <a:ext cx="164465" cy="4787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3810">
              <a:lnSpc>
                <a:spcPts val="1660"/>
              </a:lnSpc>
              <a:spcBef>
                <a:spcPts val="360"/>
              </a:spcBef>
            </a:pPr>
            <a:r>
              <a:rPr sz="1550" spc="-50" dirty="0">
                <a:latin typeface="Arial" panose="020B0604020202020204"/>
                <a:cs typeface="Arial" panose="020B0604020202020204"/>
              </a:rPr>
              <a:t>A 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83579" y="3656076"/>
            <a:ext cx="2552700" cy="71780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643626" y="3683000"/>
            <a:ext cx="16002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20" dirty="0">
                <a:latin typeface="Arial" panose="020B0604020202020204"/>
                <a:cs typeface="Arial" panose="020B0604020202020204"/>
              </a:rPr>
              <a:t>A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41340" y="4204208"/>
            <a:ext cx="16065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spc="25" dirty="0">
                <a:latin typeface="Arial" panose="020B0604020202020204"/>
                <a:cs typeface="Arial" panose="020B0604020202020204"/>
              </a:rPr>
              <a:t>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562343" y="3536441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7160" y="0"/>
                </a:lnTo>
              </a:path>
            </a:pathLst>
          </a:custGeom>
          <a:ln w="63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549643" y="3505454"/>
            <a:ext cx="16065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spc="25" dirty="0">
                <a:latin typeface="Arial" panose="020B0604020202020204"/>
                <a:cs typeface="Arial" panose="020B0604020202020204"/>
              </a:rPr>
              <a:t>A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79107" y="4070603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>
                <a:moveTo>
                  <a:pt x="0" y="0"/>
                </a:moveTo>
                <a:lnTo>
                  <a:pt x="110489" y="0"/>
                </a:lnTo>
              </a:path>
            </a:pathLst>
          </a:custGeom>
          <a:ln w="62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550406" y="4039056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Arial" panose="020B0604020202020204"/>
                <a:cs typeface="Arial" panose="020B0604020202020204"/>
              </a:rPr>
              <a:t>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320151" y="3988942"/>
            <a:ext cx="462915" cy="6350"/>
            <a:chOff x="8320151" y="3988942"/>
            <a:chExt cx="462915" cy="6350"/>
          </a:xfrm>
        </p:grpSpPr>
        <p:sp>
          <p:nvSpPr>
            <p:cNvPr id="30" name="object 30"/>
            <p:cNvSpPr/>
            <p:nvPr/>
          </p:nvSpPr>
          <p:spPr>
            <a:xfrm>
              <a:off x="8323326" y="3992117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>
                  <a:moveTo>
                    <a:pt x="0" y="0"/>
                  </a:moveTo>
                  <a:lnTo>
                    <a:pt x="136398" y="0"/>
                  </a:lnTo>
                </a:path>
              </a:pathLst>
            </a:custGeom>
            <a:ln w="6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668512" y="3992117"/>
              <a:ext cx="111760" cy="0"/>
            </a:xfrm>
            <a:custGeom>
              <a:avLst/>
              <a:gdLst/>
              <a:ahLst/>
              <a:cxnLst/>
              <a:rect l="l" t="t" r="r" b="b"/>
              <a:pathLst>
                <a:path w="111759">
                  <a:moveTo>
                    <a:pt x="0" y="0"/>
                  </a:moveTo>
                  <a:lnTo>
                    <a:pt x="111252" y="0"/>
                  </a:lnTo>
                </a:path>
              </a:pathLst>
            </a:custGeom>
            <a:ln w="6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310626" y="3960930"/>
            <a:ext cx="490220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latin typeface="Arial" panose="020B0604020202020204"/>
                <a:cs typeface="Arial" panose="020B0604020202020204"/>
              </a:rPr>
              <a:t>A</a:t>
            </a:r>
            <a:r>
              <a:rPr sz="155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50" dirty="0">
                <a:latin typeface="Arial" panose="020B0604020202020204"/>
                <a:cs typeface="Arial" panose="020B0604020202020204"/>
              </a:rPr>
              <a:t>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159251" y="497205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61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457200" y="3416808"/>
            <a:ext cx="9144000" cy="1936750"/>
            <a:chOff x="457200" y="3416808"/>
            <a:chExt cx="9144000" cy="1936750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8860" y="3416808"/>
              <a:ext cx="329945" cy="95707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45808" y="3416808"/>
              <a:ext cx="329946" cy="95707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57200" y="437311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3579" y="4373880"/>
              <a:ext cx="2552700" cy="13030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68651" y="4373880"/>
              <a:ext cx="609600" cy="42519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8172" y="4373880"/>
              <a:ext cx="671321" cy="44348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05600" y="4373880"/>
              <a:ext cx="609600" cy="42519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75120" y="4373880"/>
              <a:ext cx="671322" cy="443484"/>
            </a:xfrm>
            <a:prstGeom prst="rect">
              <a:avLst/>
            </a:prstGeom>
          </p:spPr>
        </p:pic>
      </p:grp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1450086" y="4861559"/>
          <a:ext cx="2194560" cy="1704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1594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1594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550" spc="-8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50" spc="65" dirty="0">
                          <a:latin typeface="Symbol" panose="05050102010706020507"/>
                          <a:cs typeface="Symbol" panose="05050102010706020507"/>
                        </a:rPr>
                        <a:t></a:t>
                      </a:r>
                      <a:r>
                        <a:rPr sz="1550" spc="65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1594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550" spc="-1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50" spc="55" dirty="0">
                          <a:latin typeface="Symbol" panose="05050102010706020507"/>
                          <a:cs typeface="Symbol" panose="05050102010706020507"/>
                        </a:rPr>
                        <a:t></a:t>
                      </a:r>
                      <a:r>
                        <a:rPr sz="1550" spc="55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9375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6878573" y="4978146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7160" y="0"/>
                </a:lnTo>
              </a:path>
            </a:pathLst>
          </a:custGeom>
          <a:ln w="63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40345" y="4978146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>
                <a:moveTo>
                  <a:pt x="0" y="0"/>
                </a:moveTo>
                <a:lnTo>
                  <a:pt x="110489" y="0"/>
                </a:lnTo>
              </a:path>
            </a:pathLst>
          </a:custGeom>
          <a:ln w="62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728204" y="4978146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398" y="0"/>
                </a:lnTo>
              </a:path>
            </a:pathLst>
          </a:custGeom>
          <a:ln w="62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073390" y="4978146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>
                <a:moveTo>
                  <a:pt x="0" y="0"/>
                </a:moveTo>
                <a:lnTo>
                  <a:pt x="110489" y="0"/>
                </a:lnTo>
              </a:path>
            </a:pathLst>
          </a:custGeom>
          <a:ln w="62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5777484" y="4861559"/>
          <a:ext cx="2468880" cy="1704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  <a:gridCol w="457200"/>
                <a:gridCol w="640080"/>
              </a:tblGrid>
              <a:tr h="365760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985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890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55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spc="-10" dirty="0">
                          <a:latin typeface="Symbol" panose="05050102010706020507"/>
                          <a:cs typeface="Symbol" panose="05050102010706020507"/>
                        </a:rPr>
                        <a:t></a:t>
                      </a:r>
                      <a:r>
                        <a:rPr sz="1600" spc="-1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50" spc="-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255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9" name="object 49"/>
          <p:cNvGrpSpPr/>
          <p:nvPr/>
        </p:nvGrpSpPr>
        <p:grpSpPr>
          <a:xfrm>
            <a:off x="3246120" y="6610350"/>
            <a:ext cx="4867275" cy="546735"/>
            <a:chOff x="3246120" y="6610350"/>
            <a:chExt cx="4867275" cy="546735"/>
          </a:xfrm>
        </p:grpSpPr>
        <p:sp>
          <p:nvSpPr>
            <p:cNvPr id="50" name="object 50"/>
            <p:cNvSpPr/>
            <p:nvPr/>
          </p:nvSpPr>
          <p:spPr>
            <a:xfrm>
              <a:off x="5334000" y="6627875"/>
              <a:ext cx="2748915" cy="304800"/>
            </a:xfrm>
            <a:custGeom>
              <a:avLst/>
              <a:gdLst/>
              <a:ahLst/>
              <a:cxnLst/>
              <a:rect l="l" t="t" r="r" b="b"/>
              <a:pathLst>
                <a:path w="2748915" h="304800">
                  <a:moveTo>
                    <a:pt x="2748534" y="76199"/>
                  </a:moveTo>
                  <a:lnTo>
                    <a:pt x="2672334" y="0"/>
                  </a:lnTo>
                  <a:lnTo>
                    <a:pt x="2596134" y="76199"/>
                  </a:lnTo>
                  <a:lnTo>
                    <a:pt x="2634234" y="76199"/>
                  </a:lnTo>
                  <a:lnTo>
                    <a:pt x="2634234" y="228599"/>
                  </a:lnTo>
                  <a:lnTo>
                    <a:pt x="0" y="228600"/>
                  </a:lnTo>
                  <a:lnTo>
                    <a:pt x="0" y="304800"/>
                  </a:lnTo>
                  <a:lnTo>
                    <a:pt x="2710434" y="304799"/>
                  </a:lnTo>
                  <a:lnTo>
                    <a:pt x="2710434" y="76199"/>
                  </a:lnTo>
                  <a:lnTo>
                    <a:pt x="2748534" y="76199"/>
                  </a:lnTo>
                  <a:close/>
                </a:path>
              </a:pathLst>
            </a:custGeom>
            <a:solidFill>
              <a:srgbClr val="005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321808" y="6610350"/>
              <a:ext cx="2791460" cy="335280"/>
            </a:xfrm>
            <a:custGeom>
              <a:avLst/>
              <a:gdLst/>
              <a:ahLst/>
              <a:cxnLst/>
              <a:rect l="l" t="t" r="r" b="b"/>
              <a:pathLst>
                <a:path w="2791459" h="335279">
                  <a:moveTo>
                    <a:pt x="2646426" y="233933"/>
                  </a:moveTo>
                  <a:lnTo>
                    <a:pt x="0" y="233933"/>
                  </a:lnTo>
                  <a:lnTo>
                    <a:pt x="0" y="335279"/>
                  </a:lnTo>
                  <a:lnTo>
                    <a:pt x="12191" y="335279"/>
                  </a:lnTo>
                  <a:lnTo>
                    <a:pt x="12192" y="259079"/>
                  </a:lnTo>
                  <a:lnTo>
                    <a:pt x="25145" y="246125"/>
                  </a:lnTo>
                  <a:lnTo>
                    <a:pt x="25145" y="259079"/>
                  </a:lnTo>
                  <a:lnTo>
                    <a:pt x="2633472" y="259079"/>
                  </a:lnTo>
                  <a:lnTo>
                    <a:pt x="2633472" y="246125"/>
                  </a:lnTo>
                  <a:lnTo>
                    <a:pt x="2646426" y="233933"/>
                  </a:lnTo>
                  <a:close/>
                </a:path>
                <a:path w="2791459" h="335279">
                  <a:moveTo>
                    <a:pt x="25145" y="259079"/>
                  </a:moveTo>
                  <a:lnTo>
                    <a:pt x="25145" y="246125"/>
                  </a:lnTo>
                  <a:lnTo>
                    <a:pt x="12192" y="259079"/>
                  </a:lnTo>
                  <a:lnTo>
                    <a:pt x="25145" y="259079"/>
                  </a:lnTo>
                  <a:close/>
                </a:path>
                <a:path w="2791459" h="335279">
                  <a:moveTo>
                    <a:pt x="25145" y="310133"/>
                  </a:moveTo>
                  <a:lnTo>
                    <a:pt x="25145" y="259079"/>
                  </a:lnTo>
                  <a:lnTo>
                    <a:pt x="12192" y="259079"/>
                  </a:lnTo>
                  <a:lnTo>
                    <a:pt x="12192" y="310133"/>
                  </a:lnTo>
                  <a:lnTo>
                    <a:pt x="25145" y="310133"/>
                  </a:lnTo>
                  <a:close/>
                </a:path>
                <a:path w="2791459" h="335279">
                  <a:moveTo>
                    <a:pt x="2722626" y="310133"/>
                  </a:moveTo>
                  <a:lnTo>
                    <a:pt x="12192" y="310133"/>
                  </a:lnTo>
                  <a:lnTo>
                    <a:pt x="25145" y="322325"/>
                  </a:lnTo>
                  <a:lnTo>
                    <a:pt x="25145" y="335279"/>
                  </a:lnTo>
                  <a:lnTo>
                    <a:pt x="2709672" y="335279"/>
                  </a:lnTo>
                  <a:lnTo>
                    <a:pt x="2709672" y="322325"/>
                  </a:lnTo>
                  <a:lnTo>
                    <a:pt x="2722626" y="310133"/>
                  </a:lnTo>
                  <a:close/>
                </a:path>
                <a:path w="2791459" h="335279">
                  <a:moveTo>
                    <a:pt x="25145" y="335279"/>
                  </a:moveTo>
                  <a:lnTo>
                    <a:pt x="25145" y="322325"/>
                  </a:lnTo>
                  <a:lnTo>
                    <a:pt x="12192" y="310133"/>
                  </a:lnTo>
                  <a:lnTo>
                    <a:pt x="12191" y="335279"/>
                  </a:lnTo>
                  <a:lnTo>
                    <a:pt x="25145" y="335279"/>
                  </a:lnTo>
                  <a:close/>
                </a:path>
                <a:path w="2791459" h="335279">
                  <a:moveTo>
                    <a:pt x="2791206" y="106679"/>
                  </a:moveTo>
                  <a:lnTo>
                    <a:pt x="2684526" y="0"/>
                  </a:lnTo>
                  <a:lnTo>
                    <a:pt x="2577084" y="106679"/>
                  </a:lnTo>
                  <a:lnTo>
                    <a:pt x="2608326" y="106679"/>
                  </a:lnTo>
                  <a:lnTo>
                    <a:pt x="2608326" y="81533"/>
                  </a:lnTo>
                  <a:lnTo>
                    <a:pt x="2638806" y="81533"/>
                  </a:lnTo>
                  <a:lnTo>
                    <a:pt x="2675382" y="44957"/>
                  </a:lnTo>
                  <a:lnTo>
                    <a:pt x="2675382" y="26669"/>
                  </a:lnTo>
                  <a:lnTo>
                    <a:pt x="2693670" y="26669"/>
                  </a:lnTo>
                  <a:lnTo>
                    <a:pt x="2693670" y="44957"/>
                  </a:lnTo>
                  <a:lnTo>
                    <a:pt x="2730246" y="81533"/>
                  </a:lnTo>
                  <a:lnTo>
                    <a:pt x="2760726" y="81533"/>
                  </a:lnTo>
                  <a:lnTo>
                    <a:pt x="2760726" y="106679"/>
                  </a:lnTo>
                  <a:lnTo>
                    <a:pt x="2791206" y="106679"/>
                  </a:lnTo>
                  <a:close/>
                </a:path>
                <a:path w="2791459" h="335279">
                  <a:moveTo>
                    <a:pt x="2638806" y="81533"/>
                  </a:moveTo>
                  <a:lnTo>
                    <a:pt x="2608326" y="81533"/>
                  </a:lnTo>
                  <a:lnTo>
                    <a:pt x="2617470" y="102869"/>
                  </a:lnTo>
                  <a:lnTo>
                    <a:pt x="2638806" y="81533"/>
                  </a:lnTo>
                  <a:close/>
                </a:path>
                <a:path w="2791459" h="335279">
                  <a:moveTo>
                    <a:pt x="2658618" y="259079"/>
                  </a:moveTo>
                  <a:lnTo>
                    <a:pt x="2658618" y="81533"/>
                  </a:lnTo>
                  <a:lnTo>
                    <a:pt x="2638806" y="81533"/>
                  </a:lnTo>
                  <a:lnTo>
                    <a:pt x="2617470" y="102869"/>
                  </a:lnTo>
                  <a:lnTo>
                    <a:pt x="2608326" y="81533"/>
                  </a:lnTo>
                  <a:lnTo>
                    <a:pt x="2608326" y="106679"/>
                  </a:lnTo>
                  <a:lnTo>
                    <a:pt x="2633472" y="106679"/>
                  </a:lnTo>
                  <a:lnTo>
                    <a:pt x="2633472" y="93725"/>
                  </a:lnTo>
                  <a:lnTo>
                    <a:pt x="2646426" y="106679"/>
                  </a:lnTo>
                  <a:lnTo>
                    <a:pt x="2646426" y="259079"/>
                  </a:lnTo>
                  <a:lnTo>
                    <a:pt x="2658618" y="259079"/>
                  </a:lnTo>
                  <a:close/>
                </a:path>
                <a:path w="2791459" h="335279">
                  <a:moveTo>
                    <a:pt x="2646426" y="106679"/>
                  </a:moveTo>
                  <a:lnTo>
                    <a:pt x="2633472" y="93725"/>
                  </a:lnTo>
                  <a:lnTo>
                    <a:pt x="2633472" y="106679"/>
                  </a:lnTo>
                  <a:lnTo>
                    <a:pt x="2646426" y="106679"/>
                  </a:lnTo>
                  <a:close/>
                </a:path>
                <a:path w="2791459" h="335279">
                  <a:moveTo>
                    <a:pt x="2646426" y="233933"/>
                  </a:moveTo>
                  <a:lnTo>
                    <a:pt x="2646426" y="106679"/>
                  </a:lnTo>
                  <a:lnTo>
                    <a:pt x="2633472" y="106679"/>
                  </a:lnTo>
                  <a:lnTo>
                    <a:pt x="2633472" y="233933"/>
                  </a:lnTo>
                  <a:lnTo>
                    <a:pt x="2646426" y="233933"/>
                  </a:lnTo>
                  <a:close/>
                </a:path>
                <a:path w="2791459" h="335279">
                  <a:moveTo>
                    <a:pt x="2646426" y="259079"/>
                  </a:moveTo>
                  <a:lnTo>
                    <a:pt x="2646426" y="233933"/>
                  </a:lnTo>
                  <a:lnTo>
                    <a:pt x="2633472" y="246125"/>
                  </a:lnTo>
                  <a:lnTo>
                    <a:pt x="2633472" y="259079"/>
                  </a:lnTo>
                  <a:lnTo>
                    <a:pt x="2646426" y="259079"/>
                  </a:lnTo>
                  <a:close/>
                </a:path>
                <a:path w="2791459" h="335279">
                  <a:moveTo>
                    <a:pt x="2693670" y="26669"/>
                  </a:moveTo>
                  <a:lnTo>
                    <a:pt x="2675382" y="26669"/>
                  </a:lnTo>
                  <a:lnTo>
                    <a:pt x="2684526" y="35813"/>
                  </a:lnTo>
                  <a:lnTo>
                    <a:pt x="2693670" y="26669"/>
                  </a:lnTo>
                  <a:close/>
                </a:path>
                <a:path w="2791459" h="335279">
                  <a:moveTo>
                    <a:pt x="2684526" y="35813"/>
                  </a:moveTo>
                  <a:lnTo>
                    <a:pt x="2675382" y="26669"/>
                  </a:lnTo>
                  <a:lnTo>
                    <a:pt x="2675382" y="44957"/>
                  </a:lnTo>
                  <a:lnTo>
                    <a:pt x="2684526" y="35813"/>
                  </a:lnTo>
                  <a:close/>
                </a:path>
                <a:path w="2791459" h="335279">
                  <a:moveTo>
                    <a:pt x="2693670" y="44957"/>
                  </a:moveTo>
                  <a:lnTo>
                    <a:pt x="2693670" y="26669"/>
                  </a:lnTo>
                  <a:lnTo>
                    <a:pt x="2684526" y="35813"/>
                  </a:lnTo>
                  <a:lnTo>
                    <a:pt x="2693670" y="44957"/>
                  </a:lnTo>
                  <a:close/>
                </a:path>
                <a:path w="2791459" h="335279">
                  <a:moveTo>
                    <a:pt x="2760726" y="106679"/>
                  </a:moveTo>
                  <a:lnTo>
                    <a:pt x="2760726" y="81533"/>
                  </a:lnTo>
                  <a:lnTo>
                    <a:pt x="2751582" y="102869"/>
                  </a:lnTo>
                  <a:lnTo>
                    <a:pt x="2730246" y="81533"/>
                  </a:lnTo>
                  <a:lnTo>
                    <a:pt x="2709672" y="81533"/>
                  </a:lnTo>
                  <a:lnTo>
                    <a:pt x="2709672" y="310133"/>
                  </a:lnTo>
                  <a:lnTo>
                    <a:pt x="2722626" y="310133"/>
                  </a:lnTo>
                  <a:lnTo>
                    <a:pt x="2722626" y="106679"/>
                  </a:lnTo>
                  <a:lnTo>
                    <a:pt x="2734818" y="93725"/>
                  </a:lnTo>
                  <a:lnTo>
                    <a:pt x="2734818" y="106679"/>
                  </a:lnTo>
                  <a:lnTo>
                    <a:pt x="2760726" y="106679"/>
                  </a:lnTo>
                  <a:close/>
                </a:path>
                <a:path w="2791459" h="335279">
                  <a:moveTo>
                    <a:pt x="2734818" y="335279"/>
                  </a:moveTo>
                  <a:lnTo>
                    <a:pt x="2734818" y="106679"/>
                  </a:lnTo>
                  <a:lnTo>
                    <a:pt x="2722626" y="106679"/>
                  </a:lnTo>
                  <a:lnTo>
                    <a:pt x="2722626" y="310133"/>
                  </a:lnTo>
                  <a:lnTo>
                    <a:pt x="2709672" y="322325"/>
                  </a:lnTo>
                  <a:lnTo>
                    <a:pt x="2709672" y="335279"/>
                  </a:lnTo>
                  <a:lnTo>
                    <a:pt x="2734818" y="335279"/>
                  </a:lnTo>
                  <a:close/>
                </a:path>
                <a:path w="2791459" h="335279">
                  <a:moveTo>
                    <a:pt x="2734818" y="106679"/>
                  </a:moveTo>
                  <a:lnTo>
                    <a:pt x="2734818" y="93725"/>
                  </a:lnTo>
                  <a:lnTo>
                    <a:pt x="2722626" y="106679"/>
                  </a:lnTo>
                  <a:lnTo>
                    <a:pt x="2734818" y="106679"/>
                  </a:lnTo>
                  <a:close/>
                </a:path>
                <a:path w="2791459" h="335279">
                  <a:moveTo>
                    <a:pt x="2760726" y="81533"/>
                  </a:moveTo>
                  <a:lnTo>
                    <a:pt x="2730246" y="81533"/>
                  </a:lnTo>
                  <a:lnTo>
                    <a:pt x="2751582" y="102869"/>
                  </a:lnTo>
                  <a:lnTo>
                    <a:pt x="2760726" y="81533"/>
                  </a:lnTo>
                  <a:close/>
                </a:path>
              </a:pathLst>
            </a:custGeom>
            <a:solidFill>
              <a:srgbClr val="FF1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276600" y="6627875"/>
              <a:ext cx="1371600" cy="304800"/>
            </a:xfrm>
            <a:custGeom>
              <a:avLst/>
              <a:gdLst/>
              <a:ahLst/>
              <a:cxnLst/>
              <a:rect l="l" t="t" r="r" b="b"/>
              <a:pathLst>
                <a:path w="1371600" h="304800">
                  <a:moveTo>
                    <a:pt x="1371600" y="304800"/>
                  </a:moveTo>
                  <a:lnTo>
                    <a:pt x="1371600" y="228600"/>
                  </a:lnTo>
                  <a:lnTo>
                    <a:pt x="114300" y="228600"/>
                  </a:lnTo>
                  <a:lnTo>
                    <a:pt x="114300" y="76200"/>
                  </a:lnTo>
                  <a:lnTo>
                    <a:pt x="152400" y="76200"/>
                  </a:lnTo>
                  <a:lnTo>
                    <a:pt x="76200" y="0"/>
                  </a:lnTo>
                  <a:lnTo>
                    <a:pt x="0" y="76200"/>
                  </a:lnTo>
                  <a:lnTo>
                    <a:pt x="38100" y="76200"/>
                  </a:lnTo>
                  <a:lnTo>
                    <a:pt x="38100" y="304800"/>
                  </a:lnTo>
                  <a:lnTo>
                    <a:pt x="1371600" y="304800"/>
                  </a:lnTo>
                  <a:close/>
                </a:path>
              </a:pathLst>
            </a:custGeom>
            <a:solidFill>
              <a:srgbClr val="005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246120" y="6610350"/>
              <a:ext cx="1415415" cy="335280"/>
            </a:xfrm>
            <a:custGeom>
              <a:avLst/>
              <a:gdLst/>
              <a:ahLst/>
              <a:cxnLst/>
              <a:rect l="l" t="t" r="r" b="b"/>
              <a:pathLst>
                <a:path w="1415414" h="335279">
                  <a:moveTo>
                    <a:pt x="214122" y="106680"/>
                  </a:moveTo>
                  <a:lnTo>
                    <a:pt x="106679" y="0"/>
                  </a:lnTo>
                  <a:lnTo>
                    <a:pt x="0" y="106680"/>
                  </a:lnTo>
                  <a:lnTo>
                    <a:pt x="30479" y="106680"/>
                  </a:lnTo>
                  <a:lnTo>
                    <a:pt x="30479" y="81534"/>
                  </a:lnTo>
                  <a:lnTo>
                    <a:pt x="60960" y="81534"/>
                  </a:lnTo>
                  <a:lnTo>
                    <a:pt x="98297" y="44196"/>
                  </a:lnTo>
                  <a:lnTo>
                    <a:pt x="98297" y="26670"/>
                  </a:lnTo>
                  <a:lnTo>
                    <a:pt x="115824" y="26670"/>
                  </a:lnTo>
                  <a:lnTo>
                    <a:pt x="115824" y="44196"/>
                  </a:lnTo>
                  <a:lnTo>
                    <a:pt x="153161" y="81534"/>
                  </a:lnTo>
                  <a:lnTo>
                    <a:pt x="182879" y="81534"/>
                  </a:lnTo>
                  <a:lnTo>
                    <a:pt x="182879" y="106680"/>
                  </a:lnTo>
                  <a:lnTo>
                    <a:pt x="214122" y="106680"/>
                  </a:lnTo>
                  <a:close/>
                </a:path>
                <a:path w="1415414" h="335279">
                  <a:moveTo>
                    <a:pt x="60960" y="81534"/>
                  </a:moveTo>
                  <a:lnTo>
                    <a:pt x="30479" y="81534"/>
                  </a:lnTo>
                  <a:lnTo>
                    <a:pt x="39624" y="102870"/>
                  </a:lnTo>
                  <a:lnTo>
                    <a:pt x="60960" y="81534"/>
                  </a:lnTo>
                  <a:close/>
                </a:path>
                <a:path w="1415414" h="335279">
                  <a:moveTo>
                    <a:pt x="81534" y="310134"/>
                  </a:moveTo>
                  <a:lnTo>
                    <a:pt x="81534" y="81534"/>
                  </a:lnTo>
                  <a:lnTo>
                    <a:pt x="60960" y="81534"/>
                  </a:lnTo>
                  <a:lnTo>
                    <a:pt x="39624" y="102870"/>
                  </a:lnTo>
                  <a:lnTo>
                    <a:pt x="30479" y="81534"/>
                  </a:lnTo>
                  <a:lnTo>
                    <a:pt x="30479" y="106680"/>
                  </a:lnTo>
                  <a:lnTo>
                    <a:pt x="56387" y="106680"/>
                  </a:lnTo>
                  <a:lnTo>
                    <a:pt x="56387" y="93726"/>
                  </a:lnTo>
                  <a:lnTo>
                    <a:pt x="68579" y="106680"/>
                  </a:lnTo>
                  <a:lnTo>
                    <a:pt x="68579" y="310134"/>
                  </a:lnTo>
                  <a:lnTo>
                    <a:pt x="81534" y="310134"/>
                  </a:lnTo>
                  <a:close/>
                </a:path>
                <a:path w="1415414" h="335279">
                  <a:moveTo>
                    <a:pt x="68579" y="106680"/>
                  </a:moveTo>
                  <a:lnTo>
                    <a:pt x="56387" y="93726"/>
                  </a:lnTo>
                  <a:lnTo>
                    <a:pt x="56387" y="106680"/>
                  </a:lnTo>
                  <a:lnTo>
                    <a:pt x="68579" y="106680"/>
                  </a:lnTo>
                  <a:close/>
                </a:path>
                <a:path w="1415414" h="335279">
                  <a:moveTo>
                    <a:pt x="81534" y="335280"/>
                  </a:moveTo>
                  <a:lnTo>
                    <a:pt x="81534" y="322326"/>
                  </a:lnTo>
                  <a:lnTo>
                    <a:pt x="68579" y="310134"/>
                  </a:lnTo>
                  <a:lnTo>
                    <a:pt x="68579" y="106680"/>
                  </a:lnTo>
                  <a:lnTo>
                    <a:pt x="56387" y="106680"/>
                  </a:lnTo>
                  <a:lnTo>
                    <a:pt x="56387" y="335280"/>
                  </a:lnTo>
                  <a:lnTo>
                    <a:pt x="81534" y="335280"/>
                  </a:lnTo>
                  <a:close/>
                </a:path>
                <a:path w="1415414" h="335279">
                  <a:moveTo>
                    <a:pt x="1402080" y="310133"/>
                  </a:moveTo>
                  <a:lnTo>
                    <a:pt x="68579" y="310134"/>
                  </a:lnTo>
                  <a:lnTo>
                    <a:pt x="81534" y="322326"/>
                  </a:lnTo>
                  <a:lnTo>
                    <a:pt x="81534" y="335280"/>
                  </a:lnTo>
                  <a:lnTo>
                    <a:pt x="1389888" y="335279"/>
                  </a:lnTo>
                  <a:lnTo>
                    <a:pt x="1389888" y="322325"/>
                  </a:lnTo>
                  <a:lnTo>
                    <a:pt x="1402080" y="310133"/>
                  </a:lnTo>
                  <a:close/>
                </a:path>
                <a:path w="1415414" h="335279">
                  <a:moveTo>
                    <a:pt x="115824" y="26670"/>
                  </a:moveTo>
                  <a:lnTo>
                    <a:pt x="98297" y="26670"/>
                  </a:lnTo>
                  <a:lnTo>
                    <a:pt x="107060" y="35432"/>
                  </a:lnTo>
                  <a:lnTo>
                    <a:pt x="115824" y="26670"/>
                  </a:lnTo>
                  <a:close/>
                </a:path>
                <a:path w="1415414" h="335279">
                  <a:moveTo>
                    <a:pt x="107060" y="35433"/>
                  </a:moveTo>
                  <a:lnTo>
                    <a:pt x="98297" y="26670"/>
                  </a:lnTo>
                  <a:lnTo>
                    <a:pt x="98297" y="44196"/>
                  </a:lnTo>
                  <a:lnTo>
                    <a:pt x="107060" y="35433"/>
                  </a:lnTo>
                  <a:close/>
                </a:path>
                <a:path w="1415414" h="335279">
                  <a:moveTo>
                    <a:pt x="115824" y="44196"/>
                  </a:moveTo>
                  <a:lnTo>
                    <a:pt x="115824" y="26670"/>
                  </a:lnTo>
                  <a:lnTo>
                    <a:pt x="107060" y="35433"/>
                  </a:lnTo>
                  <a:lnTo>
                    <a:pt x="115824" y="44196"/>
                  </a:lnTo>
                  <a:close/>
                </a:path>
                <a:path w="1415414" h="335279">
                  <a:moveTo>
                    <a:pt x="182879" y="106680"/>
                  </a:moveTo>
                  <a:lnTo>
                    <a:pt x="182879" y="81534"/>
                  </a:lnTo>
                  <a:lnTo>
                    <a:pt x="174497" y="102870"/>
                  </a:lnTo>
                  <a:lnTo>
                    <a:pt x="153161" y="81534"/>
                  </a:lnTo>
                  <a:lnTo>
                    <a:pt x="132587" y="81534"/>
                  </a:lnTo>
                  <a:lnTo>
                    <a:pt x="132587" y="259080"/>
                  </a:lnTo>
                  <a:lnTo>
                    <a:pt x="144779" y="259080"/>
                  </a:lnTo>
                  <a:lnTo>
                    <a:pt x="144779" y="106680"/>
                  </a:lnTo>
                  <a:lnTo>
                    <a:pt x="157734" y="93726"/>
                  </a:lnTo>
                  <a:lnTo>
                    <a:pt x="157734" y="106680"/>
                  </a:lnTo>
                  <a:lnTo>
                    <a:pt x="182879" y="106680"/>
                  </a:lnTo>
                  <a:close/>
                </a:path>
                <a:path w="1415414" h="335279">
                  <a:moveTo>
                    <a:pt x="157734" y="106680"/>
                  </a:moveTo>
                  <a:lnTo>
                    <a:pt x="157734" y="93726"/>
                  </a:lnTo>
                  <a:lnTo>
                    <a:pt x="144779" y="106680"/>
                  </a:lnTo>
                  <a:lnTo>
                    <a:pt x="157734" y="106680"/>
                  </a:lnTo>
                  <a:close/>
                </a:path>
                <a:path w="1415414" h="335279">
                  <a:moveTo>
                    <a:pt x="157734" y="233934"/>
                  </a:moveTo>
                  <a:lnTo>
                    <a:pt x="157734" y="106680"/>
                  </a:lnTo>
                  <a:lnTo>
                    <a:pt x="144779" y="106680"/>
                  </a:lnTo>
                  <a:lnTo>
                    <a:pt x="144779" y="233934"/>
                  </a:lnTo>
                  <a:lnTo>
                    <a:pt x="157734" y="233934"/>
                  </a:lnTo>
                  <a:close/>
                </a:path>
                <a:path w="1415414" h="335279">
                  <a:moveTo>
                    <a:pt x="1415034" y="335279"/>
                  </a:moveTo>
                  <a:lnTo>
                    <a:pt x="1415034" y="233933"/>
                  </a:lnTo>
                  <a:lnTo>
                    <a:pt x="144779" y="233934"/>
                  </a:lnTo>
                  <a:lnTo>
                    <a:pt x="157734" y="246126"/>
                  </a:lnTo>
                  <a:lnTo>
                    <a:pt x="157734" y="259080"/>
                  </a:lnTo>
                  <a:lnTo>
                    <a:pt x="1389888" y="259079"/>
                  </a:lnTo>
                  <a:lnTo>
                    <a:pt x="1389888" y="246125"/>
                  </a:lnTo>
                  <a:lnTo>
                    <a:pt x="1402080" y="259079"/>
                  </a:lnTo>
                  <a:lnTo>
                    <a:pt x="1402080" y="335279"/>
                  </a:lnTo>
                  <a:lnTo>
                    <a:pt x="1415034" y="335279"/>
                  </a:lnTo>
                  <a:close/>
                </a:path>
                <a:path w="1415414" h="335279">
                  <a:moveTo>
                    <a:pt x="157734" y="259080"/>
                  </a:moveTo>
                  <a:lnTo>
                    <a:pt x="157734" y="246126"/>
                  </a:lnTo>
                  <a:lnTo>
                    <a:pt x="144779" y="233934"/>
                  </a:lnTo>
                  <a:lnTo>
                    <a:pt x="144779" y="259080"/>
                  </a:lnTo>
                  <a:lnTo>
                    <a:pt x="157734" y="259080"/>
                  </a:lnTo>
                  <a:close/>
                </a:path>
                <a:path w="1415414" h="335279">
                  <a:moveTo>
                    <a:pt x="182879" y="81534"/>
                  </a:moveTo>
                  <a:lnTo>
                    <a:pt x="153161" y="81534"/>
                  </a:lnTo>
                  <a:lnTo>
                    <a:pt x="174497" y="102870"/>
                  </a:lnTo>
                  <a:lnTo>
                    <a:pt x="182879" y="81534"/>
                  </a:lnTo>
                  <a:close/>
                </a:path>
                <a:path w="1415414" h="335279">
                  <a:moveTo>
                    <a:pt x="1402080" y="259079"/>
                  </a:moveTo>
                  <a:lnTo>
                    <a:pt x="1389888" y="246125"/>
                  </a:lnTo>
                  <a:lnTo>
                    <a:pt x="1389888" y="259079"/>
                  </a:lnTo>
                  <a:lnTo>
                    <a:pt x="1402080" y="259079"/>
                  </a:lnTo>
                  <a:close/>
                </a:path>
                <a:path w="1415414" h="335279">
                  <a:moveTo>
                    <a:pt x="1402080" y="310133"/>
                  </a:moveTo>
                  <a:lnTo>
                    <a:pt x="1402080" y="259079"/>
                  </a:lnTo>
                  <a:lnTo>
                    <a:pt x="1389888" y="259079"/>
                  </a:lnTo>
                  <a:lnTo>
                    <a:pt x="1389888" y="310133"/>
                  </a:lnTo>
                  <a:lnTo>
                    <a:pt x="1402080" y="310133"/>
                  </a:lnTo>
                  <a:close/>
                </a:path>
                <a:path w="1415414" h="335279">
                  <a:moveTo>
                    <a:pt x="1402080" y="335279"/>
                  </a:moveTo>
                  <a:lnTo>
                    <a:pt x="1402080" y="310133"/>
                  </a:lnTo>
                  <a:lnTo>
                    <a:pt x="1389888" y="322325"/>
                  </a:lnTo>
                  <a:lnTo>
                    <a:pt x="1389888" y="335279"/>
                  </a:lnTo>
                  <a:lnTo>
                    <a:pt x="1402080" y="335279"/>
                  </a:lnTo>
                  <a:close/>
                </a:path>
              </a:pathLst>
            </a:custGeom>
            <a:solidFill>
              <a:srgbClr val="FF1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733800" y="6639305"/>
              <a:ext cx="3352800" cy="517525"/>
            </a:xfrm>
            <a:custGeom>
              <a:avLst/>
              <a:gdLst/>
              <a:ahLst/>
              <a:cxnLst/>
              <a:rect l="l" t="t" r="r" b="b"/>
              <a:pathLst>
                <a:path w="3352800" h="517525">
                  <a:moveTo>
                    <a:pt x="3352799" y="517398"/>
                  </a:moveTo>
                  <a:lnTo>
                    <a:pt x="3352799" y="0"/>
                  </a:lnTo>
                  <a:lnTo>
                    <a:pt x="0" y="0"/>
                  </a:lnTo>
                  <a:lnTo>
                    <a:pt x="0" y="517398"/>
                  </a:lnTo>
                  <a:lnTo>
                    <a:pt x="3352799" y="5173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3908552" y="6684571"/>
            <a:ext cx="3002915" cy="4375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46355">
              <a:lnSpc>
                <a:spcPts val="1680"/>
              </a:lnSpc>
              <a:spcBef>
                <a:spcPts val="20"/>
              </a:spcBef>
            </a:pPr>
            <a:r>
              <a:rPr sz="1400" i="1" dirty="0">
                <a:latin typeface="Arial" panose="020B0604020202020204"/>
                <a:cs typeface="Arial" panose="020B0604020202020204"/>
              </a:rPr>
              <a:t>The</a:t>
            </a:r>
            <a:r>
              <a:rPr sz="14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spc="-10" dirty="0">
                <a:latin typeface="Arial" panose="020B0604020202020204"/>
                <a:cs typeface="Arial" panose="020B0604020202020204"/>
              </a:rPr>
              <a:t>truth-</a:t>
            </a:r>
            <a:r>
              <a:rPr sz="1400" i="1" dirty="0">
                <a:latin typeface="Arial" panose="020B0604020202020204"/>
                <a:cs typeface="Arial" panose="020B0604020202020204"/>
              </a:rPr>
              <a:t>tables</a:t>
            </a:r>
            <a:r>
              <a:rPr sz="14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are</a:t>
            </a:r>
            <a:r>
              <a:rPr sz="1400" i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equal;</a:t>
            </a:r>
            <a:r>
              <a:rPr sz="14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spc="-10" dirty="0">
                <a:latin typeface="Arial" panose="020B0604020202020204"/>
                <a:cs typeface="Arial" panose="020B0604020202020204"/>
              </a:rPr>
              <a:t>therefore,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the</a:t>
            </a:r>
            <a:r>
              <a:rPr sz="1400" i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Boolean</a:t>
            </a:r>
            <a:r>
              <a:rPr sz="1400" i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equations</a:t>
            </a:r>
            <a:r>
              <a:rPr sz="1400" i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must</a:t>
            </a:r>
            <a:r>
              <a:rPr sz="1400" i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be</a:t>
            </a:r>
            <a:r>
              <a:rPr sz="1400" i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spc="-10" dirty="0">
                <a:latin typeface="Arial" panose="020B0604020202020204"/>
                <a:cs typeface="Arial" panose="020B0604020202020204"/>
              </a:rPr>
              <a:t>equal.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692910"/>
            <a:ext cx="62071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DeMorgan’s</a:t>
            </a:r>
            <a:r>
              <a:rPr spc="-215" dirty="0"/>
              <a:t> </a:t>
            </a:r>
            <a:r>
              <a:rPr dirty="0"/>
              <a:t>Theorem</a:t>
            </a:r>
            <a:r>
              <a:rPr spc="-200" dirty="0"/>
              <a:t> </a:t>
            </a:r>
            <a:r>
              <a:rPr spc="-25" dirty="0"/>
              <a:t>#2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436369"/>
            <a:ext cx="9144000" cy="1029969"/>
            <a:chOff x="457200" y="1436369"/>
            <a:chExt cx="9144000" cy="1029969"/>
          </a:xfrm>
        </p:grpSpPr>
        <p:sp>
          <p:nvSpPr>
            <p:cNvPr id="4" name="object 4"/>
            <p:cNvSpPr/>
            <p:nvPr/>
          </p:nvSpPr>
          <p:spPr>
            <a:xfrm>
              <a:off x="457200" y="1436369"/>
              <a:ext cx="9144000" cy="979169"/>
            </a:xfrm>
            <a:custGeom>
              <a:avLst/>
              <a:gdLst/>
              <a:ahLst/>
              <a:cxnLst/>
              <a:rect l="l" t="t" r="r" b="b"/>
              <a:pathLst>
                <a:path w="9144000" h="979169">
                  <a:moveTo>
                    <a:pt x="9144000" y="979169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170"/>
                  </a:lnTo>
                  <a:lnTo>
                    <a:pt x="9144000" y="97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6508" y="1638299"/>
              <a:ext cx="8046719" cy="922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13453" y="1876043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39">
                  <a:moveTo>
                    <a:pt x="0" y="0"/>
                  </a:moveTo>
                  <a:lnTo>
                    <a:pt x="916686" y="0"/>
                  </a:lnTo>
                </a:path>
              </a:pathLst>
            </a:custGeom>
            <a:ln w="12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382005" y="1876043"/>
              <a:ext cx="273685" cy="0"/>
            </a:xfrm>
            <a:custGeom>
              <a:avLst/>
              <a:gdLst/>
              <a:ahLst/>
              <a:cxnLst/>
              <a:rect l="l" t="t" r="r" b="b"/>
              <a:pathLst>
                <a:path w="273685">
                  <a:moveTo>
                    <a:pt x="0" y="0"/>
                  </a:moveTo>
                  <a:lnTo>
                    <a:pt x="273558" y="0"/>
                  </a:lnTo>
                </a:path>
              </a:pathLst>
            </a:custGeom>
            <a:ln w="12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910071" y="1876043"/>
              <a:ext cx="222885" cy="0"/>
            </a:xfrm>
            <a:custGeom>
              <a:avLst/>
              <a:gdLst/>
              <a:ahLst/>
              <a:cxnLst/>
              <a:rect l="l" t="t" r="r" b="b"/>
              <a:pathLst>
                <a:path w="222885">
                  <a:moveTo>
                    <a:pt x="0" y="0"/>
                  </a:moveTo>
                  <a:lnTo>
                    <a:pt x="222504" y="0"/>
                  </a:lnTo>
                </a:path>
              </a:pathLst>
            </a:custGeom>
            <a:ln w="12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" y="2373630"/>
              <a:ext cx="8047481" cy="9220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47241" y="1618609"/>
            <a:ext cx="5116195" cy="1329055"/>
          </a:xfrm>
          <a:prstGeom prst="rect">
            <a:avLst/>
          </a:prstGeom>
        </p:spPr>
        <p:txBody>
          <a:bodyPr vert="horz" wrap="square" lIns="0" tIns="220979" rIns="0" bIns="0" rtlCol="0">
            <a:spAutoFit/>
          </a:bodyPr>
          <a:lstStyle/>
          <a:p>
            <a:pPr marL="2966085">
              <a:lnSpc>
                <a:spcPct val="100000"/>
              </a:lnSpc>
              <a:spcBef>
                <a:spcPts val="1740"/>
              </a:spcBef>
            </a:pPr>
            <a:r>
              <a:rPr sz="3200" dirty="0">
                <a:latin typeface="Arial" panose="020B0604020202020204"/>
                <a:cs typeface="Arial" panose="020B0604020202020204"/>
              </a:rPr>
              <a:t>A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Symbol" panose="05050102010706020507"/>
                <a:cs typeface="Symbol" panose="05050102010706020507"/>
              </a:rPr>
              <a:t></a:t>
            </a:r>
            <a:r>
              <a:rPr sz="3200" spc="-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Arial" panose="020B0604020202020204"/>
                <a:cs typeface="Arial" panose="020B0604020202020204"/>
              </a:rPr>
              <a:t>B</a:t>
            </a:r>
            <a:r>
              <a:rPr sz="32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Symbol" panose="05050102010706020507"/>
                <a:cs typeface="Symbol" panose="05050102010706020507"/>
              </a:rPr>
              <a:t></a:t>
            </a:r>
            <a:r>
              <a:rPr sz="32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Arial" panose="020B0604020202020204"/>
                <a:cs typeface="Arial" panose="020B0604020202020204"/>
              </a:rPr>
              <a:t>A</a:t>
            </a:r>
            <a:r>
              <a:rPr sz="3200" spc="-260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Symbol" panose="05050102010706020507"/>
                <a:cs typeface="Symbol" panose="05050102010706020507"/>
              </a:rPr>
              <a:t></a:t>
            </a:r>
            <a:r>
              <a:rPr sz="3200" spc="-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50" dirty="0">
                <a:latin typeface="Arial" panose="020B0604020202020204"/>
                <a:cs typeface="Arial" panose="020B0604020202020204"/>
              </a:rPr>
              <a:t>B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i="1" spc="-10" dirty="0">
                <a:latin typeface="Arial" panose="020B0604020202020204"/>
                <a:cs typeface="Arial" panose="020B0604020202020204"/>
              </a:rPr>
              <a:t>Proof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81978" y="3050285"/>
            <a:ext cx="238760" cy="0"/>
          </a:xfrm>
          <a:custGeom>
            <a:avLst/>
            <a:gdLst/>
            <a:ahLst/>
            <a:cxnLst/>
            <a:rect l="l" t="t" r="r" b="b"/>
            <a:pathLst>
              <a:path w="238759">
                <a:moveTo>
                  <a:pt x="0" y="0"/>
                </a:moveTo>
                <a:lnTo>
                  <a:pt x="238506" y="0"/>
                </a:lnTo>
              </a:path>
            </a:pathLst>
          </a:custGeom>
          <a:ln w="11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42226" y="3050285"/>
            <a:ext cx="193675" cy="0"/>
          </a:xfrm>
          <a:custGeom>
            <a:avLst/>
            <a:gdLst/>
            <a:ahLst/>
            <a:cxnLst/>
            <a:rect l="l" t="t" r="r" b="b"/>
            <a:pathLst>
              <a:path w="193675">
                <a:moveTo>
                  <a:pt x="0" y="0"/>
                </a:moveTo>
                <a:lnTo>
                  <a:pt x="193548" y="0"/>
                </a:lnTo>
              </a:path>
            </a:pathLst>
          </a:custGeom>
          <a:ln w="11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481826" y="3004421"/>
            <a:ext cx="882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800" spc="-38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A</a:t>
            </a:r>
            <a:r>
              <a:rPr sz="2800" spc="-225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100" dirty="0">
                <a:latin typeface="Symbol" panose="05050102010706020507"/>
                <a:cs typeface="Symbol" panose="05050102010706020507"/>
              </a:rPr>
              <a:t></a:t>
            </a:r>
            <a:r>
              <a:rPr sz="2800" spc="100" dirty="0">
                <a:latin typeface="Arial" panose="020B0604020202020204"/>
                <a:cs typeface="Arial" panose="020B0604020202020204"/>
              </a:rPr>
              <a:t>B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60448" y="3050285"/>
            <a:ext cx="793750" cy="0"/>
          </a:xfrm>
          <a:custGeom>
            <a:avLst/>
            <a:gdLst/>
            <a:ahLst/>
            <a:cxnLst/>
            <a:rect l="l" t="t" r="r" b="b"/>
            <a:pathLst>
              <a:path w="793750">
                <a:moveTo>
                  <a:pt x="0" y="0"/>
                </a:moveTo>
                <a:lnTo>
                  <a:pt x="793242" y="0"/>
                </a:lnTo>
              </a:path>
            </a:pathLst>
          </a:custGeom>
          <a:ln w="11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047748" y="3004421"/>
            <a:ext cx="8356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 panose="020B0604020202020204"/>
                <a:cs typeface="Arial" panose="020B0604020202020204"/>
              </a:rPr>
              <a:t>A</a:t>
            </a:r>
            <a:r>
              <a:rPr sz="2800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0" dirty="0">
                <a:latin typeface="Arial" panose="020B0604020202020204"/>
                <a:cs typeface="Arial" panose="020B0604020202020204"/>
              </a:rPr>
              <a:t>B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393947"/>
            <a:ext cx="9144000" cy="980440"/>
            <a:chOff x="457200" y="3393947"/>
            <a:chExt cx="9144000" cy="980440"/>
          </a:xfrm>
        </p:grpSpPr>
        <p:sp>
          <p:nvSpPr>
            <p:cNvPr id="17" name="object 17"/>
            <p:cNvSpPr/>
            <p:nvPr/>
          </p:nvSpPr>
          <p:spPr>
            <a:xfrm>
              <a:off x="457200" y="339394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938778" y="3981449"/>
              <a:ext cx="455930" cy="0"/>
            </a:xfrm>
            <a:custGeom>
              <a:avLst/>
              <a:gdLst/>
              <a:ahLst/>
              <a:cxnLst/>
              <a:rect l="l" t="t" r="r" b="b"/>
              <a:pathLst>
                <a:path w="455929">
                  <a:moveTo>
                    <a:pt x="0" y="0"/>
                  </a:moveTo>
                  <a:lnTo>
                    <a:pt x="455676" y="0"/>
                  </a:lnTo>
                </a:path>
              </a:pathLst>
            </a:custGeom>
            <a:ln w="62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926078" y="3950142"/>
            <a:ext cx="489584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Arial" panose="020B0604020202020204"/>
                <a:cs typeface="Arial" panose="020B0604020202020204"/>
              </a:rPr>
              <a:t>A</a:t>
            </a:r>
            <a:r>
              <a:rPr sz="15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550" dirty="0">
                <a:latin typeface="Symbol" panose="05050102010706020507"/>
                <a:cs typeface="Symbol" panose="05050102010706020507"/>
              </a:rPr>
              <a:t></a:t>
            </a:r>
            <a:r>
              <a:rPr sz="15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50" dirty="0">
                <a:latin typeface="Arial" panose="020B0604020202020204"/>
                <a:cs typeface="Arial" panose="020B0604020202020204"/>
              </a:rPr>
              <a:t>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74674" y="3846829"/>
            <a:ext cx="165100" cy="4787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4445">
              <a:lnSpc>
                <a:spcPts val="1660"/>
              </a:lnSpc>
              <a:spcBef>
                <a:spcPts val="360"/>
              </a:spcBef>
            </a:pPr>
            <a:r>
              <a:rPr sz="1550" spc="-50" dirty="0">
                <a:latin typeface="Arial" panose="020B0604020202020204"/>
                <a:cs typeface="Arial" panose="020B0604020202020204"/>
              </a:rPr>
              <a:t>A 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75046" y="3605719"/>
            <a:ext cx="16002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20" dirty="0">
                <a:latin typeface="Arial" panose="020B0604020202020204"/>
                <a:cs typeface="Arial" panose="020B0604020202020204"/>
              </a:rPr>
              <a:t>A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73521" y="4128008"/>
            <a:ext cx="16065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spc="25" dirty="0">
                <a:latin typeface="Arial" panose="020B0604020202020204"/>
                <a:cs typeface="Arial" panose="020B0604020202020204"/>
              </a:rPr>
              <a:t>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19200" y="3610355"/>
            <a:ext cx="7009130" cy="763905"/>
            <a:chOff x="1219200" y="3610355"/>
            <a:chExt cx="7009130" cy="76390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200" y="3897629"/>
              <a:ext cx="2590800" cy="37795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2526" y="3610355"/>
              <a:ext cx="2495550" cy="76352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481826" y="3429254"/>
            <a:ext cx="16065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spc="25" dirty="0">
                <a:latin typeface="Arial" panose="020B0604020202020204"/>
                <a:cs typeface="Arial" panose="020B0604020202020204"/>
              </a:rPr>
              <a:t>A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10528" y="3993641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>
                <a:moveTo>
                  <a:pt x="0" y="0"/>
                </a:moveTo>
                <a:lnTo>
                  <a:pt x="109728" y="0"/>
                </a:lnTo>
              </a:path>
            </a:pathLst>
          </a:custGeom>
          <a:ln w="62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481826" y="3962213"/>
            <a:ext cx="15938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20" dirty="0">
                <a:latin typeface="Arial" panose="020B0604020202020204"/>
                <a:cs typeface="Arial" panose="020B0604020202020204"/>
              </a:rPr>
              <a:t>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289670" y="3912742"/>
            <a:ext cx="379730" cy="6350"/>
            <a:chOff x="8289670" y="3912742"/>
            <a:chExt cx="379730" cy="6350"/>
          </a:xfrm>
        </p:grpSpPr>
        <p:sp>
          <p:nvSpPr>
            <p:cNvPr id="30" name="object 30"/>
            <p:cNvSpPr/>
            <p:nvPr/>
          </p:nvSpPr>
          <p:spPr>
            <a:xfrm>
              <a:off x="8292845" y="3915917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>
                  <a:moveTo>
                    <a:pt x="0" y="0"/>
                  </a:moveTo>
                  <a:lnTo>
                    <a:pt x="136398" y="0"/>
                  </a:lnTo>
                </a:path>
              </a:pathLst>
            </a:custGeom>
            <a:ln w="62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555735" y="3915917"/>
              <a:ext cx="110489" cy="0"/>
            </a:xfrm>
            <a:custGeom>
              <a:avLst/>
              <a:gdLst/>
              <a:ahLst/>
              <a:cxnLst/>
              <a:rect l="l" t="t" r="r" b="b"/>
              <a:pathLst>
                <a:path w="110490">
                  <a:moveTo>
                    <a:pt x="0" y="0"/>
                  </a:moveTo>
                  <a:lnTo>
                    <a:pt x="110489" y="0"/>
                  </a:lnTo>
                </a:path>
              </a:pathLst>
            </a:custGeom>
            <a:ln w="62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280145" y="3884730"/>
            <a:ext cx="407034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latin typeface="Arial" panose="020B0604020202020204"/>
                <a:cs typeface="Arial" panose="020B0604020202020204"/>
              </a:rPr>
              <a:t>A</a:t>
            </a:r>
            <a:r>
              <a:rPr sz="155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50" dirty="0">
                <a:latin typeface="Symbol" panose="05050102010706020507"/>
                <a:cs typeface="Symbol" panose="05050102010706020507"/>
              </a:rPr>
              <a:t></a:t>
            </a:r>
            <a:r>
              <a:rPr sz="1550" spc="50" dirty="0">
                <a:latin typeface="Arial" panose="020B0604020202020204"/>
                <a:cs typeface="Arial" panose="020B0604020202020204"/>
              </a:rPr>
              <a:t>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33626" y="3737545"/>
            <a:ext cx="48831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Arial" panose="020B0604020202020204"/>
                <a:cs typeface="Arial" panose="020B0604020202020204"/>
              </a:rPr>
              <a:t>A</a:t>
            </a:r>
            <a:r>
              <a:rPr sz="15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550" dirty="0">
                <a:latin typeface="Symbol" panose="05050102010706020507"/>
                <a:cs typeface="Symbol" panose="05050102010706020507"/>
              </a:rPr>
              <a:t></a:t>
            </a:r>
            <a:r>
              <a:rPr sz="155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50" dirty="0">
                <a:latin typeface="Arial" panose="020B0604020202020204"/>
                <a:cs typeface="Arial" panose="020B0604020202020204"/>
              </a:rPr>
              <a:t>B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122676" y="4972050"/>
            <a:ext cx="445770" cy="0"/>
          </a:xfrm>
          <a:custGeom>
            <a:avLst/>
            <a:gdLst/>
            <a:ahLst/>
            <a:cxnLst/>
            <a:rect l="l" t="t" r="r" b="b"/>
            <a:pathLst>
              <a:path w="445770">
                <a:moveTo>
                  <a:pt x="0" y="0"/>
                </a:moveTo>
                <a:lnTo>
                  <a:pt x="445770" y="0"/>
                </a:lnTo>
              </a:path>
            </a:pathLst>
          </a:custGeom>
          <a:ln w="61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" name="object 35"/>
          <p:cNvGrpSpPr/>
          <p:nvPr/>
        </p:nvGrpSpPr>
        <p:grpSpPr>
          <a:xfrm>
            <a:off x="457200" y="3416808"/>
            <a:ext cx="9144000" cy="1936750"/>
            <a:chOff x="457200" y="3416808"/>
            <a:chExt cx="9144000" cy="1936750"/>
          </a:xfrm>
        </p:grpSpPr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8860" y="3416808"/>
              <a:ext cx="329945" cy="95707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45808" y="3416808"/>
              <a:ext cx="329946" cy="95707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57200" y="437311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32526" y="4373880"/>
              <a:ext cx="2495550" cy="76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68651" y="4373880"/>
              <a:ext cx="609600" cy="42519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8172" y="4373880"/>
              <a:ext cx="671321" cy="44348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05600" y="4373880"/>
              <a:ext cx="609600" cy="42519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75120" y="4373880"/>
              <a:ext cx="671322" cy="443484"/>
            </a:xfrm>
            <a:prstGeom prst="rect">
              <a:avLst/>
            </a:prstGeom>
          </p:spPr>
        </p:pic>
      </p:grp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1450086" y="4861559"/>
          <a:ext cx="2194560" cy="1704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1594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1594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5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50" dirty="0">
                          <a:latin typeface="Symbol" panose="05050102010706020507"/>
                          <a:cs typeface="Symbol" panose="05050102010706020507"/>
                        </a:rPr>
                        <a:t></a:t>
                      </a:r>
                      <a:r>
                        <a:rPr sz="1550" spc="-1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50" spc="-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1594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550" spc="-4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50" dirty="0">
                          <a:latin typeface="Symbol" panose="05050102010706020507"/>
                          <a:cs typeface="Symbol" panose="05050102010706020507"/>
                        </a:rPr>
                        <a:t></a:t>
                      </a:r>
                      <a:r>
                        <a:rPr sz="1550" spc="-1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50" spc="-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9375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5" name="object 45"/>
          <p:cNvSpPr/>
          <p:nvPr/>
        </p:nvSpPr>
        <p:spPr>
          <a:xfrm>
            <a:off x="6878573" y="4978146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7160" y="0"/>
                </a:lnTo>
              </a:path>
            </a:pathLst>
          </a:custGeom>
          <a:ln w="63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340345" y="4978146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>
                <a:moveTo>
                  <a:pt x="0" y="0"/>
                </a:moveTo>
                <a:lnTo>
                  <a:pt x="110489" y="0"/>
                </a:lnTo>
              </a:path>
            </a:pathLst>
          </a:custGeom>
          <a:ln w="62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788402" y="4965191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398" y="0"/>
                </a:lnTo>
              </a:path>
            </a:pathLst>
          </a:custGeom>
          <a:ln w="62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051292" y="4965191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>
                <a:moveTo>
                  <a:pt x="0" y="0"/>
                </a:moveTo>
                <a:lnTo>
                  <a:pt x="110489" y="0"/>
                </a:lnTo>
              </a:path>
            </a:pathLst>
          </a:custGeom>
          <a:ln w="62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5777484" y="4861559"/>
          <a:ext cx="2468880" cy="1704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  <a:gridCol w="457200"/>
                <a:gridCol w="640080"/>
              </a:tblGrid>
              <a:tr h="365760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985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890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55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spc="50" dirty="0">
                          <a:latin typeface="Symbol" panose="05050102010706020507"/>
                          <a:cs typeface="Symbol" panose="05050102010706020507"/>
                        </a:rPr>
                        <a:t></a:t>
                      </a:r>
                      <a:r>
                        <a:rPr sz="1550" spc="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15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28575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28575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28575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0" name="object 50"/>
          <p:cNvGrpSpPr/>
          <p:nvPr/>
        </p:nvGrpSpPr>
        <p:grpSpPr>
          <a:xfrm>
            <a:off x="3246120" y="6610350"/>
            <a:ext cx="4867275" cy="546735"/>
            <a:chOff x="3246120" y="6610350"/>
            <a:chExt cx="4867275" cy="546735"/>
          </a:xfrm>
        </p:grpSpPr>
        <p:sp>
          <p:nvSpPr>
            <p:cNvPr id="51" name="object 51"/>
            <p:cNvSpPr/>
            <p:nvPr/>
          </p:nvSpPr>
          <p:spPr>
            <a:xfrm>
              <a:off x="5334000" y="6627875"/>
              <a:ext cx="2748915" cy="304800"/>
            </a:xfrm>
            <a:custGeom>
              <a:avLst/>
              <a:gdLst/>
              <a:ahLst/>
              <a:cxnLst/>
              <a:rect l="l" t="t" r="r" b="b"/>
              <a:pathLst>
                <a:path w="2748915" h="304800">
                  <a:moveTo>
                    <a:pt x="2748534" y="76199"/>
                  </a:moveTo>
                  <a:lnTo>
                    <a:pt x="2672334" y="0"/>
                  </a:lnTo>
                  <a:lnTo>
                    <a:pt x="2596134" y="76199"/>
                  </a:lnTo>
                  <a:lnTo>
                    <a:pt x="2634234" y="76199"/>
                  </a:lnTo>
                  <a:lnTo>
                    <a:pt x="2634234" y="228599"/>
                  </a:lnTo>
                  <a:lnTo>
                    <a:pt x="0" y="228600"/>
                  </a:lnTo>
                  <a:lnTo>
                    <a:pt x="0" y="304800"/>
                  </a:lnTo>
                  <a:lnTo>
                    <a:pt x="2710434" y="304799"/>
                  </a:lnTo>
                  <a:lnTo>
                    <a:pt x="2710434" y="76199"/>
                  </a:lnTo>
                  <a:lnTo>
                    <a:pt x="2748534" y="76199"/>
                  </a:lnTo>
                  <a:close/>
                </a:path>
              </a:pathLst>
            </a:custGeom>
            <a:solidFill>
              <a:srgbClr val="005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21808" y="6610350"/>
              <a:ext cx="2791460" cy="335280"/>
            </a:xfrm>
            <a:custGeom>
              <a:avLst/>
              <a:gdLst/>
              <a:ahLst/>
              <a:cxnLst/>
              <a:rect l="l" t="t" r="r" b="b"/>
              <a:pathLst>
                <a:path w="2791459" h="335279">
                  <a:moveTo>
                    <a:pt x="2646426" y="233933"/>
                  </a:moveTo>
                  <a:lnTo>
                    <a:pt x="0" y="233933"/>
                  </a:lnTo>
                  <a:lnTo>
                    <a:pt x="0" y="335279"/>
                  </a:lnTo>
                  <a:lnTo>
                    <a:pt x="12191" y="335279"/>
                  </a:lnTo>
                  <a:lnTo>
                    <a:pt x="12192" y="259079"/>
                  </a:lnTo>
                  <a:lnTo>
                    <a:pt x="25145" y="246125"/>
                  </a:lnTo>
                  <a:lnTo>
                    <a:pt x="25145" y="259079"/>
                  </a:lnTo>
                  <a:lnTo>
                    <a:pt x="2633472" y="259079"/>
                  </a:lnTo>
                  <a:lnTo>
                    <a:pt x="2633472" y="246125"/>
                  </a:lnTo>
                  <a:lnTo>
                    <a:pt x="2646426" y="233933"/>
                  </a:lnTo>
                  <a:close/>
                </a:path>
                <a:path w="2791459" h="335279">
                  <a:moveTo>
                    <a:pt x="25145" y="259079"/>
                  </a:moveTo>
                  <a:lnTo>
                    <a:pt x="25145" y="246125"/>
                  </a:lnTo>
                  <a:lnTo>
                    <a:pt x="12192" y="259079"/>
                  </a:lnTo>
                  <a:lnTo>
                    <a:pt x="25145" y="259079"/>
                  </a:lnTo>
                  <a:close/>
                </a:path>
                <a:path w="2791459" h="335279">
                  <a:moveTo>
                    <a:pt x="25145" y="310133"/>
                  </a:moveTo>
                  <a:lnTo>
                    <a:pt x="25145" y="259079"/>
                  </a:lnTo>
                  <a:lnTo>
                    <a:pt x="12192" y="259079"/>
                  </a:lnTo>
                  <a:lnTo>
                    <a:pt x="12192" y="310133"/>
                  </a:lnTo>
                  <a:lnTo>
                    <a:pt x="25145" y="310133"/>
                  </a:lnTo>
                  <a:close/>
                </a:path>
                <a:path w="2791459" h="335279">
                  <a:moveTo>
                    <a:pt x="2722626" y="310133"/>
                  </a:moveTo>
                  <a:lnTo>
                    <a:pt x="12192" y="310133"/>
                  </a:lnTo>
                  <a:lnTo>
                    <a:pt x="25145" y="322325"/>
                  </a:lnTo>
                  <a:lnTo>
                    <a:pt x="25145" y="335279"/>
                  </a:lnTo>
                  <a:lnTo>
                    <a:pt x="2709672" y="335279"/>
                  </a:lnTo>
                  <a:lnTo>
                    <a:pt x="2709672" y="322325"/>
                  </a:lnTo>
                  <a:lnTo>
                    <a:pt x="2722626" y="310133"/>
                  </a:lnTo>
                  <a:close/>
                </a:path>
                <a:path w="2791459" h="335279">
                  <a:moveTo>
                    <a:pt x="25145" y="335279"/>
                  </a:moveTo>
                  <a:lnTo>
                    <a:pt x="25145" y="322325"/>
                  </a:lnTo>
                  <a:lnTo>
                    <a:pt x="12192" y="310133"/>
                  </a:lnTo>
                  <a:lnTo>
                    <a:pt x="12191" y="335279"/>
                  </a:lnTo>
                  <a:lnTo>
                    <a:pt x="25145" y="335279"/>
                  </a:lnTo>
                  <a:close/>
                </a:path>
                <a:path w="2791459" h="335279">
                  <a:moveTo>
                    <a:pt x="2791206" y="106679"/>
                  </a:moveTo>
                  <a:lnTo>
                    <a:pt x="2684526" y="0"/>
                  </a:lnTo>
                  <a:lnTo>
                    <a:pt x="2577084" y="106679"/>
                  </a:lnTo>
                  <a:lnTo>
                    <a:pt x="2608326" y="106679"/>
                  </a:lnTo>
                  <a:lnTo>
                    <a:pt x="2608326" y="81533"/>
                  </a:lnTo>
                  <a:lnTo>
                    <a:pt x="2638806" y="81533"/>
                  </a:lnTo>
                  <a:lnTo>
                    <a:pt x="2675382" y="44957"/>
                  </a:lnTo>
                  <a:lnTo>
                    <a:pt x="2675382" y="26669"/>
                  </a:lnTo>
                  <a:lnTo>
                    <a:pt x="2693670" y="26669"/>
                  </a:lnTo>
                  <a:lnTo>
                    <a:pt x="2693670" y="44957"/>
                  </a:lnTo>
                  <a:lnTo>
                    <a:pt x="2730246" y="81533"/>
                  </a:lnTo>
                  <a:lnTo>
                    <a:pt x="2760726" y="81533"/>
                  </a:lnTo>
                  <a:lnTo>
                    <a:pt x="2760726" y="106679"/>
                  </a:lnTo>
                  <a:lnTo>
                    <a:pt x="2791206" y="106679"/>
                  </a:lnTo>
                  <a:close/>
                </a:path>
                <a:path w="2791459" h="335279">
                  <a:moveTo>
                    <a:pt x="2638806" y="81533"/>
                  </a:moveTo>
                  <a:lnTo>
                    <a:pt x="2608326" y="81533"/>
                  </a:lnTo>
                  <a:lnTo>
                    <a:pt x="2617470" y="102869"/>
                  </a:lnTo>
                  <a:lnTo>
                    <a:pt x="2638806" y="81533"/>
                  </a:lnTo>
                  <a:close/>
                </a:path>
                <a:path w="2791459" h="335279">
                  <a:moveTo>
                    <a:pt x="2658618" y="259079"/>
                  </a:moveTo>
                  <a:lnTo>
                    <a:pt x="2658618" y="81533"/>
                  </a:lnTo>
                  <a:lnTo>
                    <a:pt x="2638806" y="81533"/>
                  </a:lnTo>
                  <a:lnTo>
                    <a:pt x="2617470" y="102869"/>
                  </a:lnTo>
                  <a:lnTo>
                    <a:pt x="2608326" y="81533"/>
                  </a:lnTo>
                  <a:lnTo>
                    <a:pt x="2608326" y="106679"/>
                  </a:lnTo>
                  <a:lnTo>
                    <a:pt x="2633472" y="106679"/>
                  </a:lnTo>
                  <a:lnTo>
                    <a:pt x="2633472" y="93725"/>
                  </a:lnTo>
                  <a:lnTo>
                    <a:pt x="2646426" y="106679"/>
                  </a:lnTo>
                  <a:lnTo>
                    <a:pt x="2646426" y="259079"/>
                  </a:lnTo>
                  <a:lnTo>
                    <a:pt x="2658618" y="259079"/>
                  </a:lnTo>
                  <a:close/>
                </a:path>
                <a:path w="2791459" h="335279">
                  <a:moveTo>
                    <a:pt x="2646426" y="106679"/>
                  </a:moveTo>
                  <a:lnTo>
                    <a:pt x="2633472" y="93725"/>
                  </a:lnTo>
                  <a:lnTo>
                    <a:pt x="2633472" y="106679"/>
                  </a:lnTo>
                  <a:lnTo>
                    <a:pt x="2646426" y="106679"/>
                  </a:lnTo>
                  <a:close/>
                </a:path>
                <a:path w="2791459" h="335279">
                  <a:moveTo>
                    <a:pt x="2646426" y="233933"/>
                  </a:moveTo>
                  <a:lnTo>
                    <a:pt x="2646426" y="106679"/>
                  </a:lnTo>
                  <a:lnTo>
                    <a:pt x="2633472" y="106679"/>
                  </a:lnTo>
                  <a:lnTo>
                    <a:pt x="2633472" y="233933"/>
                  </a:lnTo>
                  <a:lnTo>
                    <a:pt x="2646426" y="233933"/>
                  </a:lnTo>
                  <a:close/>
                </a:path>
                <a:path w="2791459" h="335279">
                  <a:moveTo>
                    <a:pt x="2646426" y="259079"/>
                  </a:moveTo>
                  <a:lnTo>
                    <a:pt x="2646426" y="233933"/>
                  </a:lnTo>
                  <a:lnTo>
                    <a:pt x="2633472" y="246125"/>
                  </a:lnTo>
                  <a:lnTo>
                    <a:pt x="2633472" y="259079"/>
                  </a:lnTo>
                  <a:lnTo>
                    <a:pt x="2646426" y="259079"/>
                  </a:lnTo>
                  <a:close/>
                </a:path>
                <a:path w="2791459" h="335279">
                  <a:moveTo>
                    <a:pt x="2693670" y="26669"/>
                  </a:moveTo>
                  <a:lnTo>
                    <a:pt x="2675382" y="26669"/>
                  </a:lnTo>
                  <a:lnTo>
                    <a:pt x="2684526" y="35813"/>
                  </a:lnTo>
                  <a:lnTo>
                    <a:pt x="2693670" y="26669"/>
                  </a:lnTo>
                  <a:close/>
                </a:path>
                <a:path w="2791459" h="335279">
                  <a:moveTo>
                    <a:pt x="2684526" y="35813"/>
                  </a:moveTo>
                  <a:lnTo>
                    <a:pt x="2675382" y="26669"/>
                  </a:lnTo>
                  <a:lnTo>
                    <a:pt x="2675382" y="44957"/>
                  </a:lnTo>
                  <a:lnTo>
                    <a:pt x="2684526" y="35813"/>
                  </a:lnTo>
                  <a:close/>
                </a:path>
                <a:path w="2791459" h="335279">
                  <a:moveTo>
                    <a:pt x="2693670" y="44957"/>
                  </a:moveTo>
                  <a:lnTo>
                    <a:pt x="2693670" y="26669"/>
                  </a:lnTo>
                  <a:lnTo>
                    <a:pt x="2684526" y="35813"/>
                  </a:lnTo>
                  <a:lnTo>
                    <a:pt x="2693670" y="44957"/>
                  </a:lnTo>
                  <a:close/>
                </a:path>
                <a:path w="2791459" h="335279">
                  <a:moveTo>
                    <a:pt x="2760726" y="106679"/>
                  </a:moveTo>
                  <a:lnTo>
                    <a:pt x="2760726" y="81533"/>
                  </a:lnTo>
                  <a:lnTo>
                    <a:pt x="2751582" y="102869"/>
                  </a:lnTo>
                  <a:lnTo>
                    <a:pt x="2730246" y="81533"/>
                  </a:lnTo>
                  <a:lnTo>
                    <a:pt x="2709672" y="81533"/>
                  </a:lnTo>
                  <a:lnTo>
                    <a:pt x="2709672" y="310133"/>
                  </a:lnTo>
                  <a:lnTo>
                    <a:pt x="2722626" y="310133"/>
                  </a:lnTo>
                  <a:lnTo>
                    <a:pt x="2722626" y="106679"/>
                  </a:lnTo>
                  <a:lnTo>
                    <a:pt x="2734818" y="93725"/>
                  </a:lnTo>
                  <a:lnTo>
                    <a:pt x="2734818" y="106679"/>
                  </a:lnTo>
                  <a:lnTo>
                    <a:pt x="2760726" y="106679"/>
                  </a:lnTo>
                  <a:close/>
                </a:path>
                <a:path w="2791459" h="335279">
                  <a:moveTo>
                    <a:pt x="2734818" y="335279"/>
                  </a:moveTo>
                  <a:lnTo>
                    <a:pt x="2734818" y="106679"/>
                  </a:lnTo>
                  <a:lnTo>
                    <a:pt x="2722626" y="106679"/>
                  </a:lnTo>
                  <a:lnTo>
                    <a:pt x="2722626" y="310133"/>
                  </a:lnTo>
                  <a:lnTo>
                    <a:pt x="2709672" y="322325"/>
                  </a:lnTo>
                  <a:lnTo>
                    <a:pt x="2709672" y="335279"/>
                  </a:lnTo>
                  <a:lnTo>
                    <a:pt x="2734818" y="335279"/>
                  </a:lnTo>
                  <a:close/>
                </a:path>
                <a:path w="2791459" h="335279">
                  <a:moveTo>
                    <a:pt x="2734818" y="106679"/>
                  </a:moveTo>
                  <a:lnTo>
                    <a:pt x="2734818" y="93725"/>
                  </a:lnTo>
                  <a:lnTo>
                    <a:pt x="2722626" y="106679"/>
                  </a:lnTo>
                  <a:lnTo>
                    <a:pt x="2734818" y="106679"/>
                  </a:lnTo>
                  <a:close/>
                </a:path>
                <a:path w="2791459" h="335279">
                  <a:moveTo>
                    <a:pt x="2760726" y="81533"/>
                  </a:moveTo>
                  <a:lnTo>
                    <a:pt x="2730246" y="81533"/>
                  </a:lnTo>
                  <a:lnTo>
                    <a:pt x="2751582" y="102869"/>
                  </a:lnTo>
                  <a:lnTo>
                    <a:pt x="2760726" y="81533"/>
                  </a:lnTo>
                  <a:close/>
                </a:path>
              </a:pathLst>
            </a:custGeom>
            <a:solidFill>
              <a:srgbClr val="FF1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276600" y="6627875"/>
              <a:ext cx="1371600" cy="304800"/>
            </a:xfrm>
            <a:custGeom>
              <a:avLst/>
              <a:gdLst/>
              <a:ahLst/>
              <a:cxnLst/>
              <a:rect l="l" t="t" r="r" b="b"/>
              <a:pathLst>
                <a:path w="1371600" h="304800">
                  <a:moveTo>
                    <a:pt x="1371600" y="304800"/>
                  </a:moveTo>
                  <a:lnTo>
                    <a:pt x="1371600" y="228600"/>
                  </a:lnTo>
                  <a:lnTo>
                    <a:pt x="114300" y="228600"/>
                  </a:lnTo>
                  <a:lnTo>
                    <a:pt x="114300" y="76200"/>
                  </a:lnTo>
                  <a:lnTo>
                    <a:pt x="152400" y="76200"/>
                  </a:lnTo>
                  <a:lnTo>
                    <a:pt x="76200" y="0"/>
                  </a:lnTo>
                  <a:lnTo>
                    <a:pt x="0" y="76200"/>
                  </a:lnTo>
                  <a:lnTo>
                    <a:pt x="38100" y="76200"/>
                  </a:lnTo>
                  <a:lnTo>
                    <a:pt x="38100" y="304800"/>
                  </a:lnTo>
                  <a:lnTo>
                    <a:pt x="1371600" y="304800"/>
                  </a:lnTo>
                  <a:close/>
                </a:path>
              </a:pathLst>
            </a:custGeom>
            <a:solidFill>
              <a:srgbClr val="005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246120" y="6610350"/>
              <a:ext cx="1415415" cy="335280"/>
            </a:xfrm>
            <a:custGeom>
              <a:avLst/>
              <a:gdLst/>
              <a:ahLst/>
              <a:cxnLst/>
              <a:rect l="l" t="t" r="r" b="b"/>
              <a:pathLst>
                <a:path w="1415414" h="335279">
                  <a:moveTo>
                    <a:pt x="214122" y="106680"/>
                  </a:moveTo>
                  <a:lnTo>
                    <a:pt x="106679" y="0"/>
                  </a:lnTo>
                  <a:lnTo>
                    <a:pt x="0" y="106680"/>
                  </a:lnTo>
                  <a:lnTo>
                    <a:pt x="30479" y="106680"/>
                  </a:lnTo>
                  <a:lnTo>
                    <a:pt x="30479" y="81534"/>
                  </a:lnTo>
                  <a:lnTo>
                    <a:pt x="60960" y="81534"/>
                  </a:lnTo>
                  <a:lnTo>
                    <a:pt x="98297" y="44196"/>
                  </a:lnTo>
                  <a:lnTo>
                    <a:pt x="98297" y="26670"/>
                  </a:lnTo>
                  <a:lnTo>
                    <a:pt x="115824" y="26670"/>
                  </a:lnTo>
                  <a:lnTo>
                    <a:pt x="115824" y="44196"/>
                  </a:lnTo>
                  <a:lnTo>
                    <a:pt x="153161" y="81534"/>
                  </a:lnTo>
                  <a:lnTo>
                    <a:pt x="182879" y="81534"/>
                  </a:lnTo>
                  <a:lnTo>
                    <a:pt x="182879" y="106680"/>
                  </a:lnTo>
                  <a:lnTo>
                    <a:pt x="214122" y="106680"/>
                  </a:lnTo>
                  <a:close/>
                </a:path>
                <a:path w="1415414" h="335279">
                  <a:moveTo>
                    <a:pt x="60960" y="81534"/>
                  </a:moveTo>
                  <a:lnTo>
                    <a:pt x="30479" y="81534"/>
                  </a:lnTo>
                  <a:lnTo>
                    <a:pt x="39624" y="102870"/>
                  </a:lnTo>
                  <a:lnTo>
                    <a:pt x="60960" y="81534"/>
                  </a:lnTo>
                  <a:close/>
                </a:path>
                <a:path w="1415414" h="335279">
                  <a:moveTo>
                    <a:pt x="81534" y="310134"/>
                  </a:moveTo>
                  <a:lnTo>
                    <a:pt x="81534" y="81534"/>
                  </a:lnTo>
                  <a:lnTo>
                    <a:pt x="60960" y="81534"/>
                  </a:lnTo>
                  <a:lnTo>
                    <a:pt x="39624" y="102870"/>
                  </a:lnTo>
                  <a:lnTo>
                    <a:pt x="30479" y="81534"/>
                  </a:lnTo>
                  <a:lnTo>
                    <a:pt x="30479" y="106680"/>
                  </a:lnTo>
                  <a:lnTo>
                    <a:pt x="56387" y="106680"/>
                  </a:lnTo>
                  <a:lnTo>
                    <a:pt x="56387" y="93726"/>
                  </a:lnTo>
                  <a:lnTo>
                    <a:pt x="68579" y="106680"/>
                  </a:lnTo>
                  <a:lnTo>
                    <a:pt x="68579" y="310134"/>
                  </a:lnTo>
                  <a:lnTo>
                    <a:pt x="81534" y="310134"/>
                  </a:lnTo>
                  <a:close/>
                </a:path>
                <a:path w="1415414" h="335279">
                  <a:moveTo>
                    <a:pt x="68579" y="106680"/>
                  </a:moveTo>
                  <a:lnTo>
                    <a:pt x="56387" y="93726"/>
                  </a:lnTo>
                  <a:lnTo>
                    <a:pt x="56387" y="106680"/>
                  </a:lnTo>
                  <a:lnTo>
                    <a:pt x="68579" y="106680"/>
                  </a:lnTo>
                  <a:close/>
                </a:path>
                <a:path w="1415414" h="335279">
                  <a:moveTo>
                    <a:pt x="81534" y="335280"/>
                  </a:moveTo>
                  <a:lnTo>
                    <a:pt x="81534" y="322326"/>
                  </a:lnTo>
                  <a:lnTo>
                    <a:pt x="68579" y="310134"/>
                  </a:lnTo>
                  <a:lnTo>
                    <a:pt x="68579" y="106680"/>
                  </a:lnTo>
                  <a:lnTo>
                    <a:pt x="56387" y="106680"/>
                  </a:lnTo>
                  <a:lnTo>
                    <a:pt x="56387" y="335280"/>
                  </a:lnTo>
                  <a:lnTo>
                    <a:pt x="81534" y="335280"/>
                  </a:lnTo>
                  <a:close/>
                </a:path>
                <a:path w="1415414" h="335279">
                  <a:moveTo>
                    <a:pt x="1402080" y="310133"/>
                  </a:moveTo>
                  <a:lnTo>
                    <a:pt x="68579" y="310134"/>
                  </a:lnTo>
                  <a:lnTo>
                    <a:pt x="81534" y="322326"/>
                  </a:lnTo>
                  <a:lnTo>
                    <a:pt x="81534" y="335280"/>
                  </a:lnTo>
                  <a:lnTo>
                    <a:pt x="1389888" y="335279"/>
                  </a:lnTo>
                  <a:lnTo>
                    <a:pt x="1389888" y="322325"/>
                  </a:lnTo>
                  <a:lnTo>
                    <a:pt x="1402080" y="310133"/>
                  </a:lnTo>
                  <a:close/>
                </a:path>
                <a:path w="1415414" h="335279">
                  <a:moveTo>
                    <a:pt x="115824" y="26670"/>
                  </a:moveTo>
                  <a:lnTo>
                    <a:pt x="98297" y="26670"/>
                  </a:lnTo>
                  <a:lnTo>
                    <a:pt x="107060" y="35432"/>
                  </a:lnTo>
                  <a:lnTo>
                    <a:pt x="115824" y="26670"/>
                  </a:lnTo>
                  <a:close/>
                </a:path>
                <a:path w="1415414" h="335279">
                  <a:moveTo>
                    <a:pt x="107060" y="35433"/>
                  </a:moveTo>
                  <a:lnTo>
                    <a:pt x="98297" y="26670"/>
                  </a:lnTo>
                  <a:lnTo>
                    <a:pt x="98297" y="44196"/>
                  </a:lnTo>
                  <a:lnTo>
                    <a:pt x="107060" y="35433"/>
                  </a:lnTo>
                  <a:close/>
                </a:path>
                <a:path w="1415414" h="335279">
                  <a:moveTo>
                    <a:pt x="115824" y="44196"/>
                  </a:moveTo>
                  <a:lnTo>
                    <a:pt x="115824" y="26670"/>
                  </a:lnTo>
                  <a:lnTo>
                    <a:pt x="107060" y="35433"/>
                  </a:lnTo>
                  <a:lnTo>
                    <a:pt x="115824" y="44196"/>
                  </a:lnTo>
                  <a:close/>
                </a:path>
                <a:path w="1415414" h="335279">
                  <a:moveTo>
                    <a:pt x="182879" y="106680"/>
                  </a:moveTo>
                  <a:lnTo>
                    <a:pt x="182879" y="81534"/>
                  </a:lnTo>
                  <a:lnTo>
                    <a:pt x="174497" y="102870"/>
                  </a:lnTo>
                  <a:lnTo>
                    <a:pt x="153161" y="81534"/>
                  </a:lnTo>
                  <a:lnTo>
                    <a:pt x="132587" y="81534"/>
                  </a:lnTo>
                  <a:lnTo>
                    <a:pt x="132587" y="259080"/>
                  </a:lnTo>
                  <a:lnTo>
                    <a:pt x="144779" y="259080"/>
                  </a:lnTo>
                  <a:lnTo>
                    <a:pt x="144779" y="106680"/>
                  </a:lnTo>
                  <a:lnTo>
                    <a:pt x="157734" y="93726"/>
                  </a:lnTo>
                  <a:lnTo>
                    <a:pt x="157734" y="106680"/>
                  </a:lnTo>
                  <a:lnTo>
                    <a:pt x="182879" y="106680"/>
                  </a:lnTo>
                  <a:close/>
                </a:path>
                <a:path w="1415414" h="335279">
                  <a:moveTo>
                    <a:pt x="157734" y="106680"/>
                  </a:moveTo>
                  <a:lnTo>
                    <a:pt x="157734" y="93726"/>
                  </a:lnTo>
                  <a:lnTo>
                    <a:pt x="144779" y="106680"/>
                  </a:lnTo>
                  <a:lnTo>
                    <a:pt x="157734" y="106680"/>
                  </a:lnTo>
                  <a:close/>
                </a:path>
                <a:path w="1415414" h="335279">
                  <a:moveTo>
                    <a:pt x="157734" y="233934"/>
                  </a:moveTo>
                  <a:lnTo>
                    <a:pt x="157734" y="106680"/>
                  </a:lnTo>
                  <a:lnTo>
                    <a:pt x="144779" y="106680"/>
                  </a:lnTo>
                  <a:lnTo>
                    <a:pt x="144779" y="233934"/>
                  </a:lnTo>
                  <a:lnTo>
                    <a:pt x="157734" y="233934"/>
                  </a:lnTo>
                  <a:close/>
                </a:path>
                <a:path w="1415414" h="335279">
                  <a:moveTo>
                    <a:pt x="1415034" y="335279"/>
                  </a:moveTo>
                  <a:lnTo>
                    <a:pt x="1415034" y="233933"/>
                  </a:lnTo>
                  <a:lnTo>
                    <a:pt x="144779" y="233934"/>
                  </a:lnTo>
                  <a:lnTo>
                    <a:pt x="157734" y="246126"/>
                  </a:lnTo>
                  <a:lnTo>
                    <a:pt x="157734" y="259080"/>
                  </a:lnTo>
                  <a:lnTo>
                    <a:pt x="1389888" y="259079"/>
                  </a:lnTo>
                  <a:lnTo>
                    <a:pt x="1389888" y="246125"/>
                  </a:lnTo>
                  <a:lnTo>
                    <a:pt x="1402080" y="259079"/>
                  </a:lnTo>
                  <a:lnTo>
                    <a:pt x="1402080" y="335279"/>
                  </a:lnTo>
                  <a:lnTo>
                    <a:pt x="1415034" y="335279"/>
                  </a:lnTo>
                  <a:close/>
                </a:path>
                <a:path w="1415414" h="335279">
                  <a:moveTo>
                    <a:pt x="157734" y="259080"/>
                  </a:moveTo>
                  <a:lnTo>
                    <a:pt x="157734" y="246126"/>
                  </a:lnTo>
                  <a:lnTo>
                    <a:pt x="144779" y="233934"/>
                  </a:lnTo>
                  <a:lnTo>
                    <a:pt x="144779" y="259080"/>
                  </a:lnTo>
                  <a:lnTo>
                    <a:pt x="157734" y="259080"/>
                  </a:lnTo>
                  <a:close/>
                </a:path>
                <a:path w="1415414" h="335279">
                  <a:moveTo>
                    <a:pt x="182879" y="81534"/>
                  </a:moveTo>
                  <a:lnTo>
                    <a:pt x="153161" y="81534"/>
                  </a:lnTo>
                  <a:lnTo>
                    <a:pt x="174497" y="102870"/>
                  </a:lnTo>
                  <a:lnTo>
                    <a:pt x="182879" y="81534"/>
                  </a:lnTo>
                  <a:close/>
                </a:path>
                <a:path w="1415414" h="335279">
                  <a:moveTo>
                    <a:pt x="1402080" y="259079"/>
                  </a:moveTo>
                  <a:lnTo>
                    <a:pt x="1389888" y="246125"/>
                  </a:lnTo>
                  <a:lnTo>
                    <a:pt x="1389888" y="259079"/>
                  </a:lnTo>
                  <a:lnTo>
                    <a:pt x="1402080" y="259079"/>
                  </a:lnTo>
                  <a:close/>
                </a:path>
                <a:path w="1415414" h="335279">
                  <a:moveTo>
                    <a:pt x="1402080" y="310133"/>
                  </a:moveTo>
                  <a:lnTo>
                    <a:pt x="1402080" y="259079"/>
                  </a:lnTo>
                  <a:lnTo>
                    <a:pt x="1389888" y="259079"/>
                  </a:lnTo>
                  <a:lnTo>
                    <a:pt x="1389888" y="310133"/>
                  </a:lnTo>
                  <a:lnTo>
                    <a:pt x="1402080" y="310133"/>
                  </a:lnTo>
                  <a:close/>
                </a:path>
                <a:path w="1415414" h="335279">
                  <a:moveTo>
                    <a:pt x="1402080" y="335279"/>
                  </a:moveTo>
                  <a:lnTo>
                    <a:pt x="1402080" y="310133"/>
                  </a:lnTo>
                  <a:lnTo>
                    <a:pt x="1389888" y="322325"/>
                  </a:lnTo>
                  <a:lnTo>
                    <a:pt x="1389888" y="335279"/>
                  </a:lnTo>
                  <a:lnTo>
                    <a:pt x="1402080" y="335279"/>
                  </a:lnTo>
                  <a:close/>
                </a:path>
              </a:pathLst>
            </a:custGeom>
            <a:solidFill>
              <a:srgbClr val="FF1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733800" y="6639305"/>
              <a:ext cx="3352800" cy="517525"/>
            </a:xfrm>
            <a:custGeom>
              <a:avLst/>
              <a:gdLst/>
              <a:ahLst/>
              <a:cxnLst/>
              <a:rect l="l" t="t" r="r" b="b"/>
              <a:pathLst>
                <a:path w="3352800" h="517525">
                  <a:moveTo>
                    <a:pt x="3352799" y="517398"/>
                  </a:moveTo>
                  <a:lnTo>
                    <a:pt x="3352799" y="0"/>
                  </a:lnTo>
                  <a:lnTo>
                    <a:pt x="0" y="0"/>
                  </a:lnTo>
                  <a:lnTo>
                    <a:pt x="0" y="517398"/>
                  </a:lnTo>
                  <a:lnTo>
                    <a:pt x="3352799" y="5173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3908552" y="6684571"/>
            <a:ext cx="3002915" cy="4375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46355">
              <a:lnSpc>
                <a:spcPts val="1680"/>
              </a:lnSpc>
              <a:spcBef>
                <a:spcPts val="20"/>
              </a:spcBef>
            </a:pPr>
            <a:r>
              <a:rPr sz="1400" i="1" dirty="0">
                <a:latin typeface="Arial" panose="020B0604020202020204"/>
                <a:cs typeface="Arial" panose="020B0604020202020204"/>
              </a:rPr>
              <a:t>The</a:t>
            </a:r>
            <a:r>
              <a:rPr sz="14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spc="-10" dirty="0">
                <a:latin typeface="Arial" panose="020B0604020202020204"/>
                <a:cs typeface="Arial" panose="020B0604020202020204"/>
              </a:rPr>
              <a:t>truth-</a:t>
            </a:r>
            <a:r>
              <a:rPr sz="1400" i="1" dirty="0">
                <a:latin typeface="Arial" panose="020B0604020202020204"/>
                <a:cs typeface="Arial" panose="020B0604020202020204"/>
              </a:rPr>
              <a:t>tables</a:t>
            </a:r>
            <a:r>
              <a:rPr sz="14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are</a:t>
            </a:r>
            <a:r>
              <a:rPr sz="1400" i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equal;</a:t>
            </a:r>
            <a:r>
              <a:rPr sz="14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spc="-10" dirty="0">
                <a:latin typeface="Arial" panose="020B0604020202020204"/>
                <a:cs typeface="Arial" panose="020B0604020202020204"/>
              </a:rPr>
              <a:t>therefore,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the</a:t>
            </a:r>
            <a:r>
              <a:rPr sz="1400" i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Boolean</a:t>
            </a:r>
            <a:r>
              <a:rPr sz="1400" i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equations</a:t>
            </a:r>
            <a:r>
              <a:rPr sz="1400" i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must</a:t>
            </a:r>
            <a:r>
              <a:rPr sz="1400" i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dirty="0">
                <a:latin typeface="Arial" panose="020B0604020202020204"/>
                <a:cs typeface="Arial" panose="020B0604020202020204"/>
              </a:rPr>
              <a:t>be</a:t>
            </a:r>
            <a:r>
              <a:rPr sz="1400" i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400" i="1" spc="-10" dirty="0">
                <a:latin typeface="Arial" panose="020B0604020202020204"/>
                <a:cs typeface="Arial" panose="020B0604020202020204"/>
              </a:rPr>
              <a:t>equal.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1373" y="569085"/>
            <a:ext cx="24168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436369"/>
            <a:ext cx="9144000" cy="979169"/>
            <a:chOff x="457200" y="1436369"/>
            <a:chExt cx="9144000" cy="979169"/>
          </a:xfrm>
        </p:grpSpPr>
        <p:sp>
          <p:nvSpPr>
            <p:cNvPr id="4" name="object 4"/>
            <p:cNvSpPr/>
            <p:nvPr/>
          </p:nvSpPr>
          <p:spPr>
            <a:xfrm>
              <a:off x="457200" y="1436369"/>
              <a:ext cx="9144000" cy="979169"/>
            </a:xfrm>
            <a:custGeom>
              <a:avLst/>
              <a:gdLst/>
              <a:ahLst/>
              <a:cxnLst/>
              <a:rect l="l" t="t" r="r" b="b"/>
              <a:pathLst>
                <a:path w="9144000" h="979169">
                  <a:moveTo>
                    <a:pt x="9144000" y="979169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170"/>
                  </a:lnTo>
                  <a:lnTo>
                    <a:pt x="9144000" y="97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6508" y="1638299"/>
              <a:ext cx="8046719" cy="9220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364739" y="1851913"/>
            <a:ext cx="53784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 panose="020B0604020202020204"/>
                <a:cs typeface="Arial" panose="020B0604020202020204"/>
              </a:rPr>
              <a:t>Boolean</a:t>
            </a:r>
            <a:r>
              <a:rPr sz="2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&amp;</a:t>
            </a:r>
            <a:r>
              <a:rPr sz="28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latin typeface="Arial" panose="020B0604020202020204"/>
                <a:cs typeface="Arial" panose="020B0604020202020204"/>
              </a:rPr>
              <a:t>DeMorgan’s</a:t>
            </a:r>
            <a:r>
              <a:rPr sz="28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Theorems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78073" y="2590800"/>
            <a:ext cx="39370" cy="152400"/>
          </a:xfrm>
          <a:custGeom>
            <a:avLst/>
            <a:gdLst/>
            <a:ahLst/>
            <a:cxnLst/>
            <a:rect l="l" t="t" r="r" b="b"/>
            <a:pathLst>
              <a:path w="39369" h="152400">
                <a:moveTo>
                  <a:pt x="38862" y="0"/>
                </a:moveTo>
                <a:lnTo>
                  <a:pt x="762" y="0"/>
                </a:lnTo>
                <a:lnTo>
                  <a:pt x="0" y="152400"/>
                </a:lnTo>
                <a:lnTo>
                  <a:pt x="38100" y="152400"/>
                </a:lnTo>
                <a:lnTo>
                  <a:pt x="38862" y="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78073" y="285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78073" y="30099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38100" y="152400"/>
                </a:moveTo>
                <a:lnTo>
                  <a:pt x="38100" y="0"/>
                </a:lnTo>
                <a:lnTo>
                  <a:pt x="0" y="0"/>
                </a:lnTo>
                <a:lnTo>
                  <a:pt x="0" y="152400"/>
                </a:lnTo>
                <a:lnTo>
                  <a:pt x="38100" y="1524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78073" y="3276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58384" y="2554985"/>
            <a:ext cx="311150" cy="652780"/>
          </a:xfrm>
          <a:custGeom>
            <a:avLst/>
            <a:gdLst/>
            <a:ahLst/>
            <a:cxnLst/>
            <a:rect l="l" t="t" r="r" b="b"/>
            <a:pathLst>
              <a:path w="311150" h="652780">
                <a:moveTo>
                  <a:pt x="158496" y="313237"/>
                </a:moveTo>
                <a:lnTo>
                  <a:pt x="158496" y="300228"/>
                </a:lnTo>
                <a:lnTo>
                  <a:pt x="157734" y="299466"/>
                </a:lnTo>
                <a:lnTo>
                  <a:pt x="157734" y="27431"/>
                </a:lnTo>
                <a:lnTo>
                  <a:pt x="156972" y="25907"/>
                </a:lnTo>
                <a:lnTo>
                  <a:pt x="156972" y="25145"/>
                </a:lnTo>
                <a:lnTo>
                  <a:pt x="156210" y="25145"/>
                </a:lnTo>
                <a:lnTo>
                  <a:pt x="87544" y="4048"/>
                </a:lnTo>
                <a:lnTo>
                  <a:pt x="45394" y="879"/>
                </a:lnTo>
                <a:lnTo>
                  <a:pt x="15240" y="0"/>
                </a:lnTo>
                <a:lnTo>
                  <a:pt x="0" y="0"/>
                </a:lnTo>
                <a:lnTo>
                  <a:pt x="0" y="12192"/>
                </a:lnTo>
                <a:lnTo>
                  <a:pt x="15240" y="12191"/>
                </a:lnTo>
                <a:lnTo>
                  <a:pt x="45394" y="13787"/>
                </a:lnTo>
                <a:lnTo>
                  <a:pt x="117113" y="21569"/>
                </a:lnTo>
                <a:lnTo>
                  <a:pt x="146304" y="304800"/>
                </a:lnTo>
                <a:lnTo>
                  <a:pt x="147066" y="305562"/>
                </a:lnTo>
                <a:lnTo>
                  <a:pt x="147066" y="306324"/>
                </a:lnTo>
                <a:lnTo>
                  <a:pt x="147828" y="306324"/>
                </a:lnTo>
                <a:lnTo>
                  <a:pt x="147828" y="307086"/>
                </a:lnTo>
                <a:lnTo>
                  <a:pt x="150876" y="310134"/>
                </a:lnTo>
                <a:lnTo>
                  <a:pt x="158496" y="313237"/>
                </a:lnTo>
                <a:close/>
              </a:path>
              <a:path w="311150" h="652780">
                <a:moveTo>
                  <a:pt x="145923" y="619887"/>
                </a:moveTo>
                <a:lnTo>
                  <a:pt x="80600" y="635865"/>
                </a:lnTo>
                <a:lnTo>
                  <a:pt x="15240" y="639318"/>
                </a:lnTo>
                <a:lnTo>
                  <a:pt x="0" y="639318"/>
                </a:lnTo>
                <a:lnTo>
                  <a:pt x="0" y="652272"/>
                </a:lnTo>
                <a:lnTo>
                  <a:pt x="15240" y="652272"/>
                </a:lnTo>
                <a:lnTo>
                  <a:pt x="46898" y="650665"/>
                </a:lnTo>
                <a:lnTo>
                  <a:pt x="84472" y="647938"/>
                </a:lnTo>
                <a:lnTo>
                  <a:pt x="121480" y="642224"/>
                </a:lnTo>
                <a:lnTo>
                  <a:pt x="145542" y="633608"/>
                </a:lnTo>
                <a:lnTo>
                  <a:pt x="145542" y="621030"/>
                </a:lnTo>
                <a:lnTo>
                  <a:pt x="145923" y="619887"/>
                </a:lnTo>
                <a:close/>
              </a:path>
              <a:path w="311150" h="652780">
                <a:moveTo>
                  <a:pt x="146304" y="32765"/>
                </a:moveTo>
                <a:lnTo>
                  <a:pt x="146304" y="32003"/>
                </a:lnTo>
                <a:lnTo>
                  <a:pt x="145542" y="31241"/>
                </a:lnTo>
                <a:lnTo>
                  <a:pt x="146304" y="32765"/>
                </a:lnTo>
                <a:close/>
              </a:path>
              <a:path w="311150" h="652780">
                <a:moveTo>
                  <a:pt x="146304" y="302514"/>
                </a:moveTo>
                <a:lnTo>
                  <a:pt x="146304" y="32765"/>
                </a:lnTo>
                <a:lnTo>
                  <a:pt x="145542" y="31241"/>
                </a:lnTo>
                <a:lnTo>
                  <a:pt x="145542" y="301752"/>
                </a:lnTo>
                <a:lnTo>
                  <a:pt x="146304" y="302514"/>
                </a:lnTo>
                <a:close/>
              </a:path>
              <a:path w="311150" h="652780">
                <a:moveTo>
                  <a:pt x="146304" y="618744"/>
                </a:moveTo>
                <a:lnTo>
                  <a:pt x="146304" y="348996"/>
                </a:lnTo>
                <a:lnTo>
                  <a:pt x="145542" y="350520"/>
                </a:lnTo>
                <a:lnTo>
                  <a:pt x="145542" y="620268"/>
                </a:lnTo>
                <a:lnTo>
                  <a:pt x="146304" y="618744"/>
                </a:lnTo>
                <a:close/>
              </a:path>
              <a:path w="311150" h="652780">
                <a:moveTo>
                  <a:pt x="146304" y="618744"/>
                </a:moveTo>
                <a:lnTo>
                  <a:pt x="145542" y="620268"/>
                </a:lnTo>
                <a:lnTo>
                  <a:pt x="145923" y="619887"/>
                </a:lnTo>
                <a:lnTo>
                  <a:pt x="146304" y="618744"/>
                </a:lnTo>
                <a:close/>
              </a:path>
              <a:path w="311150" h="652780">
                <a:moveTo>
                  <a:pt x="288798" y="332232"/>
                </a:moveTo>
                <a:lnTo>
                  <a:pt x="258012" y="330843"/>
                </a:lnTo>
                <a:lnTo>
                  <a:pt x="217970" y="327793"/>
                </a:lnTo>
                <a:lnTo>
                  <a:pt x="205874" y="325835"/>
                </a:lnTo>
                <a:lnTo>
                  <a:pt x="180052" y="330101"/>
                </a:lnTo>
                <a:lnTo>
                  <a:pt x="151638" y="341376"/>
                </a:lnTo>
                <a:lnTo>
                  <a:pt x="149352" y="342900"/>
                </a:lnTo>
                <a:lnTo>
                  <a:pt x="149352" y="343662"/>
                </a:lnTo>
                <a:lnTo>
                  <a:pt x="148590" y="343662"/>
                </a:lnTo>
                <a:lnTo>
                  <a:pt x="147828" y="345186"/>
                </a:lnTo>
                <a:lnTo>
                  <a:pt x="147066" y="345948"/>
                </a:lnTo>
                <a:lnTo>
                  <a:pt x="146304" y="347472"/>
                </a:lnTo>
                <a:lnTo>
                  <a:pt x="146304" y="619506"/>
                </a:lnTo>
                <a:lnTo>
                  <a:pt x="145923" y="619887"/>
                </a:lnTo>
                <a:lnTo>
                  <a:pt x="145542" y="621030"/>
                </a:lnTo>
                <a:lnTo>
                  <a:pt x="145542" y="633608"/>
                </a:lnTo>
                <a:lnTo>
                  <a:pt x="150876" y="631698"/>
                </a:lnTo>
                <a:lnTo>
                  <a:pt x="152400" y="630936"/>
                </a:lnTo>
                <a:lnTo>
                  <a:pt x="154686" y="628650"/>
                </a:lnTo>
                <a:lnTo>
                  <a:pt x="155448" y="628650"/>
                </a:lnTo>
                <a:lnTo>
                  <a:pt x="155448" y="627888"/>
                </a:lnTo>
                <a:lnTo>
                  <a:pt x="156972" y="626364"/>
                </a:lnTo>
                <a:lnTo>
                  <a:pt x="156972" y="625602"/>
                </a:lnTo>
                <a:lnTo>
                  <a:pt x="157734" y="624078"/>
                </a:lnTo>
                <a:lnTo>
                  <a:pt x="157734" y="352806"/>
                </a:lnTo>
                <a:lnTo>
                  <a:pt x="158496" y="351282"/>
                </a:lnTo>
                <a:lnTo>
                  <a:pt x="158496" y="352044"/>
                </a:lnTo>
                <a:lnTo>
                  <a:pt x="160020" y="350520"/>
                </a:lnTo>
                <a:lnTo>
                  <a:pt x="164731" y="347408"/>
                </a:lnTo>
                <a:lnTo>
                  <a:pt x="174345" y="344436"/>
                </a:lnTo>
                <a:lnTo>
                  <a:pt x="179832" y="343662"/>
                </a:lnTo>
                <a:lnTo>
                  <a:pt x="188214" y="341376"/>
                </a:lnTo>
                <a:lnTo>
                  <a:pt x="236119" y="335175"/>
                </a:lnTo>
                <a:lnTo>
                  <a:pt x="274320" y="332994"/>
                </a:lnTo>
                <a:lnTo>
                  <a:pt x="288798" y="332232"/>
                </a:lnTo>
                <a:close/>
              </a:path>
              <a:path w="311150" h="652780">
                <a:moveTo>
                  <a:pt x="146304" y="619506"/>
                </a:moveTo>
                <a:lnTo>
                  <a:pt x="146304" y="618744"/>
                </a:lnTo>
                <a:lnTo>
                  <a:pt x="145923" y="619887"/>
                </a:lnTo>
                <a:lnTo>
                  <a:pt x="146304" y="619506"/>
                </a:lnTo>
                <a:close/>
              </a:path>
              <a:path w="311150" h="652780">
                <a:moveTo>
                  <a:pt x="158496" y="299847"/>
                </a:moveTo>
                <a:lnTo>
                  <a:pt x="158496" y="28193"/>
                </a:lnTo>
                <a:lnTo>
                  <a:pt x="157734" y="28193"/>
                </a:lnTo>
                <a:lnTo>
                  <a:pt x="157734" y="299466"/>
                </a:lnTo>
                <a:lnTo>
                  <a:pt x="158496" y="299847"/>
                </a:lnTo>
                <a:close/>
              </a:path>
              <a:path w="311150" h="652780">
                <a:moveTo>
                  <a:pt x="304800" y="319278"/>
                </a:moveTo>
                <a:lnTo>
                  <a:pt x="288798" y="319278"/>
                </a:lnTo>
                <a:lnTo>
                  <a:pt x="259210" y="318366"/>
                </a:lnTo>
                <a:lnTo>
                  <a:pt x="223699" y="315815"/>
                </a:lnTo>
                <a:lnTo>
                  <a:pt x="188733" y="310614"/>
                </a:lnTo>
                <a:lnTo>
                  <a:pt x="160782" y="301752"/>
                </a:lnTo>
                <a:lnTo>
                  <a:pt x="159258" y="300228"/>
                </a:lnTo>
                <a:lnTo>
                  <a:pt x="157734" y="299466"/>
                </a:lnTo>
                <a:lnTo>
                  <a:pt x="158496" y="300228"/>
                </a:lnTo>
                <a:lnTo>
                  <a:pt x="158496" y="313237"/>
                </a:lnTo>
                <a:lnTo>
                  <a:pt x="178580" y="321416"/>
                </a:lnTo>
                <a:lnTo>
                  <a:pt x="205874" y="325835"/>
                </a:lnTo>
                <a:lnTo>
                  <a:pt x="218636" y="323726"/>
                </a:lnTo>
                <a:lnTo>
                  <a:pt x="258012" y="320841"/>
                </a:lnTo>
                <a:lnTo>
                  <a:pt x="288798" y="320040"/>
                </a:lnTo>
                <a:lnTo>
                  <a:pt x="304800" y="319278"/>
                </a:lnTo>
                <a:close/>
              </a:path>
              <a:path w="311150" h="652780">
                <a:moveTo>
                  <a:pt x="158496" y="352044"/>
                </a:moveTo>
                <a:lnTo>
                  <a:pt x="158496" y="351282"/>
                </a:lnTo>
                <a:lnTo>
                  <a:pt x="157734" y="352806"/>
                </a:lnTo>
                <a:lnTo>
                  <a:pt x="158496" y="352044"/>
                </a:lnTo>
                <a:close/>
              </a:path>
              <a:path w="311150" h="652780">
                <a:moveTo>
                  <a:pt x="158496" y="623316"/>
                </a:moveTo>
                <a:lnTo>
                  <a:pt x="158496" y="352044"/>
                </a:lnTo>
                <a:lnTo>
                  <a:pt x="157734" y="352806"/>
                </a:lnTo>
                <a:lnTo>
                  <a:pt x="157734" y="624078"/>
                </a:lnTo>
                <a:lnTo>
                  <a:pt x="158496" y="623316"/>
                </a:lnTo>
                <a:close/>
              </a:path>
              <a:path w="311150" h="652780">
                <a:moveTo>
                  <a:pt x="310896" y="329184"/>
                </a:moveTo>
                <a:lnTo>
                  <a:pt x="310896" y="322326"/>
                </a:lnTo>
                <a:lnTo>
                  <a:pt x="307848" y="319278"/>
                </a:lnTo>
                <a:lnTo>
                  <a:pt x="304800" y="319278"/>
                </a:lnTo>
                <a:lnTo>
                  <a:pt x="288798" y="320040"/>
                </a:lnTo>
                <a:lnTo>
                  <a:pt x="258012" y="320841"/>
                </a:lnTo>
                <a:lnTo>
                  <a:pt x="218636" y="323726"/>
                </a:lnTo>
                <a:lnTo>
                  <a:pt x="205874" y="325835"/>
                </a:lnTo>
                <a:lnTo>
                  <a:pt x="217970" y="327793"/>
                </a:lnTo>
                <a:lnTo>
                  <a:pt x="258012" y="330843"/>
                </a:lnTo>
                <a:lnTo>
                  <a:pt x="288798" y="332232"/>
                </a:lnTo>
                <a:lnTo>
                  <a:pt x="307848" y="332232"/>
                </a:lnTo>
                <a:lnTo>
                  <a:pt x="310896" y="329184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6265926" y="3302508"/>
            <a:ext cx="311785" cy="652780"/>
            <a:chOff x="6265926" y="3302508"/>
            <a:chExt cx="311785" cy="65278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5926" y="3302508"/>
              <a:ext cx="159258" cy="9220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65926" y="3394710"/>
              <a:ext cx="311785" cy="560070"/>
            </a:xfrm>
            <a:custGeom>
              <a:avLst/>
              <a:gdLst/>
              <a:ahLst/>
              <a:cxnLst/>
              <a:rect l="l" t="t" r="r" b="b"/>
              <a:pathLst>
                <a:path w="311784" h="560070">
                  <a:moveTo>
                    <a:pt x="147066" y="527304"/>
                  </a:moveTo>
                  <a:lnTo>
                    <a:pt x="145542" y="528828"/>
                  </a:lnTo>
                  <a:lnTo>
                    <a:pt x="145542" y="528574"/>
                  </a:lnTo>
                  <a:lnTo>
                    <a:pt x="144018" y="529590"/>
                  </a:lnTo>
                  <a:lnTo>
                    <a:pt x="116203" y="538438"/>
                  </a:lnTo>
                  <a:lnTo>
                    <a:pt x="81057" y="543663"/>
                  </a:lnTo>
                  <a:lnTo>
                    <a:pt x="45387" y="546233"/>
                  </a:lnTo>
                  <a:lnTo>
                    <a:pt x="16002" y="547116"/>
                  </a:lnTo>
                  <a:lnTo>
                    <a:pt x="0" y="547116"/>
                  </a:lnTo>
                  <a:lnTo>
                    <a:pt x="0" y="560070"/>
                  </a:lnTo>
                  <a:lnTo>
                    <a:pt x="16002" y="560070"/>
                  </a:lnTo>
                  <a:lnTo>
                    <a:pt x="46565" y="558701"/>
                  </a:lnTo>
                  <a:lnTo>
                    <a:pt x="86825" y="555655"/>
                  </a:lnTo>
                  <a:lnTo>
                    <a:pt x="126153" y="549291"/>
                  </a:lnTo>
                  <a:lnTo>
                    <a:pt x="145542" y="541388"/>
                  </a:lnTo>
                  <a:lnTo>
                    <a:pt x="145542" y="528828"/>
                  </a:lnTo>
                  <a:lnTo>
                    <a:pt x="145732" y="528447"/>
                  </a:lnTo>
                  <a:lnTo>
                    <a:pt x="145732" y="541311"/>
                  </a:lnTo>
                  <a:lnTo>
                    <a:pt x="146304" y="541078"/>
                  </a:lnTo>
                  <a:lnTo>
                    <a:pt x="146304" y="528828"/>
                  </a:lnTo>
                  <a:lnTo>
                    <a:pt x="147066" y="527304"/>
                  </a:lnTo>
                  <a:close/>
                </a:path>
                <a:path w="311784" h="560070">
                  <a:moveTo>
                    <a:pt x="146304" y="527304"/>
                  </a:moveTo>
                  <a:lnTo>
                    <a:pt x="145542" y="528066"/>
                  </a:lnTo>
                  <a:lnTo>
                    <a:pt x="146050" y="527812"/>
                  </a:lnTo>
                  <a:lnTo>
                    <a:pt x="146304" y="527304"/>
                  </a:lnTo>
                  <a:close/>
                </a:path>
                <a:path w="311784" h="560070">
                  <a:moveTo>
                    <a:pt x="146304" y="528066"/>
                  </a:moveTo>
                  <a:lnTo>
                    <a:pt x="145732" y="528447"/>
                  </a:lnTo>
                  <a:lnTo>
                    <a:pt x="145542" y="528828"/>
                  </a:lnTo>
                  <a:lnTo>
                    <a:pt x="146304" y="528066"/>
                  </a:lnTo>
                  <a:close/>
                </a:path>
                <a:path w="311784" h="560070">
                  <a:moveTo>
                    <a:pt x="147066" y="527304"/>
                  </a:moveTo>
                  <a:lnTo>
                    <a:pt x="146050" y="527812"/>
                  </a:lnTo>
                  <a:lnTo>
                    <a:pt x="145732" y="528447"/>
                  </a:lnTo>
                  <a:lnTo>
                    <a:pt x="146304" y="528066"/>
                  </a:lnTo>
                  <a:lnTo>
                    <a:pt x="147066" y="527304"/>
                  </a:lnTo>
                  <a:close/>
                </a:path>
                <a:path w="311784" h="560070">
                  <a:moveTo>
                    <a:pt x="159258" y="208026"/>
                  </a:moveTo>
                  <a:lnTo>
                    <a:pt x="159258" y="0"/>
                  </a:lnTo>
                  <a:lnTo>
                    <a:pt x="146304" y="0"/>
                  </a:lnTo>
                  <a:lnTo>
                    <a:pt x="146304" y="211074"/>
                  </a:lnTo>
                  <a:lnTo>
                    <a:pt x="147066" y="211074"/>
                  </a:lnTo>
                  <a:lnTo>
                    <a:pt x="147066" y="212598"/>
                  </a:lnTo>
                  <a:lnTo>
                    <a:pt x="147828" y="214122"/>
                  </a:lnTo>
                  <a:lnTo>
                    <a:pt x="147828" y="214884"/>
                  </a:lnTo>
                  <a:lnTo>
                    <a:pt x="148590" y="214884"/>
                  </a:lnTo>
                  <a:lnTo>
                    <a:pt x="149352" y="216408"/>
                  </a:lnTo>
                  <a:lnTo>
                    <a:pt x="150114" y="216408"/>
                  </a:lnTo>
                  <a:lnTo>
                    <a:pt x="150114" y="217170"/>
                  </a:lnTo>
                  <a:lnTo>
                    <a:pt x="151638" y="217932"/>
                  </a:lnTo>
                  <a:lnTo>
                    <a:pt x="158496" y="220822"/>
                  </a:lnTo>
                  <a:lnTo>
                    <a:pt x="158496" y="207264"/>
                  </a:lnTo>
                  <a:lnTo>
                    <a:pt x="159258" y="208026"/>
                  </a:lnTo>
                  <a:close/>
                </a:path>
                <a:path w="311784" h="560070">
                  <a:moveTo>
                    <a:pt x="147066" y="527304"/>
                  </a:moveTo>
                  <a:lnTo>
                    <a:pt x="147066" y="256794"/>
                  </a:lnTo>
                  <a:lnTo>
                    <a:pt x="146304" y="256794"/>
                  </a:lnTo>
                  <a:lnTo>
                    <a:pt x="146304" y="527685"/>
                  </a:lnTo>
                  <a:lnTo>
                    <a:pt x="147066" y="527304"/>
                  </a:lnTo>
                  <a:close/>
                </a:path>
                <a:path w="311784" h="560070">
                  <a:moveTo>
                    <a:pt x="289560" y="240030"/>
                  </a:moveTo>
                  <a:lnTo>
                    <a:pt x="259946" y="239247"/>
                  </a:lnTo>
                  <a:lnTo>
                    <a:pt x="218736" y="235996"/>
                  </a:lnTo>
                  <a:lnTo>
                    <a:pt x="206084" y="233873"/>
                  </a:lnTo>
                  <a:lnTo>
                    <a:pt x="177094" y="238925"/>
                  </a:lnTo>
                  <a:lnTo>
                    <a:pt x="149352" y="251460"/>
                  </a:lnTo>
                  <a:lnTo>
                    <a:pt x="148590" y="252984"/>
                  </a:lnTo>
                  <a:lnTo>
                    <a:pt x="147828" y="252984"/>
                  </a:lnTo>
                  <a:lnTo>
                    <a:pt x="147828" y="253746"/>
                  </a:lnTo>
                  <a:lnTo>
                    <a:pt x="147066" y="255270"/>
                  </a:lnTo>
                  <a:lnTo>
                    <a:pt x="147066" y="527304"/>
                  </a:lnTo>
                  <a:lnTo>
                    <a:pt x="146304" y="528828"/>
                  </a:lnTo>
                  <a:lnTo>
                    <a:pt x="146304" y="541078"/>
                  </a:lnTo>
                  <a:lnTo>
                    <a:pt x="153924" y="537972"/>
                  </a:lnTo>
                  <a:lnTo>
                    <a:pt x="155448" y="536448"/>
                  </a:lnTo>
                  <a:lnTo>
                    <a:pt x="156210" y="536448"/>
                  </a:lnTo>
                  <a:lnTo>
                    <a:pt x="156972" y="534924"/>
                  </a:lnTo>
                  <a:lnTo>
                    <a:pt x="156972" y="534162"/>
                  </a:lnTo>
                  <a:lnTo>
                    <a:pt x="157734" y="534162"/>
                  </a:lnTo>
                  <a:lnTo>
                    <a:pt x="157734" y="533400"/>
                  </a:lnTo>
                  <a:lnTo>
                    <a:pt x="158496" y="532638"/>
                  </a:lnTo>
                  <a:lnTo>
                    <a:pt x="158496" y="259842"/>
                  </a:lnTo>
                  <a:lnTo>
                    <a:pt x="159258" y="259080"/>
                  </a:lnTo>
                  <a:lnTo>
                    <a:pt x="188118" y="249370"/>
                  </a:lnTo>
                  <a:lnTo>
                    <a:pt x="223142" y="244163"/>
                  </a:lnTo>
                  <a:lnTo>
                    <a:pt x="258781" y="241654"/>
                  </a:lnTo>
                  <a:lnTo>
                    <a:pt x="289560" y="240030"/>
                  </a:lnTo>
                  <a:close/>
                </a:path>
                <a:path w="311784" h="560070">
                  <a:moveTo>
                    <a:pt x="159258" y="208407"/>
                  </a:moveTo>
                  <a:lnTo>
                    <a:pt x="159258" y="208026"/>
                  </a:lnTo>
                  <a:lnTo>
                    <a:pt x="158496" y="207264"/>
                  </a:lnTo>
                  <a:lnTo>
                    <a:pt x="159004" y="208280"/>
                  </a:lnTo>
                  <a:lnTo>
                    <a:pt x="159258" y="208407"/>
                  </a:lnTo>
                  <a:close/>
                </a:path>
                <a:path w="311784" h="560070">
                  <a:moveTo>
                    <a:pt x="159004" y="208280"/>
                  </a:moveTo>
                  <a:lnTo>
                    <a:pt x="158496" y="207264"/>
                  </a:lnTo>
                  <a:lnTo>
                    <a:pt x="158496" y="208026"/>
                  </a:lnTo>
                  <a:lnTo>
                    <a:pt x="159004" y="208280"/>
                  </a:lnTo>
                  <a:close/>
                </a:path>
                <a:path w="311784" h="560070">
                  <a:moveTo>
                    <a:pt x="159258" y="208788"/>
                  </a:moveTo>
                  <a:lnTo>
                    <a:pt x="159004" y="208280"/>
                  </a:lnTo>
                  <a:lnTo>
                    <a:pt x="158496" y="208026"/>
                  </a:lnTo>
                  <a:lnTo>
                    <a:pt x="159258" y="208788"/>
                  </a:lnTo>
                  <a:close/>
                </a:path>
                <a:path w="311784" h="560070">
                  <a:moveTo>
                    <a:pt x="159258" y="221144"/>
                  </a:moveTo>
                  <a:lnTo>
                    <a:pt x="159258" y="208788"/>
                  </a:lnTo>
                  <a:lnTo>
                    <a:pt x="158496" y="208026"/>
                  </a:lnTo>
                  <a:lnTo>
                    <a:pt x="158496" y="220822"/>
                  </a:lnTo>
                  <a:lnTo>
                    <a:pt x="159258" y="221144"/>
                  </a:lnTo>
                  <a:close/>
                </a:path>
                <a:path w="311784" h="560070">
                  <a:moveTo>
                    <a:pt x="159258" y="259080"/>
                  </a:moveTo>
                  <a:lnTo>
                    <a:pt x="158496" y="259842"/>
                  </a:lnTo>
                  <a:lnTo>
                    <a:pt x="158496" y="260604"/>
                  </a:lnTo>
                  <a:lnTo>
                    <a:pt x="159258" y="259080"/>
                  </a:lnTo>
                  <a:close/>
                </a:path>
                <a:path w="311784" h="560070">
                  <a:moveTo>
                    <a:pt x="159258" y="259842"/>
                  </a:moveTo>
                  <a:lnTo>
                    <a:pt x="159258" y="259080"/>
                  </a:lnTo>
                  <a:lnTo>
                    <a:pt x="158496" y="260604"/>
                  </a:lnTo>
                  <a:lnTo>
                    <a:pt x="159258" y="259842"/>
                  </a:lnTo>
                  <a:close/>
                </a:path>
                <a:path w="311784" h="560070">
                  <a:moveTo>
                    <a:pt x="159258" y="529590"/>
                  </a:moveTo>
                  <a:lnTo>
                    <a:pt x="159258" y="259842"/>
                  </a:lnTo>
                  <a:lnTo>
                    <a:pt x="158496" y="260604"/>
                  </a:lnTo>
                  <a:lnTo>
                    <a:pt x="158496" y="530352"/>
                  </a:lnTo>
                  <a:lnTo>
                    <a:pt x="159258" y="529590"/>
                  </a:lnTo>
                  <a:close/>
                </a:path>
                <a:path w="311784" h="560070">
                  <a:moveTo>
                    <a:pt x="304800" y="227838"/>
                  </a:moveTo>
                  <a:lnTo>
                    <a:pt x="289560" y="227076"/>
                  </a:lnTo>
                  <a:lnTo>
                    <a:pt x="274320" y="227076"/>
                  </a:lnTo>
                  <a:lnTo>
                    <a:pt x="252607" y="226021"/>
                  </a:lnTo>
                  <a:lnTo>
                    <a:pt x="231500" y="224413"/>
                  </a:lnTo>
                  <a:lnTo>
                    <a:pt x="210467" y="222041"/>
                  </a:lnTo>
                  <a:lnTo>
                    <a:pt x="188976" y="218694"/>
                  </a:lnTo>
                  <a:lnTo>
                    <a:pt x="180594" y="216408"/>
                  </a:lnTo>
                  <a:lnTo>
                    <a:pt x="172974" y="214884"/>
                  </a:lnTo>
                  <a:lnTo>
                    <a:pt x="169926" y="213360"/>
                  </a:lnTo>
                  <a:lnTo>
                    <a:pt x="166878" y="212598"/>
                  </a:lnTo>
                  <a:lnTo>
                    <a:pt x="164592" y="211836"/>
                  </a:lnTo>
                  <a:lnTo>
                    <a:pt x="163068" y="210312"/>
                  </a:lnTo>
                  <a:lnTo>
                    <a:pt x="159004" y="208280"/>
                  </a:lnTo>
                  <a:lnTo>
                    <a:pt x="159258" y="208788"/>
                  </a:lnTo>
                  <a:lnTo>
                    <a:pt x="159258" y="221144"/>
                  </a:lnTo>
                  <a:lnTo>
                    <a:pt x="178458" y="229237"/>
                  </a:lnTo>
                  <a:lnTo>
                    <a:pt x="206084" y="233873"/>
                  </a:lnTo>
                  <a:lnTo>
                    <a:pt x="217431" y="231895"/>
                  </a:lnTo>
                  <a:lnTo>
                    <a:pt x="258781" y="228742"/>
                  </a:lnTo>
                  <a:lnTo>
                    <a:pt x="289560" y="227838"/>
                  </a:lnTo>
                  <a:lnTo>
                    <a:pt x="304800" y="227838"/>
                  </a:lnTo>
                  <a:close/>
                </a:path>
                <a:path w="311784" h="560070">
                  <a:moveTo>
                    <a:pt x="311658" y="237744"/>
                  </a:moveTo>
                  <a:lnTo>
                    <a:pt x="311658" y="230124"/>
                  </a:lnTo>
                  <a:lnTo>
                    <a:pt x="308610" y="227838"/>
                  </a:lnTo>
                  <a:lnTo>
                    <a:pt x="289560" y="227838"/>
                  </a:lnTo>
                  <a:lnTo>
                    <a:pt x="258781" y="228742"/>
                  </a:lnTo>
                  <a:lnTo>
                    <a:pt x="217431" y="231895"/>
                  </a:lnTo>
                  <a:lnTo>
                    <a:pt x="206084" y="233873"/>
                  </a:lnTo>
                  <a:lnTo>
                    <a:pt x="218736" y="235996"/>
                  </a:lnTo>
                  <a:lnTo>
                    <a:pt x="259946" y="239247"/>
                  </a:lnTo>
                  <a:lnTo>
                    <a:pt x="289560" y="240030"/>
                  </a:lnTo>
                  <a:lnTo>
                    <a:pt x="308610" y="240030"/>
                  </a:lnTo>
                  <a:lnTo>
                    <a:pt x="311658" y="237744"/>
                  </a:lnTo>
                  <a:close/>
                </a:path>
              </a:pathLst>
            </a:custGeom>
            <a:solidFill>
              <a:srgbClr val="005B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750305" y="2701544"/>
            <a:ext cx="1072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2745" marR="5080" indent="-36068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 panose="020B0604020202020204"/>
                <a:cs typeface="Arial" panose="020B0604020202020204"/>
              </a:rPr>
              <a:t>Commutative 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Law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00200" y="3705605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302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149325" y="3548128"/>
            <a:ext cx="209994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95" dirty="0">
                <a:latin typeface="Symbol" panose="05050102010706020507"/>
                <a:cs typeface="Symbol" panose="05050102010706020507"/>
              </a:rPr>
              <a:t></a:t>
            </a:r>
            <a:r>
              <a:rPr sz="1600" spc="-95" dirty="0">
                <a:latin typeface="Arial" panose="020B0604020202020204"/>
                <a:cs typeface="Arial" panose="020B0604020202020204"/>
              </a:rPr>
              <a:t>Y</a:t>
            </a:r>
            <a:r>
              <a:rPr sz="16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Z</a:t>
            </a:r>
            <a:r>
              <a:rPr sz="2100" spc="-55" dirty="0">
                <a:latin typeface="Symbol" panose="05050102010706020507"/>
                <a:cs typeface="Symbol" panose="05050102010706020507"/>
              </a:rPr>
              <a:t></a:t>
            </a:r>
            <a:r>
              <a:rPr sz="2100" spc="-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85" dirty="0">
                <a:latin typeface="Symbol" panose="05050102010706020507"/>
                <a:cs typeface="Symbol" panose="05050102010706020507"/>
              </a:rPr>
              <a:t>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Y</a:t>
            </a:r>
            <a:r>
              <a:rPr sz="2100" spc="-40" dirty="0">
                <a:latin typeface="Symbol" panose="05050102010706020507"/>
                <a:cs typeface="Symbol" panose="05050102010706020507"/>
              </a:rPr>
              <a:t></a:t>
            </a:r>
            <a:r>
              <a:rPr sz="2100" spc="-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Z </a:t>
            </a:r>
            <a:r>
              <a:rPr sz="1600" spc="-65" dirty="0">
                <a:latin typeface="Arial" panose="020B0604020202020204"/>
                <a:cs typeface="Arial" panose="020B0604020202020204"/>
              </a:rPr>
              <a:t>X</a:t>
            </a:r>
            <a:r>
              <a:rPr sz="2100" spc="-65" dirty="0">
                <a:latin typeface="Symbol" panose="05050102010706020507"/>
                <a:cs typeface="Symbol" panose="05050102010706020507"/>
              </a:rPr>
              <a:t></a:t>
            </a:r>
            <a:r>
              <a:rPr sz="1600" spc="-65" dirty="0">
                <a:latin typeface="Arial" panose="020B0604020202020204"/>
                <a:cs typeface="Arial" panose="020B0604020202020204"/>
              </a:rPr>
              <a:t>Y</a:t>
            </a:r>
            <a:r>
              <a:rPr sz="16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Z</a:t>
            </a:r>
            <a:r>
              <a:rPr sz="2100" spc="-55" dirty="0">
                <a:latin typeface="Symbol" panose="05050102010706020507"/>
                <a:cs typeface="Symbol" panose="05050102010706020507"/>
              </a:rPr>
              <a:t></a:t>
            </a:r>
            <a:r>
              <a:rPr sz="2100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XY</a:t>
            </a:r>
            <a:r>
              <a:rPr sz="1600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XZ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49338" y="2435985"/>
            <a:ext cx="129222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636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</a:t>
            </a:r>
            <a:r>
              <a:rPr sz="1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Y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Y</a:t>
            </a:r>
            <a:r>
              <a:rPr sz="16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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Y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Y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X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600" spc="-65" dirty="0">
                <a:latin typeface="Arial" panose="020B0604020202020204"/>
                <a:cs typeface="Arial" panose="020B0604020202020204"/>
              </a:rPr>
              <a:t>X</a:t>
            </a:r>
            <a:r>
              <a:rPr sz="2100" spc="-65" dirty="0">
                <a:latin typeface="Symbol" panose="05050102010706020507"/>
                <a:cs typeface="Symbol" panose="05050102010706020507"/>
              </a:rPr>
              <a:t></a:t>
            </a:r>
            <a:r>
              <a:rPr sz="1600" spc="-65" dirty="0">
                <a:latin typeface="Arial" panose="020B0604020202020204"/>
                <a:cs typeface="Arial" panose="020B0604020202020204"/>
              </a:rPr>
              <a:t>YZ</a:t>
            </a:r>
            <a:r>
              <a:rPr sz="2100" spc="-65" dirty="0">
                <a:latin typeface="Symbol" panose="05050102010706020507"/>
                <a:cs typeface="Symbol" panose="05050102010706020507"/>
              </a:rPr>
              <a:t></a:t>
            </a:r>
            <a:r>
              <a:rPr sz="2100" spc="-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55" dirty="0">
                <a:latin typeface="Symbol" panose="05050102010706020507"/>
                <a:cs typeface="Symbol" panose="05050102010706020507"/>
              </a:rPr>
              <a:t>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XY</a:t>
            </a:r>
            <a:r>
              <a:rPr sz="2100" spc="-55" dirty="0">
                <a:latin typeface="Symbol" panose="05050102010706020507"/>
                <a:cs typeface="Symbol" panose="05050102010706020507"/>
              </a:rPr>
              <a:t>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Z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78073" y="34290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38100" y="152400"/>
                </a:moveTo>
                <a:lnTo>
                  <a:pt x="38100" y="0"/>
                </a:lnTo>
                <a:lnTo>
                  <a:pt x="0" y="0"/>
                </a:lnTo>
                <a:lnTo>
                  <a:pt x="0" y="152400"/>
                </a:lnTo>
                <a:lnTo>
                  <a:pt x="38100" y="1524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77311" y="3695700"/>
            <a:ext cx="39370" cy="38100"/>
          </a:xfrm>
          <a:custGeom>
            <a:avLst/>
            <a:gdLst/>
            <a:ahLst/>
            <a:cxnLst/>
            <a:rect l="l" t="t" r="r" b="b"/>
            <a:pathLst>
              <a:path w="39369" h="38100">
                <a:moveTo>
                  <a:pt x="38862" y="0"/>
                </a:moveTo>
                <a:lnTo>
                  <a:pt x="762" y="0"/>
                </a:lnTo>
                <a:lnTo>
                  <a:pt x="0" y="38100"/>
                </a:lnTo>
                <a:lnTo>
                  <a:pt x="38100" y="38100"/>
                </a:lnTo>
                <a:lnTo>
                  <a:pt x="38862" y="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77311" y="38481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38100" y="152400"/>
                </a:moveTo>
                <a:lnTo>
                  <a:pt x="38100" y="0"/>
                </a:lnTo>
                <a:lnTo>
                  <a:pt x="0" y="0"/>
                </a:lnTo>
                <a:lnTo>
                  <a:pt x="0" y="152400"/>
                </a:lnTo>
                <a:lnTo>
                  <a:pt x="38100" y="1524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77311" y="411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77312" y="42672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38100" y="0"/>
                </a:moveTo>
                <a:lnTo>
                  <a:pt x="0" y="0"/>
                </a:lnTo>
                <a:lnTo>
                  <a:pt x="0" y="106680"/>
                </a:lnTo>
                <a:lnTo>
                  <a:pt x="0" y="152400"/>
                </a:lnTo>
                <a:lnTo>
                  <a:pt x="38100" y="152400"/>
                </a:lnTo>
                <a:lnTo>
                  <a:pt x="38100" y="106680"/>
                </a:lnTo>
                <a:lnTo>
                  <a:pt x="38100" y="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467600" y="4002785"/>
            <a:ext cx="311785" cy="652780"/>
          </a:xfrm>
          <a:custGeom>
            <a:avLst/>
            <a:gdLst/>
            <a:ahLst/>
            <a:cxnLst/>
            <a:rect l="l" t="t" r="r" b="b"/>
            <a:pathLst>
              <a:path w="311784" h="652779">
                <a:moveTo>
                  <a:pt x="145542" y="620776"/>
                </a:moveTo>
                <a:lnTo>
                  <a:pt x="80975" y="635850"/>
                </a:lnTo>
                <a:lnTo>
                  <a:pt x="16002" y="639318"/>
                </a:lnTo>
                <a:lnTo>
                  <a:pt x="0" y="639318"/>
                </a:lnTo>
                <a:lnTo>
                  <a:pt x="762" y="652272"/>
                </a:lnTo>
                <a:lnTo>
                  <a:pt x="16002" y="652272"/>
                </a:lnTo>
                <a:lnTo>
                  <a:pt x="47434" y="650671"/>
                </a:lnTo>
                <a:lnTo>
                  <a:pt x="85191" y="647903"/>
                </a:lnTo>
                <a:lnTo>
                  <a:pt x="122250" y="642175"/>
                </a:lnTo>
                <a:lnTo>
                  <a:pt x="145542" y="633882"/>
                </a:lnTo>
                <a:lnTo>
                  <a:pt x="145542" y="621030"/>
                </a:lnTo>
                <a:lnTo>
                  <a:pt x="145542" y="620776"/>
                </a:lnTo>
                <a:close/>
              </a:path>
              <a:path w="311784" h="652779">
                <a:moveTo>
                  <a:pt x="311658" y="322326"/>
                </a:moveTo>
                <a:lnTo>
                  <a:pt x="308610" y="319278"/>
                </a:lnTo>
                <a:lnTo>
                  <a:pt x="304800" y="319278"/>
                </a:lnTo>
                <a:lnTo>
                  <a:pt x="289560" y="319278"/>
                </a:lnTo>
                <a:lnTo>
                  <a:pt x="224447" y="315823"/>
                </a:lnTo>
                <a:lnTo>
                  <a:pt x="161544" y="301752"/>
                </a:lnTo>
                <a:lnTo>
                  <a:pt x="159258" y="299466"/>
                </a:lnTo>
                <a:lnTo>
                  <a:pt x="159258" y="30480"/>
                </a:lnTo>
                <a:lnTo>
                  <a:pt x="158496" y="28956"/>
                </a:lnTo>
                <a:lnTo>
                  <a:pt x="158496" y="27432"/>
                </a:lnTo>
                <a:lnTo>
                  <a:pt x="157734" y="25908"/>
                </a:lnTo>
                <a:lnTo>
                  <a:pt x="156972" y="25146"/>
                </a:lnTo>
                <a:lnTo>
                  <a:pt x="152374" y="18643"/>
                </a:lnTo>
                <a:lnTo>
                  <a:pt x="143510" y="15646"/>
                </a:lnTo>
                <a:lnTo>
                  <a:pt x="136398" y="12954"/>
                </a:lnTo>
                <a:lnTo>
                  <a:pt x="132588" y="12192"/>
                </a:lnTo>
                <a:lnTo>
                  <a:pt x="79870" y="3314"/>
                </a:lnTo>
                <a:lnTo>
                  <a:pt x="31242" y="0"/>
                </a:lnTo>
                <a:lnTo>
                  <a:pt x="762" y="0"/>
                </a:lnTo>
                <a:lnTo>
                  <a:pt x="0" y="12192"/>
                </a:lnTo>
                <a:lnTo>
                  <a:pt x="16002" y="12192"/>
                </a:lnTo>
                <a:lnTo>
                  <a:pt x="46139" y="13779"/>
                </a:lnTo>
                <a:lnTo>
                  <a:pt x="81572" y="16294"/>
                </a:lnTo>
                <a:lnTo>
                  <a:pt x="116408" y="21323"/>
                </a:lnTo>
                <a:lnTo>
                  <a:pt x="144780" y="30480"/>
                </a:lnTo>
                <a:lnTo>
                  <a:pt x="146304" y="31242"/>
                </a:lnTo>
                <a:lnTo>
                  <a:pt x="146304" y="32004"/>
                </a:lnTo>
                <a:lnTo>
                  <a:pt x="146304" y="302514"/>
                </a:lnTo>
                <a:lnTo>
                  <a:pt x="147066" y="303276"/>
                </a:lnTo>
                <a:lnTo>
                  <a:pt x="147066" y="304800"/>
                </a:lnTo>
                <a:lnTo>
                  <a:pt x="147828" y="305562"/>
                </a:lnTo>
                <a:lnTo>
                  <a:pt x="147828" y="306324"/>
                </a:lnTo>
                <a:lnTo>
                  <a:pt x="148590" y="306324"/>
                </a:lnTo>
                <a:lnTo>
                  <a:pt x="148590" y="307086"/>
                </a:lnTo>
                <a:lnTo>
                  <a:pt x="149352" y="307848"/>
                </a:lnTo>
                <a:lnTo>
                  <a:pt x="149352" y="308610"/>
                </a:lnTo>
                <a:lnTo>
                  <a:pt x="150114" y="308610"/>
                </a:lnTo>
                <a:lnTo>
                  <a:pt x="151638" y="310134"/>
                </a:lnTo>
                <a:lnTo>
                  <a:pt x="151638" y="310896"/>
                </a:lnTo>
                <a:lnTo>
                  <a:pt x="152400" y="310896"/>
                </a:lnTo>
                <a:lnTo>
                  <a:pt x="153924" y="312420"/>
                </a:lnTo>
                <a:lnTo>
                  <a:pt x="159258" y="314198"/>
                </a:lnTo>
                <a:lnTo>
                  <a:pt x="160020" y="314452"/>
                </a:lnTo>
                <a:lnTo>
                  <a:pt x="183921" y="322427"/>
                </a:lnTo>
                <a:lnTo>
                  <a:pt x="205574" y="325755"/>
                </a:lnTo>
                <a:lnTo>
                  <a:pt x="197916" y="326783"/>
                </a:lnTo>
                <a:lnTo>
                  <a:pt x="172974" y="332232"/>
                </a:lnTo>
                <a:lnTo>
                  <a:pt x="169164" y="332994"/>
                </a:lnTo>
                <a:lnTo>
                  <a:pt x="166116" y="334518"/>
                </a:lnTo>
                <a:lnTo>
                  <a:pt x="148590" y="345186"/>
                </a:lnTo>
                <a:lnTo>
                  <a:pt x="147828" y="345948"/>
                </a:lnTo>
                <a:lnTo>
                  <a:pt x="147066" y="347472"/>
                </a:lnTo>
                <a:lnTo>
                  <a:pt x="147066" y="348234"/>
                </a:lnTo>
                <a:lnTo>
                  <a:pt x="146304" y="348996"/>
                </a:lnTo>
                <a:lnTo>
                  <a:pt x="146304" y="371106"/>
                </a:lnTo>
                <a:lnTo>
                  <a:pt x="146304" y="619506"/>
                </a:lnTo>
                <a:lnTo>
                  <a:pt x="145732" y="620649"/>
                </a:lnTo>
                <a:lnTo>
                  <a:pt x="145732" y="620839"/>
                </a:lnTo>
                <a:lnTo>
                  <a:pt x="145732" y="633806"/>
                </a:lnTo>
                <a:lnTo>
                  <a:pt x="146304" y="633603"/>
                </a:lnTo>
                <a:lnTo>
                  <a:pt x="147066" y="633336"/>
                </a:lnTo>
                <a:lnTo>
                  <a:pt x="151638" y="631698"/>
                </a:lnTo>
                <a:lnTo>
                  <a:pt x="153162" y="630936"/>
                </a:lnTo>
                <a:lnTo>
                  <a:pt x="155448" y="628650"/>
                </a:lnTo>
                <a:lnTo>
                  <a:pt x="156210" y="628650"/>
                </a:lnTo>
                <a:lnTo>
                  <a:pt x="156210" y="627888"/>
                </a:lnTo>
                <a:lnTo>
                  <a:pt x="156972" y="627126"/>
                </a:lnTo>
                <a:lnTo>
                  <a:pt x="156972" y="626364"/>
                </a:lnTo>
                <a:lnTo>
                  <a:pt x="157734" y="626364"/>
                </a:lnTo>
                <a:lnTo>
                  <a:pt x="157734" y="625602"/>
                </a:lnTo>
                <a:lnTo>
                  <a:pt x="158496" y="624078"/>
                </a:lnTo>
                <a:lnTo>
                  <a:pt x="158496" y="622554"/>
                </a:lnTo>
                <a:lnTo>
                  <a:pt x="159258" y="621030"/>
                </a:lnTo>
                <a:lnTo>
                  <a:pt x="159258" y="371106"/>
                </a:lnTo>
                <a:lnTo>
                  <a:pt x="159258" y="351282"/>
                </a:lnTo>
                <a:lnTo>
                  <a:pt x="187744" y="341668"/>
                </a:lnTo>
                <a:lnTo>
                  <a:pt x="223139" y="336410"/>
                </a:lnTo>
                <a:lnTo>
                  <a:pt x="259156" y="333844"/>
                </a:lnTo>
                <a:lnTo>
                  <a:pt x="289560" y="332232"/>
                </a:lnTo>
                <a:lnTo>
                  <a:pt x="308610" y="332232"/>
                </a:lnTo>
                <a:lnTo>
                  <a:pt x="311658" y="329184"/>
                </a:lnTo>
                <a:lnTo>
                  <a:pt x="311658" y="322326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661657" y="3467353"/>
            <a:ext cx="926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720" marR="5080" indent="-287655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 panose="020B0604020202020204"/>
                <a:cs typeface="Arial" panose="020B0604020202020204"/>
              </a:rPr>
              <a:t>Associative 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Law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52654" y="4154670"/>
            <a:ext cx="905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9560" marR="5080" indent="-277495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 panose="020B0604020202020204"/>
                <a:cs typeface="Arial" panose="020B0604020202020204"/>
              </a:rPr>
              <a:t>Distributive 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Law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76400" y="5198364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302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04751" y="2425251"/>
            <a:ext cx="1270000" cy="301117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412115" algn="l"/>
              </a:tabLst>
            </a:pPr>
            <a:r>
              <a:rPr sz="1600" spc="-25" dirty="0">
                <a:latin typeface="Arial" panose="020B0604020202020204"/>
                <a:cs typeface="Arial" panose="020B0604020202020204"/>
              </a:rPr>
              <a:t>1)</a:t>
            </a:r>
            <a:r>
              <a:rPr sz="1600" dirty="0">
                <a:latin typeface="Arial" panose="020B0604020202020204"/>
                <a:cs typeface="Arial" panose="020B0604020202020204"/>
              </a:rPr>
              <a:t>	X</a:t>
            </a:r>
            <a:r>
              <a:rPr sz="16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</a:t>
            </a:r>
            <a:r>
              <a:rPr sz="16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0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0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28575">
              <a:lnSpc>
                <a:spcPct val="100000"/>
              </a:lnSpc>
              <a:spcBef>
                <a:spcPts val="965"/>
              </a:spcBef>
              <a:tabLst>
                <a:tab pos="428625" algn="l"/>
              </a:tabLst>
            </a:pPr>
            <a:r>
              <a:rPr sz="1600" spc="-25" dirty="0">
                <a:latin typeface="Arial" panose="020B0604020202020204"/>
                <a:cs typeface="Arial" panose="020B0604020202020204"/>
              </a:rPr>
              <a:t>2)</a:t>
            </a:r>
            <a:r>
              <a:rPr sz="1600" dirty="0">
                <a:latin typeface="Arial" panose="020B0604020202020204"/>
                <a:cs typeface="Arial" panose="020B0604020202020204"/>
              </a:rPr>
              <a:t>	X</a:t>
            </a:r>
            <a:r>
              <a:rPr sz="16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</a:t>
            </a:r>
            <a:r>
              <a:rPr sz="1600" spc="-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1</a:t>
            </a:r>
            <a:r>
              <a:rPr sz="1600" spc="-31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X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1750" indent="-6350">
              <a:lnSpc>
                <a:spcPct val="100000"/>
              </a:lnSpc>
              <a:spcBef>
                <a:spcPts val="960"/>
              </a:spcBef>
              <a:tabLst>
                <a:tab pos="425450" algn="l"/>
              </a:tabLst>
            </a:pPr>
            <a:r>
              <a:rPr sz="1600" spc="-25" dirty="0">
                <a:latin typeface="Arial" panose="020B0604020202020204"/>
                <a:cs typeface="Arial" panose="020B0604020202020204"/>
              </a:rPr>
              <a:t>3)</a:t>
            </a:r>
            <a:r>
              <a:rPr sz="1600" dirty="0">
                <a:latin typeface="Arial" panose="020B0604020202020204"/>
                <a:cs typeface="Arial" panose="020B0604020202020204"/>
              </a:rPr>
              <a:t>	X</a:t>
            </a:r>
            <a:r>
              <a:rPr sz="16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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X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1750">
              <a:lnSpc>
                <a:spcPct val="100000"/>
              </a:lnSpc>
              <a:spcBef>
                <a:spcPts val="1180"/>
              </a:spcBef>
              <a:tabLst>
                <a:tab pos="431165" algn="l"/>
              </a:tabLst>
            </a:pPr>
            <a:r>
              <a:rPr sz="1600" spc="-25" dirty="0">
                <a:latin typeface="Arial" panose="020B0604020202020204"/>
                <a:cs typeface="Arial" panose="020B0604020202020204"/>
              </a:rPr>
              <a:t>4)</a:t>
            </a:r>
            <a:r>
              <a:rPr sz="1600" dirty="0">
                <a:latin typeface="Arial" panose="020B0604020202020204"/>
                <a:cs typeface="Arial" panose="020B0604020202020204"/>
              </a:rPr>
              <a:t>	X</a:t>
            </a:r>
            <a:r>
              <a:rPr sz="16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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0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25400">
              <a:lnSpc>
                <a:spcPct val="100000"/>
              </a:lnSpc>
              <a:spcBef>
                <a:spcPts val="970"/>
              </a:spcBef>
              <a:tabLst>
                <a:tab pos="425450" algn="l"/>
              </a:tabLst>
            </a:pPr>
            <a:r>
              <a:rPr sz="1600" spc="-25" dirty="0">
                <a:latin typeface="Arial" panose="020B0604020202020204"/>
                <a:cs typeface="Arial" panose="020B0604020202020204"/>
              </a:rPr>
              <a:t>5)</a:t>
            </a:r>
            <a:r>
              <a:rPr sz="1600" dirty="0">
                <a:latin typeface="Arial" panose="020B0604020202020204"/>
                <a:cs typeface="Arial" panose="020B0604020202020204"/>
              </a:rPr>
              <a:t>	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0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X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28575">
              <a:lnSpc>
                <a:spcPct val="100000"/>
              </a:lnSpc>
              <a:spcBef>
                <a:spcPts val="960"/>
              </a:spcBef>
              <a:tabLst>
                <a:tab pos="428625" algn="l"/>
              </a:tabLst>
            </a:pPr>
            <a:r>
              <a:rPr sz="1600" spc="-25" dirty="0">
                <a:latin typeface="Arial" panose="020B0604020202020204"/>
                <a:cs typeface="Arial" panose="020B0604020202020204"/>
              </a:rPr>
              <a:t>6)</a:t>
            </a:r>
            <a:r>
              <a:rPr sz="1600" dirty="0">
                <a:latin typeface="Arial" panose="020B0604020202020204"/>
                <a:cs typeface="Arial" panose="020B0604020202020204"/>
              </a:rPr>
              <a:t>	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1</a:t>
            </a:r>
            <a:r>
              <a:rPr sz="1600" spc="-31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1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25400" marR="5080">
              <a:lnSpc>
                <a:spcPts val="3110"/>
              </a:lnSpc>
              <a:tabLst>
                <a:tab pos="425450" algn="l"/>
              </a:tabLst>
            </a:pPr>
            <a:r>
              <a:rPr sz="1600" spc="-25" dirty="0">
                <a:latin typeface="Arial" panose="020B0604020202020204"/>
                <a:cs typeface="Arial" panose="020B0604020202020204"/>
              </a:rPr>
              <a:t>7)</a:t>
            </a:r>
            <a:r>
              <a:rPr sz="1600" dirty="0">
                <a:latin typeface="Arial" panose="020B0604020202020204"/>
                <a:cs typeface="Arial" panose="020B0604020202020204"/>
              </a:rPr>
              <a:t>	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X 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8)</a:t>
            </a:r>
            <a:r>
              <a:rPr sz="1600" dirty="0">
                <a:latin typeface="Arial" panose="020B0604020202020204"/>
                <a:cs typeface="Arial" panose="020B0604020202020204"/>
              </a:rPr>
              <a:t>	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1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499609" y="4817364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302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158234" y="5212841"/>
            <a:ext cx="131445" cy="0"/>
          </a:xfrm>
          <a:custGeom>
            <a:avLst/>
            <a:gdLst/>
            <a:ahLst/>
            <a:cxnLst/>
            <a:rect l="l" t="t" r="r" b="b"/>
            <a:pathLst>
              <a:path w="131445">
                <a:moveTo>
                  <a:pt x="0" y="0"/>
                </a:moveTo>
                <a:lnTo>
                  <a:pt x="131064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93385" y="5212841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302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495529" y="2435985"/>
            <a:ext cx="455930" cy="301498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10A)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10B)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11A)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11B)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12A)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12B)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13A)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13B)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49344" y="5180766"/>
            <a:ext cx="13335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XY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Y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38676" y="4146631"/>
            <a:ext cx="3328670" cy="9099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2860" marR="5080" indent="-10795">
              <a:lnSpc>
                <a:spcPct val="143000"/>
              </a:lnSpc>
              <a:spcBef>
                <a:spcPts val="430"/>
              </a:spcBef>
            </a:pPr>
            <a:r>
              <a:rPr sz="2100" spc="-85" dirty="0">
                <a:latin typeface="Symbol" panose="05050102010706020507"/>
                <a:cs typeface="Symbol" panose="05050102010706020507"/>
              </a:rPr>
              <a:t>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80" dirty="0">
                <a:latin typeface="Arial" panose="020B0604020202020204"/>
                <a:cs typeface="Arial" panose="020B0604020202020204"/>
              </a:rPr>
              <a:t>Y</a:t>
            </a:r>
            <a:r>
              <a:rPr sz="2100" spc="-80" dirty="0">
                <a:latin typeface="Symbol" panose="05050102010706020507"/>
                <a:cs typeface="Symbol" panose="05050102010706020507"/>
              </a:rPr>
              <a:t></a:t>
            </a:r>
            <a:r>
              <a:rPr sz="1600" spc="-80" dirty="0">
                <a:latin typeface="Arial" panose="020B0604020202020204"/>
                <a:cs typeface="Arial" panose="020B0604020202020204"/>
              </a:rPr>
              <a:t>W</a:t>
            </a:r>
            <a:r>
              <a:rPr sz="16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Z</a:t>
            </a:r>
            <a:r>
              <a:rPr sz="2100" spc="-55" dirty="0">
                <a:latin typeface="Symbol" panose="05050102010706020507"/>
                <a:cs typeface="Symbol" panose="05050102010706020507"/>
              </a:rPr>
              <a:t></a:t>
            </a:r>
            <a:r>
              <a:rPr sz="2100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XW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XZ</a:t>
            </a:r>
            <a:r>
              <a:rPr sz="1600" spc="-15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YW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YZ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XY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Y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77311" y="4533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76550" y="4686300"/>
            <a:ext cx="39370" cy="152400"/>
          </a:xfrm>
          <a:custGeom>
            <a:avLst/>
            <a:gdLst/>
            <a:ahLst/>
            <a:cxnLst/>
            <a:rect l="l" t="t" r="r" b="b"/>
            <a:pathLst>
              <a:path w="39369" h="152400">
                <a:moveTo>
                  <a:pt x="38861" y="0"/>
                </a:moveTo>
                <a:lnTo>
                  <a:pt x="761" y="0"/>
                </a:lnTo>
                <a:lnTo>
                  <a:pt x="0" y="152400"/>
                </a:lnTo>
                <a:lnTo>
                  <a:pt x="38099" y="152400"/>
                </a:lnTo>
                <a:lnTo>
                  <a:pt x="38861" y="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76550" y="495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38100"/>
                </a:moveTo>
                <a:lnTo>
                  <a:pt x="38099" y="0"/>
                </a:lnTo>
                <a:lnTo>
                  <a:pt x="0" y="0"/>
                </a:lnTo>
                <a:lnTo>
                  <a:pt x="0" y="38100"/>
                </a:lnTo>
                <a:lnTo>
                  <a:pt x="38099" y="381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76550" y="51054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38099" y="152400"/>
                </a:moveTo>
                <a:lnTo>
                  <a:pt x="38099" y="0"/>
                </a:lnTo>
                <a:lnTo>
                  <a:pt x="0" y="0"/>
                </a:lnTo>
                <a:lnTo>
                  <a:pt x="0" y="152400"/>
                </a:lnTo>
                <a:lnTo>
                  <a:pt x="38099" y="1524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/>
          <p:cNvGrpSpPr/>
          <p:nvPr/>
        </p:nvGrpSpPr>
        <p:grpSpPr>
          <a:xfrm>
            <a:off x="457200" y="4794503"/>
            <a:ext cx="9144000" cy="1537970"/>
            <a:chOff x="457200" y="4794503"/>
            <a:chExt cx="9144000" cy="1537970"/>
          </a:xfrm>
        </p:grpSpPr>
        <p:sp>
          <p:nvSpPr>
            <p:cNvPr id="40" name="object 40"/>
            <p:cNvSpPr/>
            <p:nvPr/>
          </p:nvSpPr>
          <p:spPr>
            <a:xfrm>
              <a:off x="5486400" y="4794503"/>
              <a:ext cx="159385" cy="558800"/>
            </a:xfrm>
            <a:custGeom>
              <a:avLst/>
              <a:gdLst/>
              <a:ahLst/>
              <a:cxnLst/>
              <a:rect l="l" t="t" r="r" b="b"/>
              <a:pathLst>
                <a:path w="159385" h="558800">
                  <a:moveTo>
                    <a:pt x="159258" y="558545"/>
                  </a:moveTo>
                  <a:lnTo>
                    <a:pt x="159258" y="31241"/>
                  </a:lnTo>
                  <a:lnTo>
                    <a:pt x="158496" y="29717"/>
                  </a:lnTo>
                  <a:lnTo>
                    <a:pt x="158496" y="27431"/>
                  </a:lnTo>
                  <a:lnTo>
                    <a:pt x="157734" y="26669"/>
                  </a:lnTo>
                  <a:lnTo>
                    <a:pt x="157734" y="25907"/>
                  </a:lnTo>
                  <a:lnTo>
                    <a:pt x="156972" y="25907"/>
                  </a:lnTo>
                  <a:lnTo>
                    <a:pt x="156972" y="25145"/>
                  </a:lnTo>
                  <a:lnTo>
                    <a:pt x="156210" y="24383"/>
                  </a:lnTo>
                  <a:lnTo>
                    <a:pt x="156210" y="23621"/>
                  </a:lnTo>
                  <a:lnTo>
                    <a:pt x="155448" y="23621"/>
                  </a:lnTo>
                  <a:lnTo>
                    <a:pt x="153162" y="21335"/>
                  </a:lnTo>
                  <a:lnTo>
                    <a:pt x="150876" y="19811"/>
                  </a:lnTo>
                  <a:lnTo>
                    <a:pt x="121466" y="9729"/>
                  </a:lnTo>
                  <a:lnTo>
                    <a:pt x="84805" y="4286"/>
                  </a:lnTo>
                  <a:lnTo>
                    <a:pt x="47461" y="1652"/>
                  </a:lnTo>
                  <a:lnTo>
                    <a:pt x="16002" y="0"/>
                  </a:lnTo>
                  <a:lnTo>
                    <a:pt x="762" y="0"/>
                  </a:lnTo>
                  <a:lnTo>
                    <a:pt x="0" y="12954"/>
                  </a:lnTo>
                  <a:lnTo>
                    <a:pt x="31242" y="12953"/>
                  </a:lnTo>
                  <a:lnTo>
                    <a:pt x="50168" y="13996"/>
                  </a:lnTo>
                  <a:lnTo>
                    <a:pt x="69432" y="15440"/>
                  </a:lnTo>
                  <a:lnTo>
                    <a:pt x="88650" y="17354"/>
                  </a:lnTo>
                  <a:lnTo>
                    <a:pt x="107442" y="19811"/>
                  </a:lnTo>
                  <a:lnTo>
                    <a:pt x="116586" y="22097"/>
                  </a:lnTo>
                  <a:lnTo>
                    <a:pt x="125730" y="23621"/>
                  </a:lnTo>
                  <a:lnTo>
                    <a:pt x="130835" y="25958"/>
                  </a:lnTo>
                  <a:lnTo>
                    <a:pt x="136690" y="26835"/>
                  </a:lnTo>
                  <a:lnTo>
                    <a:pt x="143256" y="29717"/>
                  </a:lnTo>
                  <a:lnTo>
                    <a:pt x="144780" y="31241"/>
                  </a:lnTo>
                  <a:lnTo>
                    <a:pt x="145542" y="31622"/>
                  </a:lnTo>
                  <a:lnTo>
                    <a:pt x="145542" y="31241"/>
                  </a:lnTo>
                  <a:lnTo>
                    <a:pt x="146304" y="32003"/>
                  </a:lnTo>
                  <a:lnTo>
                    <a:pt x="146304" y="31241"/>
                  </a:lnTo>
                  <a:lnTo>
                    <a:pt x="146685" y="32384"/>
                  </a:lnTo>
                  <a:lnTo>
                    <a:pt x="147066" y="32765"/>
                  </a:lnTo>
                  <a:lnTo>
                    <a:pt x="147066" y="558545"/>
                  </a:lnTo>
                  <a:lnTo>
                    <a:pt x="159258" y="558545"/>
                  </a:lnTo>
                  <a:close/>
                </a:path>
                <a:path w="159385" h="558800">
                  <a:moveTo>
                    <a:pt x="146304" y="32003"/>
                  </a:moveTo>
                  <a:lnTo>
                    <a:pt x="145542" y="31241"/>
                  </a:lnTo>
                  <a:lnTo>
                    <a:pt x="145796" y="31749"/>
                  </a:lnTo>
                  <a:lnTo>
                    <a:pt x="146304" y="32003"/>
                  </a:lnTo>
                  <a:close/>
                </a:path>
                <a:path w="159385" h="558800">
                  <a:moveTo>
                    <a:pt x="145796" y="31749"/>
                  </a:moveTo>
                  <a:lnTo>
                    <a:pt x="145542" y="31241"/>
                  </a:lnTo>
                  <a:lnTo>
                    <a:pt x="145542" y="31622"/>
                  </a:lnTo>
                  <a:lnTo>
                    <a:pt x="145796" y="31749"/>
                  </a:lnTo>
                  <a:close/>
                </a:path>
                <a:path w="159385" h="558800">
                  <a:moveTo>
                    <a:pt x="147066" y="558545"/>
                  </a:moveTo>
                  <a:lnTo>
                    <a:pt x="147066" y="33527"/>
                  </a:lnTo>
                  <a:lnTo>
                    <a:pt x="146304" y="32003"/>
                  </a:lnTo>
                  <a:lnTo>
                    <a:pt x="145796" y="31749"/>
                  </a:lnTo>
                  <a:lnTo>
                    <a:pt x="146304" y="32765"/>
                  </a:lnTo>
                  <a:lnTo>
                    <a:pt x="146304" y="558545"/>
                  </a:lnTo>
                  <a:lnTo>
                    <a:pt x="147066" y="558545"/>
                  </a:lnTo>
                  <a:close/>
                </a:path>
                <a:path w="159385" h="558800">
                  <a:moveTo>
                    <a:pt x="146685" y="32384"/>
                  </a:moveTo>
                  <a:lnTo>
                    <a:pt x="146304" y="31241"/>
                  </a:lnTo>
                  <a:lnTo>
                    <a:pt x="146304" y="32003"/>
                  </a:lnTo>
                  <a:lnTo>
                    <a:pt x="146685" y="32384"/>
                  </a:lnTo>
                  <a:close/>
                </a:path>
                <a:path w="159385" h="558800">
                  <a:moveTo>
                    <a:pt x="147066" y="33527"/>
                  </a:moveTo>
                  <a:lnTo>
                    <a:pt x="146685" y="32384"/>
                  </a:lnTo>
                  <a:lnTo>
                    <a:pt x="146304" y="32003"/>
                  </a:lnTo>
                  <a:lnTo>
                    <a:pt x="147066" y="33527"/>
                  </a:lnTo>
                  <a:close/>
                </a:path>
                <a:path w="159385" h="558800">
                  <a:moveTo>
                    <a:pt x="147066" y="33527"/>
                  </a:moveTo>
                  <a:lnTo>
                    <a:pt x="147066" y="32765"/>
                  </a:lnTo>
                  <a:lnTo>
                    <a:pt x="146685" y="32384"/>
                  </a:lnTo>
                  <a:lnTo>
                    <a:pt x="147066" y="33527"/>
                  </a:lnTo>
                  <a:close/>
                </a:path>
              </a:pathLst>
            </a:custGeom>
            <a:solidFill>
              <a:srgbClr val="005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7200" y="535228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327403" y="5592317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09">
                  <a:moveTo>
                    <a:pt x="0" y="0"/>
                  </a:moveTo>
                  <a:lnTo>
                    <a:pt x="130302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327403" y="5611367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09">
                  <a:moveTo>
                    <a:pt x="0" y="0"/>
                  </a:moveTo>
                  <a:lnTo>
                    <a:pt x="130302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917698" y="5589574"/>
            <a:ext cx="9074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115" algn="l"/>
              </a:tabLst>
            </a:pPr>
            <a:r>
              <a:rPr sz="1600" spc="-25" dirty="0">
                <a:latin typeface="Arial" panose="020B0604020202020204"/>
                <a:cs typeface="Arial" panose="020B0604020202020204"/>
              </a:rPr>
              <a:t>9)</a:t>
            </a:r>
            <a:r>
              <a:rPr sz="1600" dirty="0">
                <a:latin typeface="Arial" panose="020B0604020202020204"/>
                <a:cs typeface="Arial" panose="020B0604020202020204"/>
              </a:rPr>
              <a:t>	X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X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164965" y="5605145"/>
            <a:ext cx="1328420" cy="401320"/>
            <a:chOff x="4164965" y="5605145"/>
            <a:chExt cx="1328420" cy="401320"/>
          </a:xfrm>
        </p:grpSpPr>
        <p:sp>
          <p:nvSpPr>
            <p:cNvPr id="46" name="object 46"/>
            <p:cNvSpPr/>
            <p:nvPr/>
          </p:nvSpPr>
          <p:spPr>
            <a:xfrm>
              <a:off x="4508754" y="5608320"/>
              <a:ext cx="131445" cy="0"/>
            </a:xfrm>
            <a:custGeom>
              <a:avLst/>
              <a:gdLst/>
              <a:ahLst/>
              <a:cxnLst/>
              <a:rect l="l" t="t" r="r" b="b"/>
              <a:pathLst>
                <a:path w="131445">
                  <a:moveTo>
                    <a:pt x="0" y="0"/>
                  </a:moveTo>
                  <a:lnTo>
                    <a:pt x="131064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655820" y="560832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356860" y="560832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168140" y="6003036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>
                  <a:moveTo>
                    <a:pt x="0" y="0"/>
                  </a:moveTo>
                  <a:lnTo>
                    <a:pt x="130302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655820" y="6003036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015484" y="6003036"/>
              <a:ext cx="131445" cy="0"/>
            </a:xfrm>
            <a:custGeom>
              <a:avLst/>
              <a:gdLst/>
              <a:ahLst/>
              <a:cxnLst/>
              <a:rect l="l" t="t" r="r" b="b"/>
              <a:pathLst>
                <a:path w="131445">
                  <a:moveTo>
                    <a:pt x="0" y="0"/>
                  </a:moveTo>
                  <a:lnTo>
                    <a:pt x="131064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56860" y="6003036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3495557" y="5576248"/>
            <a:ext cx="467359" cy="665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13C)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13D)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158491" y="5576248"/>
            <a:ext cx="1347470" cy="665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XY</a:t>
            </a:r>
            <a:r>
              <a:rPr sz="16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Y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XY</a:t>
            </a:r>
            <a:r>
              <a:rPr sz="16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Y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875788" y="5353050"/>
            <a:ext cx="2922270" cy="1444625"/>
            <a:chOff x="2875788" y="5353050"/>
            <a:chExt cx="2922270" cy="1444625"/>
          </a:xfrm>
        </p:grpSpPr>
        <p:sp>
          <p:nvSpPr>
            <p:cNvPr id="56" name="object 56"/>
            <p:cNvSpPr/>
            <p:nvPr/>
          </p:nvSpPr>
          <p:spPr>
            <a:xfrm>
              <a:off x="2875788" y="5353049"/>
              <a:ext cx="2922270" cy="918210"/>
            </a:xfrm>
            <a:custGeom>
              <a:avLst/>
              <a:gdLst/>
              <a:ahLst/>
              <a:cxnLst/>
              <a:rect l="l" t="t" r="r" b="b"/>
              <a:pathLst>
                <a:path w="2922270" h="918210">
                  <a:moveTo>
                    <a:pt x="38100" y="857250"/>
                  </a:moveTo>
                  <a:lnTo>
                    <a:pt x="0" y="857250"/>
                  </a:lnTo>
                  <a:lnTo>
                    <a:pt x="0" y="895350"/>
                  </a:lnTo>
                  <a:lnTo>
                    <a:pt x="38100" y="895350"/>
                  </a:lnTo>
                  <a:lnTo>
                    <a:pt x="38100" y="857250"/>
                  </a:lnTo>
                  <a:close/>
                </a:path>
                <a:path w="2922270" h="918210">
                  <a:moveTo>
                    <a:pt x="38100" y="590550"/>
                  </a:moveTo>
                  <a:lnTo>
                    <a:pt x="0" y="590550"/>
                  </a:lnTo>
                  <a:lnTo>
                    <a:pt x="0" y="742950"/>
                  </a:lnTo>
                  <a:lnTo>
                    <a:pt x="38100" y="742950"/>
                  </a:lnTo>
                  <a:lnTo>
                    <a:pt x="38100" y="590550"/>
                  </a:lnTo>
                  <a:close/>
                </a:path>
                <a:path w="2922270" h="918210">
                  <a:moveTo>
                    <a:pt x="38862" y="438150"/>
                  </a:moveTo>
                  <a:lnTo>
                    <a:pt x="762" y="438150"/>
                  </a:lnTo>
                  <a:lnTo>
                    <a:pt x="0" y="476250"/>
                  </a:lnTo>
                  <a:lnTo>
                    <a:pt x="38100" y="476250"/>
                  </a:lnTo>
                  <a:lnTo>
                    <a:pt x="38862" y="438150"/>
                  </a:lnTo>
                  <a:close/>
                </a:path>
                <a:path w="2922270" h="918210">
                  <a:moveTo>
                    <a:pt x="38862" y="171450"/>
                  </a:moveTo>
                  <a:lnTo>
                    <a:pt x="762" y="171450"/>
                  </a:lnTo>
                  <a:lnTo>
                    <a:pt x="762" y="323850"/>
                  </a:lnTo>
                  <a:lnTo>
                    <a:pt x="38862" y="323850"/>
                  </a:lnTo>
                  <a:lnTo>
                    <a:pt x="38862" y="171450"/>
                  </a:lnTo>
                  <a:close/>
                </a:path>
                <a:path w="2922270" h="918210">
                  <a:moveTo>
                    <a:pt x="38862" y="19050"/>
                  </a:moveTo>
                  <a:lnTo>
                    <a:pt x="762" y="19050"/>
                  </a:lnTo>
                  <a:lnTo>
                    <a:pt x="762" y="57150"/>
                  </a:lnTo>
                  <a:lnTo>
                    <a:pt x="38862" y="57150"/>
                  </a:lnTo>
                  <a:lnTo>
                    <a:pt x="38862" y="19050"/>
                  </a:lnTo>
                  <a:close/>
                </a:path>
                <a:path w="2922270" h="918210">
                  <a:moveTo>
                    <a:pt x="2756154" y="886460"/>
                  </a:moveTo>
                  <a:lnTo>
                    <a:pt x="2754630" y="886968"/>
                  </a:lnTo>
                  <a:lnTo>
                    <a:pt x="2753106" y="888492"/>
                  </a:lnTo>
                  <a:lnTo>
                    <a:pt x="2747594" y="891628"/>
                  </a:lnTo>
                  <a:lnTo>
                    <a:pt x="2741371" y="892263"/>
                  </a:lnTo>
                  <a:lnTo>
                    <a:pt x="2735580" y="894588"/>
                  </a:lnTo>
                  <a:lnTo>
                    <a:pt x="2727198" y="896112"/>
                  </a:lnTo>
                  <a:lnTo>
                    <a:pt x="2679192" y="902474"/>
                  </a:lnTo>
                  <a:lnTo>
                    <a:pt x="2641092" y="904494"/>
                  </a:lnTo>
                  <a:lnTo>
                    <a:pt x="2626614" y="905256"/>
                  </a:lnTo>
                  <a:lnTo>
                    <a:pt x="2610612" y="905256"/>
                  </a:lnTo>
                  <a:lnTo>
                    <a:pt x="2611374" y="918210"/>
                  </a:lnTo>
                  <a:lnTo>
                    <a:pt x="2626614" y="917448"/>
                  </a:lnTo>
                  <a:lnTo>
                    <a:pt x="2657462" y="916660"/>
                  </a:lnTo>
                  <a:lnTo>
                    <a:pt x="2695740" y="913892"/>
                  </a:lnTo>
                  <a:lnTo>
                    <a:pt x="2733357" y="907961"/>
                  </a:lnTo>
                  <a:lnTo>
                    <a:pt x="2756154" y="899820"/>
                  </a:lnTo>
                  <a:lnTo>
                    <a:pt x="2756154" y="886968"/>
                  </a:lnTo>
                  <a:lnTo>
                    <a:pt x="2756154" y="886460"/>
                  </a:lnTo>
                  <a:close/>
                </a:path>
                <a:path w="2922270" h="918210">
                  <a:moveTo>
                    <a:pt x="2922270" y="176022"/>
                  </a:moveTo>
                  <a:lnTo>
                    <a:pt x="2919222" y="173736"/>
                  </a:lnTo>
                  <a:lnTo>
                    <a:pt x="2915412" y="173710"/>
                  </a:lnTo>
                  <a:lnTo>
                    <a:pt x="2900172" y="172974"/>
                  </a:lnTo>
                  <a:lnTo>
                    <a:pt x="2884932" y="172948"/>
                  </a:lnTo>
                  <a:lnTo>
                    <a:pt x="2863634" y="171970"/>
                  </a:lnTo>
                  <a:lnTo>
                    <a:pt x="2859633" y="171665"/>
                  </a:lnTo>
                  <a:lnTo>
                    <a:pt x="2859633" y="175234"/>
                  </a:lnTo>
                  <a:lnTo>
                    <a:pt x="2833751" y="177266"/>
                  </a:lnTo>
                  <a:lnTo>
                    <a:pt x="2859633" y="175234"/>
                  </a:lnTo>
                  <a:lnTo>
                    <a:pt x="2859633" y="171665"/>
                  </a:lnTo>
                  <a:lnTo>
                    <a:pt x="2842463" y="170332"/>
                  </a:lnTo>
                  <a:lnTo>
                    <a:pt x="2821368" y="167906"/>
                  </a:lnTo>
                  <a:lnTo>
                    <a:pt x="2799588" y="164592"/>
                  </a:lnTo>
                  <a:lnTo>
                    <a:pt x="2791206" y="162306"/>
                  </a:lnTo>
                  <a:lnTo>
                    <a:pt x="2783586" y="160782"/>
                  </a:lnTo>
                  <a:lnTo>
                    <a:pt x="2780538" y="159258"/>
                  </a:lnTo>
                  <a:lnTo>
                    <a:pt x="2777490" y="158496"/>
                  </a:lnTo>
                  <a:lnTo>
                    <a:pt x="2775204" y="157734"/>
                  </a:lnTo>
                  <a:lnTo>
                    <a:pt x="2773680" y="156210"/>
                  </a:lnTo>
                  <a:lnTo>
                    <a:pt x="2769870" y="154305"/>
                  </a:lnTo>
                  <a:lnTo>
                    <a:pt x="2769870" y="153924"/>
                  </a:lnTo>
                  <a:lnTo>
                    <a:pt x="2769870" y="0"/>
                  </a:lnTo>
                  <a:lnTo>
                    <a:pt x="2756916" y="0"/>
                  </a:lnTo>
                  <a:lnTo>
                    <a:pt x="2756916" y="156972"/>
                  </a:lnTo>
                  <a:lnTo>
                    <a:pt x="2757678" y="156972"/>
                  </a:lnTo>
                  <a:lnTo>
                    <a:pt x="2757678" y="158496"/>
                  </a:lnTo>
                  <a:lnTo>
                    <a:pt x="2758440" y="160020"/>
                  </a:lnTo>
                  <a:lnTo>
                    <a:pt x="2759202" y="160782"/>
                  </a:lnTo>
                  <a:lnTo>
                    <a:pt x="2759964" y="162306"/>
                  </a:lnTo>
                  <a:lnTo>
                    <a:pt x="2760726" y="162306"/>
                  </a:lnTo>
                  <a:lnTo>
                    <a:pt x="2760726" y="163068"/>
                  </a:lnTo>
                  <a:lnTo>
                    <a:pt x="2762250" y="163830"/>
                  </a:lnTo>
                  <a:lnTo>
                    <a:pt x="2769108" y="166687"/>
                  </a:lnTo>
                  <a:lnTo>
                    <a:pt x="2769870" y="167005"/>
                  </a:lnTo>
                  <a:lnTo>
                    <a:pt x="2789161" y="175018"/>
                  </a:lnTo>
                  <a:lnTo>
                    <a:pt x="2816148" y="179552"/>
                  </a:lnTo>
                  <a:lnTo>
                    <a:pt x="2808236" y="180581"/>
                  </a:lnTo>
                  <a:lnTo>
                    <a:pt x="2783586" y="185928"/>
                  </a:lnTo>
                  <a:lnTo>
                    <a:pt x="2779776" y="186690"/>
                  </a:lnTo>
                  <a:lnTo>
                    <a:pt x="2776728" y="188214"/>
                  </a:lnTo>
                  <a:lnTo>
                    <a:pt x="2772918" y="188976"/>
                  </a:lnTo>
                  <a:lnTo>
                    <a:pt x="2769870" y="190500"/>
                  </a:lnTo>
                  <a:lnTo>
                    <a:pt x="2760726" y="196596"/>
                  </a:lnTo>
                  <a:lnTo>
                    <a:pt x="2759964" y="197358"/>
                  </a:lnTo>
                  <a:lnTo>
                    <a:pt x="2759202" y="198882"/>
                  </a:lnTo>
                  <a:lnTo>
                    <a:pt x="2758440" y="199644"/>
                  </a:lnTo>
                  <a:lnTo>
                    <a:pt x="2757678" y="201168"/>
                  </a:lnTo>
                  <a:lnTo>
                    <a:pt x="2757678" y="201930"/>
                  </a:lnTo>
                  <a:lnTo>
                    <a:pt x="2756916" y="202692"/>
                  </a:lnTo>
                  <a:lnTo>
                    <a:pt x="2756916" y="885444"/>
                  </a:lnTo>
                  <a:lnTo>
                    <a:pt x="2756458" y="886358"/>
                  </a:lnTo>
                  <a:lnTo>
                    <a:pt x="2756458" y="886663"/>
                  </a:lnTo>
                  <a:lnTo>
                    <a:pt x="2756458" y="899706"/>
                  </a:lnTo>
                  <a:lnTo>
                    <a:pt x="2762250" y="897636"/>
                  </a:lnTo>
                  <a:lnTo>
                    <a:pt x="2763774" y="896874"/>
                  </a:lnTo>
                  <a:lnTo>
                    <a:pt x="2766822" y="893826"/>
                  </a:lnTo>
                  <a:lnTo>
                    <a:pt x="2767584" y="892302"/>
                  </a:lnTo>
                  <a:lnTo>
                    <a:pt x="2768346" y="891540"/>
                  </a:lnTo>
                  <a:lnTo>
                    <a:pt x="2769108" y="890016"/>
                  </a:lnTo>
                  <a:lnTo>
                    <a:pt x="2769108" y="888492"/>
                  </a:lnTo>
                  <a:lnTo>
                    <a:pt x="2769870" y="886968"/>
                  </a:lnTo>
                  <a:lnTo>
                    <a:pt x="2769870" y="204978"/>
                  </a:lnTo>
                  <a:lnTo>
                    <a:pt x="2798356" y="195364"/>
                  </a:lnTo>
                  <a:lnTo>
                    <a:pt x="2833827" y="190106"/>
                  </a:lnTo>
                  <a:lnTo>
                    <a:pt x="2870441" y="187502"/>
                  </a:lnTo>
                  <a:lnTo>
                    <a:pt x="2900172" y="185928"/>
                  </a:lnTo>
                  <a:lnTo>
                    <a:pt x="2915412" y="185928"/>
                  </a:lnTo>
                  <a:lnTo>
                    <a:pt x="2919222" y="185928"/>
                  </a:lnTo>
                  <a:lnTo>
                    <a:pt x="2922270" y="182880"/>
                  </a:lnTo>
                  <a:lnTo>
                    <a:pt x="2922270" y="176022"/>
                  </a:lnTo>
                  <a:close/>
                </a:path>
              </a:pathLst>
            </a:custGeom>
            <a:solidFill>
              <a:srgbClr val="005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104638" y="6793992"/>
              <a:ext cx="134620" cy="0"/>
            </a:xfrm>
            <a:custGeom>
              <a:avLst/>
              <a:gdLst/>
              <a:ahLst/>
              <a:cxnLst/>
              <a:rect l="l" t="t" r="r" b="b"/>
              <a:pathLst>
                <a:path w="134620">
                  <a:moveTo>
                    <a:pt x="0" y="0"/>
                  </a:moveTo>
                  <a:lnTo>
                    <a:pt x="134112" y="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5904991" y="5315203"/>
            <a:ext cx="9156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 panose="020B0604020202020204"/>
                <a:cs typeface="Arial" panose="020B0604020202020204"/>
              </a:rPr>
              <a:t>Consensus Theorem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158234" y="6398514"/>
            <a:ext cx="322580" cy="0"/>
          </a:xfrm>
          <a:custGeom>
            <a:avLst/>
            <a:gdLst/>
            <a:ahLst/>
            <a:cxnLst/>
            <a:rect l="l" t="t" r="r" b="b"/>
            <a:pathLst>
              <a:path w="322579">
                <a:moveTo>
                  <a:pt x="0" y="0"/>
                </a:moveTo>
                <a:lnTo>
                  <a:pt x="322326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701540" y="6398514"/>
            <a:ext cx="131445" cy="0"/>
          </a:xfrm>
          <a:custGeom>
            <a:avLst/>
            <a:gdLst/>
            <a:ahLst/>
            <a:cxnLst/>
            <a:rect l="l" t="t" r="r" b="b"/>
            <a:pathLst>
              <a:path w="131445">
                <a:moveTo>
                  <a:pt x="0" y="0"/>
                </a:moveTo>
                <a:lnTo>
                  <a:pt x="131064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052059" y="6398514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>
                <a:moveTo>
                  <a:pt x="0" y="0"/>
                </a:moveTo>
                <a:lnTo>
                  <a:pt x="134112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158234" y="6793992"/>
            <a:ext cx="480059" cy="0"/>
          </a:xfrm>
          <a:custGeom>
            <a:avLst/>
            <a:gdLst/>
            <a:ahLst/>
            <a:cxnLst/>
            <a:rect l="l" t="t" r="r" b="b"/>
            <a:pathLst>
              <a:path w="480060">
                <a:moveTo>
                  <a:pt x="0" y="0"/>
                </a:moveTo>
                <a:lnTo>
                  <a:pt x="480059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859273" y="6793992"/>
            <a:ext cx="131445" cy="0"/>
          </a:xfrm>
          <a:custGeom>
            <a:avLst/>
            <a:gdLst/>
            <a:ahLst/>
            <a:cxnLst/>
            <a:rect l="l" t="t" r="r" b="b"/>
            <a:pathLst>
              <a:path w="131445">
                <a:moveTo>
                  <a:pt x="0" y="0"/>
                </a:moveTo>
                <a:lnTo>
                  <a:pt x="131064" y="0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495552" y="6366442"/>
            <a:ext cx="455930" cy="665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14A)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14B)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49337" y="6366442"/>
            <a:ext cx="1104265" cy="665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Y</a:t>
            </a:r>
            <a:r>
              <a:rPr sz="16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Y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Symbol" panose="05050102010706020507"/>
                <a:cs typeface="Symbol" panose="05050102010706020507"/>
              </a:rPr>
              <a:t>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Y </a:t>
            </a:r>
            <a:r>
              <a:rPr sz="1600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X</a:t>
            </a:r>
            <a:r>
              <a:rPr sz="1600" spc="38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Y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875788" y="6629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875026" y="6781800"/>
            <a:ext cx="39370" cy="152400"/>
          </a:xfrm>
          <a:custGeom>
            <a:avLst/>
            <a:gdLst/>
            <a:ahLst/>
            <a:cxnLst/>
            <a:rect l="l" t="t" r="r" b="b"/>
            <a:pathLst>
              <a:path w="39369" h="152400">
                <a:moveTo>
                  <a:pt x="38862" y="0"/>
                </a:moveTo>
                <a:lnTo>
                  <a:pt x="762" y="0"/>
                </a:lnTo>
                <a:lnTo>
                  <a:pt x="0" y="152400"/>
                </a:lnTo>
                <a:lnTo>
                  <a:pt x="38100" y="152400"/>
                </a:lnTo>
                <a:lnTo>
                  <a:pt x="38862" y="0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" name="object 68"/>
          <p:cNvGrpSpPr/>
          <p:nvPr/>
        </p:nvGrpSpPr>
        <p:grpSpPr>
          <a:xfrm>
            <a:off x="2875788" y="6362700"/>
            <a:ext cx="2693670" cy="654685"/>
            <a:chOff x="2875788" y="6362700"/>
            <a:chExt cx="2693670" cy="654685"/>
          </a:xfrm>
        </p:grpSpPr>
        <p:sp>
          <p:nvSpPr>
            <p:cNvPr id="69" name="object 69"/>
            <p:cNvSpPr/>
            <p:nvPr/>
          </p:nvSpPr>
          <p:spPr>
            <a:xfrm>
              <a:off x="2875788" y="6362700"/>
              <a:ext cx="38100" cy="152400"/>
            </a:xfrm>
            <a:custGeom>
              <a:avLst/>
              <a:gdLst/>
              <a:ahLst/>
              <a:cxnLst/>
              <a:rect l="l" t="t" r="r" b="b"/>
              <a:pathLst>
                <a:path w="38100" h="152400">
                  <a:moveTo>
                    <a:pt x="38099" y="152400"/>
                  </a:moveTo>
                  <a:lnTo>
                    <a:pt x="38099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38099" y="152400"/>
                  </a:lnTo>
                  <a:close/>
                </a:path>
              </a:pathLst>
            </a:custGeom>
            <a:solidFill>
              <a:srgbClr val="005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5257800" y="6364986"/>
              <a:ext cx="311785" cy="652780"/>
            </a:xfrm>
            <a:custGeom>
              <a:avLst/>
              <a:gdLst/>
              <a:ahLst/>
              <a:cxnLst/>
              <a:rect l="l" t="t" r="r" b="b"/>
              <a:pathLst>
                <a:path w="311785" h="652779">
                  <a:moveTo>
                    <a:pt x="159258" y="313636"/>
                  </a:moveTo>
                  <a:lnTo>
                    <a:pt x="159258" y="300990"/>
                  </a:lnTo>
                  <a:lnTo>
                    <a:pt x="158496" y="299466"/>
                  </a:lnTo>
                  <a:lnTo>
                    <a:pt x="158496" y="27431"/>
                  </a:lnTo>
                  <a:lnTo>
                    <a:pt x="157734" y="25907"/>
                  </a:lnTo>
                  <a:lnTo>
                    <a:pt x="156972" y="25145"/>
                  </a:lnTo>
                  <a:lnTo>
                    <a:pt x="152374" y="18643"/>
                  </a:lnTo>
                  <a:lnTo>
                    <a:pt x="143510" y="15633"/>
                  </a:lnTo>
                  <a:lnTo>
                    <a:pt x="136398" y="12953"/>
                  </a:lnTo>
                  <a:lnTo>
                    <a:pt x="132588" y="12191"/>
                  </a:lnTo>
                  <a:lnTo>
                    <a:pt x="79876" y="3309"/>
                  </a:lnTo>
                  <a:lnTo>
                    <a:pt x="31242" y="0"/>
                  </a:lnTo>
                  <a:lnTo>
                    <a:pt x="762" y="0"/>
                  </a:lnTo>
                  <a:lnTo>
                    <a:pt x="0" y="12192"/>
                  </a:lnTo>
                  <a:lnTo>
                    <a:pt x="16002" y="12191"/>
                  </a:lnTo>
                  <a:lnTo>
                    <a:pt x="46151" y="13772"/>
                  </a:lnTo>
                  <a:lnTo>
                    <a:pt x="116409" y="21319"/>
                  </a:lnTo>
                  <a:lnTo>
                    <a:pt x="147066" y="304800"/>
                  </a:lnTo>
                  <a:lnTo>
                    <a:pt x="147828" y="305562"/>
                  </a:lnTo>
                  <a:lnTo>
                    <a:pt x="147828" y="306324"/>
                  </a:lnTo>
                  <a:lnTo>
                    <a:pt x="148590" y="306324"/>
                  </a:lnTo>
                  <a:lnTo>
                    <a:pt x="148590" y="307086"/>
                  </a:lnTo>
                  <a:lnTo>
                    <a:pt x="149352" y="307848"/>
                  </a:lnTo>
                  <a:lnTo>
                    <a:pt x="149352" y="308610"/>
                  </a:lnTo>
                  <a:lnTo>
                    <a:pt x="150114" y="308610"/>
                  </a:lnTo>
                  <a:lnTo>
                    <a:pt x="151638" y="310134"/>
                  </a:lnTo>
                  <a:lnTo>
                    <a:pt x="151638" y="310896"/>
                  </a:lnTo>
                  <a:lnTo>
                    <a:pt x="152400" y="310896"/>
                  </a:lnTo>
                  <a:lnTo>
                    <a:pt x="153924" y="311658"/>
                  </a:lnTo>
                  <a:lnTo>
                    <a:pt x="159258" y="313636"/>
                  </a:lnTo>
                  <a:close/>
                </a:path>
                <a:path w="311785" h="652779">
                  <a:moveTo>
                    <a:pt x="146685" y="619887"/>
                  </a:moveTo>
                  <a:lnTo>
                    <a:pt x="145542" y="621030"/>
                  </a:lnTo>
                  <a:lnTo>
                    <a:pt x="145542" y="620776"/>
                  </a:lnTo>
                  <a:lnTo>
                    <a:pt x="144018" y="621792"/>
                  </a:lnTo>
                  <a:lnTo>
                    <a:pt x="80976" y="635846"/>
                  </a:lnTo>
                  <a:lnTo>
                    <a:pt x="16002" y="639318"/>
                  </a:lnTo>
                  <a:lnTo>
                    <a:pt x="0" y="639318"/>
                  </a:lnTo>
                  <a:lnTo>
                    <a:pt x="762" y="652272"/>
                  </a:lnTo>
                  <a:lnTo>
                    <a:pt x="16002" y="652272"/>
                  </a:lnTo>
                  <a:lnTo>
                    <a:pt x="47444" y="650670"/>
                  </a:lnTo>
                  <a:lnTo>
                    <a:pt x="85196" y="647895"/>
                  </a:lnTo>
                  <a:lnTo>
                    <a:pt x="122259" y="642165"/>
                  </a:lnTo>
                  <a:lnTo>
                    <a:pt x="145542" y="633869"/>
                  </a:lnTo>
                  <a:lnTo>
                    <a:pt x="145542" y="621030"/>
                  </a:lnTo>
                  <a:lnTo>
                    <a:pt x="145732" y="620649"/>
                  </a:lnTo>
                  <a:lnTo>
                    <a:pt x="145732" y="633802"/>
                  </a:lnTo>
                  <a:lnTo>
                    <a:pt x="146304" y="633598"/>
                  </a:lnTo>
                  <a:lnTo>
                    <a:pt x="146304" y="621030"/>
                  </a:lnTo>
                  <a:lnTo>
                    <a:pt x="146685" y="619887"/>
                  </a:lnTo>
                  <a:close/>
                </a:path>
                <a:path w="311785" h="652779">
                  <a:moveTo>
                    <a:pt x="146304" y="620268"/>
                  </a:moveTo>
                  <a:lnTo>
                    <a:pt x="145732" y="620649"/>
                  </a:lnTo>
                  <a:lnTo>
                    <a:pt x="145542" y="621030"/>
                  </a:lnTo>
                  <a:lnTo>
                    <a:pt x="146304" y="620268"/>
                  </a:lnTo>
                  <a:close/>
                </a:path>
                <a:path w="311785" h="652779">
                  <a:moveTo>
                    <a:pt x="147066" y="618744"/>
                  </a:moveTo>
                  <a:lnTo>
                    <a:pt x="147066" y="348234"/>
                  </a:lnTo>
                  <a:lnTo>
                    <a:pt x="146304" y="348996"/>
                  </a:lnTo>
                  <a:lnTo>
                    <a:pt x="146304" y="619506"/>
                  </a:lnTo>
                  <a:lnTo>
                    <a:pt x="145732" y="620649"/>
                  </a:lnTo>
                  <a:lnTo>
                    <a:pt x="146304" y="620268"/>
                  </a:lnTo>
                  <a:lnTo>
                    <a:pt x="147066" y="618744"/>
                  </a:lnTo>
                  <a:close/>
                </a:path>
                <a:path w="311785" h="652779">
                  <a:moveTo>
                    <a:pt x="147066" y="32765"/>
                  </a:moveTo>
                  <a:lnTo>
                    <a:pt x="146304" y="31241"/>
                  </a:lnTo>
                  <a:lnTo>
                    <a:pt x="146304" y="32003"/>
                  </a:lnTo>
                  <a:lnTo>
                    <a:pt x="147066" y="32765"/>
                  </a:lnTo>
                  <a:close/>
                </a:path>
                <a:path w="311785" h="652779">
                  <a:moveTo>
                    <a:pt x="147066" y="303276"/>
                  </a:moveTo>
                  <a:lnTo>
                    <a:pt x="147066" y="32765"/>
                  </a:lnTo>
                  <a:lnTo>
                    <a:pt x="146304" y="32003"/>
                  </a:lnTo>
                  <a:lnTo>
                    <a:pt x="146304" y="302513"/>
                  </a:lnTo>
                  <a:lnTo>
                    <a:pt x="147066" y="303276"/>
                  </a:lnTo>
                  <a:close/>
                </a:path>
                <a:path w="311785" h="652779">
                  <a:moveTo>
                    <a:pt x="147066" y="618744"/>
                  </a:moveTo>
                  <a:lnTo>
                    <a:pt x="146304" y="620268"/>
                  </a:lnTo>
                  <a:lnTo>
                    <a:pt x="146685" y="619887"/>
                  </a:lnTo>
                  <a:lnTo>
                    <a:pt x="147066" y="618744"/>
                  </a:lnTo>
                  <a:close/>
                </a:path>
                <a:path w="311785" h="652779">
                  <a:moveTo>
                    <a:pt x="289560" y="332232"/>
                  </a:moveTo>
                  <a:lnTo>
                    <a:pt x="259131" y="330878"/>
                  </a:lnTo>
                  <a:lnTo>
                    <a:pt x="220165" y="327983"/>
                  </a:lnTo>
                  <a:lnTo>
                    <a:pt x="205660" y="325737"/>
                  </a:lnTo>
                  <a:lnTo>
                    <a:pt x="197928" y="326781"/>
                  </a:lnTo>
                  <a:lnTo>
                    <a:pt x="172974" y="332232"/>
                  </a:lnTo>
                  <a:lnTo>
                    <a:pt x="169164" y="332994"/>
                  </a:lnTo>
                  <a:lnTo>
                    <a:pt x="166116" y="334518"/>
                  </a:lnTo>
                  <a:lnTo>
                    <a:pt x="148590" y="345186"/>
                  </a:lnTo>
                  <a:lnTo>
                    <a:pt x="147828" y="345948"/>
                  </a:lnTo>
                  <a:lnTo>
                    <a:pt x="147066" y="347472"/>
                  </a:lnTo>
                  <a:lnTo>
                    <a:pt x="147066" y="619506"/>
                  </a:lnTo>
                  <a:lnTo>
                    <a:pt x="146685" y="619887"/>
                  </a:lnTo>
                  <a:lnTo>
                    <a:pt x="146304" y="621030"/>
                  </a:lnTo>
                  <a:lnTo>
                    <a:pt x="146304" y="633598"/>
                  </a:lnTo>
                  <a:lnTo>
                    <a:pt x="151638" y="631698"/>
                  </a:lnTo>
                  <a:lnTo>
                    <a:pt x="153162" y="630936"/>
                  </a:lnTo>
                  <a:lnTo>
                    <a:pt x="155448" y="628650"/>
                  </a:lnTo>
                  <a:lnTo>
                    <a:pt x="156210" y="628650"/>
                  </a:lnTo>
                  <a:lnTo>
                    <a:pt x="156210" y="627888"/>
                  </a:lnTo>
                  <a:lnTo>
                    <a:pt x="156972" y="627126"/>
                  </a:lnTo>
                  <a:lnTo>
                    <a:pt x="156972" y="626364"/>
                  </a:lnTo>
                  <a:lnTo>
                    <a:pt x="157734" y="626364"/>
                  </a:lnTo>
                  <a:lnTo>
                    <a:pt x="157734" y="625602"/>
                  </a:lnTo>
                  <a:lnTo>
                    <a:pt x="158496" y="624078"/>
                  </a:lnTo>
                  <a:lnTo>
                    <a:pt x="158496" y="352044"/>
                  </a:lnTo>
                  <a:lnTo>
                    <a:pt x="223142" y="336408"/>
                  </a:lnTo>
                  <a:lnTo>
                    <a:pt x="259131" y="333837"/>
                  </a:lnTo>
                  <a:lnTo>
                    <a:pt x="289560" y="332232"/>
                  </a:lnTo>
                  <a:close/>
                </a:path>
                <a:path w="311785" h="652779">
                  <a:moveTo>
                    <a:pt x="147066" y="619506"/>
                  </a:moveTo>
                  <a:lnTo>
                    <a:pt x="147066" y="618744"/>
                  </a:lnTo>
                  <a:lnTo>
                    <a:pt x="146685" y="619887"/>
                  </a:lnTo>
                  <a:lnTo>
                    <a:pt x="147066" y="619506"/>
                  </a:lnTo>
                  <a:close/>
                </a:path>
                <a:path w="311785" h="652779">
                  <a:moveTo>
                    <a:pt x="159829" y="300609"/>
                  </a:moveTo>
                  <a:lnTo>
                    <a:pt x="159258" y="299466"/>
                  </a:lnTo>
                  <a:lnTo>
                    <a:pt x="159258" y="30479"/>
                  </a:lnTo>
                  <a:lnTo>
                    <a:pt x="158496" y="28955"/>
                  </a:lnTo>
                  <a:lnTo>
                    <a:pt x="158496" y="299466"/>
                  </a:lnTo>
                  <a:lnTo>
                    <a:pt x="159258" y="300228"/>
                  </a:lnTo>
                  <a:lnTo>
                    <a:pt x="159829" y="300609"/>
                  </a:lnTo>
                  <a:close/>
                </a:path>
                <a:path w="311785" h="652779">
                  <a:moveTo>
                    <a:pt x="160020" y="313919"/>
                  </a:moveTo>
                  <a:lnTo>
                    <a:pt x="160020" y="300990"/>
                  </a:lnTo>
                  <a:lnTo>
                    <a:pt x="158496" y="299466"/>
                  </a:lnTo>
                  <a:lnTo>
                    <a:pt x="159258" y="300990"/>
                  </a:lnTo>
                  <a:lnTo>
                    <a:pt x="159258" y="313636"/>
                  </a:lnTo>
                  <a:lnTo>
                    <a:pt x="160020" y="313919"/>
                  </a:lnTo>
                  <a:close/>
                </a:path>
                <a:path w="311785" h="652779">
                  <a:moveTo>
                    <a:pt x="159258" y="351282"/>
                  </a:moveTo>
                  <a:lnTo>
                    <a:pt x="158496" y="352044"/>
                  </a:lnTo>
                  <a:lnTo>
                    <a:pt x="158496" y="352806"/>
                  </a:lnTo>
                  <a:lnTo>
                    <a:pt x="159258" y="351282"/>
                  </a:lnTo>
                  <a:close/>
                </a:path>
                <a:path w="311785" h="652779">
                  <a:moveTo>
                    <a:pt x="159258" y="621030"/>
                  </a:moveTo>
                  <a:lnTo>
                    <a:pt x="159258" y="351282"/>
                  </a:lnTo>
                  <a:lnTo>
                    <a:pt x="158496" y="352806"/>
                  </a:lnTo>
                  <a:lnTo>
                    <a:pt x="158496" y="622554"/>
                  </a:lnTo>
                  <a:lnTo>
                    <a:pt x="159258" y="621030"/>
                  </a:lnTo>
                  <a:close/>
                </a:path>
                <a:path w="311785" h="652779">
                  <a:moveTo>
                    <a:pt x="160020" y="300990"/>
                  </a:moveTo>
                  <a:lnTo>
                    <a:pt x="159829" y="300609"/>
                  </a:lnTo>
                  <a:lnTo>
                    <a:pt x="159258" y="300228"/>
                  </a:lnTo>
                  <a:lnTo>
                    <a:pt x="160020" y="300990"/>
                  </a:lnTo>
                  <a:close/>
                </a:path>
                <a:path w="311785" h="652779">
                  <a:moveTo>
                    <a:pt x="304800" y="319278"/>
                  </a:moveTo>
                  <a:lnTo>
                    <a:pt x="289560" y="319278"/>
                  </a:lnTo>
                  <a:lnTo>
                    <a:pt x="260359" y="318420"/>
                  </a:lnTo>
                  <a:lnTo>
                    <a:pt x="224456" y="315815"/>
                  </a:lnTo>
                  <a:lnTo>
                    <a:pt x="189101" y="310560"/>
                  </a:lnTo>
                  <a:lnTo>
                    <a:pt x="161544" y="301752"/>
                  </a:lnTo>
                  <a:lnTo>
                    <a:pt x="159829" y="300609"/>
                  </a:lnTo>
                  <a:lnTo>
                    <a:pt x="160020" y="300990"/>
                  </a:lnTo>
                  <a:lnTo>
                    <a:pt x="160020" y="313919"/>
                  </a:lnTo>
                  <a:lnTo>
                    <a:pt x="181987" y="322070"/>
                  </a:lnTo>
                  <a:lnTo>
                    <a:pt x="205660" y="325737"/>
                  </a:lnTo>
                  <a:lnTo>
                    <a:pt x="223142" y="323374"/>
                  </a:lnTo>
                  <a:lnTo>
                    <a:pt x="248779" y="321325"/>
                  </a:lnTo>
                  <a:lnTo>
                    <a:pt x="274320" y="320040"/>
                  </a:lnTo>
                  <a:lnTo>
                    <a:pt x="289560" y="320040"/>
                  </a:lnTo>
                  <a:lnTo>
                    <a:pt x="304800" y="319278"/>
                  </a:lnTo>
                  <a:close/>
                </a:path>
                <a:path w="311785" h="652779">
                  <a:moveTo>
                    <a:pt x="311658" y="329184"/>
                  </a:moveTo>
                  <a:lnTo>
                    <a:pt x="311658" y="322326"/>
                  </a:lnTo>
                  <a:lnTo>
                    <a:pt x="308610" y="319278"/>
                  </a:lnTo>
                  <a:lnTo>
                    <a:pt x="304800" y="319278"/>
                  </a:lnTo>
                  <a:lnTo>
                    <a:pt x="289560" y="320040"/>
                  </a:lnTo>
                  <a:lnTo>
                    <a:pt x="274320" y="320040"/>
                  </a:lnTo>
                  <a:lnTo>
                    <a:pt x="248779" y="321325"/>
                  </a:lnTo>
                  <a:lnTo>
                    <a:pt x="223142" y="323374"/>
                  </a:lnTo>
                  <a:lnTo>
                    <a:pt x="205660" y="325737"/>
                  </a:lnTo>
                  <a:lnTo>
                    <a:pt x="220165" y="327983"/>
                  </a:lnTo>
                  <a:lnTo>
                    <a:pt x="259131" y="330878"/>
                  </a:lnTo>
                  <a:lnTo>
                    <a:pt x="289560" y="332232"/>
                  </a:lnTo>
                  <a:lnTo>
                    <a:pt x="308610" y="332232"/>
                  </a:lnTo>
                  <a:lnTo>
                    <a:pt x="311658" y="329184"/>
                  </a:lnTo>
                  <a:close/>
                </a:path>
              </a:pathLst>
            </a:custGeom>
            <a:solidFill>
              <a:srgbClr val="FF170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5602478" y="6551166"/>
            <a:ext cx="9798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DeMorgan’s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939277" y="6731003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 panose="020B0604020202020204"/>
                <a:cs typeface="Arial" panose="020B0604020202020204"/>
              </a:rPr>
              <a:t>5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340" y="696214"/>
            <a:ext cx="48723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DeMorgan</a:t>
            </a:r>
            <a:r>
              <a:rPr spc="-210" dirty="0"/>
              <a:t> </a:t>
            </a:r>
            <a:r>
              <a:rPr spc="-10" dirty="0"/>
              <a:t>Shortcut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436369"/>
            <a:ext cx="9144000" cy="1958339"/>
            <a:chOff x="457200" y="1436369"/>
            <a:chExt cx="9144000" cy="1958339"/>
          </a:xfrm>
        </p:grpSpPr>
        <p:sp>
          <p:nvSpPr>
            <p:cNvPr id="4" name="object 4"/>
            <p:cNvSpPr/>
            <p:nvPr/>
          </p:nvSpPr>
          <p:spPr>
            <a:xfrm>
              <a:off x="457200" y="1436369"/>
              <a:ext cx="9144000" cy="979169"/>
            </a:xfrm>
            <a:custGeom>
              <a:avLst/>
              <a:gdLst/>
              <a:ahLst/>
              <a:cxnLst/>
              <a:rect l="l" t="t" r="r" b="b"/>
              <a:pathLst>
                <a:path w="9144000" h="979169">
                  <a:moveTo>
                    <a:pt x="9144000" y="979169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170"/>
                  </a:lnTo>
                  <a:lnTo>
                    <a:pt x="9144000" y="97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6508" y="1638299"/>
              <a:ext cx="8046719" cy="922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241477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35989" y="1958594"/>
            <a:ext cx="8238490" cy="125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 panose="020B0604020202020204"/>
                <a:cs typeface="Arial" panose="020B0604020202020204"/>
              </a:rPr>
              <a:t>BREAK</a:t>
            </a:r>
            <a:r>
              <a:rPr sz="3600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" panose="020B0604020202020204"/>
                <a:cs typeface="Arial" panose="020B0604020202020204"/>
              </a:rPr>
              <a:t>THE</a:t>
            </a:r>
            <a:r>
              <a:rPr sz="3600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" panose="020B0604020202020204"/>
                <a:cs typeface="Arial" panose="020B0604020202020204"/>
              </a:rPr>
              <a:t>LINE,</a:t>
            </a:r>
            <a:r>
              <a:rPr sz="36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3600" spc="-10" dirty="0">
                <a:latin typeface="Arial" panose="020B0604020202020204"/>
                <a:cs typeface="Arial" panose="020B0604020202020204"/>
              </a:rPr>
              <a:t>CHANGE</a:t>
            </a:r>
            <a:r>
              <a:rPr sz="3600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" panose="020B0604020202020204"/>
                <a:cs typeface="Arial" panose="020B0604020202020204"/>
              </a:rPr>
              <a:t>THE</a:t>
            </a:r>
            <a:r>
              <a:rPr sz="36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3600" spc="-20" dirty="0">
                <a:latin typeface="Arial" panose="020B0604020202020204"/>
                <a:cs typeface="Arial" panose="020B0604020202020204"/>
              </a:rPr>
              <a:t>SIGN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469900">
              <a:lnSpc>
                <a:spcPct val="100000"/>
              </a:lnSpc>
              <a:spcBef>
                <a:spcPts val="4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Break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 </a:t>
            </a:r>
            <a:r>
              <a:rPr sz="2200" i="1" u="sng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LINE</a:t>
            </a:r>
            <a:r>
              <a:rPr sz="2200" i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over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two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variables,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69265">
              <a:lnSpc>
                <a:spcPct val="100000"/>
              </a:lnSpc>
            </a:pP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change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i="1" u="sng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SIGN</a:t>
            </a:r>
            <a:r>
              <a:rPr sz="2200" i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directly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under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line.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70253" y="3645408"/>
            <a:ext cx="750570" cy="0"/>
          </a:xfrm>
          <a:custGeom>
            <a:avLst/>
            <a:gdLst/>
            <a:ahLst/>
            <a:cxnLst/>
            <a:rect l="l" t="t" r="r" b="b"/>
            <a:pathLst>
              <a:path w="750569">
                <a:moveTo>
                  <a:pt x="0" y="0"/>
                </a:moveTo>
                <a:lnTo>
                  <a:pt x="750570" y="0"/>
                </a:lnTo>
              </a:path>
            </a:pathLst>
          </a:custGeom>
          <a:ln w="127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72689" y="3645408"/>
            <a:ext cx="274320" cy="0"/>
          </a:xfrm>
          <a:custGeom>
            <a:avLst/>
            <a:gdLst/>
            <a:ahLst/>
            <a:cxnLst/>
            <a:rect l="l" t="t" r="r" b="b"/>
            <a:pathLst>
              <a:path w="274319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127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66872" y="3645408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5">
                <a:moveTo>
                  <a:pt x="0" y="0"/>
                </a:moveTo>
                <a:lnTo>
                  <a:pt x="222504" y="0"/>
                </a:lnTo>
              </a:path>
            </a:pathLst>
          </a:custGeom>
          <a:ln w="127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57553" y="3594408"/>
            <a:ext cx="2163445" cy="516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dirty="0">
                <a:latin typeface="Arial" panose="020B0604020202020204"/>
                <a:cs typeface="Arial" panose="020B0604020202020204"/>
              </a:rPr>
              <a:t>A</a:t>
            </a:r>
            <a:r>
              <a:rPr sz="3200" spc="-26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160" dirty="0">
                <a:latin typeface="Symbol" panose="05050102010706020507"/>
                <a:cs typeface="Symbol" panose="05050102010706020507"/>
              </a:rPr>
              <a:t></a:t>
            </a:r>
            <a:r>
              <a:rPr sz="3200" spc="160" dirty="0">
                <a:latin typeface="Arial" panose="020B0604020202020204"/>
                <a:cs typeface="Arial" panose="020B0604020202020204"/>
              </a:rPr>
              <a:t>B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Symbol" panose="05050102010706020507"/>
                <a:cs typeface="Symbol" panose="05050102010706020507"/>
              </a:rPr>
              <a:t>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Arial" panose="020B0604020202020204"/>
                <a:cs typeface="Arial" panose="020B0604020202020204"/>
              </a:rPr>
              <a:t>A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Symbol" panose="05050102010706020507"/>
                <a:cs typeface="Symbol" panose="05050102010706020507"/>
              </a:rPr>
              <a:t></a:t>
            </a:r>
            <a:r>
              <a:rPr sz="3200" spc="-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50" dirty="0">
                <a:latin typeface="Arial" panose="020B0604020202020204"/>
                <a:cs typeface="Arial" panose="020B0604020202020204"/>
              </a:rPr>
              <a:t>B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88008" y="3592829"/>
            <a:ext cx="1599565" cy="1221105"/>
            <a:chOff x="1588008" y="3592829"/>
            <a:chExt cx="1599565" cy="122110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8008" y="3592829"/>
              <a:ext cx="176012" cy="7810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7960" y="4036313"/>
              <a:ext cx="459485" cy="33756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9237" y="4373879"/>
              <a:ext cx="1453930" cy="43967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964940" y="3708907"/>
            <a:ext cx="495808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For</a:t>
            </a:r>
            <a:r>
              <a:rPr sz="20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Theorem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#14A,</a:t>
            </a:r>
            <a:r>
              <a:rPr sz="20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break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line,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and </a:t>
            </a:r>
            <a:r>
              <a:rPr sz="2000" dirty="0">
                <a:latin typeface="Arial" panose="020B0604020202020204"/>
                <a:cs typeface="Arial" panose="020B0604020202020204"/>
              </a:rPr>
              <a:t>change</a:t>
            </a:r>
            <a:r>
              <a:rPr sz="20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the</a:t>
            </a:r>
            <a:r>
              <a:rPr sz="20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AND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function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to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an</a:t>
            </a:r>
            <a:r>
              <a:rPr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OR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function. </a:t>
            </a:r>
            <a:r>
              <a:rPr sz="2000" dirty="0">
                <a:latin typeface="Arial" panose="020B0604020202020204"/>
                <a:cs typeface="Arial" panose="020B0604020202020204"/>
              </a:rPr>
              <a:t>Be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sure</a:t>
            </a:r>
            <a:r>
              <a:rPr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to</a:t>
            </a:r>
            <a:r>
              <a:rPr sz="20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keep</a:t>
            </a:r>
            <a:r>
              <a:rPr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lines</a:t>
            </a:r>
            <a:r>
              <a:rPr sz="20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over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</a:t>
            </a:r>
            <a:r>
              <a:rPr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variables.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63586" y="5345429"/>
            <a:ext cx="930275" cy="59690"/>
            <a:chOff x="1263586" y="5345429"/>
            <a:chExt cx="930275" cy="5969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7256" y="5345429"/>
              <a:ext cx="174498" cy="76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70254" y="5398007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39">
                  <a:moveTo>
                    <a:pt x="0" y="0"/>
                  </a:moveTo>
                  <a:lnTo>
                    <a:pt x="916686" y="0"/>
                  </a:lnTo>
                </a:path>
              </a:pathLst>
            </a:custGeom>
            <a:ln w="12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2638805" y="5398008"/>
            <a:ext cx="273685" cy="0"/>
          </a:xfrm>
          <a:custGeom>
            <a:avLst/>
            <a:gdLst/>
            <a:ahLst/>
            <a:cxnLst/>
            <a:rect l="l" t="t" r="r" b="b"/>
            <a:pathLst>
              <a:path w="273685">
                <a:moveTo>
                  <a:pt x="0" y="0"/>
                </a:moveTo>
                <a:lnTo>
                  <a:pt x="273558" y="0"/>
                </a:lnTo>
              </a:path>
            </a:pathLst>
          </a:custGeom>
          <a:ln w="127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66872" y="5398008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5">
                <a:moveTo>
                  <a:pt x="0" y="0"/>
                </a:moveTo>
                <a:lnTo>
                  <a:pt x="222504" y="0"/>
                </a:lnTo>
              </a:path>
            </a:pathLst>
          </a:custGeom>
          <a:ln w="127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257553" y="5347008"/>
            <a:ext cx="2163445" cy="516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dirty="0">
                <a:latin typeface="Arial" panose="020B0604020202020204"/>
                <a:cs typeface="Arial" panose="020B0604020202020204"/>
              </a:rPr>
              <a:t>A</a:t>
            </a:r>
            <a:r>
              <a:rPr sz="32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Symbol" panose="05050102010706020507"/>
                <a:cs typeface="Symbol" panose="05050102010706020507"/>
              </a:rPr>
              <a:t></a:t>
            </a:r>
            <a:r>
              <a:rPr sz="3200" spc="-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Arial" panose="020B0604020202020204"/>
                <a:cs typeface="Arial" panose="020B0604020202020204"/>
              </a:rPr>
              <a:t>B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Symbol" panose="05050102010706020507"/>
                <a:cs typeface="Symbol" panose="05050102010706020507"/>
              </a:rPr>
              <a:t>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Arial" panose="020B0604020202020204"/>
                <a:cs typeface="Arial" panose="020B0604020202020204"/>
              </a:rPr>
              <a:t>A</a:t>
            </a:r>
            <a:r>
              <a:rPr sz="3200" spc="-26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135" dirty="0">
                <a:latin typeface="Symbol" panose="05050102010706020507"/>
                <a:cs typeface="Symbol" panose="05050102010706020507"/>
              </a:rPr>
              <a:t></a:t>
            </a:r>
            <a:r>
              <a:rPr sz="3200" spc="135" dirty="0">
                <a:latin typeface="Arial" panose="020B0604020202020204"/>
                <a:cs typeface="Arial" panose="020B0604020202020204"/>
              </a:rPr>
              <a:t>B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67256" y="5353050"/>
            <a:ext cx="1599565" cy="979169"/>
            <a:chOff x="1667256" y="5353050"/>
            <a:chExt cx="1599565" cy="979169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0210" y="5358383"/>
              <a:ext cx="257280" cy="97383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7256" y="5353050"/>
              <a:ext cx="290116" cy="97917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07208" y="5788913"/>
              <a:ext cx="459486" cy="54330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964940" y="5461508"/>
            <a:ext cx="495871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For</a:t>
            </a:r>
            <a:r>
              <a:rPr sz="20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Theorem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#14B,</a:t>
            </a:r>
            <a:r>
              <a:rPr sz="20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break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line,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and </a:t>
            </a:r>
            <a:r>
              <a:rPr sz="2000" dirty="0">
                <a:latin typeface="Arial" panose="020B0604020202020204"/>
                <a:cs typeface="Arial" panose="020B0604020202020204"/>
              </a:rPr>
              <a:t>change</a:t>
            </a:r>
            <a:r>
              <a:rPr sz="20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</a:t>
            </a:r>
            <a:r>
              <a:rPr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OR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function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to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an</a:t>
            </a:r>
            <a:r>
              <a:rPr sz="20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AND</a:t>
            </a:r>
            <a:r>
              <a:rPr sz="20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function. </a:t>
            </a:r>
            <a:r>
              <a:rPr sz="2000" dirty="0">
                <a:latin typeface="Arial" panose="020B0604020202020204"/>
                <a:cs typeface="Arial" panose="020B0604020202020204"/>
              </a:rPr>
              <a:t>Be</a:t>
            </a:r>
            <a:r>
              <a:rPr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sure</a:t>
            </a:r>
            <a:r>
              <a:rPr sz="20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to</a:t>
            </a:r>
            <a:r>
              <a:rPr sz="20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keep</a:t>
            </a:r>
            <a:r>
              <a:rPr sz="20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lines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over</a:t>
            </a:r>
            <a:r>
              <a:rPr sz="20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variables.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7200" y="6331458"/>
            <a:ext cx="9144000" cy="984250"/>
            <a:chOff x="457200" y="6331458"/>
            <a:chExt cx="9144000" cy="984250"/>
          </a:xfrm>
        </p:grpSpPr>
        <p:sp>
          <p:nvSpPr>
            <p:cNvPr id="29" name="object 29"/>
            <p:cNvSpPr/>
            <p:nvPr/>
          </p:nvSpPr>
          <p:spPr>
            <a:xfrm>
              <a:off x="457200" y="6331458"/>
              <a:ext cx="9144000" cy="984250"/>
            </a:xfrm>
            <a:custGeom>
              <a:avLst/>
              <a:gdLst/>
              <a:ahLst/>
              <a:cxnLst/>
              <a:rect l="l" t="t" r="r" b="b"/>
              <a:pathLst>
                <a:path w="9144000" h="984250">
                  <a:moveTo>
                    <a:pt x="9144000" y="98374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83742"/>
                  </a:lnTo>
                  <a:lnTo>
                    <a:pt x="9144000" y="9837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29361" y="6332220"/>
              <a:ext cx="1332916" cy="233933"/>
            </a:xfrm>
            <a:prstGeom prst="rect">
              <a:avLst/>
            </a:prstGeom>
          </p:spPr>
        </p:pic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7012" y="457199"/>
            <a:ext cx="6301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DeMorgan’s:</a:t>
            </a:r>
            <a:r>
              <a:rPr spc="-215" dirty="0"/>
              <a:t> </a:t>
            </a:r>
            <a:r>
              <a:rPr dirty="0"/>
              <a:t>Example</a:t>
            </a:r>
            <a:r>
              <a:rPr spc="-210" dirty="0"/>
              <a:t> </a:t>
            </a:r>
            <a:r>
              <a:rPr spc="-25" dirty="0"/>
              <a:t>#1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436369"/>
            <a:ext cx="9144000" cy="979169"/>
            <a:chOff x="457200" y="1436369"/>
            <a:chExt cx="9144000" cy="979169"/>
          </a:xfrm>
        </p:grpSpPr>
        <p:sp>
          <p:nvSpPr>
            <p:cNvPr id="4" name="object 4"/>
            <p:cNvSpPr/>
            <p:nvPr/>
          </p:nvSpPr>
          <p:spPr>
            <a:xfrm>
              <a:off x="457200" y="1436369"/>
              <a:ext cx="9144000" cy="979169"/>
            </a:xfrm>
            <a:custGeom>
              <a:avLst/>
              <a:gdLst/>
              <a:ahLst/>
              <a:cxnLst/>
              <a:rect l="l" t="t" r="r" b="b"/>
              <a:pathLst>
                <a:path w="9144000" h="979169">
                  <a:moveTo>
                    <a:pt x="9144000" y="979169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170"/>
                  </a:lnTo>
                  <a:lnTo>
                    <a:pt x="9144000" y="97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6508" y="1638299"/>
              <a:ext cx="8046719" cy="9220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93139" y="1701038"/>
            <a:ext cx="7365365" cy="179323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i="1" spc="-10" dirty="0">
                <a:latin typeface="Arial" panose="020B0604020202020204"/>
                <a:cs typeface="Arial" panose="020B0604020202020204"/>
              </a:rPr>
              <a:t>Example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4699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 panose="020B0604020202020204"/>
                <a:cs typeface="Arial" panose="020B0604020202020204"/>
              </a:rPr>
              <a:t>Simplify</a:t>
            </a:r>
            <a:r>
              <a:rPr sz="2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the</a:t>
            </a:r>
            <a:r>
              <a:rPr sz="2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following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Boolean</a:t>
            </a:r>
            <a:r>
              <a:rPr sz="2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expression</a:t>
            </a:r>
            <a:r>
              <a:rPr sz="2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and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latin typeface="Arial" panose="020B0604020202020204"/>
                <a:cs typeface="Arial" panose="020B0604020202020204"/>
              </a:rPr>
              <a:t>note </a:t>
            </a:r>
            <a:r>
              <a:rPr sz="2400" dirty="0">
                <a:latin typeface="Arial" panose="020B0604020202020204"/>
                <a:cs typeface="Arial" panose="020B0604020202020204"/>
              </a:rPr>
              <a:t>the</a:t>
            </a:r>
            <a:r>
              <a:rPr sz="24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Boolean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or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DeMorgan’s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theorem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used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at</a:t>
            </a:r>
            <a:r>
              <a:rPr sz="2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latin typeface="Arial" panose="020B0604020202020204"/>
                <a:cs typeface="Arial" panose="020B0604020202020204"/>
              </a:rPr>
              <a:t>each </a:t>
            </a:r>
            <a:r>
              <a:rPr sz="2400" dirty="0">
                <a:latin typeface="Arial" panose="020B0604020202020204"/>
                <a:cs typeface="Arial" panose="020B0604020202020204"/>
              </a:rPr>
              <a:t>step.</a:t>
            </a:r>
            <a:r>
              <a:rPr sz="2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Put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the</a:t>
            </a:r>
            <a:r>
              <a:rPr sz="2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answer</a:t>
            </a:r>
            <a:r>
              <a:rPr sz="24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in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SOP</a:t>
            </a:r>
            <a:r>
              <a:rPr sz="24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form.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200" y="3393947"/>
            <a:ext cx="9144000" cy="980440"/>
            <a:chOff x="457200" y="3393947"/>
            <a:chExt cx="9144000" cy="980440"/>
          </a:xfrm>
        </p:grpSpPr>
        <p:sp>
          <p:nvSpPr>
            <p:cNvPr id="8" name="object 8"/>
            <p:cNvSpPr/>
            <p:nvPr/>
          </p:nvSpPr>
          <p:spPr>
            <a:xfrm>
              <a:off x="457200" y="339394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27882" y="4056141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>
                  <a:moveTo>
                    <a:pt x="0" y="0"/>
                  </a:moveTo>
                  <a:lnTo>
                    <a:pt x="202696" y="0"/>
                  </a:lnTo>
                </a:path>
              </a:pathLst>
            </a:custGeom>
            <a:ln w="8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736209" y="4015753"/>
              <a:ext cx="594995" cy="0"/>
            </a:xfrm>
            <a:custGeom>
              <a:avLst/>
              <a:gdLst/>
              <a:ahLst/>
              <a:cxnLst/>
              <a:rect l="l" t="t" r="r" b="b"/>
              <a:pathLst>
                <a:path w="594995">
                  <a:moveTo>
                    <a:pt x="0" y="0"/>
                  </a:moveTo>
                  <a:lnTo>
                    <a:pt x="594383" y="0"/>
                  </a:lnTo>
                </a:path>
              </a:pathLst>
            </a:custGeom>
            <a:ln w="8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26843" y="4056141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>
                  <a:moveTo>
                    <a:pt x="0" y="0"/>
                  </a:moveTo>
                  <a:lnTo>
                    <a:pt x="202696" y="0"/>
                  </a:lnTo>
                </a:path>
              </a:pathLst>
            </a:custGeom>
            <a:ln w="8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34861" y="3976133"/>
              <a:ext cx="1889125" cy="0"/>
            </a:xfrm>
            <a:custGeom>
              <a:avLst/>
              <a:gdLst/>
              <a:ahLst/>
              <a:cxnLst/>
              <a:rect l="l" t="t" r="r" b="b"/>
              <a:pathLst>
                <a:path w="1889125">
                  <a:moveTo>
                    <a:pt x="0" y="0"/>
                  </a:moveTo>
                  <a:lnTo>
                    <a:pt x="1889049" y="0"/>
                  </a:lnTo>
                </a:path>
              </a:pathLst>
            </a:custGeom>
            <a:ln w="8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052054" y="4016321"/>
            <a:ext cx="249745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28295" algn="l"/>
              </a:tabLst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F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Symbol" panose="05050102010706020507"/>
                <a:cs typeface="Symbol" panose="05050102010706020507"/>
              </a:rPr>
              <a:t></a:t>
            </a:r>
            <a:r>
              <a:rPr sz="22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3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X</a:t>
            </a:r>
            <a:r>
              <a:rPr sz="220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40" dirty="0">
                <a:latin typeface="Arial" panose="020B0604020202020204"/>
                <a:cs typeface="Arial" panose="020B0604020202020204"/>
              </a:rPr>
              <a:t>Y)</a:t>
            </a:r>
            <a:r>
              <a:rPr sz="2200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409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Y</a:t>
            </a:r>
            <a:r>
              <a:rPr sz="2200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</a:t>
            </a:r>
            <a:r>
              <a:rPr sz="22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80" dirty="0">
                <a:latin typeface="Arial" panose="020B0604020202020204"/>
                <a:cs typeface="Arial" panose="020B0604020202020204"/>
              </a:rPr>
              <a:t>Z)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9129" y="4246879"/>
            <a:ext cx="8763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0" dirty="0">
                <a:latin typeface="Times New Roman" panose="02020603050405020304"/>
                <a:cs typeface="Times New Roman" panose="02020603050405020304"/>
              </a:rPr>
              <a:t>1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7200" y="437311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45"/>
              </a:lnSpc>
            </a:pPr>
            <a:fld id="{81D60167-4931-47E6-BA6A-407CBD079E47}" type="slidenum">
              <a:rPr spc="-5" dirty="0"/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692246"/>
            <a:ext cx="6301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DeMorgan’s:</a:t>
            </a:r>
            <a:r>
              <a:rPr spc="-215" dirty="0"/>
              <a:t> </a:t>
            </a:r>
            <a:r>
              <a:rPr dirty="0"/>
              <a:t>Example</a:t>
            </a:r>
            <a:r>
              <a:rPr spc="-210" dirty="0"/>
              <a:t> </a:t>
            </a:r>
            <a:r>
              <a:rPr spc="-25" dirty="0"/>
              <a:t>#1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436369"/>
            <a:ext cx="9144000" cy="979169"/>
            <a:chOff x="457200" y="1436369"/>
            <a:chExt cx="9144000" cy="979169"/>
          </a:xfrm>
        </p:grpSpPr>
        <p:sp>
          <p:nvSpPr>
            <p:cNvPr id="4" name="object 4"/>
            <p:cNvSpPr/>
            <p:nvPr/>
          </p:nvSpPr>
          <p:spPr>
            <a:xfrm>
              <a:off x="457200" y="1436369"/>
              <a:ext cx="9144000" cy="979169"/>
            </a:xfrm>
            <a:custGeom>
              <a:avLst/>
              <a:gdLst/>
              <a:ahLst/>
              <a:cxnLst/>
              <a:rect l="l" t="t" r="r" b="b"/>
              <a:pathLst>
                <a:path w="9144000" h="979169">
                  <a:moveTo>
                    <a:pt x="9144000" y="979169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170"/>
                  </a:lnTo>
                  <a:lnTo>
                    <a:pt x="9144000" y="97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6508" y="1638299"/>
              <a:ext cx="8046719" cy="9220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93139" y="1702104"/>
            <a:ext cx="7383145" cy="167132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200" i="1" spc="-10" dirty="0">
                <a:latin typeface="Arial" panose="020B0604020202020204"/>
                <a:cs typeface="Arial" panose="020B0604020202020204"/>
              </a:rPr>
              <a:t>Example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69900" marR="5080">
              <a:lnSpc>
                <a:spcPct val="100000"/>
              </a:lnSpc>
              <a:spcBef>
                <a:spcPts val="120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Simplify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following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Boolean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expression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note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the </a:t>
            </a:r>
            <a:r>
              <a:rPr sz="2200" dirty="0">
                <a:latin typeface="Arial" panose="020B0604020202020204"/>
                <a:cs typeface="Arial" panose="020B0604020202020204"/>
              </a:rPr>
              <a:t>Boolean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or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DeMorgan’s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theorem used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each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step.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Put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answer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in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SOP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form.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3898646"/>
            <a:ext cx="10369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10" dirty="0">
                <a:latin typeface="Arial" panose="020B0604020202020204"/>
                <a:cs typeface="Arial" panose="020B0604020202020204"/>
              </a:rPr>
              <a:t>Solution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32994" y="4311527"/>
            <a:ext cx="1891030" cy="88900"/>
            <a:chOff x="2032994" y="4311527"/>
            <a:chExt cx="1891030" cy="88900"/>
          </a:xfrm>
        </p:grpSpPr>
        <p:sp>
          <p:nvSpPr>
            <p:cNvPr id="9" name="object 9"/>
            <p:cNvSpPr/>
            <p:nvPr/>
          </p:nvSpPr>
          <p:spPr>
            <a:xfrm>
              <a:off x="2134344" y="4356342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>
                  <a:moveTo>
                    <a:pt x="0" y="0"/>
                  </a:moveTo>
                  <a:lnTo>
                    <a:pt x="595123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032994" y="4315959"/>
              <a:ext cx="1891030" cy="0"/>
            </a:xfrm>
            <a:custGeom>
              <a:avLst/>
              <a:gdLst/>
              <a:ahLst/>
              <a:cxnLst/>
              <a:rect l="l" t="t" r="r" b="b"/>
              <a:pathLst>
                <a:path w="1891029">
                  <a:moveTo>
                    <a:pt x="0" y="0"/>
                  </a:moveTo>
                  <a:lnTo>
                    <a:pt x="1890514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26013" y="4395972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>
                  <a:moveTo>
                    <a:pt x="0" y="0"/>
                  </a:moveTo>
                  <a:lnTo>
                    <a:pt x="203454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25699" y="4395972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>
                  <a:moveTo>
                    <a:pt x="0" y="0"/>
                  </a:moveTo>
                  <a:lnTo>
                    <a:pt x="203454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165987" y="3514495"/>
            <a:ext cx="1890395" cy="88900"/>
            <a:chOff x="4165987" y="3514495"/>
            <a:chExt cx="1890395" cy="88900"/>
          </a:xfrm>
        </p:grpSpPr>
        <p:sp>
          <p:nvSpPr>
            <p:cNvPr id="14" name="object 14"/>
            <p:cNvSpPr/>
            <p:nvPr/>
          </p:nvSpPr>
          <p:spPr>
            <a:xfrm>
              <a:off x="4659009" y="3598935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>
                  <a:moveTo>
                    <a:pt x="0" y="0"/>
                  </a:moveTo>
                  <a:lnTo>
                    <a:pt x="203464" y="0"/>
                  </a:lnTo>
                </a:path>
              </a:pathLst>
            </a:custGeom>
            <a:ln w="8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268090" y="3558547"/>
              <a:ext cx="594995" cy="0"/>
            </a:xfrm>
            <a:custGeom>
              <a:avLst/>
              <a:gdLst/>
              <a:ahLst/>
              <a:cxnLst/>
              <a:rect l="l" t="t" r="r" b="b"/>
              <a:pathLst>
                <a:path w="594995">
                  <a:moveTo>
                    <a:pt x="0" y="0"/>
                  </a:moveTo>
                  <a:lnTo>
                    <a:pt x="594383" y="0"/>
                  </a:lnTo>
                </a:path>
              </a:pathLst>
            </a:custGeom>
            <a:ln w="8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165987" y="3518927"/>
              <a:ext cx="1890395" cy="0"/>
            </a:xfrm>
            <a:custGeom>
              <a:avLst/>
              <a:gdLst/>
              <a:ahLst/>
              <a:cxnLst/>
              <a:rect l="l" t="t" r="r" b="b"/>
              <a:pathLst>
                <a:path w="1890395">
                  <a:moveTo>
                    <a:pt x="0" y="0"/>
                  </a:moveTo>
                  <a:lnTo>
                    <a:pt x="1889816" y="0"/>
                  </a:lnTo>
                </a:path>
              </a:pathLst>
            </a:custGeom>
            <a:ln w="8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5258724" y="3598936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>
                <a:moveTo>
                  <a:pt x="0" y="0"/>
                </a:moveTo>
                <a:lnTo>
                  <a:pt x="202696" y="0"/>
                </a:lnTo>
              </a:path>
            </a:pathLst>
          </a:custGeom>
          <a:ln w="88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83168" y="3559121"/>
            <a:ext cx="249745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28295" algn="l"/>
              </a:tabLst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F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Symbol" panose="05050102010706020507"/>
                <a:cs typeface="Symbol" panose="05050102010706020507"/>
              </a:rPr>
              <a:t></a:t>
            </a:r>
            <a:r>
              <a:rPr sz="22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3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X</a:t>
            </a:r>
            <a:r>
              <a:rPr sz="220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40" dirty="0">
                <a:latin typeface="Arial" panose="020B0604020202020204"/>
                <a:cs typeface="Arial" panose="020B0604020202020204"/>
              </a:rPr>
              <a:t>Y)</a:t>
            </a:r>
            <a:r>
              <a:rPr sz="2200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40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Y</a:t>
            </a:r>
            <a:r>
              <a:rPr sz="220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</a:t>
            </a:r>
            <a:r>
              <a:rPr sz="22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80" dirty="0">
                <a:latin typeface="Arial" panose="020B0604020202020204"/>
                <a:cs typeface="Arial" panose="020B0604020202020204"/>
              </a:rPr>
              <a:t>Z)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30244" y="3789679"/>
            <a:ext cx="8763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0" dirty="0">
                <a:latin typeface="Times New Roman" panose="02020603050405020304"/>
                <a:cs typeface="Times New Roman" panose="02020603050405020304"/>
              </a:rPr>
              <a:t>1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134343" y="4952371"/>
            <a:ext cx="595630" cy="88900"/>
            <a:chOff x="2134343" y="4952371"/>
            <a:chExt cx="595630" cy="88900"/>
          </a:xfrm>
        </p:grpSpPr>
        <p:sp>
          <p:nvSpPr>
            <p:cNvPr id="21" name="object 21"/>
            <p:cNvSpPr/>
            <p:nvPr/>
          </p:nvSpPr>
          <p:spPr>
            <a:xfrm>
              <a:off x="2526013" y="5036816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>
                  <a:moveTo>
                    <a:pt x="0" y="0"/>
                  </a:moveTo>
                  <a:lnTo>
                    <a:pt x="203454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134343" y="4996433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>
                  <a:moveTo>
                    <a:pt x="0" y="0"/>
                  </a:moveTo>
                  <a:lnTo>
                    <a:pt x="595123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134343" y="4956803"/>
              <a:ext cx="595630" cy="0"/>
            </a:xfrm>
            <a:custGeom>
              <a:avLst/>
              <a:gdLst/>
              <a:ahLst/>
              <a:cxnLst/>
              <a:rect l="l" t="t" r="r" b="b"/>
              <a:pathLst>
                <a:path w="595630">
                  <a:moveTo>
                    <a:pt x="0" y="0"/>
                  </a:moveTo>
                  <a:lnTo>
                    <a:pt x="595123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3265912" y="4992000"/>
            <a:ext cx="696595" cy="49530"/>
            <a:chOff x="3265912" y="4992000"/>
            <a:chExt cx="696595" cy="49530"/>
          </a:xfrm>
        </p:grpSpPr>
        <p:sp>
          <p:nvSpPr>
            <p:cNvPr id="25" name="object 25"/>
            <p:cNvSpPr/>
            <p:nvPr/>
          </p:nvSpPr>
          <p:spPr>
            <a:xfrm>
              <a:off x="3265912" y="5036816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>
                  <a:moveTo>
                    <a:pt x="0" y="0"/>
                  </a:moveTo>
                  <a:lnTo>
                    <a:pt x="203454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265912" y="4996433"/>
              <a:ext cx="696595" cy="0"/>
            </a:xfrm>
            <a:custGeom>
              <a:avLst/>
              <a:gdLst/>
              <a:ahLst/>
              <a:cxnLst/>
              <a:rect l="l" t="t" r="r" b="b"/>
              <a:pathLst>
                <a:path w="696595">
                  <a:moveTo>
                    <a:pt x="0" y="0"/>
                  </a:moveTo>
                  <a:lnTo>
                    <a:pt x="696459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449577" y="4997272"/>
            <a:ext cx="2639695" cy="3670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29565" algn="l"/>
              </a:tabLst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F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Symbol" panose="05050102010706020507"/>
                <a:cs typeface="Symbol" panose="05050102010706020507"/>
              </a:rPr>
              <a:t></a:t>
            </a:r>
            <a:r>
              <a:rPr sz="2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3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X</a:t>
            </a:r>
            <a:r>
              <a:rPr sz="22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35" dirty="0">
                <a:latin typeface="Arial" panose="020B0604020202020204"/>
                <a:cs typeface="Arial" panose="020B0604020202020204"/>
              </a:rPr>
              <a:t>Y)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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4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Y</a:t>
            </a:r>
            <a:r>
              <a:rPr sz="220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</a:t>
            </a:r>
            <a:r>
              <a:rPr sz="22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80" dirty="0">
                <a:latin typeface="Arial" panose="020B0604020202020204"/>
                <a:cs typeface="Arial" panose="020B0604020202020204"/>
              </a:rPr>
              <a:t>Z)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49577" y="4357192"/>
            <a:ext cx="2499360" cy="3670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29565" algn="l"/>
              </a:tabLst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F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Symbol" panose="05050102010706020507"/>
                <a:cs typeface="Symbol" panose="05050102010706020507"/>
              </a:rPr>
              <a:t></a:t>
            </a:r>
            <a:r>
              <a:rPr sz="2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3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X</a:t>
            </a:r>
            <a:r>
              <a:rPr sz="22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35" dirty="0">
                <a:latin typeface="Arial" panose="020B0604020202020204"/>
                <a:cs typeface="Arial" panose="020B0604020202020204"/>
              </a:rPr>
              <a:t>Y)</a:t>
            </a:r>
            <a:r>
              <a:rPr sz="2200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4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Y</a:t>
            </a:r>
            <a:r>
              <a:rPr sz="2200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</a:t>
            </a:r>
            <a:r>
              <a:rPr sz="2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80" dirty="0">
                <a:latin typeface="Arial" panose="020B0604020202020204"/>
                <a:cs typeface="Arial" panose="020B0604020202020204"/>
              </a:rPr>
              <a:t>Z)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97405" y="5228116"/>
            <a:ext cx="876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0" dirty="0">
                <a:latin typeface="Times New Roman" panose="02020603050405020304"/>
                <a:cs typeface="Times New Roman" panose="02020603050405020304"/>
              </a:rPr>
              <a:t>1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97405" y="4588036"/>
            <a:ext cx="876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0" dirty="0">
                <a:latin typeface="Times New Roman" panose="02020603050405020304"/>
                <a:cs typeface="Times New Roman" panose="02020603050405020304"/>
              </a:rPr>
              <a:t>1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41546" y="4979923"/>
            <a:ext cx="16598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;</a:t>
            </a:r>
            <a:r>
              <a:rPr sz="18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Theorem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latin typeface="Arial" panose="020B0604020202020204"/>
                <a:cs typeface="Arial" panose="020B0604020202020204"/>
              </a:rPr>
              <a:t>#14A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57200" y="5352288"/>
            <a:ext cx="9144000" cy="980440"/>
            <a:chOff x="457200" y="5352288"/>
            <a:chExt cx="9144000" cy="980440"/>
          </a:xfrm>
        </p:grpSpPr>
        <p:sp>
          <p:nvSpPr>
            <p:cNvPr id="33" name="object 33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26013" y="5637264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>
                  <a:moveTo>
                    <a:pt x="0" y="0"/>
                  </a:moveTo>
                  <a:lnTo>
                    <a:pt x="203454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265912" y="5596881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>
                  <a:moveTo>
                    <a:pt x="0" y="0"/>
                  </a:moveTo>
                  <a:lnTo>
                    <a:pt x="203454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65912" y="5623548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>
                  <a:moveTo>
                    <a:pt x="0" y="0"/>
                  </a:moveTo>
                  <a:lnTo>
                    <a:pt x="203454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662913" y="5637264"/>
              <a:ext cx="173990" cy="0"/>
            </a:xfrm>
            <a:custGeom>
              <a:avLst/>
              <a:gdLst/>
              <a:ahLst/>
              <a:cxnLst/>
              <a:rect l="l" t="t" r="r" b="b"/>
              <a:pathLst>
                <a:path w="173989">
                  <a:moveTo>
                    <a:pt x="0" y="0"/>
                  </a:moveTo>
                  <a:lnTo>
                    <a:pt x="173730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526013" y="6197329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>
                  <a:moveTo>
                    <a:pt x="0" y="0"/>
                  </a:moveTo>
                  <a:lnTo>
                    <a:pt x="203454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662913" y="6197329"/>
              <a:ext cx="173990" cy="0"/>
            </a:xfrm>
            <a:custGeom>
              <a:avLst/>
              <a:gdLst/>
              <a:ahLst/>
              <a:cxnLst/>
              <a:rect l="l" t="t" r="r" b="b"/>
              <a:pathLst>
                <a:path w="173989">
                  <a:moveTo>
                    <a:pt x="0" y="0"/>
                  </a:moveTo>
                  <a:lnTo>
                    <a:pt x="173730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449534" y="5597728"/>
            <a:ext cx="2513965" cy="3670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29565" algn="l"/>
              </a:tabLst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F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Symbol" panose="05050102010706020507"/>
                <a:cs typeface="Symbol" panose="05050102010706020507"/>
              </a:rPr>
              <a:t></a:t>
            </a:r>
            <a:r>
              <a:rPr sz="2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3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X</a:t>
            </a:r>
            <a:r>
              <a:rPr sz="22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35" dirty="0">
                <a:latin typeface="Arial" panose="020B0604020202020204"/>
                <a:cs typeface="Arial" panose="020B0604020202020204"/>
              </a:rPr>
              <a:t>Y)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</a:t>
            </a:r>
            <a:r>
              <a:rPr sz="2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4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Y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80" dirty="0">
                <a:latin typeface="Arial" panose="020B0604020202020204"/>
                <a:cs typeface="Arial" panose="020B0604020202020204"/>
              </a:rPr>
              <a:t>Z)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97405" y="5828572"/>
            <a:ext cx="876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0" dirty="0">
                <a:latin typeface="Times New Roman" panose="02020603050405020304"/>
                <a:cs typeface="Times New Roman" panose="02020603050405020304"/>
              </a:rPr>
              <a:t>1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41546" y="5546090"/>
            <a:ext cx="2193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;</a:t>
            </a:r>
            <a:r>
              <a:rPr sz="18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Theorem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#9</a:t>
            </a:r>
            <a:r>
              <a:rPr sz="18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&amp;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latin typeface="Arial" panose="020B0604020202020204"/>
                <a:cs typeface="Arial" panose="020B0604020202020204"/>
              </a:rPr>
              <a:t>#14B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41546" y="6112255"/>
            <a:ext cx="1380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;</a:t>
            </a:r>
            <a:r>
              <a:rPr sz="18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Theorem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#9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57200" y="6331458"/>
            <a:ext cx="9144000" cy="984250"/>
            <a:chOff x="457200" y="6331458"/>
            <a:chExt cx="9144000" cy="984250"/>
          </a:xfrm>
        </p:grpSpPr>
        <p:sp>
          <p:nvSpPr>
            <p:cNvPr id="45" name="object 45"/>
            <p:cNvSpPr/>
            <p:nvPr/>
          </p:nvSpPr>
          <p:spPr>
            <a:xfrm>
              <a:off x="457200" y="6331458"/>
              <a:ext cx="9144000" cy="984250"/>
            </a:xfrm>
            <a:custGeom>
              <a:avLst/>
              <a:gdLst/>
              <a:ahLst/>
              <a:cxnLst/>
              <a:rect l="l" t="t" r="r" b="b"/>
              <a:pathLst>
                <a:path w="9144000" h="984250">
                  <a:moveTo>
                    <a:pt x="9144000" y="98374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83742"/>
                  </a:lnTo>
                  <a:lnTo>
                    <a:pt x="9144000" y="9837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255509" y="6758161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>
                  <a:moveTo>
                    <a:pt x="0" y="0"/>
                  </a:moveTo>
                  <a:lnTo>
                    <a:pt x="202685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004547" y="6758161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>
                  <a:moveTo>
                    <a:pt x="0" y="0"/>
                  </a:moveTo>
                  <a:lnTo>
                    <a:pt x="174499" y="0"/>
                  </a:lnTo>
                </a:path>
              </a:pathLst>
            </a:custGeom>
            <a:ln w="8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449551" y="6718628"/>
            <a:ext cx="1737360" cy="3670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29565" algn="l"/>
              </a:tabLst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F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Symbol" panose="05050102010706020507"/>
                <a:cs typeface="Symbol" panose="05050102010706020507"/>
              </a:rPr>
              <a:t></a:t>
            </a:r>
            <a:r>
              <a:rPr sz="2200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20" dirty="0">
                <a:latin typeface="Arial" panose="020B0604020202020204"/>
                <a:cs typeface="Arial" panose="020B0604020202020204"/>
              </a:rPr>
              <a:t>XY</a:t>
            </a:r>
            <a:r>
              <a:rPr sz="220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</a:t>
            </a:r>
            <a:r>
              <a:rPr sz="22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14" dirty="0">
                <a:latin typeface="Arial" panose="020B0604020202020204"/>
                <a:cs typeface="Arial" panose="020B0604020202020204"/>
              </a:rPr>
              <a:t>YZ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49577" y="6158558"/>
            <a:ext cx="2513965" cy="3670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29565" algn="l"/>
              </a:tabLst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F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Symbol" panose="05050102010706020507"/>
                <a:cs typeface="Symbol" panose="05050102010706020507"/>
              </a:rPr>
              <a:t></a:t>
            </a:r>
            <a:r>
              <a:rPr sz="2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3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X</a:t>
            </a:r>
            <a:r>
              <a:rPr sz="22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35" dirty="0">
                <a:latin typeface="Arial" panose="020B0604020202020204"/>
                <a:cs typeface="Arial" panose="020B0604020202020204"/>
              </a:rPr>
              <a:t>Y)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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4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Y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Symbol" panose="05050102010706020507"/>
                <a:cs typeface="Symbol" panose="05050102010706020507"/>
              </a:rPr>
              <a:t>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80" dirty="0">
                <a:latin typeface="Arial" panose="020B0604020202020204"/>
                <a:cs typeface="Arial" panose="020B0604020202020204"/>
              </a:rPr>
              <a:t>Z)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97405" y="6950234"/>
            <a:ext cx="876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0" dirty="0">
                <a:latin typeface="Times New Roman" panose="02020603050405020304"/>
                <a:cs typeface="Times New Roman" panose="02020603050405020304"/>
              </a:rPr>
              <a:t>1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97405" y="6389411"/>
            <a:ext cx="876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0" dirty="0">
                <a:latin typeface="Times New Roman" panose="02020603050405020304"/>
                <a:cs typeface="Times New Roman" panose="02020603050405020304"/>
              </a:rPr>
              <a:t>1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283208" y="6685026"/>
            <a:ext cx="2006600" cy="483234"/>
          </a:xfrm>
          <a:custGeom>
            <a:avLst/>
            <a:gdLst/>
            <a:ahLst/>
            <a:cxnLst/>
            <a:rect l="l" t="t" r="r" b="b"/>
            <a:pathLst>
              <a:path w="2006600" h="483234">
                <a:moveTo>
                  <a:pt x="2006345" y="402335"/>
                </a:moveTo>
                <a:lnTo>
                  <a:pt x="2006345" y="88391"/>
                </a:lnTo>
                <a:lnTo>
                  <a:pt x="2004822" y="70865"/>
                </a:lnTo>
                <a:lnTo>
                  <a:pt x="1976885" y="23126"/>
                </a:lnTo>
                <a:lnTo>
                  <a:pt x="1926336" y="761"/>
                </a:lnTo>
                <a:lnTo>
                  <a:pt x="88392" y="0"/>
                </a:lnTo>
                <a:lnTo>
                  <a:pt x="60695" y="4920"/>
                </a:lnTo>
                <a:lnTo>
                  <a:pt x="15961" y="37894"/>
                </a:lnTo>
                <a:lnTo>
                  <a:pt x="0" y="80771"/>
                </a:lnTo>
                <a:lnTo>
                  <a:pt x="0" y="394715"/>
                </a:lnTo>
                <a:lnTo>
                  <a:pt x="12343" y="439703"/>
                </a:lnTo>
                <a:lnTo>
                  <a:pt x="25146" y="455788"/>
                </a:lnTo>
                <a:lnTo>
                  <a:pt x="25146" y="89153"/>
                </a:lnTo>
                <a:lnTo>
                  <a:pt x="26670" y="75437"/>
                </a:lnTo>
                <a:lnTo>
                  <a:pt x="48767" y="39623"/>
                </a:lnTo>
                <a:lnTo>
                  <a:pt x="54102" y="36575"/>
                </a:lnTo>
                <a:lnTo>
                  <a:pt x="58674" y="32765"/>
                </a:lnTo>
                <a:lnTo>
                  <a:pt x="1924812" y="25907"/>
                </a:lnTo>
                <a:lnTo>
                  <a:pt x="1930908" y="27431"/>
                </a:lnTo>
                <a:lnTo>
                  <a:pt x="1964988" y="46958"/>
                </a:lnTo>
                <a:lnTo>
                  <a:pt x="1980438" y="83057"/>
                </a:lnTo>
                <a:lnTo>
                  <a:pt x="1981200" y="89915"/>
                </a:lnTo>
                <a:lnTo>
                  <a:pt x="1981200" y="455523"/>
                </a:lnTo>
                <a:lnTo>
                  <a:pt x="1984133" y="453132"/>
                </a:lnTo>
                <a:lnTo>
                  <a:pt x="1998671" y="430279"/>
                </a:lnTo>
                <a:lnTo>
                  <a:pt x="2006345" y="402335"/>
                </a:lnTo>
                <a:close/>
              </a:path>
              <a:path w="2006600" h="483234">
                <a:moveTo>
                  <a:pt x="1981200" y="455523"/>
                </a:moveTo>
                <a:lnTo>
                  <a:pt x="1981200" y="393953"/>
                </a:lnTo>
                <a:lnTo>
                  <a:pt x="1979676" y="407669"/>
                </a:lnTo>
                <a:lnTo>
                  <a:pt x="1971928" y="426587"/>
                </a:lnTo>
                <a:lnTo>
                  <a:pt x="1959573" y="441755"/>
                </a:lnTo>
                <a:lnTo>
                  <a:pt x="1943173" y="452263"/>
                </a:lnTo>
                <a:lnTo>
                  <a:pt x="1923288" y="457199"/>
                </a:lnTo>
                <a:lnTo>
                  <a:pt x="88392" y="457101"/>
                </a:lnTo>
                <a:lnTo>
                  <a:pt x="51092" y="445127"/>
                </a:lnTo>
                <a:lnTo>
                  <a:pt x="28194" y="412241"/>
                </a:lnTo>
                <a:lnTo>
                  <a:pt x="25146" y="400049"/>
                </a:lnTo>
                <a:lnTo>
                  <a:pt x="25146" y="455788"/>
                </a:lnTo>
                <a:lnTo>
                  <a:pt x="56958" y="477134"/>
                </a:lnTo>
                <a:lnTo>
                  <a:pt x="1917954" y="483107"/>
                </a:lnTo>
                <a:lnTo>
                  <a:pt x="1927098" y="482345"/>
                </a:lnTo>
                <a:lnTo>
                  <a:pt x="1936242" y="480821"/>
                </a:lnTo>
                <a:lnTo>
                  <a:pt x="1963176" y="470208"/>
                </a:lnTo>
                <a:lnTo>
                  <a:pt x="1981200" y="455523"/>
                </a:lnTo>
                <a:close/>
              </a:path>
            </a:pathLst>
          </a:custGeom>
          <a:solidFill>
            <a:srgbClr val="005B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241546" y="6679183"/>
            <a:ext cx="34023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;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Rewritten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without</a:t>
            </a:r>
            <a:r>
              <a:rPr sz="1800" spc="37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AND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symbols </a:t>
            </a:r>
            <a:r>
              <a:rPr sz="1800" dirty="0">
                <a:latin typeface="Arial" panose="020B0604020202020204"/>
                <a:cs typeface="Arial" panose="020B0604020202020204"/>
              </a:rPr>
              <a:t>and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 parentheses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939276" y="6731000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 panose="020B0604020202020204"/>
                <a:cs typeface="Arial" panose="020B0604020202020204"/>
              </a:rPr>
              <a:t>8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508" y="667112"/>
            <a:ext cx="6301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DeMorgan’s:</a:t>
            </a:r>
            <a:r>
              <a:rPr spc="-215" dirty="0"/>
              <a:t> </a:t>
            </a:r>
            <a:r>
              <a:rPr dirty="0"/>
              <a:t>Example</a:t>
            </a:r>
            <a:r>
              <a:rPr spc="-210" dirty="0"/>
              <a:t> </a:t>
            </a:r>
            <a:r>
              <a:rPr spc="-25" dirty="0"/>
              <a:t>#2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436369"/>
            <a:ext cx="9144000" cy="1958339"/>
            <a:chOff x="457200" y="1436369"/>
            <a:chExt cx="9144000" cy="1958339"/>
          </a:xfrm>
        </p:grpSpPr>
        <p:sp>
          <p:nvSpPr>
            <p:cNvPr id="4" name="object 4"/>
            <p:cNvSpPr/>
            <p:nvPr/>
          </p:nvSpPr>
          <p:spPr>
            <a:xfrm>
              <a:off x="457200" y="1436369"/>
              <a:ext cx="9144000" cy="979169"/>
            </a:xfrm>
            <a:custGeom>
              <a:avLst/>
              <a:gdLst/>
              <a:ahLst/>
              <a:cxnLst/>
              <a:rect l="l" t="t" r="r" b="b"/>
              <a:pathLst>
                <a:path w="9144000" h="979169">
                  <a:moveTo>
                    <a:pt x="9144000" y="979169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170"/>
                  </a:lnTo>
                  <a:lnTo>
                    <a:pt x="9144000" y="97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6508" y="1638299"/>
              <a:ext cx="8046719" cy="922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241477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91539" y="1777999"/>
            <a:ext cx="795655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So,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where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would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such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odd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Boolean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expression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come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from? </a:t>
            </a:r>
            <a:r>
              <a:rPr sz="2200" dirty="0">
                <a:latin typeface="Arial" panose="020B0604020202020204"/>
                <a:cs typeface="Arial" panose="020B0604020202020204"/>
              </a:rPr>
              <a:t>Take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look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VERY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poorly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designed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logic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circuit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shown </a:t>
            </a:r>
            <a:r>
              <a:rPr sz="2200" dirty="0">
                <a:latin typeface="Arial" panose="020B0604020202020204"/>
                <a:cs typeface="Arial" panose="020B0604020202020204"/>
              </a:rPr>
              <a:t>below.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you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were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analyze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this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circuit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determine the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output </a:t>
            </a:r>
            <a:r>
              <a:rPr sz="2200" dirty="0">
                <a:latin typeface="Arial" panose="020B0604020202020204"/>
                <a:cs typeface="Arial" panose="020B0604020202020204"/>
              </a:rPr>
              <a:t>function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2</a:t>
            </a:r>
            <a:r>
              <a:rPr sz="2200" dirty="0">
                <a:latin typeface="Arial" panose="020B0604020202020204"/>
                <a:cs typeface="Arial" panose="020B0604020202020204"/>
              </a:rPr>
              <a:t>,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you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would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obtain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results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shown.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4667" y="3572021"/>
            <a:ext cx="6334543" cy="80185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61769" y="3532566"/>
            <a:ext cx="162560" cy="506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35"/>
              </a:spcBef>
            </a:pPr>
            <a:r>
              <a:rPr sz="1550" spc="20" dirty="0">
                <a:latin typeface="Arial" panose="020B0604020202020204"/>
                <a:cs typeface="Arial" panose="020B0604020202020204"/>
              </a:rPr>
              <a:t>X</a:t>
            </a:r>
            <a:endParaRPr sz="15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50" spc="25" dirty="0">
                <a:latin typeface="Arial" panose="020B0604020202020204"/>
                <a:cs typeface="Arial" panose="020B0604020202020204"/>
              </a:rPr>
              <a:t>Y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3498" y="3467351"/>
            <a:ext cx="29527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spc="-25" dirty="0">
                <a:latin typeface="Arial" panose="020B0604020202020204"/>
                <a:cs typeface="Arial" panose="020B0604020202020204"/>
              </a:rPr>
              <a:t>XY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34078" y="3525773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>
                <a:moveTo>
                  <a:pt x="0" y="0"/>
                </a:moveTo>
                <a:lnTo>
                  <a:pt x="265176" y="0"/>
                </a:lnTo>
              </a:path>
            </a:pathLst>
          </a:custGeom>
          <a:ln w="62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24426" y="3494466"/>
            <a:ext cx="29464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 panose="020B0604020202020204"/>
                <a:cs typeface="Arial" panose="020B0604020202020204"/>
              </a:rPr>
              <a:t>XY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49345" y="4135373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302" y="0"/>
                </a:lnTo>
              </a:path>
            </a:pathLst>
          </a:custGeom>
          <a:ln w="63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140455" y="4104066"/>
            <a:ext cx="16002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20" dirty="0">
                <a:latin typeface="Arial" panose="020B0604020202020204"/>
                <a:cs typeface="Arial" panose="020B0604020202020204"/>
              </a:rPr>
              <a:t>X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99227" y="3685666"/>
            <a:ext cx="882650" cy="6350"/>
            <a:chOff x="5499227" y="3685666"/>
            <a:chExt cx="882650" cy="6350"/>
          </a:xfrm>
        </p:grpSpPr>
        <p:sp>
          <p:nvSpPr>
            <p:cNvPr id="16" name="object 16"/>
            <p:cNvSpPr/>
            <p:nvPr/>
          </p:nvSpPr>
          <p:spPr>
            <a:xfrm>
              <a:off x="5502402" y="3688841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>
                  <a:moveTo>
                    <a:pt x="0" y="0"/>
                  </a:moveTo>
                  <a:lnTo>
                    <a:pt x="129539" y="0"/>
                  </a:lnTo>
                </a:path>
              </a:pathLst>
            </a:custGeom>
            <a:ln w="62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12764" y="3688841"/>
              <a:ext cx="266065" cy="0"/>
            </a:xfrm>
            <a:custGeom>
              <a:avLst/>
              <a:gdLst/>
              <a:ahLst/>
              <a:cxnLst/>
              <a:rect l="l" t="t" r="r" b="b"/>
              <a:pathLst>
                <a:path w="266064">
                  <a:moveTo>
                    <a:pt x="0" y="0"/>
                  </a:moveTo>
                  <a:lnTo>
                    <a:pt x="265938" y="0"/>
                  </a:lnTo>
                </a:path>
              </a:pathLst>
            </a:custGeom>
            <a:ln w="62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410463" y="3657588"/>
            <a:ext cx="106108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70" dirty="0">
                <a:latin typeface="Arial" panose="020B0604020202020204"/>
                <a:cs typeface="Arial" panose="020B0604020202020204"/>
              </a:rPr>
              <a:t>(X</a:t>
            </a:r>
            <a:r>
              <a:rPr sz="155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550" dirty="0">
                <a:latin typeface="Symbol" panose="05050102010706020507"/>
                <a:cs typeface="Symbol" panose="05050102010706020507"/>
              </a:rPr>
              <a:t></a:t>
            </a:r>
            <a:r>
              <a:rPr sz="15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40" dirty="0">
                <a:latin typeface="Arial" panose="020B0604020202020204"/>
                <a:cs typeface="Arial" panose="020B0604020202020204"/>
              </a:rPr>
              <a:t>Z)(XY)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025256" y="3825875"/>
            <a:ext cx="1016000" cy="34925"/>
            <a:chOff x="8025256" y="3825875"/>
            <a:chExt cx="1016000" cy="34925"/>
          </a:xfrm>
        </p:grpSpPr>
        <p:sp>
          <p:nvSpPr>
            <p:cNvPr id="20" name="object 20"/>
            <p:cNvSpPr/>
            <p:nvPr/>
          </p:nvSpPr>
          <p:spPr>
            <a:xfrm>
              <a:off x="8095487" y="3857244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40">
                  <a:moveTo>
                    <a:pt x="0" y="0"/>
                  </a:moveTo>
                  <a:lnTo>
                    <a:pt x="129539" y="0"/>
                  </a:lnTo>
                </a:path>
              </a:pathLst>
            </a:custGeom>
            <a:ln w="62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705849" y="3857244"/>
              <a:ext cx="266065" cy="0"/>
            </a:xfrm>
            <a:custGeom>
              <a:avLst/>
              <a:gdLst/>
              <a:ahLst/>
              <a:cxnLst/>
              <a:rect l="l" t="t" r="r" b="b"/>
              <a:pathLst>
                <a:path w="266065">
                  <a:moveTo>
                    <a:pt x="0" y="0"/>
                  </a:moveTo>
                  <a:lnTo>
                    <a:pt x="265938" y="0"/>
                  </a:lnTo>
                </a:path>
              </a:pathLst>
            </a:custGeom>
            <a:ln w="62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028431" y="3829050"/>
              <a:ext cx="1009650" cy="0"/>
            </a:xfrm>
            <a:custGeom>
              <a:avLst/>
              <a:gdLst/>
              <a:ahLst/>
              <a:cxnLst/>
              <a:rect l="l" t="t" r="r" b="b"/>
              <a:pathLst>
                <a:path w="1009650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ln w="62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33030" y="3989050"/>
            <a:ext cx="74295" cy="131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27879" y="3825737"/>
            <a:ext cx="14370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 panose="020B0604020202020204"/>
                <a:cs typeface="Arial" panose="020B0604020202020204"/>
              </a:rPr>
              <a:t>F</a:t>
            </a:r>
            <a:r>
              <a:rPr sz="1550" spc="375" dirty="0">
                <a:latin typeface="Arial" panose="020B0604020202020204"/>
                <a:cs typeface="Arial" panose="020B0604020202020204"/>
              </a:rPr>
              <a:t> </a:t>
            </a:r>
            <a:r>
              <a:rPr sz="1550" dirty="0">
                <a:latin typeface="Symbol" panose="05050102010706020507"/>
                <a:cs typeface="Symbol" panose="05050102010706020507"/>
              </a:rPr>
              <a:t></a:t>
            </a:r>
            <a:r>
              <a:rPr sz="15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latin typeface="Arial" panose="020B0604020202020204"/>
                <a:cs typeface="Arial" panose="020B0604020202020204"/>
              </a:rPr>
              <a:t>(</a:t>
            </a:r>
            <a:r>
              <a:rPr sz="1550" spc="-305" dirty="0">
                <a:latin typeface="Arial" panose="020B0604020202020204"/>
                <a:cs typeface="Arial" panose="020B0604020202020204"/>
              </a:rPr>
              <a:t> </a:t>
            </a:r>
            <a:r>
              <a:rPr sz="1550" dirty="0">
                <a:latin typeface="Arial" panose="020B0604020202020204"/>
                <a:cs typeface="Arial" panose="020B0604020202020204"/>
              </a:rPr>
              <a:t>X</a:t>
            </a:r>
            <a:r>
              <a:rPr sz="155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550" dirty="0">
                <a:latin typeface="Symbol" panose="05050102010706020507"/>
                <a:cs typeface="Symbol" panose="05050102010706020507"/>
              </a:rPr>
              <a:t></a:t>
            </a:r>
            <a:r>
              <a:rPr sz="1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40" dirty="0">
                <a:latin typeface="Arial" panose="020B0604020202020204"/>
                <a:cs typeface="Arial" panose="020B0604020202020204"/>
              </a:rPr>
              <a:t>Z)(XY)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04667" y="4373879"/>
            <a:ext cx="3238500" cy="331470"/>
            <a:chOff x="1704667" y="4373879"/>
            <a:chExt cx="3238500" cy="33147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4667" y="4373879"/>
              <a:ext cx="3238500" cy="33101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548377" y="4592573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>
                  <a:moveTo>
                    <a:pt x="0" y="0"/>
                  </a:moveTo>
                  <a:lnTo>
                    <a:pt x="129539" y="0"/>
                  </a:lnTo>
                </a:path>
              </a:pathLst>
            </a:custGeom>
            <a:ln w="62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470913" y="4504170"/>
            <a:ext cx="1485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20" dirty="0">
                <a:latin typeface="Arial" panose="020B0604020202020204"/>
                <a:cs typeface="Arial" panose="020B0604020202020204"/>
              </a:rPr>
              <a:t>Z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38733" y="4561320"/>
            <a:ext cx="48069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Arial" panose="020B0604020202020204"/>
                <a:cs typeface="Arial" panose="020B0604020202020204"/>
              </a:rPr>
              <a:t>X</a:t>
            </a:r>
            <a:r>
              <a:rPr sz="155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550" dirty="0">
                <a:latin typeface="Symbol" panose="05050102010706020507"/>
                <a:cs typeface="Symbol" panose="05050102010706020507"/>
              </a:rPr>
              <a:t></a:t>
            </a:r>
            <a:r>
              <a:rPr sz="15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50" dirty="0">
                <a:latin typeface="Arial" panose="020B0604020202020204"/>
                <a:cs typeface="Arial" panose="020B0604020202020204"/>
              </a:rPr>
              <a:t>Z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7200" y="5352288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2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904239" y="4978705"/>
            <a:ext cx="8134350" cy="167132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0"/>
              </a:spcBef>
            </a:pPr>
            <a:r>
              <a:rPr sz="2200" i="1" spc="-10" dirty="0">
                <a:latin typeface="Arial" panose="020B0604020202020204"/>
                <a:cs typeface="Arial" panose="020B0604020202020204"/>
              </a:rPr>
              <a:t>Example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24815" marR="43180">
              <a:lnSpc>
                <a:spcPct val="100000"/>
              </a:lnSpc>
              <a:spcBef>
                <a:spcPts val="120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Simplify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function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2</a:t>
            </a:r>
            <a:r>
              <a:rPr sz="2200" dirty="0">
                <a:latin typeface="Arial" panose="020B0604020202020204"/>
                <a:cs typeface="Arial" panose="020B0604020202020204"/>
              </a:rPr>
              <a:t>.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Be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sure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note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Boolean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or </a:t>
            </a:r>
            <a:r>
              <a:rPr sz="2200" dirty="0">
                <a:latin typeface="Arial" panose="020B0604020202020204"/>
                <a:cs typeface="Arial" panose="020B0604020202020204"/>
              </a:rPr>
              <a:t>DeMorgan’s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theorem</a:t>
            </a:r>
            <a:r>
              <a:rPr sz="22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used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each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step.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Put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 answer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in </a:t>
            </a:r>
            <a:r>
              <a:rPr sz="2200" dirty="0">
                <a:latin typeface="Arial" panose="020B0604020202020204"/>
                <a:cs typeface="Arial" panose="020B0604020202020204"/>
              </a:rPr>
              <a:t>SOP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form.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20444"/>
            <a:ext cx="6301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DeMorgan’s:</a:t>
            </a:r>
            <a:r>
              <a:rPr spc="-215" dirty="0"/>
              <a:t> </a:t>
            </a:r>
            <a:r>
              <a:rPr dirty="0"/>
              <a:t>Example</a:t>
            </a:r>
            <a:r>
              <a:rPr spc="-210" dirty="0"/>
              <a:t> </a:t>
            </a:r>
            <a:r>
              <a:rPr spc="-25" dirty="0"/>
              <a:t>#2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436369"/>
            <a:ext cx="9144000" cy="979169"/>
            <a:chOff x="457200" y="1436369"/>
            <a:chExt cx="9144000" cy="979169"/>
          </a:xfrm>
        </p:grpSpPr>
        <p:sp>
          <p:nvSpPr>
            <p:cNvPr id="4" name="object 4"/>
            <p:cNvSpPr/>
            <p:nvPr/>
          </p:nvSpPr>
          <p:spPr>
            <a:xfrm>
              <a:off x="457200" y="1436369"/>
              <a:ext cx="9144000" cy="979169"/>
            </a:xfrm>
            <a:custGeom>
              <a:avLst/>
              <a:gdLst/>
              <a:ahLst/>
              <a:cxnLst/>
              <a:rect l="l" t="t" r="r" b="b"/>
              <a:pathLst>
                <a:path w="9144000" h="979169">
                  <a:moveTo>
                    <a:pt x="9144000" y="979169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170"/>
                  </a:lnTo>
                  <a:lnTo>
                    <a:pt x="9144000" y="97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6508" y="1638299"/>
              <a:ext cx="8046719" cy="9220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942338" y="2558592"/>
            <a:ext cx="1534160" cy="53340"/>
            <a:chOff x="1942338" y="2558592"/>
            <a:chExt cx="1534160" cy="53340"/>
          </a:xfrm>
        </p:grpSpPr>
        <p:sp>
          <p:nvSpPr>
            <p:cNvPr id="7" name="object 7"/>
            <p:cNvSpPr/>
            <p:nvPr/>
          </p:nvSpPr>
          <p:spPr>
            <a:xfrm>
              <a:off x="2043684" y="2606802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196596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971800" y="2606802"/>
              <a:ext cx="403860" cy="0"/>
            </a:xfrm>
            <a:custGeom>
              <a:avLst/>
              <a:gdLst/>
              <a:ahLst/>
              <a:cxnLst/>
              <a:rect l="l" t="t" r="r" b="b"/>
              <a:pathLst>
                <a:path w="403860">
                  <a:moveTo>
                    <a:pt x="0" y="0"/>
                  </a:moveTo>
                  <a:lnTo>
                    <a:pt x="403860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42338" y="2563368"/>
              <a:ext cx="1534160" cy="0"/>
            </a:xfrm>
            <a:custGeom>
              <a:avLst/>
              <a:gdLst/>
              <a:ahLst/>
              <a:cxnLst/>
              <a:rect l="l" t="t" r="r" b="b"/>
              <a:pathLst>
                <a:path w="1534160">
                  <a:moveTo>
                    <a:pt x="0" y="0"/>
                  </a:moveTo>
                  <a:lnTo>
                    <a:pt x="1533906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2043683" y="3204006"/>
            <a:ext cx="687705" cy="53340"/>
            <a:chOff x="2043683" y="3204006"/>
            <a:chExt cx="687705" cy="53340"/>
          </a:xfrm>
        </p:grpSpPr>
        <p:sp>
          <p:nvSpPr>
            <p:cNvPr id="11" name="object 11"/>
            <p:cNvSpPr/>
            <p:nvPr/>
          </p:nvSpPr>
          <p:spPr>
            <a:xfrm>
              <a:off x="2043683" y="3252215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196596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043683" y="3208781"/>
              <a:ext cx="687705" cy="0"/>
            </a:xfrm>
            <a:custGeom>
              <a:avLst/>
              <a:gdLst/>
              <a:ahLst/>
              <a:cxnLst/>
              <a:rect l="l" t="t" r="r" b="b"/>
              <a:pathLst>
                <a:path w="687705">
                  <a:moveTo>
                    <a:pt x="0" y="0"/>
                  </a:moveTo>
                  <a:lnTo>
                    <a:pt x="687324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3249929" y="3204006"/>
            <a:ext cx="403860" cy="38735"/>
            <a:chOff x="3249929" y="3204006"/>
            <a:chExt cx="403860" cy="38735"/>
          </a:xfrm>
        </p:grpSpPr>
        <p:sp>
          <p:nvSpPr>
            <p:cNvPr id="14" name="object 14"/>
            <p:cNvSpPr/>
            <p:nvPr/>
          </p:nvSpPr>
          <p:spPr>
            <a:xfrm>
              <a:off x="3249929" y="3208781"/>
              <a:ext cx="403860" cy="0"/>
            </a:xfrm>
            <a:custGeom>
              <a:avLst/>
              <a:gdLst/>
              <a:ahLst/>
              <a:cxnLst/>
              <a:rect l="l" t="t" r="r" b="b"/>
              <a:pathLst>
                <a:path w="403860">
                  <a:moveTo>
                    <a:pt x="0" y="0"/>
                  </a:moveTo>
                  <a:lnTo>
                    <a:pt x="403860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49929" y="3237737"/>
              <a:ext cx="403860" cy="0"/>
            </a:xfrm>
            <a:custGeom>
              <a:avLst/>
              <a:gdLst/>
              <a:ahLst/>
              <a:cxnLst/>
              <a:rect l="l" t="t" r="r" b="b"/>
              <a:pathLst>
                <a:path w="403860">
                  <a:moveTo>
                    <a:pt x="0" y="0"/>
                  </a:moveTo>
                  <a:lnTo>
                    <a:pt x="403860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2043683" y="3850182"/>
            <a:ext cx="687705" cy="52705"/>
            <a:chOff x="2043683" y="3850182"/>
            <a:chExt cx="687705" cy="52705"/>
          </a:xfrm>
        </p:grpSpPr>
        <p:sp>
          <p:nvSpPr>
            <p:cNvPr id="17" name="object 17"/>
            <p:cNvSpPr/>
            <p:nvPr/>
          </p:nvSpPr>
          <p:spPr>
            <a:xfrm>
              <a:off x="2043683" y="3897630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196596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43683" y="3854958"/>
              <a:ext cx="687705" cy="0"/>
            </a:xfrm>
            <a:custGeom>
              <a:avLst/>
              <a:gdLst/>
              <a:ahLst/>
              <a:cxnLst/>
              <a:rect l="l" t="t" r="r" b="b"/>
              <a:pathLst>
                <a:path w="687705">
                  <a:moveTo>
                    <a:pt x="0" y="0"/>
                  </a:moveTo>
                  <a:lnTo>
                    <a:pt x="687324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964940" y="3305809"/>
            <a:ext cx="183768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;</a:t>
            </a:r>
            <a:r>
              <a:rPr sz="2000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Theorem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#14A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64940" y="3940555"/>
            <a:ext cx="15278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;</a:t>
            </a:r>
            <a:r>
              <a:rPr sz="2000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Theorem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#9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43683" y="4495596"/>
            <a:ext cx="196850" cy="38735"/>
            <a:chOff x="2043683" y="4495596"/>
            <a:chExt cx="196850" cy="38735"/>
          </a:xfrm>
        </p:grpSpPr>
        <p:sp>
          <p:nvSpPr>
            <p:cNvPr id="22" name="object 22"/>
            <p:cNvSpPr/>
            <p:nvPr/>
          </p:nvSpPr>
          <p:spPr>
            <a:xfrm>
              <a:off x="2043683" y="4500372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196596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43683" y="4529328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196596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2327148" y="4543044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>
                <a:moveTo>
                  <a:pt x="0" y="0"/>
                </a:moveTo>
                <a:lnTo>
                  <a:pt x="172974" y="0"/>
                </a:lnTo>
              </a:path>
            </a:pathLst>
          </a:custGeom>
          <a:ln w="95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27148" y="5145785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>
                <a:moveTo>
                  <a:pt x="0" y="0"/>
                </a:moveTo>
                <a:lnTo>
                  <a:pt x="172974" y="0"/>
                </a:lnTo>
              </a:path>
            </a:pathLst>
          </a:custGeom>
          <a:ln w="95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964940" y="4576064"/>
            <a:ext cx="18383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;</a:t>
            </a:r>
            <a:r>
              <a:rPr sz="2000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Theorem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#14B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7200" y="5352288"/>
            <a:ext cx="9144000" cy="980440"/>
            <a:chOff x="457200" y="5352288"/>
            <a:chExt cx="9144000" cy="980440"/>
          </a:xfrm>
        </p:grpSpPr>
        <p:sp>
          <p:nvSpPr>
            <p:cNvPr id="28" name="object 28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26564" y="5748528"/>
              <a:ext cx="173355" cy="0"/>
            </a:xfrm>
            <a:custGeom>
              <a:avLst/>
              <a:gdLst/>
              <a:ahLst/>
              <a:cxnLst/>
              <a:rect l="l" t="t" r="r" b="b"/>
              <a:pathLst>
                <a:path w="173355">
                  <a:moveTo>
                    <a:pt x="0" y="0"/>
                  </a:moveTo>
                  <a:lnTo>
                    <a:pt x="172974" y="0"/>
                  </a:lnTo>
                </a:path>
              </a:pathLst>
            </a:custGeom>
            <a:ln w="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  <a:endParaRPr spc="-10" dirty="0"/>
          </a:p>
          <a:p>
            <a:pPr marL="392430">
              <a:lnSpc>
                <a:spcPts val="2420"/>
              </a:lnSpc>
              <a:spcBef>
                <a:spcPts val="1765"/>
              </a:spcBef>
            </a:pPr>
            <a:r>
              <a:rPr sz="2400" i="0" dirty="0">
                <a:latin typeface="Arial" panose="020B0604020202020204"/>
                <a:cs typeface="Arial" panose="020B0604020202020204"/>
              </a:rPr>
              <a:t>F</a:t>
            </a:r>
            <a:r>
              <a:rPr sz="2400" i="0" spc="254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</a:t>
            </a:r>
            <a:r>
              <a:rPr sz="2400" i="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90" dirty="0">
                <a:latin typeface="Arial" panose="020B0604020202020204"/>
                <a:cs typeface="Arial" panose="020B0604020202020204"/>
              </a:rPr>
              <a:t>(X</a:t>
            </a:r>
            <a:r>
              <a:rPr sz="2400" i="0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</a:t>
            </a:r>
            <a:r>
              <a:rPr sz="24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45" dirty="0">
                <a:latin typeface="Arial" panose="020B0604020202020204"/>
                <a:cs typeface="Arial" panose="020B0604020202020204"/>
              </a:rPr>
              <a:t>Z)(XY)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93090">
              <a:lnSpc>
                <a:spcPts val="800"/>
              </a:lnSpc>
            </a:pPr>
            <a:r>
              <a:rPr sz="1050" i="0" dirty="0">
                <a:latin typeface="Times New Roman" panose="02020603050405020304"/>
                <a:cs typeface="Times New Roman" panose="02020603050405020304"/>
              </a:rPr>
              <a:t>2</a:t>
            </a:r>
            <a:endParaRPr sz="10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92430">
              <a:lnSpc>
                <a:spcPts val="2415"/>
              </a:lnSpc>
            </a:pPr>
            <a:r>
              <a:rPr sz="2400" i="0" dirty="0">
                <a:latin typeface="Arial" panose="020B0604020202020204"/>
                <a:cs typeface="Arial" panose="020B0604020202020204"/>
              </a:rPr>
              <a:t>F</a:t>
            </a:r>
            <a:r>
              <a:rPr sz="2400" i="0" spc="26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</a:t>
            </a:r>
            <a:r>
              <a:rPr sz="2400" i="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90" dirty="0">
                <a:latin typeface="Arial" panose="020B0604020202020204"/>
                <a:cs typeface="Arial" panose="020B0604020202020204"/>
              </a:rPr>
              <a:t>(X</a:t>
            </a:r>
            <a:r>
              <a:rPr sz="2400" i="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</a:t>
            </a:r>
            <a:r>
              <a:rPr sz="24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dirty="0">
                <a:latin typeface="Arial" panose="020B0604020202020204"/>
                <a:cs typeface="Arial" panose="020B0604020202020204"/>
              </a:rPr>
              <a:t>Z)</a:t>
            </a:r>
            <a:r>
              <a:rPr sz="2400" i="0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</a:t>
            </a:r>
            <a:r>
              <a:rPr sz="2400" i="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45" dirty="0">
                <a:latin typeface="Arial" panose="020B0604020202020204"/>
                <a:cs typeface="Arial" panose="020B0604020202020204"/>
              </a:rPr>
              <a:t>(XY)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93090">
              <a:lnSpc>
                <a:spcPts val="795"/>
              </a:lnSpc>
            </a:pPr>
            <a:r>
              <a:rPr sz="1050" i="0" dirty="0">
                <a:latin typeface="Times New Roman" panose="02020603050405020304"/>
                <a:cs typeface="Times New Roman" panose="02020603050405020304"/>
              </a:rPr>
              <a:t>2</a:t>
            </a:r>
            <a:endParaRPr sz="10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92430">
              <a:lnSpc>
                <a:spcPts val="2415"/>
              </a:lnSpc>
            </a:pPr>
            <a:r>
              <a:rPr sz="2400" i="0" dirty="0">
                <a:latin typeface="Arial" panose="020B0604020202020204"/>
                <a:cs typeface="Arial" panose="020B0604020202020204"/>
              </a:rPr>
              <a:t>F</a:t>
            </a:r>
            <a:r>
              <a:rPr sz="2400" i="0" spc="26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</a:t>
            </a:r>
            <a:r>
              <a:rPr sz="2400" i="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90" dirty="0">
                <a:latin typeface="Arial" panose="020B0604020202020204"/>
                <a:cs typeface="Arial" panose="020B0604020202020204"/>
              </a:rPr>
              <a:t>(X</a:t>
            </a:r>
            <a:r>
              <a:rPr sz="2400" i="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</a:t>
            </a:r>
            <a:r>
              <a:rPr sz="24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dirty="0">
                <a:latin typeface="Arial" panose="020B0604020202020204"/>
                <a:cs typeface="Arial" panose="020B0604020202020204"/>
              </a:rPr>
              <a:t>Z)</a:t>
            </a:r>
            <a:r>
              <a:rPr sz="2400" i="0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</a:t>
            </a:r>
            <a:r>
              <a:rPr sz="2400" i="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45" dirty="0">
                <a:latin typeface="Arial" panose="020B0604020202020204"/>
                <a:cs typeface="Arial" panose="020B0604020202020204"/>
              </a:rPr>
              <a:t>(XY)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93090">
              <a:lnSpc>
                <a:spcPts val="795"/>
              </a:lnSpc>
            </a:pPr>
            <a:r>
              <a:rPr sz="1050" i="0" dirty="0">
                <a:latin typeface="Times New Roman" panose="02020603050405020304"/>
                <a:cs typeface="Times New Roman" panose="02020603050405020304"/>
              </a:rPr>
              <a:t>2</a:t>
            </a:r>
            <a:endParaRPr sz="10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92430">
              <a:lnSpc>
                <a:spcPts val="2415"/>
              </a:lnSpc>
            </a:pPr>
            <a:r>
              <a:rPr sz="2400" i="0" dirty="0">
                <a:latin typeface="Arial" panose="020B0604020202020204"/>
                <a:cs typeface="Arial" panose="020B0604020202020204"/>
              </a:rPr>
              <a:t>F</a:t>
            </a:r>
            <a:r>
              <a:rPr sz="2400" i="0" spc="26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</a:t>
            </a:r>
            <a:r>
              <a:rPr sz="2400" i="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90" dirty="0">
                <a:latin typeface="Arial" panose="020B0604020202020204"/>
                <a:cs typeface="Arial" panose="020B0604020202020204"/>
              </a:rPr>
              <a:t>(X</a:t>
            </a:r>
            <a:r>
              <a:rPr sz="2400" i="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Arial" panose="020B0604020202020204"/>
                <a:cs typeface="Arial" panose="020B0604020202020204"/>
              </a:rPr>
              <a:t>Z)</a:t>
            </a:r>
            <a:r>
              <a:rPr sz="2400" i="0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</a:t>
            </a:r>
            <a:r>
              <a:rPr sz="2400" i="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45" dirty="0">
                <a:latin typeface="Arial" panose="020B0604020202020204"/>
                <a:cs typeface="Arial" panose="020B0604020202020204"/>
              </a:rPr>
              <a:t>(XY)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93090">
              <a:lnSpc>
                <a:spcPts val="795"/>
              </a:lnSpc>
            </a:pPr>
            <a:r>
              <a:rPr sz="1050" i="0" dirty="0">
                <a:latin typeface="Times New Roman" panose="02020603050405020304"/>
                <a:cs typeface="Times New Roman" panose="02020603050405020304"/>
              </a:rPr>
              <a:t>2</a:t>
            </a:r>
            <a:endParaRPr sz="10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392430">
              <a:lnSpc>
                <a:spcPts val="2415"/>
              </a:lnSpc>
            </a:pPr>
            <a:r>
              <a:rPr sz="2400" i="0" dirty="0">
                <a:latin typeface="Arial" panose="020B0604020202020204"/>
                <a:cs typeface="Arial" panose="020B0604020202020204"/>
              </a:rPr>
              <a:t>F</a:t>
            </a:r>
            <a:r>
              <a:rPr sz="2400" i="0" spc="26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</a:t>
            </a:r>
            <a:r>
              <a:rPr sz="2400" i="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90" dirty="0">
                <a:latin typeface="Arial" panose="020B0604020202020204"/>
                <a:cs typeface="Arial" panose="020B0604020202020204"/>
              </a:rPr>
              <a:t>(X</a:t>
            </a:r>
            <a:r>
              <a:rPr sz="2400" i="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Arial" panose="020B0604020202020204"/>
                <a:cs typeface="Arial" panose="020B0604020202020204"/>
              </a:rPr>
              <a:t>Z)</a:t>
            </a:r>
            <a:r>
              <a:rPr sz="2400" i="0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</a:t>
            </a:r>
            <a:r>
              <a:rPr sz="2400" i="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45" dirty="0">
                <a:latin typeface="Arial" panose="020B0604020202020204"/>
                <a:cs typeface="Arial" panose="020B0604020202020204"/>
              </a:rPr>
              <a:t>(XY)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93090">
              <a:lnSpc>
                <a:spcPts val="795"/>
              </a:lnSpc>
            </a:pPr>
            <a:r>
              <a:rPr sz="1050" i="0" dirty="0">
                <a:latin typeface="Times New Roman" panose="02020603050405020304"/>
                <a:cs typeface="Times New Roman" panose="02020603050405020304"/>
              </a:rPr>
              <a:t>2</a:t>
            </a:r>
            <a:endParaRPr sz="10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392430">
              <a:lnSpc>
                <a:spcPts val="2415"/>
              </a:lnSpc>
            </a:pPr>
            <a:r>
              <a:rPr sz="2400" i="0" dirty="0">
                <a:latin typeface="Arial" panose="020B0604020202020204"/>
                <a:cs typeface="Arial" panose="020B0604020202020204"/>
              </a:rPr>
              <a:t>F</a:t>
            </a:r>
            <a:r>
              <a:rPr sz="2400" i="0" spc="254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</a:t>
            </a:r>
            <a:r>
              <a:rPr sz="2400" i="0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dirty="0">
                <a:latin typeface="Arial" panose="020B0604020202020204"/>
                <a:cs typeface="Arial" panose="020B0604020202020204"/>
              </a:rPr>
              <a:t>X</a:t>
            </a:r>
            <a:r>
              <a:rPr sz="2400" i="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Arial" panose="020B0604020202020204"/>
                <a:cs typeface="Arial" panose="020B0604020202020204"/>
              </a:rPr>
              <a:t>Z</a:t>
            </a:r>
            <a:r>
              <a:rPr sz="2400" i="0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dirty="0">
                <a:latin typeface="Symbol" panose="05050102010706020507"/>
                <a:cs typeface="Symbol" panose="05050102010706020507"/>
              </a:rPr>
              <a:t></a:t>
            </a:r>
            <a:r>
              <a:rPr sz="2400" i="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dirty="0">
                <a:latin typeface="Arial" panose="020B0604020202020204"/>
                <a:cs typeface="Arial" panose="020B0604020202020204"/>
              </a:rPr>
              <a:t>X</a:t>
            </a:r>
            <a:r>
              <a:rPr sz="2400" i="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400" i="0" spc="-50" dirty="0">
                <a:latin typeface="Arial" panose="020B0604020202020204"/>
                <a:cs typeface="Arial" panose="020B0604020202020204"/>
              </a:rPr>
              <a:t>Y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93090">
              <a:lnSpc>
                <a:spcPts val="795"/>
              </a:lnSpc>
            </a:pPr>
            <a:r>
              <a:rPr sz="1050" i="0" dirty="0">
                <a:latin typeface="Times New Roman" panose="02020603050405020304"/>
                <a:cs typeface="Times New Roman" panose="02020603050405020304"/>
              </a:rPr>
              <a:t>2</a:t>
            </a:r>
            <a:endParaRPr sz="1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3964940" y="5210809"/>
            <a:ext cx="15278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;</a:t>
            </a:r>
            <a:r>
              <a:rPr sz="2000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Theorem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#9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64940" y="5820409"/>
            <a:ext cx="370712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;</a:t>
            </a:r>
            <a:r>
              <a:rPr sz="20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Rewritten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without</a:t>
            </a:r>
            <a:r>
              <a:rPr sz="20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AND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symbols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6082</Words>
  <Application>WPS Presentation</Application>
  <PresentationFormat>Custom</PresentationFormat>
  <Paragraphs>604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Arial</vt:lpstr>
      <vt:lpstr>SimSun</vt:lpstr>
      <vt:lpstr>Wingdings</vt:lpstr>
      <vt:lpstr>Arial</vt:lpstr>
      <vt:lpstr>Tahoma</vt:lpstr>
      <vt:lpstr>Microsoft YaHei</vt:lpstr>
      <vt:lpstr>Arial Unicode MS</vt:lpstr>
      <vt:lpstr>Calibri</vt:lpstr>
      <vt:lpstr>Times New Roman</vt:lpstr>
      <vt:lpstr>Symbol</vt:lpstr>
      <vt:lpstr>Times New Roman</vt:lpstr>
      <vt:lpstr>Office Theme</vt:lpstr>
      <vt:lpstr>Blends</vt:lpstr>
      <vt:lpstr>LOGIC GATES</vt:lpstr>
      <vt:lpstr>Boolean function and logic diagram</vt:lpstr>
      <vt:lpstr>Boolean function and logic diagram</vt:lpstr>
      <vt:lpstr>Gates</vt:lpstr>
      <vt:lpstr>Boolean function and truth table</vt:lpstr>
      <vt:lpstr>BASIC IDENTITIES OF BOOLEAN ALGEBRA</vt:lpstr>
      <vt:lpstr>Basic Identities of Boolean Algebra (Existence of 1 and 0 element)</vt:lpstr>
      <vt:lpstr>Basic Identities of Boolean Algebra (Existence of complement)</vt:lpstr>
      <vt:lpstr>Basic Identities of Boolean Algebra (Commutativity):</vt:lpstr>
      <vt:lpstr>Basic Identities of Boolean Algebra (Associativity):</vt:lpstr>
      <vt:lpstr>Basic Identities of Boolean Algebra (Distributivity):</vt:lpstr>
      <vt:lpstr>Basic Identities of Boolean Algebra (DeMorgan’s Theorem)</vt:lpstr>
      <vt:lpstr>Basic Identities of Boolean Algebra (Involution)</vt:lpstr>
      <vt:lpstr>Function Minimization using  Boolean Algebra </vt:lpstr>
      <vt:lpstr>Try</vt:lpstr>
      <vt:lpstr>The other type of question</vt:lpstr>
      <vt:lpstr>More Examples</vt:lpstr>
      <vt:lpstr>DeMorgan's Theorem</vt:lpstr>
      <vt:lpstr>DeMorgan's Theorem</vt:lpstr>
      <vt:lpstr>DeMorgan's Theorem</vt:lpstr>
      <vt:lpstr>More DeMorgan's  example</vt:lpstr>
      <vt:lpstr>More Examples</vt:lpstr>
      <vt:lpstr>DeMorgan’s Theorems</vt:lpstr>
      <vt:lpstr>DeMorgan’s Theorems</vt:lpstr>
      <vt:lpstr>DeMorgan’s Theorem #1</vt:lpstr>
      <vt:lpstr>DeMorgan’s Theorem #2</vt:lpstr>
      <vt:lpstr>Summary</vt:lpstr>
      <vt:lpstr>DeMorgan Shortcut</vt:lpstr>
      <vt:lpstr>DeMorgan’s: Example #1</vt:lpstr>
      <vt:lpstr>DeMorgan’s: Example #1</vt:lpstr>
      <vt:lpstr>DeMorgan’s: Example #2</vt:lpstr>
      <vt:lpstr>DeMorgan’s: Example #2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Lab1_P2_Demorgan [Compatibility Mode]</dc:title>
  <dc:creator>pangj</dc:creator>
  <cp:lastModifiedBy>skurge</cp:lastModifiedBy>
  <cp:revision>4</cp:revision>
  <dcterms:created xsi:type="dcterms:W3CDTF">2023-02-11T10:12:00Z</dcterms:created>
  <dcterms:modified xsi:type="dcterms:W3CDTF">2024-02-26T17:09:55Z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2011-02-01T00:00:00Z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2023-02-11T00:00:00Z</vt:filetime>
  </property>
  <property fmtid="{D5CDD505-2E9C-101B-9397-08002B2CF9AE}" pid="5" name="KSOProductBuildVer">
    <vt:lpwstr>1033-11.2.0.9629</vt:lpwstr>
  </property>
</Properties>
</file>