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314" r:id="rId13"/>
    <p:sldId id="354" r:id="rId14"/>
    <p:sldId id="355" r:id="rId15"/>
    <p:sldId id="356" r:id="rId16"/>
    <p:sldId id="357" r:id="rId17"/>
    <p:sldId id="358" r:id="rId18"/>
    <p:sldId id="359" r:id="rId19"/>
    <p:sldId id="360" r:id="rId20"/>
    <p:sldId id="361" r:id="rId21"/>
    <p:sldId id="362" r:id="rId22"/>
    <p:sldId id="363" r:id="rId23"/>
    <p:sldId id="364" r:id="rId24"/>
    <p:sldId id="365" r:id="rId25"/>
    <p:sldId id="366" r:id="rId26"/>
    <p:sldId id="367" r:id="rId27"/>
    <p:sldId id="368" r:id="rId28"/>
    <p:sldId id="369" r:id="rId29"/>
    <p:sldId id="370" r:id="rId30"/>
    <p:sldId id="33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4FEBF1-68F6-4341-B268-5F90A051168A}" type="datetimeFigureOut">
              <a:rPr lang="en-US" smtClean="0"/>
              <a:t>4/15/2024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27B3AA-29B3-4CAB-8C92-A1975FC266B8}" type="slidenum">
              <a:rPr lang="en-US" smtClean="0"/>
              <a:t>‹#›</a:t>
            </a:fld>
            <a:endParaRPr lang="en-US"/>
          </a:p>
        </p:txBody>
      </p:sp>
    </p:spTree>
    <p:extLst>
      <p:ext uri="{BB962C8B-B14F-4D97-AF65-F5344CB8AC3E}">
        <p14:creationId xmlns:p14="http://schemas.microsoft.com/office/powerpoint/2010/main" val="2926573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05AF5BC4-146B-6541-6408-C1DE5B2BD9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26E7B31-8E56-43AA-8EC6-2892A8871979}"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147" name="Rectangle 2">
            <a:extLst>
              <a:ext uri="{FF2B5EF4-FFF2-40B4-BE49-F238E27FC236}">
                <a16:creationId xmlns:a16="http://schemas.microsoft.com/office/drawing/2014/main" id="{9B372963-CAF1-9ED5-F4D3-1CC8CA6D2C6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79DFA84F-D519-8255-239D-7431FAA9AC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4A3AE2D8-499F-BAD3-ADC4-376BB9B645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2D59926-4CD4-4C3D-AB18-321D098A24A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195" name="Rectangle 2">
            <a:extLst>
              <a:ext uri="{FF2B5EF4-FFF2-40B4-BE49-F238E27FC236}">
                <a16:creationId xmlns:a16="http://schemas.microsoft.com/office/drawing/2014/main" id="{5B5065F1-A214-C53F-6CED-D1EBC8A7B9DA}"/>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196" name="Rectangle 3">
            <a:extLst>
              <a:ext uri="{FF2B5EF4-FFF2-40B4-BE49-F238E27FC236}">
                <a16:creationId xmlns:a16="http://schemas.microsoft.com/office/drawing/2014/main" id="{7A138E26-15C4-8C29-A363-47645DAE47AD}"/>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2</a:t>
            </a:r>
          </a:p>
        </p:txBody>
      </p:sp>
      <p:sp>
        <p:nvSpPr>
          <p:cNvPr id="8197" name="Rectangle 4">
            <a:extLst>
              <a:ext uri="{FF2B5EF4-FFF2-40B4-BE49-F238E27FC236}">
                <a16:creationId xmlns:a16="http://schemas.microsoft.com/office/drawing/2014/main" id="{F1E990E0-B8CB-5132-97DA-01A60E417A34}"/>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198" name="Rectangle 5">
            <a:extLst>
              <a:ext uri="{FF2B5EF4-FFF2-40B4-BE49-F238E27FC236}">
                <a16:creationId xmlns:a16="http://schemas.microsoft.com/office/drawing/2014/main" id="{5B879E3F-209B-8E76-FAE8-120319A30FCD}"/>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199" name="Rectangle 6">
            <a:extLst>
              <a:ext uri="{FF2B5EF4-FFF2-40B4-BE49-F238E27FC236}">
                <a16:creationId xmlns:a16="http://schemas.microsoft.com/office/drawing/2014/main" id="{BD8952C4-A6A2-F5A1-5F71-87538C2F87C8}"/>
              </a:ext>
            </a:extLst>
          </p:cNvPr>
          <p:cNvSpPr>
            <a:spLocks noGrp="1" noRot="1" noChangeAspect="1" noChangeArrowheads="1" noTextEdit="1"/>
          </p:cNvSpPr>
          <p:nvPr>
            <p:ph type="sldImg"/>
          </p:nvPr>
        </p:nvSpPr>
        <p:spPr>
          <a:xfrm>
            <a:off x="915988" y="730250"/>
            <a:ext cx="4810125" cy="3608388"/>
          </a:xfrm>
          <a:ln w="12700" cap="flat"/>
        </p:spPr>
      </p:sp>
      <p:sp>
        <p:nvSpPr>
          <p:cNvPr id="8200" name="Rectangle 7">
            <a:extLst>
              <a:ext uri="{FF2B5EF4-FFF2-40B4-BE49-F238E27FC236}">
                <a16:creationId xmlns:a16="http://schemas.microsoft.com/office/drawing/2014/main" id="{C447B172-36AF-8C06-CF32-842C48BE3661}"/>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F722EEE5-18FF-666C-AB48-D279697696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AB0AFA3-2BEC-4EC9-B10F-4828C818FEA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0243" name="Rectangle 2">
            <a:extLst>
              <a:ext uri="{FF2B5EF4-FFF2-40B4-BE49-F238E27FC236}">
                <a16:creationId xmlns:a16="http://schemas.microsoft.com/office/drawing/2014/main" id="{5EE4C5F3-4539-8DDD-56E5-6E7BD6F59895}"/>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44" name="Rectangle 3">
            <a:extLst>
              <a:ext uri="{FF2B5EF4-FFF2-40B4-BE49-F238E27FC236}">
                <a16:creationId xmlns:a16="http://schemas.microsoft.com/office/drawing/2014/main" id="{6D6CE585-F991-AFC7-1EC0-35715B9F4727}"/>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3</a:t>
            </a:r>
          </a:p>
        </p:txBody>
      </p:sp>
      <p:sp>
        <p:nvSpPr>
          <p:cNvPr id="10245" name="Rectangle 4">
            <a:extLst>
              <a:ext uri="{FF2B5EF4-FFF2-40B4-BE49-F238E27FC236}">
                <a16:creationId xmlns:a16="http://schemas.microsoft.com/office/drawing/2014/main" id="{018BB8CA-4049-1162-4812-26210AEFE336}"/>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46" name="Rectangle 5">
            <a:extLst>
              <a:ext uri="{FF2B5EF4-FFF2-40B4-BE49-F238E27FC236}">
                <a16:creationId xmlns:a16="http://schemas.microsoft.com/office/drawing/2014/main" id="{AECE7830-73FB-6B6B-41F1-9D021178AD4A}"/>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47" name="Rectangle 6">
            <a:extLst>
              <a:ext uri="{FF2B5EF4-FFF2-40B4-BE49-F238E27FC236}">
                <a16:creationId xmlns:a16="http://schemas.microsoft.com/office/drawing/2014/main" id="{025ACF56-BF21-AA19-CDB0-126671FD098D}"/>
              </a:ext>
            </a:extLst>
          </p:cNvPr>
          <p:cNvSpPr>
            <a:spLocks noGrp="1" noRot="1" noChangeAspect="1" noChangeArrowheads="1" noTextEdit="1"/>
          </p:cNvSpPr>
          <p:nvPr>
            <p:ph type="sldImg"/>
          </p:nvPr>
        </p:nvSpPr>
        <p:spPr>
          <a:xfrm>
            <a:off x="915988" y="730250"/>
            <a:ext cx="4810125" cy="3608388"/>
          </a:xfrm>
          <a:ln w="12700" cap="flat"/>
        </p:spPr>
      </p:sp>
      <p:sp>
        <p:nvSpPr>
          <p:cNvPr id="10248" name="Rectangle 7">
            <a:extLst>
              <a:ext uri="{FF2B5EF4-FFF2-40B4-BE49-F238E27FC236}">
                <a16:creationId xmlns:a16="http://schemas.microsoft.com/office/drawing/2014/main" id="{E04AD3EC-A2D5-E0D9-418E-DB48C796A665}"/>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372E010-69A4-A1E1-9F54-EF3D5CA74F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89B593C-CAF9-4410-A210-57FBF10D1EC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2291" name="Rectangle 2">
            <a:extLst>
              <a:ext uri="{FF2B5EF4-FFF2-40B4-BE49-F238E27FC236}">
                <a16:creationId xmlns:a16="http://schemas.microsoft.com/office/drawing/2014/main" id="{7538C27E-008E-CE14-CC5E-5EC2D72FB54D}"/>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2292" name="Rectangle 3">
            <a:extLst>
              <a:ext uri="{FF2B5EF4-FFF2-40B4-BE49-F238E27FC236}">
                <a16:creationId xmlns:a16="http://schemas.microsoft.com/office/drawing/2014/main" id="{A6CED9CD-AD90-70E9-562C-D1215D6C09FB}"/>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5</a:t>
            </a:r>
          </a:p>
        </p:txBody>
      </p:sp>
      <p:sp>
        <p:nvSpPr>
          <p:cNvPr id="12293" name="Rectangle 4">
            <a:extLst>
              <a:ext uri="{FF2B5EF4-FFF2-40B4-BE49-F238E27FC236}">
                <a16:creationId xmlns:a16="http://schemas.microsoft.com/office/drawing/2014/main" id="{EF0E873E-8002-44BB-0264-672151E2B640}"/>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2294" name="Rectangle 5">
            <a:extLst>
              <a:ext uri="{FF2B5EF4-FFF2-40B4-BE49-F238E27FC236}">
                <a16:creationId xmlns:a16="http://schemas.microsoft.com/office/drawing/2014/main" id="{E6769598-1F19-1EEF-F16C-3D85DF840E62}"/>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2295" name="Rectangle 6">
            <a:extLst>
              <a:ext uri="{FF2B5EF4-FFF2-40B4-BE49-F238E27FC236}">
                <a16:creationId xmlns:a16="http://schemas.microsoft.com/office/drawing/2014/main" id="{E48752D1-C73A-1DFF-8304-C5E5761DD278}"/>
              </a:ext>
            </a:extLst>
          </p:cNvPr>
          <p:cNvSpPr>
            <a:spLocks noGrp="1" noRot="1" noChangeAspect="1" noChangeArrowheads="1" noTextEdit="1"/>
          </p:cNvSpPr>
          <p:nvPr>
            <p:ph type="sldImg"/>
          </p:nvPr>
        </p:nvSpPr>
        <p:spPr>
          <a:xfrm>
            <a:off x="915988" y="730250"/>
            <a:ext cx="4810125" cy="3608388"/>
          </a:xfrm>
          <a:ln w="12700" cap="flat"/>
        </p:spPr>
      </p:sp>
      <p:sp>
        <p:nvSpPr>
          <p:cNvPr id="12296" name="Rectangle 7">
            <a:extLst>
              <a:ext uri="{FF2B5EF4-FFF2-40B4-BE49-F238E27FC236}">
                <a16:creationId xmlns:a16="http://schemas.microsoft.com/office/drawing/2014/main" id="{D40A9FA6-3005-D4DF-2714-7970B1975F4D}"/>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B1168960-CBD7-E3BB-8734-B3C0486A23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2B1EB1D-BC9A-47E7-96EF-1FED6251B01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4339" name="Rectangle 2">
            <a:extLst>
              <a:ext uri="{FF2B5EF4-FFF2-40B4-BE49-F238E27FC236}">
                <a16:creationId xmlns:a16="http://schemas.microsoft.com/office/drawing/2014/main" id="{B2F737D4-6E07-0548-C0B4-D57210C04FB5}"/>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4340" name="Rectangle 3">
            <a:extLst>
              <a:ext uri="{FF2B5EF4-FFF2-40B4-BE49-F238E27FC236}">
                <a16:creationId xmlns:a16="http://schemas.microsoft.com/office/drawing/2014/main" id="{8F98046B-D6A2-15C1-817A-9E0C68790F6C}"/>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6</a:t>
            </a:r>
          </a:p>
        </p:txBody>
      </p:sp>
      <p:sp>
        <p:nvSpPr>
          <p:cNvPr id="14341" name="Rectangle 4">
            <a:extLst>
              <a:ext uri="{FF2B5EF4-FFF2-40B4-BE49-F238E27FC236}">
                <a16:creationId xmlns:a16="http://schemas.microsoft.com/office/drawing/2014/main" id="{704A0942-6205-D122-737E-792F279EB590}"/>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4342" name="Rectangle 5">
            <a:extLst>
              <a:ext uri="{FF2B5EF4-FFF2-40B4-BE49-F238E27FC236}">
                <a16:creationId xmlns:a16="http://schemas.microsoft.com/office/drawing/2014/main" id="{492F6BC8-BC9D-3347-3183-EE85F6822C07}"/>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4343" name="Rectangle 6">
            <a:extLst>
              <a:ext uri="{FF2B5EF4-FFF2-40B4-BE49-F238E27FC236}">
                <a16:creationId xmlns:a16="http://schemas.microsoft.com/office/drawing/2014/main" id="{2B4D6654-7B38-1282-5295-9A4F89B24F07}"/>
              </a:ext>
            </a:extLst>
          </p:cNvPr>
          <p:cNvSpPr>
            <a:spLocks noGrp="1" noRot="1" noChangeAspect="1" noChangeArrowheads="1" noTextEdit="1"/>
          </p:cNvSpPr>
          <p:nvPr>
            <p:ph type="sldImg"/>
          </p:nvPr>
        </p:nvSpPr>
        <p:spPr>
          <a:xfrm>
            <a:off x="915988" y="730250"/>
            <a:ext cx="4810125" cy="3608388"/>
          </a:xfrm>
          <a:ln w="12700" cap="flat"/>
        </p:spPr>
      </p:sp>
      <p:sp>
        <p:nvSpPr>
          <p:cNvPr id="14344" name="Rectangle 7">
            <a:extLst>
              <a:ext uri="{FF2B5EF4-FFF2-40B4-BE49-F238E27FC236}">
                <a16:creationId xmlns:a16="http://schemas.microsoft.com/office/drawing/2014/main" id="{0D32A08F-DCE6-98C1-5006-A549CC8A9BEF}"/>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51E048CC-FA21-FAD9-BB4A-2F303394FC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4FA02FF-845F-4C44-B16D-37B8A0424D0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387" name="Rectangle 2">
            <a:extLst>
              <a:ext uri="{FF2B5EF4-FFF2-40B4-BE49-F238E27FC236}">
                <a16:creationId xmlns:a16="http://schemas.microsoft.com/office/drawing/2014/main" id="{90810B7F-480C-959E-D2ED-FD8F694CA3BE}"/>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6388" name="Rectangle 3">
            <a:extLst>
              <a:ext uri="{FF2B5EF4-FFF2-40B4-BE49-F238E27FC236}">
                <a16:creationId xmlns:a16="http://schemas.microsoft.com/office/drawing/2014/main" id="{11263110-4649-7DD6-C4E1-9B3579055D14}"/>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7</a:t>
            </a:r>
          </a:p>
        </p:txBody>
      </p:sp>
      <p:sp>
        <p:nvSpPr>
          <p:cNvPr id="16389" name="Rectangle 4">
            <a:extLst>
              <a:ext uri="{FF2B5EF4-FFF2-40B4-BE49-F238E27FC236}">
                <a16:creationId xmlns:a16="http://schemas.microsoft.com/office/drawing/2014/main" id="{57BDE748-A390-3CE6-B43F-AB23F3270E6D}"/>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6390" name="Rectangle 5">
            <a:extLst>
              <a:ext uri="{FF2B5EF4-FFF2-40B4-BE49-F238E27FC236}">
                <a16:creationId xmlns:a16="http://schemas.microsoft.com/office/drawing/2014/main" id="{0365C7B6-E50C-B78F-9E20-55F2E28AED4B}"/>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6391" name="Rectangle 6">
            <a:extLst>
              <a:ext uri="{FF2B5EF4-FFF2-40B4-BE49-F238E27FC236}">
                <a16:creationId xmlns:a16="http://schemas.microsoft.com/office/drawing/2014/main" id="{D85775BA-B8EE-051F-65E8-198D80762F86}"/>
              </a:ext>
            </a:extLst>
          </p:cNvPr>
          <p:cNvSpPr>
            <a:spLocks noGrp="1" noRot="1" noChangeAspect="1" noChangeArrowheads="1" noTextEdit="1"/>
          </p:cNvSpPr>
          <p:nvPr>
            <p:ph type="sldImg"/>
          </p:nvPr>
        </p:nvSpPr>
        <p:spPr>
          <a:xfrm>
            <a:off x="915988" y="730250"/>
            <a:ext cx="4810125" cy="3608388"/>
          </a:xfrm>
          <a:ln w="12700" cap="flat"/>
        </p:spPr>
      </p:sp>
      <p:sp>
        <p:nvSpPr>
          <p:cNvPr id="16392" name="Rectangle 7">
            <a:extLst>
              <a:ext uri="{FF2B5EF4-FFF2-40B4-BE49-F238E27FC236}">
                <a16:creationId xmlns:a16="http://schemas.microsoft.com/office/drawing/2014/main" id="{6FDAF9F2-5BF4-1D8F-E521-717AA63E1BFF}"/>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559AC684-190B-23FA-DB53-04CBBDAEDB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E07E4ED-A69B-4B50-A499-BAD7980D211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8435" name="Rectangle 2">
            <a:extLst>
              <a:ext uri="{FF2B5EF4-FFF2-40B4-BE49-F238E27FC236}">
                <a16:creationId xmlns:a16="http://schemas.microsoft.com/office/drawing/2014/main" id="{04677871-D99C-4950-F0C6-66576BE8FFD8}"/>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436" name="Rectangle 3">
            <a:extLst>
              <a:ext uri="{FF2B5EF4-FFF2-40B4-BE49-F238E27FC236}">
                <a16:creationId xmlns:a16="http://schemas.microsoft.com/office/drawing/2014/main" id="{A08A40DF-AA9D-6F69-68FB-8F71FFB25ACA}"/>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9</a:t>
            </a:r>
          </a:p>
        </p:txBody>
      </p:sp>
      <p:sp>
        <p:nvSpPr>
          <p:cNvPr id="18437" name="Rectangle 4">
            <a:extLst>
              <a:ext uri="{FF2B5EF4-FFF2-40B4-BE49-F238E27FC236}">
                <a16:creationId xmlns:a16="http://schemas.microsoft.com/office/drawing/2014/main" id="{4141392C-B17B-3F65-C499-6107CB7D8F2F}"/>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438" name="Rectangle 5">
            <a:extLst>
              <a:ext uri="{FF2B5EF4-FFF2-40B4-BE49-F238E27FC236}">
                <a16:creationId xmlns:a16="http://schemas.microsoft.com/office/drawing/2014/main" id="{576EAF96-FF57-EE87-CA37-53D321311664}"/>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439" name="Rectangle 6">
            <a:extLst>
              <a:ext uri="{FF2B5EF4-FFF2-40B4-BE49-F238E27FC236}">
                <a16:creationId xmlns:a16="http://schemas.microsoft.com/office/drawing/2014/main" id="{5E73D34B-51DE-6C81-3D3F-DAD53BF651CA}"/>
              </a:ext>
            </a:extLst>
          </p:cNvPr>
          <p:cNvSpPr>
            <a:spLocks noGrp="1" noRot="1" noChangeAspect="1" noChangeArrowheads="1" noTextEdit="1"/>
          </p:cNvSpPr>
          <p:nvPr>
            <p:ph type="sldImg"/>
          </p:nvPr>
        </p:nvSpPr>
        <p:spPr>
          <a:xfrm>
            <a:off x="915988" y="730250"/>
            <a:ext cx="4810125" cy="3608388"/>
          </a:xfrm>
          <a:ln w="12700" cap="flat"/>
        </p:spPr>
      </p:sp>
      <p:sp>
        <p:nvSpPr>
          <p:cNvPr id="18440" name="Rectangle 7">
            <a:extLst>
              <a:ext uri="{FF2B5EF4-FFF2-40B4-BE49-F238E27FC236}">
                <a16:creationId xmlns:a16="http://schemas.microsoft.com/office/drawing/2014/main" id="{C3130532-27D5-DBF4-B88C-7CDD0410A81B}"/>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82E3CBE-C7C8-76B0-1DCD-C52BF27365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158D47A9-BE2D-4611-8EBE-652C4576B7F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483" name="Rectangle 2">
            <a:extLst>
              <a:ext uri="{FF2B5EF4-FFF2-40B4-BE49-F238E27FC236}">
                <a16:creationId xmlns:a16="http://schemas.microsoft.com/office/drawing/2014/main" id="{99BF5BC6-1BC3-D53F-21CC-C0CDD844F5B6}"/>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0484" name="Rectangle 3">
            <a:extLst>
              <a:ext uri="{FF2B5EF4-FFF2-40B4-BE49-F238E27FC236}">
                <a16:creationId xmlns:a16="http://schemas.microsoft.com/office/drawing/2014/main" id="{163D973E-B0F7-BEEF-8384-925ABA6FD988}"/>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10</a:t>
            </a:r>
          </a:p>
        </p:txBody>
      </p:sp>
      <p:sp>
        <p:nvSpPr>
          <p:cNvPr id="20485" name="Rectangle 4">
            <a:extLst>
              <a:ext uri="{FF2B5EF4-FFF2-40B4-BE49-F238E27FC236}">
                <a16:creationId xmlns:a16="http://schemas.microsoft.com/office/drawing/2014/main" id="{9340E52B-A0CD-2955-16A4-77AEF77DB9FC}"/>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0486" name="Rectangle 5">
            <a:extLst>
              <a:ext uri="{FF2B5EF4-FFF2-40B4-BE49-F238E27FC236}">
                <a16:creationId xmlns:a16="http://schemas.microsoft.com/office/drawing/2014/main" id="{4FA92E7D-544C-AC27-D230-0C5B540BBDBD}"/>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0487" name="Rectangle 6">
            <a:extLst>
              <a:ext uri="{FF2B5EF4-FFF2-40B4-BE49-F238E27FC236}">
                <a16:creationId xmlns:a16="http://schemas.microsoft.com/office/drawing/2014/main" id="{3E0D72F8-6747-87B8-AE5D-910798899752}"/>
              </a:ext>
            </a:extLst>
          </p:cNvPr>
          <p:cNvSpPr>
            <a:spLocks noGrp="1" noRot="1" noChangeAspect="1" noChangeArrowheads="1" noTextEdit="1"/>
          </p:cNvSpPr>
          <p:nvPr>
            <p:ph type="sldImg"/>
          </p:nvPr>
        </p:nvSpPr>
        <p:spPr>
          <a:xfrm>
            <a:off x="915988" y="730250"/>
            <a:ext cx="4810125" cy="3608388"/>
          </a:xfrm>
          <a:ln w="12700" cap="flat"/>
        </p:spPr>
      </p:sp>
      <p:sp>
        <p:nvSpPr>
          <p:cNvPr id="20488" name="Rectangle 7">
            <a:extLst>
              <a:ext uri="{FF2B5EF4-FFF2-40B4-BE49-F238E27FC236}">
                <a16:creationId xmlns:a16="http://schemas.microsoft.com/office/drawing/2014/main" id="{324F66F5-EA69-25B3-EE18-9AF45A6A424C}"/>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FA990571-5232-690F-2E89-28054DB613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13BA25C-DDA8-49B8-B5F7-E471A94B8779}"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2531" name="Rectangle 2">
            <a:extLst>
              <a:ext uri="{FF2B5EF4-FFF2-40B4-BE49-F238E27FC236}">
                <a16:creationId xmlns:a16="http://schemas.microsoft.com/office/drawing/2014/main" id="{8473A307-5500-1E57-EAF7-6D3C1F65C210}"/>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2532" name="Rectangle 3">
            <a:extLst>
              <a:ext uri="{FF2B5EF4-FFF2-40B4-BE49-F238E27FC236}">
                <a16:creationId xmlns:a16="http://schemas.microsoft.com/office/drawing/2014/main" id="{E85D0162-A4EE-A0B7-B523-BCA6DF6D2BFF}"/>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12</a:t>
            </a:r>
          </a:p>
        </p:txBody>
      </p:sp>
      <p:sp>
        <p:nvSpPr>
          <p:cNvPr id="22533" name="Rectangle 4">
            <a:extLst>
              <a:ext uri="{FF2B5EF4-FFF2-40B4-BE49-F238E27FC236}">
                <a16:creationId xmlns:a16="http://schemas.microsoft.com/office/drawing/2014/main" id="{42822D3F-485C-70DE-DC40-06617D6C81A3}"/>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2534" name="Rectangle 5">
            <a:extLst>
              <a:ext uri="{FF2B5EF4-FFF2-40B4-BE49-F238E27FC236}">
                <a16:creationId xmlns:a16="http://schemas.microsoft.com/office/drawing/2014/main" id="{06131C27-BA33-AB36-0B1C-F23583DB9873}"/>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2535" name="Rectangle 6">
            <a:extLst>
              <a:ext uri="{FF2B5EF4-FFF2-40B4-BE49-F238E27FC236}">
                <a16:creationId xmlns:a16="http://schemas.microsoft.com/office/drawing/2014/main" id="{D53FDF56-2626-BE6F-8539-6CEFDE5C8737}"/>
              </a:ext>
            </a:extLst>
          </p:cNvPr>
          <p:cNvSpPr>
            <a:spLocks noGrp="1" noRot="1" noChangeAspect="1" noChangeArrowheads="1" noTextEdit="1"/>
          </p:cNvSpPr>
          <p:nvPr>
            <p:ph type="sldImg"/>
          </p:nvPr>
        </p:nvSpPr>
        <p:spPr>
          <a:xfrm>
            <a:off x="915988" y="730250"/>
            <a:ext cx="4810125" cy="3608388"/>
          </a:xfrm>
          <a:ln w="12700" cap="flat"/>
        </p:spPr>
      </p:sp>
      <p:sp>
        <p:nvSpPr>
          <p:cNvPr id="22536" name="Rectangle 7">
            <a:extLst>
              <a:ext uri="{FF2B5EF4-FFF2-40B4-BE49-F238E27FC236}">
                <a16:creationId xmlns:a16="http://schemas.microsoft.com/office/drawing/2014/main" id="{3F1E7630-FACC-B405-DD25-9DAC5757456D}"/>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D5DB9B3A-EA0E-9D0E-5DDB-70BC0C0B62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B9B032-C658-44BD-B231-718DEA94906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4579" name="Rectangle 2">
            <a:extLst>
              <a:ext uri="{FF2B5EF4-FFF2-40B4-BE49-F238E27FC236}">
                <a16:creationId xmlns:a16="http://schemas.microsoft.com/office/drawing/2014/main" id="{FDCEFB32-8E1C-BF20-47B3-E022D2DAABD3}"/>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4580" name="Rectangle 3">
            <a:extLst>
              <a:ext uri="{FF2B5EF4-FFF2-40B4-BE49-F238E27FC236}">
                <a16:creationId xmlns:a16="http://schemas.microsoft.com/office/drawing/2014/main" id="{797B3D31-530D-88F3-6048-D5B3AFE9BB09}"/>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13</a:t>
            </a:r>
          </a:p>
        </p:txBody>
      </p:sp>
      <p:sp>
        <p:nvSpPr>
          <p:cNvPr id="24581" name="Rectangle 4">
            <a:extLst>
              <a:ext uri="{FF2B5EF4-FFF2-40B4-BE49-F238E27FC236}">
                <a16:creationId xmlns:a16="http://schemas.microsoft.com/office/drawing/2014/main" id="{8B9C2D07-F511-B62C-5FB8-EC84A55F03C7}"/>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4582" name="Rectangle 5">
            <a:extLst>
              <a:ext uri="{FF2B5EF4-FFF2-40B4-BE49-F238E27FC236}">
                <a16:creationId xmlns:a16="http://schemas.microsoft.com/office/drawing/2014/main" id="{093882AB-A8BA-2CD6-ED04-05374217324E}"/>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4583" name="Rectangle 6">
            <a:extLst>
              <a:ext uri="{FF2B5EF4-FFF2-40B4-BE49-F238E27FC236}">
                <a16:creationId xmlns:a16="http://schemas.microsoft.com/office/drawing/2014/main" id="{721FB11F-9425-4552-D1D8-EF458C52298D}"/>
              </a:ext>
            </a:extLst>
          </p:cNvPr>
          <p:cNvSpPr>
            <a:spLocks noGrp="1" noRot="1" noChangeAspect="1" noChangeArrowheads="1" noTextEdit="1"/>
          </p:cNvSpPr>
          <p:nvPr>
            <p:ph type="sldImg"/>
          </p:nvPr>
        </p:nvSpPr>
        <p:spPr>
          <a:xfrm>
            <a:off x="915988" y="730250"/>
            <a:ext cx="4810125" cy="3608388"/>
          </a:xfrm>
          <a:ln w="12700" cap="flat"/>
        </p:spPr>
      </p:sp>
      <p:sp>
        <p:nvSpPr>
          <p:cNvPr id="24584" name="Rectangle 7">
            <a:extLst>
              <a:ext uri="{FF2B5EF4-FFF2-40B4-BE49-F238E27FC236}">
                <a16:creationId xmlns:a16="http://schemas.microsoft.com/office/drawing/2014/main" id="{2EC1B269-FE16-38D0-E1C4-8B74F8AC4FA0}"/>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EB927FA-A52A-0FBA-CFA0-8D8F241490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46E61A1-95DF-4436-A714-341B707AD2E2}"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6627" name="Rectangle 2">
            <a:extLst>
              <a:ext uri="{FF2B5EF4-FFF2-40B4-BE49-F238E27FC236}">
                <a16:creationId xmlns:a16="http://schemas.microsoft.com/office/drawing/2014/main" id="{DE4613BA-B7A2-889E-38A0-14D80652A3E7}"/>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6628" name="Rectangle 3">
            <a:extLst>
              <a:ext uri="{FF2B5EF4-FFF2-40B4-BE49-F238E27FC236}">
                <a16:creationId xmlns:a16="http://schemas.microsoft.com/office/drawing/2014/main" id="{2D801311-7C74-FF8D-71FD-0CB4CDC1F8E4}"/>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14</a:t>
            </a:r>
          </a:p>
        </p:txBody>
      </p:sp>
      <p:sp>
        <p:nvSpPr>
          <p:cNvPr id="26629" name="Rectangle 4">
            <a:extLst>
              <a:ext uri="{FF2B5EF4-FFF2-40B4-BE49-F238E27FC236}">
                <a16:creationId xmlns:a16="http://schemas.microsoft.com/office/drawing/2014/main" id="{144BE61D-802B-44E7-7417-84097EA99E87}"/>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6630" name="Rectangle 5">
            <a:extLst>
              <a:ext uri="{FF2B5EF4-FFF2-40B4-BE49-F238E27FC236}">
                <a16:creationId xmlns:a16="http://schemas.microsoft.com/office/drawing/2014/main" id="{A72F51EF-FC98-38E6-7FB0-283B476F2E39}"/>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6631" name="Rectangle 6">
            <a:extLst>
              <a:ext uri="{FF2B5EF4-FFF2-40B4-BE49-F238E27FC236}">
                <a16:creationId xmlns:a16="http://schemas.microsoft.com/office/drawing/2014/main" id="{734D3D43-CD15-AF13-F05E-52C204DB00E1}"/>
              </a:ext>
            </a:extLst>
          </p:cNvPr>
          <p:cNvSpPr>
            <a:spLocks noGrp="1" noRot="1" noChangeAspect="1" noChangeArrowheads="1" noTextEdit="1"/>
          </p:cNvSpPr>
          <p:nvPr>
            <p:ph type="sldImg"/>
          </p:nvPr>
        </p:nvSpPr>
        <p:spPr>
          <a:xfrm>
            <a:off x="915988" y="730250"/>
            <a:ext cx="4810125" cy="3608388"/>
          </a:xfrm>
          <a:ln w="12700" cap="flat"/>
        </p:spPr>
      </p:sp>
      <p:sp>
        <p:nvSpPr>
          <p:cNvPr id="26632" name="Rectangle 7">
            <a:extLst>
              <a:ext uri="{FF2B5EF4-FFF2-40B4-BE49-F238E27FC236}">
                <a16:creationId xmlns:a16="http://schemas.microsoft.com/office/drawing/2014/main" id="{6DA1D8DB-E213-D946-36BB-27A82300C00E}"/>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E7556998-ABF8-D1D6-DCB4-EBA6E86623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2B5BF7F-B667-4724-A9F2-6C19A46ED24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8675" name="Rectangle 2">
            <a:extLst>
              <a:ext uri="{FF2B5EF4-FFF2-40B4-BE49-F238E27FC236}">
                <a16:creationId xmlns:a16="http://schemas.microsoft.com/office/drawing/2014/main" id="{787C6CF7-7327-230F-F5D0-AD1C2D515239}"/>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8676" name="Rectangle 3">
            <a:extLst>
              <a:ext uri="{FF2B5EF4-FFF2-40B4-BE49-F238E27FC236}">
                <a16:creationId xmlns:a16="http://schemas.microsoft.com/office/drawing/2014/main" id="{A5F7868A-BFFB-A822-2BFD-9C1BB61A2FA7}"/>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15</a:t>
            </a:r>
          </a:p>
        </p:txBody>
      </p:sp>
      <p:sp>
        <p:nvSpPr>
          <p:cNvPr id="28677" name="Rectangle 4">
            <a:extLst>
              <a:ext uri="{FF2B5EF4-FFF2-40B4-BE49-F238E27FC236}">
                <a16:creationId xmlns:a16="http://schemas.microsoft.com/office/drawing/2014/main" id="{8C53EDE5-1BD9-3C43-E8F5-21F90EF569A4}"/>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8678" name="Rectangle 5">
            <a:extLst>
              <a:ext uri="{FF2B5EF4-FFF2-40B4-BE49-F238E27FC236}">
                <a16:creationId xmlns:a16="http://schemas.microsoft.com/office/drawing/2014/main" id="{DE44E3AE-729F-3C47-EEF6-9954652FED2F}"/>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8679" name="Rectangle 6">
            <a:extLst>
              <a:ext uri="{FF2B5EF4-FFF2-40B4-BE49-F238E27FC236}">
                <a16:creationId xmlns:a16="http://schemas.microsoft.com/office/drawing/2014/main" id="{BECFE216-2DA9-F6F6-904B-7F01306BE4E1}"/>
              </a:ext>
            </a:extLst>
          </p:cNvPr>
          <p:cNvSpPr>
            <a:spLocks noGrp="1" noRot="1" noChangeAspect="1" noChangeArrowheads="1" noTextEdit="1"/>
          </p:cNvSpPr>
          <p:nvPr>
            <p:ph type="sldImg"/>
          </p:nvPr>
        </p:nvSpPr>
        <p:spPr>
          <a:xfrm>
            <a:off x="915988" y="730250"/>
            <a:ext cx="4810125" cy="3608388"/>
          </a:xfrm>
          <a:ln w="12700" cap="flat"/>
        </p:spPr>
      </p:sp>
      <p:sp>
        <p:nvSpPr>
          <p:cNvPr id="28680" name="Rectangle 7">
            <a:extLst>
              <a:ext uri="{FF2B5EF4-FFF2-40B4-BE49-F238E27FC236}">
                <a16:creationId xmlns:a16="http://schemas.microsoft.com/office/drawing/2014/main" id="{A5A8167E-01AA-14CD-A816-8B9EE6D7EDEC}"/>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9D19EE39-2114-6195-3053-4A3B5B120D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9FB9067-44D5-4DD8-A051-8C982435E63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0723" name="Rectangle 2">
            <a:extLst>
              <a:ext uri="{FF2B5EF4-FFF2-40B4-BE49-F238E27FC236}">
                <a16:creationId xmlns:a16="http://schemas.microsoft.com/office/drawing/2014/main" id="{A776F6AF-D292-BAC9-7468-D69E3809850F}"/>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24" name="Rectangle 3">
            <a:extLst>
              <a:ext uri="{FF2B5EF4-FFF2-40B4-BE49-F238E27FC236}">
                <a16:creationId xmlns:a16="http://schemas.microsoft.com/office/drawing/2014/main" id="{2887EB1C-30E2-82C4-8BF2-11C50F2CC066}"/>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16</a:t>
            </a:r>
          </a:p>
        </p:txBody>
      </p:sp>
      <p:sp>
        <p:nvSpPr>
          <p:cNvPr id="30725" name="Rectangle 4">
            <a:extLst>
              <a:ext uri="{FF2B5EF4-FFF2-40B4-BE49-F238E27FC236}">
                <a16:creationId xmlns:a16="http://schemas.microsoft.com/office/drawing/2014/main" id="{F9D459D6-E915-94A3-3F9C-CB89397C2003}"/>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26" name="Rectangle 5">
            <a:extLst>
              <a:ext uri="{FF2B5EF4-FFF2-40B4-BE49-F238E27FC236}">
                <a16:creationId xmlns:a16="http://schemas.microsoft.com/office/drawing/2014/main" id="{98196BFF-2C62-E49F-DBB8-763ABA894305}"/>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27" name="Rectangle 6">
            <a:extLst>
              <a:ext uri="{FF2B5EF4-FFF2-40B4-BE49-F238E27FC236}">
                <a16:creationId xmlns:a16="http://schemas.microsoft.com/office/drawing/2014/main" id="{12070798-5855-EF7E-915A-6DAC9EFF2A27}"/>
              </a:ext>
            </a:extLst>
          </p:cNvPr>
          <p:cNvSpPr>
            <a:spLocks noGrp="1" noRot="1" noChangeAspect="1" noChangeArrowheads="1" noTextEdit="1"/>
          </p:cNvSpPr>
          <p:nvPr>
            <p:ph type="sldImg"/>
          </p:nvPr>
        </p:nvSpPr>
        <p:spPr>
          <a:xfrm>
            <a:off x="915988" y="730250"/>
            <a:ext cx="4810125" cy="3608388"/>
          </a:xfrm>
          <a:ln w="12700" cap="flat"/>
        </p:spPr>
      </p:sp>
      <p:sp>
        <p:nvSpPr>
          <p:cNvPr id="30728" name="Rectangle 7">
            <a:extLst>
              <a:ext uri="{FF2B5EF4-FFF2-40B4-BE49-F238E27FC236}">
                <a16:creationId xmlns:a16="http://schemas.microsoft.com/office/drawing/2014/main" id="{CD3B97F6-5BC4-98CA-DE3D-2A40FCC4083D}"/>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154E0D25-E1D9-FBB9-7FA7-1E55885B80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BDB4C79-9334-404C-BDC4-C250C3CCBF1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2771" name="Rectangle 2">
            <a:extLst>
              <a:ext uri="{FF2B5EF4-FFF2-40B4-BE49-F238E27FC236}">
                <a16:creationId xmlns:a16="http://schemas.microsoft.com/office/drawing/2014/main" id="{0CFF3E2A-7A49-E9FD-A44A-D78467D76293}"/>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772" name="Rectangle 3">
            <a:extLst>
              <a:ext uri="{FF2B5EF4-FFF2-40B4-BE49-F238E27FC236}">
                <a16:creationId xmlns:a16="http://schemas.microsoft.com/office/drawing/2014/main" id="{404C1D63-5284-91F0-7287-0006FDEF8A73}"/>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17</a:t>
            </a:r>
          </a:p>
        </p:txBody>
      </p:sp>
      <p:sp>
        <p:nvSpPr>
          <p:cNvPr id="32773" name="Rectangle 4">
            <a:extLst>
              <a:ext uri="{FF2B5EF4-FFF2-40B4-BE49-F238E27FC236}">
                <a16:creationId xmlns:a16="http://schemas.microsoft.com/office/drawing/2014/main" id="{C0818D3A-F2EB-94BF-E55A-82428378B91C}"/>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774" name="Rectangle 5">
            <a:extLst>
              <a:ext uri="{FF2B5EF4-FFF2-40B4-BE49-F238E27FC236}">
                <a16:creationId xmlns:a16="http://schemas.microsoft.com/office/drawing/2014/main" id="{37D058BF-16CA-A344-58D7-149194C18E00}"/>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775" name="Rectangle 6">
            <a:extLst>
              <a:ext uri="{FF2B5EF4-FFF2-40B4-BE49-F238E27FC236}">
                <a16:creationId xmlns:a16="http://schemas.microsoft.com/office/drawing/2014/main" id="{FC4B3D05-9C8A-3E46-1E36-74BFEED79EF4}"/>
              </a:ext>
            </a:extLst>
          </p:cNvPr>
          <p:cNvSpPr>
            <a:spLocks noGrp="1" noRot="1" noChangeAspect="1" noChangeArrowheads="1" noTextEdit="1"/>
          </p:cNvSpPr>
          <p:nvPr>
            <p:ph type="sldImg"/>
          </p:nvPr>
        </p:nvSpPr>
        <p:spPr>
          <a:xfrm>
            <a:off x="915988" y="730250"/>
            <a:ext cx="4810125" cy="3608388"/>
          </a:xfrm>
          <a:ln w="12700" cap="flat"/>
        </p:spPr>
      </p:sp>
      <p:sp>
        <p:nvSpPr>
          <p:cNvPr id="32776" name="Rectangle 7">
            <a:extLst>
              <a:ext uri="{FF2B5EF4-FFF2-40B4-BE49-F238E27FC236}">
                <a16:creationId xmlns:a16="http://schemas.microsoft.com/office/drawing/2014/main" id="{D4CEBB95-7E81-223D-AA15-F65657A2A515}"/>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287B3424-F95C-1321-60EF-30E2DA05AB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5112667-CA20-49E7-8D8C-BCBA9189F786}"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4819" name="Rectangle 2">
            <a:extLst>
              <a:ext uri="{FF2B5EF4-FFF2-40B4-BE49-F238E27FC236}">
                <a16:creationId xmlns:a16="http://schemas.microsoft.com/office/drawing/2014/main" id="{78B1A5D3-8F6E-3433-A40E-283E3E1CA489}"/>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4820" name="Rectangle 3">
            <a:extLst>
              <a:ext uri="{FF2B5EF4-FFF2-40B4-BE49-F238E27FC236}">
                <a16:creationId xmlns:a16="http://schemas.microsoft.com/office/drawing/2014/main" id="{D61492CA-AC63-00D7-5861-5BE619B9DF6D}"/>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18</a:t>
            </a:r>
          </a:p>
        </p:txBody>
      </p:sp>
      <p:sp>
        <p:nvSpPr>
          <p:cNvPr id="34821" name="Rectangle 4">
            <a:extLst>
              <a:ext uri="{FF2B5EF4-FFF2-40B4-BE49-F238E27FC236}">
                <a16:creationId xmlns:a16="http://schemas.microsoft.com/office/drawing/2014/main" id="{FCC21047-9E85-3A15-D697-3EDAE275F280}"/>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4822" name="Rectangle 5">
            <a:extLst>
              <a:ext uri="{FF2B5EF4-FFF2-40B4-BE49-F238E27FC236}">
                <a16:creationId xmlns:a16="http://schemas.microsoft.com/office/drawing/2014/main" id="{FD2D6A99-665F-2DE7-B745-7A94E7825906}"/>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4823" name="Rectangle 6">
            <a:extLst>
              <a:ext uri="{FF2B5EF4-FFF2-40B4-BE49-F238E27FC236}">
                <a16:creationId xmlns:a16="http://schemas.microsoft.com/office/drawing/2014/main" id="{2B071B2C-5005-398F-5827-33C488409333}"/>
              </a:ext>
            </a:extLst>
          </p:cNvPr>
          <p:cNvSpPr>
            <a:spLocks noGrp="1" noRot="1" noChangeAspect="1" noChangeArrowheads="1" noTextEdit="1"/>
          </p:cNvSpPr>
          <p:nvPr>
            <p:ph type="sldImg"/>
          </p:nvPr>
        </p:nvSpPr>
        <p:spPr>
          <a:xfrm>
            <a:off x="915988" y="730250"/>
            <a:ext cx="4810125" cy="3608388"/>
          </a:xfrm>
          <a:ln w="12700" cap="flat"/>
        </p:spPr>
      </p:sp>
      <p:sp>
        <p:nvSpPr>
          <p:cNvPr id="34824" name="Rectangle 7">
            <a:extLst>
              <a:ext uri="{FF2B5EF4-FFF2-40B4-BE49-F238E27FC236}">
                <a16:creationId xmlns:a16="http://schemas.microsoft.com/office/drawing/2014/main" id="{31DFBE54-24D6-1037-4F38-17D7CC1E01EB}"/>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C5B3E0BF-DC00-A762-7992-13F57FFA5D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7CD69A0-26E6-4B8B-809A-544EEF15D39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6867" name="Rectangle 2">
            <a:extLst>
              <a:ext uri="{FF2B5EF4-FFF2-40B4-BE49-F238E27FC236}">
                <a16:creationId xmlns:a16="http://schemas.microsoft.com/office/drawing/2014/main" id="{015E4FA7-8DCD-8B17-11BE-D67B28275882}"/>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6868" name="Rectangle 3">
            <a:extLst>
              <a:ext uri="{FF2B5EF4-FFF2-40B4-BE49-F238E27FC236}">
                <a16:creationId xmlns:a16="http://schemas.microsoft.com/office/drawing/2014/main" id="{656631EA-366C-06E6-93BA-1D380BD5A2F5}"/>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19</a:t>
            </a:r>
          </a:p>
        </p:txBody>
      </p:sp>
      <p:sp>
        <p:nvSpPr>
          <p:cNvPr id="36869" name="Rectangle 4">
            <a:extLst>
              <a:ext uri="{FF2B5EF4-FFF2-40B4-BE49-F238E27FC236}">
                <a16:creationId xmlns:a16="http://schemas.microsoft.com/office/drawing/2014/main" id="{33A53241-4C18-2412-DDA9-4A8276471B58}"/>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6870" name="Rectangle 5">
            <a:extLst>
              <a:ext uri="{FF2B5EF4-FFF2-40B4-BE49-F238E27FC236}">
                <a16:creationId xmlns:a16="http://schemas.microsoft.com/office/drawing/2014/main" id="{F6B56434-5B38-A5A2-80AE-B99789E1EF06}"/>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6871" name="Rectangle 6">
            <a:extLst>
              <a:ext uri="{FF2B5EF4-FFF2-40B4-BE49-F238E27FC236}">
                <a16:creationId xmlns:a16="http://schemas.microsoft.com/office/drawing/2014/main" id="{1F0DC5B1-45CB-2A3A-9476-83466C54C9D4}"/>
              </a:ext>
            </a:extLst>
          </p:cNvPr>
          <p:cNvSpPr>
            <a:spLocks noGrp="1" noRot="1" noChangeAspect="1" noChangeArrowheads="1" noTextEdit="1"/>
          </p:cNvSpPr>
          <p:nvPr>
            <p:ph type="sldImg"/>
          </p:nvPr>
        </p:nvSpPr>
        <p:spPr>
          <a:xfrm>
            <a:off x="915988" y="730250"/>
            <a:ext cx="4810125" cy="3608388"/>
          </a:xfrm>
          <a:ln w="12700" cap="flat"/>
        </p:spPr>
      </p:sp>
      <p:sp>
        <p:nvSpPr>
          <p:cNvPr id="36872" name="Rectangle 7">
            <a:extLst>
              <a:ext uri="{FF2B5EF4-FFF2-40B4-BE49-F238E27FC236}">
                <a16:creationId xmlns:a16="http://schemas.microsoft.com/office/drawing/2014/main" id="{84816E22-5E57-06D9-6544-293B7CA00806}"/>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70D2174A-9554-59D7-F2A1-1C1BEFE026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7BD1215-F2D7-44AF-A874-2E44B3D8EAA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8915" name="Rectangle 2">
            <a:extLst>
              <a:ext uri="{FF2B5EF4-FFF2-40B4-BE49-F238E27FC236}">
                <a16:creationId xmlns:a16="http://schemas.microsoft.com/office/drawing/2014/main" id="{BBE735E1-F034-990F-7C45-878DACF80D6F}"/>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8916" name="Rectangle 3">
            <a:extLst>
              <a:ext uri="{FF2B5EF4-FFF2-40B4-BE49-F238E27FC236}">
                <a16:creationId xmlns:a16="http://schemas.microsoft.com/office/drawing/2014/main" id="{161E3F38-BF04-7339-5049-C1A8B85E4C71}"/>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20</a:t>
            </a:r>
          </a:p>
        </p:txBody>
      </p:sp>
      <p:sp>
        <p:nvSpPr>
          <p:cNvPr id="38917" name="Rectangle 4">
            <a:extLst>
              <a:ext uri="{FF2B5EF4-FFF2-40B4-BE49-F238E27FC236}">
                <a16:creationId xmlns:a16="http://schemas.microsoft.com/office/drawing/2014/main" id="{C75CCB08-9430-0893-1FE9-2AEF845C10C8}"/>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8918" name="Rectangle 5">
            <a:extLst>
              <a:ext uri="{FF2B5EF4-FFF2-40B4-BE49-F238E27FC236}">
                <a16:creationId xmlns:a16="http://schemas.microsoft.com/office/drawing/2014/main" id="{A3AD1374-EC45-DF84-9D42-0C7CE37D54C6}"/>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8919" name="Rectangle 6">
            <a:extLst>
              <a:ext uri="{FF2B5EF4-FFF2-40B4-BE49-F238E27FC236}">
                <a16:creationId xmlns:a16="http://schemas.microsoft.com/office/drawing/2014/main" id="{D50C559F-C988-B238-FEF8-0FC88C6482F8}"/>
              </a:ext>
            </a:extLst>
          </p:cNvPr>
          <p:cNvSpPr>
            <a:spLocks noGrp="1" noRot="1" noChangeAspect="1" noChangeArrowheads="1" noTextEdit="1"/>
          </p:cNvSpPr>
          <p:nvPr>
            <p:ph type="sldImg"/>
          </p:nvPr>
        </p:nvSpPr>
        <p:spPr>
          <a:xfrm>
            <a:off x="915988" y="730250"/>
            <a:ext cx="4810125" cy="3608388"/>
          </a:xfrm>
          <a:ln w="12700" cap="flat"/>
        </p:spPr>
      </p:sp>
      <p:sp>
        <p:nvSpPr>
          <p:cNvPr id="38920" name="Rectangle 7">
            <a:extLst>
              <a:ext uri="{FF2B5EF4-FFF2-40B4-BE49-F238E27FC236}">
                <a16:creationId xmlns:a16="http://schemas.microsoft.com/office/drawing/2014/main" id="{17E27B40-FC7C-6942-FE25-A1F4323106A0}"/>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2335C970-5729-D34A-6052-68EE722BD8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310C150-15E0-42E8-A3CA-19CA1AA849E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0963" name="Rectangle 2">
            <a:extLst>
              <a:ext uri="{FF2B5EF4-FFF2-40B4-BE49-F238E27FC236}">
                <a16:creationId xmlns:a16="http://schemas.microsoft.com/office/drawing/2014/main" id="{34B88897-F85E-0EDC-C304-69A624A2984B}"/>
              </a:ext>
            </a:extLst>
          </p:cNvPr>
          <p:cNvSpPr>
            <a:spLocks noChangeArrowheads="1"/>
          </p:cNvSpPr>
          <p:nvPr/>
        </p:nvSpPr>
        <p:spPr bwMode="auto">
          <a:xfrm>
            <a:off x="3763963" y="0"/>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0964" name="Rectangle 3">
            <a:extLst>
              <a:ext uri="{FF2B5EF4-FFF2-40B4-BE49-F238E27FC236}">
                <a16:creationId xmlns:a16="http://schemas.microsoft.com/office/drawing/2014/main" id="{47173E2A-EB49-2CA9-980F-0F7C6B0A8BBF}"/>
              </a:ext>
            </a:extLst>
          </p:cNvPr>
          <p:cNvSpPr>
            <a:spLocks noChangeArrowheads="1"/>
          </p:cNvSpPr>
          <p:nvPr/>
        </p:nvSpPr>
        <p:spPr bwMode="auto">
          <a:xfrm>
            <a:off x="3763963" y="9170988"/>
            <a:ext cx="28781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146" tIns="45264" rIns="92146" bIns="45264" anchor="b"/>
          <a:lstStyle>
            <a:lvl1pPr defTabSz="931863">
              <a:defRPr sz="2400">
                <a:solidFill>
                  <a:schemeClr val="tx1"/>
                </a:solidFill>
                <a:latin typeface="Times New Roman" panose="02020603050405020304" pitchFamily="18" charset="0"/>
              </a:defRPr>
            </a:lvl1pPr>
            <a:lvl2pPr marL="742950" indent="-285750" defTabSz="931863">
              <a:defRPr sz="2400">
                <a:solidFill>
                  <a:schemeClr val="tx1"/>
                </a:solidFill>
                <a:latin typeface="Times New Roman" panose="02020603050405020304" pitchFamily="18" charset="0"/>
              </a:defRPr>
            </a:lvl2pPr>
            <a:lvl3pPr marL="1143000" indent="-228600" defTabSz="931863">
              <a:defRPr sz="2400">
                <a:solidFill>
                  <a:schemeClr val="tx1"/>
                </a:solidFill>
                <a:latin typeface="Times New Roman" panose="02020603050405020304" pitchFamily="18" charset="0"/>
              </a:defRPr>
            </a:lvl3pPr>
            <a:lvl4pPr marL="1600200" indent="-228600" defTabSz="931863">
              <a:defRPr sz="2400">
                <a:solidFill>
                  <a:schemeClr val="tx1"/>
                </a:solidFill>
                <a:latin typeface="Times New Roman" panose="02020603050405020304" pitchFamily="18" charset="0"/>
              </a:defRPr>
            </a:lvl4pPr>
            <a:lvl5pPr marL="2057400" indent="-228600" defTabSz="931863">
              <a:defRPr sz="2400">
                <a:solidFill>
                  <a:schemeClr val="tx1"/>
                </a:solidFill>
                <a:latin typeface="Times New Roman" panose="02020603050405020304" pitchFamily="18" charset="0"/>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21</a:t>
            </a:r>
          </a:p>
        </p:txBody>
      </p:sp>
      <p:sp>
        <p:nvSpPr>
          <p:cNvPr id="40965" name="Rectangle 4">
            <a:extLst>
              <a:ext uri="{FF2B5EF4-FFF2-40B4-BE49-F238E27FC236}">
                <a16:creationId xmlns:a16="http://schemas.microsoft.com/office/drawing/2014/main" id="{9C272B1E-174E-0803-2EA4-E53F18FA460E}"/>
              </a:ext>
            </a:extLst>
          </p:cNvPr>
          <p:cNvSpPr>
            <a:spLocks noChangeArrowheads="1"/>
          </p:cNvSpPr>
          <p:nvPr/>
        </p:nvSpPr>
        <p:spPr bwMode="auto">
          <a:xfrm>
            <a:off x="0" y="9170988"/>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0966" name="Rectangle 5">
            <a:extLst>
              <a:ext uri="{FF2B5EF4-FFF2-40B4-BE49-F238E27FC236}">
                <a16:creationId xmlns:a16="http://schemas.microsoft.com/office/drawing/2014/main" id="{81A3F632-0AB8-0866-431B-2FC51B4FB574}"/>
              </a:ext>
            </a:extLst>
          </p:cNvPr>
          <p:cNvSpPr>
            <a:spLocks noChangeArrowheads="1"/>
          </p:cNvSpPr>
          <p:nvPr/>
        </p:nvSpPr>
        <p:spPr bwMode="auto">
          <a:xfrm>
            <a:off x="0" y="0"/>
            <a:ext cx="28781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0967" name="Rectangle 6">
            <a:extLst>
              <a:ext uri="{FF2B5EF4-FFF2-40B4-BE49-F238E27FC236}">
                <a16:creationId xmlns:a16="http://schemas.microsoft.com/office/drawing/2014/main" id="{E439088B-87C9-C7FD-FB2B-780F37FED47B}"/>
              </a:ext>
            </a:extLst>
          </p:cNvPr>
          <p:cNvSpPr>
            <a:spLocks noGrp="1" noRot="1" noChangeAspect="1" noChangeArrowheads="1" noTextEdit="1"/>
          </p:cNvSpPr>
          <p:nvPr>
            <p:ph type="sldImg"/>
          </p:nvPr>
        </p:nvSpPr>
        <p:spPr>
          <a:xfrm>
            <a:off x="915988" y="730250"/>
            <a:ext cx="4810125" cy="3608388"/>
          </a:xfrm>
          <a:ln w="12700" cap="flat"/>
        </p:spPr>
      </p:sp>
      <p:sp>
        <p:nvSpPr>
          <p:cNvPr id="40968" name="Rectangle 7">
            <a:extLst>
              <a:ext uri="{FF2B5EF4-FFF2-40B4-BE49-F238E27FC236}">
                <a16:creationId xmlns:a16="http://schemas.microsoft.com/office/drawing/2014/main" id="{AB989CFA-512D-2CB1-C61D-567BBAEFA9D8}"/>
              </a:ext>
            </a:extLst>
          </p:cNvPr>
          <p:cNvSpPr>
            <a:spLocks noGrp="1" noChangeArrowheads="1"/>
          </p:cNvSpPr>
          <p:nvPr>
            <p:ph type="body" idx="1"/>
          </p:nvPr>
        </p:nvSpPr>
        <p:spPr>
          <a:xfrm>
            <a:off x="885825" y="4584700"/>
            <a:ext cx="487045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46" tIns="45264" rIns="92146" bIns="45264" anchor="t"/>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1031">
            <a:extLst>
              <a:ext uri="{FF2B5EF4-FFF2-40B4-BE49-F238E27FC236}">
                <a16:creationId xmlns:a16="http://schemas.microsoft.com/office/drawing/2014/main" id="{E39A2B7F-9DDF-6D09-D25B-5E6C96120986}"/>
              </a:ext>
            </a:extLst>
          </p:cNvPr>
          <p:cNvSpPr>
            <a:spLocks noChangeShapeType="1"/>
          </p:cNvSpPr>
          <p:nvPr/>
        </p:nvSpPr>
        <p:spPr bwMode="auto">
          <a:xfrm>
            <a:off x="609600" y="2514600"/>
            <a:ext cx="108712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sz="1800"/>
          </a:p>
        </p:txBody>
      </p:sp>
      <p:sp>
        <p:nvSpPr>
          <p:cNvPr id="94210" name="Rectangle 1026"/>
          <p:cNvSpPr>
            <a:spLocks noGrp="1" noChangeArrowheads="1"/>
          </p:cNvSpPr>
          <p:nvPr>
            <p:ph type="ctrTitle"/>
          </p:nvPr>
        </p:nvSpPr>
        <p:spPr>
          <a:xfrm>
            <a:off x="1219200" y="533400"/>
            <a:ext cx="10295467" cy="1905000"/>
          </a:xfrm>
        </p:spPr>
        <p:txBody>
          <a:bodyPr/>
          <a:lstStyle>
            <a:lvl1pPr>
              <a:defRPr/>
            </a:lvl1pPr>
          </a:lstStyle>
          <a:p>
            <a:r>
              <a:rPr lang="en-GB"/>
              <a:t>Click to edit Master title style</a:t>
            </a:r>
          </a:p>
        </p:txBody>
      </p:sp>
      <p:sp>
        <p:nvSpPr>
          <p:cNvPr id="94211" name="Rectangle 1027"/>
          <p:cNvSpPr>
            <a:spLocks noGrp="1" noChangeArrowheads="1"/>
          </p:cNvSpPr>
          <p:nvPr>
            <p:ph type="subTitle" idx="1"/>
          </p:nvPr>
        </p:nvSpPr>
        <p:spPr>
          <a:xfrm>
            <a:off x="1219200" y="3028950"/>
            <a:ext cx="8534400" cy="1771650"/>
          </a:xfrm>
        </p:spPr>
        <p:txBody>
          <a:bodyPr/>
          <a:lstStyle>
            <a:lvl1pPr marL="0" indent="0">
              <a:buFontTx/>
              <a:buNone/>
              <a:defRPr>
                <a:latin typeface="Arial Black" pitchFamily="34" charset="0"/>
              </a:defRPr>
            </a:lvl1pPr>
          </a:lstStyle>
          <a:p>
            <a:r>
              <a:rPr lang="en-GB"/>
              <a:t>Click to edit Master subtitle style</a:t>
            </a:r>
          </a:p>
        </p:txBody>
      </p:sp>
      <p:sp>
        <p:nvSpPr>
          <p:cNvPr id="3" name="Rectangle 1028">
            <a:extLst>
              <a:ext uri="{FF2B5EF4-FFF2-40B4-BE49-F238E27FC236}">
                <a16:creationId xmlns:a16="http://schemas.microsoft.com/office/drawing/2014/main" id="{2CE395DE-61F1-F843-5965-9FEB1C9383BB}"/>
              </a:ext>
            </a:extLst>
          </p:cNvPr>
          <p:cNvSpPr>
            <a:spLocks noGrp="1" noChangeArrowheads="1"/>
          </p:cNvSpPr>
          <p:nvPr>
            <p:ph type="dt" sz="half" idx="10"/>
          </p:nvPr>
        </p:nvSpPr>
        <p:spPr bwMode="auto">
          <a:xfrm>
            <a:off x="948267" y="6229350"/>
            <a:ext cx="2573867" cy="51435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spcBef>
                <a:spcPct val="50000"/>
              </a:spcBef>
              <a:defRPr sz="1400">
                <a:solidFill>
                  <a:srgbClr val="5E574E"/>
                </a:solidFill>
                <a:latin typeface="Arial" pitchFamily="34" charset="0"/>
              </a:defRPr>
            </a:lvl1pPr>
          </a:lstStyle>
          <a:p>
            <a:pPr>
              <a:defRPr/>
            </a:pPr>
            <a:endParaRPr lang="en-GB"/>
          </a:p>
        </p:txBody>
      </p:sp>
      <p:sp>
        <p:nvSpPr>
          <p:cNvPr id="4" name="Rectangle 1029">
            <a:extLst>
              <a:ext uri="{FF2B5EF4-FFF2-40B4-BE49-F238E27FC236}">
                <a16:creationId xmlns:a16="http://schemas.microsoft.com/office/drawing/2014/main" id="{FACBCFB8-5A41-A7E8-A236-F100372343AE}"/>
              </a:ext>
            </a:extLst>
          </p:cNvPr>
          <p:cNvSpPr>
            <a:spLocks noGrp="1" noChangeArrowheads="1"/>
          </p:cNvSpPr>
          <p:nvPr>
            <p:ph type="ftr" sz="quarter" idx="11"/>
          </p:nvPr>
        </p:nvSpPr>
        <p:spPr bwMode="auto">
          <a:xfrm>
            <a:off x="4199467" y="6229350"/>
            <a:ext cx="3793067" cy="51435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1400">
                <a:solidFill>
                  <a:srgbClr val="5E574E"/>
                </a:solidFill>
                <a:latin typeface="Arial" pitchFamily="34" charset="0"/>
              </a:defRPr>
            </a:lvl1pPr>
          </a:lstStyle>
          <a:p>
            <a:pPr>
              <a:defRPr/>
            </a:pPr>
            <a:endParaRPr lang="en-GB"/>
          </a:p>
        </p:txBody>
      </p:sp>
      <p:sp>
        <p:nvSpPr>
          <p:cNvPr id="5" name="Rectangle 1030">
            <a:extLst>
              <a:ext uri="{FF2B5EF4-FFF2-40B4-BE49-F238E27FC236}">
                <a16:creationId xmlns:a16="http://schemas.microsoft.com/office/drawing/2014/main" id="{64365A63-C7B9-9713-A774-2D0F0F8D7B26}"/>
              </a:ext>
            </a:extLst>
          </p:cNvPr>
          <p:cNvSpPr>
            <a:spLocks noGrp="1" noChangeArrowheads="1"/>
          </p:cNvSpPr>
          <p:nvPr>
            <p:ph type="sldNum" sz="quarter" idx="12"/>
          </p:nvPr>
        </p:nvSpPr>
        <p:spPr bwMode="auto">
          <a:xfrm>
            <a:off x="8805333" y="6229350"/>
            <a:ext cx="2438400" cy="51435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1400" smtClean="0">
                <a:solidFill>
                  <a:srgbClr val="5E574E"/>
                </a:solidFill>
                <a:latin typeface="Arial" panose="020B0604020202020204" pitchFamily="34" charset="0"/>
              </a:defRPr>
            </a:lvl1pPr>
          </a:lstStyle>
          <a:p>
            <a:pPr>
              <a:defRPr/>
            </a:pPr>
            <a:fld id="{88049BA9-7512-4050-A696-FFE886FA963A}" type="slidenum">
              <a:rPr lang="en-GB" altLang="en-US"/>
              <a:pPr>
                <a:defRPr/>
              </a:pPr>
              <a:t>‹#›</a:t>
            </a:fld>
            <a:endParaRPr lang="en-GB" altLang="en-US"/>
          </a:p>
        </p:txBody>
      </p:sp>
    </p:spTree>
    <p:extLst>
      <p:ext uri="{BB962C8B-B14F-4D97-AF65-F5344CB8AC3E}">
        <p14:creationId xmlns:p14="http://schemas.microsoft.com/office/powerpoint/2010/main" val="34711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2031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78303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066800"/>
            <a:ext cx="5350933"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3734" y="1066800"/>
            <a:ext cx="5350933"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24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1872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84019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74629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91536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355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9715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71467" y="152400"/>
            <a:ext cx="27432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1867" y="152400"/>
            <a:ext cx="80264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8085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41867" y="152400"/>
            <a:ext cx="10938933" cy="838200"/>
          </a:xfrm>
        </p:spPr>
        <p:txBody>
          <a:bodyPr/>
          <a:lstStyle/>
          <a:p>
            <a:r>
              <a:rPr lang="en-US"/>
              <a:t>Click to edit Master title style</a:t>
            </a:r>
          </a:p>
        </p:txBody>
      </p:sp>
      <p:sp>
        <p:nvSpPr>
          <p:cNvPr id="3" name="Text Placeholder 2"/>
          <p:cNvSpPr>
            <a:spLocks noGrp="1"/>
          </p:cNvSpPr>
          <p:nvPr>
            <p:ph type="body" sz="half" idx="1"/>
          </p:nvPr>
        </p:nvSpPr>
        <p:spPr>
          <a:xfrm>
            <a:off x="609600" y="1066800"/>
            <a:ext cx="5350933" cy="563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3734" y="1066800"/>
            <a:ext cx="5350933" cy="563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1008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BAF999FC-49AC-E2BD-BD22-CECE01189A72}"/>
              </a:ext>
            </a:extLst>
          </p:cNvPr>
          <p:cNvSpPr>
            <a:spLocks noGrp="1" noChangeArrowheads="1"/>
          </p:cNvSpPr>
          <p:nvPr>
            <p:ph type="title"/>
          </p:nvPr>
        </p:nvSpPr>
        <p:spPr bwMode="auto">
          <a:xfrm>
            <a:off x="541867" y="152400"/>
            <a:ext cx="1093893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en-US"/>
              <a:t>Click to edit Master title style</a:t>
            </a:r>
          </a:p>
        </p:txBody>
      </p:sp>
      <p:sp>
        <p:nvSpPr>
          <p:cNvPr id="1027" name="Rectangle 1027">
            <a:extLst>
              <a:ext uri="{FF2B5EF4-FFF2-40B4-BE49-F238E27FC236}">
                <a16:creationId xmlns:a16="http://schemas.microsoft.com/office/drawing/2014/main" id="{1118A1A5-D811-D11F-EA57-2E14D0ADDBEE}"/>
              </a:ext>
            </a:extLst>
          </p:cNvPr>
          <p:cNvSpPr>
            <a:spLocks noGrp="1" noChangeArrowheads="1"/>
          </p:cNvSpPr>
          <p:nvPr>
            <p:ph type="body" idx="1"/>
          </p:nvPr>
        </p:nvSpPr>
        <p:spPr bwMode="auto">
          <a:xfrm>
            <a:off x="609600" y="1066800"/>
            <a:ext cx="10905067"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Line 1028">
            <a:extLst>
              <a:ext uri="{FF2B5EF4-FFF2-40B4-BE49-F238E27FC236}">
                <a16:creationId xmlns:a16="http://schemas.microsoft.com/office/drawing/2014/main" id="{3B146F44-BAA2-DE39-A529-936EC1064D62}"/>
              </a:ext>
            </a:extLst>
          </p:cNvPr>
          <p:cNvSpPr>
            <a:spLocks noChangeShapeType="1"/>
          </p:cNvSpPr>
          <p:nvPr/>
        </p:nvSpPr>
        <p:spPr bwMode="auto">
          <a:xfrm>
            <a:off x="609600" y="990600"/>
            <a:ext cx="108712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sz="1800"/>
          </a:p>
        </p:txBody>
      </p:sp>
    </p:spTree>
    <p:extLst>
      <p:ext uri="{BB962C8B-B14F-4D97-AF65-F5344CB8AC3E}">
        <p14:creationId xmlns:p14="http://schemas.microsoft.com/office/powerpoint/2010/main" val="28513027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0" fontAlgn="base" hangingPunct="0">
        <a:spcBef>
          <a:spcPct val="0"/>
        </a:spcBef>
        <a:spcAft>
          <a:spcPct val="0"/>
        </a:spcAft>
        <a:defRPr kumimoji="1" sz="2800">
          <a:solidFill>
            <a:schemeClr val="tx2"/>
          </a:solidFill>
          <a:latin typeface="+mj-lt"/>
          <a:ea typeface="+mj-ea"/>
          <a:cs typeface="+mj-cs"/>
        </a:defRPr>
      </a:lvl1pPr>
      <a:lvl2pPr algn="l" rtl="0" eaLnBrk="0" fontAlgn="base" hangingPunct="0">
        <a:spcBef>
          <a:spcPct val="0"/>
        </a:spcBef>
        <a:spcAft>
          <a:spcPct val="0"/>
        </a:spcAft>
        <a:defRPr kumimoji="1" sz="2800">
          <a:solidFill>
            <a:schemeClr val="tx2"/>
          </a:solidFill>
          <a:latin typeface="Arial Black" pitchFamily="34" charset="0"/>
        </a:defRPr>
      </a:lvl2pPr>
      <a:lvl3pPr algn="l" rtl="0" eaLnBrk="0" fontAlgn="base" hangingPunct="0">
        <a:spcBef>
          <a:spcPct val="0"/>
        </a:spcBef>
        <a:spcAft>
          <a:spcPct val="0"/>
        </a:spcAft>
        <a:defRPr kumimoji="1" sz="2800">
          <a:solidFill>
            <a:schemeClr val="tx2"/>
          </a:solidFill>
          <a:latin typeface="Arial Black" pitchFamily="34" charset="0"/>
        </a:defRPr>
      </a:lvl3pPr>
      <a:lvl4pPr algn="l" rtl="0" eaLnBrk="0" fontAlgn="base" hangingPunct="0">
        <a:spcBef>
          <a:spcPct val="0"/>
        </a:spcBef>
        <a:spcAft>
          <a:spcPct val="0"/>
        </a:spcAft>
        <a:defRPr kumimoji="1" sz="2800">
          <a:solidFill>
            <a:schemeClr val="tx2"/>
          </a:solidFill>
          <a:latin typeface="Arial Black" pitchFamily="34" charset="0"/>
        </a:defRPr>
      </a:lvl4pPr>
      <a:lvl5pPr algn="l" rtl="0" eaLnBrk="0" fontAlgn="base" hangingPunct="0">
        <a:spcBef>
          <a:spcPct val="0"/>
        </a:spcBef>
        <a:spcAft>
          <a:spcPct val="0"/>
        </a:spcAft>
        <a:defRPr kumimoji="1" sz="2800">
          <a:solidFill>
            <a:schemeClr val="tx2"/>
          </a:solidFill>
          <a:latin typeface="Arial Black" pitchFamily="34" charset="0"/>
        </a:defRPr>
      </a:lvl5pPr>
      <a:lvl6pPr marL="457200" algn="l" rtl="0" eaLnBrk="0" fontAlgn="base" hangingPunct="0">
        <a:spcBef>
          <a:spcPct val="0"/>
        </a:spcBef>
        <a:spcAft>
          <a:spcPct val="0"/>
        </a:spcAft>
        <a:defRPr kumimoji="1" sz="2800">
          <a:solidFill>
            <a:schemeClr val="tx2"/>
          </a:solidFill>
          <a:latin typeface="Arial Black" pitchFamily="34" charset="0"/>
        </a:defRPr>
      </a:lvl6pPr>
      <a:lvl7pPr marL="914400" algn="l" rtl="0" eaLnBrk="0" fontAlgn="base" hangingPunct="0">
        <a:spcBef>
          <a:spcPct val="0"/>
        </a:spcBef>
        <a:spcAft>
          <a:spcPct val="0"/>
        </a:spcAft>
        <a:defRPr kumimoji="1" sz="2800">
          <a:solidFill>
            <a:schemeClr val="tx2"/>
          </a:solidFill>
          <a:latin typeface="Arial Black" pitchFamily="34" charset="0"/>
        </a:defRPr>
      </a:lvl7pPr>
      <a:lvl8pPr marL="1371600" algn="l" rtl="0" eaLnBrk="0" fontAlgn="base" hangingPunct="0">
        <a:spcBef>
          <a:spcPct val="0"/>
        </a:spcBef>
        <a:spcAft>
          <a:spcPct val="0"/>
        </a:spcAft>
        <a:defRPr kumimoji="1" sz="2800">
          <a:solidFill>
            <a:schemeClr val="tx2"/>
          </a:solidFill>
          <a:latin typeface="Arial Black" pitchFamily="34" charset="0"/>
        </a:defRPr>
      </a:lvl8pPr>
      <a:lvl9pPr marL="1828800" algn="l" rtl="0" eaLnBrk="0" fontAlgn="base" hangingPunct="0">
        <a:spcBef>
          <a:spcPct val="0"/>
        </a:spcBef>
        <a:spcAft>
          <a:spcPct val="0"/>
        </a:spcAft>
        <a:defRPr kumimoji="1" sz="28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o"/>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o"/>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o"/>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o"/>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o"/>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8169-8A3A-A08E-3B4F-820DD385448F}"/>
              </a:ext>
            </a:extLst>
          </p:cNvPr>
          <p:cNvSpPr>
            <a:spLocks noGrp="1"/>
          </p:cNvSpPr>
          <p:nvPr>
            <p:ph type="ctrTitle"/>
          </p:nvPr>
        </p:nvSpPr>
        <p:spPr>
          <a:xfrm>
            <a:off x="1391798" y="429658"/>
            <a:ext cx="9144000" cy="1957942"/>
          </a:xfrm>
        </p:spPr>
        <p:txBody>
          <a:bodyPr/>
          <a:lstStyle/>
          <a:p>
            <a:r>
              <a:rPr lang="en-US" b="1" dirty="0"/>
              <a:t>INSTRUCTION FORMATS AND ADDRESSING MODES </a:t>
            </a:r>
          </a:p>
        </p:txBody>
      </p:sp>
    </p:spTree>
    <p:extLst>
      <p:ext uri="{BB962C8B-B14F-4D97-AF65-F5344CB8AC3E}">
        <p14:creationId xmlns:p14="http://schemas.microsoft.com/office/powerpoint/2010/main" val="3301537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D6BF9-1884-6A36-1BBF-8541B7D9FCB8}"/>
              </a:ext>
            </a:extLst>
          </p:cNvPr>
          <p:cNvSpPr>
            <a:spLocks noGrp="1"/>
          </p:cNvSpPr>
          <p:nvPr>
            <p:ph type="title"/>
          </p:nvPr>
        </p:nvSpPr>
        <p:spPr>
          <a:xfrm>
            <a:off x="838200" y="155804"/>
            <a:ext cx="10515600" cy="1325563"/>
          </a:xfrm>
        </p:spPr>
        <p:txBody>
          <a:bodyPr>
            <a:normAutofit fontScale="90000"/>
          </a:bodyPr>
          <a:lstStyle/>
          <a:p>
            <a:r>
              <a:rPr lang="en-US" sz="3200" b="1" spc="0" dirty="0">
                <a:effectLst/>
                <a:latin typeface="Times New Roman" panose="02020603050405020304" pitchFamily="18" charset="0"/>
                <a:ea typeface="Times New Roman" panose="02020603050405020304" pitchFamily="18" charset="0"/>
              </a:rPr>
              <a:t>INSTRUCTION</a:t>
            </a:r>
            <a:r>
              <a:rPr lang="en-US" sz="3200" b="1" spc="-35" dirty="0">
                <a:effectLst/>
                <a:latin typeface="Times New Roman" panose="02020603050405020304" pitchFamily="18" charset="0"/>
                <a:ea typeface="Times New Roman" panose="02020603050405020304" pitchFamily="18" charset="0"/>
              </a:rPr>
              <a:t> </a:t>
            </a:r>
            <a:r>
              <a:rPr lang="en-US" sz="3200" b="1" spc="-10" dirty="0">
                <a:effectLst/>
                <a:latin typeface="Times New Roman" panose="02020603050405020304" pitchFamily="18" charset="0"/>
                <a:ea typeface="Times New Roman" panose="02020603050405020304" pitchFamily="18" charset="0"/>
              </a:rPr>
              <a:t>FORMATS</a:t>
            </a:r>
            <a:br>
              <a:rPr lang="en-US" sz="3200" b="1" spc="0" dirty="0">
                <a:effectLst/>
                <a:latin typeface="Times New Roman" panose="02020603050405020304" pitchFamily="18" charset="0"/>
                <a:ea typeface="Times New Roman" panose="02020603050405020304" pitchFamily="18" charset="0"/>
              </a:rPr>
            </a:br>
            <a:endParaRPr lang="en-US" sz="6000" b="1" dirty="0"/>
          </a:p>
        </p:txBody>
      </p:sp>
      <p:sp>
        <p:nvSpPr>
          <p:cNvPr id="3" name="Content Placeholder 2">
            <a:extLst>
              <a:ext uri="{FF2B5EF4-FFF2-40B4-BE49-F238E27FC236}">
                <a16:creationId xmlns:a16="http://schemas.microsoft.com/office/drawing/2014/main" id="{239936C2-5A7C-166D-A7A3-532D3A19793B}"/>
              </a:ext>
            </a:extLst>
          </p:cNvPr>
          <p:cNvSpPr>
            <a:spLocks noGrp="1"/>
          </p:cNvSpPr>
          <p:nvPr>
            <p:ph idx="1"/>
          </p:nvPr>
        </p:nvSpPr>
        <p:spPr>
          <a:xfrm>
            <a:off x="430575" y="1027905"/>
            <a:ext cx="10784595" cy="5464970"/>
          </a:xfrm>
        </p:spPr>
        <p:txBody>
          <a:bodyPr>
            <a:normAutofit lnSpcReduction="10000"/>
          </a:bodyPr>
          <a:lstStyle/>
          <a:p>
            <a:pPr marL="582930" marR="912495" algn="just">
              <a:lnSpc>
                <a:spcPct val="131000"/>
              </a:lnSpc>
              <a:spcBef>
                <a:spcPts val="400"/>
              </a:spcBef>
              <a:spcAft>
                <a:spcPts val="0"/>
              </a:spcAft>
            </a:pPr>
            <a:r>
              <a:rPr lang="en-US" sz="3600" dirty="0">
                <a:effectLst/>
                <a:latin typeface="Times New Roman" panose="02020603050405020304" pitchFamily="18" charset="0"/>
                <a:ea typeface="Times New Roman" panose="02020603050405020304" pitchFamily="18" charset="0"/>
              </a:rPr>
              <a:t>An instruction format defines the layout of the bits of an instruction, in terms of</a:t>
            </a:r>
            <a:r>
              <a:rPr lang="en-US" sz="3600" spc="90"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its</a:t>
            </a:r>
            <a:r>
              <a:rPr lang="en-US" sz="3600" spc="105"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constituent’s</a:t>
            </a:r>
            <a:r>
              <a:rPr lang="en-US" sz="3600" spc="110"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fields.</a:t>
            </a:r>
            <a:r>
              <a:rPr lang="en-US" sz="3600" spc="115"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An</a:t>
            </a:r>
            <a:r>
              <a:rPr lang="en-US" sz="3600" spc="100"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instruction</a:t>
            </a:r>
            <a:r>
              <a:rPr lang="en-US" sz="3600" spc="125"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format</a:t>
            </a:r>
            <a:r>
              <a:rPr lang="en-US" sz="3600" spc="125"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must</a:t>
            </a:r>
            <a:r>
              <a:rPr lang="en-US" sz="3600" spc="100"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include</a:t>
            </a:r>
            <a:r>
              <a:rPr lang="en-US" sz="3600" spc="110"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an</a:t>
            </a:r>
            <a:r>
              <a:rPr lang="en-US" sz="3600" spc="115"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opcode</a:t>
            </a:r>
            <a:r>
              <a:rPr lang="en-US" sz="3600" spc="110" dirty="0">
                <a:effectLst/>
                <a:latin typeface="Times New Roman" panose="02020603050405020304" pitchFamily="18" charset="0"/>
                <a:ea typeface="Times New Roman" panose="02020603050405020304" pitchFamily="18" charset="0"/>
              </a:rPr>
              <a:t> </a:t>
            </a:r>
            <a:r>
              <a:rPr lang="en-US" sz="3600" spc="-25" dirty="0">
                <a:effectLst/>
                <a:latin typeface="Times New Roman" panose="02020603050405020304" pitchFamily="18" charset="0"/>
                <a:ea typeface="Times New Roman" panose="02020603050405020304" pitchFamily="18" charset="0"/>
              </a:rPr>
              <a:t>and</a:t>
            </a:r>
            <a:r>
              <a:rPr lang="en-US" sz="3600" spc="-25" dirty="0">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implicitly or explicitly, zero or more operands. The format must implicitly explicitly, indicate the addressing mode for each operands. For</a:t>
            </a:r>
            <a:r>
              <a:rPr lang="en-US" sz="3600" spc="200" dirty="0">
                <a:effectLst/>
                <a:latin typeface="Times New Roman" panose="02020603050405020304" pitchFamily="18" charset="0"/>
                <a:ea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most instruction sets, more than one instruction format is used.</a:t>
            </a:r>
          </a:p>
          <a:p>
            <a:pPr marL="582930" marR="912495" algn="just">
              <a:lnSpc>
                <a:spcPct val="131000"/>
              </a:lnSpc>
              <a:spcBef>
                <a:spcPts val="400"/>
              </a:spcBef>
              <a:spcAft>
                <a:spcPts val="0"/>
              </a:spcAft>
            </a:pPr>
            <a:endParaRPr lang="en-US" sz="3600" dirty="0">
              <a:effectLst/>
              <a:latin typeface="Times New Roman" panose="02020603050405020304" pitchFamily="18" charset="0"/>
              <a:ea typeface="Times New Roman" panose="02020603050405020304" pitchFamily="18" charset="0"/>
            </a:endParaRPr>
          </a:p>
          <a:p>
            <a:pPr marL="0" indent="0">
              <a:buNone/>
            </a:pPr>
            <a:endParaRPr lang="en-US" sz="4800" dirty="0"/>
          </a:p>
        </p:txBody>
      </p:sp>
    </p:spTree>
    <p:extLst>
      <p:ext uri="{BB962C8B-B14F-4D97-AF65-F5344CB8AC3E}">
        <p14:creationId xmlns:p14="http://schemas.microsoft.com/office/powerpoint/2010/main" val="3285572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10677-AFEF-73AE-505F-C20626E4DABF}"/>
              </a:ext>
            </a:extLst>
          </p:cNvPr>
          <p:cNvSpPr>
            <a:spLocks noGrp="1"/>
          </p:cNvSpPr>
          <p:nvPr>
            <p:ph type="title"/>
          </p:nvPr>
        </p:nvSpPr>
        <p:spPr/>
        <p:txBody>
          <a:bodyPr>
            <a:normAutofit/>
          </a:bodyPr>
          <a:lstStyle/>
          <a:p>
            <a:r>
              <a:rPr lang="en-US" sz="3600" b="1" dirty="0">
                <a:effectLst/>
                <a:latin typeface="Times New Roman" panose="02020603050405020304" pitchFamily="18" charset="0"/>
                <a:ea typeface="Times New Roman" panose="02020603050405020304" pitchFamily="18" charset="0"/>
              </a:rPr>
              <a:t>INSTRUCTION</a:t>
            </a:r>
            <a:r>
              <a:rPr lang="en-US" sz="3600" b="1" spc="-35"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LENGTH</a:t>
            </a:r>
            <a:endParaRPr lang="en-US" sz="7200" b="1" dirty="0"/>
          </a:p>
        </p:txBody>
      </p:sp>
      <p:sp>
        <p:nvSpPr>
          <p:cNvPr id="3" name="Content Placeholder 2">
            <a:extLst>
              <a:ext uri="{FF2B5EF4-FFF2-40B4-BE49-F238E27FC236}">
                <a16:creationId xmlns:a16="http://schemas.microsoft.com/office/drawing/2014/main" id="{354B34AB-25EA-B6ED-1765-3DE2DADD6566}"/>
              </a:ext>
            </a:extLst>
          </p:cNvPr>
          <p:cNvSpPr>
            <a:spLocks noGrp="1"/>
          </p:cNvSpPr>
          <p:nvPr>
            <p:ph idx="1"/>
          </p:nvPr>
        </p:nvSpPr>
        <p:spPr/>
        <p:txBody>
          <a:bodyPr>
            <a:normAutofit/>
          </a:bodyPr>
          <a:lstStyle/>
          <a:p>
            <a:pPr marL="0" indent="0">
              <a:buNone/>
            </a:pPr>
            <a:r>
              <a:rPr lang="en-US" sz="4000" dirty="0">
                <a:effectLst/>
                <a:latin typeface="Times New Roman" panose="02020603050405020304" pitchFamily="18" charset="0"/>
                <a:ea typeface="Times New Roman" panose="02020603050405020304" pitchFamily="18" charset="0"/>
              </a:rPr>
              <a:t>The most basic design issue to be faced is the instruction format length. This decisions effects and is affected by, memory size, memory organization bus structure process complexity and processor speed. This</a:t>
            </a:r>
            <a:r>
              <a:rPr lang="en-US" sz="4000" spc="200" dirty="0">
                <a:effectLst/>
                <a:latin typeface="Times New Roman" panose="02020603050405020304" pitchFamily="18" charset="0"/>
                <a:ea typeface="Times New Roman" panose="02020603050405020304" pitchFamily="18" charset="0"/>
              </a:rPr>
              <a:t> </a:t>
            </a:r>
            <a:r>
              <a:rPr lang="en-US" sz="4000" dirty="0">
                <a:effectLst/>
                <a:latin typeface="Times New Roman" panose="02020603050405020304" pitchFamily="18" charset="0"/>
                <a:ea typeface="Times New Roman" panose="02020603050405020304" pitchFamily="18" charset="0"/>
              </a:rPr>
              <a:t>decision</a:t>
            </a:r>
            <a:r>
              <a:rPr lang="en-US" sz="4000" spc="200" dirty="0">
                <a:effectLst/>
                <a:latin typeface="Times New Roman" panose="02020603050405020304" pitchFamily="18" charset="0"/>
                <a:ea typeface="Times New Roman" panose="02020603050405020304" pitchFamily="18" charset="0"/>
              </a:rPr>
              <a:t> </a:t>
            </a:r>
            <a:r>
              <a:rPr lang="en-US" sz="4000" dirty="0">
                <a:effectLst/>
                <a:latin typeface="Times New Roman" panose="02020603050405020304" pitchFamily="18" charset="0"/>
                <a:ea typeface="Times New Roman" panose="02020603050405020304" pitchFamily="18" charset="0"/>
              </a:rPr>
              <a:t>determines the richness and flexibility of the machine.</a:t>
            </a:r>
          </a:p>
          <a:p>
            <a:pPr marL="0" indent="0">
              <a:buNone/>
            </a:pPr>
            <a:endParaRPr lang="en-US" sz="4000" dirty="0">
              <a:latin typeface="Times New Roman" panose="02020603050405020304" pitchFamily="18" charset="0"/>
              <a:ea typeface="Times New Roman" panose="02020603050405020304" pitchFamily="18" charset="0"/>
            </a:endParaRPr>
          </a:p>
          <a:p>
            <a:pPr marL="0" indent="0">
              <a:buNone/>
            </a:pPr>
            <a:endParaRPr lang="en-US" sz="4000" dirty="0">
              <a:effectLst/>
              <a:latin typeface="Times New Roman" panose="02020603050405020304" pitchFamily="18" charset="0"/>
              <a:ea typeface="Times New Roman" panose="02020603050405020304" pitchFamily="18" charset="0"/>
            </a:endParaRPr>
          </a:p>
          <a:p>
            <a:endParaRPr lang="en-US" sz="5400" dirty="0"/>
          </a:p>
        </p:txBody>
      </p:sp>
    </p:spTree>
    <p:extLst>
      <p:ext uri="{BB962C8B-B14F-4D97-AF65-F5344CB8AC3E}">
        <p14:creationId xmlns:p14="http://schemas.microsoft.com/office/powerpoint/2010/main" val="1062721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046A-4B88-125B-CC4E-5A0BCB577F72}"/>
              </a:ext>
            </a:extLst>
          </p:cNvPr>
          <p:cNvSpPr>
            <a:spLocks noGrp="1"/>
          </p:cNvSpPr>
          <p:nvPr>
            <p:ph type="title"/>
          </p:nvPr>
        </p:nvSpPr>
        <p:spPr>
          <a:xfrm>
            <a:off x="626533" y="696558"/>
            <a:ext cx="10938933" cy="838200"/>
          </a:xfrm>
        </p:spPr>
        <p:txBody>
          <a:bodyPr>
            <a:normAutofit fontScale="90000"/>
          </a:bodyPr>
          <a:lstStyle/>
          <a:p>
            <a:r>
              <a:rPr lang="en-US" sz="3200" b="1" spc="0" dirty="0">
                <a:effectLst/>
                <a:latin typeface="Times New Roman" panose="02020603050405020304" pitchFamily="18" charset="0"/>
                <a:ea typeface="Times New Roman" panose="02020603050405020304" pitchFamily="18" charset="0"/>
              </a:rPr>
              <a:t>INSTRUCTION SETS</a:t>
            </a:r>
            <a:r>
              <a:rPr lang="en-US" sz="3200" b="1" spc="20" dirty="0">
                <a:effectLst/>
                <a:latin typeface="Times New Roman" panose="02020603050405020304" pitchFamily="18" charset="0"/>
                <a:ea typeface="Times New Roman" panose="02020603050405020304" pitchFamily="18" charset="0"/>
              </a:rPr>
              <a:t> </a:t>
            </a:r>
            <a:r>
              <a:rPr lang="en-US" sz="3200" b="1" spc="-10" dirty="0">
                <a:effectLst/>
                <a:latin typeface="Times New Roman" panose="02020603050405020304" pitchFamily="18" charset="0"/>
                <a:ea typeface="Times New Roman" panose="02020603050405020304" pitchFamily="18" charset="0"/>
              </a:rPr>
              <a:t>CHARACTERISTICS</a:t>
            </a:r>
            <a:br>
              <a:rPr lang="en-US" sz="3200" b="1" spc="0" dirty="0">
                <a:effectLst/>
                <a:latin typeface="Times New Roman" panose="02020603050405020304" pitchFamily="18" charset="0"/>
                <a:ea typeface="Times New Roman" panose="02020603050405020304" pitchFamily="18" charset="0"/>
              </a:rPr>
            </a:br>
            <a:endParaRPr lang="en-US" sz="6000" b="1" dirty="0"/>
          </a:p>
        </p:txBody>
      </p:sp>
      <p:sp>
        <p:nvSpPr>
          <p:cNvPr id="3" name="Content Placeholder 2">
            <a:extLst>
              <a:ext uri="{FF2B5EF4-FFF2-40B4-BE49-F238E27FC236}">
                <a16:creationId xmlns:a16="http://schemas.microsoft.com/office/drawing/2014/main" id="{03AE2A1E-F847-F563-1306-A048FF235153}"/>
              </a:ext>
            </a:extLst>
          </p:cNvPr>
          <p:cNvSpPr>
            <a:spLocks noGrp="1"/>
          </p:cNvSpPr>
          <p:nvPr>
            <p:ph idx="1"/>
          </p:nvPr>
        </p:nvSpPr>
        <p:spPr>
          <a:xfrm>
            <a:off x="562778" y="1810104"/>
            <a:ext cx="10515600" cy="4351338"/>
          </a:xfrm>
        </p:spPr>
        <p:txBody>
          <a:bodyPr>
            <a:normAutofit lnSpcReduction="10000"/>
          </a:bodyPr>
          <a:lstStyle/>
          <a:p>
            <a:r>
              <a:rPr lang="en-US" sz="4400" dirty="0">
                <a:effectLst/>
                <a:latin typeface="Times New Roman" panose="02020603050405020304" pitchFamily="18" charset="0"/>
                <a:ea typeface="Times New Roman" panose="02020603050405020304" pitchFamily="18" charset="0"/>
              </a:rPr>
              <a:t>The operation of the processor is determined by the instructions it executes referred to as machine instructions or computer instruction. The collection of different instructions that the processor can execute is referred to as the processors instruction set.</a:t>
            </a:r>
          </a:p>
          <a:p>
            <a:endParaRPr lang="en-US" sz="6000" dirty="0"/>
          </a:p>
        </p:txBody>
      </p:sp>
    </p:spTree>
    <p:extLst>
      <p:ext uri="{BB962C8B-B14F-4D97-AF65-F5344CB8AC3E}">
        <p14:creationId xmlns:p14="http://schemas.microsoft.com/office/powerpoint/2010/main" val="1999985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3CFC6-2C2C-2F83-BA90-7EC2950D7FDB}"/>
              </a:ext>
            </a:extLst>
          </p:cNvPr>
          <p:cNvSpPr>
            <a:spLocks noGrp="1"/>
          </p:cNvSpPr>
          <p:nvPr>
            <p:ph type="title"/>
          </p:nvPr>
        </p:nvSpPr>
        <p:spPr>
          <a:xfrm>
            <a:off x="838200" y="933945"/>
            <a:ext cx="10515600" cy="593342"/>
          </a:xfrm>
        </p:spPr>
        <p:txBody>
          <a:bodyPr>
            <a:normAutofit fontScale="90000"/>
          </a:bodyPr>
          <a:lstStyle/>
          <a:p>
            <a:r>
              <a:rPr lang="en-US" sz="2800" b="1" spc="-15" dirty="0">
                <a:effectLst/>
                <a:latin typeface="Times New Roman" panose="02020603050405020304" pitchFamily="18" charset="0"/>
                <a:ea typeface="Times New Roman" panose="02020603050405020304" pitchFamily="18" charset="0"/>
              </a:rPr>
              <a:t>ELEMENTS</a:t>
            </a:r>
            <a:r>
              <a:rPr lang="en-US" sz="2800" b="1" spc="-5" dirty="0">
                <a:effectLst/>
                <a:latin typeface="Times New Roman" panose="02020603050405020304" pitchFamily="18" charset="0"/>
                <a:ea typeface="Times New Roman" panose="02020603050405020304" pitchFamily="18" charset="0"/>
              </a:rPr>
              <a:t> </a:t>
            </a:r>
            <a:r>
              <a:rPr lang="en-US" sz="2800" b="1" spc="-15" dirty="0">
                <a:effectLst/>
                <a:latin typeface="Times New Roman" panose="02020603050405020304" pitchFamily="18" charset="0"/>
                <a:ea typeface="Times New Roman" panose="02020603050405020304" pitchFamily="18" charset="0"/>
              </a:rPr>
              <a:t>OF A</a:t>
            </a:r>
            <a:r>
              <a:rPr lang="en-US" sz="2800" b="1" spc="5" dirty="0">
                <a:effectLst/>
                <a:latin typeface="Times New Roman" panose="02020603050405020304" pitchFamily="18" charset="0"/>
                <a:ea typeface="Times New Roman" panose="02020603050405020304" pitchFamily="18" charset="0"/>
              </a:rPr>
              <a:t> </a:t>
            </a:r>
            <a:r>
              <a:rPr lang="en-US" sz="2800" b="1" spc="-15" dirty="0">
                <a:effectLst/>
                <a:latin typeface="Times New Roman" panose="02020603050405020304" pitchFamily="18" charset="0"/>
                <a:ea typeface="Times New Roman" panose="02020603050405020304" pitchFamily="18" charset="0"/>
              </a:rPr>
              <a:t>MACHINE</a:t>
            </a:r>
            <a:r>
              <a:rPr lang="en-US" sz="2800" b="1" spc="15" dirty="0">
                <a:effectLst/>
                <a:latin typeface="Times New Roman" panose="02020603050405020304" pitchFamily="18" charset="0"/>
                <a:ea typeface="Times New Roman" panose="02020603050405020304" pitchFamily="18" charset="0"/>
              </a:rPr>
              <a:t> </a:t>
            </a:r>
            <a:r>
              <a:rPr lang="en-US" sz="2800" b="1" spc="-10" dirty="0">
                <a:effectLst/>
                <a:latin typeface="Times New Roman" panose="02020603050405020304" pitchFamily="18" charset="0"/>
                <a:ea typeface="Times New Roman" panose="02020603050405020304" pitchFamily="18" charset="0"/>
              </a:rPr>
              <a:t>INSTRUCTION</a:t>
            </a:r>
            <a:br>
              <a:rPr lang="en-US" sz="2800" b="1" spc="-15" dirty="0">
                <a:effectLst/>
                <a:latin typeface="Times New Roman" panose="02020603050405020304" pitchFamily="18" charset="0"/>
                <a:ea typeface="Times New Roman" panose="02020603050405020304" pitchFamily="18" charset="0"/>
              </a:rPr>
            </a:br>
            <a:endParaRPr lang="en-US" sz="6000" dirty="0"/>
          </a:p>
        </p:txBody>
      </p:sp>
      <p:sp>
        <p:nvSpPr>
          <p:cNvPr id="3" name="Content Placeholder 2">
            <a:extLst>
              <a:ext uri="{FF2B5EF4-FFF2-40B4-BE49-F238E27FC236}">
                <a16:creationId xmlns:a16="http://schemas.microsoft.com/office/drawing/2014/main" id="{2B84CC0F-5CC4-EC1C-7EC4-5BB2F77D4A30}"/>
              </a:ext>
            </a:extLst>
          </p:cNvPr>
          <p:cNvSpPr>
            <a:spLocks noGrp="1"/>
          </p:cNvSpPr>
          <p:nvPr>
            <p:ph idx="1"/>
          </p:nvPr>
        </p:nvSpPr>
        <p:spPr>
          <a:xfrm>
            <a:off x="838200" y="1032409"/>
            <a:ext cx="10515600" cy="5229107"/>
          </a:xfrm>
        </p:spPr>
        <p:txBody>
          <a:bodyPr>
            <a:normAutofit/>
          </a:bodyPr>
          <a:lstStyle/>
          <a:p>
            <a:pPr marL="582930" marR="0" algn="just">
              <a:spcBef>
                <a:spcPts val="385"/>
              </a:spcBef>
              <a:spcAft>
                <a:spcPts val="0"/>
              </a:spcAft>
            </a:pPr>
            <a:r>
              <a:rPr lang="en-US" sz="2400" dirty="0">
                <a:effectLst/>
                <a:latin typeface="Times New Roman" panose="02020603050405020304" pitchFamily="18" charset="0"/>
                <a:ea typeface="Times New Roman" panose="02020603050405020304" pitchFamily="18" charset="0"/>
              </a:rPr>
              <a:t>These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elements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a:t>
            </a:r>
            <a:r>
              <a:rPr lang="en-US" sz="2400" spc="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follows:</a:t>
            </a:r>
            <a:endParaRPr lang="en-US" sz="2400" dirty="0">
              <a:effectLst/>
              <a:latin typeface="Times New Roman" panose="02020603050405020304" pitchFamily="18" charset="0"/>
              <a:ea typeface="Times New Roman" panose="02020603050405020304" pitchFamily="18" charset="0"/>
            </a:endParaRPr>
          </a:p>
          <a:p>
            <a:pPr marL="1600200" marR="891540" lvl="3" indent="-228600" algn="just">
              <a:lnSpc>
                <a:spcPct val="130000"/>
              </a:lnSpc>
              <a:spcBef>
                <a:spcPts val="440"/>
              </a:spcBef>
              <a:spcAft>
                <a:spcPts val="0"/>
              </a:spcAft>
              <a:buSzPts val="1250"/>
              <a:buFont typeface="Cambria" panose="02040503050406030204" pitchFamily="18" charset="0"/>
              <a:buChar char="-"/>
              <a:tabLst>
                <a:tab pos="1027430" algn="l"/>
              </a:tabLst>
            </a:pP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Operation code: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Specifies the operation to be performed (</a:t>
            </a:r>
            <a:r>
              <a:rPr lang="en-US" sz="2400" spc="0" dirty="0" err="1">
                <a:effectLst/>
                <a:latin typeface="Times New Roman" panose="02020603050405020304" pitchFamily="18" charset="0"/>
                <a:ea typeface="Cambria" panose="02040503050406030204" pitchFamily="18" charset="0"/>
                <a:cs typeface="Cambria" panose="02040503050406030204" pitchFamily="18" charset="0"/>
              </a:rPr>
              <a:t>e.g</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 ADD, I/O). The operation is specified by a binary code, known as the operation code or opcode.</a:t>
            </a:r>
            <a:endParaRPr lang="en-US" sz="1400" spc="0" dirty="0">
              <a:effectLst/>
              <a:latin typeface="Times New Roman" panose="02020603050405020304" pitchFamily="18" charset="0"/>
              <a:ea typeface="Cambria" panose="02040503050406030204" pitchFamily="18" charset="0"/>
              <a:cs typeface="Cambria" panose="02040503050406030204" pitchFamily="18" charset="0"/>
            </a:endParaRPr>
          </a:p>
          <a:p>
            <a:pPr marL="1600200" marR="892175" lvl="3" indent="-228600" algn="just">
              <a:lnSpc>
                <a:spcPct val="128000"/>
              </a:lnSpc>
              <a:spcBef>
                <a:spcPts val="0"/>
              </a:spcBef>
              <a:spcAft>
                <a:spcPts val="0"/>
              </a:spcAft>
              <a:buSzPts val="1250"/>
              <a:buFont typeface="Cambria" panose="02040503050406030204" pitchFamily="18" charset="0"/>
              <a:buChar char="-"/>
              <a:tabLst>
                <a:tab pos="1027430" algn="l"/>
              </a:tabLst>
            </a:pP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Source operand reference: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This operation may involve one or more source operands, that is operands that are inputs for the operation</a:t>
            </a:r>
            <a:endParaRPr lang="en-US" sz="1400" spc="0" dirty="0">
              <a:effectLst/>
              <a:latin typeface="Times New Roman" panose="02020603050405020304" pitchFamily="18" charset="0"/>
              <a:ea typeface="Cambria" panose="02040503050406030204" pitchFamily="18" charset="0"/>
              <a:cs typeface="Cambria" panose="02040503050406030204" pitchFamily="18" charset="0"/>
            </a:endParaRPr>
          </a:p>
          <a:p>
            <a:pPr marL="1600200" marR="0" lvl="3" indent="-228600" algn="just">
              <a:spcBef>
                <a:spcPts val="40"/>
              </a:spcBef>
              <a:spcAft>
                <a:spcPts val="0"/>
              </a:spcAft>
              <a:buSzPts val="1250"/>
              <a:buFont typeface="Cambria" panose="02040503050406030204" pitchFamily="18" charset="0"/>
              <a:buChar char="-"/>
              <a:tabLst>
                <a:tab pos="1027430" algn="l"/>
              </a:tabLst>
            </a:pP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Results</a:t>
            </a:r>
            <a:r>
              <a:rPr lang="en-US" sz="2400" b="1" spc="-20" dirty="0">
                <a:effectLst/>
                <a:latin typeface="Times New Roman" panose="02020603050405020304" pitchFamily="18" charset="0"/>
                <a:ea typeface="Cambria" panose="02040503050406030204" pitchFamily="18" charset="0"/>
                <a:cs typeface="Cambria" panose="02040503050406030204" pitchFamily="18" charset="0"/>
              </a:rPr>
              <a:t> </a:t>
            </a: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operands reference: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The</a:t>
            </a:r>
            <a:r>
              <a:rPr lang="en-US" sz="2400" spc="-10" dirty="0">
                <a:effectLst/>
                <a:latin typeface="Times New Roman" panose="02020603050405020304" pitchFamily="18" charset="0"/>
                <a:ea typeface="Cambria" panose="02040503050406030204" pitchFamily="18" charset="0"/>
                <a:cs typeface="Cambria" panose="02040503050406030204" pitchFamily="18" charset="0"/>
              </a:rPr>
              <a:t>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operation</a:t>
            </a:r>
            <a:r>
              <a:rPr lang="en-US" sz="2400" spc="35" dirty="0">
                <a:effectLst/>
                <a:latin typeface="Times New Roman" panose="02020603050405020304" pitchFamily="18" charset="0"/>
                <a:ea typeface="Cambria" panose="02040503050406030204" pitchFamily="18" charset="0"/>
                <a:cs typeface="Cambria" panose="02040503050406030204" pitchFamily="18" charset="0"/>
              </a:rPr>
              <a:t>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may</a:t>
            </a:r>
            <a:r>
              <a:rPr lang="en-US" sz="2400" spc="-35" dirty="0">
                <a:effectLst/>
                <a:latin typeface="Times New Roman" panose="02020603050405020304" pitchFamily="18" charset="0"/>
                <a:ea typeface="Cambria" panose="02040503050406030204" pitchFamily="18" charset="0"/>
                <a:cs typeface="Cambria" panose="02040503050406030204" pitchFamily="18" charset="0"/>
              </a:rPr>
              <a:t>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produce a</a:t>
            </a:r>
            <a:r>
              <a:rPr lang="en-US" sz="2400" spc="-15" dirty="0">
                <a:effectLst/>
                <a:latin typeface="Times New Roman" panose="02020603050405020304" pitchFamily="18" charset="0"/>
                <a:ea typeface="Cambria" panose="02040503050406030204" pitchFamily="18" charset="0"/>
                <a:cs typeface="Cambria" panose="02040503050406030204" pitchFamily="18" charset="0"/>
              </a:rPr>
              <a:t> </a:t>
            </a:r>
            <a:r>
              <a:rPr lang="en-US" sz="2400" spc="-10" dirty="0">
                <a:effectLst/>
                <a:latin typeface="Times New Roman" panose="02020603050405020304" pitchFamily="18" charset="0"/>
                <a:ea typeface="Cambria" panose="02040503050406030204" pitchFamily="18" charset="0"/>
                <a:cs typeface="Cambria" panose="02040503050406030204" pitchFamily="18" charset="0"/>
              </a:rPr>
              <a:t>result</a:t>
            </a:r>
            <a:endParaRPr lang="en-US" sz="1400" spc="0" dirty="0">
              <a:effectLst/>
              <a:latin typeface="Times New Roman" panose="02020603050405020304" pitchFamily="18" charset="0"/>
              <a:ea typeface="Cambria" panose="02040503050406030204" pitchFamily="18" charset="0"/>
              <a:cs typeface="Cambria" panose="02040503050406030204" pitchFamily="18" charset="0"/>
            </a:endParaRPr>
          </a:p>
          <a:p>
            <a:pPr marL="1600200" marR="894080" lvl="3" indent="-228600" algn="just">
              <a:lnSpc>
                <a:spcPct val="130000"/>
              </a:lnSpc>
              <a:spcBef>
                <a:spcPts val="420"/>
              </a:spcBef>
              <a:spcAft>
                <a:spcPts val="0"/>
              </a:spcAft>
              <a:buSzPts val="1250"/>
              <a:buFont typeface="Cambria" panose="02040503050406030204" pitchFamily="18" charset="0"/>
              <a:buChar char="-"/>
              <a:tabLst>
                <a:tab pos="1027430" algn="l"/>
              </a:tabLst>
            </a:pP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Next instruction reference: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This tells the processor where to fetch the next instruction after the execution of this instruction is complete.</a:t>
            </a:r>
            <a:endParaRPr lang="en-US" sz="1400" spc="0" dirty="0">
              <a:effectLst/>
              <a:latin typeface="Times New Roman" panose="02020603050405020304" pitchFamily="18" charset="0"/>
              <a:ea typeface="Cambria" panose="02040503050406030204" pitchFamily="18" charset="0"/>
              <a:cs typeface="Cambria" panose="02040503050406030204" pitchFamily="18" charset="0"/>
            </a:endParaRPr>
          </a:p>
          <a:p>
            <a:endParaRPr lang="en-US" sz="4400" dirty="0"/>
          </a:p>
        </p:txBody>
      </p:sp>
    </p:spTree>
    <p:extLst>
      <p:ext uri="{BB962C8B-B14F-4D97-AF65-F5344CB8AC3E}">
        <p14:creationId xmlns:p14="http://schemas.microsoft.com/office/powerpoint/2010/main" val="2646728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0BCF1F-B459-C3F5-90D4-5731BEA1D609}"/>
              </a:ext>
            </a:extLst>
          </p:cNvPr>
          <p:cNvSpPr>
            <a:spLocks noGrp="1"/>
          </p:cNvSpPr>
          <p:nvPr>
            <p:ph idx="1"/>
          </p:nvPr>
        </p:nvSpPr>
        <p:spPr>
          <a:xfrm>
            <a:off x="408541" y="228178"/>
            <a:ext cx="11875266" cy="6470077"/>
          </a:xfrm>
        </p:spPr>
        <p:txBody>
          <a:bodyPr>
            <a:normAutofit fontScale="92500"/>
          </a:bodyPr>
          <a:lstStyle/>
          <a:p>
            <a:pPr marL="582930" marR="890905" algn="just">
              <a:lnSpc>
                <a:spcPct val="130000"/>
              </a:lnSpc>
              <a:spcBef>
                <a:spcPts val="0"/>
              </a:spcBef>
              <a:spcAft>
                <a:spcPts val="0"/>
              </a:spcAft>
            </a:pPr>
            <a:r>
              <a:rPr lang="en-US" sz="2400" dirty="0">
                <a:effectLst/>
                <a:latin typeface="Times New Roman" panose="02020603050405020304" pitchFamily="18" charset="0"/>
                <a:ea typeface="Times New Roman" panose="02020603050405020304" pitchFamily="18" charset="0"/>
              </a:rPr>
              <a:t>The address of the next instruction to be fetched could be either a real address or</a:t>
            </a:r>
            <a:r>
              <a:rPr lang="en-US" sz="2400" spc="1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1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virtual</a:t>
            </a:r>
            <a:r>
              <a:rPr lang="en-US" sz="2400" spc="1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address,</a:t>
            </a:r>
            <a:r>
              <a:rPr lang="en-US" sz="2400" spc="1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depending on</a:t>
            </a:r>
            <a:r>
              <a:rPr lang="en-US" sz="2400" spc="1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architecture.</a:t>
            </a:r>
            <a:r>
              <a:rPr lang="en-US" sz="2400" spc="1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Generally,</a:t>
            </a:r>
            <a:r>
              <a:rPr lang="en-US" sz="2400" spc="1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distinction is transparent to the instruction set architecture. In most cases, the next instruction to be fetched immediately follows the current instruction. In most cases, there is no explicit reference to the next instruction when an explicit reference is needed then the main memory or virtual memory address must be supplied. Source and result operands can be in one of four areas.</a:t>
            </a:r>
          </a:p>
          <a:p>
            <a:pPr marL="1600200" marR="894080" lvl="3" indent="-228600" algn="just">
              <a:lnSpc>
                <a:spcPct val="127000"/>
              </a:lnSpc>
              <a:spcBef>
                <a:spcPts val="390"/>
              </a:spcBef>
              <a:spcAft>
                <a:spcPts val="0"/>
              </a:spcAft>
              <a:buSzPts val="1250"/>
              <a:buFont typeface="Cambria" panose="02040503050406030204" pitchFamily="18" charset="0"/>
              <a:buChar char="-"/>
              <a:tabLst>
                <a:tab pos="1027430" algn="l"/>
              </a:tabLst>
            </a:pPr>
            <a:br>
              <a:rPr lang="en-US" sz="1600" dirty="0">
                <a:effectLst/>
                <a:latin typeface="Times New Roman" panose="02020603050405020304" pitchFamily="18" charset="0"/>
                <a:ea typeface="Times New Roman" panose="02020603050405020304" pitchFamily="18" charset="0"/>
              </a:rPr>
            </a:b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Main or virtual memory: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As with next instruction</a:t>
            </a:r>
            <a:r>
              <a:rPr lang="en-US" sz="2400" spc="200" dirty="0">
                <a:effectLst/>
                <a:latin typeface="Times New Roman" panose="02020603050405020304" pitchFamily="18" charset="0"/>
                <a:ea typeface="Cambria" panose="02040503050406030204" pitchFamily="18" charset="0"/>
                <a:cs typeface="Cambria" panose="02040503050406030204" pitchFamily="18" charset="0"/>
              </a:rPr>
              <a:t>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references,</a:t>
            </a:r>
            <a:r>
              <a:rPr lang="en-US" sz="2400" spc="200" dirty="0">
                <a:effectLst/>
                <a:latin typeface="Times New Roman" panose="02020603050405020304" pitchFamily="18" charset="0"/>
                <a:ea typeface="Cambria" panose="02040503050406030204" pitchFamily="18" charset="0"/>
                <a:cs typeface="Cambria" panose="02040503050406030204" pitchFamily="18" charset="0"/>
              </a:rPr>
              <a:t>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the main or virtual memory address must be supplied.</a:t>
            </a:r>
            <a:endParaRPr lang="en-US" sz="1600" spc="0" dirty="0">
              <a:effectLst/>
              <a:latin typeface="Times New Roman" panose="02020603050405020304" pitchFamily="18" charset="0"/>
              <a:ea typeface="Cambria" panose="02040503050406030204" pitchFamily="18" charset="0"/>
              <a:cs typeface="Cambria" panose="02040503050406030204" pitchFamily="18" charset="0"/>
            </a:endParaRPr>
          </a:p>
          <a:p>
            <a:pPr marL="1600200" marR="890270" lvl="3" indent="-228600" algn="just">
              <a:lnSpc>
                <a:spcPct val="130000"/>
              </a:lnSpc>
              <a:spcBef>
                <a:spcPts val="65"/>
              </a:spcBef>
              <a:spcAft>
                <a:spcPts val="0"/>
              </a:spcAft>
              <a:buSzPts val="1250"/>
              <a:buFont typeface="Cambria" panose="02040503050406030204" pitchFamily="18" charset="0"/>
              <a:buChar char="-"/>
              <a:tabLst>
                <a:tab pos="1027430" algn="l"/>
              </a:tabLst>
            </a:pP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Processor register: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With rare exception a processor contains one or more registers that may be referenced by machine instructions. If only one registers exits reference to it may be implicit. If more than one register exists, then each register is assigned a unique name or number, and the instruction must contain the number of the designed register</a:t>
            </a:r>
            <a:endParaRPr lang="en-US" sz="1600" spc="0" dirty="0">
              <a:effectLst/>
              <a:latin typeface="Times New Roman" panose="02020603050405020304" pitchFamily="18" charset="0"/>
              <a:ea typeface="Cambria" panose="02040503050406030204" pitchFamily="18" charset="0"/>
              <a:cs typeface="Cambria" panose="02040503050406030204" pitchFamily="18" charset="0"/>
            </a:endParaRPr>
          </a:p>
          <a:p>
            <a:endParaRPr lang="en-US" sz="4400" dirty="0"/>
          </a:p>
        </p:txBody>
      </p:sp>
    </p:spTree>
    <p:extLst>
      <p:ext uri="{BB962C8B-B14F-4D97-AF65-F5344CB8AC3E}">
        <p14:creationId xmlns:p14="http://schemas.microsoft.com/office/powerpoint/2010/main" val="137341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F8F2ED-03A6-CC41-3D59-FE552392AB08}"/>
              </a:ext>
            </a:extLst>
          </p:cNvPr>
          <p:cNvSpPr>
            <a:spLocks noGrp="1"/>
          </p:cNvSpPr>
          <p:nvPr>
            <p:ph idx="1"/>
          </p:nvPr>
        </p:nvSpPr>
        <p:spPr>
          <a:xfrm>
            <a:off x="99151" y="900208"/>
            <a:ext cx="11622795" cy="5390423"/>
          </a:xfrm>
        </p:spPr>
        <p:txBody>
          <a:bodyPr>
            <a:normAutofit/>
          </a:bodyPr>
          <a:lstStyle/>
          <a:p>
            <a:pPr marL="1600200" marR="890905" lvl="3" indent="-228600" algn="just">
              <a:lnSpc>
                <a:spcPct val="130000"/>
              </a:lnSpc>
              <a:spcBef>
                <a:spcPts val="50"/>
              </a:spcBef>
              <a:spcAft>
                <a:spcPts val="0"/>
              </a:spcAft>
              <a:buSzPts val="1250"/>
              <a:buFont typeface="Cambria" panose="02040503050406030204" pitchFamily="18" charset="0"/>
              <a:buChar char="-"/>
              <a:tabLst>
                <a:tab pos="1027430" algn="l"/>
              </a:tabLst>
            </a:pPr>
            <a:r>
              <a:rPr lang="en-US" sz="3200" b="1" spc="0" dirty="0">
                <a:effectLst/>
                <a:latin typeface="Times New Roman" panose="02020603050405020304" pitchFamily="18" charset="0"/>
                <a:ea typeface="Cambria" panose="02040503050406030204" pitchFamily="18" charset="0"/>
                <a:cs typeface="Cambria" panose="02040503050406030204" pitchFamily="18" charset="0"/>
              </a:rPr>
              <a:t>Immediate: </a:t>
            </a:r>
            <a:r>
              <a:rPr lang="en-US" sz="3200" spc="0" dirty="0">
                <a:effectLst/>
                <a:latin typeface="Times New Roman" panose="02020603050405020304" pitchFamily="18" charset="0"/>
                <a:ea typeface="Cambria" panose="02040503050406030204" pitchFamily="18" charset="0"/>
                <a:cs typeface="Cambria" panose="02040503050406030204" pitchFamily="18" charset="0"/>
              </a:rPr>
              <a:t>The value of the operand is contained in a field in the instruction being executed.</a:t>
            </a:r>
          </a:p>
          <a:p>
            <a:pPr marL="1600200" marR="892175" lvl="3" indent="-228600" algn="just">
              <a:lnSpc>
                <a:spcPct val="130000"/>
              </a:lnSpc>
              <a:spcBef>
                <a:spcPts val="10"/>
              </a:spcBef>
              <a:spcAft>
                <a:spcPts val="0"/>
              </a:spcAft>
              <a:buSzPts val="1250"/>
              <a:buFont typeface="Cambria" panose="02040503050406030204" pitchFamily="18" charset="0"/>
              <a:buChar char="-"/>
              <a:tabLst>
                <a:tab pos="1027430" algn="l"/>
              </a:tabLst>
            </a:pPr>
            <a:r>
              <a:rPr lang="en-US" sz="3200" b="1" spc="0" dirty="0">
                <a:effectLst/>
                <a:latin typeface="Times New Roman" panose="02020603050405020304" pitchFamily="18" charset="0"/>
                <a:ea typeface="Cambria" panose="02040503050406030204" pitchFamily="18" charset="0"/>
                <a:cs typeface="Cambria" panose="02040503050406030204" pitchFamily="18" charset="0"/>
              </a:rPr>
              <a:t>I/O device: </a:t>
            </a:r>
            <a:r>
              <a:rPr lang="en-US" sz="3200" spc="0" dirty="0">
                <a:effectLst/>
                <a:latin typeface="Times New Roman" panose="02020603050405020304" pitchFamily="18" charset="0"/>
                <a:ea typeface="Cambria" panose="02040503050406030204" pitchFamily="18" charset="0"/>
                <a:cs typeface="Cambria" panose="02040503050406030204" pitchFamily="18" charset="0"/>
              </a:rPr>
              <a:t>The instruction must specify the I/O module and device for the operation. If memory-mapped I/O is used, this is just another main or virtual memory address</a:t>
            </a:r>
          </a:p>
          <a:p>
            <a:endParaRPr lang="en-US" sz="4400" dirty="0"/>
          </a:p>
        </p:txBody>
      </p:sp>
    </p:spTree>
    <p:extLst>
      <p:ext uri="{BB962C8B-B14F-4D97-AF65-F5344CB8AC3E}">
        <p14:creationId xmlns:p14="http://schemas.microsoft.com/office/powerpoint/2010/main" val="1600392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B2EE7-E485-0162-BE4B-3A522A65CD03}"/>
              </a:ext>
            </a:extLst>
          </p:cNvPr>
          <p:cNvSpPr>
            <a:spLocks noGrp="1"/>
          </p:cNvSpPr>
          <p:nvPr>
            <p:ph type="title"/>
          </p:nvPr>
        </p:nvSpPr>
        <p:spPr/>
        <p:txBody>
          <a:bodyPr>
            <a:normAutofit fontScale="90000"/>
          </a:bodyPr>
          <a:lstStyle/>
          <a:p>
            <a:r>
              <a:rPr lang="en-US" sz="3200" b="1" spc="-15" dirty="0">
                <a:effectLst/>
                <a:latin typeface="Times New Roman" panose="02020603050405020304" pitchFamily="18" charset="0"/>
                <a:ea typeface="Times New Roman" panose="02020603050405020304" pitchFamily="18" charset="0"/>
              </a:rPr>
              <a:t>INSTRUCTION</a:t>
            </a:r>
            <a:r>
              <a:rPr lang="en-US" sz="3200" b="1" spc="-10" dirty="0">
                <a:effectLst/>
                <a:latin typeface="Times New Roman" panose="02020603050405020304" pitchFamily="18" charset="0"/>
                <a:ea typeface="Times New Roman" panose="02020603050405020304" pitchFamily="18" charset="0"/>
              </a:rPr>
              <a:t> REPRESENTATION</a:t>
            </a:r>
            <a:br>
              <a:rPr lang="en-US" sz="3200" b="1" spc="-15" dirty="0">
                <a:effectLst/>
                <a:latin typeface="Times New Roman" panose="02020603050405020304" pitchFamily="18" charset="0"/>
                <a:ea typeface="Times New Roman" panose="02020603050405020304" pitchFamily="18" charset="0"/>
              </a:rPr>
            </a:br>
            <a:endParaRPr lang="en-US" sz="6600" dirty="0"/>
          </a:p>
        </p:txBody>
      </p:sp>
      <p:sp>
        <p:nvSpPr>
          <p:cNvPr id="3" name="Content Placeholder 2">
            <a:extLst>
              <a:ext uri="{FF2B5EF4-FFF2-40B4-BE49-F238E27FC236}">
                <a16:creationId xmlns:a16="http://schemas.microsoft.com/office/drawing/2014/main" id="{013F4F63-FBCF-39B5-C1B9-138DD75F6C65}"/>
              </a:ext>
            </a:extLst>
          </p:cNvPr>
          <p:cNvSpPr>
            <a:spLocks noGrp="1"/>
          </p:cNvSpPr>
          <p:nvPr>
            <p:ph idx="1"/>
          </p:nvPr>
        </p:nvSpPr>
        <p:spPr>
          <a:xfrm>
            <a:off x="628879" y="1027905"/>
            <a:ext cx="10515600" cy="5637299"/>
          </a:xfrm>
        </p:spPr>
        <p:txBody>
          <a:bodyPr>
            <a:normAutofit/>
          </a:bodyPr>
          <a:lstStyle/>
          <a:p>
            <a:pPr marL="354330" marR="889000" indent="0" algn="just">
              <a:lnSpc>
                <a:spcPct val="131000"/>
              </a:lnSpc>
              <a:spcBef>
                <a:spcPts val="375"/>
              </a:spcBef>
              <a:spcAft>
                <a:spcPts val="0"/>
              </a:spcAft>
              <a:buNone/>
            </a:pPr>
            <a:r>
              <a:rPr lang="en-US" sz="2000" dirty="0">
                <a:effectLst/>
                <a:latin typeface="Times New Roman" panose="02020603050405020304" pitchFamily="18" charset="0"/>
                <a:ea typeface="Times New Roman" panose="02020603050405020304" pitchFamily="18" charset="0"/>
              </a:rPr>
              <a:t>Within the</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computer,</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each instruction</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is</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represented by a sequence</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 bits. The instruction is divided into fields, corresponding to the constituents elements of the instruction</a:t>
            </a:r>
          </a:p>
          <a:p>
            <a:pPr marL="354330" marR="895350" indent="0" algn="just">
              <a:lnSpc>
                <a:spcPct val="130000"/>
              </a:lnSpc>
              <a:spcBef>
                <a:spcPts val="0"/>
              </a:spcBef>
              <a:spcAft>
                <a:spcPts val="0"/>
              </a:spcAft>
              <a:buNone/>
            </a:pPr>
            <a:r>
              <a:rPr lang="en-US" sz="2000" dirty="0">
                <a:effectLst/>
                <a:latin typeface="Times New Roman" panose="02020603050405020304" pitchFamily="18" charset="0"/>
                <a:ea typeface="Times New Roman" panose="02020603050405020304" pitchFamily="18" charset="0"/>
              </a:rPr>
              <a:t>Opcodes are represented by abbreviation called mnemonics that indicate the operation. Common examples include:</a:t>
            </a:r>
          </a:p>
          <a:p>
            <a:pPr marL="582930" marR="0">
              <a:spcBef>
                <a:spcPts val="0"/>
              </a:spcBef>
              <a:spcAft>
                <a:spcPts val="0"/>
              </a:spcAft>
              <a:tabLst>
                <a:tab pos="1472565" algn="l"/>
              </a:tabLst>
            </a:pPr>
            <a:r>
              <a:rPr lang="en-US" sz="2000" spc="-25" dirty="0">
                <a:effectLst/>
                <a:latin typeface="Times New Roman" panose="02020603050405020304" pitchFamily="18" charset="0"/>
                <a:ea typeface="Times New Roman" panose="02020603050405020304" pitchFamily="18" charset="0"/>
              </a:rPr>
              <a:t>ADD</a:t>
            </a:r>
            <a:r>
              <a:rPr lang="en-US" sz="2000" dirty="0">
                <a:effectLst/>
                <a:latin typeface="Times New Roman" panose="02020603050405020304" pitchFamily="18" charset="0"/>
                <a:ea typeface="Times New Roman" panose="02020603050405020304" pitchFamily="18" charset="0"/>
              </a:rPr>
              <a:t>	</a:t>
            </a:r>
            <a:r>
              <a:rPr lang="en-US" sz="2000" spc="-25" dirty="0">
                <a:effectLst/>
                <a:latin typeface="Times New Roman" panose="02020603050405020304" pitchFamily="18" charset="0"/>
                <a:ea typeface="Times New Roman" panose="02020603050405020304" pitchFamily="18" charset="0"/>
              </a:rPr>
              <a:t>add</a:t>
            </a:r>
            <a:endParaRPr lang="en-US" sz="2000" dirty="0">
              <a:effectLst/>
              <a:latin typeface="Times New Roman" panose="02020603050405020304" pitchFamily="18" charset="0"/>
              <a:ea typeface="Times New Roman" panose="02020603050405020304" pitchFamily="18" charset="0"/>
            </a:endParaRPr>
          </a:p>
          <a:p>
            <a:pPr marL="582930" marR="0">
              <a:spcBef>
                <a:spcPts val="460"/>
              </a:spcBef>
              <a:spcAft>
                <a:spcPts val="0"/>
              </a:spcAft>
              <a:tabLst>
                <a:tab pos="1472565" algn="l"/>
              </a:tabLst>
            </a:pPr>
            <a:r>
              <a:rPr lang="en-US" sz="2000" spc="-25" dirty="0">
                <a:effectLst/>
                <a:latin typeface="Times New Roman" panose="02020603050405020304" pitchFamily="18" charset="0"/>
                <a:ea typeface="Times New Roman" panose="02020603050405020304" pitchFamily="18" charset="0"/>
              </a:rPr>
              <a:t>SUB</a:t>
            </a:r>
            <a:r>
              <a:rPr lang="en-US" sz="2000" dirty="0">
                <a:effectLst/>
                <a:latin typeface="Times New Roman" panose="02020603050405020304" pitchFamily="18" charset="0"/>
                <a:ea typeface="Times New Roman" panose="02020603050405020304" pitchFamily="18" charset="0"/>
              </a:rPr>
              <a:t>	</a:t>
            </a:r>
            <a:r>
              <a:rPr lang="en-US" sz="2000" spc="-10" dirty="0">
                <a:effectLst/>
                <a:latin typeface="Times New Roman" panose="02020603050405020304" pitchFamily="18" charset="0"/>
                <a:ea typeface="Times New Roman" panose="02020603050405020304" pitchFamily="18" charset="0"/>
              </a:rPr>
              <a:t>SUBTRACT</a:t>
            </a:r>
            <a:endParaRPr lang="en-US" sz="2000" dirty="0">
              <a:effectLst/>
              <a:latin typeface="Times New Roman" panose="02020603050405020304" pitchFamily="18" charset="0"/>
              <a:ea typeface="Times New Roman" panose="02020603050405020304" pitchFamily="18" charset="0"/>
            </a:endParaRPr>
          </a:p>
          <a:p>
            <a:pPr marL="582930" marR="0" algn="just">
              <a:spcBef>
                <a:spcPts val="445"/>
              </a:spcBef>
              <a:spcAft>
                <a:spcPts val="0"/>
              </a:spcAft>
              <a:tabLst>
                <a:tab pos="1472565" algn="l"/>
              </a:tabLst>
            </a:pPr>
            <a:r>
              <a:rPr lang="en-US" sz="2000" spc="-25" dirty="0">
                <a:effectLst/>
                <a:latin typeface="Times New Roman" panose="02020603050405020304" pitchFamily="18" charset="0"/>
                <a:ea typeface="Times New Roman" panose="02020603050405020304" pitchFamily="18" charset="0"/>
              </a:rPr>
              <a:t>MUL</a:t>
            </a:r>
            <a:r>
              <a:rPr lang="en-US" sz="2000" dirty="0">
                <a:effectLst/>
                <a:latin typeface="Times New Roman" panose="02020603050405020304" pitchFamily="18" charset="0"/>
                <a:ea typeface="Times New Roman" panose="02020603050405020304" pitchFamily="18" charset="0"/>
              </a:rPr>
              <a:t>	</a:t>
            </a:r>
            <a:r>
              <a:rPr lang="en-US" sz="2000" spc="-10" dirty="0">
                <a:effectLst/>
                <a:latin typeface="Times New Roman" panose="02020603050405020304" pitchFamily="18" charset="0"/>
                <a:ea typeface="Times New Roman" panose="02020603050405020304" pitchFamily="18" charset="0"/>
              </a:rPr>
              <a:t>multiply</a:t>
            </a:r>
            <a:endParaRPr lang="en-US" sz="2000" dirty="0">
              <a:effectLst/>
              <a:latin typeface="Times New Roman" panose="02020603050405020304" pitchFamily="18" charset="0"/>
              <a:ea typeface="Times New Roman" panose="02020603050405020304" pitchFamily="18" charset="0"/>
            </a:endParaRPr>
          </a:p>
          <a:p>
            <a:pPr marL="582930" marR="0">
              <a:spcBef>
                <a:spcPts val="460"/>
              </a:spcBef>
              <a:spcAft>
                <a:spcPts val="0"/>
              </a:spcAft>
              <a:tabLst>
                <a:tab pos="1472565" algn="l"/>
              </a:tabLst>
            </a:pPr>
            <a:r>
              <a:rPr lang="en-US" sz="2000" spc="-25" dirty="0">
                <a:effectLst/>
                <a:latin typeface="Times New Roman" panose="02020603050405020304" pitchFamily="18" charset="0"/>
                <a:ea typeface="Times New Roman" panose="02020603050405020304" pitchFamily="18" charset="0"/>
              </a:rPr>
              <a:t>DIV</a:t>
            </a:r>
            <a:r>
              <a:rPr lang="en-US" sz="2000" dirty="0">
                <a:effectLst/>
                <a:latin typeface="Times New Roman" panose="02020603050405020304" pitchFamily="18" charset="0"/>
                <a:ea typeface="Times New Roman" panose="02020603050405020304" pitchFamily="18" charset="0"/>
              </a:rPr>
              <a:t>	</a:t>
            </a:r>
            <a:r>
              <a:rPr lang="en-US" sz="2000" spc="-10" dirty="0">
                <a:effectLst/>
                <a:latin typeface="Times New Roman" panose="02020603050405020304" pitchFamily="18" charset="0"/>
                <a:ea typeface="Times New Roman" panose="02020603050405020304" pitchFamily="18" charset="0"/>
              </a:rPr>
              <a:t>divide</a:t>
            </a:r>
            <a:endParaRPr lang="en-US" sz="2000" dirty="0">
              <a:effectLst/>
              <a:latin typeface="Times New Roman" panose="02020603050405020304" pitchFamily="18" charset="0"/>
              <a:ea typeface="Times New Roman" panose="02020603050405020304" pitchFamily="18" charset="0"/>
            </a:endParaRPr>
          </a:p>
          <a:p>
            <a:pPr marL="582930" marR="3498215">
              <a:lnSpc>
                <a:spcPct val="130000"/>
              </a:lnSpc>
              <a:spcBef>
                <a:spcPts val="445"/>
              </a:spcBef>
              <a:spcAft>
                <a:spcPts val="0"/>
              </a:spcAft>
              <a:tabLst>
                <a:tab pos="1472565" algn="l"/>
              </a:tabLst>
            </a:pPr>
            <a:r>
              <a:rPr lang="en-US" sz="2000" spc="-20" dirty="0">
                <a:effectLst/>
                <a:latin typeface="Times New Roman" panose="02020603050405020304" pitchFamily="18" charset="0"/>
                <a:ea typeface="Times New Roman" panose="02020603050405020304" pitchFamily="18" charset="0"/>
              </a:rPr>
              <a:t>LOAD</a:t>
            </a:r>
            <a:r>
              <a:rPr lang="en-US" sz="2000" dirty="0">
                <a:effectLst/>
                <a:latin typeface="Times New Roman" panose="02020603050405020304" pitchFamily="18" charset="0"/>
                <a:ea typeface="Times New Roman" panose="02020603050405020304" pitchFamily="18" charset="0"/>
              </a:rPr>
              <a:t>	Load</a:t>
            </a:r>
            <a:r>
              <a:rPr lang="en-US" sz="2000" spc="-35" dirty="0">
                <a:effectLst/>
                <a:latin typeface="Times New Roman" panose="02020603050405020304" pitchFamily="18" charset="0"/>
                <a:ea typeface="Times New Roman" panose="02020603050405020304" pitchFamily="18" charset="0"/>
              </a:rPr>
              <a:t> </a:t>
            </a:r>
            <a:r>
              <a:rPr lang="en-US" sz="2000">
                <a:effectLst/>
                <a:latin typeface="Times New Roman" panose="02020603050405020304" pitchFamily="18" charset="0"/>
                <a:ea typeface="Times New Roman" panose="02020603050405020304" pitchFamily="18" charset="0"/>
              </a:rPr>
              <a:t>data</a:t>
            </a:r>
            <a:r>
              <a:rPr lang="en-US" sz="2000" spc="-50">
                <a:effectLst/>
                <a:latin typeface="Times New Roman" panose="02020603050405020304" pitchFamily="18" charset="0"/>
                <a:ea typeface="Times New Roman" panose="02020603050405020304" pitchFamily="18" charset="0"/>
              </a:rPr>
              <a:t> </a:t>
            </a:r>
            <a:r>
              <a:rPr lang="en-US" sz="2000">
                <a:effectLst/>
                <a:latin typeface="Times New Roman" panose="02020603050405020304" pitchFamily="18" charset="0"/>
                <a:ea typeface="Times New Roman" panose="02020603050405020304" pitchFamily="18" charset="0"/>
              </a:rPr>
              <a:t>from</a:t>
            </a:r>
            <a:r>
              <a:rPr lang="en-US" sz="2000" spc="-45">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memory STOR Store data to memory</a:t>
            </a:r>
          </a:p>
          <a:p>
            <a:pPr marL="354330" marR="1187450" indent="0">
              <a:lnSpc>
                <a:spcPct val="131000"/>
              </a:lnSpc>
              <a:spcBef>
                <a:spcPts val="35"/>
              </a:spcBef>
              <a:spcAft>
                <a:spcPts val="0"/>
              </a:spcAft>
              <a:buNone/>
            </a:pPr>
            <a:r>
              <a:rPr lang="en-US" sz="2000" dirty="0">
                <a:effectLst/>
                <a:latin typeface="Times New Roman" panose="02020603050405020304" pitchFamily="18" charset="0"/>
                <a:ea typeface="Times New Roman" panose="02020603050405020304" pitchFamily="18" charset="0"/>
              </a:rPr>
              <a:t>Operands are also represented symbolically. For example the instruction ADD, R, Y</a:t>
            </a:r>
          </a:p>
          <a:p>
            <a:pPr marL="354330" marR="890905" indent="0" algn="just">
              <a:lnSpc>
                <a:spcPct val="130000"/>
              </a:lnSpc>
              <a:spcBef>
                <a:spcPts val="0"/>
              </a:spcBef>
              <a:spcAft>
                <a:spcPts val="0"/>
              </a:spcAft>
              <a:buNone/>
            </a:pPr>
            <a:r>
              <a:rPr lang="en-US" sz="2000" dirty="0">
                <a:effectLst/>
                <a:latin typeface="Times New Roman" panose="02020603050405020304" pitchFamily="18" charset="0"/>
                <a:ea typeface="Times New Roman" panose="02020603050405020304" pitchFamily="18" charset="0"/>
              </a:rPr>
              <a:t>May mean add the value contained in data location Y to</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contents of register</a:t>
            </a:r>
            <a:r>
              <a:rPr lang="en-US" sz="2000" spc="15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a:t>
            </a:r>
            <a:r>
              <a:rPr lang="en-US" sz="2000" spc="15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a:t>
            </a:r>
            <a:r>
              <a:rPr lang="en-US" sz="2000" spc="15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this</a:t>
            </a:r>
            <a:r>
              <a:rPr lang="en-US" sz="2000" spc="15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example</a:t>
            </a:r>
            <a:r>
              <a:rPr lang="en-US" sz="2000" spc="16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Y</a:t>
            </a:r>
            <a:r>
              <a:rPr lang="en-US" sz="2000" spc="14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refers</a:t>
            </a:r>
            <a:r>
              <a:rPr lang="en-US" sz="2000" spc="14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to</a:t>
            </a:r>
            <a:r>
              <a:rPr lang="en-US" sz="2000" spc="16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14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address</a:t>
            </a:r>
            <a:r>
              <a:rPr lang="en-US" sz="2000" spc="15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a:t>
            </a:r>
            <a:r>
              <a:rPr lang="en-US" sz="2000" spc="14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a:t>
            </a:r>
            <a:r>
              <a:rPr lang="en-US" sz="2000" spc="14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location</a:t>
            </a:r>
            <a:r>
              <a:rPr lang="en-US" sz="2000" spc="15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a:t>
            </a:r>
            <a:r>
              <a:rPr lang="en-US" sz="2000" spc="17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memory,</a:t>
            </a:r>
          </a:p>
          <a:p>
            <a:pPr marL="0" indent="0">
              <a:buNone/>
            </a:pPr>
            <a:endParaRPr lang="en-US" sz="3200" dirty="0"/>
          </a:p>
        </p:txBody>
      </p:sp>
    </p:spTree>
    <p:extLst>
      <p:ext uri="{BB962C8B-B14F-4D97-AF65-F5344CB8AC3E}">
        <p14:creationId xmlns:p14="http://schemas.microsoft.com/office/powerpoint/2010/main" val="3537223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991FB0-F74F-E81F-DF2F-DCFAEACF1585}"/>
              </a:ext>
            </a:extLst>
          </p:cNvPr>
          <p:cNvSpPr>
            <a:spLocks noGrp="1"/>
          </p:cNvSpPr>
          <p:nvPr>
            <p:ph idx="1"/>
          </p:nvPr>
        </p:nvSpPr>
        <p:spPr>
          <a:xfrm>
            <a:off x="628879" y="393432"/>
            <a:ext cx="11225270" cy="6282790"/>
          </a:xfrm>
        </p:spPr>
        <p:txBody>
          <a:bodyPr>
            <a:normAutofit fontScale="85000" lnSpcReduction="20000"/>
          </a:bodyPr>
          <a:lstStyle/>
          <a:p>
            <a:pPr marL="354330" marR="892810" indent="0" algn="just">
              <a:lnSpc>
                <a:spcPct val="130000"/>
              </a:lnSpc>
              <a:spcBef>
                <a:spcPts val="300"/>
              </a:spcBef>
              <a:spcAft>
                <a:spcPts val="0"/>
              </a:spcAft>
              <a:buNone/>
            </a:pPr>
            <a:r>
              <a:rPr lang="en-US" sz="2400" dirty="0">
                <a:effectLst/>
                <a:latin typeface="Times New Roman" panose="02020603050405020304" pitchFamily="18" charset="0"/>
                <a:ea typeface="Times New Roman" panose="02020603050405020304" pitchFamily="18" charset="0"/>
              </a:rPr>
              <a:t>and R refers to a particular register. Note that the operation is performed on</a:t>
            </a:r>
            <a:r>
              <a:rPr lang="en-US" sz="2400" spc="4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contents of a location not on its address:</a:t>
            </a:r>
          </a:p>
          <a:p>
            <a:pPr marL="354330" marR="892810" indent="0" algn="just">
              <a:lnSpc>
                <a:spcPct val="130000"/>
              </a:lnSpc>
              <a:spcBef>
                <a:spcPts val="300"/>
              </a:spcBef>
              <a:spcAft>
                <a:spcPts val="0"/>
              </a:spcAft>
              <a:buNone/>
            </a:pPr>
            <a:endParaRPr lang="en-US" sz="2400" dirty="0">
              <a:effectLst/>
              <a:latin typeface="Times New Roman" panose="02020603050405020304" pitchFamily="18" charset="0"/>
              <a:ea typeface="Times New Roman" panose="02020603050405020304" pitchFamily="18" charset="0"/>
            </a:endParaRPr>
          </a:p>
          <a:p>
            <a:pPr marL="582930" marR="0" algn="just">
              <a:spcBef>
                <a:spcPts val="40"/>
              </a:spcBef>
              <a:spcAft>
                <a:spcPts val="0"/>
              </a:spcAft>
            </a:pPr>
            <a:r>
              <a:rPr lang="en-US" sz="2400" dirty="0">
                <a:effectLst/>
                <a:latin typeface="Times New Roman" panose="02020603050405020304" pitchFamily="18" charset="0"/>
                <a:ea typeface="Times New Roman" panose="02020603050405020304" pitchFamily="18" charset="0"/>
              </a:rPr>
              <a:t>Thus,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it</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possible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write a machine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language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program</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symbolic</a:t>
            </a:r>
            <a:r>
              <a:rPr lang="en-US" sz="2400" spc="-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form.</a:t>
            </a:r>
            <a:endParaRPr lang="en-US" sz="2400" dirty="0">
              <a:effectLst/>
              <a:latin typeface="Times New Roman" panose="02020603050405020304" pitchFamily="18" charset="0"/>
              <a:ea typeface="Times New Roman" panose="02020603050405020304" pitchFamily="18" charset="0"/>
            </a:endParaRPr>
          </a:p>
          <a:p>
            <a:pPr marL="1472565" marR="0" algn="just">
              <a:spcBef>
                <a:spcPts val="460"/>
              </a:spcBef>
              <a:spcAft>
                <a:spcPts val="0"/>
              </a:spcAft>
            </a:pPr>
            <a:r>
              <a:rPr lang="en-US" sz="2400" dirty="0">
                <a:effectLst/>
                <a:latin typeface="Times New Roman" panose="02020603050405020304" pitchFamily="18" charset="0"/>
                <a:ea typeface="Times New Roman" panose="02020603050405020304" pitchFamily="18" charset="0"/>
              </a:rPr>
              <a:t>X=</a:t>
            </a:r>
            <a:r>
              <a:rPr lang="en-US" sz="2400" spc="1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413</a:t>
            </a:r>
            <a:endParaRPr lang="en-US" sz="2400" dirty="0">
              <a:effectLst/>
              <a:latin typeface="Times New Roman" panose="02020603050405020304" pitchFamily="18" charset="0"/>
              <a:ea typeface="Times New Roman" panose="02020603050405020304" pitchFamily="18" charset="0"/>
            </a:endParaRPr>
          </a:p>
          <a:p>
            <a:pPr marL="1472565" marR="0" algn="just">
              <a:spcBef>
                <a:spcPts val="435"/>
              </a:spcBef>
              <a:spcAft>
                <a:spcPts val="0"/>
              </a:spcAft>
            </a:pPr>
            <a:r>
              <a:rPr lang="en-US" sz="2400" dirty="0">
                <a:effectLst/>
                <a:latin typeface="Times New Roman" panose="02020603050405020304" pitchFamily="18" charset="0"/>
                <a:ea typeface="Times New Roman" panose="02020603050405020304" pitchFamily="18" charset="0"/>
              </a:rPr>
              <a:t>Y=</a:t>
            </a:r>
            <a:r>
              <a:rPr lang="en-US" sz="2400" spc="1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414</a:t>
            </a:r>
            <a:endParaRPr lang="en-US" sz="2400" dirty="0">
              <a:effectLst/>
              <a:latin typeface="Times New Roman" panose="02020603050405020304" pitchFamily="18" charset="0"/>
              <a:ea typeface="Times New Roman" panose="02020603050405020304" pitchFamily="18" charset="0"/>
            </a:endParaRPr>
          </a:p>
          <a:p>
            <a:pPr marL="582930" marR="890270" algn="just">
              <a:lnSpc>
                <a:spcPct val="130000"/>
              </a:lnSpc>
              <a:spcBef>
                <a:spcPts val="470"/>
              </a:spcBef>
              <a:spcAft>
                <a:spcPts val="0"/>
              </a:spcAft>
            </a:pPr>
            <a:r>
              <a:rPr lang="en-US" sz="2400" dirty="0">
                <a:effectLst/>
                <a:latin typeface="Times New Roman" panose="02020603050405020304" pitchFamily="18" charset="0"/>
                <a:ea typeface="Times New Roman" panose="02020603050405020304" pitchFamily="18" charset="0"/>
              </a:rPr>
              <a:t>A simple program would accept this symbolic input, convert opcodes and operand references to binary form, and construct binary machine instructions. However symbolic machine language remains a useful toll for describing machine instructions, and we will use it for that purpose.</a:t>
            </a:r>
          </a:p>
          <a:p>
            <a:pPr marL="582930" marR="889635" algn="just">
              <a:lnSpc>
                <a:spcPct val="130000"/>
              </a:lnSpc>
              <a:spcBef>
                <a:spcPts val="30"/>
              </a:spcBef>
              <a:spcAft>
                <a:spcPts val="0"/>
              </a:spcAft>
            </a:pPr>
            <a:r>
              <a:rPr lang="en-US" sz="2400" dirty="0">
                <a:effectLst/>
                <a:latin typeface="Times New Roman" panose="02020603050405020304" pitchFamily="18" charset="0"/>
                <a:ea typeface="Times New Roman" panose="02020603050405020304" pitchFamily="18" charset="0"/>
              </a:rPr>
              <a:t>Lets assume that the variables X and Y corresponds to location 413 and 414.If we assume a simple set of machine instruction, this operation could be accomplished with three instruction.</a:t>
            </a:r>
          </a:p>
          <a:p>
            <a:pPr marL="811530" marR="889635" indent="-457200" algn="just">
              <a:lnSpc>
                <a:spcPct val="130000"/>
              </a:lnSpc>
              <a:spcBef>
                <a:spcPts val="30"/>
              </a:spcBef>
              <a:spcAft>
                <a:spcPts val="0"/>
              </a:spcAft>
              <a:buFont typeface="+mj-lt"/>
              <a:buAutoNum type="arabicPeriod"/>
            </a:pPr>
            <a:endParaRPr lang="en-US" sz="2400" dirty="0">
              <a:effectLst/>
              <a:latin typeface="Times New Roman" panose="02020603050405020304" pitchFamily="18" charset="0"/>
              <a:ea typeface="Times New Roman" panose="02020603050405020304" pitchFamily="18" charset="0"/>
            </a:endParaRPr>
          </a:p>
          <a:p>
            <a:pPr marL="457200" marR="0" lvl="0" indent="-457200">
              <a:lnSpc>
                <a:spcPct val="170000"/>
              </a:lnSpc>
              <a:spcBef>
                <a:spcPts val="0"/>
              </a:spcBef>
              <a:spcAft>
                <a:spcPts val="0"/>
              </a:spcAft>
              <a:buSzPts val="1250"/>
              <a:buFont typeface="+mj-lt"/>
              <a:buAutoNum type="arabicPeriod"/>
              <a:tabLst>
                <a:tab pos="1027430" algn="l"/>
              </a:tabLst>
            </a:pPr>
            <a:r>
              <a:rPr lang="en-US" sz="2400" spc="-15" dirty="0">
                <a:effectLst/>
                <a:latin typeface="Times New Roman" panose="02020603050405020304" pitchFamily="18" charset="0"/>
                <a:ea typeface="Times New Roman" panose="02020603050405020304" pitchFamily="18" charset="0"/>
              </a:rPr>
              <a:t>Load</a:t>
            </a:r>
            <a:r>
              <a:rPr lang="en-US" sz="2400" spc="-1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a</a:t>
            </a:r>
            <a:r>
              <a:rPr lang="en-US" sz="2400" spc="-2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register</a:t>
            </a:r>
            <a:r>
              <a:rPr lang="en-US" sz="2400" spc="1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with</a:t>
            </a:r>
            <a:r>
              <a:rPr lang="en-US" sz="2400" spc="1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the content of</a:t>
            </a:r>
            <a:r>
              <a:rPr lang="en-US" sz="2400" spc="1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memory</a:t>
            </a:r>
            <a:r>
              <a:rPr lang="en-US" sz="2400" spc="-2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location</a:t>
            </a:r>
            <a:r>
              <a:rPr lang="en-US" sz="2400" spc="-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413.</a:t>
            </a:r>
            <a:endParaRPr lang="en-US" sz="2400" spc="-15" dirty="0">
              <a:effectLst/>
              <a:latin typeface="Times New Roman" panose="02020603050405020304" pitchFamily="18" charset="0"/>
              <a:ea typeface="Times New Roman" panose="02020603050405020304" pitchFamily="18" charset="0"/>
            </a:endParaRPr>
          </a:p>
          <a:p>
            <a:pPr marL="457200" marR="0" lvl="0" indent="-457200">
              <a:lnSpc>
                <a:spcPct val="170000"/>
              </a:lnSpc>
              <a:spcBef>
                <a:spcPts val="460"/>
              </a:spcBef>
              <a:spcAft>
                <a:spcPts val="0"/>
              </a:spcAft>
              <a:buSzPts val="1250"/>
              <a:buFont typeface="+mj-lt"/>
              <a:buAutoNum type="arabicPeriod"/>
              <a:tabLst>
                <a:tab pos="1027430" algn="l"/>
              </a:tabLst>
            </a:pPr>
            <a:r>
              <a:rPr lang="en-US" sz="2400" spc="-15" dirty="0">
                <a:effectLst/>
                <a:latin typeface="Times New Roman" panose="02020603050405020304" pitchFamily="18" charset="0"/>
                <a:ea typeface="Times New Roman" panose="02020603050405020304" pitchFamily="18" charset="0"/>
              </a:rPr>
              <a:t>Add</a:t>
            </a:r>
            <a:r>
              <a:rPr lang="en-US" sz="2400" spc="-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the contents</a:t>
            </a:r>
            <a:r>
              <a:rPr lang="en-US" sz="2400" spc="1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of</a:t>
            </a:r>
            <a:r>
              <a:rPr lang="en-US" sz="2400" spc="1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memory</a:t>
            </a:r>
            <a:r>
              <a:rPr lang="en-US" sz="2400" spc="-2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location</a:t>
            </a:r>
            <a:r>
              <a:rPr lang="en-US" sz="2400" spc="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414</a:t>
            </a:r>
            <a:r>
              <a:rPr lang="en-US" sz="2400" spc="1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the </a:t>
            </a:r>
            <a:r>
              <a:rPr lang="en-US" sz="2400" spc="-10" dirty="0">
                <a:effectLst/>
                <a:latin typeface="Times New Roman" panose="02020603050405020304" pitchFamily="18" charset="0"/>
                <a:ea typeface="Times New Roman" panose="02020603050405020304" pitchFamily="18" charset="0"/>
              </a:rPr>
              <a:t>register.</a:t>
            </a:r>
            <a:endParaRPr lang="en-US" sz="2400" spc="-15" dirty="0">
              <a:effectLst/>
              <a:latin typeface="Times New Roman" panose="02020603050405020304" pitchFamily="18" charset="0"/>
              <a:ea typeface="Times New Roman" panose="02020603050405020304" pitchFamily="18" charset="0"/>
            </a:endParaRPr>
          </a:p>
          <a:p>
            <a:pPr marL="457200" marR="0" lvl="0" indent="-457200">
              <a:lnSpc>
                <a:spcPct val="170000"/>
              </a:lnSpc>
              <a:spcBef>
                <a:spcPts val="445"/>
              </a:spcBef>
              <a:spcAft>
                <a:spcPts val="0"/>
              </a:spcAft>
              <a:buSzPts val="1250"/>
              <a:buFont typeface="+mj-lt"/>
              <a:buAutoNum type="arabicPeriod"/>
              <a:tabLst>
                <a:tab pos="1027430" algn="l"/>
              </a:tabLst>
            </a:pPr>
            <a:r>
              <a:rPr lang="en-US" sz="2400" spc="-15" dirty="0">
                <a:effectLst/>
                <a:latin typeface="Times New Roman" panose="02020603050405020304" pitchFamily="18" charset="0"/>
                <a:ea typeface="Times New Roman" panose="02020603050405020304" pitchFamily="18" charset="0"/>
              </a:rPr>
              <a:t>Store the</a:t>
            </a:r>
            <a:r>
              <a:rPr lang="en-US" sz="2400" spc="-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contents of</a:t>
            </a:r>
            <a:r>
              <a:rPr lang="en-US" sz="2400" spc="-2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the register in</a:t>
            </a:r>
            <a:r>
              <a:rPr lang="en-US" sz="2400" spc="1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memory</a:t>
            </a:r>
            <a:r>
              <a:rPr lang="en-US" sz="2400" spc="-2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location </a:t>
            </a:r>
            <a:r>
              <a:rPr lang="en-US" sz="2400" spc="-20" dirty="0">
                <a:effectLst/>
                <a:latin typeface="Times New Roman" panose="02020603050405020304" pitchFamily="18" charset="0"/>
                <a:ea typeface="Times New Roman" panose="02020603050405020304" pitchFamily="18" charset="0"/>
              </a:rPr>
              <a:t>413.</a:t>
            </a:r>
            <a:endParaRPr lang="en-US" sz="2400" spc="-15" dirty="0">
              <a:effectLst/>
              <a:latin typeface="Times New Roman" panose="02020603050405020304" pitchFamily="18" charset="0"/>
              <a:ea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19466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6B6D-5C92-1701-7B71-3C97A2F8782E}"/>
              </a:ext>
            </a:extLst>
          </p:cNvPr>
          <p:cNvSpPr>
            <a:spLocks noGrp="1"/>
          </p:cNvSpPr>
          <p:nvPr>
            <p:ph type="title"/>
          </p:nvPr>
        </p:nvSpPr>
        <p:spPr>
          <a:xfrm>
            <a:off x="838200" y="193358"/>
            <a:ext cx="10515600" cy="1325563"/>
          </a:xfrm>
        </p:spPr>
        <p:txBody>
          <a:bodyPr>
            <a:normAutofit fontScale="90000"/>
          </a:bodyPr>
          <a:lstStyle/>
          <a:p>
            <a:r>
              <a:rPr lang="en-US" sz="3200" b="1" spc="0" dirty="0">
                <a:effectLst/>
                <a:latin typeface="Times New Roman" panose="02020603050405020304" pitchFamily="18" charset="0"/>
                <a:ea typeface="Times New Roman" panose="02020603050405020304" pitchFamily="18" charset="0"/>
              </a:rPr>
              <a:t>INSTRUCTION</a:t>
            </a:r>
            <a:r>
              <a:rPr lang="en-US" sz="3200" b="1" spc="-5" dirty="0">
                <a:effectLst/>
                <a:latin typeface="Times New Roman" panose="02020603050405020304" pitchFamily="18" charset="0"/>
                <a:ea typeface="Times New Roman" panose="02020603050405020304" pitchFamily="18" charset="0"/>
              </a:rPr>
              <a:t> </a:t>
            </a:r>
            <a:r>
              <a:rPr lang="en-US" sz="3200" b="1" spc="0" dirty="0">
                <a:effectLst/>
                <a:latin typeface="Times New Roman" panose="02020603050405020304" pitchFamily="18" charset="0"/>
                <a:ea typeface="Times New Roman" panose="02020603050405020304" pitchFamily="18" charset="0"/>
              </a:rPr>
              <a:t>SET</a:t>
            </a:r>
            <a:r>
              <a:rPr lang="en-US" sz="3200" b="1" spc="5" dirty="0">
                <a:effectLst/>
                <a:latin typeface="Times New Roman" panose="02020603050405020304" pitchFamily="18" charset="0"/>
                <a:ea typeface="Times New Roman" panose="02020603050405020304" pitchFamily="18" charset="0"/>
              </a:rPr>
              <a:t> </a:t>
            </a:r>
            <a:r>
              <a:rPr lang="en-US" sz="3200" b="1" spc="-10" dirty="0">
                <a:effectLst/>
                <a:latin typeface="Times New Roman" panose="02020603050405020304" pitchFamily="18" charset="0"/>
                <a:ea typeface="Times New Roman" panose="02020603050405020304" pitchFamily="18" charset="0"/>
              </a:rPr>
              <a:t>DESIGN</a:t>
            </a:r>
            <a:br>
              <a:rPr lang="en-US" sz="3200" b="1" spc="0" dirty="0">
                <a:effectLst/>
                <a:latin typeface="Times New Roman" panose="02020603050405020304" pitchFamily="18" charset="0"/>
                <a:ea typeface="Times New Roman" panose="02020603050405020304" pitchFamily="18" charset="0"/>
              </a:rPr>
            </a:br>
            <a:endParaRPr lang="en-US" sz="6000" dirty="0"/>
          </a:p>
        </p:txBody>
      </p:sp>
      <p:sp>
        <p:nvSpPr>
          <p:cNvPr id="3" name="Content Placeholder 2">
            <a:extLst>
              <a:ext uri="{FF2B5EF4-FFF2-40B4-BE49-F238E27FC236}">
                <a16:creationId xmlns:a16="http://schemas.microsoft.com/office/drawing/2014/main" id="{7ECA3D8A-8532-9A30-B541-0F05139F87D2}"/>
              </a:ext>
            </a:extLst>
          </p:cNvPr>
          <p:cNvSpPr>
            <a:spLocks noGrp="1"/>
          </p:cNvSpPr>
          <p:nvPr>
            <p:ph idx="1"/>
          </p:nvPr>
        </p:nvSpPr>
        <p:spPr>
          <a:xfrm>
            <a:off x="0" y="856140"/>
            <a:ext cx="12272790" cy="5390423"/>
          </a:xfrm>
        </p:spPr>
        <p:txBody>
          <a:bodyPr>
            <a:normAutofit/>
          </a:bodyPr>
          <a:lstStyle/>
          <a:p>
            <a:pPr marL="354330" marR="888365" indent="0" algn="just">
              <a:lnSpc>
                <a:spcPct val="131000"/>
              </a:lnSpc>
              <a:spcBef>
                <a:spcPts val="375"/>
              </a:spcBef>
              <a:spcAft>
                <a:spcPts val="0"/>
              </a:spcAft>
              <a:buNone/>
            </a:pPr>
            <a:r>
              <a:rPr lang="en-US" sz="2400" dirty="0">
                <a:effectLst/>
                <a:latin typeface="Times New Roman" panose="02020603050405020304" pitchFamily="18" charset="0"/>
                <a:ea typeface="Times New Roman" panose="02020603050405020304" pitchFamily="18" charset="0"/>
              </a:rPr>
              <a:t>One of the most interesting and most analyzed, aspect of computer design is instruction set is very complex because it affect so many aspect of</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computer system. The instruction defines any of the functions performed by</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processor and thus has significant effect on the implementation of the process. The instruction set is the programmer’s means of controlling the processor. Thus, programmer requirements must be considered in</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designing the instruction set. The most important of these fundamental design issues include the following:</a:t>
            </a:r>
          </a:p>
          <a:p>
            <a:pPr marL="0" marR="889635" lvl="0" indent="0" algn="just">
              <a:lnSpc>
                <a:spcPct val="128000"/>
              </a:lnSpc>
              <a:spcBef>
                <a:spcPts val="0"/>
              </a:spcBef>
              <a:spcAft>
                <a:spcPts val="0"/>
              </a:spcAft>
              <a:buSzPts val="1250"/>
              <a:buNone/>
              <a:tabLst>
                <a:tab pos="1027430" algn="l"/>
              </a:tabLst>
            </a:pP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          Operation</a:t>
            </a:r>
            <a:r>
              <a:rPr lang="en-US" sz="2400" b="1" spc="200" dirty="0">
                <a:effectLst/>
                <a:latin typeface="Times New Roman" panose="02020603050405020304" pitchFamily="18" charset="0"/>
                <a:ea typeface="Cambria" panose="02040503050406030204" pitchFamily="18" charset="0"/>
                <a:cs typeface="Cambria" panose="02040503050406030204" pitchFamily="18" charset="0"/>
              </a:rPr>
              <a:t> </a:t>
            </a: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repertoire:</a:t>
            </a:r>
            <a:r>
              <a:rPr lang="en-US" sz="2400" b="1" spc="200" dirty="0">
                <a:effectLst/>
                <a:latin typeface="Times New Roman" panose="02020603050405020304" pitchFamily="18" charset="0"/>
                <a:ea typeface="Cambria" panose="02040503050406030204" pitchFamily="18" charset="0"/>
                <a:cs typeface="Cambria" panose="02040503050406030204" pitchFamily="18" charset="0"/>
              </a:rPr>
              <a:t>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How</a:t>
            </a:r>
            <a:r>
              <a:rPr lang="en-US" sz="2400" spc="200" dirty="0">
                <a:effectLst/>
                <a:latin typeface="Times New Roman" panose="02020603050405020304" pitchFamily="18" charset="0"/>
                <a:ea typeface="Cambria" panose="02040503050406030204" pitchFamily="18" charset="0"/>
                <a:cs typeface="Cambria" panose="02040503050406030204" pitchFamily="18" charset="0"/>
              </a:rPr>
              <a:t>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many and</a:t>
            </a:r>
            <a:r>
              <a:rPr lang="en-US" sz="2400" spc="200" dirty="0">
                <a:effectLst/>
                <a:latin typeface="Times New Roman" panose="02020603050405020304" pitchFamily="18" charset="0"/>
                <a:ea typeface="Cambria" panose="02040503050406030204" pitchFamily="18" charset="0"/>
                <a:cs typeface="Cambria" panose="02040503050406030204" pitchFamily="18" charset="0"/>
              </a:rPr>
              <a:t>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which operations to provide and how complex   operations should be.</a:t>
            </a:r>
          </a:p>
          <a:p>
            <a:pPr marL="0" marR="888365" lvl="0" indent="0" algn="just">
              <a:lnSpc>
                <a:spcPct val="128000"/>
              </a:lnSpc>
              <a:spcBef>
                <a:spcPts val="0"/>
              </a:spcBef>
              <a:spcAft>
                <a:spcPts val="0"/>
              </a:spcAft>
              <a:buSzPts val="1250"/>
              <a:buNone/>
              <a:tabLst>
                <a:tab pos="972820" algn="l"/>
              </a:tabLst>
            </a:pPr>
            <a:r>
              <a:rPr lang="en-US" sz="2400" b="1" spc="0" dirty="0">
                <a:effectLst/>
                <a:latin typeface="Times New Roman" panose="02020603050405020304" pitchFamily="18" charset="0"/>
                <a:ea typeface="Cambria" panose="02040503050406030204" pitchFamily="18" charset="0"/>
                <a:cs typeface="Cambria" panose="02040503050406030204" pitchFamily="18" charset="0"/>
              </a:rPr>
              <a:t>            Data types: </a:t>
            </a:r>
            <a:r>
              <a:rPr lang="en-US" sz="2400" spc="0" dirty="0">
                <a:effectLst/>
                <a:latin typeface="Times New Roman" panose="02020603050405020304" pitchFamily="18" charset="0"/>
                <a:ea typeface="Cambria" panose="02040503050406030204" pitchFamily="18" charset="0"/>
                <a:cs typeface="Cambria" panose="02040503050406030204" pitchFamily="18" charset="0"/>
              </a:rPr>
              <a:t>The various types of data upon which operations are </a:t>
            </a:r>
            <a:r>
              <a:rPr lang="en-US" sz="2400" spc="-10" dirty="0">
                <a:effectLst/>
                <a:latin typeface="Times New Roman" panose="02020603050405020304" pitchFamily="18" charset="0"/>
                <a:ea typeface="Cambria" panose="02040503050406030204" pitchFamily="18" charset="0"/>
                <a:cs typeface="Cambria" panose="02040503050406030204" pitchFamily="18" charset="0"/>
              </a:rPr>
              <a:t>perform.</a:t>
            </a:r>
            <a:endParaRPr lang="en-US" sz="2400" spc="0" dirty="0">
              <a:effectLst/>
              <a:latin typeface="Times New Roman" panose="02020603050405020304" pitchFamily="18" charset="0"/>
              <a:ea typeface="Cambria" panose="02040503050406030204" pitchFamily="18" charset="0"/>
              <a:cs typeface="Cambria" panose="02040503050406030204" pitchFamily="18" charset="0"/>
            </a:endParaRPr>
          </a:p>
          <a:p>
            <a:pPr marL="0" indent="0">
              <a:buNone/>
            </a:pPr>
            <a:endParaRPr lang="en-US" sz="3600" dirty="0"/>
          </a:p>
        </p:txBody>
      </p:sp>
    </p:spTree>
    <p:extLst>
      <p:ext uri="{BB962C8B-B14F-4D97-AF65-F5344CB8AC3E}">
        <p14:creationId xmlns:p14="http://schemas.microsoft.com/office/powerpoint/2010/main" val="1777918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8745-69D0-85CB-4949-3F1F47899D95}"/>
              </a:ext>
            </a:extLst>
          </p:cNvPr>
          <p:cNvSpPr>
            <a:spLocks noGrp="1"/>
          </p:cNvSpPr>
          <p:nvPr>
            <p:ph idx="1"/>
          </p:nvPr>
        </p:nvSpPr>
        <p:spPr>
          <a:xfrm>
            <a:off x="838200" y="723938"/>
            <a:ext cx="10515600" cy="5115001"/>
          </a:xfrm>
        </p:spPr>
        <p:txBody>
          <a:bodyPr>
            <a:normAutofit/>
          </a:bodyPr>
          <a:lstStyle/>
          <a:p>
            <a:pPr marL="342900" marR="913765" lvl="0" indent="-342900">
              <a:lnSpc>
                <a:spcPct val="127000"/>
              </a:lnSpc>
              <a:spcBef>
                <a:spcPts val="390"/>
              </a:spcBef>
              <a:spcAft>
                <a:spcPts val="0"/>
              </a:spcAft>
              <a:buSzPts val="1250"/>
              <a:buFont typeface="Cambria" panose="02040503050406030204" pitchFamily="18" charset="0"/>
              <a:buChar char="-"/>
              <a:tabLst>
                <a:tab pos="972820" algn="l"/>
              </a:tabLst>
            </a:pPr>
            <a:r>
              <a:rPr lang="en-US" spc="0" dirty="0">
                <a:effectLst/>
                <a:latin typeface="Times New Roman" panose="02020603050405020304" pitchFamily="18" charset="0"/>
                <a:ea typeface="Cambria" panose="02040503050406030204" pitchFamily="18" charset="0"/>
                <a:cs typeface="Cambria" panose="02040503050406030204" pitchFamily="18" charset="0"/>
              </a:rPr>
              <a:t>Instruction</a:t>
            </a:r>
            <a:r>
              <a:rPr lang="en-US" spc="150"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format: Instruction length</a:t>
            </a:r>
            <a:r>
              <a:rPr lang="en-US" spc="155"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(in</a:t>
            </a:r>
            <a:r>
              <a:rPr lang="en-US" spc="155"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nits)</a:t>
            </a:r>
            <a:r>
              <a:rPr lang="en-US" spc="155"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number</a:t>
            </a:r>
            <a:r>
              <a:rPr lang="en-US" spc="160"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of</a:t>
            </a:r>
            <a:r>
              <a:rPr lang="en-US" spc="150"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assesses</a:t>
            </a:r>
            <a:r>
              <a:rPr lang="en-US" spc="150"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size of various fields and so on.</a:t>
            </a:r>
          </a:p>
          <a:p>
            <a:pPr marL="342900" marR="1220470" lvl="0" indent="-342900">
              <a:lnSpc>
                <a:spcPct val="128000"/>
              </a:lnSpc>
              <a:spcBef>
                <a:spcPts val="65"/>
              </a:spcBef>
              <a:spcAft>
                <a:spcPts val="0"/>
              </a:spcAft>
              <a:buSzPts val="1250"/>
              <a:buFont typeface="Cambria" panose="02040503050406030204" pitchFamily="18" charset="0"/>
              <a:buChar char="-"/>
              <a:tabLst>
                <a:tab pos="972820" algn="l"/>
              </a:tabLst>
            </a:pPr>
            <a:r>
              <a:rPr lang="en-US" b="1" spc="0" dirty="0">
                <a:effectLst/>
                <a:latin typeface="Times New Roman" panose="02020603050405020304" pitchFamily="18" charset="0"/>
                <a:ea typeface="Cambria" panose="02040503050406030204" pitchFamily="18" charset="0"/>
                <a:cs typeface="Cambria" panose="02040503050406030204" pitchFamily="18" charset="0"/>
              </a:rPr>
              <a:t>Registers: </a:t>
            </a:r>
            <a:r>
              <a:rPr lang="en-US" spc="0" dirty="0">
                <a:effectLst/>
                <a:latin typeface="Times New Roman" panose="02020603050405020304" pitchFamily="18" charset="0"/>
                <a:ea typeface="Cambria" panose="02040503050406030204" pitchFamily="18" charset="0"/>
                <a:cs typeface="Cambria" panose="02040503050406030204" pitchFamily="18" charset="0"/>
              </a:rPr>
              <a:t>Number</a:t>
            </a:r>
            <a:r>
              <a:rPr lang="en-US" spc="200"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of</a:t>
            </a:r>
            <a:r>
              <a:rPr lang="en-US" spc="-5"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processor</a:t>
            </a:r>
            <a:r>
              <a:rPr lang="en-US" spc="-5" dirty="0">
                <a:effectLst/>
                <a:latin typeface="Times New Roman" panose="02020603050405020304" pitchFamily="18" charset="0"/>
                <a:ea typeface="Cambria" panose="02040503050406030204" pitchFamily="18" charset="0"/>
                <a:cs typeface="Cambria" panose="02040503050406030204" pitchFamily="18" charset="0"/>
              </a:rPr>
              <a:t> </a:t>
            </a:r>
            <a:r>
              <a:rPr lang="en-US" spc="0" dirty="0">
                <a:effectLst/>
                <a:latin typeface="Times New Roman" panose="02020603050405020304" pitchFamily="18" charset="0"/>
                <a:ea typeface="Cambria" panose="02040503050406030204" pitchFamily="18" charset="0"/>
                <a:cs typeface="Cambria" panose="02040503050406030204" pitchFamily="18" charset="0"/>
              </a:rPr>
              <a:t>registers that can be referenced by instructions and their use.</a:t>
            </a:r>
          </a:p>
          <a:p>
            <a:pPr marL="342900" marR="907415" lvl="0" indent="-342900">
              <a:lnSpc>
                <a:spcPct val="128000"/>
              </a:lnSpc>
              <a:spcBef>
                <a:spcPts val="35"/>
              </a:spcBef>
              <a:spcAft>
                <a:spcPts val="0"/>
              </a:spcAft>
              <a:buSzPts val="1250"/>
              <a:buFont typeface="Cambria" panose="02040503050406030204" pitchFamily="18" charset="0"/>
              <a:buChar char="-"/>
              <a:tabLst>
                <a:tab pos="972820" algn="l"/>
              </a:tabLst>
            </a:pPr>
            <a:r>
              <a:rPr lang="en-US" b="1" spc="0" dirty="0">
                <a:effectLst/>
                <a:latin typeface="Times New Roman" panose="02020603050405020304" pitchFamily="18" charset="0"/>
                <a:ea typeface="Cambria" panose="02040503050406030204" pitchFamily="18" charset="0"/>
                <a:cs typeface="Cambria" panose="02040503050406030204" pitchFamily="18" charset="0"/>
              </a:rPr>
              <a:t>Addressing: </a:t>
            </a:r>
            <a:r>
              <a:rPr lang="en-US" spc="0" dirty="0">
                <a:effectLst/>
                <a:latin typeface="Times New Roman" panose="02020603050405020304" pitchFamily="18" charset="0"/>
                <a:ea typeface="Cambria" panose="02040503050406030204" pitchFamily="18" charset="0"/>
                <a:cs typeface="Cambria" panose="02040503050406030204" pitchFamily="18" charset="0"/>
              </a:rPr>
              <a:t>The mode or modes by which the address of an operand is </a:t>
            </a:r>
            <a:r>
              <a:rPr lang="en-US" spc="-10" dirty="0">
                <a:effectLst/>
                <a:latin typeface="Times New Roman" panose="02020603050405020304" pitchFamily="18" charset="0"/>
                <a:ea typeface="Cambria" panose="02040503050406030204" pitchFamily="18" charset="0"/>
                <a:cs typeface="Cambria" panose="02040503050406030204" pitchFamily="18" charset="0"/>
              </a:rPr>
              <a:t>specified.</a:t>
            </a:r>
            <a:endParaRPr lang="en-US" spc="0" dirty="0">
              <a:effectLst/>
              <a:latin typeface="Times New Roman" panose="02020603050405020304" pitchFamily="18" charset="0"/>
              <a:ea typeface="Cambria" panose="02040503050406030204" pitchFamily="18" charset="0"/>
              <a:cs typeface="Cambria" panose="02040503050406030204" pitchFamily="18" charset="0"/>
            </a:endParaRPr>
          </a:p>
          <a:p>
            <a:pPr marL="582930" marR="1144270">
              <a:lnSpc>
                <a:spcPct val="130000"/>
              </a:lnSpc>
              <a:spcBef>
                <a:spcPts val="30"/>
              </a:spcBef>
              <a:spcAft>
                <a:spcPts val="0"/>
              </a:spcAft>
            </a:pPr>
            <a:r>
              <a:rPr lang="en-US" dirty="0">
                <a:effectLst/>
                <a:latin typeface="Times New Roman" panose="02020603050405020304" pitchFamily="18" charset="0"/>
                <a:ea typeface="Times New Roman" panose="02020603050405020304" pitchFamily="18" charset="0"/>
              </a:rPr>
              <a:t>These issues are highly interrelated and must be considered together in designing an instruction set.</a:t>
            </a:r>
          </a:p>
          <a:p>
            <a:pPr marL="0" indent="0">
              <a:buNone/>
            </a:pPr>
            <a:endParaRPr lang="en-US" sz="4000" dirty="0"/>
          </a:p>
        </p:txBody>
      </p:sp>
    </p:spTree>
    <p:extLst>
      <p:ext uri="{BB962C8B-B14F-4D97-AF65-F5344CB8AC3E}">
        <p14:creationId xmlns:p14="http://schemas.microsoft.com/office/powerpoint/2010/main" val="2060723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8F302DF-6558-B7DF-0450-A769AB1CEB86}"/>
              </a:ext>
            </a:extLst>
          </p:cNvPr>
          <p:cNvSpPr>
            <a:spLocks noGrp="1" noChangeArrowheads="1"/>
          </p:cNvSpPr>
          <p:nvPr>
            <p:ph type="ctrTitle"/>
          </p:nvPr>
        </p:nvSpPr>
        <p:spPr>
          <a:xfrm>
            <a:off x="2208213" y="533400"/>
            <a:ext cx="7721600" cy="1905000"/>
          </a:xfrm>
        </p:spPr>
        <p:txBody>
          <a:bodyPr/>
          <a:lstStyle/>
          <a:p>
            <a:pPr algn="ctr"/>
            <a:br>
              <a:rPr lang="tr-TR" altLang="en-US" sz="2400"/>
            </a:br>
            <a:r>
              <a:rPr lang="tr-TR" altLang="en-US" sz="2400"/>
              <a:t> </a:t>
            </a:r>
            <a:r>
              <a:rPr lang="en-US" altLang="en-US" sz="2400">
                <a:solidFill>
                  <a:srgbClr val="FF0000"/>
                </a:solidFill>
              </a:rPr>
              <a:t>Addressing Modes and Formats</a:t>
            </a:r>
            <a:endParaRPr lang="en-GB" altLang="en-US" sz="240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655B324-46AA-DBFB-7988-53FDFC01C7C8}"/>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7171" name="Rectangle 3">
            <a:extLst>
              <a:ext uri="{FF2B5EF4-FFF2-40B4-BE49-F238E27FC236}">
                <a16:creationId xmlns:a16="http://schemas.microsoft.com/office/drawing/2014/main" id="{4883162C-08BF-CA50-3079-CD6BA2667558}"/>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7172" name="Rectangle 4">
            <a:extLst>
              <a:ext uri="{FF2B5EF4-FFF2-40B4-BE49-F238E27FC236}">
                <a16:creationId xmlns:a16="http://schemas.microsoft.com/office/drawing/2014/main" id="{1D673724-6802-455A-7ABB-1A40FBF79775}"/>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Addressing Modes</a:t>
            </a:r>
          </a:p>
        </p:txBody>
      </p:sp>
      <p:sp>
        <p:nvSpPr>
          <p:cNvPr id="1363973" name="Rectangle 5">
            <a:extLst>
              <a:ext uri="{FF2B5EF4-FFF2-40B4-BE49-F238E27FC236}">
                <a16:creationId xmlns:a16="http://schemas.microsoft.com/office/drawing/2014/main" id="{C397269A-5E76-B015-9AE7-4013A004D32B}"/>
              </a:ext>
            </a:extLst>
          </p:cNvPr>
          <p:cNvSpPr>
            <a:spLocks noGrp="1" noChangeArrowheads="1"/>
          </p:cNvSpPr>
          <p:nvPr>
            <p:ph type="body" idx="1"/>
          </p:nvPr>
        </p:nvSpPr>
        <p:spPr>
          <a:xfrm>
            <a:off x="1981200" y="1628776"/>
            <a:ext cx="7067550" cy="4176713"/>
          </a:xfrm>
          <a:noFill/>
        </p:spPr>
        <p:txBody>
          <a:bodyPr vert="horz" wrap="square" lIns="90488" tIns="44450" rIns="90488" bIns="44450" numCol="1" anchor="t" anchorCtr="0" compatLnSpc="1">
            <a:prstTxWarp prst="textNoShape">
              <a:avLst/>
            </a:prstTxWarp>
          </a:bodyPr>
          <a:lstStyle/>
          <a:p>
            <a:r>
              <a:rPr lang="en-US" altLang="en-US"/>
              <a:t>Immediate</a:t>
            </a:r>
          </a:p>
          <a:p>
            <a:r>
              <a:rPr lang="en-US" altLang="en-US"/>
              <a:t>Direct</a:t>
            </a:r>
          </a:p>
          <a:p>
            <a:r>
              <a:rPr lang="en-US" altLang="en-US"/>
              <a:t>Indirect</a:t>
            </a:r>
          </a:p>
          <a:p>
            <a:r>
              <a:rPr lang="en-US" altLang="en-US"/>
              <a:t>Register</a:t>
            </a:r>
          </a:p>
          <a:p>
            <a:r>
              <a:rPr lang="en-US" altLang="en-US"/>
              <a:t>Register Indirect</a:t>
            </a:r>
          </a:p>
          <a:p>
            <a:r>
              <a:rPr lang="en-US" altLang="en-US"/>
              <a:t>Displacement (Indexed) </a:t>
            </a:r>
          </a:p>
          <a:p>
            <a:r>
              <a:rPr lang="en-US" altLang="en-US"/>
              <a:t>Stack</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63973">
                                            <p:txEl>
                                              <p:pRg st="0" end="0"/>
                                            </p:txEl>
                                          </p:spTgt>
                                        </p:tgtEl>
                                        <p:attrNameLst>
                                          <p:attrName>style.visibility</p:attrName>
                                        </p:attrNameLst>
                                      </p:cBhvr>
                                      <p:to>
                                        <p:strVal val="visible"/>
                                      </p:to>
                                    </p:set>
                                    <p:anim calcmode="lin" valueType="num">
                                      <p:cBhvr>
                                        <p:cTn id="7" dur="1000" fill="hold"/>
                                        <p:tgtEl>
                                          <p:spTgt spid="136397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6397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6397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63973">
                                            <p:txEl>
                                              <p:pRg st="1" end="1"/>
                                            </p:txEl>
                                          </p:spTgt>
                                        </p:tgtEl>
                                        <p:attrNameLst>
                                          <p:attrName>style.visibility</p:attrName>
                                        </p:attrNameLst>
                                      </p:cBhvr>
                                      <p:to>
                                        <p:strVal val="visible"/>
                                      </p:to>
                                    </p:set>
                                    <p:anim calcmode="lin" valueType="num">
                                      <p:cBhvr>
                                        <p:cTn id="14" dur="1000" fill="hold"/>
                                        <p:tgtEl>
                                          <p:spTgt spid="136397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6397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6397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63973">
                                            <p:txEl>
                                              <p:pRg st="2" end="2"/>
                                            </p:txEl>
                                          </p:spTgt>
                                        </p:tgtEl>
                                        <p:attrNameLst>
                                          <p:attrName>style.visibility</p:attrName>
                                        </p:attrNameLst>
                                      </p:cBhvr>
                                      <p:to>
                                        <p:strVal val="visible"/>
                                      </p:to>
                                    </p:set>
                                    <p:anim calcmode="lin" valueType="num">
                                      <p:cBhvr>
                                        <p:cTn id="21" dur="1000" fill="hold"/>
                                        <p:tgtEl>
                                          <p:spTgt spid="136397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6397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6397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1363973">
                                            <p:txEl>
                                              <p:pRg st="3" end="3"/>
                                            </p:txEl>
                                          </p:spTgt>
                                        </p:tgtEl>
                                        <p:attrNameLst>
                                          <p:attrName>style.visibility</p:attrName>
                                        </p:attrNameLst>
                                      </p:cBhvr>
                                      <p:to>
                                        <p:strVal val="visible"/>
                                      </p:to>
                                    </p:set>
                                    <p:anim calcmode="lin" valueType="num">
                                      <p:cBhvr>
                                        <p:cTn id="28" dur="1000" fill="hold"/>
                                        <p:tgtEl>
                                          <p:spTgt spid="136397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36397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363973">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nodeType="clickEffect">
                                  <p:stCondLst>
                                    <p:cond delay="0"/>
                                  </p:stCondLst>
                                  <p:childTnLst>
                                    <p:set>
                                      <p:cBhvr>
                                        <p:cTn id="34" dur="1" fill="hold">
                                          <p:stCondLst>
                                            <p:cond delay="0"/>
                                          </p:stCondLst>
                                        </p:cTn>
                                        <p:tgtEl>
                                          <p:spTgt spid="1363973">
                                            <p:txEl>
                                              <p:pRg st="4" end="4"/>
                                            </p:txEl>
                                          </p:spTgt>
                                        </p:tgtEl>
                                        <p:attrNameLst>
                                          <p:attrName>style.visibility</p:attrName>
                                        </p:attrNameLst>
                                      </p:cBhvr>
                                      <p:to>
                                        <p:strVal val="visible"/>
                                      </p:to>
                                    </p:set>
                                    <p:anim calcmode="lin" valueType="num">
                                      <p:cBhvr>
                                        <p:cTn id="35" dur="1000" fill="hold"/>
                                        <p:tgtEl>
                                          <p:spTgt spid="136397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36397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363973">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5" presetClass="entr" presetSubtype="0" fill="hold" nodeType="clickEffect">
                                  <p:stCondLst>
                                    <p:cond delay="0"/>
                                  </p:stCondLst>
                                  <p:childTnLst>
                                    <p:set>
                                      <p:cBhvr>
                                        <p:cTn id="41" dur="1" fill="hold">
                                          <p:stCondLst>
                                            <p:cond delay="0"/>
                                          </p:stCondLst>
                                        </p:cTn>
                                        <p:tgtEl>
                                          <p:spTgt spid="1363973">
                                            <p:txEl>
                                              <p:pRg st="5" end="5"/>
                                            </p:txEl>
                                          </p:spTgt>
                                        </p:tgtEl>
                                        <p:attrNameLst>
                                          <p:attrName>style.visibility</p:attrName>
                                        </p:attrNameLst>
                                      </p:cBhvr>
                                      <p:to>
                                        <p:strVal val="visible"/>
                                      </p:to>
                                    </p:set>
                                    <p:anim calcmode="lin" valueType="num">
                                      <p:cBhvr>
                                        <p:cTn id="42" dur="1000" fill="hold"/>
                                        <p:tgtEl>
                                          <p:spTgt spid="1363973">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1363973">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1363973">
                                            <p:txEl>
                                              <p:pRg st="5" end="5"/>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5" presetClass="entr" presetSubtype="0" fill="hold" nodeType="clickEffect">
                                  <p:stCondLst>
                                    <p:cond delay="0"/>
                                  </p:stCondLst>
                                  <p:childTnLst>
                                    <p:set>
                                      <p:cBhvr>
                                        <p:cTn id="48" dur="1" fill="hold">
                                          <p:stCondLst>
                                            <p:cond delay="0"/>
                                          </p:stCondLst>
                                        </p:cTn>
                                        <p:tgtEl>
                                          <p:spTgt spid="1363973">
                                            <p:txEl>
                                              <p:pRg st="6" end="6"/>
                                            </p:txEl>
                                          </p:spTgt>
                                        </p:tgtEl>
                                        <p:attrNameLst>
                                          <p:attrName>style.visibility</p:attrName>
                                        </p:attrNameLst>
                                      </p:cBhvr>
                                      <p:to>
                                        <p:strVal val="visible"/>
                                      </p:to>
                                    </p:set>
                                    <p:anim calcmode="lin" valueType="num">
                                      <p:cBhvr>
                                        <p:cTn id="49" dur="1000" fill="hold"/>
                                        <p:tgtEl>
                                          <p:spTgt spid="1363973">
                                            <p:txEl>
                                              <p:pRg st="6" end="6"/>
                                            </p:txEl>
                                          </p:spTgt>
                                        </p:tgtEl>
                                        <p:attrNameLst>
                                          <p:attrName>ppt_w</p:attrName>
                                        </p:attrNameLst>
                                      </p:cBhvr>
                                      <p:tavLst>
                                        <p:tav tm="0">
                                          <p:val>
                                            <p:strVal val="#ppt_w*0.70"/>
                                          </p:val>
                                        </p:tav>
                                        <p:tav tm="100000">
                                          <p:val>
                                            <p:strVal val="#ppt_w"/>
                                          </p:val>
                                        </p:tav>
                                      </p:tavLst>
                                    </p:anim>
                                    <p:anim calcmode="lin" valueType="num">
                                      <p:cBhvr>
                                        <p:cTn id="50" dur="1000" fill="hold"/>
                                        <p:tgtEl>
                                          <p:spTgt spid="1363973">
                                            <p:txEl>
                                              <p:pRg st="6" end="6"/>
                                            </p:txEl>
                                          </p:spTgt>
                                        </p:tgtEl>
                                        <p:attrNameLst>
                                          <p:attrName>ppt_h</p:attrName>
                                        </p:attrNameLst>
                                      </p:cBhvr>
                                      <p:tavLst>
                                        <p:tav tm="0">
                                          <p:val>
                                            <p:strVal val="#ppt_h"/>
                                          </p:val>
                                        </p:tav>
                                        <p:tav tm="100000">
                                          <p:val>
                                            <p:strVal val="#ppt_h"/>
                                          </p:val>
                                        </p:tav>
                                      </p:tavLst>
                                    </p:anim>
                                    <p:animEffect transition="in" filter="fade">
                                      <p:cBhvr>
                                        <p:cTn id="51" dur="1000"/>
                                        <p:tgtEl>
                                          <p:spTgt spid="136397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397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BE98AAA-6B59-56C5-BA50-4668F191BB75}"/>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9219" name="Rectangle 3">
            <a:extLst>
              <a:ext uri="{FF2B5EF4-FFF2-40B4-BE49-F238E27FC236}">
                <a16:creationId xmlns:a16="http://schemas.microsoft.com/office/drawing/2014/main" id="{2C86E320-377F-34C8-B97B-DCDF36E483D4}"/>
              </a:ext>
            </a:extLst>
          </p:cNvPr>
          <p:cNvSpPr>
            <a:spLocks noGrp="1" noChangeArrowheads="1"/>
          </p:cNvSpPr>
          <p:nvPr>
            <p:ph type="title"/>
          </p:nvPr>
        </p:nvSpPr>
        <p:spPr/>
        <p:txBody>
          <a:bodyPr/>
          <a:lstStyle/>
          <a:p>
            <a:r>
              <a:rPr lang="en-US" altLang="en-US"/>
              <a:t>Immediate Addressing</a:t>
            </a:r>
          </a:p>
        </p:txBody>
      </p:sp>
      <p:sp>
        <p:nvSpPr>
          <p:cNvPr id="1366020" name="Rectangle 4">
            <a:extLst>
              <a:ext uri="{FF2B5EF4-FFF2-40B4-BE49-F238E27FC236}">
                <a16:creationId xmlns:a16="http://schemas.microsoft.com/office/drawing/2014/main" id="{43733D4A-16F7-B8E8-63AB-04DC716FFFEE}"/>
              </a:ext>
            </a:extLst>
          </p:cNvPr>
          <p:cNvSpPr>
            <a:spLocks noGrp="1" noChangeArrowheads="1"/>
          </p:cNvSpPr>
          <p:nvPr>
            <p:ph type="body" idx="1"/>
          </p:nvPr>
        </p:nvSpPr>
        <p:spPr>
          <a:xfrm>
            <a:off x="1992313" y="1219200"/>
            <a:ext cx="8178800" cy="5233988"/>
          </a:xfrm>
        </p:spPr>
        <p:txBody>
          <a:bodyPr/>
          <a:lstStyle/>
          <a:p>
            <a:r>
              <a:rPr lang="en-US" altLang="en-US"/>
              <a:t>Operand is part of instruction</a:t>
            </a:r>
          </a:p>
          <a:p>
            <a:r>
              <a:rPr lang="en-US" altLang="en-US">
                <a:solidFill>
                  <a:schemeClr val="accent1"/>
                </a:solidFill>
              </a:rPr>
              <a:t>Operand = address field</a:t>
            </a:r>
          </a:p>
          <a:p>
            <a:r>
              <a:rPr lang="en-US" altLang="en-US"/>
              <a:t>e.g. </a:t>
            </a:r>
            <a:r>
              <a:rPr lang="en-US" altLang="en-US">
                <a:solidFill>
                  <a:srgbClr val="0000CC"/>
                </a:solidFill>
              </a:rPr>
              <a:t>ADD 5</a:t>
            </a:r>
          </a:p>
          <a:p>
            <a:pPr lvl="1"/>
            <a:r>
              <a:rPr lang="en-US" altLang="en-US"/>
              <a:t>Add </a:t>
            </a:r>
            <a:r>
              <a:rPr lang="en-US" altLang="en-US">
                <a:solidFill>
                  <a:srgbClr val="0000CC"/>
                </a:solidFill>
              </a:rPr>
              <a:t>5</a:t>
            </a:r>
            <a:r>
              <a:rPr lang="en-US" altLang="en-US"/>
              <a:t> to contents of accumulator</a:t>
            </a:r>
          </a:p>
          <a:p>
            <a:pPr lvl="1"/>
            <a:r>
              <a:rPr lang="tr-TR" altLang="en-US"/>
              <a:t>Here </a:t>
            </a:r>
            <a:r>
              <a:rPr lang="en-US" altLang="en-US">
                <a:solidFill>
                  <a:srgbClr val="0000CC"/>
                </a:solidFill>
              </a:rPr>
              <a:t>5</a:t>
            </a:r>
            <a:r>
              <a:rPr lang="en-US" altLang="en-US"/>
              <a:t> is operand</a:t>
            </a:r>
          </a:p>
          <a:p>
            <a:r>
              <a:rPr lang="en-US" altLang="en-US"/>
              <a:t>No memory reference to fetch data</a:t>
            </a:r>
          </a:p>
          <a:p>
            <a:r>
              <a:rPr lang="en-US" altLang="en-US"/>
              <a:t>Fast</a:t>
            </a:r>
          </a:p>
          <a:p>
            <a:r>
              <a:rPr lang="en-US" altLang="en-US"/>
              <a:t>Limited range</a:t>
            </a:r>
          </a:p>
        </p:txBody>
      </p:sp>
      <p:grpSp>
        <p:nvGrpSpPr>
          <p:cNvPr id="2" name="Group 5">
            <a:extLst>
              <a:ext uri="{FF2B5EF4-FFF2-40B4-BE49-F238E27FC236}">
                <a16:creationId xmlns:a16="http://schemas.microsoft.com/office/drawing/2014/main" id="{5E0DF1D6-5C45-6E1C-09C3-E5463CC519D3}"/>
              </a:ext>
            </a:extLst>
          </p:cNvPr>
          <p:cNvGrpSpPr>
            <a:grpSpLocks/>
          </p:cNvGrpSpPr>
          <p:nvPr/>
        </p:nvGrpSpPr>
        <p:grpSpPr bwMode="auto">
          <a:xfrm>
            <a:off x="3616326" y="5391150"/>
            <a:ext cx="4784725" cy="1062038"/>
            <a:chOff x="1066" y="1153"/>
            <a:chExt cx="3014" cy="669"/>
          </a:xfrm>
        </p:grpSpPr>
        <p:grpSp>
          <p:nvGrpSpPr>
            <p:cNvPr id="9222" name="Group 6">
              <a:extLst>
                <a:ext uri="{FF2B5EF4-FFF2-40B4-BE49-F238E27FC236}">
                  <a16:creationId xmlns:a16="http://schemas.microsoft.com/office/drawing/2014/main" id="{F665492D-30C5-DF4F-6609-C3708A867113}"/>
                </a:ext>
              </a:extLst>
            </p:cNvPr>
            <p:cNvGrpSpPr>
              <a:grpSpLocks/>
            </p:cNvGrpSpPr>
            <p:nvPr/>
          </p:nvGrpSpPr>
          <p:grpSpPr bwMode="auto">
            <a:xfrm>
              <a:off x="1105" y="1441"/>
              <a:ext cx="2975" cy="381"/>
              <a:chOff x="1105" y="1441"/>
              <a:chExt cx="2975" cy="381"/>
            </a:xfrm>
          </p:grpSpPr>
          <p:sp>
            <p:nvSpPr>
              <p:cNvPr id="9226" name="Rectangle 7">
                <a:extLst>
                  <a:ext uri="{FF2B5EF4-FFF2-40B4-BE49-F238E27FC236}">
                    <a16:creationId xmlns:a16="http://schemas.microsoft.com/office/drawing/2014/main" id="{DAB68ADE-824E-4A98-4D10-598F1335CA8B}"/>
                  </a:ext>
                </a:extLst>
              </p:cNvPr>
              <p:cNvSpPr>
                <a:spLocks noChangeArrowheads="1"/>
              </p:cNvSpPr>
              <p:nvPr/>
            </p:nvSpPr>
            <p:spPr bwMode="auto">
              <a:xfrm>
                <a:off x="1105" y="1441"/>
                <a:ext cx="2975" cy="381"/>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9227" name="Line 8">
                <a:extLst>
                  <a:ext uri="{FF2B5EF4-FFF2-40B4-BE49-F238E27FC236}">
                    <a16:creationId xmlns:a16="http://schemas.microsoft.com/office/drawing/2014/main" id="{F40F6CB9-1A7B-FC34-2D00-C8A104969DC9}"/>
                  </a:ext>
                </a:extLst>
              </p:cNvPr>
              <p:cNvSpPr>
                <a:spLocks noChangeShapeType="1"/>
              </p:cNvSpPr>
              <p:nvPr/>
            </p:nvSpPr>
            <p:spPr bwMode="auto">
              <a:xfrm>
                <a:off x="1729" y="1446"/>
                <a:ext cx="0" cy="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sp>
          <p:nvSpPr>
            <p:cNvPr id="9223" name="Rectangle 9">
              <a:extLst>
                <a:ext uri="{FF2B5EF4-FFF2-40B4-BE49-F238E27FC236}">
                  <a16:creationId xmlns:a16="http://schemas.microsoft.com/office/drawing/2014/main" id="{A4D84AAD-46F2-B2AF-403D-70CF38C737FD}"/>
                </a:ext>
              </a:extLst>
            </p:cNvPr>
            <p:cNvSpPr>
              <a:spLocks noChangeArrowheads="1"/>
            </p:cNvSpPr>
            <p:nvPr/>
          </p:nvSpPr>
          <p:spPr bwMode="auto">
            <a:xfrm>
              <a:off x="2449" y="1489"/>
              <a:ext cx="78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Operand</a:t>
              </a:r>
            </a:p>
          </p:txBody>
        </p:sp>
        <p:sp>
          <p:nvSpPr>
            <p:cNvPr id="9224" name="Rectangle 10">
              <a:extLst>
                <a:ext uri="{FF2B5EF4-FFF2-40B4-BE49-F238E27FC236}">
                  <a16:creationId xmlns:a16="http://schemas.microsoft.com/office/drawing/2014/main" id="{B9A3F1B4-9830-8D04-E049-D45956E25E3F}"/>
                </a:ext>
              </a:extLst>
            </p:cNvPr>
            <p:cNvSpPr>
              <a:spLocks noChangeArrowheads="1"/>
            </p:cNvSpPr>
            <p:nvPr/>
          </p:nvSpPr>
          <p:spPr bwMode="auto">
            <a:xfrm>
              <a:off x="1066" y="1480"/>
              <a:ext cx="71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Opcode</a:t>
              </a:r>
            </a:p>
          </p:txBody>
        </p:sp>
        <p:sp>
          <p:nvSpPr>
            <p:cNvPr id="9225" name="Rectangle 11">
              <a:extLst>
                <a:ext uri="{FF2B5EF4-FFF2-40B4-BE49-F238E27FC236}">
                  <a16:creationId xmlns:a16="http://schemas.microsoft.com/office/drawing/2014/main" id="{03EAD3A0-18A0-48AC-8A85-FE16FBB51E4E}"/>
                </a:ext>
              </a:extLst>
            </p:cNvPr>
            <p:cNvSpPr>
              <a:spLocks noChangeArrowheads="1"/>
            </p:cNvSpPr>
            <p:nvPr/>
          </p:nvSpPr>
          <p:spPr bwMode="auto">
            <a:xfrm>
              <a:off x="1969" y="1153"/>
              <a:ext cx="95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Instruction</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66020">
                                            <p:txEl>
                                              <p:pRg st="0" end="0"/>
                                            </p:txEl>
                                          </p:spTgt>
                                        </p:tgtEl>
                                        <p:attrNameLst>
                                          <p:attrName>style.visibility</p:attrName>
                                        </p:attrNameLst>
                                      </p:cBhvr>
                                      <p:to>
                                        <p:strVal val="visible"/>
                                      </p:to>
                                    </p:set>
                                    <p:anim calcmode="lin" valueType="num">
                                      <p:cBhvr>
                                        <p:cTn id="7" dur="1000" fill="hold"/>
                                        <p:tgtEl>
                                          <p:spTgt spid="1366020">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66020">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66020">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66020">
                                            <p:txEl>
                                              <p:pRg st="1" end="1"/>
                                            </p:txEl>
                                          </p:spTgt>
                                        </p:tgtEl>
                                        <p:attrNameLst>
                                          <p:attrName>style.visibility</p:attrName>
                                        </p:attrNameLst>
                                      </p:cBhvr>
                                      <p:to>
                                        <p:strVal val="visible"/>
                                      </p:to>
                                    </p:set>
                                    <p:anim calcmode="lin" valueType="num">
                                      <p:cBhvr>
                                        <p:cTn id="14" dur="1000" fill="hold"/>
                                        <p:tgtEl>
                                          <p:spTgt spid="1366020">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66020">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66020">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66020">
                                            <p:txEl>
                                              <p:pRg st="2" end="2"/>
                                            </p:txEl>
                                          </p:spTgt>
                                        </p:tgtEl>
                                        <p:attrNameLst>
                                          <p:attrName>style.visibility</p:attrName>
                                        </p:attrNameLst>
                                      </p:cBhvr>
                                      <p:to>
                                        <p:strVal val="visible"/>
                                      </p:to>
                                    </p:set>
                                    <p:anim calcmode="lin" valueType="num">
                                      <p:cBhvr>
                                        <p:cTn id="21" dur="1000" fill="hold"/>
                                        <p:tgtEl>
                                          <p:spTgt spid="1366020">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66020">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66020">
                                            <p:txEl>
                                              <p:pRg st="2" end="2"/>
                                            </p:txEl>
                                          </p:spTgt>
                                        </p:tgtEl>
                                      </p:cBhvr>
                                    </p:animEffect>
                                  </p:childTnLst>
                                </p:cTn>
                              </p:par>
                              <p:par>
                                <p:cTn id="24" presetID="55" presetClass="entr" presetSubtype="0" fill="hold" nodeType="withEffect">
                                  <p:stCondLst>
                                    <p:cond delay="0"/>
                                  </p:stCondLst>
                                  <p:childTnLst>
                                    <p:set>
                                      <p:cBhvr>
                                        <p:cTn id="25" dur="1" fill="hold">
                                          <p:stCondLst>
                                            <p:cond delay="0"/>
                                          </p:stCondLst>
                                        </p:cTn>
                                        <p:tgtEl>
                                          <p:spTgt spid="1366020">
                                            <p:txEl>
                                              <p:pRg st="3" end="3"/>
                                            </p:txEl>
                                          </p:spTgt>
                                        </p:tgtEl>
                                        <p:attrNameLst>
                                          <p:attrName>style.visibility</p:attrName>
                                        </p:attrNameLst>
                                      </p:cBhvr>
                                      <p:to>
                                        <p:strVal val="visible"/>
                                      </p:to>
                                    </p:set>
                                    <p:anim calcmode="lin" valueType="num">
                                      <p:cBhvr>
                                        <p:cTn id="26" dur="1000" fill="hold"/>
                                        <p:tgtEl>
                                          <p:spTgt spid="1366020">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1366020">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1366020">
                                            <p:txEl>
                                              <p:pRg st="3" end="3"/>
                                            </p:txEl>
                                          </p:spTgt>
                                        </p:tgtEl>
                                      </p:cBhvr>
                                    </p:animEffect>
                                  </p:childTnLst>
                                </p:cTn>
                              </p:par>
                              <p:par>
                                <p:cTn id="29" presetID="55" presetClass="entr" presetSubtype="0" fill="hold" nodeType="withEffect">
                                  <p:stCondLst>
                                    <p:cond delay="0"/>
                                  </p:stCondLst>
                                  <p:childTnLst>
                                    <p:set>
                                      <p:cBhvr>
                                        <p:cTn id="30" dur="1" fill="hold">
                                          <p:stCondLst>
                                            <p:cond delay="0"/>
                                          </p:stCondLst>
                                        </p:cTn>
                                        <p:tgtEl>
                                          <p:spTgt spid="1366020">
                                            <p:txEl>
                                              <p:pRg st="4" end="4"/>
                                            </p:txEl>
                                          </p:spTgt>
                                        </p:tgtEl>
                                        <p:attrNameLst>
                                          <p:attrName>style.visibility</p:attrName>
                                        </p:attrNameLst>
                                      </p:cBhvr>
                                      <p:to>
                                        <p:strVal val="visible"/>
                                      </p:to>
                                    </p:set>
                                    <p:anim calcmode="lin" valueType="num">
                                      <p:cBhvr>
                                        <p:cTn id="31" dur="1000" fill="hold"/>
                                        <p:tgtEl>
                                          <p:spTgt spid="1366020">
                                            <p:txEl>
                                              <p:pRg st="4" end="4"/>
                                            </p:txEl>
                                          </p:spTgt>
                                        </p:tgtEl>
                                        <p:attrNameLst>
                                          <p:attrName>ppt_w</p:attrName>
                                        </p:attrNameLst>
                                      </p:cBhvr>
                                      <p:tavLst>
                                        <p:tav tm="0">
                                          <p:val>
                                            <p:strVal val="#ppt_w*0.70"/>
                                          </p:val>
                                        </p:tav>
                                        <p:tav tm="100000">
                                          <p:val>
                                            <p:strVal val="#ppt_w"/>
                                          </p:val>
                                        </p:tav>
                                      </p:tavLst>
                                    </p:anim>
                                    <p:anim calcmode="lin" valueType="num">
                                      <p:cBhvr>
                                        <p:cTn id="32" dur="1000" fill="hold"/>
                                        <p:tgtEl>
                                          <p:spTgt spid="1366020">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1366020">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5" presetClass="entr" presetSubtype="0" fill="hold" nodeType="clickEffect">
                                  <p:stCondLst>
                                    <p:cond delay="0"/>
                                  </p:stCondLst>
                                  <p:childTnLst>
                                    <p:set>
                                      <p:cBhvr>
                                        <p:cTn id="37" dur="1" fill="hold">
                                          <p:stCondLst>
                                            <p:cond delay="0"/>
                                          </p:stCondLst>
                                        </p:cTn>
                                        <p:tgtEl>
                                          <p:spTgt spid="1366020">
                                            <p:txEl>
                                              <p:pRg st="5" end="5"/>
                                            </p:txEl>
                                          </p:spTgt>
                                        </p:tgtEl>
                                        <p:attrNameLst>
                                          <p:attrName>style.visibility</p:attrName>
                                        </p:attrNameLst>
                                      </p:cBhvr>
                                      <p:to>
                                        <p:strVal val="visible"/>
                                      </p:to>
                                    </p:set>
                                    <p:anim calcmode="lin" valueType="num">
                                      <p:cBhvr>
                                        <p:cTn id="38" dur="1000" fill="hold"/>
                                        <p:tgtEl>
                                          <p:spTgt spid="1366020">
                                            <p:txEl>
                                              <p:pRg st="5" end="5"/>
                                            </p:txEl>
                                          </p:spTgt>
                                        </p:tgtEl>
                                        <p:attrNameLst>
                                          <p:attrName>ppt_w</p:attrName>
                                        </p:attrNameLst>
                                      </p:cBhvr>
                                      <p:tavLst>
                                        <p:tav tm="0">
                                          <p:val>
                                            <p:strVal val="#ppt_w*0.70"/>
                                          </p:val>
                                        </p:tav>
                                        <p:tav tm="100000">
                                          <p:val>
                                            <p:strVal val="#ppt_w"/>
                                          </p:val>
                                        </p:tav>
                                      </p:tavLst>
                                    </p:anim>
                                    <p:anim calcmode="lin" valueType="num">
                                      <p:cBhvr>
                                        <p:cTn id="39" dur="1000" fill="hold"/>
                                        <p:tgtEl>
                                          <p:spTgt spid="1366020">
                                            <p:txEl>
                                              <p:pRg st="5" end="5"/>
                                            </p:txEl>
                                          </p:spTgt>
                                        </p:tgtEl>
                                        <p:attrNameLst>
                                          <p:attrName>ppt_h</p:attrName>
                                        </p:attrNameLst>
                                      </p:cBhvr>
                                      <p:tavLst>
                                        <p:tav tm="0">
                                          <p:val>
                                            <p:strVal val="#ppt_h"/>
                                          </p:val>
                                        </p:tav>
                                        <p:tav tm="100000">
                                          <p:val>
                                            <p:strVal val="#ppt_h"/>
                                          </p:val>
                                        </p:tav>
                                      </p:tavLst>
                                    </p:anim>
                                    <p:animEffect transition="in" filter="fade">
                                      <p:cBhvr>
                                        <p:cTn id="40" dur="1000"/>
                                        <p:tgtEl>
                                          <p:spTgt spid="1366020">
                                            <p:txEl>
                                              <p:pRg st="5" end="5"/>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5" presetClass="entr" presetSubtype="0" fill="hold" nodeType="clickEffect">
                                  <p:stCondLst>
                                    <p:cond delay="0"/>
                                  </p:stCondLst>
                                  <p:childTnLst>
                                    <p:set>
                                      <p:cBhvr>
                                        <p:cTn id="44" dur="1" fill="hold">
                                          <p:stCondLst>
                                            <p:cond delay="0"/>
                                          </p:stCondLst>
                                        </p:cTn>
                                        <p:tgtEl>
                                          <p:spTgt spid="1366020">
                                            <p:txEl>
                                              <p:pRg st="6" end="6"/>
                                            </p:txEl>
                                          </p:spTgt>
                                        </p:tgtEl>
                                        <p:attrNameLst>
                                          <p:attrName>style.visibility</p:attrName>
                                        </p:attrNameLst>
                                      </p:cBhvr>
                                      <p:to>
                                        <p:strVal val="visible"/>
                                      </p:to>
                                    </p:set>
                                    <p:anim calcmode="lin" valueType="num">
                                      <p:cBhvr>
                                        <p:cTn id="45" dur="1000" fill="hold"/>
                                        <p:tgtEl>
                                          <p:spTgt spid="1366020">
                                            <p:txEl>
                                              <p:pRg st="6" end="6"/>
                                            </p:txEl>
                                          </p:spTgt>
                                        </p:tgtEl>
                                        <p:attrNameLst>
                                          <p:attrName>ppt_w</p:attrName>
                                        </p:attrNameLst>
                                      </p:cBhvr>
                                      <p:tavLst>
                                        <p:tav tm="0">
                                          <p:val>
                                            <p:strVal val="#ppt_w*0.70"/>
                                          </p:val>
                                        </p:tav>
                                        <p:tav tm="100000">
                                          <p:val>
                                            <p:strVal val="#ppt_w"/>
                                          </p:val>
                                        </p:tav>
                                      </p:tavLst>
                                    </p:anim>
                                    <p:anim calcmode="lin" valueType="num">
                                      <p:cBhvr>
                                        <p:cTn id="46" dur="1000" fill="hold"/>
                                        <p:tgtEl>
                                          <p:spTgt spid="1366020">
                                            <p:txEl>
                                              <p:pRg st="6" end="6"/>
                                            </p:txEl>
                                          </p:spTgt>
                                        </p:tgtEl>
                                        <p:attrNameLst>
                                          <p:attrName>ppt_h</p:attrName>
                                        </p:attrNameLst>
                                      </p:cBhvr>
                                      <p:tavLst>
                                        <p:tav tm="0">
                                          <p:val>
                                            <p:strVal val="#ppt_h"/>
                                          </p:val>
                                        </p:tav>
                                        <p:tav tm="100000">
                                          <p:val>
                                            <p:strVal val="#ppt_h"/>
                                          </p:val>
                                        </p:tav>
                                      </p:tavLst>
                                    </p:anim>
                                    <p:animEffect transition="in" filter="fade">
                                      <p:cBhvr>
                                        <p:cTn id="47" dur="1000"/>
                                        <p:tgtEl>
                                          <p:spTgt spid="1366020">
                                            <p:txEl>
                                              <p:pRg st="6" end="6"/>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5" presetClass="entr" presetSubtype="0" fill="hold" nodeType="clickEffect">
                                  <p:stCondLst>
                                    <p:cond delay="0"/>
                                  </p:stCondLst>
                                  <p:childTnLst>
                                    <p:set>
                                      <p:cBhvr>
                                        <p:cTn id="51" dur="1" fill="hold">
                                          <p:stCondLst>
                                            <p:cond delay="0"/>
                                          </p:stCondLst>
                                        </p:cTn>
                                        <p:tgtEl>
                                          <p:spTgt spid="1366020">
                                            <p:txEl>
                                              <p:pRg st="7" end="7"/>
                                            </p:txEl>
                                          </p:spTgt>
                                        </p:tgtEl>
                                        <p:attrNameLst>
                                          <p:attrName>style.visibility</p:attrName>
                                        </p:attrNameLst>
                                      </p:cBhvr>
                                      <p:to>
                                        <p:strVal val="visible"/>
                                      </p:to>
                                    </p:set>
                                    <p:anim calcmode="lin" valueType="num">
                                      <p:cBhvr>
                                        <p:cTn id="52" dur="1000" fill="hold"/>
                                        <p:tgtEl>
                                          <p:spTgt spid="1366020">
                                            <p:txEl>
                                              <p:pRg st="7" end="7"/>
                                            </p:txEl>
                                          </p:spTgt>
                                        </p:tgtEl>
                                        <p:attrNameLst>
                                          <p:attrName>ppt_w</p:attrName>
                                        </p:attrNameLst>
                                      </p:cBhvr>
                                      <p:tavLst>
                                        <p:tav tm="0">
                                          <p:val>
                                            <p:strVal val="#ppt_w*0.70"/>
                                          </p:val>
                                        </p:tav>
                                        <p:tav tm="100000">
                                          <p:val>
                                            <p:strVal val="#ppt_w"/>
                                          </p:val>
                                        </p:tav>
                                      </p:tavLst>
                                    </p:anim>
                                    <p:anim calcmode="lin" valueType="num">
                                      <p:cBhvr>
                                        <p:cTn id="53" dur="1000" fill="hold"/>
                                        <p:tgtEl>
                                          <p:spTgt spid="1366020">
                                            <p:txEl>
                                              <p:pRg st="7" end="7"/>
                                            </p:txEl>
                                          </p:spTgt>
                                        </p:tgtEl>
                                        <p:attrNameLst>
                                          <p:attrName>ppt_h</p:attrName>
                                        </p:attrNameLst>
                                      </p:cBhvr>
                                      <p:tavLst>
                                        <p:tav tm="0">
                                          <p:val>
                                            <p:strVal val="#ppt_h"/>
                                          </p:val>
                                        </p:tav>
                                        <p:tav tm="100000">
                                          <p:val>
                                            <p:strVal val="#ppt_h"/>
                                          </p:val>
                                        </p:tav>
                                      </p:tavLst>
                                    </p:anim>
                                    <p:animEffect transition="in" filter="fade">
                                      <p:cBhvr>
                                        <p:cTn id="54" dur="1000"/>
                                        <p:tgtEl>
                                          <p:spTgt spid="1366020">
                                            <p:txEl>
                                              <p:pRg st="7" end="7"/>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5" presetClass="entr" presetSubtype="0"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1000" fill="hold"/>
                                        <p:tgtEl>
                                          <p:spTgt spid="2"/>
                                        </p:tgtEl>
                                        <p:attrNameLst>
                                          <p:attrName>ppt_w</p:attrName>
                                        </p:attrNameLst>
                                      </p:cBhvr>
                                      <p:tavLst>
                                        <p:tav tm="0">
                                          <p:val>
                                            <p:strVal val="#ppt_w*0.70"/>
                                          </p:val>
                                        </p:tav>
                                        <p:tav tm="100000">
                                          <p:val>
                                            <p:strVal val="#ppt_w"/>
                                          </p:val>
                                        </p:tav>
                                      </p:tavLst>
                                    </p:anim>
                                    <p:anim calcmode="lin" valueType="num">
                                      <p:cBhvr>
                                        <p:cTn id="60" dur="1000" fill="hold"/>
                                        <p:tgtEl>
                                          <p:spTgt spid="2"/>
                                        </p:tgtEl>
                                        <p:attrNameLst>
                                          <p:attrName>ppt_h</p:attrName>
                                        </p:attrNameLst>
                                      </p:cBhvr>
                                      <p:tavLst>
                                        <p:tav tm="0">
                                          <p:val>
                                            <p:strVal val="#ppt_h"/>
                                          </p:val>
                                        </p:tav>
                                        <p:tav tm="100000">
                                          <p:val>
                                            <p:strVal val="#ppt_h"/>
                                          </p:val>
                                        </p:tav>
                                      </p:tavLst>
                                    </p:anim>
                                    <p:animEffect transition="in" filter="fade">
                                      <p:cBhvr>
                                        <p:cTn id="6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602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BD9EEC2-230D-D7EC-0699-CA2D56D1B8EC}"/>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1267" name="Rectangle 3">
            <a:extLst>
              <a:ext uri="{FF2B5EF4-FFF2-40B4-BE49-F238E27FC236}">
                <a16:creationId xmlns:a16="http://schemas.microsoft.com/office/drawing/2014/main" id="{82F8C91F-EAAA-5D01-DF99-4FCC23BB6E08}"/>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1268" name="Rectangle 4">
            <a:extLst>
              <a:ext uri="{FF2B5EF4-FFF2-40B4-BE49-F238E27FC236}">
                <a16:creationId xmlns:a16="http://schemas.microsoft.com/office/drawing/2014/main" id="{8CC5748E-A56D-FDB7-EF4E-817489ACD66B}"/>
              </a:ext>
            </a:extLst>
          </p:cNvPr>
          <p:cNvSpPr>
            <a:spLocks noGrp="1" noChangeArrowheads="1"/>
          </p:cNvSpPr>
          <p:nvPr>
            <p:ph type="title"/>
          </p:nvPr>
        </p:nvSpPr>
        <p:spPr/>
        <p:txBody>
          <a:bodyPr/>
          <a:lstStyle/>
          <a:p>
            <a:r>
              <a:rPr lang="en-US" altLang="en-US"/>
              <a:t>Direct Addressing</a:t>
            </a:r>
          </a:p>
        </p:txBody>
      </p:sp>
      <p:sp>
        <p:nvSpPr>
          <p:cNvPr id="1368069" name="Rectangle 5">
            <a:extLst>
              <a:ext uri="{FF2B5EF4-FFF2-40B4-BE49-F238E27FC236}">
                <a16:creationId xmlns:a16="http://schemas.microsoft.com/office/drawing/2014/main" id="{06BA4B6E-8354-CF45-F96C-985515114056}"/>
              </a:ext>
            </a:extLst>
          </p:cNvPr>
          <p:cNvSpPr>
            <a:spLocks noGrp="1" noChangeArrowheads="1"/>
          </p:cNvSpPr>
          <p:nvPr>
            <p:ph type="body" idx="1"/>
          </p:nvPr>
        </p:nvSpPr>
        <p:spPr>
          <a:xfrm>
            <a:off x="1981200" y="1066801"/>
            <a:ext cx="8178800" cy="5026025"/>
          </a:xfrm>
        </p:spPr>
        <p:txBody>
          <a:bodyPr/>
          <a:lstStyle/>
          <a:p>
            <a:r>
              <a:rPr lang="en-US" altLang="en-US"/>
              <a:t>Address field contains address of operand</a:t>
            </a:r>
          </a:p>
          <a:p>
            <a:r>
              <a:rPr lang="en-US" altLang="en-US">
                <a:solidFill>
                  <a:schemeClr val="accent1"/>
                </a:solidFill>
              </a:rPr>
              <a:t>Effective address (EA) = address field (A)</a:t>
            </a:r>
          </a:p>
          <a:p>
            <a:r>
              <a:rPr lang="en-US" altLang="en-US"/>
              <a:t>e.g.  </a:t>
            </a:r>
            <a:r>
              <a:rPr lang="en-US" altLang="en-US">
                <a:solidFill>
                  <a:srgbClr val="0000CC"/>
                </a:solidFill>
              </a:rPr>
              <a:t>ADD A</a:t>
            </a:r>
          </a:p>
          <a:p>
            <a:pPr lvl="1"/>
            <a:r>
              <a:rPr lang="en-US" altLang="en-US"/>
              <a:t>Add contents of </a:t>
            </a:r>
            <a:r>
              <a:rPr lang="en-US" altLang="en-US">
                <a:solidFill>
                  <a:srgbClr val="0000CC"/>
                </a:solidFill>
              </a:rPr>
              <a:t>cell A </a:t>
            </a:r>
            <a:r>
              <a:rPr lang="en-US" altLang="en-US"/>
              <a:t>to accumulator</a:t>
            </a:r>
          </a:p>
          <a:p>
            <a:pPr lvl="1"/>
            <a:r>
              <a:rPr lang="en-US" altLang="en-US"/>
              <a:t>Look in </a:t>
            </a:r>
            <a:r>
              <a:rPr lang="en-US" altLang="en-US">
                <a:solidFill>
                  <a:srgbClr val="0000CC"/>
                </a:solidFill>
              </a:rPr>
              <a:t>memory at address A</a:t>
            </a:r>
            <a:r>
              <a:rPr lang="en-US" altLang="en-US"/>
              <a:t> for operand</a:t>
            </a:r>
          </a:p>
          <a:p>
            <a:r>
              <a:rPr lang="en-US" altLang="en-US"/>
              <a:t>Single memory reference to access data</a:t>
            </a:r>
          </a:p>
          <a:p>
            <a:r>
              <a:rPr lang="en-US" altLang="en-US"/>
              <a:t>No additional calculations to work out effective address</a:t>
            </a:r>
          </a:p>
          <a:p>
            <a:r>
              <a:rPr lang="en-US" altLang="en-US"/>
              <a:t>Limited address space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68069">
                                            <p:txEl>
                                              <p:pRg st="0" end="0"/>
                                            </p:txEl>
                                          </p:spTgt>
                                        </p:tgtEl>
                                        <p:attrNameLst>
                                          <p:attrName>style.visibility</p:attrName>
                                        </p:attrNameLst>
                                      </p:cBhvr>
                                      <p:to>
                                        <p:strVal val="visible"/>
                                      </p:to>
                                    </p:set>
                                    <p:anim calcmode="lin" valueType="num">
                                      <p:cBhvr>
                                        <p:cTn id="7" dur="1000" fill="hold"/>
                                        <p:tgtEl>
                                          <p:spTgt spid="136806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6806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6806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68069">
                                            <p:txEl>
                                              <p:pRg st="1" end="1"/>
                                            </p:txEl>
                                          </p:spTgt>
                                        </p:tgtEl>
                                        <p:attrNameLst>
                                          <p:attrName>style.visibility</p:attrName>
                                        </p:attrNameLst>
                                      </p:cBhvr>
                                      <p:to>
                                        <p:strVal val="visible"/>
                                      </p:to>
                                    </p:set>
                                    <p:anim calcmode="lin" valueType="num">
                                      <p:cBhvr>
                                        <p:cTn id="14" dur="1000" fill="hold"/>
                                        <p:tgtEl>
                                          <p:spTgt spid="136806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6806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6806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68069">
                                            <p:txEl>
                                              <p:pRg st="2" end="2"/>
                                            </p:txEl>
                                          </p:spTgt>
                                        </p:tgtEl>
                                        <p:attrNameLst>
                                          <p:attrName>style.visibility</p:attrName>
                                        </p:attrNameLst>
                                      </p:cBhvr>
                                      <p:to>
                                        <p:strVal val="visible"/>
                                      </p:to>
                                    </p:set>
                                    <p:anim calcmode="lin" valueType="num">
                                      <p:cBhvr>
                                        <p:cTn id="21" dur="1000" fill="hold"/>
                                        <p:tgtEl>
                                          <p:spTgt spid="136806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6806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68069">
                                            <p:txEl>
                                              <p:pRg st="2" end="2"/>
                                            </p:txEl>
                                          </p:spTgt>
                                        </p:tgtEl>
                                      </p:cBhvr>
                                    </p:animEffect>
                                  </p:childTnLst>
                                </p:cTn>
                              </p:par>
                              <p:par>
                                <p:cTn id="24" presetID="55" presetClass="entr" presetSubtype="0" fill="hold" nodeType="withEffect">
                                  <p:stCondLst>
                                    <p:cond delay="0"/>
                                  </p:stCondLst>
                                  <p:childTnLst>
                                    <p:set>
                                      <p:cBhvr>
                                        <p:cTn id="25" dur="1" fill="hold">
                                          <p:stCondLst>
                                            <p:cond delay="0"/>
                                          </p:stCondLst>
                                        </p:cTn>
                                        <p:tgtEl>
                                          <p:spTgt spid="1368069">
                                            <p:txEl>
                                              <p:pRg st="3" end="3"/>
                                            </p:txEl>
                                          </p:spTgt>
                                        </p:tgtEl>
                                        <p:attrNameLst>
                                          <p:attrName>style.visibility</p:attrName>
                                        </p:attrNameLst>
                                      </p:cBhvr>
                                      <p:to>
                                        <p:strVal val="visible"/>
                                      </p:to>
                                    </p:set>
                                    <p:anim calcmode="lin" valueType="num">
                                      <p:cBhvr>
                                        <p:cTn id="26" dur="1000" fill="hold"/>
                                        <p:tgtEl>
                                          <p:spTgt spid="1368069">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1368069">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1368069">
                                            <p:txEl>
                                              <p:pRg st="3" end="3"/>
                                            </p:txEl>
                                          </p:spTgt>
                                        </p:tgtEl>
                                      </p:cBhvr>
                                    </p:animEffect>
                                  </p:childTnLst>
                                </p:cTn>
                              </p:par>
                              <p:par>
                                <p:cTn id="29" presetID="55" presetClass="entr" presetSubtype="0" fill="hold" nodeType="withEffect">
                                  <p:stCondLst>
                                    <p:cond delay="0"/>
                                  </p:stCondLst>
                                  <p:childTnLst>
                                    <p:set>
                                      <p:cBhvr>
                                        <p:cTn id="30" dur="1" fill="hold">
                                          <p:stCondLst>
                                            <p:cond delay="0"/>
                                          </p:stCondLst>
                                        </p:cTn>
                                        <p:tgtEl>
                                          <p:spTgt spid="1368069">
                                            <p:txEl>
                                              <p:pRg st="4" end="4"/>
                                            </p:txEl>
                                          </p:spTgt>
                                        </p:tgtEl>
                                        <p:attrNameLst>
                                          <p:attrName>style.visibility</p:attrName>
                                        </p:attrNameLst>
                                      </p:cBhvr>
                                      <p:to>
                                        <p:strVal val="visible"/>
                                      </p:to>
                                    </p:set>
                                    <p:anim calcmode="lin" valueType="num">
                                      <p:cBhvr>
                                        <p:cTn id="31" dur="1000" fill="hold"/>
                                        <p:tgtEl>
                                          <p:spTgt spid="1368069">
                                            <p:txEl>
                                              <p:pRg st="4" end="4"/>
                                            </p:txEl>
                                          </p:spTgt>
                                        </p:tgtEl>
                                        <p:attrNameLst>
                                          <p:attrName>ppt_w</p:attrName>
                                        </p:attrNameLst>
                                      </p:cBhvr>
                                      <p:tavLst>
                                        <p:tav tm="0">
                                          <p:val>
                                            <p:strVal val="#ppt_w*0.70"/>
                                          </p:val>
                                        </p:tav>
                                        <p:tav tm="100000">
                                          <p:val>
                                            <p:strVal val="#ppt_w"/>
                                          </p:val>
                                        </p:tav>
                                      </p:tavLst>
                                    </p:anim>
                                    <p:anim calcmode="lin" valueType="num">
                                      <p:cBhvr>
                                        <p:cTn id="32" dur="1000" fill="hold"/>
                                        <p:tgtEl>
                                          <p:spTgt spid="1368069">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1368069">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5" presetClass="entr" presetSubtype="0" fill="hold" nodeType="clickEffect">
                                  <p:stCondLst>
                                    <p:cond delay="0"/>
                                  </p:stCondLst>
                                  <p:childTnLst>
                                    <p:set>
                                      <p:cBhvr>
                                        <p:cTn id="37" dur="1" fill="hold">
                                          <p:stCondLst>
                                            <p:cond delay="0"/>
                                          </p:stCondLst>
                                        </p:cTn>
                                        <p:tgtEl>
                                          <p:spTgt spid="1368069">
                                            <p:txEl>
                                              <p:pRg st="5" end="5"/>
                                            </p:txEl>
                                          </p:spTgt>
                                        </p:tgtEl>
                                        <p:attrNameLst>
                                          <p:attrName>style.visibility</p:attrName>
                                        </p:attrNameLst>
                                      </p:cBhvr>
                                      <p:to>
                                        <p:strVal val="visible"/>
                                      </p:to>
                                    </p:set>
                                    <p:anim calcmode="lin" valueType="num">
                                      <p:cBhvr>
                                        <p:cTn id="38" dur="1000" fill="hold"/>
                                        <p:tgtEl>
                                          <p:spTgt spid="1368069">
                                            <p:txEl>
                                              <p:pRg st="5" end="5"/>
                                            </p:txEl>
                                          </p:spTgt>
                                        </p:tgtEl>
                                        <p:attrNameLst>
                                          <p:attrName>ppt_w</p:attrName>
                                        </p:attrNameLst>
                                      </p:cBhvr>
                                      <p:tavLst>
                                        <p:tav tm="0">
                                          <p:val>
                                            <p:strVal val="#ppt_w*0.70"/>
                                          </p:val>
                                        </p:tav>
                                        <p:tav tm="100000">
                                          <p:val>
                                            <p:strVal val="#ppt_w"/>
                                          </p:val>
                                        </p:tav>
                                      </p:tavLst>
                                    </p:anim>
                                    <p:anim calcmode="lin" valueType="num">
                                      <p:cBhvr>
                                        <p:cTn id="39" dur="1000" fill="hold"/>
                                        <p:tgtEl>
                                          <p:spTgt spid="1368069">
                                            <p:txEl>
                                              <p:pRg st="5" end="5"/>
                                            </p:txEl>
                                          </p:spTgt>
                                        </p:tgtEl>
                                        <p:attrNameLst>
                                          <p:attrName>ppt_h</p:attrName>
                                        </p:attrNameLst>
                                      </p:cBhvr>
                                      <p:tavLst>
                                        <p:tav tm="0">
                                          <p:val>
                                            <p:strVal val="#ppt_h"/>
                                          </p:val>
                                        </p:tav>
                                        <p:tav tm="100000">
                                          <p:val>
                                            <p:strVal val="#ppt_h"/>
                                          </p:val>
                                        </p:tav>
                                      </p:tavLst>
                                    </p:anim>
                                    <p:animEffect transition="in" filter="fade">
                                      <p:cBhvr>
                                        <p:cTn id="40" dur="1000"/>
                                        <p:tgtEl>
                                          <p:spTgt spid="1368069">
                                            <p:txEl>
                                              <p:pRg st="5" end="5"/>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5" presetClass="entr" presetSubtype="0" fill="hold" nodeType="clickEffect">
                                  <p:stCondLst>
                                    <p:cond delay="0"/>
                                  </p:stCondLst>
                                  <p:childTnLst>
                                    <p:set>
                                      <p:cBhvr>
                                        <p:cTn id="44" dur="1" fill="hold">
                                          <p:stCondLst>
                                            <p:cond delay="0"/>
                                          </p:stCondLst>
                                        </p:cTn>
                                        <p:tgtEl>
                                          <p:spTgt spid="1368069">
                                            <p:txEl>
                                              <p:pRg st="6" end="6"/>
                                            </p:txEl>
                                          </p:spTgt>
                                        </p:tgtEl>
                                        <p:attrNameLst>
                                          <p:attrName>style.visibility</p:attrName>
                                        </p:attrNameLst>
                                      </p:cBhvr>
                                      <p:to>
                                        <p:strVal val="visible"/>
                                      </p:to>
                                    </p:set>
                                    <p:anim calcmode="lin" valueType="num">
                                      <p:cBhvr>
                                        <p:cTn id="45" dur="1000" fill="hold"/>
                                        <p:tgtEl>
                                          <p:spTgt spid="1368069">
                                            <p:txEl>
                                              <p:pRg st="6" end="6"/>
                                            </p:txEl>
                                          </p:spTgt>
                                        </p:tgtEl>
                                        <p:attrNameLst>
                                          <p:attrName>ppt_w</p:attrName>
                                        </p:attrNameLst>
                                      </p:cBhvr>
                                      <p:tavLst>
                                        <p:tav tm="0">
                                          <p:val>
                                            <p:strVal val="#ppt_w*0.70"/>
                                          </p:val>
                                        </p:tav>
                                        <p:tav tm="100000">
                                          <p:val>
                                            <p:strVal val="#ppt_w"/>
                                          </p:val>
                                        </p:tav>
                                      </p:tavLst>
                                    </p:anim>
                                    <p:anim calcmode="lin" valueType="num">
                                      <p:cBhvr>
                                        <p:cTn id="46" dur="1000" fill="hold"/>
                                        <p:tgtEl>
                                          <p:spTgt spid="1368069">
                                            <p:txEl>
                                              <p:pRg st="6" end="6"/>
                                            </p:txEl>
                                          </p:spTgt>
                                        </p:tgtEl>
                                        <p:attrNameLst>
                                          <p:attrName>ppt_h</p:attrName>
                                        </p:attrNameLst>
                                      </p:cBhvr>
                                      <p:tavLst>
                                        <p:tav tm="0">
                                          <p:val>
                                            <p:strVal val="#ppt_h"/>
                                          </p:val>
                                        </p:tav>
                                        <p:tav tm="100000">
                                          <p:val>
                                            <p:strVal val="#ppt_h"/>
                                          </p:val>
                                        </p:tav>
                                      </p:tavLst>
                                    </p:anim>
                                    <p:animEffect transition="in" filter="fade">
                                      <p:cBhvr>
                                        <p:cTn id="47" dur="1000"/>
                                        <p:tgtEl>
                                          <p:spTgt spid="1368069">
                                            <p:txEl>
                                              <p:pRg st="6" end="6"/>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5" presetClass="entr" presetSubtype="0" fill="hold" nodeType="clickEffect">
                                  <p:stCondLst>
                                    <p:cond delay="0"/>
                                  </p:stCondLst>
                                  <p:childTnLst>
                                    <p:set>
                                      <p:cBhvr>
                                        <p:cTn id="51" dur="1" fill="hold">
                                          <p:stCondLst>
                                            <p:cond delay="0"/>
                                          </p:stCondLst>
                                        </p:cTn>
                                        <p:tgtEl>
                                          <p:spTgt spid="1368069">
                                            <p:txEl>
                                              <p:pRg st="7" end="7"/>
                                            </p:txEl>
                                          </p:spTgt>
                                        </p:tgtEl>
                                        <p:attrNameLst>
                                          <p:attrName>style.visibility</p:attrName>
                                        </p:attrNameLst>
                                      </p:cBhvr>
                                      <p:to>
                                        <p:strVal val="visible"/>
                                      </p:to>
                                    </p:set>
                                    <p:anim calcmode="lin" valueType="num">
                                      <p:cBhvr>
                                        <p:cTn id="52" dur="1000" fill="hold"/>
                                        <p:tgtEl>
                                          <p:spTgt spid="1368069">
                                            <p:txEl>
                                              <p:pRg st="7" end="7"/>
                                            </p:txEl>
                                          </p:spTgt>
                                        </p:tgtEl>
                                        <p:attrNameLst>
                                          <p:attrName>ppt_w</p:attrName>
                                        </p:attrNameLst>
                                      </p:cBhvr>
                                      <p:tavLst>
                                        <p:tav tm="0">
                                          <p:val>
                                            <p:strVal val="#ppt_w*0.70"/>
                                          </p:val>
                                        </p:tav>
                                        <p:tav tm="100000">
                                          <p:val>
                                            <p:strVal val="#ppt_w"/>
                                          </p:val>
                                        </p:tav>
                                      </p:tavLst>
                                    </p:anim>
                                    <p:anim calcmode="lin" valueType="num">
                                      <p:cBhvr>
                                        <p:cTn id="53" dur="1000" fill="hold"/>
                                        <p:tgtEl>
                                          <p:spTgt spid="1368069">
                                            <p:txEl>
                                              <p:pRg st="7" end="7"/>
                                            </p:txEl>
                                          </p:spTgt>
                                        </p:tgtEl>
                                        <p:attrNameLst>
                                          <p:attrName>ppt_h</p:attrName>
                                        </p:attrNameLst>
                                      </p:cBhvr>
                                      <p:tavLst>
                                        <p:tav tm="0">
                                          <p:val>
                                            <p:strVal val="#ppt_h"/>
                                          </p:val>
                                        </p:tav>
                                        <p:tav tm="100000">
                                          <p:val>
                                            <p:strVal val="#ppt_h"/>
                                          </p:val>
                                        </p:tav>
                                      </p:tavLst>
                                    </p:anim>
                                    <p:animEffect transition="in" filter="fade">
                                      <p:cBhvr>
                                        <p:cTn id="54" dur="1000"/>
                                        <p:tgtEl>
                                          <p:spTgt spid="136806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806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1014C31-0CE5-4D24-6C36-7B4883BB185C}"/>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315" name="Rectangle 3">
            <a:extLst>
              <a:ext uri="{FF2B5EF4-FFF2-40B4-BE49-F238E27FC236}">
                <a16:creationId xmlns:a16="http://schemas.microsoft.com/office/drawing/2014/main" id="{B28419DA-909C-BC62-A719-2BABFC8151D1}"/>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316" name="Rectangle 4">
            <a:extLst>
              <a:ext uri="{FF2B5EF4-FFF2-40B4-BE49-F238E27FC236}">
                <a16:creationId xmlns:a16="http://schemas.microsoft.com/office/drawing/2014/main" id="{D096CE1F-724D-57C4-5720-094062DF8417}"/>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Direct Addressing Diagram</a:t>
            </a:r>
          </a:p>
        </p:txBody>
      </p:sp>
      <p:grpSp>
        <p:nvGrpSpPr>
          <p:cNvPr id="13317" name="Group 5">
            <a:extLst>
              <a:ext uri="{FF2B5EF4-FFF2-40B4-BE49-F238E27FC236}">
                <a16:creationId xmlns:a16="http://schemas.microsoft.com/office/drawing/2014/main" id="{5DF4EE3D-5FD9-C17C-4328-B1AE07400245}"/>
              </a:ext>
            </a:extLst>
          </p:cNvPr>
          <p:cNvGrpSpPr>
            <a:grpSpLocks/>
          </p:cNvGrpSpPr>
          <p:nvPr/>
        </p:nvGrpSpPr>
        <p:grpSpPr bwMode="auto">
          <a:xfrm>
            <a:off x="2362201" y="2287589"/>
            <a:ext cx="4722813" cy="604837"/>
            <a:chOff x="913" y="1441"/>
            <a:chExt cx="2975" cy="381"/>
          </a:xfrm>
        </p:grpSpPr>
        <p:sp>
          <p:nvSpPr>
            <p:cNvPr id="13330" name="Rectangle 6">
              <a:extLst>
                <a:ext uri="{FF2B5EF4-FFF2-40B4-BE49-F238E27FC236}">
                  <a16:creationId xmlns:a16="http://schemas.microsoft.com/office/drawing/2014/main" id="{46C3A73B-8A61-831D-8E66-03616B7ABF2B}"/>
                </a:ext>
              </a:extLst>
            </p:cNvPr>
            <p:cNvSpPr>
              <a:spLocks noChangeArrowheads="1"/>
            </p:cNvSpPr>
            <p:nvPr/>
          </p:nvSpPr>
          <p:spPr bwMode="auto">
            <a:xfrm>
              <a:off x="913" y="1441"/>
              <a:ext cx="2975" cy="381"/>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331" name="Line 7">
              <a:extLst>
                <a:ext uri="{FF2B5EF4-FFF2-40B4-BE49-F238E27FC236}">
                  <a16:creationId xmlns:a16="http://schemas.microsoft.com/office/drawing/2014/main" id="{492DAFA5-A813-3DCB-D9D4-50D454621D15}"/>
                </a:ext>
              </a:extLst>
            </p:cNvPr>
            <p:cNvSpPr>
              <a:spLocks noChangeShapeType="1"/>
            </p:cNvSpPr>
            <p:nvPr/>
          </p:nvSpPr>
          <p:spPr bwMode="auto">
            <a:xfrm>
              <a:off x="1537" y="1446"/>
              <a:ext cx="0" cy="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sp>
        <p:nvSpPr>
          <p:cNvPr id="13318" name="Rectangle 8">
            <a:extLst>
              <a:ext uri="{FF2B5EF4-FFF2-40B4-BE49-F238E27FC236}">
                <a16:creationId xmlns:a16="http://schemas.microsoft.com/office/drawing/2014/main" id="{CD4FF96D-0645-586E-9E18-C8CFD2ED604B}"/>
              </a:ext>
            </a:extLst>
          </p:cNvPr>
          <p:cNvSpPr>
            <a:spLocks noChangeArrowheads="1"/>
          </p:cNvSpPr>
          <p:nvPr/>
        </p:nvSpPr>
        <p:spPr bwMode="auto">
          <a:xfrm>
            <a:off x="4495801" y="2363788"/>
            <a:ext cx="147540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Address A</a:t>
            </a:r>
          </a:p>
        </p:txBody>
      </p:sp>
      <p:sp>
        <p:nvSpPr>
          <p:cNvPr id="13319" name="Rectangle 9">
            <a:extLst>
              <a:ext uri="{FF2B5EF4-FFF2-40B4-BE49-F238E27FC236}">
                <a16:creationId xmlns:a16="http://schemas.microsoft.com/office/drawing/2014/main" id="{219A83D2-F4CE-8AEF-EDEE-B0729B39EFF0}"/>
              </a:ext>
            </a:extLst>
          </p:cNvPr>
          <p:cNvSpPr>
            <a:spLocks noChangeArrowheads="1"/>
          </p:cNvSpPr>
          <p:nvPr/>
        </p:nvSpPr>
        <p:spPr bwMode="auto">
          <a:xfrm>
            <a:off x="2286001" y="2363788"/>
            <a:ext cx="113973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Opcode</a:t>
            </a:r>
          </a:p>
        </p:txBody>
      </p:sp>
      <p:sp>
        <p:nvSpPr>
          <p:cNvPr id="13320" name="Rectangle 10">
            <a:extLst>
              <a:ext uri="{FF2B5EF4-FFF2-40B4-BE49-F238E27FC236}">
                <a16:creationId xmlns:a16="http://schemas.microsoft.com/office/drawing/2014/main" id="{A78F0465-C8CA-0548-D0F0-F59D49614EC2}"/>
              </a:ext>
            </a:extLst>
          </p:cNvPr>
          <p:cNvSpPr>
            <a:spLocks noChangeArrowheads="1"/>
          </p:cNvSpPr>
          <p:nvPr/>
        </p:nvSpPr>
        <p:spPr bwMode="auto">
          <a:xfrm>
            <a:off x="4038601" y="1830388"/>
            <a:ext cx="151483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Instruction</a:t>
            </a:r>
          </a:p>
        </p:txBody>
      </p:sp>
      <p:sp>
        <p:nvSpPr>
          <p:cNvPr id="13321" name="Rectangle 11">
            <a:extLst>
              <a:ext uri="{FF2B5EF4-FFF2-40B4-BE49-F238E27FC236}">
                <a16:creationId xmlns:a16="http://schemas.microsoft.com/office/drawing/2014/main" id="{EE29080D-C8DB-EC33-B834-7B7341A2CED1}"/>
              </a:ext>
            </a:extLst>
          </p:cNvPr>
          <p:cNvSpPr>
            <a:spLocks noChangeArrowheads="1"/>
          </p:cNvSpPr>
          <p:nvPr/>
        </p:nvSpPr>
        <p:spPr bwMode="auto">
          <a:xfrm>
            <a:off x="7315201" y="32019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322" name="Rectangle 12">
            <a:extLst>
              <a:ext uri="{FF2B5EF4-FFF2-40B4-BE49-F238E27FC236}">
                <a16:creationId xmlns:a16="http://schemas.microsoft.com/office/drawing/2014/main" id="{3A5EC2C8-18FB-F3E4-CF12-C986BFC105B1}"/>
              </a:ext>
            </a:extLst>
          </p:cNvPr>
          <p:cNvSpPr>
            <a:spLocks noChangeArrowheads="1"/>
          </p:cNvSpPr>
          <p:nvPr/>
        </p:nvSpPr>
        <p:spPr bwMode="auto">
          <a:xfrm>
            <a:off x="7315201" y="38877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70125" name="Rectangle 13">
            <a:extLst>
              <a:ext uri="{FF2B5EF4-FFF2-40B4-BE49-F238E27FC236}">
                <a16:creationId xmlns:a16="http://schemas.microsoft.com/office/drawing/2014/main" id="{CB0C2C58-3D8B-AD10-1675-CA77F8276E77}"/>
              </a:ext>
            </a:extLst>
          </p:cNvPr>
          <p:cNvSpPr>
            <a:spLocks noChangeArrowheads="1"/>
          </p:cNvSpPr>
          <p:nvPr/>
        </p:nvSpPr>
        <p:spPr bwMode="auto">
          <a:xfrm>
            <a:off x="7315201" y="4573589"/>
            <a:ext cx="2587625" cy="682625"/>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324" name="Rectangle 14">
            <a:extLst>
              <a:ext uri="{FF2B5EF4-FFF2-40B4-BE49-F238E27FC236}">
                <a16:creationId xmlns:a16="http://schemas.microsoft.com/office/drawing/2014/main" id="{EE95CD24-3896-878C-EA7B-E67B1BD51C9A}"/>
              </a:ext>
            </a:extLst>
          </p:cNvPr>
          <p:cNvSpPr>
            <a:spLocks noChangeArrowheads="1"/>
          </p:cNvSpPr>
          <p:nvPr/>
        </p:nvSpPr>
        <p:spPr bwMode="auto">
          <a:xfrm>
            <a:off x="7315201" y="52593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325" name="Rectangle 15">
            <a:extLst>
              <a:ext uri="{FF2B5EF4-FFF2-40B4-BE49-F238E27FC236}">
                <a16:creationId xmlns:a16="http://schemas.microsoft.com/office/drawing/2014/main" id="{CC29EE3D-CAA6-C212-EDCD-B383FB74D101}"/>
              </a:ext>
            </a:extLst>
          </p:cNvPr>
          <p:cNvSpPr>
            <a:spLocks noChangeArrowheads="1"/>
          </p:cNvSpPr>
          <p:nvPr/>
        </p:nvSpPr>
        <p:spPr bwMode="auto">
          <a:xfrm>
            <a:off x="7315201" y="59451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326" name="Rectangle 16">
            <a:extLst>
              <a:ext uri="{FF2B5EF4-FFF2-40B4-BE49-F238E27FC236}">
                <a16:creationId xmlns:a16="http://schemas.microsoft.com/office/drawing/2014/main" id="{F918D0AC-F948-4993-D028-55EDDAB3501D}"/>
              </a:ext>
            </a:extLst>
          </p:cNvPr>
          <p:cNvSpPr>
            <a:spLocks noChangeArrowheads="1"/>
          </p:cNvSpPr>
          <p:nvPr/>
        </p:nvSpPr>
        <p:spPr bwMode="auto">
          <a:xfrm>
            <a:off x="7848601" y="2668588"/>
            <a:ext cx="124232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Memory</a:t>
            </a:r>
          </a:p>
        </p:txBody>
      </p:sp>
      <p:sp>
        <p:nvSpPr>
          <p:cNvPr id="1370129" name="Rectangle 17">
            <a:extLst>
              <a:ext uri="{FF2B5EF4-FFF2-40B4-BE49-F238E27FC236}">
                <a16:creationId xmlns:a16="http://schemas.microsoft.com/office/drawing/2014/main" id="{EF3672AE-F834-4EA3-6172-23B38AC5AC93}"/>
              </a:ext>
            </a:extLst>
          </p:cNvPr>
          <p:cNvSpPr>
            <a:spLocks noChangeArrowheads="1"/>
          </p:cNvSpPr>
          <p:nvPr/>
        </p:nvSpPr>
        <p:spPr bwMode="auto">
          <a:xfrm>
            <a:off x="8001001" y="4725988"/>
            <a:ext cx="124232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Operand</a:t>
            </a:r>
          </a:p>
        </p:txBody>
      </p:sp>
      <p:sp>
        <p:nvSpPr>
          <p:cNvPr id="1370130" name="Freeform 18">
            <a:extLst>
              <a:ext uri="{FF2B5EF4-FFF2-40B4-BE49-F238E27FC236}">
                <a16:creationId xmlns:a16="http://schemas.microsoft.com/office/drawing/2014/main" id="{736019F7-A448-124D-F962-BD2D450C07D7}"/>
              </a:ext>
            </a:extLst>
          </p:cNvPr>
          <p:cNvSpPr>
            <a:spLocks/>
          </p:cNvSpPr>
          <p:nvPr/>
        </p:nvSpPr>
        <p:spPr bwMode="auto">
          <a:xfrm>
            <a:off x="4724400" y="2894014"/>
            <a:ext cx="2590800" cy="2022475"/>
          </a:xfrm>
          <a:custGeom>
            <a:avLst/>
            <a:gdLst>
              <a:gd name="T0" fmla="*/ 0 w 1632"/>
              <a:gd name="T1" fmla="*/ 0 h 1274"/>
              <a:gd name="T2" fmla="*/ 0 w 1632"/>
              <a:gd name="T3" fmla="*/ 2147483646 h 1274"/>
              <a:gd name="T4" fmla="*/ 2147483646 w 1632"/>
              <a:gd name="T5" fmla="*/ 2147483646 h 1274"/>
              <a:gd name="T6" fmla="*/ 0 60000 65536"/>
              <a:gd name="T7" fmla="*/ 0 60000 65536"/>
              <a:gd name="T8" fmla="*/ 0 60000 65536"/>
              <a:gd name="T9" fmla="*/ 0 w 1632"/>
              <a:gd name="T10" fmla="*/ 0 h 1274"/>
              <a:gd name="T11" fmla="*/ 1632 w 1632"/>
              <a:gd name="T12" fmla="*/ 1274 h 1274"/>
            </a:gdLst>
            <a:ahLst/>
            <a:cxnLst>
              <a:cxn ang="T6">
                <a:pos x="T0" y="T1"/>
              </a:cxn>
              <a:cxn ang="T7">
                <a:pos x="T2" y="T3"/>
              </a:cxn>
              <a:cxn ang="T8">
                <a:pos x="T4" y="T5"/>
              </a:cxn>
            </a:cxnLst>
            <a:rect l="T9" t="T10" r="T11" b="T12"/>
            <a:pathLst>
              <a:path w="1632" h="1274">
                <a:moveTo>
                  <a:pt x="0" y="0"/>
                </a:moveTo>
                <a:lnTo>
                  <a:pt x="0" y="1273"/>
                </a:lnTo>
                <a:lnTo>
                  <a:pt x="1631" y="1273"/>
                </a:lnTo>
              </a:path>
            </a:pathLst>
          </a:custGeom>
          <a:noFill/>
          <a:ln w="28575" cap="rnd"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13329" name="Rectangle 19">
            <a:extLst>
              <a:ext uri="{FF2B5EF4-FFF2-40B4-BE49-F238E27FC236}">
                <a16:creationId xmlns:a16="http://schemas.microsoft.com/office/drawing/2014/main" id="{7B4B2C2F-D0D2-B854-F333-B57C17A46B1C}"/>
              </a:ext>
            </a:extLst>
          </p:cNvPr>
          <p:cNvSpPr>
            <a:spLocks noChangeArrowheads="1"/>
          </p:cNvSpPr>
          <p:nvPr/>
        </p:nvSpPr>
        <p:spPr bwMode="auto">
          <a:xfrm>
            <a:off x="7319964" y="4581526"/>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70130"/>
                                        </p:tgtEl>
                                        <p:attrNameLst>
                                          <p:attrName>style.visibility</p:attrName>
                                        </p:attrNameLst>
                                      </p:cBhvr>
                                      <p:to>
                                        <p:strVal val="visible"/>
                                      </p:to>
                                    </p:set>
                                    <p:anim calcmode="lin" valueType="num">
                                      <p:cBhvr>
                                        <p:cTn id="7" dur="1000" fill="hold"/>
                                        <p:tgtEl>
                                          <p:spTgt spid="1370130"/>
                                        </p:tgtEl>
                                        <p:attrNameLst>
                                          <p:attrName>ppt_w</p:attrName>
                                        </p:attrNameLst>
                                      </p:cBhvr>
                                      <p:tavLst>
                                        <p:tav tm="0">
                                          <p:val>
                                            <p:strVal val="#ppt_w*0.70"/>
                                          </p:val>
                                        </p:tav>
                                        <p:tav tm="100000">
                                          <p:val>
                                            <p:strVal val="#ppt_w"/>
                                          </p:val>
                                        </p:tav>
                                      </p:tavLst>
                                    </p:anim>
                                    <p:anim calcmode="lin" valueType="num">
                                      <p:cBhvr>
                                        <p:cTn id="8" dur="1000" fill="hold"/>
                                        <p:tgtEl>
                                          <p:spTgt spid="1370130"/>
                                        </p:tgtEl>
                                        <p:attrNameLst>
                                          <p:attrName>ppt_h</p:attrName>
                                        </p:attrNameLst>
                                      </p:cBhvr>
                                      <p:tavLst>
                                        <p:tav tm="0">
                                          <p:val>
                                            <p:strVal val="#ppt_h"/>
                                          </p:val>
                                        </p:tav>
                                        <p:tav tm="100000">
                                          <p:val>
                                            <p:strVal val="#ppt_h"/>
                                          </p:val>
                                        </p:tav>
                                      </p:tavLst>
                                    </p:anim>
                                    <p:animEffect transition="in" filter="fade">
                                      <p:cBhvr>
                                        <p:cTn id="9" dur="1000"/>
                                        <p:tgtEl>
                                          <p:spTgt spid="137013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70129"/>
                                        </p:tgtEl>
                                        <p:attrNameLst>
                                          <p:attrName>style.visibility</p:attrName>
                                        </p:attrNameLst>
                                      </p:cBhvr>
                                      <p:to>
                                        <p:strVal val="visible"/>
                                      </p:to>
                                    </p:set>
                                    <p:anim calcmode="lin" valueType="num">
                                      <p:cBhvr>
                                        <p:cTn id="14" dur="1000" fill="hold"/>
                                        <p:tgtEl>
                                          <p:spTgt spid="1370129"/>
                                        </p:tgtEl>
                                        <p:attrNameLst>
                                          <p:attrName>ppt_w</p:attrName>
                                        </p:attrNameLst>
                                      </p:cBhvr>
                                      <p:tavLst>
                                        <p:tav tm="0">
                                          <p:val>
                                            <p:strVal val="#ppt_w*0.70"/>
                                          </p:val>
                                        </p:tav>
                                        <p:tav tm="100000">
                                          <p:val>
                                            <p:strVal val="#ppt_w"/>
                                          </p:val>
                                        </p:tav>
                                      </p:tavLst>
                                    </p:anim>
                                    <p:anim calcmode="lin" valueType="num">
                                      <p:cBhvr>
                                        <p:cTn id="15" dur="1000" fill="hold"/>
                                        <p:tgtEl>
                                          <p:spTgt spid="1370129"/>
                                        </p:tgtEl>
                                        <p:attrNameLst>
                                          <p:attrName>ppt_h</p:attrName>
                                        </p:attrNameLst>
                                      </p:cBhvr>
                                      <p:tavLst>
                                        <p:tav tm="0">
                                          <p:val>
                                            <p:strVal val="#ppt_h"/>
                                          </p:val>
                                        </p:tav>
                                        <p:tav tm="100000">
                                          <p:val>
                                            <p:strVal val="#ppt_h"/>
                                          </p:val>
                                        </p:tav>
                                      </p:tavLst>
                                    </p:anim>
                                    <p:animEffect transition="in" filter="fade">
                                      <p:cBhvr>
                                        <p:cTn id="16" dur="1000"/>
                                        <p:tgtEl>
                                          <p:spTgt spid="1370129"/>
                                        </p:tgtEl>
                                      </p:cBhvr>
                                    </p:animEffect>
                                  </p:childTnLst>
                                </p:cTn>
                              </p:par>
                              <p:par>
                                <p:cTn id="17" presetID="55" presetClass="entr" presetSubtype="0" fill="hold" nodeType="withEffect">
                                  <p:stCondLst>
                                    <p:cond delay="0"/>
                                  </p:stCondLst>
                                  <p:childTnLst>
                                    <p:set>
                                      <p:cBhvr>
                                        <p:cTn id="18" dur="1" fill="hold">
                                          <p:stCondLst>
                                            <p:cond delay="0"/>
                                          </p:stCondLst>
                                        </p:cTn>
                                        <p:tgtEl>
                                          <p:spTgt spid="1370125"/>
                                        </p:tgtEl>
                                        <p:attrNameLst>
                                          <p:attrName>style.visibility</p:attrName>
                                        </p:attrNameLst>
                                      </p:cBhvr>
                                      <p:to>
                                        <p:strVal val="visible"/>
                                      </p:to>
                                    </p:set>
                                    <p:anim calcmode="lin" valueType="num">
                                      <p:cBhvr>
                                        <p:cTn id="19" dur="2000" fill="hold"/>
                                        <p:tgtEl>
                                          <p:spTgt spid="1370125"/>
                                        </p:tgtEl>
                                        <p:attrNameLst>
                                          <p:attrName>ppt_w</p:attrName>
                                        </p:attrNameLst>
                                      </p:cBhvr>
                                      <p:tavLst>
                                        <p:tav tm="0">
                                          <p:val>
                                            <p:strVal val="#ppt_w*0.70"/>
                                          </p:val>
                                        </p:tav>
                                        <p:tav tm="100000">
                                          <p:val>
                                            <p:strVal val="#ppt_w"/>
                                          </p:val>
                                        </p:tav>
                                      </p:tavLst>
                                    </p:anim>
                                    <p:anim calcmode="lin" valueType="num">
                                      <p:cBhvr>
                                        <p:cTn id="20" dur="2000" fill="hold"/>
                                        <p:tgtEl>
                                          <p:spTgt spid="1370125"/>
                                        </p:tgtEl>
                                        <p:attrNameLst>
                                          <p:attrName>ppt_h</p:attrName>
                                        </p:attrNameLst>
                                      </p:cBhvr>
                                      <p:tavLst>
                                        <p:tav tm="0">
                                          <p:val>
                                            <p:strVal val="#ppt_h"/>
                                          </p:val>
                                        </p:tav>
                                        <p:tav tm="100000">
                                          <p:val>
                                            <p:strVal val="#ppt_h"/>
                                          </p:val>
                                        </p:tav>
                                      </p:tavLst>
                                    </p:anim>
                                    <p:animEffect transition="in" filter="fade">
                                      <p:cBhvr>
                                        <p:cTn id="21" dur="2000"/>
                                        <p:tgtEl>
                                          <p:spTgt spid="1370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0125" grpId="0" animBg="1"/>
      <p:bldP spid="13701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FCC42E4-FE90-5D4B-5EF8-973966745B29}"/>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5363" name="Rectangle 3">
            <a:extLst>
              <a:ext uri="{FF2B5EF4-FFF2-40B4-BE49-F238E27FC236}">
                <a16:creationId xmlns:a16="http://schemas.microsoft.com/office/drawing/2014/main" id="{D4FA474F-1BD8-F8BA-75BB-443F1DD77593}"/>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5364" name="Rectangle 4">
            <a:extLst>
              <a:ext uri="{FF2B5EF4-FFF2-40B4-BE49-F238E27FC236}">
                <a16:creationId xmlns:a16="http://schemas.microsoft.com/office/drawing/2014/main" id="{3DCC4D5D-030E-C9D5-A392-B5063A9962DD}"/>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Indirect Addressing (1)</a:t>
            </a:r>
          </a:p>
        </p:txBody>
      </p:sp>
      <p:sp>
        <p:nvSpPr>
          <p:cNvPr id="1372165" name="Rectangle 5">
            <a:extLst>
              <a:ext uri="{FF2B5EF4-FFF2-40B4-BE49-F238E27FC236}">
                <a16:creationId xmlns:a16="http://schemas.microsoft.com/office/drawing/2014/main" id="{B6C6EEE4-0EA8-9EE9-54B5-AB20FDB8CCB5}"/>
              </a:ext>
            </a:extLst>
          </p:cNvPr>
          <p:cNvSpPr>
            <a:spLocks noGrp="1" noChangeArrowheads="1"/>
          </p:cNvSpPr>
          <p:nvPr>
            <p:ph type="body" idx="1"/>
          </p:nvPr>
        </p:nvSpPr>
        <p:spPr>
          <a:xfrm>
            <a:off x="1981200" y="1066801"/>
            <a:ext cx="8178800" cy="5457825"/>
          </a:xfrm>
          <a:noFill/>
        </p:spPr>
        <p:txBody>
          <a:bodyPr vert="horz" wrap="square" lIns="90488" tIns="44450" rIns="90488" bIns="44450" numCol="1" anchor="t" anchorCtr="0" compatLnSpc="1">
            <a:prstTxWarp prst="textNoShape">
              <a:avLst/>
            </a:prstTxWarp>
          </a:bodyPr>
          <a:lstStyle/>
          <a:p>
            <a:r>
              <a:rPr lang="en-US" altLang="en-US" sz="2400"/>
              <a:t>Memory cell pointed to by address field contains the address of (pointer to) the operand</a:t>
            </a:r>
          </a:p>
          <a:p>
            <a:r>
              <a:rPr lang="en-US" altLang="en-US" sz="2400">
                <a:solidFill>
                  <a:srgbClr val="0000CC"/>
                </a:solidFill>
              </a:rPr>
              <a:t>EA = (A)</a:t>
            </a:r>
          </a:p>
          <a:p>
            <a:pPr lvl="1"/>
            <a:r>
              <a:rPr lang="en-US" altLang="en-US" sz="2000"/>
              <a:t>Look in </a:t>
            </a:r>
            <a:r>
              <a:rPr lang="en-US" altLang="en-US" sz="2000">
                <a:solidFill>
                  <a:srgbClr val="0000CC"/>
                </a:solidFill>
              </a:rPr>
              <a:t>A</a:t>
            </a:r>
            <a:r>
              <a:rPr lang="en-US" altLang="en-US" sz="2000"/>
              <a:t>, find address </a:t>
            </a:r>
            <a:r>
              <a:rPr lang="en-US" altLang="en-US" sz="2000">
                <a:solidFill>
                  <a:srgbClr val="0000CC"/>
                </a:solidFill>
              </a:rPr>
              <a:t>(A)</a:t>
            </a:r>
            <a:r>
              <a:rPr lang="en-US" altLang="en-US" sz="2000"/>
              <a:t> and look there for </a:t>
            </a:r>
            <a:r>
              <a:rPr lang="en-US" altLang="en-US" sz="2000">
                <a:solidFill>
                  <a:srgbClr val="0000CC"/>
                </a:solidFill>
              </a:rPr>
              <a:t>operand</a:t>
            </a:r>
          </a:p>
          <a:p>
            <a:r>
              <a:rPr lang="en-US" altLang="en-US" sz="2000"/>
              <a:t>e.g. </a:t>
            </a:r>
            <a:r>
              <a:rPr lang="en-US" altLang="en-US" sz="2000">
                <a:solidFill>
                  <a:srgbClr val="0000CC"/>
                </a:solidFill>
              </a:rPr>
              <a:t>ADD (A)</a:t>
            </a:r>
          </a:p>
          <a:p>
            <a:pPr lvl="1"/>
            <a:r>
              <a:rPr lang="en-US" altLang="en-US" sz="2000"/>
              <a:t>Add contents of cell pointed to by contents of </a:t>
            </a:r>
            <a:r>
              <a:rPr lang="en-US" altLang="en-US" sz="2000">
                <a:solidFill>
                  <a:srgbClr val="0000CC"/>
                </a:solidFill>
              </a:rPr>
              <a:t>A</a:t>
            </a:r>
            <a:r>
              <a:rPr lang="en-US" altLang="en-US" sz="2000"/>
              <a:t> to accumulator</a:t>
            </a:r>
            <a:endParaRPr lang="tr-TR" altLang="en-US" sz="2000"/>
          </a:p>
          <a:p>
            <a:r>
              <a:rPr lang="en-US" altLang="en-US" sz="2400"/>
              <a:t>Large address space </a:t>
            </a:r>
          </a:p>
          <a:p>
            <a:r>
              <a:rPr lang="en-US" altLang="en-US" sz="2400">
                <a:solidFill>
                  <a:srgbClr val="0000CC"/>
                </a:solidFill>
              </a:rPr>
              <a:t>2</a:t>
            </a:r>
            <a:r>
              <a:rPr lang="en-US" altLang="en-US" sz="2400" baseline="30000">
                <a:solidFill>
                  <a:srgbClr val="0000CC"/>
                </a:solidFill>
              </a:rPr>
              <a:t>n</a:t>
            </a:r>
            <a:r>
              <a:rPr lang="en-US" altLang="en-US" sz="2400"/>
              <a:t> where </a:t>
            </a:r>
            <a:r>
              <a:rPr lang="en-US" altLang="en-US" sz="2400">
                <a:solidFill>
                  <a:srgbClr val="0000CC"/>
                </a:solidFill>
              </a:rPr>
              <a:t>n = word length</a:t>
            </a:r>
          </a:p>
          <a:p>
            <a:r>
              <a:rPr lang="en-US" altLang="en-US" sz="2400"/>
              <a:t>May be nested, multilevel, cascaded</a:t>
            </a:r>
          </a:p>
          <a:p>
            <a:pPr lvl="1"/>
            <a:r>
              <a:rPr lang="en-US" altLang="en-US" sz="2000"/>
              <a:t>e.g. </a:t>
            </a:r>
            <a:r>
              <a:rPr lang="en-US" altLang="en-US" sz="2000">
                <a:solidFill>
                  <a:srgbClr val="0000CC"/>
                </a:solidFill>
              </a:rPr>
              <a:t>EA = (((A)))</a:t>
            </a:r>
          </a:p>
          <a:p>
            <a:r>
              <a:rPr lang="en-US" altLang="en-US" sz="2400"/>
              <a:t>Multiple memory accesses to find operand</a:t>
            </a:r>
          </a:p>
          <a:p>
            <a:r>
              <a:rPr lang="en-US" altLang="en-US" sz="2400"/>
              <a:t>Hence slower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72165">
                                            <p:txEl>
                                              <p:pRg st="0" end="0"/>
                                            </p:txEl>
                                          </p:spTgt>
                                        </p:tgtEl>
                                        <p:attrNameLst>
                                          <p:attrName>style.visibility</p:attrName>
                                        </p:attrNameLst>
                                      </p:cBhvr>
                                      <p:to>
                                        <p:strVal val="visible"/>
                                      </p:to>
                                    </p:set>
                                    <p:anim calcmode="lin" valueType="num">
                                      <p:cBhvr>
                                        <p:cTn id="7" dur="1000" fill="hold"/>
                                        <p:tgtEl>
                                          <p:spTgt spid="137216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7216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72165">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72165">
                                            <p:txEl>
                                              <p:pRg st="1" end="1"/>
                                            </p:txEl>
                                          </p:spTgt>
                                        </p:tgtEl>
                                        <p:attrNameLst>
                                          <p:attrName>style.visibility</p:attrName>
                                        </p:attrNameLst>
                                      </p:cBhvr>
                                      <p:to>
                                        <p:strVal val="visible"/>
                                      </p:to>
                                    </p:set>
                                    <p:anim calcmode="lin" valueType="num">
                                      <p:cBhvr>
                                        <p:cTn id="14" dur="1000" fill="hold"/>
                                        <p:tgtEl>
                                          <p:spTgt spid="1372165">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72165">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72165">
                                            <p:txEl>
                                              <p:pRg st="1" end="1"/>
                                            </p:txEl>
                                          </p:spTgt>
                                        </p:tgtEl>
                                      </p:cBhvr>
                                    </p:animEffect>
                                  </p:childTnLst>
                                </p:cTn>
                              </p:par>
                              <p:par>
                                <p:cTn id="17" presetID="55" presetClass="entr" presetSubtype="0" fill="hold" nodeType="withEffect">
                                  <p:stCondLst>
                                    <p:cond delay="0"/>
                                  </p:stCondLst>
                                  <p:childTnLst>
                                    <p:set>
                                      <p:cBhvr>
                                        <p:cTn id="18" dur="1" fill="hold">
                                          <p:stCondLst>
                                            <p:cond delay="0"/>
                                          </p:stCondLst>
                                        </p:cTn>
                                        <p:tgtEl>
                                          <p:spTgt spid="1372165">
                                            <p:txEl>
                                              <p:pRg st="2" end="2"/>
                                            </p:txEl>
                                          </p:spTgt>
                                        </p:tgtEl>
                                        <p:attrNameLst>
                                          <p:attrName>style.visibility</p:attrName>
                                        </p:attrNameLst>
                                      </p:cBhvr>
                                      <p:to>
                                        <p:strVal val="visible"/>
                                      </p:to>
                                    </p:set>
                                    <p:anim calcmode="lin" valueType="num">
                                      <p:cBhvr>
                                        <p:cTn id="19" dur="1000" fill="hold"/>
                                        <p:tgtEl>
                                          <p:spTgt spid="1372165">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1372165">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1372165">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5" presetClass="entr" presetSubtype="0" fill="hold" nodeType="clickEffect">
                                  <p:stCondLst>
                                    <p:cond delay="0"/>
                                  </p:stCondLst>
                                  <p:childTnLst>
                                    <p:set>
                                      <p:cBhvr>
                                        <p:cTn id="25" dur="1" fill="hold">
                                          <p:stCondLst>
                                            <p:cond delay="0"/>
                                          </p:stCondLst>
                                        </p:cTn>
                                        <p:tgtEl>
                                          <p:spTgt spid="1372165">
                                            <p:txEl>
                                              <p:pRg st="3" end="3"/>
                                            </p:txEl>
                                          </p:spTgt>
                                        </p:tgtEl>
                                        <p:attrNameLst>
                                          <p:attrName>style.visibility</p:attrName>
                                        </p:attrNameLst>
                                      </p:cBhvr>
                                      <p:to>
                                        <p:strVal val="visible"/>
                                      </p:to>
                                    </p:set>
                                    <p:anim calcmode="lin" valueType="num">
                                      <p:cBhvr>
                                        <p:cTn id="26" dur="1000" fill="hold"/>
                                        <p:tgtEl>
                                          <p:spTgt spid="1372165">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1372165">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1372165">
                                            <p:txEl>
                                              <p:pRg st="3" end="3"/>
                                            </p:txEl>
                                          </p:spTgt>
                                        </p:tgtEl>
                                      </p:cBhvr>
                                    </p:animEffect>
                                  </p:childTnLst>
                                </p:cTn>
                              </p:par>
                              <p:par>
                                <p:cTn id="29" presetID="55" presetClass="entr" presetSubtype="0" fill="hold" nodeType="withEffect">
                                  <p:stCondLst>
                                    <p:cond delay="0"/>
                                  </p:stCondLst>
                                  <p:childTnLst>
                                    <p:set>
                                      <p:cBhvr>
                                        <p:cTn id="30" dur="1" fill="hold">
                                          <p:stCondLst>
                                            <p:cond delay="0"/>
                                          </p:stCondLst>
                                        </p:cTn>
                                        <p:tgtEl>
                                          <p:spTgt spid="1372165">
                                            <p:txEl>
                                              <p:pRg st="4" end="4"/>
                                            </p:txEl>
                                          </p:spTgt>
                                        </p:tgtEl>
                                        <p:attrNameLst>
                                          <p:attrName>style.visibility</p:attrName>
                                        </p:attrNameLst>
                                      </p:cBhvr>
                                      <p:to>
                                        <p:strVal val="visible"/>
                                      </p:to>
                                    </p:set>
                                    <p:anim calcmode="lin" valueType="num">
                                      <p:cBhvr>
                                        <p:cTn id="31" dur="1000" fill="hold"/>
                                        <p:tgtEl>
                                          <p:spTgt spid="1372165">
                                            <p:txEl>
                                              <p:pRg st="4" end="4"/>
                                            </p:txEl>
                                          </p:spTgt>
                                        </p:tgtEl>
                                        <p:attrNameLst>
                                          <p:attrName>ppt_w</p:attrName>
                                        </p:attrNameLst>
                                      </p:cBhvr>
                                      <p:tavLst>
                                        <p:tav tm="0">
                                          <p:val>
                                            <p:strVal val="#ppt_w*0.70"/>
                                          </p:val>
                                        </p:tav>
                                        <p:tav tm="100000">
                                          <p:val>
                                            <p:strVal val="#ppt_w"/>
                                          </p:val>
                                        </p:tav>
                                      </p:tavLst>
                                    </p:anim>
                                    <p:anim calcmode="lin" valueType="num">
                                      <p:cBhvr>
                                        <p:cTn id="32" dur="1000" fill="hold"/>
                                        <p:tgtEl>
                                          <p:spTgt spid="1372165">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1372165">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5" presetClass="entr" presetSubtype="0" fill="hold" nodeType="clickEffect">
                                  <p:stCondLst>
                                    <p:cond delay="0"/>
                                  </p:stCondLst>
                                  <p:childTnLst>
                                    <p:set>
                                      <p:cBhvr>
                                        <p:cTn id="37" dur="1" fill="hold">
                                          <p:stCondLst>
                                            <p:cond delay="0"/>
                                          </p:stCondLst>
                                        </p:cTn>
                                        <p:tgtEl>
                                          <p:spTgt spid="1372165">
                                            <p:txEl>
                                              <p:pRg st="5" end="5"/>
                                            </p:txEl>
                                          </p:spTgt>
                                        </p:tgtEl>
                                        <p:attrNameLst>
                                          <p:attrName>style.visibility</p:attrName>
                                        </p:attrNameLst>
                                      </p:cBhvr>
                                      <p:to>
                                        <p:strVal val="visible"/>
                                      </p:to>
                                    </p:set>
                                    <p:anim calcmode="lin" valueType="num">
                                      <p:cBhvr>
                                        <p:cTn id="38" dur="1000" fill="hold"/>
                                        <p:tgtEl>
                                          <p:spTgt spid="1372165">
                                            <p:txEl>
                                              <p:pRg st="5" end="5"/>
                                            </p:txEl>
                                          </p:spTgt>
                                        </p:tgtEl>
                                        <p:attrNameLst>
                                          <p:attrName>ppt_w</p:attrName>
                                        </p:attrNameLst>
                                      </p:cBhvr>
                                      <p:tavLst>
                                        <p:tav tm="0">
                                          <p:val>
                                            <p:strVal val="#ppt_w*0.70"/>
                                          </p:val>
                                        </p:tav>
                                        <p:tav tm="100000">
                                          <p:val>
                                            <p:strVal val="#ppt_w"/>
                                          </p:val>
                                        </p:tav>
                                      </p:tavLst>
                                    </p:anim>
                                    <p:anim calcmode="lin" valueType="num">
                                      <p:cBhvr>
                                        <p:cTn id="39" dur="1000" fill="hold"/>
                                        <p:tgtEl>
                                          <p:spTgt spid="1372165">
                                            <p:txEl>
                                              <p:pRg st="5" end="5"/>
                                            </p:txEl>
                                          </p:spTgt>
                                        </p:tgtEl>
                                        <p:attrNameLst>
                                          <p:attrName>ppt_h</p:attrName>
                                        </p:attrNameLst>
                                      </p:cBhvr>
                                      <p:tavLst>
                                        <p:tav tm="0">
                                          <p:val>
                                            <p:strVal val="#ppt_h"/>
                                          </p:val>
                                        </p:tav>
                                        <p:tav tm="100000">
                                          <p:val>
                                            <p:strVal val="#ppt_h"/>
                                          </p:val>
                                        </p:tav>
                                      </p:tavLst>
                                    </p:anim>
                                    <p:animEffect transition="in" filter="fade">
                                      <p:cBhvr>
                                        <p:cTn id="40" dur="1000"/>
                                        <p:tgtEl>
                                          <p:spTgt spid="1372165">
                                            <p:txEl>
                                              <p:pRg st="5" end="5"/>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5" presetClass="entr" presetSubtype="0" fill="hold" nodeType="clickEffect">
                                  <p:stCondLst>
                                    <p:cond delay="0"/>
                                  </p:stCondLst>
                                  <p:childTnLst>
                                    <p:set>
                                      <p:cBhvr>
                                        <p:cTn id="44" dur="1" fill="hold">
                                          <p:stCondLst>
                                            <p:cond delay="0"/>
                                          </p:stCondLst>
                                        </p:cTn>
                                        <p:tgtEl>
                                          <p:spTgt spid="1372165">
                                            <p:txEl>
                                              <p:pRg st="6" end="6"/>
                                            </p:txEl>
                                          </p:spTgt>
                                        </p:tgtEl>
                                        <p:attrNameLst>
                                          <p:attrName>style.visibility</p:attrName>
                                        </p:attrNameLst>
                                      </p:cBhvr>
                                      <p:to>
                                        <p:strVal val="visible"/>
                                      </p:to>
                                    </p:set>
                                    <p:anim calcmode="lin" valueType="num">
                                      <p:cBhvr>
                                        <p:cTn id="45" dur="1000" fill="hold"/>
                                        <p:tgtEl>
                                          <p:spTgt spid="1372165">
                                            <p:txEl>
                                              <p:pRg st="6" end="6"/>
                                            </p:txEl>
                                          </p:spTgt>
                                        </p:tgtEl>
                                        <p:attrNameLst>
                                          <p:attrName>ppt_w</p:attrName>
                                        </p:attrNameLst>
                                      </p:cBhvr>
                                      <p:tavLst>
                                        <p:tav tm="0">
                                          <p:val>
                                            <p:strVal val="#ppt_w*0.70"/>
                                          </p:val>
                                        </p:tav>
                                        <p:tav tm="100000">
                                          <p:val>
                                            <p:strVal val="#ppt_w"/>
                                          </p:val>
                                        </p:tav>
                                      </p:tavLst>
                                    </p:anim>
                                    <p:anim calcmode="lin" valueType="num">
                                      <p:cBhvr>
                                        <p:cTn id="46" dur="1000" fill="hold"/>
                                        <p:tgtEl>
                                          <p:spTgt spid="1372165">
                                            <p:txEl>
                                              <p:pRg st="6" end="6"/>
                                            </p:txEl>
                                          </p:spTgt>
                                        </p:tgtEl>
                                        <p:attrNameLst>
                                          <p:attrName>ppt_h</p:attrName>
                                        </p:attrNameLst>
                                      </p:cBhvr>
                                      <p:tavLst>
                                        <p:tav tm="0">
                                          <p:val>
                                            <p:strVal val="#ppt_h"/>
                                          </p:val>
                                        </p:tav>
                                        <p:tav tm="100000">
                                          <p:val>
                                            <p:strVal val="#ppt_h"/>
                                          </p:val>
                                        </p:tav>
                                      </p:tavLst>
                                    </p:anim>
                                    <p:animEffect transition="in" filter="fade">
                                      <p:cBhvr>
                                        <p:cTn id="47" dur="1000"/>
                                        <p:tgtEl>
                                          <p:spTgt spid="1372165">
                                            <p:txEl>
                                              <p:pRg st="6" end="6"/>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5" presetClass="entr" presetSubtype="0" fill="hold" nodeType="clickEffect">
                                  <p:stCondLst>
                                    <p:cond delay="0"/>
                                  </p:stCondLst>
                                  <p:childTnLst>
                                    <p:set>
                                      <p:cBhvr>
                                        <p:cTn id="51" dur="1" fill="hold">
                                          <p:stCondLst>
                                            <p:cond delay="0"/>
                                          </p:stCondLst>
                                        </p:cTn>
                                        <p:tgtEl>
                                          <p:spTgt spid="1372165">
                                            <p:txEl>
                                              <p:pRg st="7" end="7"/>
                                            </p:txEl>
                                          </p:spTgt>
                                        </p:tgtEl>
                                        <p:attrNameLst>
                                          <p:attrName>style.visibility</p:attrName>
                                        </p:attrNameLst>
                                      </p:cBhvr>
                                      <p:to>
                                        <p:strVal val="visible"/>
                                      </p:to>
                                    </p:set>
                                    <p:anim calcmode="lin" valueType="num">
                                      <p:cBhvr>
                                        <p:cTn id="52" dur="1000" fill="hold"/>
                                        <p:tgtEl>
                                          <p:spTgt spid="1372165">
                                            <p:txEl>
                                              <p:pRg st="7" end="7"/>
                                            </p:txEl>
                                          </p:spTgt>
                                        </p:tgtEl>
                                        <p:attrNameLst>
                                          <p:attrName>ppt_w</p:attrName>
                                        </p:attrNameLst>
                                      </p:cBhvr>
                                      <p:tavLst>
                                        <p:tav tm="0">
                                          <p:val>
                                            <p:strVal val="#ppt_w*0.70"/>
                                          </p:val>
                                        </p:tav>
                                        <p:tav tm="100000">
                                          <p:val>
                                            <p:strVal val="#ppt_w"/>
                                          </p:val>
                                        </p:tav>
                                      </p:tavLst>
                                    </p:anim>
                                    <p:anim calcmode="lin" valueType="num">
                                      <p:cBhvr>
                                        <p:cTn id="53" dur="1000" fill="hold"/>
                                        <p:tgtEl>
                                          <p:spTgt spid="1372165">
                                            <p:txEl>
                                              <p:pRg st="7" end="7"/>
                                            </p:txEl>
                                          </p:spTgt>
                                        </p:tgtEl>
                                        <p:attrNameLst>
                                          <p:attrName>ppt_h</p:attrName>
                                        </p:attrNameLst>
                                      </p:cBhvr>
                                      <p:tavLst>
                                        <p:tav tm="0">
                                          <p:val>
                                            <p:strVal val="#ppt_h"/>
                                          </p:val>
                                        </p:tav>
                                        <p:tav tm="100000">
                                          <p:val>
                                            <p:strVal val="#ppt_h"/>
                                          </p:val>
                                        </p:tav>
                                      </p:tavLst>
                                    </p:anim>
                                    <p:animEffect transition="in" filter="fade">
                                      <p:cBhvr>
                                        <p:cTn id="54" dur="1000"/>
                                        <p:tgtEl>
                                          <p:spTgt spid="1372165">
                                            <p:txEl>
                                              <p:pRg st="7" end="7"/>
                                            </p:txEl>
                                          </p:spTgt>
                                        </p:tgtEl>
                                      </p:cBhvr>
                                    </p:animEffect>
                                  </p:childTnLst>
                                </p:cTn>
                              </p:par>
                              <p:par>
                                <p:cTn id="55" presetID="55" presetClass="entr" presetSubtype="0" fill="hold" nodeType="withEffect">
                                  <p:stCondLst>
                                    <p:cond delay="0"/>
                                  </p:stCondLst>
                                  <p:childTnLst>
                                    <p:set>
                                      <p:cBhvr>
                                        <p:cTn id="56" dur="1" fill="hold">
                                          <p:stCondLst>
                                            <p:cond delay="0"/>
                                          </p:stCondLst>
                                        </p:cTn>
                                        <p:tgtEl>
                                          <p:spTgt spid="1372165">
                                            <p:txEl>
                                              <p:pRg st="8" end="8"/>
                                            </p:txEl>
                                          </p:spTgt>
                                        </p:tgtEl>
                                        <p:attrNameLst>
                                          <p:attrName>style.visibility</p:attrName>
                                        </p:attrNameLst>
                                      </p:cBhvr>
                                      <p:to>
                                        <p:strVal val="visible"/>
                                      </p:to>
                                    </p:set>
                                    <p:anim calcmode="lin" valueType="num">
                                      <p:cBhvr>
                                        <p:cTn id="57" dur="1000" fill="hold"/>
                                        <p:tgtEl>
                                          <p:spTgt spid="1372165">
                                            <p:txEl>
                                              <p:pRg st="8" end="8"/>
                                            </p:txEl>
                                          </p:spTgt>
                                        </p:tgtEl>
                                        <p:attrNameLst>
                                          <p:attrName>ppt_w</p:attrName>
                                        </p:attrNameLst>
                                      </p:cBhvr>
                                      <p:tavLst>
                                        <p:tav tm="0">
                                          <p:val>
                                            <p:strVal val="#ppt_w*0.70"/>
                                          </p:val>
                                        </p:tav>
                                        <p:tav tm="100000">
                                          <p:val>
                                            <p:strVal val="#ppt_w"/>
                                          </p:val>
                                        </p:tav>
                                      </p:tavLst>
                                    </p:anim>
                                    <p:anim calcmode="lin" valueType="num">
                                      <p:cBhvr>
                                        <p:cTn id="58" dur="1000" fill="hold"/>
                                        <p:tgtEl>
                                          <p:spTgt spid="1372165">
                                            <p:txEl>
                                              <p:pRg st="8" end="8"/>
                                            </p:txEl>
                                          </p:spTgt>
                                        </p:tgtEl>
                                        <p:attrNameLst>
                                          <p:attrName>ppt_h</p:attrName>
                                        </p:attrNameLst>
                                      </p:cBhvr>
                                      <p:tavLst>
                                        <p:tav tm="0">
                                          <p:val>
                                            <p:strVal val="#ppt_h"/>
                                          </p:val>
                                        </p:tav>
                                        <p:tav tm="100000">
                                          <p:val>
                                            <p:strVal val="#ppt_h"/>
                                          </p:val>
                                        </p:tav>
                                      </p:tavLst>
                                    </p:anim>
                                    <p:animEffect transition="in" filter="fade">
                                      <p:cBhvr>
                                        <p:cTn id="59" dur="1000"/>
                                        <p:tgtEl>
                                          <p:spTgt spid="1372165">
                                            <p:txEl>
                                              <p:pRg st="8" end="8"/>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55" presetClass="entr" presetSubtype="0" fill="hold" nodeType="clickEffect">
                                  <p:stCondLst>
                                    <p:cond delay="0"/>
                                  </p:stCondLst>
                                  <p:childTnLst>
                                    <p:set>
                                      <p:cBhvr>
                                        <p:cTn id="63" dur="1" fill="hold">
                                          <p:stCondLst>
                                            <p:cond delay="0"/>
                                          </p:stCondLst>
                                        </p:cTn>
                                        <p:tgtEl>
                                          <p:spTgt spid="1372165">
                                            <p:txEl>
                                              <p:pRg st="9" end="9"/>
                                            </p:txEl>
                                          </p:spTgt>
                                        </p:tgtEl>
                                        <p:attrNameLst>
                                          <p:attrName>style.visibility</p:attrName>
                                        </p:attrNameLst>
                                      </p:cBhvr>
                                      <p:to>
                                        <p:strVal val="visible"/>
                                      </p:to>
                                    </p:set>
                                    <p:anim calcmode="lin" valueType="num">
                                      <p:cBhvr>
                                        <p:cTn id="64" dur="1000" fill="hold"/>
                                        <p:tgtEl>
                                          <p:spTgt spid="1372165">
                                            <p:txEl>
                                              <p:pRg st="9" end="9"/>
                                            </p:txEl>
                                          </p:spTgt>
                                        </p:tgtEl>
                                        <p:attrNameLst>
                                          <p:attrName>ppt_w</p:attrName>
                                        </p:attrNameLst>
                                      </p:cBhvr>
                                      <p:tavLst>
                                        <p:tav tm="0">
                                          <p:val>
                                            <p:strVal val="#ppt_w*0.70"/>
                                          </p:val>
                                        </p:tav>
                                        <p:tav tm="100000">
                                          <p:val>
                                            <p:strVal val="#ppt_w"/>
                                          </p:val>
                                        </p:tav>
                                      </p:tavLst>
                                    </p:anim>
                                    <p:anim calcmode="lin" valueType="num">
                                      <p:cBhvr>
                                        <p:cTn id="65" dur="1000" fill="hold"/>
                                        <p:tgtEl>
                                          <p:spTgt spid="1372165">
                                            <p:txEl>
                                              <p:pRg st="9" end="9"/>
                                            </p:txEl>
                                          </p:spTgt>
                                        </p:tgtEl>
                                        <p:attrNameLst>
                                          <p:attrName>ppt_h</p:attrName>
                                        </p:attrNameLst>
                                      </p:cBhvr>
                                      <p:tavLst>
                                        <p:tav tm="0">
                                          <p:val>
                                            <p:strVal val="#ppt_h"/>
                                          </p:val>
                                        </p:tav>
                                        <p:tav tm="100000">
                                          <p:val>
                                            <p:strVal val="#ppt_h"/>
                                          </p:val>
                                        </p:tav>
                                      </p:tavLst>
                                    </p:anim>
                                    <p:animEffect transition="in" filter="fade">
                                      <p:cBhvr>
                                        <p:cTn id="66" dur="1000"/>
                                        <p:tgtEl>
                                          <p:spTgt spid="1372165">
                                            <p:txEl>
                                              <p:pRg st="9" end="9"/>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5" presetClass="entr" presetSubtype="0" fill="hold" nodeType="clickEffect">
                                  <p:stCondLst>
                                    <p:cond delay="0"/>
                                  </p:stCondLst>
                                  <p:childTnLst>
                                    <p:set>
                                      <p:cBhvr>
                                        <p:cTn id="70" dur="1" fill="hold">
                                          <p:stCondLst>
                                            <p:cond delay="0"/>
                                          </p:stCondLst>
                                        </p:cTn>
                                        <p:tgtEl>
                                          <p:spTgt spid="1372165">
                                            <p:txEl>
                                              <p:pRg st="10" end="10"/>
                                            </p:txEl>
                                          </p:spTgt>
                                        </p:tgtEl>
                                        <p:attrNameLst>
                                          <p:attrName>style.visibility</p:attrName>
                                        </p:attrNameLst>
                                      </p:cBhvr>
                                      <p:to>
                                        <p:strVal val="visible"/>
                                      </p:to>
                                    </p:set>
                                    <p:anim calcmode="lin" valueType="num">
                                      <p:cBhvr>
                                        <p:cTn id="71" dur="1000" fill="hold"/>
                                        <p:tgtEl>
                                          <p:spTgt spid="1372165">
                                            <p:txEl>
                                              <p:pRg st="10" end="10"/>
                                            </p:txEl>
                                          </p:spTgt>
                                        </p:tgtEl>
                                        <p:attrNameLst>
                                          <p:attrName>ppt_w</p:attrName>
                                        </p:attrNameLst>
                                      </p:cBhvr>
                                      <p:tavLst>
                                        <p:tav tm="0">
                                          <p:val>
                                            <p:strVal val="#ppt_w*0.70"/>
                                          </p:val>
                                        </p:tav>
                                        <p:tav tm="100000">
                                          <p:val>
                                            <p:strVal val="#ppt_w"/>
                                          </p:val>
                                        </p:tav>
                                      </p:tavLst>
                                    </p:anim>
                                    <p:anim calcmode="lin" valueType="num">
                                      <p:cBhvr>
                                        <p:cTn id="72" dur="1000" fill="hold"/>
                                        <p:tgtEl>
                                          <p:spTgt spid="1372165">
                                            <p:txEl>
                                              <p:pRg st="10" end="10"/>
                                            </p:txEl>
                                          </p:spTgt>
                                        </p:tgtEl>
                                        <p:attrNameLst>
                                          <p:attrName>ppt_h</p:attrName>
                                        </p:attrNameLst>
                                      </p:cBhvr>
                                      <p:tavLst>
                                        <p:tav tm="0">
                                          <p:val>
                                            <p:strVal val="#ppt_h"/>
                                          </p:val>
                                        </p:tav>
                                        <p:tav tm="100000">
                                          <p:val>
                                            <p:strVal val="#ppt_h"/>
                                          </p:val>
                                        </p:tav>
                                      </p:tavLst>
                                    </p:anim>
                                    <p:animEffect transition="in" filter="fade">
                                      <p:cBhvr>
                                        <p:cTn id="73" dur="1000"/>
                                        <p:tgtEl>
                                          <p:spTgt spid="137216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6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210" name="Rectangle 2">
            <a:extLst>
              <a:ext uri="{FF2B5EF4-FFF2-40B4-BE49-F238E27FC236}">
                <a16:creationId xmlns:a16="http://schemas.microsoft.com/office/drawing/2014/main" id="{ABC8FB1F-F5B6-BB1D-8806-946FE48E92AE}"/>
              </a:ext>
            </a:extLst>
          </p:cNvPr>
          <p:cNvSpPr>
            <a:spLocks noChangeArrowheads="1"/>
          </p:cNvSpPr>
          <p:nvPr/>
        </p:nvSpPr>
        <p:spPr bwMode="auto">
          <a:xfrm>
            <a:off x="7019926" y="4117976"/>
            <a:ext cx="2576513" cy="682625"/>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74211" name="Rectangle 3">
            <a:extLst>
              <a:ext uri="{FF2B5EF4-FFF2-40B4-BE49-F238E27FC236}">
                <a16:creationId xmlns:a16="http://schemas.microsoft.com/office/drawing/2014/main" id="{90F5DBFF-0585-5C0A-3664-0A5369F5B13F}"/>
              </a:ext>
            </a:extLst>
          </p:cNvPr>
          <p:cNvSpPr>
            <a:spLocks noChangeArrowheads="1"/>
          </p:cNvSpPr>
          <p:nvPr/>
        </p:nvSpPr>
        <p:spPr bwMode="auto">
          <a:xfrm>
            <a:off x="7015163" y="2746376"/>
            <a:ext cx="2576512" cy="682625"/>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7412" name="Rectangle 4">
            <a:extLst>
              <a:ext uri="{FF2B5EF4-FFF2-40B4-BE49-F238E27FC236}">
                <a16:creationId xmlns:a16="http://schemas.microsoft.com/office/drawing/2014/main" id="{9F149AA7-4A1F-E5AF-6504-E479EEBED08E}"/>
              </a:ext>
            </a:extLst>
          </p:cNvPr>
          <p:cNvSpPr>
            <a:spLocks noChangeArrowheads="1"/>
          </p:cNvSpPr>
          <p:nvPr/>
        </p:nvSpPr>
        <p:spPr bwMode="auto">
          <a:xfrm>
            <a:off x="1955800" y="56927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7413" name="Rectangle 5">
            <a:extLst>
              <a:ext uri="{FF2B5EF4-FFF2-40B4-BE49-F238E27FC236}">
                <a16:creationId xmlns:a16="http://schemas.microsoft.com/office/drawing/2014/main" id="{D128377B-6A02-D490-3A5A-DEAB9B967B1F}"/>
              </a:ext>
            </a:extLst>
          </p:cNvPr>
          <p:cNvSpPr>
            <a:spLocks noChangeArrowheads="1"/>
          </p:cNvSpPr>
          <p:nvPr/>
        </p:nvSpPr>
        <p:spPr bwMode="auto">
          <a:xfrm>
            <a:off x="4648200" y="56927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7414" name="Rectangle 6">
            <a:extLst>
              <a:ext uri="{FF2B5EF4-FFF2-40B4-BE49-F238E27FC236}">
                <a16:creationId xmlns:a16="http://schemas.microsoft.com/office/drawing/2014/main" id="{BF4047E8-3625-0A4F-DE23-EBA5F6EDF55C}"/>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Indirect Addressing Diagram</a:t>
            </a:r>
          </a:p>
        </p:txBody>
      </p:sp>
      <p:grpSp>
        <p:nvGrpSpPr>
          <p:cNvPr id="17415" name="Group 7">
            <a:extLst>
              <a:ext uri="{FF2B5EF4-FFF2-40B4-BE49-F238E27FC236}">
                <a16:creationId xmlns:a16="http://schemas.microsoft.com/office/drawing/2014/main" id="{FDFEFB62-47D8-F045-5399-37287918A4F0}"/>
              </a:ext>
            </a:extLst>
          </p:cNvPr>
          <p:cNvGrpSpPr>
            <a:grpSpLocks/>
          </p:cNvGrpSpPr>
          <p:nvPr/>
        </p:nvGrpSpPr>
        <p:grpSpPr bwMode="auto">
          <a:xfrm>
            <a:off x="2057401" y="1828800"/>
            <a:ext cx="4722813" cy="604838"/>
            <a:chOff x="336" y="1490"/>
            <a:chExt cx="2975" cy="381"/>
          </a:xfrm>
        </p:grpSpPr>
        <p:sp>
          <p:nvSpPr>
            <p:cNvPr id="17429" name="Rectangle 8">
              <a:extLst>
                <a:ext uri="{FF2B5EF4-FFF2-40B4-BE49-F238E27FC236}">
                  <a16:creationId xmlns:a16="http://schemas.microsoft.com/office/drawing/2014/main" id="{5F32A7CE-72C0-725A-4A6A-BA1CF1ED0BF5}"/>
                </a:ext>
              </a:extLst>
            </p:cNvPr>
            <p:cNvSpPr>
              <a:spLocks noChangeArrowheads="1"/>
            </p:cNvSpPr>
            <p:nvPr/>
          </p:nvSpPr>
          <p:spPr bwMode="auto">
            <a:xfrm>
              <a:off x="336" y="1490"/>
              <a:ext cx="2975" cy="381"/>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7430" name="Line 9">
              <a:extLst>
                <a:ext uri="{FF2B5EF4-FFF2-40B4-BE49-F238E27FC236}">
                  <a16:creationId xmlns:a16="http://schemas.microsoft.com/office/drawing/2014/main" id="{2263CB7B-F4A9-7B3B-2E0B-126D479D9B27}"/>
                </a:ext>
              </a:extLst>
            </p:cNvPr>
            <p:cNvSpPr>
              <a:spLocks noChangeShapeType="1"/>
            </p:cNvSpPr>
            <p:nvPr/>
          </p:nvSpPr>
          <p:spPr bwMode="auto">
            <a:xfrm>
              <a:off x="960" y="1495"/>
              <a:ext cx="0" cy="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sp>
        <p:nvSpPr>
          <p:cNvPr id="17416" name="Rectangle 10">
            <a:extLst>
              <a:ext uri="{FF2B5EF4-FFF2-40B4-BE49-F238E27FC236}">
                <a16:creationId xmlns:a16="http://schemas.microsoft.com/office/drawing/2014/main" id="{E998ADFE-8C05-0027-1CDD-F7B20A815D94}"/>
              </a:ext>
            </a:extLst>
          </p:cNvPr>
          <p:cNvSpPr>
            <a:spLocks noChangeArrowheads="1"/>
          </p:cNvSpPr>
          <p:nvPr/>
        </p:nvSpPr>
        <p:spPr bwMode="auto">
          <a:xfrm>
            <a:off x="4191001" y="1905000"/>
            <a:ext cx="147540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Address A</a:t>
            </a:r>
          </a:p>
        </p:txBody>
      </p:sp>
      <p:sp>
        <p:nvSpPr>
          <p:cNvPr id="17417" name="Rectangle 11">
            <a:extLst>
              <a:ext uri="{FF2B5EF4-FFF2-40B4-BE49-F238E27FC236}">
                <a16:creationId xmlns:a16="http://schemas.microsoft.com/office/drawing/2014/main" id="{4D86A4E0-51FE-F8DC-D0D7-90F855585555}"/>
              </a:ext>
            </a:extLst>
          </p:cNvPr>
          <p:cNvSpPr>
            <a:spLocks noChangeArrowheads="1"/>
          </p:cNvSpPr>
          <p:nvPr/>
        </p:nvSpPr>
        <p:spPr bwMode="auto">
          <a:xfrm>
            <a:off x="1981201" y="1905000"/>
            <a:ext cx="113973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Opcode</a:t>
            </a:r>
          </a:p>
        </p:txBody>
      </p:sp>
      <p:sp>
        <p:nvSpPr>
          <p:cNvPr id="17418" name="Rectangle 12">
            <a:extLst>
              <a:ext uri="{FF2B5EF4-FFF2-40B4-BE49-F238E27FC236}">
                <a16:creationId xmlns:a16="http://schemas.microsoft.com/office/drawing/2014/main" id="{6B49656F-CABF-6A33-5B38-613C59632835}"/>
              </a:ext>
            </a:extLst>
          </p:cNvPr>
          <p:cNvSpPr>
            <a:spLocks noChangeArrowheads="1"/>
          </p:cNvSpPr>
          <p:nvPr/>
        </p:nvSpPr>
        <p:spPr bwMode="auto">
          <a:xfrm>
            <a:off x="3733801" y="1371600"/>
            <a:ext cx="151483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Instruction</a:t>
            </a:r>
          </a:p>
        </p:txBody>
      </p:sp>
      <p:sp>
        <p:nvSpPr>
          <p:cNvPr id="17419" name="Rectangle 13">
            <a:extLst>
              <a:ext uri="{FF2B5EF4-FFF2-40B4-BE49-F238E27FC236}">
                <a16:creationId xmlns:a16="http://schemas.microsoft.com/office/drawing/2014/main" id="{07C09ED8-980B-A3D9-2E44-115AEA11793D}"/>
              </a:ext>
            </a:extLst>
          </p:cNvPr>
          <p:cNvSpPr>
            <a:spLocks noChangeArrowheads="1"/>
          </p:cNvSpPr>
          <p:nvPr/>
        </p:nvSpPr>
        <p:spPr bwMode="auto">
          <a:xfrm>
            <a:off x="7010401" y="27432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7420" name="Rectangle 14">
            <a:extLst>
              <a:ext uri="{FF2B5EF4-FFF2-40B4-BE49-F238E27FC236}">
                <a16:creationId xmlns:a16="http://schemas.microsoft.com/office/drawing/2014/main" id="{F13FE720-A895-1110-E13A-8B486EBA6BC6}"/>
              </a:ext>
            </a:extLst>
          </p:cNvPr>
          <p:cNvSpPr>
            <a:spLocks noChangeArrowheads="1"/>
          </p:cNvSpPr>
          <p:nvPr/>
        </p:nvSpPr>
        <p:spPr bwMode="auto">
          <a:xfrm>
            <a:off x="7010401" y="34290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7421" name="Rectangle 15">
            <a:extLst>
              <a:ext uri="{FF2B5EF4-FFF2-40B4-BE49-F238E27FC236}">
                <a16:creationId xmlns:a16="http://schemas.microsoft.com/office/drawing/2014/main" id="{04774A03-6A51-B4A2-AC10-3595E76D43DF}"/>
              </a:ext>
            </a:extLst>
          </p:cNvPr>
          <p:cNvSpPr>
            <a:spLocks noChangeArrowheads="1"/>
          </p:cNvSpPr>
          <p:nvPr/>
        </p:nvSpPr>
        <p:spPr bwMode="auto">
          <a:xfrm>
            <a:off x="7010401" y="41148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7422" name="Rectangle 16">
            <a:extLst>
              <a:ext uri="{FF2B5EF4-FFF2-40B4-BE49-F238E27FC236}">
                <a16:creationId xmlns:a16="http://schemas.microsoft.com/office/drawing/2014/main" id="{4D3EB288-5F16-6175-689D-5A8C1ACA0308}"/>
              </a:ext>
            </a:extLst>
          </p:cNvPr>
          <p:cNvSpPr>
            <a:spLocks noChangeArrowheads="1"/>
          </p:cNvSpPr>
          <p:nvPr/>
        </p:nvSpPr>
        <p:spPr bwMode="auto">
          <a:xfrm>
            <a:off x="7010401" y="48006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7423" name="Rectangle 17">
            <a:extLst>
              <a:ext uri="{FF2B5EF4-FFF2-40B4-BE49-F238E27FC236}">
                <a16:creationId xmlns:a16="http://schemas.microsoft.com/office/drawing/2014/main" id="{E463673D-4674-EDE0-AD83-8C764C01449D}"/>
              </a:ext>
            </a:extLst>
          </p:cNvPr>
          <p:cNvSpPr>
            <a:spLocks noChangeArrowheads="1"/>
          </p:cNvSpPr>
          <p:nvPr/>
        </p:nvSpPr>
        <p:spPr bwMode="auto">
          <a:xfrm>
            <a:off x="7010401" y="54864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7424" name="Rectangle 18">
            <a:extLst>
              <a:ext uri="{FF2B5EF4-FFF2-40B4-BE49-F238E27FC236}">
                <a16:creationId xmlns:a16="http://schemas.microsoft.com/office/drawing/2014/main" id="{D2D72E1D-9478-87E9-4F26-C1D26A738380}"/>
              </a:ext>
            </a:extLst>
          </p:cNvPr>
          <p:cNvSpPr>
            <a:spLocks noChangeArrowheads="1"/>
          </p:cNvSpPr>
          <p:nvPr/>
        </p:nvSpPr>
        <p:spPr bwMode="auto">
          <a:xfrm>
            <a:off x="7543801" y="2209800"/>
            <a:ext cx="124232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Memory</a:t>
            </a:r>
          </a:p>
        </p:txBody>
      </p:sp>
      <p:sp>
        <p:nvSpPr>
          <p:cNvPr id="1374227" name="Rectangle 19">
            <a:extLst>
              <a:ext uri="{FF2B5EF4-FFF2-40B4-BE49-F238E27FC236}">
                <a16:creationId xmlns:a16="http://schemas.microsoft.com/office/drawing/2014/main" id="{B6464247-A02E-A08A-146B-97DE60692A0F}"/>
              </a:ext>
            </a:extLst>
          </p:cNvPr>
          <p:cNvSpPr>
            <a:spLocks noChangeArrowheads="1"/>
          </p:cNvSpPr>
          <p:nvPr/>
        </p:nvSpPr>
        <p:spPr bwMode="auto">
          <a:xfrm>
            <a:off x="7696201" y="4267200"/>
            <a:ext cx="124232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Operand</a:t>
            </a:r>
          </a:p>
        </p:txBody>
      </p:sp>
      <p:sp>
        <p:nvSpPr>
          <p:cNvPr id="1374228" name="Freeform 20">
            <a:extLst>
              <a:ext uri="{FF2B5EF4-FFF2-40B4-BE49-F238E27FC236}">
                <a16:creationId xmlns:a16="http://schemas.microsoft.com/office/drawing/2014/main" id="{562D6262-DE66-F2C0-709D-AEB6D903B50C}"/>
              </a:ext>
            </a:extLst>
          </p:cNvPr>
          <p:cNvSpPr>
            <a:spLocks/>
          </p:cNvSpPr>
          <p:nvPr/>
        </p:nvSpPr>
        <p:spPr bwMode="auto">
          <a:xfrm>
            <a:off x="4419600" y="2435226"/>
            <a:ext cx="2590800" cy="650875"/>
          </a:xfrm>
          <a:custGeom>
            <a:avLst/>
            <a:gdLst>
              <a:gd name="T0" fmla="*/ 0 w 1632"/>
              <a:gd name="T1" fmla="*/ 0 h 410"/>
              <a:gd name="T2" fmla="*/ 0 w 1632"/>
              <a:gd name="T3" fmla="*/ 2147483646 h 410"/>
              <a:gd name="T4" fmla="*/ 2147483646 w 1632"/>
              <a:gd name="T5" fmla="*/ 2147483646 h 410"/>
              <a:gd name="T6" fmla="*/ 0 60000 65536"/>
              <a:gd name="T7" fmla="*/ 0 60000 65536"/>
              <a:gd name="T8" fmla="*/ 0 60000 65536"/>
              <a:gd name="T9" fmla="*/ 0 w 1632"/>
              <a:gd name="T10" fmla="*/ 0 h 410"/>
              <a:gd name="T11" fmla="*/ 1632 w 1632"/>
              <a:gd name="T12" fmla="*/ 410 h 410"/>
            </a:gdLst>
            <a:ahLst/>
            <a:cxnLst>
              <a:cxn ang="T6">
                <a:pos x="T0" y="T1"/>
              </a:cxn>
              <a:cxn ang="T7">
                <a:pos x="T2" y="T3"/>
              </a:cxn>
              <a:cxn ang="T8">
                <a:pos x="T4" y="T5"/>
              </a:cxn>
            </a:cxnLst>
            <a:rect l="T9" t="T10" r="T11" b="T12"/>
            <a:pathLst>
              <a:path w="1632" h="410">
                <a:moveTo>
                  <a:pt x="0" y="0"/>
                </a:moveTo>
                <a:lnTo>
                  <a:pt x="0" y="409"/>
                </a:lnTo>
                <a:lnTo>
                  <a:pt x="1631" y="409"/>
                </a:lnTo>
              </a:path>
            </a:pathLst>
          </a:custGeom>
          <a:noFill/>
          <a:ln w="28575" cap="rnd"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1374229" name="Rectangle 21">
            <a:extLst>
              <a:ext uri="{FF2B5EF4-FFF2-40B4-BE49-F238E27FC236}">
                <a16:creationId xmlns:a16="http://schemas.microsoft.com/office/drawing/2014/main" id="{977EF599-104A-7D5E-96D7-B8F2097959D5}"/>
              </a:ext>
            </a:extLst>
          </p:cNvPr>
          <p:cNvSpPr>
            <a:spLocks noChangeArrowheads="1"/>
          </p:cNvSpPr>
          <p:nvPr/>
        </p:nvSpPr>
        <p:spPr bwMode="auto">
          <a:xfrm>
            <a:off x="7110414" y="2870200"/>
            <a:ext cx="245419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Pointer to operand</a:t>
            </a:r>
          </a:p>
        </p:txBody>
      </p:sp>
      <p:sp>
        <p:nvSpPr>
          <p:cNvPr id="1374230" name="Freeform 22">
            <a:extLst>
              <a:ext uri="{FF2B5EF4-FFF2-40B4-BE49-F238E27FC236}">
                <a16:creationId xmlns:a16="http://schemas.microsoft.com/office/drawing/2014/main" id="{492B0BDE-0B0C-47A8-CC6C-38D2B7BADD47}"/>
              </a:ext>
            </a:extLst>
          </p:cNvPr>
          <p:cNvSpPr>
            <a:spLocks/>
          </p:cNvSpPr>
          <p:nvPr/>
        </p:nvSpPr>
        <p:spPr bwMode="auto">
          <a:xfrm>
            <a:off x="9599614" y="3084514"/>
            <a:ext cx="230187" cy="1373187"/>
          </a:xfrm>
          <a:custGeom>
            <a:avLst/>
            <a:gdLst>
              <a:gd name="T0" fmla="*/ 0 w 145"/>
              <a:gd name="T1" fmla="*/ 0 h 865"/>
              <a:gd name="T2" fmla="*/ 2147483646 w 145"/>
              <a:gd name="T3" fmla="*/ 0 h 865"/>
              <a:gd name="T4" fmla="*/ 2147483646 w 145"/>
              <a:gd name="T5" fmla="*/ 2147483646 h 865"/>
              <a:gd name="T6" fmla="*/ 2147483646 w 145"/>
              <a:gd name="T7" fmla="*/ 2147483646 h 865"/>
              <a:gd name="T8" fmla="*/ 0 60000 65536"/>
              <a:gd name="T9" fmla="*/ 0 60000 65536"/>
              <a:gd name="T10" fmla="*/ 0 60000 65536"/>
              <a:gd name="T11" fmla="*/ 0 60000 65536"/>
              <a:gd name="T12" fmla="*/ 0 w 145"/>
              <a:gd name="T13" fmla="*/ 0 h 865"/>
              <a:gd name="T14" fmla="*/ 145 w 145"/>
              <a:gd name="T15" fmla="*/ 865 h 865"/>
            </a:gdLst>
            <a:ahLst/>
            <a:cxnLst>
              <a:cxn ang="T8">
                <a:pos x="T0" y="T1"/>
              </a:cxn>
              <a:cxn ang="T9">
                <a:pos x="T2" y="T3"/>
              </a:cxn>
              <a:cxn ang="T10">
                <a:pos x="T4" y="T5"/>
              </a:cxn>
              <a:cxn ang="T11">
                <a:pos x="T6" y="T7"/>
              </a:cxn>
            </a:cxnLst>
            <a:rect l="T12" t="T13" r="T14" b="T15"/>
            <a:pathLst>
              <a:path w="145" h="865">
                <a:moveTo>
                  <a:pt x="0" y="0"/>
                </a:moveTo>
                <a:lnTo>
                  <a:pt x="144" y="0"/>
                </a:lnTo>
                <a:lnTo>
                  <a:pt x="144" y="864"/>
                </a:lnTo>
                <a:lnTo>
                  <a:pt x="1" y="864"/>
                </a:lnTo>
              </a:path>
            </a:pathLst>
          </a:custGeom>
          <a:noFill/>
          <a:ln w="28575" cap="rnd"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74228"/>
                                        </p:tgtEl>
                                        <p:attrNameLst>
                                          <p:attrName>style.visibility</p:attrName>
                                        </p:attrNameLst>
                                      </p:cBhvr>
                                      <p:to>
                                        <p:strVal val="visible"/>
                                      </p:to>
                                    </p:set>
                                    <p:anim calcmode="lin" valueType="num">
                                      <p:cBhvr>
                                        <p:cTn id="7" dur="1000" fill="hold"/>
                                        <p:tgtEl>
                                          <p:spTgt spid="1374228"/>
                                        </p:tgtEl>
                                        <p:attrNameLst>
                                          <p:attrName>ppt_w</p:attrName>
                                        </p:attrNameLst>
                                      </p:cBhvr>
                                      <p:tavLst>
                                        <p:tav tm="0">
                                          <p:val>
                                            <p:strVal val="#ppt_w*0.70"/>
                                          </p:val>
                                        </p:tav>
                                        <p:tav tm="100000">
                                          <p:val>
                                            <p:strVal val="#ppt_w"/>
                                          </p:val>
                                        </p:tav>
                                      </p:tavLst>
                                    </p:anim>
                                    <p:anim calcmode="lin" valueType="num">
                                      <p:cBhvr>
                                        <p:cTn id="8" dur="1000" fill="hold"/>
                                        <p:tgtEl>
                                          <p:spTgt spid="1374228"/>
                                        </p:tgtEl>
                                        <p:attrNameLst>
                                          <p:attrName>ppt_h</p:attrName>
                                        </p:attrNameLst>
                                      </p:cBhvr>
                                      <p:tavLst>
                                        <p:tav tm="0">
                                          <p:val>
                                            <p:strVal val="#ppt_h"/>
                                          </p:val>
                                        </p:tav>
                                        <p:tav tm="100000">
                                          <p:val>
                                            <p:strVal val="#ppt_h"/>
                                          </p:val>
                                        </p:tav>
                                      </p:tavLst>
                                    </p:anim>
                                    <p:animEffect transition="in" filter="fade">
                                      <p:cBhvr>
                                        <p:cTn id="9" dur="1000"/>
                                        <p:tgtEl>
                                          <p:spTgt spid="137422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74229"/>
                                        </p:tgtEl>
                                        <p:attrNameLst>
                                          <p:attrName>style.visibility</p:attrName>
                                        </p:attrNameLst>
                                      </p:cBhvr>
                                      <p:to>
                                        <p:strVal val="visible"/>
                                      </p:to>
                                    </p:set>
                                    <p:anim calcmode="lin" valueType="num">
                                      <p:cBhvr>
                                        <p:cTn id="14" dur="2000" fill="hold"/>
                                        <p:tgtEl>
                                          <p:spTgt spid="1374229"/>
                                        </p:tgtEl>
                                        <p:attrNameLst>
                                          <p:attrName>ppt_w</p:attrName>
                                        </p:attrNameLst>
                                      </p:cBhvr>
                                      <p:tavLst>
                                        <p:tav tm="0">
                                          <p:val>
                                            <p:strVal val="#ppt_w*0.70"/>
                                          </p:val>
                                        </p:tav>
                                        <p:tav tm="100000">
                                          <p:val>
                                            <p:strVal val="#ppt_w"/>
                                          </p:val>
                                        </p:tav>
                                      </p:tavLst>
                                    </p:anim>
                                    <p:anim calcmode="lin" valueType="num">
                                      <p:cBhvr>
                                        <p:cTn id="15" dur="2000" fill="hold"/>
                                        <p:tgtEl>
                                          <p:spTgt spid="1374229"/>
                                        </p:tgtEl>
                                        <p:attrNameLst>
                                          <p:attrName>ppt_h</p:attrName>
                                        </p:attrNameLst>
                                      </p:cBhvr>
                                      <p:tavLst>
                                        <p:tav tm="0">
                                          <p:val>
                                            <p:strVal val="#ppt_h"/>
                                          </p:val>
                                        </p:tav>
                                        <p:tav tm="100000">
                                          <p:val>
                                            <p:strVal val="#ppt_h"/>
                                          </p:val>
                                        </p:tav>
                                      </p:tavLst>
                                    </p:anim>
                                    <p:animEffect transition="in" filter="fade">
                                      <p:cBhvr>
                                        <p:cTn id="16" dur="2000"/>
                                        <p:tgtEl>
                                          <p:spTgt spid="1374229"/>
                                        </p:tgtEl>
                                      </p:cBhvr>
                                    </p:animEffect>
                                  </p:childTnLst>
                                </p:cTn>
                              </p:par>
                              <p:par>
                                <p:cTn id="17" presetID="55" presetClass="entr" presetSubtype="0" fill="hold" nodeType="withEffect">
                                  <p:stCondLst>
                                    <p:cond delay="0"/>
                                  </p:stCondLst>
                                  <p:childTnLst>
                                    <p:set>
                                      <p:cBhvr>
                                        <p:cTn id="18" dur="1" fill="hold">
                                          <p:stCondLst>
                                            <p:cond delay="0"/>
                                          </p:stCondLst>
                                        </p:cTn>
                                        <p:tgtEl>
                                          <p:spTgt spid="1374211"/>
                                        </p:tgtEl>
                                        <p:attrNameLst>
                                          <p:attrName>style.visibility</p:attrName>
                                        </p:attrNameLst>
                                      </p:cBhvr>
                                      <p:to>
                                        <p:strVal val="visible"/>
                                      </p:to>
                                    </p:set>
                                    <p:anim calcmode="lin" valueType="num">
                                      <p:cBhvr>
                                        <p:cTn id="19" dur="2000" fill="hold"/>
                                        <p:tgtEl>
                                          <p:spTgt spid="1374211"/>
                                        </p:tgtEl>
                                        <p:attrNameLst>
                                          <p:attrName>ppt_w</p:attrName>
                                        </p:attrNameLst>
                                      </p:cBhvr>
                                      <p:tavLst>
                                        <p:tav tm="0">
                                          <p:val>
                                            <p:strVal val="#ppt_w*0.70"/>
                                          </p:val>
                                        </p:tav>
                                        <p:tav tm="100000">
                                          <p:val>
                                            <p:strVal val="#ppt_w"/>
                                          </p:val>
                                        </p:tav>
                                      </p:tavLst>
                                    </p:anim>
                                    <p:anim calcmode="lin" valueType="num">
                                      <p:cBhvr>
                                        <p:cTn id="20" dur="2000" fill="hold"/>
                                        <p:tgtEl>
                                          <p:spTgt spid="1374211"/>
                                        </p:tgtEl>
                                        <p:attrNameLst>
                                          <p:attrName>ppt_h</p:attrName>
                                        </p:attrNameLst>
                                      </p:cBhvr>
                                      <p:tavLst>
                                        <p:tav tm="0">
                                          <p:val>
                                            <p:strVal val="#ppt_h"/>
                                          </p:val>
                                        </p:tav>
                                        <p:tav tm="100000">
                                          <p:val>
                                            <p:strVal val="#ppt_h"/>
                                          </p:val>
                                        </p:tav>
                                      </p:tavLst>
                                    </p:anim>
                                    <p:animEffect transition="in" filter="fade">
                                      <p:cBhvr>
                                        <p:cTn id="21" dur="2000"/>
                                        <p:tgtEl>
                                          <p:spTgt spid="13742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5" presetClass="entr" presetSubtype="0" fill="hold" nodeType="clickEffect">
                                  <p:stCondLst>
                                    <p:cond delay="0"/>
                                  </p:stCondLst>
                                  <p:childTnLst>
                                    <p:set>
                                      <p:cBhvr>
                                        <p:cTn id="25" dur="1" fill="hold">
                                          <p:stCondLst>
                                            <p:cond delay="0"/>
                                          </p:stCondLst>
                                        </p:cTn>
                                        <p:tgtEl>
                                          <p:spTgt spid="1374230"/>
                                        </p:tgtEl>
                                        <p:attrNameLst>
                                          <p:attrName>style.visibility</p:attrName>
                                        </p:attrNameLst>
                                      </p:cBhvr>
                                      <p:to>
                                        <p:strVal val="visible"/>
                                      </p:to>
                                    </p:set>
                                    <p:anim calcmode="lin" valueType="num">
                                      <p:cBhvr>
                                        <p:cTn id="26" dur="2000" fill="hold"/>
                                        <p:tgtEl>
                                          <p:spTgt spid="1374230"/>
                                        </p:tgtEl>
                                        <p:attrNameLst>
                                          <p:attrName>ppt_w</p:attrName>
                                        </p:attrNameLst>
                                      </p:cBhvr>
                                      <p:tavLst>
                                        <p:tav tm="0">
                                          <p:val>
                                            <p:strVal val="#ppt_w*0.70"/>
                                          </p:val>
                                        </p:tav>
                                        <p:tav tm="100000">
                                          <p:val>
                                            <p:strVal val="#ppt_w"/>
                                          </p:val>
                                        </p:tav>
                                      </p:tavLst>
                                    </p:anim>
                                    <p:anim calcmode="lin" valueType="num">
                                      <p:cBhvr>
                                        <p:cTn id="27" dur="2000" fill="hold"/>
                                        <p:tgtEl>
                                          <p:spTgt spid="1374230"/>
                                        </p:tgtEl>
                                        <p:attrNameLst>
                                          <p:attrName>ppt_h</p:attrName>
                                        </p:attrNameLst>
                                      </p:cBhvr>
                                      <p:tavLst>
                                        <p:tav tm="0">
                                          <p:val>
                                            <p:strVal val="#ppt_h"/>
                                          </p:val>
                                        </p:tav>
                                        <p:tav tm="100000">
                                          <p:val>
                                            <p:strVal val="#ppt_h"/>
                                          </p:val>
                                        </p:tav>
                                      </p:tavLst>
                                    </p:anim>
                                    <p:animEffect transition="in" filter="fade">
                                      <p:cBhvr>
                                        <p:cTn id="28" dur="2000"/>
                                        <p:tgtEl>
                                          <p:spTgt spid="13742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5" presetClass="entr" presetSubtype="0" fill="hold" nodeType="clickEffect">
                                  <p:stCondLst>
                                    <p:cond delay="0"/>
                                  </p:stCondLst>
                                  <p:childTnLst>
                                    <p:set>
                                      <p:cBhvr>
                                        <p:cTn id="32" dur="1" fill="hold">
                                          <p:stCondLst>
                                            <p:cond delay="0"/>
                                          </p:stCondLst>
                                        </p:cTn>
                                        <p:tgtEl>
                                          <p:spTgt spid="1374210"/>
                                        </p:tgtEl>
                                        <p:attrNameLst>
                                          <p:attrName>style.visibility</p:attrName>
                                        </p:attrNameLst>
                                      </p:cBhvr>
                                      <p:to>
                                        <p:strVal val="visible"/>
                                      </p:to>
                                    </p:set>
                                    <p:anim calcmode="lin" valueType="num">
                                      <p:cBhvr>
                                        <p:cTn id="33" dur="2000" fill="hold"/>
                                        <p:tgtEl>
                                          <p:spTgt spid="1374210"/>
                                        </p:tgtEl>
                                        <p:attrNameLst>
                                          <p:attrName>ppt_w</p:attrName>
                                        </p:attrNameLst>
                                      </p:cBhvr>
                                      <p:tavLst>
                                        <p:tav tm="0">
                                          <p:val>
                                            <p:strVal val="#ppt_w*0.70"/>
                                          </p:val>
                                        </p:tav>
                                        <p:tav tm="100000">
                                          <p:val>
                                            <p:strVal val="#ppt_w"/>
                                          </p:val>
                                        </p:tav>
                                      </p:tavLst>
                                    </p:anim>
                                    <p:anim calcmode="lin" valueType="num">
                                      <p:cBhvr>
                                        <p:cTn id="34" dur="2000" fill="hold"/>
                                        <p:tgtEl>
                                          <p:spTgt spid="1374210"/>
                                        </p:tgtEl>
                                        <p:attrNameLst>
                                          <p:attrName>ppt_h</p:attrName>
                                        </p:attrNameLst>
                                      </p:cBhvr>
                                      <p:tavLst>
                                        <p:tav tm="0">
                                          <p:val>
                                            <p:strVal val="#ppt_h"/>
                                          </p:val>
                                        </p:tav>
                                        <p:tav tm="100000">
                                          <p:val>
                                            <p:strVal val="#ppt_h"/>
                                          </p:val>
                                        </p:tav>
                                      </p:tavLst>
                                    </p:anim>
                                    <p:animEffect transition="in" filter="fade">
                                      <p:cBhvr>
                                        <p:cTn id="35" dur="2000"/>
                                        <p:tgtEl>
                                          <p:spTgt spid="1374210"/>
                                        </p:tgtEl>
                                      </p:cBhvr>
                                    </p:animEffect>
                                  </p:childTnLst>
                                </p:cTn>
                              </p:par>
                              <p:par>
                                <p:cTn id="36" presetID="55" presetClass="entr" presetSubtype="0" fill="hold" nodeType="withEffect">
                                  <p:stCondLst>
                                    <p:cond delay="0"/>
                                  </p:stCondLst>
                                  <p:childTnLst>
                                    <p:set>
                                      <p:cBhvr>
                                        <p:cTn id="37" dur="1" fill="hold">
                                          <p:stCondLst>
                                            <p:cond delay="0"/>
                                          </p:stCondLst>
                                        </p:cTn>
                                        <p:tgtEl>
                                          <p:spTgt spid="1374227"/>
                                        </p:tgtEl>
                                        <p:attrNameLst>
                                          <p:attrName>style.visibility</p:attrName>
                                        </p:attrNameLst>
                                      </p:cBhvr>
                                      <p:to>
                                        <p:strVal val="visible"/>
                                      </p:to>
                                    </p:set>
                                    <p:anim calcmode="lin" valueType="num">
                                      <p:cBhvr>
                                        <p:cTn id="38" dur="2000" fill="hold"/>
                                        <p:tgtEl>
                                          <p:spTgt spid="1374227"/>
                                        </p:tgtEl>
                                        <p:attrNameLst>
                                          <p:attrName>ppt_w</p:attrName>
                                        </p:attrNameLst>
                                      </p:cBhvr>
                                      <p:tavLst>
                                        <p:tav tm="0">
                                          <p:val>
                                            <p:strVal val="#ppt_w*0.70"/>
                                          </p:val>
                                        </p:tav>
                                        <p:tav tm="100000">
                                          <p:val>
                                            <p:strVal val="#ppt_w"/>
                                          </p:val>
                                        </p:tav>
                                      </p:tavLst>
                                    </p:anim>
                                    <p:anim calcmode="lin" valueType="num">
                                      <p:cBhvr>
                                        <p:cTn id="39" dur="2000" fill="hold"/>
                                        <p:tgtEl>
                                          <p:spTgt spid="1374227"/>
                                        </p:tgtEl>
                                        <p:attrNameLst>
                                          <p:attrName>ppt_h</p:attrName>
                                        </p:attrNameLst>
                                      </p:cBhvr>
                                      <p:tavLst>
                                        <p:tav tm="0">
                                          <p:val>
                                            <p:strVal val="#ppt_h"/>
                                          </p:val>
                                        </p:tav>
                                        <p:tav tm="100000">
                                          <p:val>
                                            <p:strVal val="#ppt_h"/>
                                          </p:val>
                                        </p:tav>
                                      </p:tavLst>
                                    </p:anim>
                                    <p:animEffect transition="in" filter="fade">
                                      <p:cBhvr>
                                        <p:cTn id="40" dur="2000"/>
                                        <p:tgtEl>
                                          <p:spTgt spid="1374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4210" grpId="0" animBg="1"/>
      <p:bldP spid="1374211" grpId="0" animBg="1"/>
      <p:bldP spid="1374227" grpId="0"/>
      <p:bldP spid="13742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AA6D34D-E440-24ED-1D26-06927C7555E8}"/>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9459" name="Rectangle 3">
            <a:extLst>
              <a:ext uri="{FF2B5EF4-FFF2-40B4-BE49-F238E27FC236}">
                <a16:creationId xmlns:a16="http://schemas.microsoft.com/office/drawing/2014/main" id="{319C9603-08A0-6220-2E87-6B62699AEBCF}"/>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9460" name="Rectangle 4">
            <a:extLst>
              <a:ext uri="{FF2B5EF4-FFF2-40B4-BE49-F238E27FC236}">
                <a16:creationId xmlns:a16="http://schemas.microsoft.com/office/drawing/2014/main" id="{74AE29F7-F992-D16D-A0EA-F3AD959D0D92}"/>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Register Addressing (1)</a:t>
            </a:r>
          </a:p>
        </p:txBody>
      </p:sp>
      <p:sp>
        <p:nvSpPr>
          <p:cNvPr id="1376261" name="Rectangle 5">
            <a:extLst>
              <a:ext uri="{FF2B5EF4-FFF2-40B4-BE49-F238E27FC236}">
                <a16:creationId xmlns:a16="http://schemas.microsoft.com/office/drawing/2014/main" id="{DBED44ED-CC41-9C1D-66C5-551F8589BB2A}"/>
              </a:ext>
            </a:extLst>
          </p:cNvPr>
          <p:cNvSpPr>
            <a:spLocks noGrp="1" noChangeArrowheads="1"/>
          </p:cNvSpPr>
          <p:nvPr>
            <p:ph type="body" idx="1"/>
          </p:nvPr>
        </p:nvSpPr>
        <p:spPr>
          <a:noFill/>
        </p:spPr>
        <p:txBody>
          <a:bodyPr vert="horz" wrap="square" lIns="90488" tIns="44450" rIns="90488" bIns="44450" numCol="1" anchor="t" anchorCtr="0" compatLnSpc="1">
            <a:prstTxWarp prst="textNoShape">
              <a:avLst/>
            </a:prstTxWarp>
          </a:bodyPr>
          <a:lstStyle/>
          <a:p>
            <a:r>
              <a:rPr lang="en-US" altLang="en-US" sz="2400"/>
              <a:t>Operand is held in register named in address field</a:t>
            </a:r>
          </a:p>
          <a:p>
            <a:r>
              <a:rPr lang="en-US" altLang="en-US" sz="2400">
                <a:solidFill>
                  <a:srgbClr val="0000CC"/>
                </a:solidFill>
              </a:rPr>
              <a:t>EA = R</a:t>
            </a:r>
          </a:p>
          <a:p>
            <a:r>
              <a:rPr lang="en-US" altLang="en-US" sz="2400"/>
              <a:t>Limited number of registers</a:t>
            </a:r>
          </a:p>
          <a:p>
            <a:r>
              <a:rPr lang="en-US" altLang="en-US" sz="2400"/>
              <a:t>Very small address field needed </a:t>
            </a:r>
          </a:p>
          <a:p>
            <a:pPr lvl="1"/>
            <a:r>
              <a:rPr lang="en-US" altLang="en-US" sz="2000"/>
              <a:t>Shorter instructions</a:t>
            </a:r>
          </a:p>
          <a:p>
            <a:pPr lvl="1"/>
            <a:r>
              <a:rPr lang="en-US" altLang="en-US" sz="2000"/>
              <a:t>Faster instruction fetch</a:t>
            </a:r>
            <a:endParaRPr lang="tr-TR" altLang="en-US" sz="2000"/>
          </a:p>
          <a:p>
            <a:r>
              <a:rPr lang="en-US" altLang="en-US" sz="2400"/>
              <a:t>No memory access</a:t>
            </a:r>
          </a:p>
          <a:p>
            <a:r>
              <a:rPr lang="en-US" altLang="en-US" sz="2400"/>
              <a:t>Very fast execution</a:t>
            </a:r>
          </a:p>
          <a:p>
            <a:r>
              <a:rPr lang="en-US" altLang="en-US" sz="2400"/>
              <a:t>Very limited address space</a:t>
            </a:r>
          </a:p>
          <a:p>
            <a:r>
              <a:rPr lang="en-US" altLang="en-US" sz="2400"/>
              <a:t>Multiple registers helps performance</a:t>
            </a:r>
          </a:p>
          <a:p>
            <a:pPr lvl="1"/>
            <a:r>
              <a:rPr lang="en-US" altLang="en-US" sz="2000"/>
              <a:t>Requires good assembly programming or compiler writing</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76261">
                                            <p:txEl>
                                              <p:pRg st="0" end="0"/>
                                            </p:txEl>
                                          </p:spTgt>
                                        </p:tgtEl>
                                        <p:attrNameLst>
                                          <p:attrName>style.visibility</p:attrName>
                                        </p:attrNameLst>
                                      </p:cBhvr>
                                      <p:to>
                                        <p:strVal val="visible"/>
                                      </p:to>
                                    </p:set>
                                    <p:anim calcmode="lin" valueType="num">
                                      <p:cBhvr>
                                        <p:cTn id="7" dur="1000" fill="hold"/>
                                        <p:tgtEl>
                                          <p:spTgt spid="137626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7626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76261">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76261">
                                            <p:txEl>
                                              <p:pRg st="1" end="1"/>
                                            </p:txEl>
                                          </p:spTgt>
                                        </p:tgtEl>
                                        <p:attrNameLst>
                                          <p:attrName>style.visibility</p:attrName>
                                        </p:attrNameLst>
                                      </p:cBhvr>
                                      <p:to>
                                        <p:strVal val="visible"/>
                                      </p:to>
                                    </p:set>
                                    <p:anim calcmode="lin" valueType="num">
                                      <p:cBhvr>
                                        <p:cTn id="14" dur="1000" fill="hold"/>
                                        <p:tgtEl>
                                          <p:spTgt spid="1376261">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76261">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76261">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76261">
                                            <p:txEl>
                                              <p:pRg st="2" end="2"/>
                                            </p:txEl>
                                          </p:spTgt>
                                        </p:tgtEl>
                                        <p:attrNameLst>
                                          <p:attrName>style.visibility</p:attrName>
                                        </p:attrNameLst>
                                      </p:cBhvr>
                                      <p:to>
                                        <p:strVal val="visible"/>
                                      </p:to>
                                    </p:set>
                                    <p:anim calcmode="lin" valueType="num">
                                      <p:cBhvr>
                                        <p:cTn id="21" dur="1000" fill="hold"/>
                                        <p:tgtEl>
                                          <p:spTgt spid="1376261">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76261">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76261">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1376261">
                                            <p:txEl>
                                              <p:pRg st="3" end="3"/>
                                            </p:txEl>
                                          </p:spTgt>
                                        </p:tgtEl>
                                        <p:attrNameLst>
                                          <p:attrName>style.visibility</p:attrName>
                                        </p:attrNameLst>
                                      </p:cBhvr>
                                      <p:to>
                                        <p:strVal val="visible"/>
                                      </p:to>
                                    </p:set>
                                    <p:anim calcmode="lin" valueType="num">
                                      <p:cBhvr>
                                        <p:cTn id="28" dur="1000" fill="hold"/>
                                        <p:tgtEl>
                                          <p:spTgt spid="1376261">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376261">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376261">
                                            <p:txEl>
                                              <p:pRg st="3" end="3"/>
                                            </p:txEl>
                                          </p:spTgt>
                                        </p:tgtEl>
                                      </p:cBhvr>
                                    </p:animEffect>
                                  </p:childTnLst>
                                </p:cTn>
                              </p:par>
                              <p:par>
                                <p:cTn id="31" presetID="55" presetClass="entr" presetSubtype="0" fill="hold" nodeType="withEffect">
                                  <p:stCondLst>
                                    <p:cond delay="0"/>
                                  </p:stCondLst>
                                  <p:childTnLst>
                                    <p:set>
                                      <p:cBhvr>
                                        <p:cTn id="32" dur="1" fill="hold">
                                          <p:stCondLst>
                                            <p:cond delay="0"/>
                                          </p:stCondLst>
                                        </p:cTn>
                                        <p:tgtEl>
                                          <p:spTgt spid="1376261">
                                            <p:txEl>
                                              <p:pRg st="4" end="4"/>
                                            </p:txEl>
                                          </p:spTgt>
                                        </p:tgtEl>
                                        <p:attrNameLst>
                                          <p:attrName>style.visibility</p:attrName>
                                        </p:attrNameLst>
                                      </p:cBhvr>
                                      <p:to>
                                        <p:strVal val="visible"/>
                                      </p:to>
                                    </p:set>
                                    <p:anim calcmode="lin" valueType="num">
                                      <p:cBhvr>
                                        <p:cTn id="33" dur="1000" fill="hold"/>
                                        <p:tgtEl>
                                          <p:spTgt spid="1376261">
                                            <p:txEl>
                                              <p:pRg st="4" end="4"/>
                                            </p:txEl>
                                          </p:spTgt>
                                        </p:tgtEl>
                                        <p:attrNameLst>
                                          <p:attrName>ppt_w</p:attrName>
                                        </p:attrNameLst>
                                      </p:cBhvr>
                                      <p:tavLst>
                                        <p:tav tm="0">
                                          <p:val>
                                            <p:strVal val="#ppt_w*0.70"/>
                                          </p:val>
                                        </p:tav>
                                        <p:tav tm="100000">
                                          <p:val>
                                            <p:strVal val="#ppt_w"/>
                                          </p:val>
                                        </p:tav>
                                      </p:tavLst>
                                    </p:anim>
                                    <p:anim calcmode="lin" valueType="num">
                                      <p:cBhvr>
                                        <p:cTn id="34" dur="1000" fill="hold"/>
                                        <p:tgtEl>
                                          <p:spTgt spid="1376261">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1376261">
                                            <p:txEl>
                                              <p:pRg st="4" end="4"/>
                                            </p:txEl>
                                          </p:spTgt>
                                        </p:tgtEl>
                                      </p:cBhvr>
                                    </p:animEffect>
                                  </p:childTnLst>
                                </p:cTn>
                              </p:par>
                              <p:par>
                                <p:cTn id="36" presetID="55" presetClass="entr" presetSubtype="0" fill="hold" nodeType="withEffect">
                                  <p:stCondLst>
                                    <p:cond delay="0"/>
                                  </p:stCondLst>
                                  <p:childTnLst>
                                    <p:set>
                                      <p:cBhvr>
                                        <p:cTn id="37" dur="1" fill="hold">
                                          <p:stCondLst>
                                            <p:cond delay="0"/>
                                          </p:stCondLst>
                                        </p:cTn>
                                        <p:tgtEl>
                                          <p:spTgt spid="1376261">
                                            <p:txEl>
                                              <p:pRg st="5" end="5"/>
                                            </p:txEl>
                                          </p:spTgt>
                                        </p:tgtEl>
                                        <p:attrNameLst>
                                          <p:attrName>style.visibility</p:attrName>
                                        </p:attrNameLst>
                                      </p:cBhvr>
                                      <p:to>
                                        <p:strVal val="visible"/>
                                      </p:to>
                                    </p:set>
                                    <p:anim calcmode="lin" valueType="num">
                                      <p:cBhvr>
                                        <p:cTn id="38" dur="1000" fill="hold"/>
                                        <p:tgtEl>
                                          <p:spTgt spid="1376261">
                                            <p:txEl>
                                              <p:pRg st="5" end="5"/>
                                            </p:txEl>
                                          </p:spTgt>
                                        </p:tgtEl>
                                        <p:attrNameLst>
                                          <p:attrName>ppt_w</p:attrName>
                                        </p:attrNameLst>
                                      </p:cBhvr>
                                      <p:tavLst>
                                        <p:tav tm="0">
                                          <p:val>
                                            <p:strVal val="#ppt_w*0.70"/>
                                          </p:val>
                                        </p:tav>
                                        <p:tav tm="100000">
                                          <p:val>
                                            <p:strVal val="#ppt_w"/>
                                          </p:val>
                                        </p:tav>
                                      </p:tavLst>
                                    </p:anim>
                                    <p:anim calcmode="lin" valueType="num">
                                      <p:cBhvr>
                                        <p:cTn id="39" dur="1000" fill="hold"/>
                                        <p:tgtEl>
                                          <p:spTgt spid="1376261">
                                            <p:txEl>
                                              <p:pRg st="5" end="5"/>
                                            </p:txEl>
                                          </p:spTgt>
                                        </p:tgtEl>
                                        <p:attrNameLst>
                                          <p:attrName>ppt_h</p:attrName>
                                        </p:attrNameLst>
                                      </p:cBhvr>
                                      <p:tavLst>
                                        <p:tav tm="0">
                                          <p:val>
                                            <p:strVal val="#ppt_h"/>
                                          </p:val>
                                        </p:tav>
                                        <p:tav tm="100000">
                                          <p:val>
                                            <p:strVal val="#ppt_h"/>
                                          </p:val>
                                        </p:tav>
                                      </p:tavLst>
                                    </p:anim>
                                    <p:animEffect transition="in" filter="fade">
                                      <p:cBhvr>
                                        <p:cTn id="40" dur="1000"/>
                                        <p:tgtEl>
                                          <p:spTgt spid="1376261">
                                            <p:txEl>
                                              <p:pRg st="5" end="5"/>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5" presetClass="entr" presetSubtype="0" fill="hold" nodeType="clickEffect">
                                  <p:stCondLst>
                                    <p:cond delay="0"/>
                                  </p:stCondLst>
                                  <p:childTnLst>
                                    <p:set>
                                      <p:cBhvr>
                                        <p:cTn id="44" dur="1" fill="hold">
                                          <p:stCondLst>
                                            <p:cond delay="0"/>
                                          </p:stCondLst>
                                        </p:cTn>
                                        <p:tgtEl>
                                          <p:spTgt spid="1376261">
                                            <p:txEl>
                                              <p:pRg st="6" end="6"/>
                                            </p:txEl>
                                          </p:spTgt>
                                        </p:tgtEl>
                                        <p:attrNameLst>
                                          <p:attrName>style.visibility</p:attrName>
                                        </p:attrNameLst>
                                      </p:cBhvr>
                                      <p:to>
                                        <p:strVal val="visible"/>
                                      </p:to>
                                    </p:set>
                                    <p:anim calcmode="lin" valueType="num">
                                      <p:cBhvr>
                                        <p:cTn id="45" dur="1000" fill="hold"/>
                                        <p:tgtEl>
                                          <p:spTgt spid="1376261">
                                            <p:txEl>
                                              <p:pRg st="6" end="6"/>
                                            </p:txEl>
                                          </p:spTgt>
                                        </p:tgtEl>
                                        <p:attrNameLst>
                                          <p:attrName>ppt_w</p:attrName>
                                        </p:attrNameLst>
                                      </p:cBhvr>
                                      <p:tavLst>
                                        <p:tav tm="0">
                                          <p:val>
                                            <p:strVal val="#ppt_w*0.70"/>
                                          </p:val>
                                        </p:tav>
                                        <p:tav tm="100000">
                                          <p:val>
                                            <p:strVal val="#ppt_w"/>
                                          </p:val>
                                        </p:tav>
                                      </p:tavLst>
                                    </p:anim>
                                    <p:anim calcmode="lin" valueType="num">
                                      <p:cBhvr>
                                        <p:cTn id="46" dur="1000" fill="hold"/>
                                        <p:tgtEl>
                                          <p:spTgt spid="1376261">
                                            <p:txEl>
                                              <p:pRg st="6" end="6"/>
                                            </p:txEl>
                                          </p:spTgt>
                                        </p:tgtEl>
                                        <p:attrNameLst>
                                          <p:attrName>ppt_h</p:attrName>
                                        </p:attrNameLst>
                                      </p:cBhvr>
                                      <p:tavLst>
                                        <p:tav tm="0">
                                          <p:val>
                                            <p:strVal val="#ppt_h"/>
                                          </p:val>
                                        </p:tav>
                                        <p:tav tm="100000">
                                          <p:val>
                                            <p:strVal val="#ppt_h"/>
                                          </p:val>
                                        </p:tav>
                                      </p:tavLst>
                                    </p:anim>
                                    <p:animEffect transition="in" filter="fade">
                                      <p:cBhvr>
                                        <p:cTn id="47" dur="1000"/>
                                        <p:tgtEl>
                                          <p:spTgt spid="1376261">
                                            <p:txEl>
                                              <p:pRg st="6" end="6"/>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5" presetClass="entr" presetSubtype="0" fill="hold" nodeType="clickEffect">
                                  <p:stCondLst>
                                    <p:cond delay="0"/>
                                  </p:stCondLst>
                                  <p:childTnLst>
                                    <p:set>
                                      <p:cBhvr>
                                        <p:cTn id="51" dur="1" fill="hold">
                                          <p:stCondLst>
                                            <p:cond delay="0"/>
                                          </p:stCondLst>
                                        </p:cTn>
                                        <p:tgtEl>
                                          <p:spTgt spid="1376261">
                                            <p:txEl>
                                              <p:pRg st="7" end="7"/>
                                            </p:txEl>
                                          </p:spTgt>
                                        </p:tgtEl>
                                        <p:attrNameLst>
                                          <p:attrName>style.visibility</p:attrName>
                                        </p:attrNameLst>
                                      </p:cBhvr>
                                      <p:to>
                                        <p:strVal val="visible"/>
                                      </p:to>
                                    </p:set>
                                    <p:anim calcmode="lin" valueType="num">
                                      <p:cBhvr>
                                        <p:cTn id="52" dur="1000" fill="hold"/>
                                        <p:tgtEl>
                                          <p:spTgt spid="1376261">
                                            <p:txEl>
                                              <p:pRg st="7" end="7"/>
                                            </p:txEl>
                                          </p:spTgt>
                                        </p:tgtEl>
                                        <p:attrNameLst>
                                          <p:attrName>ppt_w</p:attrName>
                                        </p:attrNameLst>
                                      </p:cBhvr>
                                      <p:tavLst>
                                        <p:tav tm="0">
                                          <p:val>
                                            <p:strVal val="#ppt_w*0.70"/>
                                          </p:val>
                                        </p:tav>
                                        <p:tav tm="100000">
                                          <p:val>
                                            <p:strVal val="#ppt_w"/>
                                          </p:val>
                                        </p:tav>
                                      </p:tavLst>
                                    </p:anim>
                                    <p:anim calcmode="lin" valueType="num">
                                      <p:cBhvr>
                                        <p:cTn id="53" dur="1000" fill="hold"/>
                                        <p:tgtEl>
                                          <p:spTgt spid="1376261">
                                            <p:txEl>
                                              <p:pRg st="7" end="7"/>
                                            </p:txEl>
                                          </p:spTgt>
                                        </p:tgtEl>
                                        <p:attrNameLst>
                                          <p:attrName>ppt_h</p:attrName>
                                        </p:attrNameLst>
                                      </p:cBhvr>
                                      <p:tavLst>
                                        <p:tav tm="0">
                                          <p:val>
                                            <p:strVal val="#ppt_h"/>
                                          </p:val>
                                        </p:tav>
                                        <p:tav tm="100000">
                                          <p:val>
                                            <p:strVal val="#ppt_h"/>
                                          </p:val>
                                        </p:tav>
                                      </p:tavLst>
                                    </p:anim>
                                    <p:animEffect transition="in" filter="fade">
                                      <p:cBhvr>
                                        <p:cTn id="54" dur="1000"/>
                                        <p:tgtEl>
                                          <p:spTgt spid="1376261">
                                            <p:txEl>
                                              <p:pRg st="7" end="7"/>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5" presetClass="entr" presetSubtype="0" fill="hold" nodeType="clickEffect">
                                  <p:stCondLst>
                                    <p:cond delay="0"/>
                                  </p:stCondLst>
                                  <p:childTnLst>
                                    <p:set>
                                      <p:cBhvr>
                                        <p:cTn id="58" dur="1" fill="hold">
                                          <p:stCondLst>
                                            <p:cond delay="0"/>
                                          </p:stCondLst>
                                        </p:cTn>
                                        <p:tgtEl>
                                          <p:spTgt spid="1376261">
                                            <p:txEl>
                                              <p:pRg st="8" end="8"/>
                                            </p:txEl>
                                          </p:spTgt>
                                        </p:tgtEl>
                                        <p:attrNameLst>
                                          <p:attrName>style.visibility</p:attrName>
                                        </p:attrNameLst>
                                      </p:cBhvr>
                                      <p:to>
                                        <p:strVal val="visible"/>
                                      </p:to>
                                    </p:set>
                                    <p:anim calcmode="lin" valueType="num">
                                      <p:cBhvr>
                                        <p:cTn id="59" dur="1000" fill="hold"/>
                                        <p:tgtEl>
                                          <p:spTgt spid="1376261">
                                            <p:txEl>
                                              <p:pRg st="8" end="8"/>
                                            </p:txEl>
                                          </p:spTgt>
                                        </p:tgtEl>
                                        <p:attrNameLst>
                                          <p:attrName>ppt_w</p:attrName>
                                        </p:attrNameLst>
                                      </p:cBhvr>
                                      <p:tavLst>
                                        <p:tav tm="0">
                                          <p:val>
                                            <p:strVal val="#ppt_w*0.70"/>
                                          </p:val>
                                        </p:tav>
                                        <p:tav tm="100000">
                                          <p:val>
                                            <p:strVal val="#ppt_w"/>
                                          </p:val>
                                        </p:tav>
                                      </p:tavLst>
                                    </p:anim>
                                    <p:anim calcmode="lin" valueType="num">
                                      <p:cBhvr>
                                        <p:cTn id="60" dur="1000" fill="hold"/>
                                        <p:tgtEl>
                                          <p:spTgt spid="1376261">
                                            <p:txEl>
                                              <p:pRg st="8" end="8"/>
                                            </p:txEl>
                                          </p:spTgt>
                                        </p:tgtEl>
                                        <p:attrNameLst>
                                          <p:attrName>ppt_h</p:attrName>
                                        </p:attrNameLst>
                                      </p:cBhvr>
                                      <p:tavLst>
                                        <p:tav tm="0">
                                          <p:val>
                                            <p:strVal val="#ppt_h"/>
                                          </p:val>
                                        </p:tav>
                                        <p:tav tm="100000">
                                          <p:val>
                                            <p:strVal val="#ppt_h"/>
                                          </p:val>
                                        </p:tav>
                                      </p:tavLst>
                                    </p:anim>
                                    <p:animEffect transition="in" filter="fade">
                                      <p:cBhvr>
                                        <p:cTn id="61" dur="1000"/>
                                        <p:tgtEl>
                                          <p:spTgt spid="1376261">
                                            <p:txEl>
                                              <p:pRg st="8" end="8"/>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5" presetClass="entr" presetSubtype="0" fill="hold" nodeType="clickEffect">
                                  <p:stCondLst>
                                    <p:cond delay="0"/>
                                  </p:stCondLst>
                                  <p:childTnLst>
                                    <p:set>
                                      <p:cBhvr>
                                        <p:cTn id="65" dur="1" fill="hold">
                                          <p:stCondLst>
                                            <p:cond delay="0"/>
                                          </p:stCondLst>
                                        </p:cTn>
                                        <p:tgtEl>
                                          <p:spTgt spid="1376261">
                                            <p:txEl>
                                              <p:pRg st="9" end="9"/>
                                            </p:txEl>
                                          </p:spTgt>
                                        </p:tgtEl>
                                        <p:attrNameLst>
                                          <p:attrName>style.visibility</p:attrName>
                                        </p:attrNameLst>
                                      </p:cBhvr>
                                      <p:to>
                                        <p:strVal val="visible"/>
                                      </p:to>
                                    </p:set>
                                    <p:anim calcmode="lin" valueType="num">
                                      <p:cBhvr>
                                        <p:cTn id="66" dur="1000" fill="hold"/>
                                        <p:tgtEl>
                                          <p:spTgt spid="1376261">
                                            <p:txEl>
                                              <p:pRg st="9" end="9"/>
                                            </p:txEl>
                                          </p:spTgt>
                                        </p:tgtEl>
                                        <p:attrNameLst>
                                          <p:attrName>ppt_w</p:attrName>
                                        </p:attrNameLst>
                                      </p:cBhvr>
                                      <p:tavLst>
                                        <p:tav tm="0">
                                          <p:val>
                                            <p:strVal val="#ppt_w*0.70"/>
                                          </p:val>
                                        </p:tav>
                                        <p:tav tm="100000">
                                          <p:val>
                                            <p:strVal val="#ppt_w"/>
                                          </p:val>
                                        </p:tav>
                                      </p:tavLst>
                                    </p:anim>
                                    <p:anim calcmode="lin" valueType="num">
                                      <p:cBhvr>
                                        <p:cTn id="67" dur="1000" fill="hold"/>
                                        <p:tgtEl>
                                          <p:spTgt spid="1376261">
                                            <p:txEl>
                                              <p:pRg st="9" end="9"/>
                                            </p:txEl>
                                          </p:spTgt>
                                        </p:tgtEl>
                                        <p:attrNameLst>
                                          <p:attrName>ppt_h</p:attrName>
                                        </p:attrNameLst>
                                      </p:cBhvr>
                                      <p:tavLst>
                                        <p:tav tm="0">
                                          <p:val>
                                            <p:strVal val="#ppt_h"/>
                                          </p:val>
                                        </p:tav>
                                        <p:tav tm="100000">
                                          <p:val>
                                            <p:strVal val="#ppt_h"/>
                                          </p:val>
                                        </p:tav>
                                      </p:tavLst>
                                    </p:anim>
                                    <p:animEffect transition="in" filter="fade">
                                      <p:cBhvr>
                                        <p:cTn id="68" dur="1000"/>
                                        <p:tgtEl>
                                          <p:spTgt spid="1376261">
                                            <p:txEl>
                                              <p:pRg st="9" end="9"/>
                                            </p:txEl>
                                          </p:spTgt>
                                        </p:tgtEl>
                                      </p:cBhvr>
                                    </p:animEffect>
                                  </p:childTnLst>
                                </p:cTn>
                              </p:par>
                              <p:par>
                                <p:cTn id="69" presetID="55" presetClass="entr" presetSubtype="0" fill="hold" nodeType="withEffect">
                                  <p:stCondLst>
                                    <p:cond delay="0"/>
                                  </p:stCondLst>
                                  <p:childTnLst>
                                    <p:set>
                                      <p:cBhvr>
                                        <p:cTn id="70" dur="1" fill="hold">
                                          <p:stCondLst>
                                            <p:cond delay="0"/>
                                          </p:stCondLst>
                                        </p:cTn>
                                        <p:tgtEl>
                                          <p:spTgt spid="1376261">
                                            <p:txEl>
                                              <p:pRg st="10" end="10"/>
                                            </p:txEl>
                                          </p:spTgt>
                                        </p:tgtEl>
                                        <p:attrNameLst>
                                          <p:attrName>style.visibility</p:attrName>
                                        </p:attrNameLst>
                                      </p:cBhvr>
                                      <p:to>
                                        <p:strVal val="visible"/>
                                      </p:to>
                                    </p:set>
                                    <p:anim calcmode="lin" valueType="num">
                                      <p:cBhvr>
                                        <p:cTn id="71" dur="1000" fill="hold"/>
                                        <p:tgtEl>
                                          <p:spTgt spid="1376261">
                                            <p:txEl>
                                              <p:pRg st="10" end="10"/>
                                            </p:txEl>
                                          </p:spTgt>
                                        </p:tgtEl>
                                        <p:attrNameLst>
                                          <p:attrName>ppt_w</p:attrName>
                                        </p:attrNameLst>
                                      </p:cBhvr>
                                      <p:tavLst>
                                        <p:tav tm="0">
                                          <p:val>
                                            <p:strVal val="#ppt_w*0.70"/>
                                          </p:val>
                                        </p:tav>
                                        <p:tav tm="100000">
                                          <p:val>
                                            <p:strVal val="#ppt_w"/>
                                          </p:val>
                                        </p:tav>
                                      </p:tavLst>
                                    </p:anim>
                                    <p:anim calcmode="lin" valueType="num">
                                      <p:cBhvr>
                                        <p:cTn id="72" dur="1000" fill="hold"/>
                                        <p:tgtEl>
                                          <p:spTgt spid="1376261">
                                            <p:txEl>
                                              <p:pRg st="10" end="10"/>
                                            </p:txEl>
                                          </p:spTgt>
                                        </p:tgtEl>
                                        <p:attrNameLst>
                                          <p:attrName>ppt_h</p:attrName>
                                        </p:attrNameLst>
                                      </p:cBhvr>
                                      <p:tavLst>
                                        <p:tav tm="0">
                                          <p:val>
                                            <p:strVal val="#ppt_h"/>
                                          </p:val>
                                        </p:tav>
                                        <p:tav tm="100000">
                                          <p:val>
                                            <p:strVal val="#ppt_h"/>
                                          </p:val>
                                        </p:tav>
                                      </p:tavLst>
                                    </p:anim>
                                    <p:animEffect transition="in" filter="fade">
                                      <p:cBhvr>
                                        <p:cTn id="73" dur="1000"/>
                                        <p:tgtEl>
                                          <p:spTgt spid="137626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626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8306" name="Rectangle 2">
            <a:extLst>
              <a:ext uri="{FF2B5EF4-FFF2-40B4-BE49-F238E27FC236}">
                <a16:creationId xmlns:a16="http://schemas.microsoft.com/office/drawing/2014/main" id="{981AD2FE-595E-E4C6-B7A9-08281C8A6DEE}"/>
              </a:ext>
            </a:extLst>
          </p:cNvPr>
          <p:cNvSpPr>
            <a:spLocks noChangeArrowheads="1"/>
          </p:cNvSpPr>
          <p:nvPr/>
        </p:nvSpPr>
        <p:spPr bwMode="auto">
          <a:xfrm>
            <a:off x="7246939" y="4578351"/>
            <a:ext cx="2587625" cy="682625"/>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1507" name="Rectangle 3">
            <a:extLst>
              <a:ext uri="{FF2B5EF4-FFF2-40B4-BE49-F238E27FC236}">
                <a16:creationId xmlns:a16="http://schemas.microsoft.com/office/drawing/2014/main" id="{C2A71C8D-563F-99DB-90BE-4B7D429DF66F}"/>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1508" name="Rectangle 4">
            <a:extLst>
              <a:ext uri="{FF2B5EF4-FFF2-40B4-BE49-F238E27FC236}">
                <a16:creationId xmlns:a16="http://schemas.microsoft.com/office/drawing/2014/main" id="{863131E3-C48B-6B17-F801-13CB7E0243A8}"/>
              </a:ext>
            </a:extLst>
          </p:cNvPr>
          <p:cNvSpPr>
            <a:spLocks noChangeArrowheads="1"/>
          </p:cNvSpPr>
          <p:nvPr/>
        </p:nvSpPr>
        <p:spPr bwMode="auto">
          <a:xfrm>
            <a:off x="3963988"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1509" name="Rectangle 5">
            <a:extLst>
              <a:ext uri="{FF2B5EF4-FFF2-40B4-BE49-F238E27FC236}">
                <a16:creationId xmlns:a16="http://schemas.microsoft.com/office/drawing/2014/main" id="{424F8131-E501-08F7-B234-323882E69301}"/>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Register Addressing Diagram</a:t>
            </a:r>
          </a:p>
        </p:txBody>
      </p:sp>
      <p:grpSp>
        <p:nvGrpSpPr>
          <p:cNvPr id="21510" name="Group 6">
            <a:extLst>
              <a:ext uri="{FF2B5EF4-FFF2-40B4-BE49-F238E27FC236}">
                <a16:creationId xmlns:a16="http://schemas.microsoft.com/office/drawing/2014/main" id="{9B533953-3384-AFD0-FE14-88BE6A907D62}"/>
              </a:ext>
            </a:extLst>
          </p:cNvPr>
          <p:cNvGrpSpPr>
            <a:grpSpLocks/>
          </p:cNvGrpSpPr>
          <p:nvPr/>
        </p:nvGrpSpPr>
        <p:grpSpPr bwMode="auto">
          <a:xfrm>
            <a:off x="2289176" y="2287589"/>
            <a:ext cx="4722813" cy="604837"/>
            <a:chOff x="913" y="1441"/>
            <a:chExt cx="2975" cy="381"/>
          </a:xfrm>
        </p:grpSpPr>
        <p:sp>
          <p:nvSpPr>
            <p:cNvPr id="21522" name="Rectangle 7">
              <a:extLst>
                <a:ext uri="{FF2B5EF4-FFF2-40B4-BE49-F238E27FC236}">
                  <a16:creationId xmlns:a16="http://schemas.microsoft.com/office/drawing/2014/main" id="{B5766F62-C247-1D57-776E-8C758B80A89A}"/>
                </a:ext>
              </a:extLst>
            </p:cNvPr>
            <p:cNvSpPr>
              <a:spLocks noChangeArrowheads="1"/>
            </p:cNvSpPr>
            <p:nvPr/>
          </p:nvSpPr>
          <p:spPr bwMode="auto">
            <a:xfrm>
              <a:off x="913" y="1441"/>
              <a:ext cx="2975" cy="381"/>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1523" name="Line 8">
              <a:extLst>
                <a:ext uri="{FF2B5EF4-FFF2-40B4-BE49-F238E27FC236}">
                  <a16:creationId xmlns:a16="http://schemas.microsoft.com/office/drawing/2014/main" id="{5CABA908-AF11-2796-24C0-419B62C924D4}"/>
                </a:ext>
              </a:extLst>
            </p:cNvPr>
            <p:cNvSpPr>
              <a:spLocks noChangeShapeType="1"/>
            </p:cNvSpPr>
            <p:nvPr/>
          </p:nvSpPr>
          <p:spPr bwMode="auto">
            <a:xfrm>
              <a:off x="1537" y="1446"/>
              <a:ext cx="0" cy="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sp>
        <p:nvSpPr>
          <p:cNvPr id="21511" name="Rectangle 9">
            <a:extLst>
              <a:ext uri="{FF2B5EF4-FFF2-40B4-BE49-F238E27FC236}">
                <a16:creationId xmlns:a16="http://schemas.microsoft.com/office/drawing/2014/main" id="{DC4D8CBD-A865-4D24-4FA8-F7C34E881717}"/>
              </a:ext>
            </a:extLst>
          </p:cNvPr>
          <p:cNvSpPr>
            <a:spLocks noChangeArrowheads="1"/>
          </p:cNvSpPr>
          <p:nvPr/>
        </p:nvSpPr>
        <p:spPr bwMode="auto">
          <a:xfrm>
            <a:off x="3584576" y="2363788"/>
            <a:ext cx="25590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Register Address R</a:t>
            </a:r>
          </a:p>
        </p:txBody>
      </p:sp>
      <p:sp>
        <p:nvSpPr>
          <p:cNvPr id="21512" name="Rectangle 10">
            <a:extLst>
              <a:ext uri="{FF2B5EF4-FFF2-40B4-BE49-F238E27FC236}">
                <a16:creationId xmlns:a16="http://schemas.microsoft.com/office/drawing/2014/main" id="{1113DEC4-579E-6564-B446-9FA9B04649F4}"/>
              </a:ext>
            </a:extLst>
          </p:cNvPr>
          <p:cNvSpPr>
            <a:spLocks noChangeArrowheads="1"/>
          </p:cNvSpPr>
          <p:nvPr/>
        </p:nvSpPr>
        <p:spPr bwMode="auto">
          <a:xfrm>
            <a:off x="2212976" y="2363788"/>
            <a:ext cx="113973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Opcode</a:t>
            </a:r>
          </a:p>
        </p:txBody>
      </p:sp>
      <p:sp>
        <p:nvSpPr>
          <p:cNvPr id="21513" name="Rectangle 11">
            <a:extLst>
              <a:ext uri="{FF2B5EF4-FFF2-40B4-BE49-F238E27FC236}">
                <a16:creationId xmlns:a16="http://schemas.microsoft.com/office/drawing/2014/main" id="{E669CB67-A4B6-66A3-5995-13E5741D2D33}"/>
              </a:ext>
            </a:extLst>
          </p:cNvPr>
          <p:cNvSpPr>
            <a:spLocks noChangeArrowheads="1"/>
          </p:cNvSpPr>
          <p:nvPr/>
        </p:nvSpPr>
        <p:spPr bwMode="auto">
          <a:xfrm>
            <a:off x="3965576" y="1830388"/>
            <a:ext cx="151483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Instruction</a:t>
            </a:r>
          </a:p>
        </p:txBody>
      </p:sp>
      <p:sp>
        <p:nvSpPr>
          <p:cNvPr id="21514" name="Rectangle 12">
            <a:extLst>
              <a:ext uri="{FF2B5EF4-FFF2-40B4-BE49-F238E27FC236}">
                <a16:creationId xmlns:a16="http://schemas.microsoft.com/office/drawing/2014/main" id="{FFCCAC79-8C0E-43C0-90F3-9CE83C6D725C}"/>
              </a:ext>
            </a:extLst>
          </p:cNvPr>
          <p:cNvSpPr>
            <a:spLocks noChangeArrowheads="1"/>
          </p:cNvSpPr>
          <p:nvPr/>
        </p:nvSpPr>
        <p:spPr bwMode="auto">
          <a:xfrm>
            <a:off x="7242176" y="32019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1515" name="Rectangle 13">
            <a:extLst>
              <a:ext uri="{FF2B5EF4-FFF2-40B4-BE49-F238E27FC236}">
                <a16:creationId xmlns:a16="http://schemas.microsoft.com/office/drawing/2014/main" id="{0D3D5413-676E-4DC1-FD62-EE07C141D171}"/>
              </a:ext>
            </a:extLst>
          </p:cNvPr>
          <p:cNvSpPr>
            <a:spLocks noChangeArrowheads="1"/>
          </p:cNvSpPr>
          <p:nvPr/>
        </p:nvSpPr>
        <p:spPr bwMode="auto">
          <a:xfrm>
            <a:off x="7242176" y="38877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1516" name="Rectangle 14">
            <a:extLst>
              <a:ext uri="{FF2B5EF4-FFF2-40B4-BE49-F238E27FC236}">
                <a16:creationId xmlns:a16="http://schemas.microsoft.com/office/drawing/2014/main" id="{534DE209-17D8-A0F8-7F53-04FFF456C20B}"/>
              </a:ext>
            </a:extLst>
          </p:cNvPr>
          <p:cNvSpPr>
            <a:spLocks noChangeArrowheads="1"/>
          </p:cNvSpPr>
          <p:nvPr/>
        </p:nvSpPr>
        <p:spPr bwMode="auto">
          <a:xfrm>
            <a:off x="7242176" y="45735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1517" name="Rectangle 15">
            <a:extLst>
              <a:ext uri="{FF2B5EF4-FFF2-40B4-BE49-F238E27FC236}">
                <a16:creationId xmlns:a16="http://schemas.microsoft.com/office/drawing/2014/main" id="{7447CC8F-2587-628B-6329-830DF5EE9101}"/>
              </a:ext>
            </a:extLst>
          </p:cNvPr>
          <p:cNvSpPr>
            <a:spLocks noChangeArrowheads="1"/>
          </p:cNvSpPr>
          <p:nvPr/>
        </p:nvSpPr>
        <p:spPr bwMode="auto">
          <a:xfrm>
            <a:off x="7242176" y="52593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1518" name="Rectangle 16">
            <a:extLst>
              <a:ext uri="{FF2B5EF4-FFF2-40B4-BE49-F238E27FC236}">
                <a16:creationId xmlns:a16="http://schemas.microsoft.com/office/drawing/2014/main" id="{FC84A7E9-60B0-6D63-DCF3-A68B0E6F5651}"/>
              </a:ext>
            </a:extLst>
          </p:cNvPr>
          <p:cNvSpPr>
            <a:spLocks noChangeArrowheads="1"/>
          </p:cNvSpPr>
          <p:nvPr/>
        </p:nvSpPr>
        <p:spPr bwMode="auto">
          <a:xfrm>
            <a:off x="7242176" y="59451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1519" name="Rectangle 17">
            <a:extLst>
              <a:ext uri="{FF2B5EF4-FFF2-40B4-BE49-F238E27FC236}">
                <a16:creationId xmlns:a16="http://schemas.microsoft.com/office/drawing/2014/main" id="{D6943E95-7951-288A-ABB4-0BA99E127E96}"/>
              </a:ext>
            </a:extLst>
          </p:cNvPr>
          <p:cNvSpPr>
            <a:spLocks noChangeArrowheads="1"/>
          </p:cNvSpPr>
          <p:nvPr/>
        </p:nvSpPr>
        <p:spPr bwMode="auto">
          <a:xfrm>
            <a:off x="7775576" y="2668588"/>
            <a:ext cx="132728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Registers</a:t>
            </a:r>
          </a:p>
        </p:txBody>
      </p:sp>
      <p:sp>
        <p:nvSpPr>
          <p:cNvPr id="1378322" name="Rectangle 18">
            <a:extLst>
              <a:ext uri="{FF2B5EF4-FFF2-40B4-BE49-F238E27FC236}">
                <a16:creationId xmlns:a16="http://schemas.microsoft.com/office/drawing/2014/main" id="{C9DE0B9A-70D6-0E64-6029-499869FE180C}"/>
              </a:ext>
            </a:extLst>
          </p:cNvPr>
          <p:cNvSpPr>
            <a:spLocks noChangeArrowheads="1"/>
          </p:cNvSpPr>
          <p:nvPr/>
        </p:nvSpPr>
        <p:spPr bwMode="auto">
          <a:xfrm>
            <a:off x="7927976" y="4725988"/>
            <a:ext cx="124232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Operand</a:t>
            </a:r>
          </a:p>
        </p:txBody>
      </p:sp>
      <p:sp>
        <p:nvSpPr>
          <p:cNvPr id="1378323" name="Freeform 19">
            <a:extLst>
              <a:ext uri="{FF2B5EF4-FFF2-40B4-BE49-F238E27FC236}">
                <a16:creationId xmlns:a16="http://schemas.microsoft.com/office/drawing/2014/main" id="{D452DD00-5703-DCF2-6756-4D6BAA1FF4AD}"/>
              </a:ext>
            </a:extLst>
          </p:cNvPr>
          <p:cNvSpPr>
            <a:spLocks/>
          </p:cNvSpPr>
          <p:nvPr/>
        </p:nvSpPr>
        <p:spPr bwMode="auto">
          <a:xfrm>
            <a:off x="4651375" y="2894014"/>
            <a:ext cx="2590800" cy="2022475"/>
          </a:xfrm>
          <a:custGeom>
            <a:avLst/>
            <a:gdLst>
              <a:gd name="T0" fmla="*/ 0 w 1632"/>
              <a:gd name="T1" fmla="*/ 0 h 1274"/>
              <a:gd name="T2" fmla="*/ 0 w 1632"/>
              <a:gd name="T3" fmla="*/ 2147483646 h 1274"/>
              <a:gd name="T4" fmla="*/ 2147483646 w 1632"/>
              <a:gd name="T5" fmla="*/ 2147483646 h 1274"/>
              <a:gd name="T6" fmla="*/ 0 60000 65536"/>
              <a:gd name="T7" fmla="*/ 0 60000 65536"/>
              <a:gd name="T8" fmla="*/ 0 60000 65536"/>
              <a:gd name="T9" fmla="*/ 0 w 1632"/>
              <a:gd name="T10" fmla="*/ 0 h 1274"/>
              <a:gd name="T11" fmla="*/ 1632 w 1632"/>
              <a:gd name="T12" fmla="*/ 1274 h 1274"/>
            </a:gdLst>
            <a:ahLst/>
            <a:cxnLst>
              <a:cxn ang="T6">
                <a:pos x="T0" y="T1"/>
              </a:cxn>
              <a:cxn ang="T7">
                <a:pos x="T2" y="T3"/>
              </a:cxn>
              <a:cxn ang="T8">
                <a:pos x="T4" y="T5"/>
              </a:cxn>
            </a:cxnLst>
            <a:rect l="T9" t="T10" r="T11" b="T12"/>
            <a:pathLst>
              <a:path w="1632" h="1274">
                <a:moveTo>
                  <a:pt x="0" y="0"/>
                </a:moveTo>
                <a:lnTo>
                  <a:pt x="0" y="1273"/>
                </a:lnTo>
                <a:lnTo>
                  <a:pt x="1631" y="1273"/>
                </a:lnTo>
              </a:path>
            </a:pathLst>
          </a:custGeom>
          <a:noFill/>
          <a:ln w="28575" cap="rnd"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78323"/>
                                        </p:tgtEl>
                                        <p:attrNameLst>
                                          <p:attrName>style.visibility</p:attrName>
                                        </p:attrNameLst>
                                      </p:cBhvr>
                                      <p:to>
                                        <p:strVal val="visible"/>
                                      </p:to>
                                    </p:set>
                                    <p:anim calcmode="lin" valueType="num">
                                      <p:cBhvr>
                                        <p:cTn id="7" dur="1000" fill="hold"/>
                                        <p:tgtEl>
                                          <p:spTgt spid="1378323"/>
                                        </p:tgtEl>
                                        <p:attrNameLst>
                                          <p:attrName>ppt_w</p:attrName>
                                        </p:attrNameLst>
                                      </p:cBhvr>
                                      <p:tavLst>
                                        <p:tav tm="0">
                                          <p:val>
                                            <p:strVal val="#ppt_w*0.70"/>
                                          </p:val>
                                        </p:tav>
                                        <p:tav tm="100000">
                                          <p:val>
                                            <p:strVal val="#ppt_w"/>
                                          </p:val>
                                        </p:tav>
                                      </p:tavLst>
                                    </p:anim>
                                    <p:anim calcmode="lin" valueType="num">
                                      <p:cBhvr>
                                        <p:cTn id="8" dur="1000" fill="hold"/>
                                        <p:tgtEl>
                                          <p:spTgt spid="1378323"/>
                                        </p:tgtEl>
                                        <p:attrNameLst>
                                          <p:attrName>ppt_h</p:attrName>
                                        </p:attrNameLst>
                                      </p:cBhvr>
                                      <p:tavLst>
                                        <p:tav tm="0">
                                          <p:val>
                                            <p:strVal val="#ppt_h"/>
                                          </p:val>
                                        </p:tav>
                                        <p:tav tm="100000">
                                          <p:val>
                                            <p:strVal val="#ppt_h"/>
                                          </p:val>
                                        </p:tav>
                                      </p:tavLst>
                                    </p:anim>
                                    <p:animEffect transition="in" filter="fade">
                                      <p:cBhvr>
                                        <p:cTn id="9" dur="1000"/>
                                        <p:tgtEl>
                                          <p:spTgt spid="137832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78306"/>
                                        </p:tgtEl>
                                        <p:attrNameLst>
                                          <p:attrName>style.visibility</p:attrName>
                                        </p:attrNameLst>
                                      </p:cBhvr>
                                      <p:to>
                                        <p:strVal val="visible"/>
                                      </p:to>
                                    </p:set>
                                    <p:anim calcmode="lin" valueType="num">
                                      <p:cBhvr>
                                        <p:cTn id="14" dur="1000" fill="hold"/>
                                        <p:tgtEl>
                                          <p:spTgt spid="1378306"/>
                                        </p:tgtEl>
                                        <p:attrNameLst>
                                          <p:attrName>ppt_w</p:attrName>
                                        </p:attrNameLst>
                                      </p:cBhvr>
                                      <p:tavLst>
                                        <p:tav tm="0">
                                          <p:val>
                                            <p:strVal val="#ppt_w*0.70"/>
                                          </p:val>
                                        </p:tav>
                                        <p:tav tm="100000">
                                          <p:val>
                                            <p:strVal val="#ppt_w"/>
                                          </p:val>
                                        </p:tav>
                                      </p:tavLst>
                                    </p:anim>
                                    <p:anim calcmode="lin" valueType="num">
                                      <p:cBhvr>
                                        <p:cTn id="15" dur="1000" fill="hold"/>
                                        <p:tgtEl>
                                          <p:spTgt spid="1378306"/>
                                        </p:tgtEl>
                                        <p:attrNameLst>
                                          <p:attrName>ppt_h</p:attrName>
                                        </p:attrNameLst>
                                      </p:cBhvr>
                                      <p:tavLst>
                                        <p:tav tm="0">
                                          <p:val>
                                            <p:strVal val="#ppt_h"/>
                                          </p:val>
                                        </p:tav>
                                        <p:tav tm="100000">
                                          <p:val>
                                            <p:strVal val="#ppt_h"/>
                                          </p:val>
                                        </p:tav>
                                      </p:tavLst>
                                    </p:anim>
                                    <p:animEffect transition="in" filter="fade">
                                      <p:cBhvr>
                                        <p:cTn id="16" dur="1000"/>
                                        <p:tgtEl>
                                          <p:spTgt spid="1378306"/>
                                        </p:tgtEl>
                                      </p:cBhvr>
                                    </p:animEffect>
                                  </p:childTnLst>
                                </p:cTn>
                              </p:par>
                              <p:par>
                                <p:cTn id="17" presetID="55" presetClass="entr" presetSubtype="0" fill="hold" nodeType="withEffect">
                                  <p:stCondLst>
                                    <p:cond delay="0"/>
                                  </p:stCondLst>
                                  <p:childTnLst>
                                    <p:set>
                                      <p:cBhvr>
                                        <p:cTn id="18" dur="1" fill="hold">
                                          <p:stCondLst>
                                            <p:cond delay="0"/>
                                          </p:stCondLst>
                                        </p:cTn>
                                        <p:tgtEl>
                                          <p:spTgt spid="1378322"/>
                                        </p:tgtEl>
                                        <p:attrNameLst>
                                          <p:attrName>style.visibility</p:attrName>
                                        </p:attrNameLst>
                                      </p:cBhvr>
                                      <p:to>
                                        <p:strVal val="visible"/>
                                      </p:to>
                                    </p:set>
                                    <p:anim calcmode="lin" valueType="num">
                                      <p:cBhvr>
                                        <p:cTn id="19" dur="1000" fill="hold"/>
                                        <p:tgtEl>
                                          <p:spTgt spid="1378322"/>
                                        </p:tgtEl>
                                        <p:attrNameLst>
                                          <p:attrName>ppt_w</p:attrName>
                                        </p:attrNameLst>
                                      </p:cBhvr>
                                      <p:tavLst>
                                        <p:tav tm="0">
                                          <p:val>
                                            <p:strVal val="#ppt_w*0.70"/>
                                          </p:val>
                                        </p:tav>
                                        <p:tav tm="100000">
                                          <p:val>
                                            <p:strVal val="#ppt_w"/>
                                          </p:val>
                                        </p:tav>
                                      </p:tavLst>
                                    </p:anim>
                                    <p:anim calcmode="lin" valueType="num">
                                      <p:cBhvr>
                                        <p:cTn id="20" dur="1000" fill="hold"/>
                                        <p:tgtEl>
                                          <p:spTgt spid="1378322"/>
                                        </p:tgtEl>
                                        <p:attrNameLst>
                                          <p:attrName>ppt_h</p:attrName>
                                        </p:attrNameLst>
                                      </p:cBhvr>
                                      <p:tavLst>
                                        <p:tav tm="0">
                                          <p:val>
                                            <p:strVal val="#ppt_h"/>
                                          </p:val>
                                        </p:tav>
                                        <p:tav tm="100000">
                                          <p:val>
                                            <p:strVal val="#ppt_h"/>
                                          </p:val>
                                        </p:tav>
                                      </p:tavLst>
                                    </p:anim>
                                    <p:animEffect transition="in" filter="fade">
                                      <p:cBhvr>
                                        <p:cTn id="21" dur="1000"/>
                                        <p:tgtEl>
                                          <p:spTgt spid="1378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6" grpId="0" animBg="1"/>
      <p:bldP spid="13783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A616DD1-8C52-64E0-92F4-9DD72F61E850}"/>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3555" name="Rectangle 3">
            <a:extLst>
              <a:ext uri="{FF2B5EF4-FFF2-40B4-BE49-F238E27FC236}">
                <a16:creationId xmlns:a16="http://schemas.microsoft.com/office/drawing/2014/main" id="{7F5B3F1E-4364-544C-4C08-71023288EA94}"/>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3556" name="Rectangle 4">
            <a:extLst>
              <a:ext uri="{FF2B5EF4-FFF2-40B4-BE49-F238E27FC236}">
                <a16:creationId xmlns:a16="http://schemas.microsoft.com/office/drawing/2014/main" id="{2F420AEC-61F5-C891-C688-25369D1B74E7}"/>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sz="2600"/>
              <a:t>Register Indirect Addressing</a:t>
            </a:r>
          </a:p>
        </p:txBody>
      </p:sp>
      <p:sp>
        <p:nvSpPr>
          <p:cNvPr id="1380357" name="Rectangle 5">
            <a:extLst>
              <a:ext uri="{FF2B5EF4-FFF2-40B4-BE49-F238E27FC236}">
                <a16:creationId xmlns:a16="http://schemas.microsoft.com/office/drawing/2014/main" id="{7B9F1745-B7AF-311D-9FB8-BF74523FAEAC}"/>
              </a:ext>
            </a:extLst>
          </p:cNvPr>
          <p:cNvSpPr>
            <a:spLocks noGrp="1" noChangeArrowheads="1"/>
          </p:cNvSpPr>
          <p:nvPr>
            <p:ph type="body" idx="1"/>
          </p:nvPr>
        </p:nvSpPr>
        <p:spPr>
          <a:xfrm>
            <a:off x="2039938" y="1219200"/>
            <a:ext cx="8178800" cy="5638800"/>
          </a:xfrm>
          <a:noFill/>
        </p:spPr>
        <p:txBody>
          <a:bodyPr vert="horz" wrap="square" lIns="90488" tIns="44450" rIns="90488" bIns="44450" numCol="1" anchor="t" anchorCtr="0" compatLnSpc="1">
            <a:prstTxWarp prst="textNoShape">
              <a:avLst/>
            </a:prstTxWarp>
          </a:bodyPr>
          <a:lstStyle/>
          <a:p>
            <a:r>
              <a:rPr lang="en-US" altLang="en-US"/>
              <a:t>Operand is held in memory cell pointed to by contents of register </a:t>
            </a:r>
            <a:r>
              <a:rPr lang="en-US" altLang="en-US">
                <a:solidFill>
                  <a:srgbClr val="0000CC"/>
                </a:solidFill>
              </a:rPr>
              <a:t>R</a:t>
            </a:r>
            <a:r>
              <a:rPr lang="en-US" altLang="en-US"/>
              <a:t> named in address field</a:t>
            </a:r>
            <a:endParaRPr lang="tr-TR" altLang="en-US">
              <a:solidFill>
                <a:srgbClr val="0000CC"/>
              </a:solidFill>
            </a:endParaRPr>
          </a:p>
          <a:p>
            <a:r>
              <a:rPr lang="en-US" altLang="en-US">
                <a:solidFill>
                  <a:srgbClr val="0000CC"/>
                </a:solidFill>
              </a:rPr>
              <a:t>EA = (R)</a:t>
            </a:r>
          </a:p>
          <a:p>
            <a:r>
              <a:rPr lang="en-US" altLang="en-US"/>
              <a:t>Large address space (</a:t>
            </a:r>
            <a:r>
              <a:rPr lang="en-US" altLang="en-US">
                <a:solidFill>
                  <a:srgbClr val="0000CC"/>
                </a:solidFill>
              </a:rPr>
              <a:t>2</a:t>
            </a:r>
            <a:r>
              <a:rPr lang="en-US" altLang="en-US" baseline="30000">
                <a:solidFill>
                  <a:srgbClr val="0000CC"/>
                </a:solidFill>
              </a:rPr>
              <a:t>n</a:t>
            </a:r>
            <a:r>
              <a:rPr lang="en-US" altLang="en-US"/>
              <a:t>)</a:t>
            </a:r>
          </a:p>
          <a:p>
            <a:r>
              <a:rPr lang="en-US" altLang="en-US"/>
              <a:t>One fewer memory access than indirect addressing</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80357">
                                            <p:txEl>
                                              <p:pRg st="0" end="0"/>
                                            </p:txEl>
                                          </p:spTgt>
                                        </p:tgtEl>
                                        <p:attrNameLst>
                                          <p:attrName>style.visibility</p:attrName>
                                        </p:attrNameLst>
                                      </p:cBhvr>
                                      <p:to>
                                        <p:strVal val="visible"/>
                                      </p:to>
                                    </p:set>
                                    <p:anim calcmode="lin" valueType="num">
                                      <p:cBhvr>
                                        <p:cTn id="7" dur="1000" fill="hold"/>
                                        <p:tgtEl>
                                          <p:spTgt spid="138035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8035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80357">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80357">
                                            <p:txEl>
                                              <p:pRg st="1" end="1"/>
                                            </p:txEl>
                                          </p:spTgt>
                                        </p:tgtEl>
                                        <p:attrNameLst>
                                          <p:attrName>style.visibility</p:attrName>
                                        </p:attrNameLst>
                                      </p:cBhvr>
                                      <p:to>
                                        <p:strVal val="visible"/>
                                      </p:to>
                                    </p:set>
                                    <p:anim calcmode="lin" valueType="num">
                                      <p:cBhvr>
                                        <p:cTn id="14" dur="1000" fill="hold"/>
                                        <p:tgtEl>
                                          <p:spTgt spid="1380357">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80357">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80357">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80357">
                                            <p:txEl>
                                              <p:pRg st="2" end="2"/>
                                            </p:txEl>
                                          </p:spTgt>
                                        </p:tgtEl>
                                        <p:attrNameLst>
                                          <p:attrName>style.visibility</p:attrName>
                                        </p:attrNameLst>
                                      </p:cBhvr>
                                      <p:to>
                                        <p:strVal val="visible"/>
                                      </p:to>
                                    </p:set>
                                    <p:anim calcmode="lin" valueType="num">
                                      <p:cBhvr>
                                        <p:cTn id="21" dur="1000" fill="hold"/>
                                        <p:tgtEl>
                                          <p:spTgt spid="1380357">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80357">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80357">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1380357">
                                            <p:txEl>
                                              <p:pRg st="3" end="3"/>
                                            </p:txEl>
                                          </p:spTgt>
                                        </p:tgtEl>
                                        <p:attrNameLst>
                                          <p:attrName>style.visibility</p:attrName>
                                        </p:attrNameLst>
                                      </p:cBhvr>
                                      <p:to>
                                        <p:strVal val="visible"/>
                                      </p:to>
                                    </p:set>
                                    <p:anim calcmode="lin" valueType="num">
                                      <p:cBhvr>
                                        <p:cTn id="28" dur="1000" fill="hold"/>
                                        <p:tgtEl>
                                          <p:spTgt spid="1380357">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380357">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3803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035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02" name="Rectangle 2">
            <a:extLst>
              <a:ext uri="{FF2B5EF4-FFF2-40B4-BE49-F238E27FC236}">
                <a16:creationId xmlns:a16="http://schemas.microsoft.com/office/drawing/2014/main" id="{9EE7F87A-03CD-C25B-5C32-E74B1981F4AE}"/>
              </a:ext>
            </a:extLst>
          </p:cNvPr>
          <p:cNvSpPr>
            <a:spLocks noChangeArrowheads="1"/>
          </p:cNvSpPr>
          <p:nvPr/>
        </p:nvSpPr>
        <p:spPr bwMode="auto">
          <a:xfrm>
            <a:off x="7931151" y="4500564"/>
            <a:ext cx="2587625" cy="682625"/>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82403" name="Rectangle 3">
            <a:extLst>
              <a:ext uri="{FF2B5EF4-FFF2-40B4-BE49-F238E27FC236}">
                <a16:creationId xmlns:a16="http://schemas.microsoft.com/office/drawing/2014/main" id="{B0930E98-1115-1D7B-2673-0D8D98CD3A0F}"/>
              </a:ext>
            </a:extLst>
          </p:cNvPr>
          <p:cNvSpPr>
            <a:spLocks noChangeArrowheads="1"/>
          </p:cNvSpPr>
          <p:nvPr/>
        </p:nvSpPr>
        <p:spPr bwMode="auto">
          <a:xfrm>
            <a:off x="2978151" y="4491039"/>
            <a:ext cx="2574925" cy="693737"/>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04" name="Rectangle 4">
            <a:extLst>
              <a:ext uri="{FF2B5EF4-FFF2-40B4-BE49-F238E27FC236}">
                <a16:creationId xmlns:a16="http://schemas.microsoft.com/office/drawing/2014/main" id="{C31B3B8E-8A6D-1322-A7D7-6F3D131A793E}"/>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05" name="Rectangle 5">
            <a:extLst>
              <a:ext uri="{FF2B5EF4-FFF2-40B4-BE49-F238E27FC236}">
                <a16:creationId xmlns:a16="http://schemas.microsoft.com/office/drawing/2014/main" id="{829793A8-278A-94D9-4189-C3986EABB444}"/>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06" name="Rectangle 6">
            <a:extLst>
              <a:ext uri="{FF2B5EF4-FFF2-40B4-BE49-F238E27FC236}">
                <a16:creationId xmlns:a16="http://schemas.microsoft.com/office/drawing/2014/main" id="{62FB7164-1BEE-3C09-69DE-D6E962501155}"/>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sz="2100"/>
              <a:t>Register Indirect Addressing Diagram</a:t>
            </a:r>
            <a:endParaRPr lang="en-US" altLang="en-US" sz="2600"/>
          </a:p>
        </p:txBody>
      </p:sp>
      <p:grpSp>
        <p:nvGrpSpPr>
          <p:cNvPr id="25607" name="Group 7">
            <a:extLst>
              <a:ext uri="{FF2B5EF4-FFF2-40B4-BE49-F238E27FC236}">
                <a16:creationId xmlns:a16="http://schemas.microsoft.com/office/drawing/2014/main" id="{8B0F2E94-B62A-B31A-6B75-012E1F33F873}"/>
              </a:ext>
            </a:extLst>
          </p:cNvPr>
          <p:cNvGrpSpPr>
            <a:grpSpLocks/>
          </p:cNvGrpSpPr>
          <p:nvPr/>
        </p:nvGrpSpPr>
        <p:grpSpPr bwMode="auto">
          <a:xfrm>
            <a:off x="2973388" y="2287589"/>
            <a:ext cx="4722812" cy="604837"/>
            <a:chOff x="913" y="1441"/>
            <a:chExt cx="2975" cy="381"/>
          </a:xfrm>
        </p:grpSpPr>
        <p:sp>
          <p:nvSpPr>
            <p:cNvPr id="25629" name="Rectangle 8">
              <a:extLst>
                <a:ext uri="{FF2B5EF4-FFF2-40B4-BE49-F238E27FC236}">
                  <a16:creationId xmlns:a16="http://schemas.microsoft.com/office/drawing/2014/main" id="{CAB3FD57-39D9-81C5-7B8B-BF5CACA603E4}"/>
                </a:ext>
              </a:extLst>
            </p:cNvPr>
            <p:cNvSpPr>
              <a:spLocks noChangeArrowheads="1"/>
            </p:cNvSpPr>
            <p:nvPr/>
          </p:nvSpPr>
          <p:spPr bwMode="auto">
            <a:xfrm>
              <a:off x="913" y="1441"/>
              <a:ext cx="2975" cy="381"/>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30" name="Line 9">
              <a:extLst>
                <a:ext uri="{FF2B5EF4-FFF2-40B4-BE49-F238E27FC236}">
                  <a16:creationId xmlns:a16="http://schemas.microsoft.com/office/drawing/2014/main" id="{1DE6CAD6-FDB0-A532-C24C-BD53F4CA872C}"/>
                </a:ext>
              </a:extLst>
            </p:cNvPr>
            <p:cNvSpPr>
              <a:spLocks noChangeShapeType="1"/>
            </p:cNvSpPr>
            <p:nvPr/>
          </p:nvSpPr>
          <p:spPr bwMode="auto">
            <a:xfrm>
              <a:off x="1537" y="1446"/>
              <a:ext cx="0" cy="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sp>
        <p:nvSpPr>
          <p:cNvPr id="25608" name="Rectangle 10">
            <a:extLst>
              <a:ext uri="{FF2B5EF4-FFF2-40B4-BE49-F238E27FC236}">
                <a16:creationId xmlns:a16="http://schemas.microsoft.com/office/drawing/2014/main" id="{94295A43-B097-90BD-31FC-BED8D13C472D}"/>
              </a:ext>
            </a:extLst>
          </p:cNvPr>
          <p:cNvSpPr>
            <a:spLocks noChangeArrowheads="1"/>
          </p:cNvSpPr>
          <p:nvPr/>
        </p:nvSpPr>
        <p:spPr bwMode="auto">
          <a:xfrm>
            <a:off x="4533901" y="2363788"/>
            <a:ext cx="25590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Register Address R</a:t>
            </a:r>
          </a:p>
        </p:txBody>
      </p:sp>
      <p:sp>
        <p:nvSpPr>
          <p:cNvPr id="25609" name="Rectangle 11">
            <a:extLst>
              <a:ext uri="{FF2B5EF4-FFF2-40B4-BE49-F238E27FC236}">
                <a16:creationId xmlns:a16="http://schemas.microsoft.com/office/drawing/2014/main" id="{D498DB56-E65F-AA0F-E75F-6A3713371597}"/>
              </a:ext>
            </a:extLst>
          </p:cNvPr>
          <p:cNvSpPr>
            <a:spLocks noChangeArrowheads="1"/>
          </p:cNvSpPr>
          <p:nvPr/>
        </p:nvSpPr>
        <p:spPr bwMode="auto">
          <a:xfrm>
            <a:off x="2897189" y="2363788"/>
            <a:ext cx="113973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Opcode</a:t>
            </a:r>
          </a:p>
        </p:txBody>
      </p:sp>
      <p:sp>
        <p:nvSpPr>
          <p:cNvPr id="25610" name="Rectangle 12">
            <a:extLst>
              <a:ext uri="{FF2B5EF4-FFF2-40B4-BE49-F238E27FC236}">
                <a16:creationId xmlns:a16="http://schemas.microsoft.com/office/drawing/2014/main" id="{5653622B-2632-918B-22B2-F8611BADFD31}"/>
              </a:ext>
            </a:extLst>
          </p:cNvPr>
          <p:cNvSpPr>
            <a:spLocks noChangeArrowheads="1"/>
          </p:cNvSpPr>
          <p:nvPr/>
        </p:nvSpPr>
        <p:spPr bwMode="auto">
          <a:xfrm>
            <a:off x="4649789" y="1830388"/>
            <a:ext cx="151483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Instruction</a:t>
            </a:r>
          </a:p>
        </p:txBody>
      </p:sp>
      <p:sp>
        <p:nvSpPr>
          <p:cNvPr id="25611" name="Rectangle 13">
            <a:extLst>
              <a:ext uri="{FF2B5EF4-FFF2-40B4-BE49-F238E27FC236}">
                <a16:creationId xmlns:a16="http://schemas.microsoft.com/office/drawing/2014/main" id="{0A8F00FF-C2C2-CD1E-3DCE-DAD9F7137441}"/>
              </a:ext>
            </a:extLst>
          </p:cNvPr>
          <p:cNvSpPr>
            <a:spLocks noChangeArrowheads="1"/>
          </p:cNvSpPr>
          <p:nvPr/>
        </p:nvSpPr>
        <p:spPr bwMode="auto">
          <a:xfrm>
            <a:off x="7926389" y="31242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12" name="Rectangle 14">
            <a:extLst>
              <a:ext uri="{FF2B5EF4-FFF2-40B4-BE49-F238E27FC236}">
                <a16:creationId xmlns:a16="http://schemas.microsoft.com/office/drawing/2014/main" id="{8690A9CA-7545-71E6-54B3-B43761C6EF4D}"/>
              </a:ext>
            </a:extLst>
          </p:cNvPr>
          <p:cNvSpPr>
            <a:spLocks noChangeArrowheads="1"/>
          </p:cNvSpPr>
          <p:nvPr/>
        </p:nvSpPr>
        <p:spPr bwMode="auto">
          <a:xfrm>
            <a:off x="7926389" y="38100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13" name="Rectangle 15">
            <a:extLst>
              <a:ext uri="{FF2B5EF4-FFF2-40B4-BE49-F238E27FC236}">
                <a16:creationId xmlns:a16="http://schemas.microsoft.com/office/drawing/2014/main" id="{8696E8A4-37A6-C99A-1467-FC0D9FA55A6E}"/>
              </a:ext>
            </a:extLst>
          </p:cNvPr>
          <p:cNvSpPr>
            <a:spLocks noChangeArrowheads="1"/>
          </p:cNvSpPr>
          <p:nvPr/>
        </p:nvSpPr>
        <p:spPr bwMode="auto">
          <a:xfrm>
            <a:off x="7926389" y="44958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14" name="Rectangle 16">
            <a:extLst>
              <a:ext uri="{FF2B5EF4-FFF2-40B4-BE49-F238E27FC236}">
                <a16:creationId xmlns:a16="http://schemas.microsoft.com/office/drawing/2014/main" id="{EDE20C23-AAFB-3276-A865-F045E8D48428}"/>
              </a:ext>
            </a:extLst>
          </p:cNvPr>
          <p:cNvSpPr>
            <a:spLocks noChangeArrowheads="1"/>
          </p:cNvSpPr>
          <p:nvPr/>
        </p:nvSpPr>
        <p:spPr bwMode="auto">
          <a:xfrm>
            <a:off x="7926389" y="51816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15" name="Rectangle 17">
            <a:extLst>
              <a:ext uri="{FF2B5EF4-FFF2-40B4-BE49-F238E27FC236}">
                <a16:creationId xmlns:a16="http://schemas.microsoft.com/office/drawing/2014/main" id="{4B969577-743D-2918-3EA8-C0A42B33AEA0}"/>
              </a:ext>
            </a:extLst>
          </p:cNvPr>
          <p:cNvSpPr>
            <a:spLocks noChangeArrowheads="1"/>
          </p:cNvSpPr>
          <p:nvPr/>
        </p:nvSpPr>
        <p:spPr bwMode="auto">
          <a:xfrm>
            <a:off x="7926389" y="5867401"/>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16" name="Rectangle 18">
            <a:extLst>
              <a:ext uri="{FF2B5EF4-FFF2-40B4-BE49-F238E27FC236}">
                <a16:creationId xmlns:a16="http://schemas.microsoft.com/office/drawing/2014/main" id="{337C4985-AE1F-47DC-8814-6BCCF79016E4}"/>
              </a:ext>
            </a:extLst>
          </p:cNvPr>
          <p:cNvSpPr>
            <a:spLocks noChangeArrowheads="1"/>
          </p:cNvSpPr>
          <p:nvPr/>
        </p:nvSpPr>
        <p:spPr bwMode="auto">
          <a:xfrm>
            <a:off x="8459789" y="2590800"/>
            <a:ext cx="124232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Memory</a:t>
            </a:r>
          </a:p>
        </p:txBody>
      </p:sp>
      <p:sp>
        <p:nvSpPr>
          <p:cNvPr id="1382419" name="Rectangle 19">
            <a:extLst>
              <a:ext uri="{FF2B5EF4-FFF2-40B4-BE49-F238E27FC236}">
                <a16:creationId xmlns:a16="http://schemas.microsoft.com/office/drawing/2014/main" id="{93C59345-C904-2460-003C-9B5718717DFD}"/>
              </a:ext>
            </a:extLst>
          </p:cNvPr>
          <p:cNvSpPr>
            <a:spLocks noChangeArrowheads="1"/>
          </p:cNvSpPr>
          <p:nvPr/>
        </p:nvSpPr>
        <p:spPr bwMode="auto">
          <a:xfrm>
            <a:off x="8612189" y="4648200"/>
            <a:ext cx="124232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Operand</a:t>
            </a:r>
          </a:p>
        </p:txBody>
      </p:sp>
      <p:sp>
        <p:nvSpPr>
          <p:cNvPr id="25618" name="Rectangle 20">
            <a:extLst>
              <a:ext uri="{FF2B5EF4-FFF2-40B4-BE49-F238E27FC236}">
                <a16:creationId xmlns:a16="http://schemas.microsoft.com/office/drawing/2014/main" id="{245AEABA-388F-B166-6D40-69BA6FE9072E}"/>
              </a:ext>
            </a:extLst>
          </p:cNvPr>
          <p:cNvSpPr>
            <a:spLocks noChangeArrowheads="1"/>
          </p:cNvSpPr>
          <p:nvPr/>
        </p:nvSpPr>
        <p:spPr bwMode="auto">
          <a:xfrm>
            <a:off x="2973389" y="38115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19" name="Rectangle 21">
            <a:extLst>
              <a:ext uri="{FF2B5EF4-FFF2-40B4-BE49-F238E27FC236}">
                <a16:creationId xmlns:a16="http://schemas.microsoft.com/office/drawing/2014/main" id="{0637214E-BA8E-96D2-5513-BF214F90B6A2}"/>
              </a:ext>
            </a:extLst>
          </p:cNvPr>
          <p:cNvSpPr>
            <a:spLocks noChangeArrowheads="1"/>
          </p:cNvSpPr>
          <p:nvPr/>
        </p:nvSpPr>
        <p:spPr bwMode="auto">
          <a:xfrm>
            <a:off x="2973389" y="44973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20" name="Rectangle 22">
            <a:extLst>
              <a:ext uri="{FF2B5EF4-FFF2-40B4-BE49-F238E27FC236}">
                <a16:creationId xmlns:a16="http://schemas.microsoft.com/office/drawing/2014/main" id="{D21FF3BF-71D0-21E3-150D-1A78C49DAF0F}"/>
              </a:ext>
            </a:extLst>
          </p:cNvPr>
          <p:cNvSpPr>
            <a:spLocks noChangeArrowheads="1"/>
          </p:cNvSpPr>
          <p:nvPr/>
        </p:nvSpPr>
        <p:spPr bwMode="auto">
          <a:xfrm>
            <a:off x="2973389" y="51831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5621" name="Rectangle 23">
            <a:extLst>
              <a:ext uri="{FF2B5EF4-FFF2-40B4-BE49-F238E27FC236}">
                <a16:creationId xmlns:a16="http://schemas.microsoft.com/office/drawing/2014/main" id="{5BB04D26-DB77-1490-DF88-C7DE9A062404}"/>
              </a:ext>
            </a:extLst>
          </p:cNvPr>
          <p:cNvSpPr>
            <a:spLocks noChangeArrowheads="1"/>
          </p:cNvSpPr>
          <p:nvPr/>
        </p:nvSpPr>
        <p:spPr bwMode="auto">
          <a:xfrm>
            <a:off x="2973389" y="58689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82424" name="Rectangle 24">
            <a:extLst>
              <a:ext uri="{FF2B5EF4-FFF2-40B4-BE49-F238E27FC236}">
                <a16:creationId xmlns:a16="http://schemas.microsoft.com/office/drawing/2014/main" id="{6B5EBAF1-D784-D080-9221-4D0D5B7863A9}"/>
              </a:ext>
            </a:extLst>
          </p:cNvPr>
          <p:cNvSpPr>
            <a:spLocks noChangeArrowheads="1"/>
          </p:cNvSpPr>
          <p:nvPr/>
        </p:nvSpPr>
        <p:spPr bwMode="auto">
          <a:xfrm>
            <a:off x="3049588" y="4649788"/>
            <a:ext cx="252312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Pointer to Operand</a:t>
            </a:r>
          </a:p>
        </p:txBody>
      </p:sp>
      <p:sp>
        <p:nvSpPr>
          <p:cNvPr id="25623" name="Rectangle 25">
            <a:extLst>
              <a:ext uri="{FF2B5EF4-FFF2-40B4-BE49-F238E27FC236}">
                <a16:creationId xmlns:a16="http://schemas.microsoft.com/office/drawing/2014/main" id="{87A411C5-EE1C-A666-FD2E-980541842C91}"/>
              </a:ext>
            </a:extLst>
          </p:cNvPr>
          <p:cNvSpPr>
            <a:spLocks noChangeArrowheads="1"/>
          </p:cNvSpPr>
          <p:nvPr/>
        </p:nvSpPr>
        <p:spPr bwMode="auto">
          <a:xfrm>
            <a:off x="3659188" y="3371850"/>
            <a:ext cx="1314450"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Registers</a:t>
            </a:r>
          </a:p>
        </p:txBody>
      </p:sp>
      <p:grpSp>
        <p:nvGrpSpPr>
          <p:cNvPr id="3" name="Group 26">
            <a:extLst>
              <a:ext uri="{FF2B5EF4-FFF2-40B4-BE49-F238E27FC236}">
                <a16:creationId xmlns:a16="http://schemas.microsoft.com/office/drawing/2014/main" id="{0F8774DB-C552-784F-E15F-7F46FEB1E6C0}"/>
              </a:ext>
            </a:extLst>
          </p:cNvPr>
          <p:cNvGrpSpPr>
            <a:grpSpLocks/>
          </p:cNvGrpSpPr>
          <p:nvPr/>
        </p:nvGrpSpPr>
        <p:grpSpPr bwMode="auto">
          <a:xfrm>
            <a:off x="2205038" y="2903538"/>
            <a:ext cx="2754312" cy="1936750"/>
            <a:chOff x="429" y="1829"/>
            <a:chExt cx="1735" cy="1220"/>
          </a:xfrm>
        </p:grpSpPr>
        <p:sp>
          <p:nvSpPr>
            <p:cNvPr id="25626" name="Line 27">
              <a:extLst>
                <a:ext uri="{FF2B5EF4-FFF2-40B4-BE49-F238E27FC236}">
                  <a16:creationId xmlns:a16="http://schemas.microsoft.com/office/drawing/2014/main" id="{D06CBC28-7D89-C7FE-1557-FA3453F924ED}"/>
                </a:ext>
              </a:extLst>
            </p:cNvPr>
            <p:cNvSpPr>
              <a:spLocks noChangeShapeType="1"/>
            </p:cNvSpPr>
            <p:nvPr/>
          </p:nvSpPr>
          <p:spPr bwMode="auto">
            <a:xfrm>
              <a:off x="2160" y="1829"/>
              <a:ext cx="0" cy="327"/>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5627" name="Line 28">
              <a:extLst>
                <a:ext uri="{FF2B5EF4-FFF2-40B4-BE49-F238E27FC236}">
                  <a16:creationId xmlns:a16="http://schemas.microsoft.com/office/drawing/2014/main" id="{ADE47B3A-8AA5-37A0-142B-F2B8DE54B9B6}"/>
                </a:ext>
              </a:extLst>
            </p:cNvPr>
            <p:cNvSpPr>
              <a:spLocks noChangeShapeType="1"/>
            </p:cNvSpPr>
            <p:nvPr/>
          </p:nvSpPr>
          <p:spPr bwMode="auto">
            <a:xfrm flipH="1">
              <a:off x="429" y="2160"/>
              <a:ext cx="1735"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5628" name="Freeform 29">
              <a:extLst>
                <a:ext uri="{FF2B5EF4-FFF2-40B4-BE49-F238E27FC236}">
                  <a16:creationId xmlns:a16="http://schemas.microsoft.com/office/drawing/2014/main" id="{E18DC022-C52B-6E24-D22A-C77DE7292662}"/>
                </a:ext>
              </a:extLst>
            </p:cNvPr>
            <p:cNvSpPr>
              <a:spLocks/>
            </p:cNvSpPr>
            <p:nvPr/>
          </p:nvSpPr>
          <p:spPr bwMode="auto">
            <a:xfrm>
              <a:off x="432" y="2160"/>
              <a:ext cx="481" cy="889"/>
            </a:xfrm>
            <a:custGeom>
              <a:avLst/>
              <a:gdLst>
                <a:gd name="T0" fmla="*/ 0 w 481"/>
                <a:gd name="T1" fmla="*/ 0 h 889"/>
                <a:gd name="T2" fmla="*/ 0 w 481"/>
                <a:gd name="T3" fmla="*/ 888 h 889"/>
                <a:gd name="T4" fmla="*/ 480 w 481"/>
                <a:gd name="T5" fmla="*/ 888 h 889"/>
                <a:gd name="T6" fmla="*/ 0 60000 65536"/>
                <a:gd name="T7" fmla="*/ 0 60000 65536"/>
                <a:gd name="T8" fmla="*/ 0 60000 65536"/>
                <a:gd name="T9" fmla="*/ 0 w 481"/>
                <a:gd name="T10" fmla="*/ 0 h 889"/>
                <a:gd name="T11" fmla="*/ 481 w 481"/>
                <a:gd name="T12" fmla="*/ 889 h 889"/>
              </a:gdLst>
              <a:ahLst/>
              <a:cxnLst>
                <a:cxn ang="T6">
                  <a:pos x="T0" y="T1"/>
                </a:cxn>
                <a:cxn ang="T7">
                  <a:pos x="T2" y="T3"/>
                </a:cxn>
                <a:cxn ang="T8">
                  <a:pos x="T4" y="T5"/>
                </a:cxn>
              </a:cxnLst>
              <a:rect l="T9" t="T10" r="T11" b="T12"/>
              <a:pathLst>
                <a:path w="481" h="889">
                  <a:moveTo>
                    <a:pt x="0" y="0"/>
                  </a:moveTo>
                  <a:lnTo>
                    <a:pt x="0" y="888"/>
                  </a:lnTo>
                  <a:lnTo>
                    <a:pt x="480" y="888"/>
                  </a:lnTo>
                </a:path>
              </a:pathLst>
            </a:custGeom>
            <a:noFill/>
            <a:ln w="28575" cap="rnd"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sp>
        <p:nvSpPr>
          <p:cNvPr id="1382430" name="Line 30">
            <a:extLst>
              <a:ext uri="{FF2B5EF4-FFF2-40B4-BE49-F238E27FC236}">
                <a16:creationId xmlns:a16="http://schemas.microsoft.com/office/drawing/2014/main" id="{D689D4D8-76B6-D5A0-F3EA-E07ED82D6FA3}"/>
              </a:ext>
            </a:extLst>
          </p:cNvPr>
          <p:cNvSpPr>
            <a:spLocks noChangeShapeType="1"/>
          </p:cNvSpPr>
          <p:nvPr/>
        </p:nvSpPr>
        <p:spPr bwMode="auto">
          <a:xfrm>
            <a:off x="5562600" y="4856163"/>
            <a:ext cx="2362200"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82403"/>
                                        </p:tgtEl>
                                        <p:attrNameLst>
                                          <p:attrName>style.visibility</p:attrName>
                                        </p:attrNameLst>
                                      </p:cBhvr>
                                      <p:to>
                                        <p:strVal val="visible"/>
                                      </p:to>
                                    </p:set>
                                    <p:anim calcmode="lin" valueType="num">
                                      <p:cBhvr>
                                        <p:cTn id="14" dur="1000" fill="hold"/>
                                        <p:tgtEl>
                                          <p:spTgt spid="1382403"/>
                                        </p:tgtEl>
                                        <p:attrNameLst>
                                          <p:attrName>ppt_w</p:attrName>
                                        </p:attrNameLst>
                                      </p:cBhvr>
                                      <p:tavLst>
                                        <p:tav tm="0">
                                          <p:val>
                                            <p:strVal val="#ppt_w*0.70"/>
                                          </p:val>
                                        </p:tav>
                                        <p:tav tm="100000">
                                          <p:val>
                                            <p:strVal val="#ppt_w"/>
                                          </p:val>
                                        </p:tav>
                                      </p:tavLst>
                                    </p:anim>
                                    <p:anim calcmode="lin" valueType="num">
                                      <p:cBhvr>
                                        <p:cTn id="15" dur="1000" fill="hold"/>
                                        <p:tgtEl>
                                          <p:spTgt spid="1382403"/>
                                        </p:tgtEl>
                                        <p:attrNameLst>
                                          <p:attrName>ppt_h</p:attrName>
                                        </p:attrNameLst>
                                      </p:cBhvr>
                                      <p:tavLst>
                                        <p:tav tm="0">
                                          <p:val>
                                            <p:strVal val="#ppt_h"/>
                                          </p:val>
                                        </p:tav>
                                        <p:tav tm="100000">
                                          <p:val>
                                            <p:strVal val="#ppt_h"/>
                                          </p:val>
                                        </p:tav>
                                      </p:tavLst>
                                    </p:anim>
                                    <p:animEffect transition="in" filter="fade">
                                      <p:cBhvr>
                                        <p:cTn id="16" dur="1000"/>
                                        <p:tgtEl>
                                          <p:spTgt spid="1382403"/>
                                        </p:tgtEl>
                                      </p:cBhvr>
                                    </p:animEffect>
                                  </p:childTnLst>
                                </p:cTn>
                              </p:par>
                              <p:par>
                                <p:cTn id="17" presetID="55" presetClass="entr" presetSubtype="0" fill="hold" nodeType="withEffect">
                                  <p:stCondLst>
                                    <p:cond delay="0"/>
                                  </p:stCondLst>
                                  <p:childTnLst>
                                    <p:set>
                                      <p:cBhvr>
                                        <p:cTn id="18" dur="1" fill="hold">
                                          <p:stCondLst>
                                            <p:cond delay="0"/>
                                          </p:stCondLst>
                                        </p:cTn>
                                        <p:tgtEl>
                                          <p:spTgt spid="1382424"/>
                                        </p:tgtEl>
                                        <p:attrNameLst>
                                          <p:attrName>style.visibility</p:attrName>
                                        </p:attrNameLst>
                                      </p:cBhvr>
                                      <p:to>
                                        <p:strVal val="visible"/>
                                      </p:to>
                                    </p:set>
                                    <p:anim calcmode="lin" valueType="num">
                                      <p:cBhvr>
                                        <p:cTn id="19" dur="1000" fill="hold"/>
                                        <p:tgtEl>
                                          <p:spTgt spid="1382424"/>
                                        </p:tgtEl>
                                        <p:attrNameLst>
                                          <p:attrName>ppt_w</p:attrName>
                                        </p:attrNameLst>
                                      </p:cBhvr>
                                      <p:tavLst>
                                        <p:tav tm="0">
                                          <p:val>
                                            <p:strVal val="#ppt_w*0.70"/>
                                          </p:val>
                                        </p:tav>
                                        <p:tav tm="100000">
                                          <p:val>
                                            <p:strVal val="#ppt_w"/>
                                          </p:val>
                                        </p:tav>
                                      </p:tavLst>
                                    </p:anim>
                                    <p:anim calcmode="lin" valueType="num">
                                      <p:cBhvr>
                                        <p:cTn id="20" dur="1000" fill="hold"/>
                                        <p:tgtEl>
                                          <p:spTgt spid="1382424"/>
                                        </p:tgtEl>
                                        <p:attrNameLst>
                                          <p:attrName>ppt_h</p:attrName>
                                        </p:attrNameLst>
                                      </p:cBhvr>
                                      <p:tavLst>
                                        <p:tav tm="0">
                                          <p:val>
                                            <p:strVal val="#ppt_h"/>
                                          </p:val>
                                        </p:tav>
                                        <p:tav tm="100000">
                                          <p:val>
                                            <p:strVal val="#ppt_h"/>
                                          </p:val>
                                        </p:tav>
                                      </p:tavLst>
                                    </p:anim>
                                    <p:animEffect transition="in" filter="fade">
                                      <p:cBhvr>
                                        <p:cTn id="21" dur="1000"/>
                                        <p:tgtEl>
                                          <p:spTgt spid="13824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5" presetClass="entr" presetSubtype="0" fill="hold" nodeType="clickEffect">
                                  <p:stCondLst>
                                    <p:cond delay="0"/>
                                  </p:stCondLst>
                                  <p:childTnLst>
                                    <p:set>
                                      <p:cBhvr>
                                        <p:cTn id="25" dur="1" fill="hold">
                                          <p:stCondLst>
                                            <p:cond delay="0"/>
                                          </p:stCondLst>
                                        </p:cTn>
                                        <p:tgtEl>
                                          <p:spTgt spid="1382430"/>
                                        </p:tgtEl>
                                        <p:attrNameLst>
                                          <p:attrName>style.visibility</p:attrName>
                                        </p:attrNameLst>
                                      </p:cBhvr>
                                      <p:to>
                                        <p:strVal val="visible"/>
                                      </p:to>
                                    </p:set>
                                    <p:anim calcmode="lin" valueType="num">
                                      <p:cBhvr>
                                        <p:cTn id="26" dur="1000" fill="hold"/>
                                        <p:tgtEl>
                                          <p:spTgt spid="1382430"/>
                                        </p:tgtEl>
                                        <p:attrNameLst>
                                          <p:attrName>ppt_w</p:attrName>
                                        </p:attrNameLst>
                                      </p:cBhvr>
                                      <p:tavLst>
                                        <p:tav tm="0">
                                          <p:val>
                                            <p:strVal val="#ppt_w*0.70"/>
                                          </p:val>
                                        </p:tav>
                                        <p:tav tm="100000">
                                          <p:val>
                                            <p:strVal val="#ppt_w"/>
                                          </p:val>
                                        </p:tav>
                                      </p:tavLst>
                                    </p:anim>
                                    <p:anim calcmode="lin" valueType="num">
                                      <p:cBhvr>
                                        <p:cTn id="27" dur="1000" fill="hold"/>
                                        <p:tgtEl>
                                          <p:spTgt spid="1382430"/>
                                        </p:tgtEl>
                                        <p:attrNameLst>
                                          <p:attrName>ppt_h</p:attrName>
                                        </p:attrNameLst>
                                      </p:cBhvr>
                                      <p:tavLst>
                                        <p:tav tm="0">
                                          <p:val>
                                            <p:strVal val="#ppt_h"/>
                                          </p:val>
                                        </p:tav>
                                        <p:tav tm="100000">
                                          <p:val>
                                            <p:strVal val="#ppt_h"/>
                                          </p:val>
                                        </p:tav>
                                      </p:tavLst>
                                    </p:anim>
                                    <p:animEffect transition="in" filter="fade">
                                      <p:cBhvr>
                                        <p:cTn id="28" dur="1000"/>
                                        <p:tgtEl>
                                          <p:spTgt spid="13824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5" presetClass="entr" presetSubtype="0" fill="hold" nodeType="clickEffect">
                                  <p:stCondLst>
                                    <p:cond delay="0"/>
                                  </p:stCondLst>
                                  <p:childTnLst>
                                    <p:set>
                                      <p:cBhvr>
                                        <p:cTn id="32" dur="1" fill="hold">
                                          <p:stCondLst>
                                            <p:cond delay="0"/>
                                          </p:stCondLst>
                                        </p:cTn>
                                        <p:tgtEl>
                                          <p:spTgt spid="1382402"/>
                                        </p:tgtEl>
                                        <p:attrNameLst>
                                          <p:attrName>style.visibility</p:attrName>
                                        </p:attrNameLst>
                                      </p:cBhvr>
                                      <p:to>
                                        <p:strVal val="visible"/>
                                      </p:to>
                                    </p:set>
                                    <p:anim calcmode="lin" valueType="num">
                                      <p:cBhvr>
                                        <p:cTn id="33" dur="1000" fill="hold"/>
                                        <p:tgtEl>
                                          <p:spTgt spid="1382402"/>
                                        </p:tgtEl>
                                        <p:attrNameLst>
                                          <p:attrName>ppt_w</p:attrName>
                                        </p:attrNameLst>
                                      </p:cBhvr>
                                      <p:tavLst>
                                        <p:tav tm="0">
                                          <p:val>
                                            <p:strVal val="#ppt_w*0.70"/>
                                          </p:val>
                                        </p:tav>
                                        <p:tav tm="100000">
                                          <p:val>
                                            <p:strVal val="#ppt_w"/>
                                          </p:val>
                                        </p:tav>
                                      </p:tavLst>
                                    </p:anim>
                                    <p:anim calcmode="lin" valueType="num">
                                      <p:cBhvr>
                                        <p:cTn id="34" dur="1000" fill="hold"/>
                                        <p:tgtEl>
                                          <p:spTgt spid="1382402"/>
                                        </p:tgtEl>
                                        <p:attrNameLst>
                                          <p:attrName>ppt_h</p:attrName>
                                        </p:attrNameLst>
                                      </p:cBhvr>
                                      <p:tavLst>
                                        <p:tav tm="0">
                                          <p:val>
                                            <p:strVal val="#ppt_h"/>
                                          </p:val>
                                        </p:tav>
                                        <p:tav tm="100000">
                                          <p:val>
                                            <p:strVal val="#ppt_h"/>
                                          </p:val>
                                        </p:tav>
                                      </p:tavLst>
                                    </p:anim>
                                    <p:animEffect transition="in" filter="fade">
                                      <p:cBhvr>
                                        <p:cTn id="35" dur="1000"/>
                                        <p:tgtEl>
                                          <p:spTgt spid="1382402"/>
                                        </p:tgtEl>
                                      </p:cBhvr>
                                    </p:animEffect>
                                  </p:childTnLst>
                                </p:cTn>
                              </p:par>
                              <p:par>
                                <p:cTn id="36" presetID="55" presetClass="entr" presetSubtype="0" fill="hold" nodeType="withEffect">
                                  <p:stCondLst>
                                    <p:cond delay="0"/>
                                  </p:stCondLst>
                                  <p:childTnLst>
                                    <p:set>
                                      <p:cBhvr>
                                        <p:cTn id="37" dur="1" fill="hold">
                                          <p:stCondLst>
                                            <p:cond delay="0"/>
                                          </p:stCondLst>
                                        </p:cTn>
                                        <p:tgtEl>
                                          <p:spTgt spid="1382419"/>
                                        </p:tgtEl>
                                        <p:attrNameLst>
                                          <p:attrName>style.visibility</p:attrName>
                                        </p:attrNameLst>
                                      </p:cBhvr>
                                      <p:to>
                                        <p:strVal val="visible"/>
                                      </p:to>
                                    </p:set>
                                    <p:anim calcmode="lin" valueType="num">
                                      <p:cBhvr>
                                        <p:cTn id="38" dur="1000" fill="hold"/>
                                        <p:tgtEl>
                                          <p:spTgt spid="1382419"/>
                                        </p:tgtEl>
                                        <p:attrNameLst>
                                          <p:attrName>ppt_w</p:attrName>
                                        </p:attrNameLst>
                                      </p:cBhvr>
                                      <p:tavLst>
                                        <p:tav tm="0">
                                          <p:val>
                                            <p:strVal val="#ppt_w*0.70"/>
                                          </p:val>
                                        </p:tav>
                                        <p:tav tm="100000">
                                          <p:val>
                                            <p:strVal val="#ppt_w"/>
                                          </p:val>
                                        </p:tav>
                                      </p:tavLst>
                                    </p:anim>
                                    <p:anim calcmode="lin" valueType="num">
                                      <p:cBhvr>
                                        <p:cTn id="39" dur="1000" fill="hold"/>
                                        <p:tgtEl>
                                          <p:spTgt spid="1382419"/>
                                        </p:tgtEl>
                                        <p:attrNameLst>
                                          <p:attrName>ppt_h</p:attrName>
                                        </p:attrNameLst>
                                      </p:cBhvr>
                                      <p:tavLst>
                                        <p:tav tm="0">
                                          <p:val>
                                            <p:strVal val="#ppt_h"/>
                                          </p:val>
                                        </p:tav>
                                        <p:tav tm="100000">
                                          <p:val>
                                            <p:strVal val="#ppt_h"/>
                                          </p:val>
                                        </p:tav>
                                      </p:tavLst>
                                    </p:anim>
                                    <p:animEffect transition="in" filter="fade">
                                      <p:cBhvr>
                                        <p:cTn id="40" dur="1000"/>
                                        <p:tgtEl>
                                          <p:spTgt spid="1382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02" grpId="0" animBg="1"/>
      <p:bldP spid="1382403" grpId="0" animBg="1"/>
      <p:bldP spid="1382419" grpId="0"/>
      <p:bldP spid="13824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633664F-B97F-8719-5600-ED718E062145}"/>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7651" name="Rectangle 3">
            <a:extLst>
              <a:ext uri="{FF2B5EF4-FFF2-40B4-BE49-F238E27FC236}">
                <a16:creationId xmlns:a16="http://schemas.microsoft.com/office/drawing/2014/main" id="{BA477D9B-AD67-40F8-69DA-A06FA86AC1D7}"/>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7652" name="Rectangle 4">
            <a:extLst>
              <a:ext uri="{FF2B5EF4-FFF2-40B4-BE49-F238E27FC236}">
                <a16:creationId xmlns:a16="http://schemas.microsoft.com/office/drawing/2014/main" id="{46DC77AA-9CF6-DBB9-759B-5B00CE2D4AB8}"/>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Displacement Addressing</a:t>
            </a:r>
          </a:p>
        </p:txBody>
      </p:sp>
      <p:sp>
        <p:nvSpPr>
          <p:cNvPr id="1384453" name="Rectangle 5">
            <a:extLst>
              <a:ext uri="{FF2B5EF4-FFF2-40B4-BE49-F238E27FC236}">
                <a16:creationId xmlns:a16="http://schemas.microsoft.com/office/drawing/2014/main" id="{BD0FBA20-E999-E7D2-DA6F-757DC6072CD5}"/>
              </a:ext>
            </a:extLst>
          </p:cNvPr>
          <p:cNvSpPr>
            <a:spLocks noGrp="1" noChangeArrowheads="1"/>
          </p:cNvSpPr>
          <p:nvPr>
            <p:ph type="body" idx="1"/>
          </p:nvPr>
        </p:nvSpPr>
        <p:spPr>
          <a:xfrm>
            <a:off x="1992314" y="1470025"/>
            <a:ext cx="7845425" cy="3875088"/>
          </a:xfrm>
          <a:noFill/>
        </p:spPr>
        <p:txBody>
          <a:bodyPr vert="horz" wrap="square" lIns="90488" tIns="44450" rIns="90488" bIns="44450" numCol="1" anchor="t" anchorCtr="0" compatLnSpc="1">
            <a:prstTxWarp prst="textNoShape">
              <a:avLst/>
            </a:prstTxWarp>
          </a:bodyPr>
          <a:lstStyle/>
          <a:p>
            <a:r>
              <a:rPr lang="en-US" altLang="en-US"/>
              <a:t>EA = A + (R)</a:t>
            </a:r>
          </a:p>
          <a:p>
            <a:r>
              <a:rPr lang="en-US" altLang="en-US"/>
              <a:t>Address field hold two values</a:t>
            </a:r>
          </a:p>
          <a:p>
            <a:pPr lvl="1"/>
            <a:r>
              <a:rPr lang="en-US" altLang="en-US"/>
              <a:t>A = base value</a:t>
            </a:r>
          </a:p>
          <a:p>
            <a:pPr lvl="1"/>
            <a:r>
              <a:rPr lang="en-US" altLang="en-US"/>
              <a:t>R = register that holds displacement</a:t>
            </a:r>
          </a:p>
          <a:p>
            <a:pPr lvl="1"/>
            <a:r>
              <a:rPr lang="en-US" altLang="en-US"/>
              <a:t>or vice versa</a:t>
            </a:r>
          </a:p>
          <a:p>
            <a:pPr>
              <a:buFont typeface="Monotype Sorts" pitchFamily="2" charset="2"/>
              <a:buChar char="y"/>
            </a:pPr>
            <a:endParaRPr lang="en-US" altLang="en-US" sz="24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84453">
                                            <p:txEl>
                                              <p:pRg st="0" end="0"/>
                                            </p:txEl>
                                          </p:spTgt>
                                        </p:tgtEl>
                                        <p:attrNameLst>
                                          <p:attrName>style.visibility</p:attrName>
                                        </p:attrNameLst>
                                      </p:cBhvr>
                                      <p:to>
                                        <p:strVal val="visible"/>
                                      </p:to>
                                    </p:set>
                                    <p:anim calcmode="lin" valueType="num">
                                      <p:cBhvr>
                                        <p:cTn id="7" dur="1000" fill="hold"/>
                                        <p:tgtEl>
                                          <p:spTgt spid="138445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8445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8445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84453">
                                            <p:txEl>
                                              <p:pRg st="1" end="1"/>
                                            </p:txEl>
                                          </p:spTgt>
                                        </p:tgtEl>
                                        <p:attrNameLst>
                                          <p:attrName>style.visibility</p:attrName>
                                        </p:attrNameLst>
                                      </p:cBhvr>
                                      <p:to>
                                        <p:strVal val="visible"/>
                                      </p:to>
                                    </p:set>
                                    <p:anim calcmode="lin" valueType="num">
                                      <p:cBhvr>
                                        <p:cTn id="14" dur="1000" fill="hold"/>
                                        <p:tgtEl>
                                          <p:spTgt spid="138445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8445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8445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84453">
                                            <p:txEl>
                                              <p:pRg st="2" end="2"/>
                                            </p:txEl>
                                          </p:spTgt>
                                        </p:tgtEl>
                                        <p:attrNameLst>
                                          <p:attrName>style.visibility</p:attrName>
                                        </p:attrNameLst>
                                      </p:cBhvr>
                                      <p:to>
                                        <p:strVal val="visible"/>
                                      </p:to>
                                    </p:set>
                                    <p:anim calcmode="lin" valueType="num">
                                      <p:cBhvr>
                                        <p:cTn id="21" dur="1000" fill="hold"/>
                                        <p:tgtEl>
                                          <p:spTgt spid="138445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8445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8445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1384453">
                                            <p:txEl>
                                              <p:pRg st="3" end="3"/>
                                            </p:txEl>
                                          </p:spTgt>
                                        </p:tgtEl>
                                        <p:attrNameLst>
                                          <p:attrName>style.visibility</p:attrName>
                                        </p:attrNameLst>
                                      </p:cBhvr>
                                      <p:to>
                                        <p:strVal val="visible"/>
                                      </p:to>
                                    </p:set>
                                    <p:anim calcmode="lin" valueType="num">
                                      <p:cBhvr>
                                        <p:cTn id="28" dur="1000" fill="hold"/>
                                        <p:tgtEl>
                                          <p:spTgt spid="138445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38445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384453">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nodeType="clickEffect">
                                  <p:stCondLst>
                                    <p:cond delay="0"/>
                                  </p:stCondLst>
                                  <p:childTnLst>
                                    <p:set>
                                      <p:cBhvr>
                                        <p:cTn id="34" dur="1" fill="hold">
                                          <p:stCondLst>
                                            <p:cond delay="0"/>
                                          </p:stCondLst>
                                        </p:cTn>
                                        <p:tgtEl>
                                          <p:spTgt spid="1384453">
                                            <p:txEl>
                                              <p:pRg st="4" end="4"/>
                                            </p:txEl>
                                          </p:spTgt>
                                        </p:tgtEl>
                                        <p:attrNameLst>
                                          <p:attrName>style.visibility</p:attrName>
                                        </p:attrNameLst>
                                      </p:cBhvr>
                                      <p:to>
                                        <p:strVal val="visible"/>
                                      </p:to>
                                    </p:set>
                                    <p:anim calcmode="lin" valueType="num">
                                      <p:cBhvr>
                                        <p:cTn id="35" dur="1000" fill="hold"/>
                                        <p:tgtEl>
                                          <p:spTgt spid="138445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38445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3844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445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498" name="Rectangle 2">
            <a:extLst>
              <a:ext uri="{FF2B5EF4-FFF2-40B4-BE49-F238E27FC236}">
                <a16:creationId xmlns:a16="http://schemas.microsoft.com/office/drawing/2014/main" id="{B59747D6-ECB4-DAA6-CF21-63EDDC9CAFDF}"/>
              </a:ext>
            </a:extLst>
          </p:cNvPr>
          <p:cNvSpPr>
            <a:spLocks noChangeArrowheads="1"/>
          </p:cNvSpPr>
          <p:nvPr/>
        </p:nvSpPr>
        <p:spPr bwMode="auto">
          <a:xfrm>
            <a:off x="7648576" y="4564064"/>
            <a:ext cx="2587625" cy="693737"/>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86499" name="Line 3">
            <a:extLst>
              <a:ext uri="{FF2B5EF4-FFF2-40B4-BE49-F238E27FC236}">
                <a16:creationId xmlns:a16="http://schemas.microsoft.com/office/drawing/2014/main" id="{ECAE6F2F-DECA-BBAE-D8AE-8237A69D5226}"/>
              </a:ext>
            </a:extLst>
          </p:cNvPr>
          <p:cNvSpPr>
            <a:spLocks noChangeShapeType="1"/>
          </p:cNvSpPr>
          <p:nvPr/>
        </p:nvSpPr>
        <p:spPr bwMode="auto">
          <a:xfrm>
            <a:off x="6575425" y="4953000"/>
            <a:ext cx="1066800"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1386500" name="Rectangle 4">
            <a:extLst>
              <a:ext uri="{FF2B5EF4-FFF2-40B4-BE49-F238E27FC236}">
                <a16:creationId xmlns:a16="http://schemas.microsoft.com/office/drawing/2014/main" id="{7E2D049F-A265-4E29-1823-B7489714AE06}"/>
              </a:ext>
            </a:extLst>
          </p:cNvPr>
          <p:cNvSpPr>
            <a:spLocks noChangeArrowheads="1"/>
          </p:cNvSpPr>
          <p:nvPr/>
        </p:nvSpPr>
        <p:spPr bwMode="auto">
          <a:xfrm>
            <a:off x="2698751" y="4491039"/>
            <a:ext cx="2587625" cy="693737"/>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01" name="Rectangle 5">
            <a:extLst>
              <a:ext uri="{FF2B5EF4-FFF2-40B4-BE49-F238E27FC236}">
                <a16:creationId xmlns:a16="http://schemas.microsoft.com/office/drawing/2014/main" id="{A02BCE62-8F19-A866-DE66-124B4E825859}"/>
              </a:ext>
            </a:extLst>
          </p:cNvPr>
          <p:cNvSpPr>
            <a:spLocks noChangeArrowheads="1"/>
          </p:cNvSpPr>
          <p:nvPr/>
        </p:nvSpPr>
        <p:spPr bwMode="auto">
          <a:xfrm>
            <a:off x="43688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02" name="Rectangle 6">
            <a:extLst>
              <a:ext uri="{FF2B5EF4-FFF2-40B4-BE49-F238E27FC236}">
                <a16:creationId xmlns:a16="http://schemas.microsoft.com/office/drawing/2014/main" id="{A38DB798-3F2B-EA69-85E0-82061B6F6100}"/>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sz="2400"/>
              <a:t>Displacement Addressing Diagram</a:t>
            </a:r>
            <a:endParaRPr lang="en-US" altLang="en-US"/>
          </a:p>
        </p:txBody>
      </p:sp>
      <p:grpSp>
        <p:nvGrpSpPr>
          <p:cNvPr id="29703" name="Group 7">
            <a:extLst>
              <a:ext uri="{FF2B5EF4-FFF2-40B4-BE49-F238E27FC236}">
                <a16:creationId xmlns:a16="http://schemas.microsoft.com/office/drawing/2014/main" id="{DF5F7CE8-4D16-8DEF-B548-A29EFAF6FB71}"/>
              </a:ext>
            </a:extLst>
          </p:cNvPr>
          <p:cNvGrpSpPr>
            <a:grpSpLocks/>
          </p:cNvGrpSpPr>
          <p:nvPr/>
        </p:nvGrpSpPr>
        <p:grpSpPr bwMode="auto">
          <a:xfrm>
            <a:off x="2693988" y="2287589"/>
            <a:ext cx="4722812" cy="604837"/>
            <a:chOff x="913" y="1441"/>
            <a:chExt cx="2975" cy="381"/>
          </a:xfrm>
        </p:grpSpPr>
        <p:sp>
          <p:nvSpPr>
            <p:cNvPr id="29731" name="Rectangle 8">
              <a:extLst>
                <a:ext uri="{FF2B5EF4-FFF2-40B4-BE49-F238E27FC236}">
                  <a16:creationId xmlns:a16="http://schemas.microsoft.com/office/drawing/2014/main" id="{631744B1-4523-6D5A-171D-C9D03914776F}"/>
                </a:ext>
              </a:extLst>
            </p:cNvPr>
            <p:cNvSpPr>
              <a:spLocks noChangeArrowheads="1"/>
            </p:cNvSpPr>
            <p:nvPr/>
          </p:nvSpPr>
          <p:spPr bwMode="auto">
            <a:xfrm>
              <a:off x="913" y="1441"/>
              <a:ext cx="2975" cy="381"/>
            </a:xfrm>
            <a:prstGeom prst="rect">
              <a:avLst/>
            </a:prstGeom>
            <a:solidFill>
              <a:schemeClr val="accent1"/>
            </a:solidFill>
            <a:ln w="12700">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32" name="Line 9">
              <a:extLst>
                <a:ext uri="{FF2B5EF4-FFF2-40B4-BE49-F238E27FC236}">
                  <a16:creationId xmlns:a16="http://schemas.microsoft.com/office/drawing/2014/main" id="{DC4CB9FA-EE2F-CADC-D7B7-FFBC716B8DC4}"/>
                </a:ext>
              </a:extLst>
            </p:cNvPr>
            <p:cNvSpPr>
              <a:spLocks noChangeShapeType="1"/>
            </p:cNvSpPr>
            <p:nvPr/>
          </p:nvSpPr>
          <p:spPr bwMode="auto">
            <a:xfrm>
              <a:off x="1537" y="1446"/>
              <a:ext cx="0" cy="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sp>
        <p:nvSpPr>
          <p:cNvPr id="29704" name="Rectangle 10">
            <a:extLst>
              <a:ext uri="{FF2B5EF4-FFF2-40B4-BE49-F238E27FC236}">
                <a16:creationId xmlns:a16="http://schemas.microsoft.com/office/drawing/2014/main" id="{260B986A-9F4A-6F30-EBBC-E2261F5A41F5}"/>
              </a:ext>
            </a:extLst>
          </p:cNvPr>
          <p:cNvSpPr>
            <a:spLocks noChangeArrowheads="1"/>
          </p:cNvSpPr>
          <p:nvPr/>
        </p:nvSpPr>
        <p:spPr bwMode="auto">
          <a:xfrm>
            <a:off x="3608389" y="2363788"/>
            <a:ext cx="148919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Register R</a:t>
            </a:r>
          </a:p>
        </p:txBody>
      </p:sp>
      <p:sp>
        <p:nvSpPr>
          <p:cNvPr id="29705" name="Rectangle 11">
            <a:extLst>
              <a:ext uri="{FF2B5EF4-FFF2-40B4-BE49-F238E27FC236}">
                <a16:creationId xmlns:a16="http://schemas.microsoft.com/office/drawing/2014/main" id="{7EC25E88-DF57-2421-FC69-E8208285636B}"/>
              </a:ext>
            </a:extLst>
          </p:cNvPr>
          <p:cNvSpPr>
            <a:spLocks noChangeArrowheads="1"/>
          </p:cNvSpPr>
          <p:nvPr/>
        </p:nvSpPr>
        <p:spPr bwMode="auto">
          <a:xfrm>
            <a:off x="2617789" y="2363788"/>
            <a:ext cx="113973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Opcode</a:t>
            </a:r>
          </a:p>
        </p:txBody>
      </p:sp>
      <p:sp>
        <p:nvSpPr>
          <p:cNvPr id="29706" name="Rectangle 12">
            <a:extLst>
              <a:ext uri="{FF2B5EF4-FFF2-40B4-BE49-F238E27FC236}">
                <a16:creationId xmlns:a16="http://schemas.microsoft.com/office/drawing/2014/main" id="{E455586E-11C4-F128-1E1F-E40A40BF663C}"/>
              </a:ext>
            </a:extLst>
          </p:cNvPr>
          <p:cNvSpPr>
            <a:spLocks noChangeArrowheads="1"/>
          </p:cNvSpPr>
          <p:nvPr/>
        </p:nvSpPr>
        <p:spPr bwMode="auto">
          <a:xfrm>
            <a:off x="4370389" y="1830388"/>
            <a:ext cx="151483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Instruction</a:t>
            </a:r>
          </a:p>
        </p:txBody>
      </p:sp>
      <p:sp>
        <p:nvSpPr>
          <p:cNvPr id="29707" name="Rectangle 13">
            <a:extLst>
              <a:ext uri="{FF2B5EF4-FFF2-40B4-BE49-F238E27FC236}">
                <a16:creationId xmlns:a16="http://schemas.microsoft.com/office/drawing/2014/main" id="{1E207B5E-2A4B-97E1-19C0-A4EE661E3F75}"/>
              </a:ext>
            </a:extLst>
          </p:cNvPr>
          <p:cNvSpPr>
            <a:spLocks noChangeArrowheads="1"/>
          </p:cNvSpPr>
          <p:nvPr/>
        </p:nvSpPr>
        <p:spPr bwMode="auto">
          <a:xfrm>
            <a:off x="7646989" y="32019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08" name="Rectangle 14">
            <a:extLst>
              <a:ext uri="{FF2B5EF4-FFF2-40B4-BE49-F238E27FC236}">
                <a16:creationId xmlns:a16="http://schemas.microsoft.com/office/drawing/2014/main" id="{A62BFD8E-1119-E482-91D1-2947A0EBE478}"/>
              </a:ext>
            </a:extLst>
          </p:cNvPr>
          <p:cNvSpPr>
            <a:spLocks noChangeArrowheads="1"/>
          </p:cNvSpPr>
          <p:nvPr/>
        </p:nvSpPr>
        <p:spPr bwMode="auto">
          <a:xfrm>
            <a:off x="7646989" y="38877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09" name="Rectangle 15">
            <a:extLst>
              <a:ext uri="{FF2B5EF4-FFF2-40B4-BE49-F238E27FC236}">
                <a16:creationId xmlns:a16="http://schemas.microsoft.com/office/drawing/2014/main" id="{5EAC8910-6B9D-7CF1-BF2C-DCF4C74776FA}"/>
              </a:ext>
            </a:extLst>
          </p:cNvPr>
          <p:cNvSpPr>
            <a:spLocks noChangeArrowheads="1"/>
          </p:cNvSpPr>
          <p:nvPr/>
        </p:nvSpPr>
        <p:spPr bwMode="auto">
          <a:xfrm>
            <a:off x="7646989" y="4564063"/>
            <a:ext cx="2587625" cy="6921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10" name="Rectangle 16">
            <a:extLst>
              <a:ext uri="{FF2B5EF4-FFF2-40B4-BE49-F238E27FC236}">
                <a16:creationId xmlns:a16="http://schemas.microsoft.com/office/drawing/2014/main" id="{1058C29B-0B43-D61B-CA5C-0AA540283251}"/>
              </a:ext>
            </a:extLst>
          </p:cNvPr>
          <p:cNvSpPr>
            <a:spLocks noChangeArrowheads="1"/>
          </p:cNvSpPr>
          <p:nvPr/>
        </p:nvSpPr>
        <p:spPr bwMode="auto">
          <a:xfrm>
            <a:off x="7646989" y="52593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11" name="Rectangle 17">
            <a:extLst>
              <a:ext uri="{FF2B5EF4-FFF2-40B4-BE49-F238E27FC236}">
                <a16:creationId xmlns:a16="http://schemas.microsoft.com/office/drawing/2014/main" id="{E76105E6-39BB-F274-84C7-0D842E8255A5}"/>
              </a:ext>
            </a:extLst>
          </p:cNvPr>
          <p:cNvSpPr>
            <a:spLocks noChangeArrowheads="1"/>
          </p:cNvSpPr>
          <p:nvPr/>
        </p:nvSpPr>
        <p:spPr bwMode="auto">
          <a:xfrm>
            <a:off x="7646989" y="59451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12" name="Rectangle 18">
            <a:extLst>
              <a:ext uri="{FF2B5EF4-FFF2-40B4-BE49-F238E27FC236}">
                <a16:creationId xmlns:a16="http://schemas.microsoft.com/office/drawing/2014/main" id="{308C04EB-50AB-6481-1F9A-2F516680F350}"/>
              </a:ext>
            </a:extLst>
          </p:cNvPr>
          <p:cNvSpPr>
            <a:spLocks noChangeArrowheads="1"/>
          </p:cNvSpPr>
          <p:nvPr/>
        </p:nvSpPr>
        <p:spPr bwMode="auto">
          <a:xfrm>
            <a:off x="8180389" y="2668588"/>
            <a:ext cx="124232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Memory</a:t>
            </a:r>
          </a:p>
        </p:txBody>
      </p:sp>
      <p:sp>
        <p:nvSpPr>
          <p:cNvPr id="1386515" name="Rectangle 19">
            <a:extLst>
              <a:ext uri="{FF2B5EF4-FFF2-40B4-BE49-F238E27FC236}">
                <a16:creationId xmlns:a16="http://schemas.microsoft.com/office/drawing/2014/main" id="{5DAF41DF-4F88-20B5-004E-003E44D5364B}"/>
              </a:ext>
            </a:extLst>
          </p:cNvPr>
          <p:cNvSpPr>
            <a:spLocks noChangeArrowheads="1"/>
          </p:cNvSpPr>
          <p:nvPr/>
        </p:nvSpPr>
        <p:spPr bwMode="auto">
          <a:xfrm>
            <a:off x="8332789" y="4725988"/>
            <a:ext cx="124232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Operand</a:t>
            </a:r>
          </a:p>
        </p:txBody>
      </p:sp>
      <p:sp>
        <p:nvSpPr>
          <p:cNvPr id="29714" name="Rectangle 20">
            <a:extLst>
              <a:ext uri="{FF2B5EF4-FFF2-40B4-BE49-F238E27FC236}">
                <a16:creationId xmlns:a16="http://schemas.microsoft.com/office/drawing/2014/main" id="{01CF2234-D06A-241B-C6B1-2FA2787046A2}"/>
              </a:ext>
            </a:extLst>
          </p:cNvPr>
          <p:cNvSpPr>
            <a:spLocks noChangeArrowheads="1"/>
          </p:cNvSpPr>
          <p:nvPr/>
        </p:nvSpPr>
        <p:spPr bwMode="auto">
          <a:xfrm>
            <a:off x="2693989" y="38115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15" name="Rectangle 21">
            <a:extLst>
              <a:ext uri="{FF2B5EF4-FFF2-40B4-BE49-F238E27FC236}">
                <a16:creationId xmlns:a16="http://schemas.microsoft.com/office/drawing/2014/main" id="{077766A9-4C83-EAAB-3949-6436538D7AA9}"/>
              </a:ext>
            </a:extLst>
          </p:cNvPr>
          <p:cNvSpPr>
            <a:spLocks noChangeArrowheads="1"/>
          </p:cNvSpPr>
          <p:nvPr/>
        </p:nvSpPr>
        <p:spPr bwMode="auto">
          <a:xfrm>
            <a:off x="2693989" y="44973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16" name="Rectangle 22">
            <a:extLst>
              <a:ext uri="{FF2B5EF4-FFF2-40B4-BE49-F238E27FC236}">
                <a16:creationId xmlns:a16="http://schemas.microsoft.com/office/drawing/2014/main" id="{D5F7EFC6-AC97-DF4D-930C-505114C80528}"/>
              </a:ext>
            </a:extLst>
          </p:cNvPr>
          <p:cNvSpPr>
            <a:spLocks noChangeArrowheads="1"/>
          </p:cNvSpPr>
          <p:nvPr/>
        </p:nvSpPr>
        <p:spPr bwMode="auto">
          <a:xfrm>
            <a:off x="2693989" y="51831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17" name="Rectangle 23">
            <a:extLst>
              <a:ext uri="{FF2B5EF4-FFF2-40B4-BE49-F238E27FC236}">
                <a16:creationId xmlns:a16="http://schemas.microsoft.com/office/drawing/2014/main" id="{B0806999-B38B-690D-3CCA-1FC7172DAD13}"/>
              </a:ext>
            </a:extLst>
          </p:cNvPr>
          <p:cNvSpPr>
            <a:spLocks noChangeArrowheads="1"/>
          </p:cNvSpPr>
          <p:nvPr/>
        </p:nvSpPr>
        <p:spPr bwMode="auto">
          <a:xfrm>
            <a:off x="2693989" y="5868989"/>
            <a:ext cx="2587625" cy="682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1386520" name="Rectangle 24">
            <a:extLst>
              <a:ext uri="{FF2B5EF4-FFF2-40B4-BE49-F238E27FC236}">
                <a16:creationId xmlns:a16="http://schemas.microsoft.com/office/drawing/2014/main" id="{9D363199-EB20-7BB8-39BA-075A8162EB36}"/>
              </a:ext>
            </a:extLst>
          </p:cNvPr>
          <p:cNvSpPr>
            <a:spLocks noChangeArrowheads="1"/>
          </p:cNvSpPr>
          <p:nvPr/>
        </p:nvSpPr>
        <p:spPr bwMode="auto">
          <a:xfrm>
            <a:off x="2770188" y="4649788"/>
            <a:ext cx="252312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Pointer to Operand</a:t>
            </a:r>
          </a:p>
        </p:txBody>
      </p:sp>
      <p:sp>
        <p:nvSpPr>
          <p:cNvPr id="29719" name="Rectangle 25">
            <a:extLst>
              <a:ext uri="{FF2B5EF4-FFF2-40B4-BE49-F238E27FC236}">
                <a16:creationId xmlns:a16="http://schemas.microsoft.com/office/drawing/2014/main" id="{718A0E3C-98CE-BB00-5A49-D99FBAA43CD2}"/>
              </a:ext>
            </a:extLst>
          </p:cNvPr>
          <p:cNvSpPr>
            <a:spLocks noChangeArrowheads="1"/>
          </p:cNvSpPr>
          <p:nvPr/>
        </p:nvSpPr>
        <p:spPr bwMode="auto">
          <a:xfrm>
            <a:off x="3379788" y="3382963"/>
            <a:ext cx="1314450"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Registers</a:t>
            </a:r>
          </a:p>
        </p:txBody>
      </p:sp>
      <p:grpSp>
        <p:nvGrpSpPr>
          <p:cNvPr id="3" name="Group 26">
            <a:extLst>
              <a:ext uri="{FF2B5EF4-FFF2-40B4-BE49-F238E27FC236}">
                <a16:creationId xmlns:a16="http://schemas.microsoft.com/office/drawing/2014/main" id="{CB59AFD4-816F-6761-BF71-701E4FDAFB81}"/>
              </a:ext>
            </a:extLst>
          </p:cNvPr>
          <p:cNvGrpSpPr>
            <a:grpSpLocks/>
          </p:cNvGrpSpPr>
          <p:nvPr/>
        </p:nvGrpSpPr>
        <p:grpSpPr bwMode="auto">
          <a:xfrm>
            <a:off x="1925638" y="2903538"/>
            <a:ext cx="2754312" cy="1936750"/>
            <a:chOff x="253" y="1829"/>
            <a:chExt cx="1735" cy="1220"/>
          </a:xfrm>
        </p:grpSpPr>
        <p:sp>
          <p:nvSpPr>
            <p:cNvPr id="29728" name="Line 27">
              <a:extLst>
                <a:ext uri="{FF2B5EF4-FFF2-40B4-BE49-F238E27FC236}">
                  <a16:creationId xmlns:a16="http://schemas.microsoft.com/office/drawing/2014/main" id="{6379C5C0-31ED-0235-06CE-9CC28AE97EA7}"/>
                </a:ext>
              </a:extLst>
            </p:cNvPr>
            <p:cNvSpPr>
              <a:spLocks noChangeShapeType="1"/>
            </p:cNvSpPr>
            <p:nvPr/>
          </p:nvSpPr>
          <p:spPr bwMode="auto">
            <a:xfrm>
              <a:off x="1984" y="1829"/>
              <a:ext cx="0" cy="327"/>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9729" name="Line 28">
              <a:extLst>
                <a:ext uri="{FF2B5EF4-FFF2-40B4-BE49-F238E27FC236}">
                  <a16:creationId xmlns:a16="http://schemas.microsoft.com/office/drawing/2014/main" id="{AE87D989-5141-A19E-9161-AE25EBDE808D}"/>
                </a:ext>
              </a:extLst>
            </p:cNvPr>
            <p:cNvSpPr>
              <a:spLocks noChangeShapeType="1"/>
            </p:cNvSpPr>
            <p:nvPr/>
          </p:nvSpPr>
          <p:spPr bwMode="auto">
            <a:xfrm flipH="1">
              <a:off x="253" y="2160"/>
              <a:ext cx="1735"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9730" name="Freeform 29">
              <a:extLst>
                <a:ext uri="{FF2B5EF4-FFF2-40B4-BE49-F238E27FC236}">
                  <a16:creationId xmlns:a16="http://schemas.microsoft.com/office/drawing/2014/main" id="{F35284FE-0D8D-5B18-20C0-F025CD010EE2}"/>
                </a:ext>
              </a:extLst>
            </p:cNvPr>
            <p:cNvSpPr>
              <a:spLocks/>
            </p:cNvSpPr>
            <p:nvPr/>
          </p:nvSpPr>
          <p:spPr bwMode="auto">
            <a:xfrm>
              <a:off x="256" y="2160"/>
              <a:ext cx="481" cy="889"/>
            </a:xfrm>
            <a:custGeom>
              <a:avLst/>
              <a:gdLst>
                <a:gd name="T0" fmla="*/ 0 w 481"/>
                <a:gd name="T1" fmla="*/ 0 h 889"/>
                <a:gd name="T2" fmla="*/ 0 w 481"/>
                <a:gd name="T3" fmla="*/ 888 h 889"/>
                <a:gd name="T4" fmla="*/ 480 w 481"/>
                <a:gd name="T5" fmla="*/ 888 h 889"/>
                <a:gd name="T6" fmla="*/ 0 60000 65536"/>
                <a:gd name="T7" fmla="*/ 0 60000 65536"/>
                <a:gd name="T8" fmla="*/ 0 60000 65536"/>
                <a:gd name="T9" fmla="*/ 0 w 481"/>
                <a:gd name="T10" fmla="*/ 0 h 889"/>
                <a:gd name="T11" fmla="*/ 481 w 481"/>
                <a:gd name="T12" fmla="*/ 889 h 889"/>
              </a:gdLst>
              <a:ahLst/>
              <a:cxnLst>
                <a:cxn ang="T6">
                  <a:pos x="T0" y="T1"/>
                </a:cxn>
                <a:cxn ang="T7">
                  <a:pos x="T2" y="T3"/>
                </a:cxn>
                <a:cxn ang="T8">
                  <a:pos x="T4" y="T5"/>
                </a:cxn>
              </a:cxnLst>
              <a:rect l="T9" t="T10" r="T11" b="T12"/>
              <a:pathLst>
                <a:path w="481" h="889">
                  <a:moveTo>
                    <a:pt x="0" y="0"/>
                  </a:moveTo>
                  <a:lnTo>
                    <a:pt x="0" y="888"/>
                  </a:lnTo>
                  <a:lnTo>
                    <a:pt x="480" y="888"/>
                  </a:lnTo>
                </a:path>
              </a:pathLst>
            </a:custGeom>
            <a:noFill/>
            <a:ln w="28575" cap="rnd"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sp>
        <p:nvSpPr>
          <p:cNvPr id="29721" name="Line 30">
            <a:extLst>
              <a:ext uri="{FF2B5EF4-FFF2-40B4-BE49-F238E27FC236}">
                <a16:creationId xmlns:a16="http://schemas.microsoft.com/office/drawing/2014/main" id="{F5457E36-A008-F9A5-E815-09A5BDE4174C}"/>
              </a:ext>
            </a:extLst>
          </p:cNvPr>
          <p:cNvSpPr>
            <a:spLocks noChangeShapeType="1"/>
          </p:cNvSpPr>
          <p:nvPr/>
        </p:nvSpPr>
        <p:spPr bwMode="auto">
          <a:xfrm>
            <a:off x="5054600" y="2293938"/>
            <a:ext cx="0" cy="595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9722" name="Rectangle 31">
            <a:extLst>
              <a:ext uri="{FF2B5EF4-FFF2-40B4-BE49-F238E27FC236}">
                <a16:creationId xmlns:a16="http://schemas.microsoft.com/office/drawing/2014/main" id="{B1C54519-386A-B3BD-106D-1733AEE572E6}"/>
              </a:ext>
            </a:extLst>
          </p:cNvPr>
          <p:cNvSpPr>
            <a:spLocks noChangeArrowheads="1"/>
          </p:cNvSpPr>
          <p:nvPr/>
        </p:nvSpPr>
        <p:spPr bwMode="auto">
          <a:xfrm>
            <a:off x="5116514" y="2328863"/>
            <a:ext cx="147540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sz="2400">
                <a:solidFill>
                  <a:srgbClr val="000000"/>
                </a:solidFill>
                <a:latin typeface="Times New Roman" panose="02020603050405020304" pitchFamily="18" charset="0"/>
              </a:rPr>
              <a:t>Address A</a:t>
            </a:r>
          </a:p>
        </p:txBody>
      </p:sp>
      <p:grpSp>
        <p:nvGrpSpPr>
          <p:cNvPr id="4" name="Group 32">
            <a:extLst>
              <a:ext uri="{FF2B5EF4-FFF2-40B4-BE49-F238E27FC236}">
                <a16:creationId xmlns:a16="http://schemas.microsoft.com/office/drawing/2014/main" id="{C0E1BD9E-C3CC-1FFA-4767-38126453A926}"/>
              </a:ext>
            </a:extLst>
          </p:cNvPr>
          <p:cNvGrpSpPr>
            <a:grpSpLocks/>
          </p:cNvGrpSpPr>
          <p:nvPr/>
        </p:nvGrpSpPr>
        <p:grpSpPr bwMode="auto">
          <a:xfrm>
            <a:off x="6046789" y="4668838"/>
            <a:ext cx="530225" cy="527050"/>
            <a:chOff x="2849" y="2941"/>
            <a:chExt cx="334" cy="332"/>
          </a:xfrm>
        </p:grpSpPr>
        <p:sp>
          <p:nvSpPr>
            <p:cNvPr id="29726" name="Oval 33">
              <a:extLst>
                <a:ext uri="{FF2B5EF4-FFF2-40B4-BE49-F238E27FC236}">
                  <a16:creationId xmlns:a16="http://schemas.microsoft.com/office/drawing/2014/main" id="{D3226DAB-E22B-B8F8-5015-F4E568C940D9}"/>
                </a:ext>
              </a:extLst>
            </p:cNvPr>
            <p:cNvSpPr>
              <a:spLocks noChangeArrowheads="1"/>
            </p:cNvSpPr>
            <p:nvPr/>
          </p:nvSpPr>
          <p:spPr bwMode="auto">
            <a:xfrm>
              <a:off x="2849" y="2950"/>
              <a:ext cx="334" cy="323"/>
            </a:xfrm>
            <a:prstGeom prst="ellipse">
              <a:avLst/>
            </a:prstGeom>
            <a:solidFill>
              <a:schemeClr val="accent1"/>
            </a:solidFill>
            <a:ln w="28575">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29727" name="Rectangle 34">
              <a:extLst>
                <a:ext uri="{FF2B5EF4-FFF2-40B4-BE49-F238E27FC236}">
                  <a16:creationId xmlns:a16="http://schemas.microsoft.com/office/drawing/2014/main" id="{B93911B1-46A4-BB0E-DE14-E44821E382D5}"/>
                </a:ext>
              </a:extLst>
            </p:cNvPr>
            <p:cNvSpPr>
              <a:spLocks noChangeArrowheads="1"/>
            </p:cNvSpPr>
            <p:nvPr/>
          </p:nvSpPr>
          <p:spPr bwMode="auto">
            <a:xfrm>
              <a:off x="2892" y="2941"/>
              <a:ext cx="222"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r>
                <a:rPr kumimoji="0" lang="en-US" altLang="en-US">
                  <a:solidFill>
                    <a:srgbClr val="000000"/>
                  </a:solidFill>
                  <a:latin typeface="Times New Roman" panose="02020603050405020304" pitchFamily="18" charset="0"/>
                </a:rPr>
                <a:t>+</a:t>
              </a:r>
            </a:p>
          </p:txBody>
        </p:sp>
      </p:grpSp>
      <p:sp>
        <p:nvSpPr>
          <p:cNvPr id="1386531" name="Line 35">
            <a:extLst>
              <a:ext uri="{FF2B5EF4-FFF2-40B4-BE49-F238E27FC236}">
                <a16:creationId xmlns:a16="http://schemas.microsoft.com/office/drawing/2014/main" id="{D2C3898D-CE95-0231-0327-FE4423C0934B}"/>
              </a:ext>
            </a:extLst>
          </p:cNvPr>
          <p:cNvSpPr>
            <a:spLocks noChangeShapeType="1"/>
          </p:cNvSpPr>
          <p:nvPr/>
        </p:nvSpPr>
        <p:spPr bwMode="auto">
          <a:xfrm>
            <a:off x="6307138" y="2879726"/>
            <a:ext cx="0" cy="1793875"/>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1386532" name="Line 36">
            <a:extLst>
              <a:ext uri="{FF2B5EF4-FFF2-40B4-BE49-F238E27FC236}">
                <a16:creationId xmlns:a16="http://schemas.microsoft.com/office/drawing/2014/main" id="{E03924A7-B10D-F87B-4E25-3C03ABF7D879}"/>
              </a:ext>
            </a:extLst>
          </p:cNvPr>
          <p:cNvSpPr>
            <a:spLocks noChangeShapeType="1"/>
          </p:cNvSpPr>
          <p:nvPr/>
        </p:nvSpPr>
        <p:spPr bwMode="auto">
          <a:xfrm>
            <a:off x="5289550" y="4953000"/>
            <a:ext cx="762000"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86500"/>
                                        </p:tgtEl>
                                        <p:attrNameLst>
                                          <p:attrName>style.visibility</p:attrName>
                                        </p:attrNameLst>
                                      </p:cBhvr>
                                      <p:to>
                                        <p:strVal val="visible"/>
                                      </p:to>
                                    </p:set>
                                    <p:anim calcmode="lin" valueType="num">
                                      <p:cBhvr>
                                        <p:cTn id="14" dur="1000" fill="hold"/>
                                        <p:tgtEl>
                                          <p:spTgt spid="1386500"/>
                                        </p:tgtEl>
                                        <p:attrNameLst>
                                          <p:attrName>ppt_w</p:attrName>
                                        </p:attrNameLst>
                                      </p:cBhvr>
                                      <p:tavLst>
                                        <p:tav tm="0">
                                          <p:val>
                                            <p:strVal val="#ppt_w*0.70"/>
                                          </p:val>
                                        </p:tav>
                                        <p:tav tm="100000">
                                          <p:val>
                                            <p:strVal val="#ppt_w"/>
                                          </p:val>
                                        </p:tav>
                                      </p:tavLst>
                                    </p:anim>
                                    <p:anim calcmode="lin" valueType="num">
                                      <p:cBhvr>
                                        <p:cTn id="15" dur="1000" fill="hold"/>
                                        <p:tgtEl>
                                          <p:spTgt spid="1386500"/>
                                        </p:tgtEl>
                                        <p:attrNameLst>
                                          <p:attrName>ppt_h</p:attrName>
                                        </p:attrNameLst>
                                      </p:cBhvr>
                                      <p:tavLst>
                                        <p:tav tm="0">
                                          <p:val>
                                            <p:strVal val="#ppt_h"/>
                                          </p:val>
                                        </p:tav>
                                        <p:tav tm="100000">
                                          <p:val>
                                            <p:strVal val="#ppt_h"/>
                                          </p:val>
                                        </p:tav>
                                      </p:tavLst>
                                    </p:anim>
                                    <p:animEffect transition="in" filter="fade">
                                      <p:cBhvr>
                                        <p:cTn id="16" dur="1000"/>
                                        <p:tgtEl>
                                          <p:spTgt spid="1386500"/>
                                        </p:tgtEl>
                                      </p:cBhvr>
                                    </p:animEffect>
                                  </p:childTnLst>
                                </p:cTn>
                              </p:par>
                              <p:par>
                                <p:cTn id="17" presetID="55" presetClass="entr" presetSubtype="0" fill="hold" nodeType="withEffect">
                                  <p:stCondLst>
                                    <p:cond delay="0"/>
                                  </p:stCondLst>
                                  <p:childTnLst>
                                    <p:set>
                                      <p:cBhvr>
                                        <p:cTn id="18" dur="1" fill="hold">
                                          <p:stCondLst>
                                            <p:cond delay="0"/>
                                          </p:stCondLst>
                                        </p:cTn>
                                        <p:tgtEl>
                                          <p:spTgt spid="1386520"/>
                                        </p:tgtEl>
                                        <p:attrNameLst>
                                          <p:attrName>style.visibility</p:attrName>
                                        </p:attrNameLst>
                                      </p:cBhvr>
                                      <p:to>
                                        <p:strVal val="visible"/>
                                      </p:to>
                                    </p:set>
                                    <p:anim calcmode="lin" valueType="num">
                                      <p:cBhvr>
                                        <p:cTn id="19" dur="1000" fill="hold"/>
                                        <p:tgtEl>
                                          <p:spTgt spid="1386520"/>
                                        </p:tgtEl>
                                        <p:attrNameLst>
                                          <p:attrName>ppt_w</p:attrName>
                                        </p:attrNameLst>
                                      </p:cBhvr>
                                      <p:tavLst>
                                        <p:tav tm="0">
                                          <p:val>
                                            <p:strVal val="#ppt_w*0.70"/>
                                          </p:val>
                                        </p:tav>
                                        <p:tav tm="100000">
                                          <p:val>
                                            <p:strVal val="#ppt_w"/>
                                          </p:val>
                                        </p:tav>
                                      </p:tavLst>
                                    </p:anim>
                                    <p:anim calcmode="lin" valueType="num">
                                      <p:cBhvr>
                                        <p:cTn id="20" dur="1000" fill="hold"/>
                                        <p:tgtEl>
                                          <p:spTgt spid="1386520"/>
                                        </p:tgtEl>
                                        <p:attrNameLst>
                                          <p:attrName>ppt_h</p:attrName>
                                        </p:attrNameLst>
                                      </p:cBhvr>
                                      <p:tavLst>
                                        <p:tav tm="0">
                                          <p:val>
                                            <p:strVal val="#ppt_h"/>
                                          </p:val>
                                        </p:tav>
                                        <p:tav tm="100000">
                                          <p:val>
                                            <p:strVal val="#ppt_h"/>
                                          </p:val>
                                        </p:tav>
                                      </p:tavLst>
                                    </p:anim>
                                    <p:animEffect transition="in" filter="fade">
                                      <p:cBhvr>
                                        <p:cTn id="21" dur="1000"/>
                                        <p:tgtEl>
                                          <p:spTgt spid="138652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5" presetClass="entr" presetSubtype="0" fill="hold" nodeType="clickEffect">
                                  <p:stCondLst>
                                    <p:cond delay="0"/>
                                  </p:stCondLst>
                                  <p:childTnLst>
                                    <p:set>
                                      <p:cBhvr>
                                        <p:cTn id="25" dur="1" fill="hold">
                                          <p:stCondLst>
                                            <p:cond delay="0"/>
                                          </p:stCondLst>
                                        </p:cTn>
                                        <p:tgtEl>
                                          <p:spTgt spid="1386532"/>
                                        </p:tgtEl>
                                        <p:attrNameLst>
                                          <p:attrName>style.visibility</p:attrName>
                                        </p:attrNameLst>
                                      </p:cBhvr>
                                      <p:to>
                                        <p:strVal val="visible"/>
                                      </p:to>
                                    </p:set>
                                    <p:anim calcmode="lin" valueType="num">
                                      <p:cBhvr>
                                        <p:cTn id="26" dur="1000" fill="hold"/>
                                        <p:tgtEl>
                                          <p:spTgt spid="1386532"/>
                                        </p:tgtEl>
                                        <p:attrNameLst>
                                          <p:attrName>ppt_w</p:attrName>
                                        </p:attrNameLst>
                                      </p:cBhvr>
                                      <p:tavLst>
                                        <p:tav tm="0">
                                          <p:val>
                                            <p:strVal val="#ppt_w*0.70"/>
                                          </p:val>
                                        </p:tav>
                                        <p:tav tm="100000">
                                          <p:val>
                                            <p:strVal val="#ppt_w"/>
                                          </p:val>
                                        </p:tav>
                                      </p:tavLst>
                                    </p:anim>
                                    <p:anim calcmode="lin" valueType="num">
                                      <p:cBhvr>
                                        <p:cTn id="27" dur="1000" fill="hold"/>
                                        <p:tgtEl>
                                          <p:spTgt spid="1386532"/>
                                        </p:tgtEl>
                                        <p:attrNameLst>
                                          <p:attrName>ppt_h</p:attrName>
                                        </p:attrNameLst>
                                      </p:cBhvr>
                                      <p:tavLst>
                                        <p:tav tm="0">
                                          <p:val>
                                            <p:strVal val="#ppt_h"/>
                                          </p:val>
                                        </p:tav>
                                        <p:tav tm="100000">
                                          <p:val>
                                            <p:strVal val="#ppt_h"/>
                                          </p:val>
                                        </p:tav>
                                      </p:tavLst>
                                    </p:anim>
                                    <p:animEffect transition="in" filter="fade">
                                      <p:cBhvr>
                                        <p:cTn id="28" dur="1000"/>
                                        <p:tgtEl>
                                          <p:spTgt spid="138653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5" presetClass="entr" presetSubtype="0" fill="hold" nodeType="clickEffect">
                                  <p:stCondLst>
                                    <p:cond delay="0"/>
                                  </p:stCondLst>
                                  <p:childTnLst>
                                    <p:set>
                                      <p:cBhvr>
                                        <p:cTn id="32" dur="1" fill="hold">
                                          <p:stCondLst>
                                            <p:cond delay="0"/>
                                          </p:stCondLst>
                                        </p:cTn>
                                        <p:tgtEl>
                                          <p:spTgt spid="1386531"/>
                                        </p:tgtEl>
                                        <p:attrNameLst>
                                          <p:attrName>style.visibility</p:attrName>
                                        </p:attrNameLst>
                                      </p:cBhvr>
                                      <p:to>
                                        <p:strVal val="visible"/>
                                      </p:to>
                                    </p:set>
                                    <p:anim calcmode="lin" valueType="num">
                                      <p:cBhvr>
                                        <p:cTn id="33" dur="1000" fill="hold"/>
                                        <p:tgtEl>
                                          <p:spTgt spid="1386531"/>
                                        </p:tgtEl>
                                        <p:attrNameLst>
                                          <p:attrName>ppt_w</p:attrName>
                                        </p:attrNameLst>
                                      </p:cBhvr>
                                      <p:tavLst>
                                        <p:tav tm="0">
                                          <p:val>
                                            <p:strVal val="#ppt_w*0.70"/>
                                          </p:val>
                                        </p:tav>
                                        <p:tav tm="100000">
                                          <p:val>
                                            <p:strVal val="#ppt_w"/>
                                          </p:val>
                                        </p:tav>
                                      </p:tavLst>
                                    </p:anim>
                                    <p:anim calcmode="lin" valueType="num">
                                      <p:cBhvr>
                                        <p:cTn id="34" dur="1000" fill="hold"/>
                                        <p:tgtEl>
                                          <p:spTgt spid="1386531"/>
                                        </p:tgtEl>
                                        <p:attrNameLst>
                                          <p:attrName>ppt_h</p:attrName>
                                        </p:attrNameLst>
                                      </p:cBhvr>
                                      <p:tavLst>
                                        <p:tav tm="0">
                                          <p:val>
                                            <p:strVal val="#ppt_h"/>
                                          </p:val>
                                        </p:tav>
                                        <p:tav tm="100000">
                                          <p:val>
                                            <p:strVal val="#ppt_h"/>
                                          </p:val>
                                        </p:tav>
                                      </p:tavLst>
                                    </p:anim>
                                    <p:animEffect transition="in" filter="fade">
                                      <p:cBhvr>
                                        <p:cTn id="35" dur="1000"/>
                                        <p:tgtEl>
                                          <p:spTgt spid="138653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5" presetClass="entr" presetSubtype="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p:cTn id="40" dur="1000" fill="hold"/>
                                        <p:tgtEl>
                                          <p:spTgt spid="4"/>
                                        </p:tgtEl>
                                        <p:attrNameLst>
                                          <p:attrName>ppt_w</p:attrName>
                                        </p:attrNameLst>
                                      </p:cBhvr>
                                      <p:tavLst>
                                        <p:tav tm="0">
                                          <p:val>
                                            <p:strVal val="#ppt_w*0.70"/>
                                          </p:val>
                                        </p:tav>
                                        <p:tav tm="100000">
                                          <p:val>
                                            <p:strVal val="#ppt_w"/>
                                          </p:val>
                                        </p:tav>
                                      </p:tavLst>
                                    </p:anim>
                                    <p:anim calcmode="lin" valueType="num">
                                      <p:cBhvr>
                                        <p:cTn id="41" dur="1000" fill="hold"/>
                                        <p:tgtEl>
                                          <p:spTgt spid="4"/>
                                        </p:tgtEl>
                                        <p:attrNameLst>
                                          <p:attrName>ppt_h</p:attrName>
                                        </p:attrNameLst>
                                      </p:cBhvr>
                                      <p:tavLst>
                                        <p:tav tm="0">
                                          <p:val>
                                            <p:strVal val="#ppt_h"/>
                                          </p:val>
                                        </p:tav>
                                        <p:tav tm="100000">
                                          <p:val>
                                            <p:strVal val="#ppt_h"/>
                                          </p:val>
                                        </p:tav>
                                      </p:tavLst>
                                    </p:anim>
                                    <p:animEffect transition="in" filter="fade">
                                      <p:cBhvr>
                                        <p:cTn id="42" dur="1000"/>
                                        <p:tgtEl>
                                          <p:spTgt spid="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5" presetClass="entr" presetSubtype="0" fill="hold" nodeType="clickEffect">
                                  <p:stCondLst>
                                    <p:cond delay="0"/>
                                  </p:stCondLst>
                                  <p:childTnLst>
                                    <p:set>
                                      <p:cBhvr>
                                        <p:cTn id="46" dur="1" fill="hold">
                                          <p:stCondLst>
                                            <p:cond delay="0"/>
                                          </p:stCondLst>
                                        </p:cTn>
                                        <p:tgtEl>
                                          <p:spTgt spid="1386499"/>
                                        </p:tgtEl>
                                        <p:attrNameLst>
                                          <p:attrName>style.visibility</p:attrName>
                                        </p:attrNameLst>
                                      </p:cBhvr>
                                      <p:to>
                                        <p:strVal val="visible"/>
                                      </p:to>
                                    </p:set>
                                    <p:anim calcmode="lin" valueType="num">
                                      <p:cBhvr>
                                        <p:cTn id="47" dur="1000" fill="hold"/>
                                        <p:tgtEl>
                                          <p:spTgt spid="1386499"/>
                                        </p:tgtEl>
                                        <p:attrNameLst>
                                          <p:attrName>ppt_w</p:attrName>
                                        </p:attrNameLst>
                                      </p:cBhvr>
                                      <p:tavLst>
                                        <p:tav tm="0">
                                          <p:val>
                                            <p:strVal val="#ppt_w*0.70"/>
                                          </p:val>
                                        </p:tav>
                                        <p:tav tm="100000">
                                          <p:val>
                                            <p:strVal val="#ppt_w"/>
                                          </p:val>
                                        </p:tav>
                                      </p:tavLst>
                                    </p:anim>
                                    <p:anim calcmode="lin" valueType="num">
                                      <p:cBhvr>
                                        <p:cTn id="48" dur="1000" fill="hold"/>
                                        <p:tgtEl>
                                          <p:spTgt spid="1386499"/>
                                        </p:tgtEl>
                                        <p:attrNameLst>
                                          <p:attrName>ppt_h</p:attrName>
                                        </p:attrNameLst>
                                      </p:cBhvr>
                                      <p:tavLst>
                                        <p:tav tm="0">
                                          <p:val>
                                            <p:strVal val="#ppt_h"/>
                                          </p:val>
                                        </p:tav>
                                        <p:tav tm="100000">
                                          <p:val>
                                            <p:strVal val="#ppt_h"/>
                                          </p:val>
                                        </p:tav>
                                      </p:tavLst>
                                    </p:anim>
                                    <p:animEffect transition="in" filter="fade">
                                      <p:cBhvr>
                                        <p:cTn id="49" dur="1000"/>
                                        <p:tgtEl>
                                          <p:spTgt spid="138649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5" presetClass="entr" presetSubtype="0" fill="hold" nodeType="clickEffect">
                                  <p:stCondLst>
                                    <p:cond delay="0"/>
                                  </p:stCondLst>
                                  <p:childTnLst>
                                    <p:set>
                                      <p:cBhvr>
                                        <p:cTn id="53" dur="1" fill="hold">
                                          <p:stCondLst>
                                            <p:cond delay="0"/>
                                          </p:stCondLst>
                                        </p:cTn>
                                        <p:tgtEl>
                                          <p:spTgt spid="1386498"/>
                                        </p:tgtEl>
                                        <p:attrNameLst>
                                          <p:attrName>style.visibility</p:attrName>
                                        </p:attrNameLst>
                                      </p:cBhvr>
                                      <p:to>
                                        <p:strVal val="visible"/>
                                      </p:to>
                                    </p:set>
                                    <p:anim calcmode="lin" valueType="num">
                                      <p:cBhvr>
                                        <p:cTn id="54" dur="1000" fill="hold"/>
                                        <p:tgtEl>
                                          <p:spTgt spid="1386498"/>
                                        </p:tgtEl>
                                        <p:attrNameLst>
                                          <p:attrName>ppt_w</p:attrName>
                                        </p:attrNameLst>
                                      </p:cBhvr>
                                      <p:tavLst>
                                        <p:tav tm="0">
                                          <p:val>
                                            <p:strVal val="#ppt_w*0.70"/>
                                          </p:val>
                                        </p:tav>
                                        <p:tav tm="100000">
                                          <p:val>
                                            <p:strVal val="#ppt_w"/>
                                          </p:val>
                                        </p:tav>
                                      </p:tavLst>
                                    </p:anim>
                                    <p:anim calcmode="lin" valueType="num">
                                      <p:cBhvr>
                                        <p:cTn id="55" dur="1000" fill="hold"/>
                                        <p:tgtEl>
                                          <p:spTgt spid="1386498"/>
                                        </p:tgtEl>
                                        <p:attrNameLst>
                                          <p:attrName>ppt_h</p:attrName>
                                        </p:attrNameLst>
                                      </p:cBhvr>
                                      <p:tavLst>
                                        <p:tav tm="0">
                                          <p:val>
                                            <p:strVal val="#ppt_h"/>
                                          </p:val>
                                        </p:tav>
                                        <p:tav tm="100000">
                                          <p:val>
                                            <p:strVal val="#ppt_h"/>
                                          </p:val>
                                        </p:tav>
                                      </p:tavLst>
                                    </p:anim>
                                    <p:animEffect transition="in" filter="fade">
                                      <p:cBhvr>
                                        <p:cTn id="56" dur="1000"/>
                                        <p:tgtEl>
                                          <p:spTgt spid="1386498"/>
                                        </p:tgtEl>
                                      </p:cBhvr>
                                    </p:animEffect>
                                  </p:childTnLst>
                                </p:cTn>
                              </p:par>
                              <p:par>
                                <p:cTn id="57" presetID="55" presetClass="entr" presetSubtype="0" fill="hold" nodeType="withEffect">
                                  <p:stCondLst>
                                    <p:cond delay="0"/>
                                  </p:stCondLst>
                                  <p:childTnLst>
                                    <p:set>
                                      <p:cBhvr>
                                        <p:cTn id="58" dur="1" fill="hold">
                                          <p:stCondLst>
                                            <p:cond delay="0"/>
                                          </p:stCondLst>
                                        </p:cTn>
                                        <p:tgtEl>
                                          <p:spTgt spid="1386515"/>
                                        </p:tgtEl>
                                        <p:attrNameLst>
                                          <p:attrName>style.visibility</p:attrName>
                                        </p:attrNameLst>
                                      </p:cBhvr>
                                      <p:to>
                                        <p:strVal val="visible"/>
                                      </p:to>
                                    </p:set>
                                    <p:anim calcmode="lin" valueType="num">
                                      <p:cBhvr>
                                        <p:cTn id="59" dur="1000" fill="hold"/>
                                        <p:tgtEl>
                                          <p:spTgt spid="1386515"/>
                                        </p:tgtEl>
                                        <p:attrNameLst>
                                          <p:attrName>ppt_w</p:attrName>
                                        </p:attrNameLst>
                                      </p:cBhvr>
                                      <p:tavLst>
                                        <p:tav tm="0">
                                          <p:val>
                                            <p:strVal val="#ppt_w*0.70"/>
                                          </p:val>
                                        </p:tav>
                                        <p:tav tm="100000">
                                          <p:val>
                                            <p:strVal val="#ppt_w"/>
                                          </p:val>
                                        </p:tav>
                                      </p:tavLst>
                                    </p:anim>
                                    <p:anim calcmode="lin" valueType="num">
                                      <p:cBhvr>
                                        <p:cTn id="60" dur="1000" fill="hold"/>
                                        <p:tgtEl>
                                          <p:spTgt spid="1386515"/>
                                        </p:tgtEl>
                                        <p:attrNameLst>
                                          <p:attrName>ppt_h</p:attrName>
                                        </p:attrNameLst>
                                      </p:cBhvr>
                                      <p:tavLst>
                                        <p:tav tm="0">
                                          <p:val>
                                            <p:strVal val="#ppt_h"/>
                                          </p:val>
                                        </p:tav>
                                        <p:tav tm="100000">
                                          <p:val>
                                            <p:strVal val="#ppt_h"/>
                                          </p:val>
                                        </p:tav>
                                      </p:tavLst>
                                    </p:anim>
                                    <p:animEffect transition="in" filter="fade">
                                      <p:cBhvr>
                                        <p:cTn id="61" dur="1000"/>
                                        <p:tgtEl>
                                          <p:spTgt spid="1386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6498" grpId="0" animBg="1"/>
      <p:bldP spid="1386500" grpId="0" animBg="1"/>
      <p:bldP spid="1386515" grpId="0"/>
      <p:bldP spid="13865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2C257EF-2A9B-4D34-49AE-D8E390BD04B2}"/>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1747" name="Rectangle 3">
            <a:extLst>
              <a:ext uri="{FF2B5EF4-FFF2-40B4-BE49-F238E27FC236}">
                <a16:creationId xmlns:a16="http://schemas.microsoft.com/office/drawing/2014/main" id="{D147255C-572B-3F35-237E-8C46960C43AF}"/>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1748" name="Rectangle 4">
            <a:extLst>
              <a:ext uri="{FF2B5EF4-FFF2-40B4-BE49-F238E27FC236}">
                <a16:creationId xmlns:a16="http://schemas.microsoft.com/office/drawing/2014/main" id="{A9C1F794-4A99-E2B8-2274-E9185D310FA3}"/>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Relative Addressing</a:t>
            </a:r>
          </a:p>
        </p:txBody>
      </p:sp>
      <p:sp>
        <p:nvSpPr>
          <p:cNvPr id="1388549" name="Rectangle 5">
            <a:extLst>
              <a:ext uri="{FF2B5EF4-FFF2-40B4-BE49-F238E27FC236}">
                <a16:creationId xmlns:a16="http://schemas.microsoft.com/office/drawing/2014/main" id="{F01F6C68-6E95-43A6-D5EE-B8D7E4262A0A}"/>
              </a:ext>
            </a:extLst>
          </p:cNvPr>
          <p:cNvSpPr>
            <a:spLocks noGrp="1" noChangeArrowheads="1"/>
          </p:cNvSpPr>
          <p:nvPr>
            <p:ph type="body" idx="1"/>
          </p:nvPr>
        </p:nvSpPr>
        <p:spPr>
          <a:xfrm>
            <a:off x="1981200" y="1447800"/>
            <a:ext cx="8178800" cy="5257800"/>
          </a:xfrm>
          <a:noFill/>
        </p:spPr>
        <p:txBody>
          <a:bodyPr vert="horz" wrap="square" lIns="90488" tIns="44450" rIns="90488" bIns="44450" numCol="1" anchor="t" anchorCtr="0" compatLnSpc="1">
            <a:prstTxWarp prst="textNoShape">
              <a:avLst/>
            </a:prstTxWarp>
          </a:bodyPr>
          <a:lstStyle/>
          <a:p>
            <a:r>
              <a:rPr lang="en-US" altLang="en-US"/>
              <a:t>A version of displacement addressing</a:t>
            </a:r>
          </a:p>
          <a:p>
            <a:r>
              <a:rPr lang="en-US" altLang="en-US">
                <a:solidFill>
                  <a:srgbClr val="0000CC"/>
                </a:solidFill>
              </a:rPr>
              <a:t>R = Program counter</a:t>
            </a:r>
            <a:r>
              <a:rPr lang="tr-TR" altLang="en-US"/>
              <a:t> (</a:t>
            </a:r>
            <a:r>
              <a:rPr lang="en-US" altLang="en-US">
                <a:solidFill>
                  <a:srgbClr val="0000CC"/>
                </a:solidFill>
              </a:rPr>
              <a:t>PC</a:t>
            </a:r>
            <a:r>
              <a:rPr lang="tr-TR" altLang="en-US"/>
              <a:t>)</a:t>
            </a:r>
            <a:endParaRPr lang="en-US" altLang="en-US"/>
          </a:p>
          <a:p>
            <a:r>
              <a:rPr lang="en-US" altLang="en-US">
                <a:solidFill>
                  <a:srgbClr val="0000CC"/>
                </a:solidFill>
              </a:rPr>
              <a:t>EA = A + (PC)</a:t>
            </a:r>
          </a:p>
          <a:p>
            <a:r>
              <a:rPr lang="en-US" altLang="en-US"/>
              <a:t>i.e. get operand from </a:t>
            </a:r>
            <a:r>
              <a:rPr lang="en-US" altLang="en-US">
                <a:solidFill>
                  <a:srgbClr val="0000CC"/>
                </a:solidFill>
              </a:rPr>
              <a:t>A</a:t>
            </a:r>
            <a:r>
              <a:rPr lang="en-US" altLang="en-US"/>
              <a:t> </a:t>
            </a:r>
            <a:r>
              <a:rPr lang="en-US" altLang="en-US">
                <a:solidFill>
                  <a:srgbClr val="0000CC"/>
                </a:solidFill>
              </a:rPr>
              <a:t>cells </a:t>
            </a:r>
            <a:r>
              <a:rPr lang="en-US" altLang="en-US"/>
              <a:t>from current location pointed to by </a:t>
            </a:r>
            <a:r>
              <a:rPr lang="en-US" altLang="en-US">
                <a:solidFill>
                  <a:srgbClr val="0000CC"/>
                </a:solidFill>
              </a:rPr>
              <a:t>PC</a:t>
            </a:r>
          </a:p>
          <a:p>
            <a:pPr>
              <a:buFontTx/>
              <a:buNone/>
            </a:pPr>
            <a:endParaRPr lang="en-US" altLang="en-US"/>
          </a:p>
          <a:p>
            <a:endParaRPr lang="en-US"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88549">
                                            <p:txEl>
                                              <p:pRg st="0" end="0"/>
                                            </p:txEl>
                                          </p:spTgt>
                                        </p:tgtEl>
                                        <p:attrNameLst>
                                          <p:attrName>style.visibility</p:attrName>
                                        </p:attrNameLst>
                                      </p:cBhvr>
                                      <p:to>
                                        <p:strVal val="visible"/>
                                      </p:to>
                                    </p:set>
                                    <p:anim calcmode="lin" valueType="num">
                                      <p:cBhvr>
                                        <p:cTn id="7" dur="1000" fill="hold"/>
                                        <p:tgtEl>
                                          <p:spTgt spid="138854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8854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8854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88549">
                                            <p:txEl>
                                              <p:pRg st="1" end="1"/>
                                            </p:txEl>
                                          </p:spTgt>
                                        </p:tgtEl>
                                        <p:attrNameLst>
                                          <p:attrName>style.visibility</p:attrName>
                                        </p:attrNameLst>
                                      </p:cBhvr>
                                      <p:to>
                                        <p:strVal val="visible"/>
                                      </p:to>
                                    </p:set>
                                    <p:anim calcmode="lin" valueType="num">
                                      <p:cBhvr>
                                        <p:cTn id="14" dur="1000" fill="hold"/>
                                        <p:tgtEl>
                                          <p:spTgt spid="138854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8854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8854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88549">
                                            <p:txEl>
                                              <p:pRg st="2" end="2"/>
                                            </p:txEl>
                                          </p:spTgt>
                                        </p:tgtEl>
                                        <p:attrNameLst>
                                          <p:attrName>style.visibility</p:attrName>
                                        </p:attrNameLst>
                                      </p:cBhvr>
                                      <p:to>
                                        <p:strVal val="visible"/>
                                      </p:to>
                                    </p:set>
                                    <p:anim calcmode="lin" valueType="num">
                                      <p:cBhvr>
                                        <p:cTn id="21" dur="1000" fill="hold"/>
                                        <p:tgtEl>
                                          <p:spTgt spid="138854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8854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8854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1388549">
                                            <p:txEl>
                                              <p:pRg st="3" end="3"/>
                                            </p:txEl>
                                          </p:spTgt>
                                        </p:tgtEl>
                                        <p:attrNameLst>
                                          <p:attrName>style.visibility</p:attrName>
                                        </p:attrNameLst>
                                      </p:cBhvr>
                                      <p:to>
                                        <p:strVal val="visible"/>
                                      </p:to>
                                    </p:set>
                                    <p:anim calcmode="lin" valueType="num">
                                      <p:cBhvr>
                                        <p:cTn id="28" dur="1000" fill="hold"/>
                                        <p:tgtEl>
                                          <p:spTgt spid="1388549">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388549">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38854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854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D25B50A-F674-AEC9-554C-DACC61D7775B}"/>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3795" name="Rectangle 3">
            <a:extLst>
              <a:ext uri="{FF2B5EF4-FFF2-40B4-BE49-F238E27FC236}">
                <a16:creationId xmlns:a16="http://schemas.microsoft.com/office/drawing/2014/main" id="{38317E5C-3991-3609-4A0D-F4E9CC16513E}"/>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3796" name="Rectangle 4">
            <a:extLst>
              <a:ext uri="{FF2B5EF4-FFF2-40B4-BE49-F238E27FC236}">
                <a16:creationId xmlns:a16="http://schemas.microsoft.com/office/drawing/2014/main" id="{FAC29742-C376-F5E4-B16F-F2003D7E0F1B}"/>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Base-Register Addressing</a:t>
            </a:r>
          </a:p>
        </p:txBody>
      </p:sp>
      <p:sp>
        <p:nvSpPr>
          <p:cNvPr id="1390597" name="Rectangle 5">
            <a:extLst>
              <a:ext uri="{FF2B5EF4-FFF2-40B4-BE49-F238E27FC236}">
                <a16:creationId xmlns:a16="http://schemas.microsoft.com/office/drawing/2014/main" id="{9F8DE7C8-DF84-4366-EBCA-255ABAA6662C}"/>
              </a:ext>
            </a:extLst>
          </p:cNvPr>
          <p:cNvSpPr>
            <a:spLocks noGrp="1" noChangeArrowheads="1"/>
          </p:cNvSpPr>
          <p:nvPr>
            <p:ph type="body" idx="1"/>
          </p:nvPr>
        </p:nvSpPr>
        <p:spPr>
          <a:xfrm>
            <a:off x="1981200" y="1624014"/>
            <a:ext cx="8178800" cy="5081587"/>
          </a:xfrm>
          <a:noFill/>
        </p:spPr>
        <p:txBody>
          <a:bodyPr vert="horz" wrap="square" lIns="90488" tIns="44450" rIns="90488" bIns="44450" numCol="1" anchor="t" anchorCtr="0" compatLnSpc="1">
            <a:prstTxWarp prst="textNoShape">
              <a:avLst/>
            </a:prstTxWarp>
          </a:bodyPr>
          <a:lstStyle/>
          <a:p>
            <a:r>
              <a:rPr lang="en-US" altLang="en-US">
                <a:solidFill>
                  <a:srgbClr val="0000CC"/>
                </a:solidFill>
              </a:rPr>
              <a:t>A</a:t>
            </a:r>
            <a:r>
              <a:rPr lang="en-US" altLang="en-US"/>
              <a:t> holds displacement</a:t>
            </a:r>
          </a:p>
          <a:p>
            <a:r>
              <a:rPr lang="en-US" altLang="en-US">
                <a:solidFill>
                  <a:srgbClr val="0000CC"/>
                </a:solidFill>
              </a:rPr>
              <a:t>R</a:t>
            </a:r>
            <a:r>
              <a:rPr lang="en-US" altLang="en-US"/>
              <a:t> holds pointer to base address</a:t>
            </a:r>
          </a:p>
          <a:p>
            <a:r>
              <a:rPr lang="en-US" altLang="en-US">
                <a:solidFill>
                  <a:srgbClr val="0000CC"/>
                </a:solidFill>
              </a:rPr>
              <a:t>R</a:t>
            </a:r>
            <a:r>
              <a:rPr lang="en-US" altLang="en-US"/>
              <a:t> may be explicit or implicit</a:t>
            </a:r>
          </a:p>
          <a:p>
            <a:r>
              <a:rPr lang="en-US" altLang="en-US"/>
              <a:t>e.g. segment registers in 80x86</a:t>
            </a:r>
          </a:p>
          <a:p>
            <a:endParaRPr lang="en-US"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90597">
                                            <p:txEl>
                                              <p:pRg st="0" end="0"/>
                                            </p:txEl>
                                          </p:spTgt>
                                        </p:tgtEl>
                                        <p:attrNameLst>
                                          <p:attrName>style.visibility</p:attrName>
                                        </p:attrNameLst>
                                      </p:cBhvr>
                                      <p:to>
                                        <p:strVal val="visible"/>
                                      </p:to>
                                    </p:set>
                                    <p:anim calcmode="lin" valueType="num">
                                      <p:cBhvr>
                                        <p:cTn id="7" dur="1000" fill="hold"/>
                                        <p:tgtEl>
                                          <p:spTgt spid="139059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9059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90597">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90597">
                                            <p:txEl>
                                              <p:pRg st="1" end="1"/>
                                            </p:txEl>
                                          </p:spTgt>
                                        </p:tgtEl>
                                        <p:attrNameLst>
                                          <p:attrName>style.visibility</p:attrName>
                                        </p:attrNameLst>
                                      </p:cBhvr>
                                      <p:to>
                                        <p:strVal val="visible"/>
                                      </p:to>
                                    </p:set>
                                    <p:anim calcmode="lin" valueType="num">
                                      <p:cBhvr>
                                        <p:cTn id="14" dur="1000" fill="hold"/>
                                        <p:tgtEl>
                                          <p:spTgt spid="1390597">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90597">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90597">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90597">
                                            <p:txEl>
                                              <p:pRg st="2" end="2"/>
                                            </p:txEl>
                                          </p:spTgt>
                                        </p:tgtEl>
                                        <p:attrNameLst>
                                          <p:attrName>style.visibility</p:attrName>
                                        </p:attrNameLst>
                                      </p:cBhvr>
                                      <p:to>
                                        <p:strVal val="visible"/>
                                      </p:to>
                                    </p:set>
                                    <p:anim calcmode="lin" valueType="num">
                                      <p:cBhvr>
                                        <p:cTn id="21" dur="1000" fill="hold"/>
                                        <p:tgtEl>
                                          <p:spTgt spid="1390597">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90597">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90597">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1390597">
                                            <p:txEl>
                                              <p:pRg st="3" end="3"/>
                                            </p:txEl>
                                          </p:spTgt>
                                        </p:tgtEl>
                                        <p:attrNameLst>
                                          <p:attrName>style.visibility</p:attrName>
                                        </p:attrNameLst>
                                      </p:cBhvr>
                                      <p:to>
                                        <p:strVal val="visible"/>
                                      </p:to>
                                    </p:set>
                                    <p:anim calcmode="lin" valueType="num">
                                      <p:cBhvr>
                                        <p:cTn id="28" dur="1000" fill="hold"/>
                                        <p:tgtEl>
                                          <p:spTgt spid="1390597">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390597">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3905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059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789B632-A519-4015-5DB6-77BA224558FC}"/>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5843" name="Rectangle 3">
            <a:extLst>
              <a:ext uri="{FF2B5EF4-FFF2-40B4-BE49-F238E27FC236}">
                <a16:creationId xmlns:a16="http://schemas.microsoft.com/office/drawing/2014/main" id="{34F544B3-3785-A3E3-00A6-EA801A2BADDB}"/>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5844" name="Rectangle 4">
            <a:extLst>
              <a:ext uri="{FF2B5EF4-FFF2-40B4-BE49-F238E27FC236}">
                <a16:creationId xmlns:a16="http://schemas.microsoft.com/office/drawing/2014/main" id="{A49731B2-E931-2361-0748-2506EE1662E4}"/>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Indexed Addressing</a:t>
            </a:r>
          </a:p>
        </p:txBody>
      </p:sp>
      <p:sp>
        <p:nvSpPr>
          <p:cNvPr id="1392645" name="Rectangle 5">
            <a:extLst>
              <a:ext uri="{FF2B5EF4-FFF2-40B4-BE49-F238E27FC236}">
                <a16:creationId xmlns:a16="http://schemas.microsoft.com/office/drawing/2014/main" id="{193BD7A3-27A0-0D45-944B-5C4B98D28C8B}"/>
              </a:ext>
            </a:extLst>
          </p:cNvPr>
          <p:cNvSpPr>
            <a:spLocks noGrp="1" noChangeArrowheads="1"/>
          </p:cNvSpPr>
          <p:nvPr>
            <p:ph type="body" idx="1"/>
          </p:nvPr>
        </p:nvSpPr>
        <p:spPr>
          <a:xfrm>
            <a:off x="1981200" y="1279526"/>
            <a:ext cx="8178800" cy="5426075"/>
          </a:xfrm>
          <a:noFill/>
        </p:spPr>
        <p:txBody>
          <a:bodyPr vert="horz" wrap="square" lIns="90488" tIns="44450" rIns="90488" bIns="44450" numCol="1" anchor="t" anchorCtr="0" compatLnSpc="1">
            <a:prstTxWarp prst="textNoShape">
              <a:avLst/>
            </a:prstTxWarp>
          </a:bodyPr>
          <a:lstStyle/>
          <a:p>
            <a:r>
              <a:rPr lang="en-US" altLang="en-US">
                <a:solidFill>
                  <a:srgbClr val="0000CC"/>
                </a:solidFill>
              </a:rPr>
              <a:t>A</a:t>
            </a:r>
            <a:r>
              <a:rPr lang="en-US" altLang="en-US"/>
              <a:t> = base</a:t>
            </a:r>
          </a:p>
          <a:p>
            <a:r>
              <a:rPr lang="en-US" altLang="en-US">
                <a:solidFill>
                  <a:srgbClr val="0000CC"/>
                </a:solidFill>
              </a:rPr>
              <a:t>R</a:t>
            </a:r>
            <a:r>
              <a:rPr lang="en-US" altLang="en-US"/>
              <a:t> = displacement</a:t>
            </a:r>
          </a:p>
          <a:p>
            <a:r>
              <a:rPr lang="en-US" altLang="en-US">
                <a:solidFill>
                  <a:srgbClr val="0000CC"/>
                </a:solidFill>
              </a:rPr>
              <a:t>EA = A + R</a:t>
            </a:r>
          </a:p>
          <a:p>
            <a:r>
              <a:rPr lang="en-US" altLang="en-US"/>
              <a:t>Good for accessing arrays</a:t>
            </a:r>
          </a:p>
          <a:p>
            <a:pPr lvl="1"/>
            <a:r>
              <a:rPr lang="en-US" altLang="en-US">
                <a:solidFill>
                  <a:srgbClr val="0000CC"/>
                </a:solidFill>
              </a:rPr>
              <a:t>EA = A + R</a:t>
            </a:r>
          </a:p>
          <a:p>
            <a:pPr lvl="1"/>
            <a:r>
              <a:rPr lang="en-US" altLang="en-US">
                <a:solidFill>
                  <a:srgbClr val="0000CC"/>
                </a:solidFill>
              </a:rPr>
              <a:t>R++</a:t>
            </a:r>
          </a:p>
          <a:p>
            <a:pPr>
              <a:buFont typeface="Monotype Sorts" pitchFamily="2" charset="2"/>
              <a:buChar char="y"/>
            </a:pPr>
            <a:endParaRPr lang="en-US" altLang="en-US" sz="2400">
              <a:solidFill>
                <a:srgbClr val="0000CC"/>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92645">
                                            <p:txEl>
                                              <p:pRg st="0" end="0"/>
                                            </p:txEl>
                                          </p:spTgt>
                                        </p:tgtEl>
                                        <p:attrNameLst>
                                          <p:attrName>style.visibility</p:attrName>
                                        </p:attrNameLst>
                                      </p:cBhvr>
                                      <p:to>
                                        <p:strVal val="visible"/>
                                      </p:to>
                                    </p:set>
                                    <p:anim calcmode="lin" valueType="num">
                                      <p:cBhvr>
                                        <p:cTn id="7" dur="1000" fill="hold"/>
                                        <p:tgtEl>
                                          <p:spTgt spid="139264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9264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92645">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92645">
                                            <p:txEl>
                                              <p:pRg st="1" end="1"/>
                                            </p:txEl>
                                          </p:spTgt>
                                        </p:tgtEl>
                                        <p:attrNameLst>
                                          <p:attrName>style.visibility</p:attrName>
                                        </p:attrNameLst>
                                      </p:cBhvr>
                                      <p:to>
                                        <p:strVal val="visible"/>
                                      </p:to>
                                    </p:set>
                                    <p:anim calcmode="lin" valueType="num">
                                      <p:cBhvr>
                                        <p:cTn id="14" dur="1000" fill="hold"/>
                                        <p:tgtEl>
                                          <p:spTgt spid="1392645">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92645">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92645">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92645">
                                            <p:txEl>
                                              <p:pRg st="2" end="2"/>
                                            </p:txEl>
                                          </p:spTgt>
                                        </p:tgtEl>
                                        <p:attrNameLst>
                                          <p:attrName>style.visibility</p:attrName>
                                        </p:attrNameLst>
                                      </p:cBhvr>
                                      <p:to>
                                        <p:strVal val="visible"/>
                                      </p:to>
                                    </p:set>
                                    <p:anim calcmode="lin" valueType="num">
                                      <p:cBhvr>
                                        <p:cTn id="21" dur="1000" fill="hold"/>
                                        <p:tgtEl>
                                          <p:spTgt spid="1392645">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92645">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92645">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1392645">
                                            <p:txEl>
                                              <p:pRg st="3" end="3"/>
                                            </p:txEl>
                                          </p:spTgt>
                                        </p:tgtEl>
                                        <p:attrNameLst>
                                          <p:attrName>style.visibility</p:attrName>
                                        </p:attrNameLst>
                                      </p:cBhvr>
                                      <p:to>
                                        <p:strVal val="visible"/>
                                      </p:to>
                                    </p:set>
                                    <p:anim calcmode="lin" valueType="num">
                                      <p:cBhvr>
                                        <p:cTn id="28" dur="1000" fill="hold"/>
                                        <p:tgtEl>
                                          <p:spTgt spid="1392645">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392645">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392645">
                                            <p:txEl>
                                              <p:pRg st="3" end="3"/>
                                            </p:txEl>
                                          </p:spTgt>
                                        </p:tgtEl>
                                      </p:cBhvr>
                                    </p:animEffect>
                                  </p:childTnLst>
                                </p:cTn>
                              </p:par>
                              <p:par>
                                <p:cTn id="31" presetID="55" presetClass="entr" presetSubtype="0" fill="hold" nodeType="withEffect">
                                  <p:stCondLst>
                                    <p:cond delay="0"/>
                                  </p:stCondLst>
                                  <p:childTnLst>
                                    <p:set>
                                      <p:cBhvr>
                                        <p:cTn id="32" dur="1" fill="hold">
                                          <p:stCondLst>
                                            <p:cond delay="0"/>
                                          </p:stCondLst>
                                        </p:cTn>
                                        <p:tgtEl>
                                          <p:spTgt spid="1392645">
                                            <p:txEl>
                                              <p:pRg st="4" end="4"/>
                                            </p:txEl>
                                          </p:spTgt>
                                        </p:tgtEl>
                                        <p:attrNameLst>
                                          <p:attrName>style.visibility</p:attrName>
                                        </p:attrNameLst>
                                      </p:cBhvr>
                                      <p:to>
                                        <p:strVal val="visible"/>
                                      </p:to>
                                    </p:set>
                                    <p:anim calcmode="lin" valueType="num">
                                      <p:cBhvr>
                                        <p:cTn id="33" dur="1000" fill="hold"/>
                                        <p:tgtEl>
                                          <p:spTgt spid="1392645">
                                            <p:txEl>
                                              <p:pRg st="4" end="4"/>
                                            </p:txEl>
                                          </p:spTgt>
                                        </p:tgtEl>
                                        <p:attrNameLst>
                                          <p:attrName>ppt_w</p:attrName>
                                        </p:attrNameLst>
                                      </p:cBhvr>
                                      <p:tavLst>
                                        <p:tav tm="0">
                                          <p:val>
                                            <p:strVal val="#ppt_w*0.70"/>
                                          </p:val>
                                        </p:tav>
                                        <p:tav tm="100000">
                                          <p:val>
                                            <p:strVal val="#ppt_w"/>
                                          </p:val>
                                        </p:tav>
                                      </p:tavLst>
                                    </p:anim>
                                    <p:anim calcmode="lin" valueType="num">
                                      <p:cBhvr>
                                        <p:cTn id="34" dur="1000" fill="hold"/>
                                        <p:tgtEl>
                                          <p:spTgt spid="1392645">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1392645">
                                            <p:txEl>
                                              <p:pRg st="4" end="4"/>
                                            </p:txEl>
                                          </p:spTgt>
                                        </p:tgtEl>
                                      </p:cBhvr>
                                    </p:animEffect>
                                  </p:childTnLst>
                                </p:cTn>
                              </p:par>
                              <p:par>
                                <p:cTn id="36" presetID="55" presetClass="entr" presetSubtype="0" fill="hold" nodeType="withEffect">
                                  <p:stCondLst>
                                    <p:cond delay="0"/>
                                  </p:stCondLst>
                                  <p:childTnLst>
                                    <p:set>
                                      <p:cBhvr>
                                        <p:cTn id="37" dur="1" fill="hold">
                                          <p:stCondLst>
                                            <p:cond delay="0"/>
                                          </p:stCondLst>
                                        </p:cTn>
                                        <p:tgtEl>
                                          <p:spTgt spid="1392645">
                                            <p:txEl>
                                              <p:pRg st="5" end="5"/>
                                            </p:txEl>
                                          </p:spTgt>
                                        </p:tgtEl>
                                        <p:attrNameLst>
                                          <p:attrName>style.visibility</p:attrName>
                                        </p:attrNameLst>
                                      </p:cBhvr>
                                      <p:to>
                                        <p:strVal val="visible"/>
                                      </p:to>
                                    </p:set>
                                    <p:anim calcmode="lin" valueType="num">
                                      <p:cBhvr>
                                        <p:cTn id="38" dur="1000" fill="hold"/>
                                        <p:tgtEl>
                                          <p:spTgt spid="1392645">
                                            <p:txEl>
                                              <p:pRg st="5" end="5"/>
                                            </p:txEl>
                                          </p:spTgt>
                                        </p:tgtEl>
                                        <p:attrNameLst>
                                          <p:attrName>ppt_w</p:attrName>
                                        </p:attrNameLst>
                                      </p:cBhvr>
                                      <p:tavLst>
                                        <p:tav tm="0">
                                          <p:val>
                                            <p:strVal val="#ppt_w*0.70"/>
                                          </p:val>
                                        </p:tav>
                                        <p:tav tm="100000">
                                          <p:val>
                                            <p:strVal val="#ppt_w"/>
                                          </p:val>
                                        </p:tav>
                                      </p:tavLst>
                                    </p:anim>
                                    <p:anim calcmode="lin" valueType="num">
                                      <p:cBhvr>
                                        <p:cTn id="39" dur="1000" fill="hold"/>
                                        <p:tgtEl>
                                          <p:spTgt spid="1392645">
                                            <p:txEl>
                                              <p:pRg st="5" end="5"/>
                                            </p:txEl>
                                          </p:spTgt>
                                        </p:tgtEl>
                                        <p:attrNameLst>
                                          <p:attrName>ppt_h</p:attrName>
                                        </p:attrNameLst>
                                      </p:cBhvr>
                                      <p:tavLst>
                                        <p:tav tm="0">
                                          <p:val>
                                            <p:strVal val="#ppt_h"/>
                                          </p:val>
                                        </p:tav>
                                        <p:tav tm="100000">
                                          <p:val>
                                            <p:strVal val="#ppt_h"/>
                                          </p:val>
                                        </p:tav>
                                      </p:tavLst>
                                    </p:anim>
                                    <p:animEffect transition="in" filter="fade">
                                      <p:cBhvr>
                                        <p:cTn id="40" dur="1000"/>
                                        <p:tgtEl>
                                          <p:spTgt spid="13926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4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2F47F13-DDCA-108A-3C49-43A2D4FB2FC0}"/>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7891" name="Rectangle 3">
            <a:extLst>
              <a:ext uri="{FF2B5EF4-FFF2-40B4-BE49-F238E27FC236}">
                <a16:creationId xmlns:a16="http://schemas.microsoft.com/office/drawing/2014/main" id="{285EA597-FEF5-B3AC-A1AA-459489FD669F}"/>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7892" name="Rectangle 4">
            <a:extLst>
              <a:ext uri="{FF2B5EF4-FFF2-40B4-BE49-F238E27FC236}">
                <a16:creationId xmlns:a16="http://schemas.microsoft.com/office/drawing/2014/main" id="{3164A013-C651-17AA-C418-5E5EE3D23F02}"/>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Combinations</a:t>
            </a:r>
          </a:p>
        </p:txBody>
      </p:sp>
      <p:sp>
        <p:nvSpPr>
          <p:cNvPr id="1394693" name="Rectangle 5">
            <a:extLst>
              <a:ext uri="{FF2B5EF4-FFF2-40B4-BE49-F238E27FC236}">
                <a16:creationId xmlns:a16="http://schemas.microsoft.com/office/drawing/2014/main" id="{2F53500D-4206-4169-0399-6C15FC744AA2}"/>
              </a:ext>
            </a:extLst>
          </p:cNvPr>
          <p:cNvSpPr>
            <a:spLocks noGrp="1" noChangeArrowheads="1"/>
          </p:cNvSpPr>
          <p:nvPr>
            <p:ph type="body" idx="1"/>
          </p:nvPr>
        </p:nvSpPr>
        <p:spPr>
          <a:xfrm>
            <a:off x="1981200" y="1376364"/>
            <a:ext cx="8178800" cy="5329237"/>
          </a:xfrm>
          <a:noFill/>
        </p:spPr>
        <p:txBody>
          <a:bodyPr vert="horz" wrap="square" lIns="90488" tIns="44450" rIns="90488" bIns="44450" numCol="1" anchor="t" anchorCtr="0" compatLnSpc="1">
            <a:prstTxWarp prst="textNoShape">
              <a:avLst/>
            </a:prstTxWarp>
          </a:bodyPr>
          <a:lstStyle/>
          <a:p>
            <a:r>
              <a:rPr lang="en-US" altLang="en-US"/>
              <a:t>Postindex</a:t>
            </a:r>
          </a:p>
          <a:p>
            <a:r>
              <a:rPr lang="en-US" altLang="en-US">
                <a:solidFill>
                  <a:srgbClr val="0000CC"/>
                </a:solidFill>
              </a:rPr>
              <a:t>EA = (A) + (R)</a:t>
            </a:r>
          </a:p>
          <a:p>
            <a:endParaRPr lang="en-US" altLang="en-US">
              <a:solidFill>
                <a:srgbClr val="0000CC"/>
              </a:solidFill>
            </a:endParaRPr>
          </a:p>
          <a:p>
            <a:r>
              <a:rPr lang="en-US" altLang="en-US"/>
              <a:t>Preindex</a:t>
            </a:r>
          </a:p>
          <a:p>
            <a:r>
              <a:rPr lang="en-US" altLang="en-US">
                <a:solidFill>
                  <a:srgbClr val="0000CC"/>
                </a:solidFill>
              </a:rPr>
              <a:t>EA = (A+(R))</a:t>
            </a:r>
          </a:p>
          <a:p>
            <a:endParaRPr lang="en-US" altLang="en-US">
              <a:solidFill>
                <a:srgbClr val="0000CC"/>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394693">
                                            <p:txEl>
                                              <p:pRg st="0" end="0"/>
                                            </p:txEl>
                                          </p:spTgt>
                                        </p:tgtEl>
                                        <p:attrNameLst>
                                          <p:attrName>style.visibility</p:attrName>
                                        </p:attrNameLst>
                                      </p:cBhvr>
                                      <p:to>
                                        <p:strVal val="visible"/>
                                      </p:to>
                                    </p:set>
                                    <p:anim calcmode="lin" valueType="num">
                                      <p:cBhvr>
                                        <p:cTn id="7" dur="1000" fill="hold"/>
                                        <p:tgtEl>
                                          <p:spTgt spid="139469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39469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39469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94693">
                                            <p:txEl>
                                              <p:pRg st="1" end="1"/>
                                            </p:txEl>
                                          </p:spTgt>
                                        </p:tgtEl>
                                        <p:attrNameLst>
                                          <p:attrName>style.visibility</p:attrName>
                                        </p:attrNameLst>
                                      </p:cBhvr>
                                      <p:to>
                                        <p:strVal val="visible"/>
                                      </p:to>
                                    </p:set>
                                    <p:anim calcmode="lin" valueType="num">
                                      <p:cBhvr>
                                        <p:cTn id="14" dur="1000" fill="hold"/>
                                        <p:tgtEl>
                                          <p:spTgt spid="139469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9469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9469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394693">
                                            <p:txEl>
                                              <p:pRg st="3" end="3"/>
                                            </p:txEl>
                                          </p:spTgt>
                                        </p:tgtEl>
                                        <p:attrNameLst>
                                          <p:attrName>style.visibility</p:attrName>
                                        </p:attrNameLst>
                                      </p:cBhvr>
                                      <p:to>
                                        <p:strVal val="visible"/>
                                      </p:to>
                                    </p:set>
                                    <p:anim calcmode="lin" valueType="num">
                                      <p:cBhvr>
                                        <p:cTn id="21" dur="1000" fill="hold"/>
                                        <p:tgtEl>
                                          <p:spTgt spid="1394693">
                                            <p:txEl>
                                              <p:pRg st="3" end="3"/>
                                            </p:txEl>
                                          </p:spTgt>
                                        </p:tgtEl>
                                        <p:attrNameLst>
                                          <p:attrName>ppt_w</p:attrName>
                                        </p:attrNameLst>
                                      </p:cBhvr>
                                      <p:tavLst>
                                        <p:tav tm="0">
                                          <p:val>
                                            <p:strVal val="#ppt_w*0.70"/>
                                          </p:val>
                                        </p:tav>
                                        <p:tav tm="100000">
                                          <p:val>
                                            <p:strVal val="#ppt_w"/>
                                          </p:val>
                                        </p:tav>
                                      </p:tavLst>
                                    </p:anim>
                                    <p:anim calcmode="lin" valueType="num">
                                      <p:cBhvr>
                                        <p:cTn id="22" dur="1000" fill="hold"/>
                                        <p:tgtEl>
                                          <p:spTgt spid="1394693">
                                            <p:txEl>
                                              <p:pRg st="3" end="3"/>
                                            </p:txEl>
                                          </p:spTgt>
                                        </p:tgtEl>
                                        <p:attrNameLst>
                                          <p:attrName>ppt_h</p:attrName>
                                        </p:attrNameLst>
                                      </p:cBhvr>
                                      <p:tavLst>
                                        <p:tav tm="0">
                                          <p:val>
                                            <p:strVal val="#ppt_h"/>
                                          </p:val>
                                        </p:tav>
                                        <p:tav tm="100000">
                                          <p:val>
                                            <p:strVal val="#ppt_h"/>
                                          </p:val>
                                        </p:tav>
                                      </p:tavLst>
                                    </p:anim>
                                    <p:animEffect transition="in" filter="fade">
                                      <p:cBhvr>
                                        <p:cTn id="23" dur="1000"/>
                                        <p:tgtEl>
                                          <p:spTgt spid="1394693">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1394693">
                                            <p:txEl>
                                              <p:pRg st="4" end="4"/>
                                            </p:txEl>
                                          </p:spTgt>
                                        </p:tgtEl>
                                        <p:attrNameLst>
                                          <p:attrName>style.visibility</p:attrName>
                                        </p:attrNameLst>
                                      </p:cBhvr>
                                      <p:to>
                                        <p:strVal val="visible"/>
                                      </p:to>
                                    </p:set>
                                    <p:anim calcmode="lin" valueType="num">
                                      <p:cBhvr>
                                        <p:cTn id="28" dur="1000" fill="hold"/>
                                        <p:tgtEl>
                                          <p:spTgt spid="1394693">
                                            <p:txEl>
                                              <p:pRg st="4" end="4"/>
                                            </p:txEl>
                                          </p:spTgt>
                                        </p:tgtEl>
                                        <p:attrNameLst>
                                          <p:attrName>ppt_w</p:attrName>
                                        </p:attrNameLst>
                                      </p:cBhvr>
                                      <p:tavLst>
                                        <p:tav tm="0">
                                          <p:val>
                                            <p:strVal val="#ppt_w*0.70"/>
                                          </p:val>
                                        </p:tav>
                                        <p:tav tm="100000">
                                          <p:val>
                                            <p:strVal val="#ppt_w"/>
                                          </p:val>
                                        </p:tav>
                                      </p:tavLst>
                                    </p:anim>
                                    <p:anim calcmode="lin" valueType="num">
                                      <p:cBhvr>
                                        <p:cTn id="29" dur="1000" fill="hold"/>
                                        <p:tgtEl>
                                          <p:spTgt spid="1394693">
                                            <p:txEl>
                                              <p:pRg st="4" end="4"/>
                                            </p:txEl>
                                          </p:spTgt>
                                        </p:tgtEl>
                                        <p:attrNameLst>
                                          <p:attrName>ppt_h</p:attrName>
                                        </p:attrNameLst>
                                      </p:cBhvr>
                                      <p:tavLst>
                                        <p:tav tm="0">
                                          <p:val>
                                            <p:strVal val="#ppt_h"/>
                                          </p:val>
                                        </p:tav>
                                        <p:tav tm="100000">
                                          <p:val>
                                            <p:strVal val="#ppt_h"/>
                                          </p:val>
                                        </p:tav>
                                      </p:tavLst>
                                    </p:anim>
                                    <p:animEffect transition="in" filter="fade">
                                      <p:cBhvr>
                                        <p:cTn id="30" dur="1000"/>
                                        <p:tgtEl>
                                          <p:spTgt spid="139469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469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F13D1241-674B-62C5-A33B-5127FDA51E4D}"/>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9939" name="Rectangle 3">
            <a:extLst>
              <a:ext uri="{FF2B5EF4-FFF2-40B4-BE49-F238E27FC236}">
                <a16:creationId xmlns:a16="http://schemas.microsoft.com/office/drawing/2014/main" id="{A7172CDE-1E83-FD16-D115-3BAD1FF8C058}"/>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a:solidFill>
                  <a:schemeClr val="tx1"/>
                </a:solidFill>
                <a:latin typeface="Verdana" panose="020B0604030504040204" pitchFamily="34" charset="0"/>
              </a:defRPr>
            </a:lvl4pPr>
            <a:lvl5pPr marL="2057400" indent="-228600">
              <a:spcBef>
                <a:spcPct val="20000"/>
              </a:spcBef>
              <a:buClr>
                <a:srgbClr val="FF0000"/>
              </a:buClr>
              <a:buChar char="o"/>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a:solidFill>
                  <a:schemeClr val="tx1"/>
                </a:solidFill>
                <a:latin typeface="Verdana" panose="020B0604030504040204" pitchFamily="34" charset="0"/>
              </a:defRPr>
            </a:lvl9pPr>
          </a:lstStyle>
          <a:p>
            <a:pPr eaLnBrk="0" fontAlgn="base" hangingPunct="0">
              <a:spcBef>
                <a:spcPct val="0"/>
              </a:spcBef>
              <a:spcAft>
                <a:spcPct val="0"/>
              </a:spcAft>
              <a:buClrTx/>
              <a:buNone/>
            </a:pPr>
            <a:endParaRPr kumimoji="0" lang="en-US" altLang="en-US" sz="2400">
              <a:solidFill>
                <a:srgbClr val="000000"/>
              </a:solidFill>
              <a:latin typeface="Times New Roman" panose="02020603050405020304" pitchFamily="18" charset="0"/>
            </a:endParaRPr>
          </a:p>
        </p:txBody>
      </p:sp>
      <p:sp>
        <p:nvSpPr>
          <p:cNvPr id="39940" name="Rectangle 4">
            <a:extLst>
              <a:ext uri="{FF2B5EF4-FFF2-40B4-BE49-F238E27FC236}">
                <a16:creationId xmlns:a16="http://schemas.microsoft.com/office/drawing/2014/main" id="{84DCFC48-9FE1-792E-CA57-85A02CBE86C5}"/>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Stack Addressing</a:t>
            </a:r>
          </a:p>
        </p:txBody>
      </p:sp>
      <p:sp>
        <p:nvSpPr>
          <p:cNvPr id="1396741" name="Rectangle 5">
            <a:extLst>
              <a:ext uri="{FF2B5EF4-FFF2-40B4-BE49-F238E27FC236}">
                <a16:creationId xmlns:a16="http://schemas.microsoft.com/office/drawing/2014/main" id="{C6CA68B4-B868-011C-A4E9-82493F4E73D0}"/>
              </a:ext>
            </a:extLst>
          </p:cNvPr>
          <p:cNvSpPr>
            <a:spLocks noGrp="1" noChangeArrowheads="1"/>
          </p:cNvSpPr>
          <p:nvPr>
            <p:ph type="body" idx="1"/>
          </p:nvPr>
        </p:nvSpPr>
        <p:spPr>
          <a:xfrm>
            <a:off x="1981201" y="1495426"/>
            <a:ext cx="7858125" cy="4906963"/>
          </a:xfrm>
          <a:noFill/>
        </p:spPr>
        <p:txBody>
          <a:bodyPr vert="horz" wrap="square" lIns="90488" tIns="44450" rIns="90488" bIns="44450" numCol="1" anchor="t" anchorCtr="0" compatLnSpc="1">
            <a:prstTxWarp prst="textNoShape">
              <a:avLst/>
            </a:prstTxWarp>
          </a:bodyPr>
          <a:lstStyle/>
          <a:p>
            <a:r>
              <a:rPr lang="en-US" altLang="en-US"/>
              <a:t>Operand is (implicitly) on top of stack</a:t>
            </a:r>
          </a:p>
          <a:p>
            <a:r>
              <a:rPr lang="en-US" altLang="en-US"/>
              <a:t>e.g. </a:t>
            </a:r>
          </a:p>
          <a:p>
            <a:pPr lvl="1"/>
            <a:r>
              <a:rPr lang="en-US" altLang="en-US"/>
              <a:t>ADD	Pop top two items from stack				and add</a:t>
            </a:r>
          </a:p>
          <a:p>
            <a:pPr>
              <a:buFont typeface="Monotype Sorts" pitchFamily="2" charset="2"/>
              <a:buChar char="y"/>
            </a:pPr>
            <a:endParaRPr lang="en-US" altLang="en-US" sz="24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96741">
                                            <p:txEl>
                                              <p:pRg st="0" end="0"/>
                                            </p:txEl>
                                          </p:spTgt>
                                        </p:tgtEl>
                                        <p:attrNameLst>
                                          <p:attrName>style.visibility</p:attrName>
                                        </p:attrNameLst>
                                      </p:cBhvr>
                                      <p:to>
                                        <p:strVal val="visible"/>
                                      </p:to>
                                    </p:set>
                                    <p:animEffect transition="in" filter="dissolve">
                                      <p:cBhvr>
                                        <p:cTn id="7" dur="500"/>
                                        <p:tgtEl>
                                          <p:spTgt spid="139674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396741">
                                            <p:txEl>
                                              <p:pRg st="1" end="1"/>
                                            </p:txEl>
                                          </p:spTgt>
                                        </p:tgtEl>
                                        <p:attrNameLst>
                                          <p:attrName>style.visibility</p:attrName>
                                        </p:attrNameLst>
                                      </p:cBhvr>
                                      <p:to>
                                        <p:strVal val="visible"/>
                                      </p:to>
                                    </p:set>
                                    <p:animEffect transition="in" filter="dissolve">
                                      <p:cBhvr>
                                        <p:cTn id="12" dur="500"/>
                                        <p:tgtEl>
                                          <p:spTgt spid="1396741">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1396741">
                                            <p:txEl>
                                              <p:pRg st="2" end="2"/>
                                            </p:txEl>
                                          </p:spTgt>
                                        </p:tgtEl>
                                        <p:attrNameLst>
                                          <p:attrName>style.visibility</p:attrName>
                                        </p:attrNameLst>
                                      </p:cBhvr>
                                      <p:to>
                                        <p:strVal val="visible"/>
                                      </p:to>
                                    </p:set>
                                    <p:animEffect transition="in" filter="dissolve">
                                      <p:cBhvr>
                                        <p:cTn id="15" dur="500"/>
                                        <p:tgtEl>
                                          <p:spTgt spid="13967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674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F2BF33A-A624-BFA8-426F-58B2C58B04FC}"/>
              </a:ext>
            </a:extLst>
          </p:cNvPr>
          <p:cNvSpPr>
            <a:spLocks noGrp="1" noChangeArrowheads="1"/>
          </p:cNvSpPr>
          <p:nvPr>
            <p:ph type="title"/>
          </p:nvPr>
        </p:nvSpPr>
        <p:spPr/>
        <p:txBody>
          <a:bodyPr/>
          <a:lstStyle/>
          <a:p>
            <a:r>
              <a:rPr lang="tr-TR" altLang="en-US"/>
              <a:t>Summary of basic addressing modes</a:t>
            </a:r>
          </a:p>
        </p:txBody>
      </p:sp>
      <p:sp>
        <p:nvSpPr>
          <p:cNvPr id="41987" name="Rectangle 3">
            <a:extLst>
              <a:ext uri="{FF2B5EF4-FFF2-40B4-BE49-F238E27FC236}">
                <a16:creationId xmlns:a16="http://schemas.microsoft.com/office/drawing/2014/main" id="{44EB2923-39BF-C00E-F8B8-522CB8290A1D}"/>
              </a:ext>
            </a:extLst>
          </p:cNvPr>
          <p:cNvSpPr>
            <a:spLocks noGrp="1" noChangeArrowheads="1"/>
          </p:cNvSpPr>
          <p:nvPr>
            <p:ph type="body" sz="half" idx="1"/>
          </p:nvPr>
        </p:nvSpPr>
        <p:spPr>
          <a:xfrm>
            <a:off x="1981200" y="1066800"/>
            <a:ext cx="7570788" cy="5170488"/>
          </a:xfrm>
        </p:spPr>
        <p:txBody>
          <a:bodyPr/>
          <a:lstStyle/>
          <a:p>
            <a:pPr marL="0" indent="0">
              <a:buNone/>
            </a:pPr>
            <a:endParaRPr lang="tr-TR" altLang="en-US" sz="2400" dirty="0"/>
          </a:p>
        </p:txBody>
      </p:sp>
      <p:pic>
        <p:nvPicPr>
          <p:cNvPr id="41988" name="Picture 4">
            <a:extLst>
              <a:ext uri="{FF2B5EF4-FFF2-40B4-BE49-F238E27FC236}">
                <a16:creationId xmlns:a16="http://schemas.microsoft.com/office/drawing/2014/main" id="{D07BB06B-D79D-3900-21AD-1F215F0F1CF3}"/>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774826" y="1916114"/>
            <a:ext cx="8748713" cy="3724275"/>
          </a:xfrm>
          <a:noFill/>
        </p:spPr>
      </p:pic>
    </p:spTree>
  </p:cSld>
  <p:clrMapOvr>
    <a:masterClrMapping/>
  </p:clrMapOvr>
</p:sld>
</file>

<file path=ppt/theme/theme1.xml><?xml version="1.0" encoding="utf-8"?>
<a:theme xmlns:a="http://schemas.openxmlformats.org/drawingml/2006/main" name="Stallings COE7e">
  <a:themeElements>
    <a:clrScheme name="Stallings COE7e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Stallings COE7e">
      <a:majorFont>
        <a:latin typeface="Arial Black"/>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tallings COE7e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Stallings COE7e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Stallings COE7e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llings COE7e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Stallings COE7e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Stallings COE7e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Stallings COE7e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TotalTime>
  <Words>1537</Words>
  <Application>Microsoft Office PowerPoint</Application>
  <PresentationFormat>Widescreen</PresentationFormat>
  <Paragraphs>213</Paragraphs>
  <Slides>30</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Arial Black</vt:lpstr>
      <vt:lpstr>Calibri</vt:lpstr>
      <vt:lpstr>Cambria</vt:lpstr>
      <vt:lpstr>Monotype Sorts</vt:lpstr>
      <vt:lpstr>Times New Roman</vt:lpstr>
      <vt:lpstr>Verdana</vt:lpstr>
      <vt:lpstr>Stallings COE7e</vt:lpstr>
      <vt:lpstr>INSTRUCTION FORMATS AND ADDRESSING MODES </vt:lpstr>
      <vt:lpstr>INSTRUCTION FORMATS </vt:lpstr>
      <vt:lpstr>INSTRUCTION LENGTH</vt:lpstr>
      <vt:lpstr>INSTRUCTION SETS CHARACTERISTICS </vt:lpstr>
      <vt:lpstr>ELEMENTS OF A MACHINE INSTRUCTION </vt:lpstr>
      <vt:lpstr>PowerPoint Presentation</vt:lpstr>
      <vt:lpstr>PowerPoint Presentation</vt:lpstr>
      <vt:lpstr>INSTRUCTION REPRESENTATION </vt:lpstr>
      <vt:lpstr>PowerPoint Presentation</vt:lpstr>
      <vt:lpstr>INSTRUCTION SET DESIGN </vt:lpstr>
      <vt:lpstr>PowerPoint Presentation</vt:lpstr>
      <vt:lpstr>  Addressing Modes and Formats</vt:lpstr>
      <vt:lpstr>Addressing Modes</vt:lpstr>
      <vt:lpstr>Immediate Addressing</vt:lpstr>
      <vt:lpstr>Direct Addressing</vt:lpstr>
      <vt:lpstr>Direct Addressing Diagram</vt:lpstr>
      <vt:lpstr>Indirect Addressing (1)</vt:lpstr>
      <vt:lpstr>Indirect Addressing Diagram</vt:lpstr>
      <vt:lpstr>Register Addressing (1)</vt:lpstr>
      <vt:lpstr>Register Addressing Diagram</vt:lpstr>
      <vt:lpstr>Register Indirect Addressing</vt:lpstr>
      <vt:lpstr>Register Indirect Addressing Diagram</vt:lpstr>
      <vt:lpstr>Displacement Addressing</vt:lpstr>
      <vt:lpstr>Displacement Addressing Diagram</vt:lpstr>
      <vt:lpstr>Relative Addressing</vt:lpstr>
      <vt:lpstr>Base-Register Addressing</vt:lpstr>
      <vt:lpstr>Indexed Addressing</vt:lpstr>
      <vt:lpstr>Combinations</vt:lpstr>
      <vt:lpstr>Stack Addressing</vt:lpstr>
      <vt:lpstr>Summary of basic addressing modes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FORMATS AND ADDRESSING MODES </dc:title>
  <dc:creator>katalihwa Mustapha</dc:creator>
  <cp:lastModifiedBy>katalihwa Mustapha</cp:lastModifiedBy>
  <cp:revision>14</cp:revision>
  <dcterms:created xsi:type="dcterms:W3CDTF">2024-04-15T10:30:15Z</dcterms:created>
  <dcterms:modified xsi:type="dcterms:W3CDTF">2024-04-15T12:18:10Z</dcterms:modified>
</cp:coreProperties>
</file>