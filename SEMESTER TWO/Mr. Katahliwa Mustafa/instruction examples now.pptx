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8" d="100"/>
          <a:sy n="58" d="100"/>
        </p:scale>
        <p:origin x="98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033AE-78EF-0EF2-4208-9E314895A1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55D4C7-8C2E-C4BE-2E28-BB360F3330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2652F2E-69CE-36AF-B303-CA744C42B6CB}"/>
              </a:ext>
            </a:extLst>
          </p:cNvPr>
          <p:cNvSpPr>
            <a:spLocks noGrp="1"/>
          </p:cNvSpPr>
          <p:nvPr>
            <p:ph type="dt" sz="half" idx="10"/>
          </p:nvPr>
        </p:nvSpPr>
        <p:spPr/>
        <p:txBody>
          <a:bodyPr/>
          <a:lstStyle/>
          <a:p>
            <a:fld id="{8F900930-7771-4186-8BAF-5FC6C923C844}" type="datetimeFigureOut">
              <a:rPr lang="en-US" smtClean="0"/>
              <a:t>4/22/2024</a:t>
            </a:fld>
            <a:endParaRPr lang="en-US"/>
          </a:p>
        </p:txBody>
      </p:sp>
      <p:sp>
        <p:nvSpPr>
          <p:cNvPr id="5" name="Footer Placeholder 4">
            <a:extLst>
              <a:ext uri="{FF2B5EF4-FFF2-40B4-BE49-F238E27FC236}">
                <a16:creationId xmlns:a16="http://schemas.microsoft.com/office/drawing/2014/main" id="{EF93B363-7078-B5C7-F220-9A4BDB3898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935A84-8273-3B81-8B52-10348588678D}"/>
              </a:ext>
            </a:extLst>
          </p:cNvPr>
          <p:cNvSpPr>
            <a:spLocks noGrp="1"/>
          </p:cNvSpPr>
          <p:nvPr>
            <p:ph type="sldNum" sz="quarter" idx="12"/>
          </p:nvPr>
        </p:nvSpPr>
        <p:spPr/>
        <p:txBody>
          <a:bodyPr/>
          <a:lstStyle/>
          <a:p>
            <a:fld id="{83F44EB1-F306-408E-9606-FB7F6E899882}" type="slidenum">
              <a:rPr lang="en-US" smtClean="0"/>
              <a:t>‹#›</a:t>
            </a:fld>
            <a:endParaRPr lang="en-US"/>
          </a:p>
        </p:txBody>
      </p:sp>
    </p:spTree>
    <p:extLst>
      <p:ext uri="{BB962C8B-B14F-4D97-AF65-F5344CB8AC3E}">
        <p14:creationId xmlns:p14="http://schemas.microsoft.com/office/powerpoint/2010/main" val="3242388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894E2-BC76-722A-B63E-92761BB5AD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FC149A-0888-7C6A-5D74-A7BF2A00E7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533E76-42E7-6FE5-94DB-D6F5F590D3D3}"/>
              </a:ext>
            </a:extLst>
          </p:cNvPr>
          <p:cNvSpPr>
            <a:spLocks noGrp="1"/>
          </p:cNvSpPr>
          <p:nvPr>
            <p:ph type="dt" sz="half" idx="10"/>
          </p:nvPr>
        </p:nvSpPr>
        <p:spPr/>
        <p:txBody>
          <a:bodyPr/>
          <a:lstStyle/>
          <a:p>
            <a:fld id="{8F900930-7771-4186-8BAF-5FC6C923C844}" type="datetimeFigureOut">
              <a:rPr lang="en-US" smtClean="0"/>
              <a:t>4/22/2024</a:t>
            </a:fld>
            <a:endParaRPr lang="en-US"/>
          </a:p>
        </p:txBody>
      </p:sp>
      <p:sp>
        <p:nvSpPr>
          <p:cNvPr id="5" name="Footer Placeholder 4">
            <a:extLst>
              <a:ext uri="{FF2B5EF4-FFF2-40B4-BE49-F238E27FC236}">
                <a16:creationId xmlns:a16="http://schemas.microsoft.com/office/drawing/2014/main" id="{7734DF41-A947-7491-B142-80FCED854C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7C3205-26E2-99DE-26B6-748112A475CE}"/>
              </a:ext>
            </a:extLst>
          </p:cNvPr>
          <p:cNvSpPr>
            <a:spLocks noGrp="1"/>
          </p:cNvSpPr>
          <p:nvPr>
            <p:ph type="sldNum" sz="quarter" idx="12"/>
          </p:nvPr>
        </p:nvSpPr>
        <p:spPr/>
        <p:txBody>
          <a:bodyPr/>
          <a:lstStyle/>
          <a:p>
            <a:fld id="{83F44EB1-F306-408E-9606-FB7F6E899882}" type="slidenum">
              <a:rPr lang="en-US" smtClean="0"/>
              <a:t>‹#›</a:t>
            </a:fld>
            <a:endParaRPr lang="en-US"/>
          </a:p>
        </p:txBody>
      </p:sp>
    </p:spTree>
    <p:extLst>
      <p:ext uri="{BB962C8B-B14F-4D97-AF65-F5344CB8AC3E}">
        <p14:creationId xmlns:p14="http://schemas.microsoft.com/office/powerpoint/2010/main" val="827230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3F461-F138-AC4C-A4E1-1103479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E37949-4A37-D61B-5074-37D0874C5E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4DF6F9-38B1-D710-B1A9-8453543485DB}"/>
              </a:ext>
            </a:extLst>
          </p:cNvPr>
          <p:cNvSpPr>
            <a:spLocks noGrp="1"/>
          </p:cNvSpPr>
          <p:nvPr>
            <p:ph type="dt" sz="half" idx="10"/>
          </p:nvPr>
        </p:nvSpPr>
        <p:spPr/>
        <p:txBody>
          <a:bodyPr/>
          <a:lstStyle/>
          <a:p>
            <a:fld id="{8F900930-7771-4186-8BAF-5FC6C923C844}" type="datetimeFigureOut">
              <a:rPr lang="en-US" smtClean="0"/>
              <a:t>4/22/2024</a:t>
            </a:fld>
            <a:endParaRPr lang="en-US"/>
          </a:p>
        </p:txBody>
      </p:sp>
      <p:sp>
        <p:nvSpPr>
          <p:cNvPr id="5" name="Footer Placeholder 4">
            <a:extLst>
              <a:ext uri="{FF2B5EF4-FFF2-40B4-BE49-F238E27FC236}">
                <a16:creationId xmlns:a16="http://schemas.microsoft.com/office/drawing/2014/main" id="{9A354F3E-D25B-7CAE-BBBD-B384DB4D56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44F4E-3F9E-77B2-4705-25C728DD296E}"/>
              </a:ext>
            </a:extLst>
          </p:cNvPr>
          <p:cNvSpPr>
            <a:spLocks noGrp="1"/>
          </p:cNvSpPr>
          <p:nvPr>
            <p:ph type="sldNum" sz="quarter" idx="12"/>
          </p:nvPr>
        </p:nvSpPr>
        <p:spPr/>
        <p:txBody>
          <a:bodyPr/>
          <a:lstStyle/>
          <a:p>
            <a:fld id="{83F44EB1-F306-408E-9606-FB7F6E899882}" type="slidenum">
              <a:rPr lang="en-US" smtClean="0"/>
              <a:t>‹#›</a:t>
            </a:fld>
            <a:endParaRPr lang="en-US"/>
          </a:p>
        </p:txBody>
      </p:sp>
    </p:spTree>
    <p:extLst>
      <p:ext uri="{BB962C8B-B14F-4D97-AF65-F5344CB8AC3E}">
        <p14:creationId xmlns:p14="http://schemas.microsoft.com/office/powerpoint/2010/main" val="3202633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81DFC-E26D-2D12-3251-6DD2C950C4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9401DA-EC3B-2F67-D1A9-E5EE164522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A94CA6-27D1-5448-7B93-75616AF80D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215B05-2414-26CA-C3CA-B7854F1C979E}"/>
              </a:ext>
            </a:extLst>
          </p:cNvPr>
          <p:cNvSpPr>
            <a:spLocks noGrp="1"/>
          </p:cNvSpPr>
          <p:nvPr>
            <p:ph type="dt" sz="half" idx="10"/>
          </p:nvPr>
        </p:nvSpPr>
        <p:spPr/>
        <p:txBody>
          <a:bodyPr/>
          <a:lstStyle/>
          <a:p>
            <a:fld id="{8F900930-7771-4186-8BAF-5FC6C923C844}" type="datetimeFigureOut">
              <a:rPr lang="en-US" smtClean="0"/>
              <a:t>4/22/2024</a:t>
            </a:fld>
            <a:endParaRPr lang="en-US"/>
          </a:p>
        </p:txBody>
      </p:sp>
      <p:sp>
        <p:nvSpPr>
          <p:cNvPr id="6" name="Footer Placeholder 5">
            <a:extLst>
              <a:ext uri="{FF2B5EF4-FFF2-40B4-BE49-F238E27FC236}">
                <a16:creationId xmlns:a16="http://schemas.microsoft.com/office/drawing/2014/main" id="{A7423141-8E76-3BD0-15FD-9A066A1AEE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7E1448-4992-BDA5-AF55-AED5C4A31177}"/>
              </a:ext>
            </a:extLst>
          </p:cNvPr>
          <p:cNvSpPr>
            <a:spLocks noGrp="1"/>
          </p:cNvSpPr>
          <p:nvPr>
            <p:ph type="sldNum" sz="quarter" idx="12"/>
          </p:nvPr>
        </p:nvSpPr>
        <p:spPr/>
        <p:txBody>
          <a:bodyPr/>
          <a:lstStyle/>
          <a:p>
            <a:fld id="{83F44EB1-F306-408E-9606-FB7F6E899882}" type="slidenum">
              <a:rPr lang="en-US" smtClean="0"/>
              <a:t>‹#›</a:t>
            </a:fld>
            <a:endParaRPr lang="en-US"/>
          </a:p>
        </p:txBody>
      </p:sp>
    </p:spTree>
    <p:extLst>
      <p:ext uri="{BB962C8B-B14F-4D97-AF65-F5344CB8AC3E}">
        <p14:creationId xmlns:p14="http://schemas.microsoft.com/office/powerpoint/2010/main" val="3778765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05066-0206-264C-6D99-057A54A302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0C7393-F187-59A4-67C3-E40B1335A2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DD3EFB-1624-65CF-7929-A2A16AEA92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1A51B4-2B22-F03E-4135-787A3EAC6F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509B83-C2AD-9C95-0E57-B2E9FCFEE9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BB829B-E67A-C938-027C-35C6E7AE4E12}"/>
              </a:ext>
            </a:extLst>
          </p:cNvPr>
          <p:cNvSpPr>
            <a:spLocks noGrp="1"/>
          </p:cNvSpPr>
          <p:nvPr>
            <p:ph type="dt" sz="half" idx="10"/>
          </p:nvPr>
        </p:nvSpPr>
        <p:spPr/>
        <p:txBody>
          <a:bodyPr/>
          <a:lstStyle/>
          <a:p>
            <a:fld id="{8F900930-7771-4186-8BAF-5FC6C923C844}" type="datetimeFigureOut">
              <a:rPr lang="en-US" smtClean="0"/>
              <a:t>4/22/2024</a:t>
            </a:fld>
            <a:endParaRPr lang="en-US"/>
          </a:p>
        </p:txBody>
      </p:sp>
      <p:sp>
        <p:nvSpPr>
          <p:cNvPr id="8" name="Footer Placeholder 7">
            <a:extLst>
              <a:ext uri="{FF2B5EF4-FFF2-40B4-BE49-F238E27FC236}">
                <a16:creationId xmlns:a16="http://schemas.microsoft.com/office/drawing/2014/main" id="{B5D691F0-A999-DEFA-4FD3-8738B455BE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01A293-4721-0325-3838-3413714F68C3}"/>
              </a:ext>
            </a:extLst>
          </p:cNvPr>
          <p:cNvSpPr>
            <a:spLocks noGrp="1"/>
          </p:cNvSpPr>
          <p:nvPr>
            <p:ph type="sldNum" sz="quarter" idx="12"/>
          </p:nvPr>
        </p:nvSpPr>
        <p:spPr/>
        <p:txBody>
          <a:bodyPr/>
          <a:lstStyle/>
          <a:p>
            <a:fld id="{83F44EB1-F306-408E-9606-FB7F6E899882}" type="slidenum">
              <a:rPr lang="en-US" smtClean="0"/>
              <a:t>‹#›</a:t>
            </a:fld>
            <a:endParaRPr lang="en-US"/>
          </a:p>
        </p:txBody>
      </p:sp>
    </p:spTree>
    <p:extLst>
      <p:ext uri="{BB962C8B-B14F-4D97-AF65-F5344CB8AC3E}">
        <p14:creationId xmlns:p14="http://schemas.microsoft.com/office/powerpoint/2010/main" val="2586564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40757-9572-CA74-ED9B-9499E34BAA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263A90-6DB9-F5E2-6611-2568DE2B5873}"/>
              </a:ext>
            </a:extLst>
          </p:cNvPr>
          <p:cNvSpPr>
            <a:spLocks noGrp="1"/>
          </p:cNvSpPr>
          <p:nvPr>
            <p:ph type="dt" sz="half" idx="10"/>
          </p:nvPr>
        </p:nvSpPr>
        <p:spPr/>
        <p:txBody>
          <a:bodyPr/>
          <a:lstStyle/>
          <a:p>
            <a:fld id="{8F900930-7771-4186-8BAF-5FC6C923C844}" type="datetimeFigureOut">
              <a:rPr lang="en-US" smtClean="0"/>
              <a:t>4/22/2024</a:t>
            </a:fld>
            <a:endParaRPr lang="en-US"/>
          </a:p>
        </p:txBody>
      </p:sp>
      <p:sp>
        <p:nvSpPr>
          <p:cNvPr id="4" name="Footer Placeholder 3">
            <a:extLst>
              <a:ext uri="{FF2B5EF4-FFF2-40B4-BE49-F238E27FC236}">
                <a16:creationId xmlns:a16="http://schemas.microsoft.com/office/drawing/2014/main" id="{CFFBE8D4-D955-037D-519D-E326202E01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485C0F1-22EB-4597-30C8-AE943752FE9F}"/>
              </a:ext>
            </a:extLst>
          </p:cNvPr>
          <p:cNvSpPr>
            <a:spLocks noGrp="1"/>
          </p:cNvSpPr>
          <p:nvPr>
            <p:ph type="sldNum" sz="quarter" idx="12"/>
          </p:nvPr>
        </p:nvSpPr>
        <p:spPr/>
        <p:txBody>
          <a:bodyPr/>
          <a:lstStyle/>
          <a:p>
            <a:fld id="{83F44EB1-F306-408E-9606-FB7F6E899882}" type="slidenum">
              <a:rPr lang="en-US" smtClean="0"/>
              <a:t>‹#›</a:t>
            </a:fld>
            <a:endParaRPr lang="en-US"/>
          </a:p>
        </p:txBody>
      </p:sp>
    </p:spTree>
    <p:extLst>
      <p:ext uri="{BB962C8B-B14F-4D97-AF65-F5344CB8AC3E}">
        <p14:creationId xmlns:p14="http://schemas.microsoft.com/office/powerpoint/2010/main" val="1385876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A769C6-F1F0-9713-2874-A2F38568C673}"/>
              </a:ext>
            </a:extLst>
          </p:cNvPr>
          <p:cNvSpPr>
            <a:spLocks noGrp="1"/>
          </p:cNvSpPr>
          <p:nvPr>
            <p:ph type="dt" sz="half" idx="10"/>
          </p:nvPr>
        </p:nvSpPr>
        <p:spPr/>
        <p:txBody>
          <a:bodyPr/>
          <a:lstStyle/>
          <a:p>
            <a:fld id="{8F900930-7771-4186-8BAF-5FC6C923C844}" type="datetimeFigureOut">
              <a:rPr lang="en-US" smtClean="0"/>
              <a:t>4/22/2024</a:t>
            </a:fld>
            <a:endParaRPr lang="en-US"/>
          </a:p>
        </p:txBody>
      </p:sp>
      <p:sp>
        <p:nvSpPr>
          <p:cNvPr id="3" name="Footer Placeholder 2">
            <a:extLst>
              <a:ext uri="{FF2B5EF4-FFF2-40B4-BE49-F238E27FC236}">
                <a16:creationId xmlns:a16="http://schemas.microsoft.com/office/drawing/2014/main" id="{A73853BC-30FC-D8F5-7F68-7D7CA6C4F9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69BD65-EAD8-443E-9B7F-30114FAA5D4F}"/>
              </a:ext>
            </a:extLst>
          </p:cNvPr>
          <p:cNvSpPr>
            <a:spLocks noGrp="1"/>
          </p:cNvSpPr>
          <p:nvPr>
            <p:ph type="sldNum" sz="quarter" idx="12"/>
          </p:nvPr>
        </p:nvSpPr>
        <p:spPr/>
        <p:txBody>
          <a:bodyPr/>
          <a:lstStyle/>
          <a:p>
            <a:fld id="{83F44EB1-F306-408E-9606-FB7F6E899882}" type="slidenum">
              <a:rPr lang="en-US" smtClean="0"/>
              <a:t>‹#›</a:t>
            </a:fld>
            <a:endParaRPr lang="en-US"/>
          </a:p>
        </p:txBody>
      </p:sp>
    </p:spTree>
    <p:extLst>
      <p:ext uri="{BB962C8B-B14F-4D97-AF65-F5344CB8AC3E}">
        <p14:creationId xmlns:p14="http://schemas.microsoft.com/office/powerpoint/2010/main" val="2678036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7A990-634B-F2EC-FF25-E47CDC7A13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61B2A7-FF2B-C280-A491-6626EBEBED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14B56B-6072-F5EC-2916-F794776F33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848A64-046B-F21A-3D20-7C1093ACBF08}"/>
              </a:ext>
            </a:extLst>
          </p:cNvPr>
          <p:cNvSpPr>
            <a:spLocks noGrp="1"/>
          </p:cNvSpPr>
          <p:nvPr>
            <p:ph type="dt" sz="half" idx="10"/>
          </p:nvPr>
        </p:nvSpPr>
        <p:spPr/>
        <p:txBody>
          <a:bodyPr/>
          <a:lstStyle/>
          <a:p>
            <a:fld id="{8F900930-7771-4186-8BAF-5FC6C923C844}" type="datetimeFigureOut">
              <a:rPr lang="en-US" smtClean="0"/>
              <a:t>4/22/2024</a:t>
            </a:fld>
            <a:endParaRPr lang="en-US"/>
          </a:p>
        </p:txBody>
      </p:sp>
      <p:sp>
        <p:nvSpPr>
          <p:cNvPr id="6" name="Footer Placeholder 5">
            <a:extLst>
              <a:ext uri="{FF2B5EF4-FFF2-40B4-BE49-F238E27FC236}">
                <a16:creationId xmlns:a16="http://schemas.microsoft.com/office/drawing/2014/main" id="{45030658-02EB-4846-DF98-1BB07E740A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9EF1B0-968D-743D-B5FD-C07070CFC140}"/>
              </a:ext>
            </a:extLst>
          </p:cNvPr>
          <p:cNvSpPr>
            <a:spLocks noGrp="1"/>
          </p:cNvSpPr>
          <p:nvPr>
            <p:ph type="sldNum" sz="quarter" idx="12"/>
          </p:nvPr>
        </p:nvSpPr>
        <p:spPr/>
        <p:txBody>
          <a:bodyPr/>
          <a:lstStyle/>
          <a:p>
            <a:fld id="{83F44EB1-F306-408E-9606-FB7F6E899882}" type="slidenum">
              <a:rPr lang="en-US" smtClean="0"/>
              <a:t>‹#›</a:t>
            </a:fld>
            <a:endParaRPr lang="en-US"/>
          </a:p>
        </p:txBody>
      </p:sp>
    </p:spTree>
    <p:extLst>
      <p:ext uri="{BB962C8B-B14F-4D97-AF65-F5344CB8AC3E}">
        <p14:creationId xmlns:p14="http://schemas.microsoft.com/office/powerpoint/2010/main" val="2768256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39265-DA5C-2ADF-0683-569C4CD6FF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E1AD4F-8135-CB13-A27A-3005A3A2D2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BC06E9-55A9-8426-CEFA-9C4517A4E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D9B098-A62B-B4FC-400E-B9AC601AC54E}"/>
              </a:ext>
            </a:extLst>
          </p:cNvPr>
          <p:cNvSpPr>
            <a:spLocks noGrp="1"/>
          </p:cNvSpPr>
          <p:nvPr>
            <p:ph type="dt" sz="half" idx="10"/>
          </p:nvPr>
        </p:nvSpPr>
        <p:spPr/>
        <p:txBody>
          <a:bodyPr/>
          <a:lstStyle/>
          <a:p>
            <a:fld id="{8F900930-7771-4186-8BAF-5FC6C923C844}" type="datetimeFigureOut">
              <a:rPr lang="en-US" smtClean="0"/>
              <a:t>4/22/2024</a:t>
            </a:fld>
            <a:endParaRPr lang="en-US"/>
          </a:p>
        </p:txBody>
      </p:sp>
      <p:sp>
        <p:nvSpPr>
          <p:cNvPr id="6" name="Footer Placeholder 5">
            <a:extLst>
              <a:ext uri="{FF2B5EF4-FFF2-40B4-BE49-F238E27FC236}">
                <a16:creationId xmlns:a16="http://schemas.microsoft.com/office/drawing/2014/main" id="{C3D5B100-6279-B87E-5255-2E420478FF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6E722-6F64-34BA-4C35-2BD40DAE9130}"/>
              </a:ext>
            </a:extLst>
          </p:cNvPr>
          <p:cNvSpPr>
            <a:spLocks noGrp="1"/>
          </p:cNvSpPr>
          <p:nvPr>
            <p:ph type="sldNum" sz="quarter" idx="12"/>
          </p:nvPr>
        </p:nvSpPr>
        <p:spPr/>
        <p:txBody>
          <a:bodyPr/>
          <a:lstStyle/>
          <a:p>
            <a:fld id="{83F44EB1-F306-408E-9606-FB7F6E899882}" type="slidenum">
              <a:rPr lang="en-US" smtClean="0"/>
              <a:t>‹#›</a:t>
            </a:fld>
            <a:endParaRPr lang="en-US"/>
          </a:p>
        </p:txBody>
      </p:sp>
    </p:spTree>
    <p:extLst>
      <p:ext uri="{BB962C8B-B14F-4D97-AF65-F5344CB8AC3E}">
        <p14:creationId xmlns:p14="http://schemas.microsoft.com/office/powerpoint/2010/main" val="3025284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2848A-C35D-00DC-0DBF-800B0AFFDD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81B5DC-F322-1B22-080C-AE64CACC69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6B2760-27BE-9835-A91E-9C63E945C580}"/>
              </a:ext>
            </a:extLst>
          </p:cNvPr>
          <p:cNvSpPr>
            <a:spLocks noGrp="1"/>
          </p:cNvSpPr>
          <p:nvPr>
            <p:ph type="dt" sz="half" idx="10"/>
          </p:nvPr>
        </p:nvSpPr>
        <p:spPr/>
        <p:txBody>
          <a:bodyPr/>
          <a:lstStyle/>
          <a:p>
            <a:fld id="{8F900930-7771-4186-8BAF-5FC6C923C844}" type="datetimeFigureOut">
              <a:rPr lang="en-US" smtClean="0"/>
              <a:t>4/22/2024</a:t>
            </a:fld>
            <a:endParaRPr lang="en-US"/>
          </a:p>
        </p:txBody>
      </p:sp>
      <p:sp>
        <p:nvSpPr>
          <p:cNvPr id="5" name="Footer Placeholder 4">
            <a:extLst>
              <a:ext uri="{FF2B5EF4-FFF2-40B4-BE49-F238E27FC236}">
                <a16:creationId xmlns:a16="http://schemas.microsoft.com/office/drawing/2014/main" id="{117D2560-7896-AE04-A4DD-0DF6090F9D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8A94B6-BB7A-987C-8039-5603550BCD71}"/>
              </a:ext>
            </a:extLst>
          </p:cNvPr>
          <p:cNvSpPr>
            <a:spLocks noGrp="1"/>
          </p:cNvSpPr>
          <p:nvPr>
            <p:ph type="sldNum" sz="quarter" idx="12"/>
          </p:nvPr>
        </p:nvSpPr>
        <p:spPr/>
        <p:txBody>
          <a:bodyPr/>
          <a:lstStyle/>
          <a:p>
            <a:fld id="{83F44EB1-F306-408E-9606-FB7F6E899882}" type="slidenum">
              <a:rPr lang="en-US" smtClean="0"/>
              <a:t>‹#›</a:t>
            </a:fld>
            <a:endParaRPr lang="en-US"/>
          </a:p>
        </p:txBody>
      </p:sp>
    </p:spTree>
    <p:extLst>
      <p:ext uri="{BB962C8B-B14F-4D97-AF65-F5344CB8AC3E}">
        <p14:creationId xmlns:p14="http://schemas.microsoft.com/office/powerpoint/2010/main" val="36821567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D5A7EB-BAC3-FD78-494F-444CEB110A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0A03DD-674B-F748-436F-8A47EE9288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113169-8DF6-E68C-E753-CD1480139A32}"/>
              </a:ext>
            </a:extLst>
          </p:cNvPr>
          <p:cNvSpPr>
            <a:spLocks noGrp="1"/>
          </p:cNvSpPr>
          <p:nvPr>
            <p:ph type="dt" sz="half" idx="10"/>
          </p:nvPr>
        </p:nvSpPr>
        <p:spPr/>
        <p:txBody>
          <a:bodyPr/>
          <a:lstStyle/>
          <a:p>
            <a:fld id="{8F900930-7771-4186-8BAF-5FC6C923C844}" type="datetimeFigureOut">
              <a:rPr lang="en-US" smtClean="0"/>
              <a:t>4/22/2024</a:t>
            </a:fld>
            <a:endParaRPr lang="en-US"/>
          </a:p>
        </p:txBody>
      </p:sp>
      <p:sp>
        <p:nvSpPr>
          <p:cNvPr id="5" name="Footer Placeholder 4">
            <a:extLst>
              <a:ext uri="{FF2B5EF4-FFF2-40B4-BE49-F238E27FC236}">
                <a16:creationId xmlns:a16="http://schemas.microsoft.com/office/drawing/2014/main" id="{2FB538F9-6B2A-14B0-3D86-1EFEBBCF50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CDBF74-CEF1-4B19-2DEC-58554208DFB0}"/>
              </a:ext>
            </a:extLst>
          </p:cNvPr>
          <p:cNvSpPr>
            <a:spLocks noGrp="1"/>
          </p:cNvSpPr>
          <p:nvPr>
            <p:ph type="sldNum" sz="quarter" idx="12"/>
          </p:nvPr>
        </p:nvSpPr>
        <p:spPr/>
        <p:txBody>
          <a:bodyPr/>
          <a:lstStyle/>
          <a:p>
            <a:fld id="{83F44EB1-F306-408E-9606-FB7F6E899882}" type="slidenum">
              <a:rPr lang="en-US" smtClean="0"/>
              <a:t>‹#›</a:t>
            </a:fld>
            <a:endParaRPr lang="en-US"/>
          </a:p>
        </p:txBody>
      </p:sp>
    </p:spTree>
    <p:extLst>
      <p:ext uri="{BB962C8B-B14F-4D97-AF65-F5344CB8AC3E}">
        <p14:creationId xmlns:p14="http://schemas.microsoft.com/office/powerpoint/2010/main" val="3700591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6F0FB5-767C-C4C6-C68B-8D6FF987AA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CEB70E-E2B5-7C46-6C03-F75EDDA94E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C68D7-44F0-4751-E982-55C9DFBE17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900930-7771-4186-8BAF-5FC6C923C844}" type="datetimeFigureOut">
              <a:rPr lang="en-US" smtClean="0"/>
              <a:t>4/22/2024</a:t>
            </a:fld>
            <a:endParaRPr lang="en-US"/>
          </a:p>
        </p:txBody>
      </p:sp>
      <p:sp>
        <p:nvSpPr>
          <p:cNvPr id="5" name="Footer Placeholder 4">
            <a:extLst>
              <a:ext uri="{FF2B5EF4-FFF2-40B4-BE49-F238E27FC236}">
                <a16:creationId xmlns:a16="http://schemas.microsoft.com/office/drawing/2014/main" id="{A9AD2C82-744E-EBCD-0431-330ADFE4FC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6986D62-5BEE-5FCD-6281-DE1FC1CC97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F44EB1-F306-408E-9606-FB7F6E899882}" type="slidenum">
              <a:rPr lang="en-US" smtClean="0"/>
              <a:t>‹#›</a:t>
            </a:fld>
            <a:endParaRPr lang="en-US"/>
          </a:p>
        </p:txBody>
      </p:sp>
    </p:spTree>
    <p:extLst>
      <p:ext uri="{BB962C8B-B14F-4D97-AF65-F5344CB8AC3E}">
        <p14:creationId xmlns:p14="http://schemas.microsoft.com/office/powerpoint/2010/main" val="2560345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4C03B6-8608-80A5-CF90-0E6328550AE7}"/>
              </a:ext>
            </a:extLst>
          </p:cNvPr>
          <p:cNvSpPr>
            <a:spLocks noGrp="1"/>
          </p:cNvSpPr>
          <p:nvPr>
            <p:ph idx="1"/>
          </p:nvPr>
        </p:nvSpPr>
        <p:spPr>
          <a:xfrm>
            <a:off x="838200" y="209320"/>
            <a:ext cx="10515600" cy="6648680"/>
          </a:xfrm>
        </p:spPr>
        <p:txBody>
          <a:bodyPr>
            <a:normAutofit lnSpcReduction="10000"/>
          </a:bodyPr>
          <a:lstStyle/>
          <a:p>
            <a:pPr marL="0" marR="0" indent="0">
              <a:lnSpc>
                <a:spcPct val="107000"/>
              </a:lnSpc>
              <a:spcBef>
                <a:spcPts val="0"/>
              </a:spcBef>
              <a:spcAft>
                <a:spcPts val="800"/>
              </a:spcAft>
              <a:buNone/>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z=(</a:t>
            </a:r>
            <a:r>
              <a:rPr lang="en-US" sz="2400" kern="100" dirty="0" err="1">
                <a:effectLst/>
                <a:latin typeface="Aptos" panose="020B0004020202020204" pitchFamily="34" charset="0"/>
                <a:ea typeface="Aptos" panose="020B0004020202020204" pitchFamily="34" charset="0"/>
                <a:cs typeface="Times New Roman" panose="02020603050405020304" pitchFamily="18" charset="0"/>
              </a:rPr>
              <a:t>m+q-x</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)/(Y*b-L) in Two operand instruction</a:t>
            </a:r>
          </a:p>
          <a:p>
            <a:pPr marL="342900" marR="0" lvl="0" indent="-342900">
              <a:lnSpc>
                <a:spcPct val="107000"/>
              </a:lnSpc>
              <a:spcBef>
                <a:spcPts val="0"/>
              </a:spcBef>
              <a:spcAft>
                <a:spcPts val="800"/>
              </a:spcAft>
              <a:buFont typeface="+mj-lt"/>
              <a:buAutoNum type="arabicPeriod"/>
              <a:tabLst>
                <a:tab pos="457200" algn="l"/>
              </a:tabLs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Compute the numerator: </a:t>
            </a:r>
            <a:r>
              <a:rPr lang="en-US" sz="2400" kern="100" dirty="0">
                <a:effectLst/>
                <a:latin typeface="Cambria Math" panose="02040503050406030204" pitchFamily="18" charset="0"/>
                <a:ea typeface="Aptos" panose="020B0004020202020204" pitchFamily="34" charset="0"/>
                <a:cs typeface="Cambria Math" panose="02040503050406030204" pitchFamily="18" charset="0"/>
              </a:rPr>
              <a:t>𝑚</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a:t>
            </a:r>
            <a:r>
              <a:rPr lang="en-US" sz="2400" kern="100" dirty="0">
                <a:effectLst/>
                <a:latin typeface="Cambria Math" panose="02040503050406030204" pitchFamily="18" charset="0"/>
                <a:ea typeface="Aptos" panose="020B0004020202020204" pitchFamily="34" charset="0"/>
                <a:cs typeface="Cambria Math" panose="02040503050406030204" pitchFamily="18" charset="0"/>
              </a:rPr>
              <a:t>𝑞</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a:t>
            </a:r>
            <a:r>
              <a:rPr lang="en-US" sz="2400" kern="100" dirty="0">
                <a:effectLst/>
                <a:latin typeface="Cambria Math" panose="02040503050406030204" pitchFamily="18" charset="0"/>
                <a:ea typeface="Aptos" panose="020B0004020202020204" pitchFamily="34" charset="0"/>
                <a:cs typeface="Cambria Math" panose="02040503050406030204" pitchFamily="18" charset="0"/>
              </a:rPr>
              <a:t>𝑥</a:t>
            </a:r>
          </a:p>
          <a:p>
            <a:pPr marL="342900" marR="0" lvl="0" indent="-342900">
              <a:lnSpc>
                <a:spcPct val="107000"/>
              </a:lnSpc>
              <a:spcBef>
                <a:spcPts val="0"/>
              </a:spcBef>
              <a:spcAft>
                <a:spcPts val="800"/>
              </a:spcAft>
              <a:buFont typeface="+mj-lt"/>
              <a:buAutoNum type="arabicPeriod"/>
              <a:tabLst>
                <a:tab pos="457200" algn="l"/>
              </a:tabLs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Compute the denominator: </a:t>
            </a:r>
            <a:r>
              <a:rPr lang="en-US" sz="2400" kern="100" dirty="0">
                <a:effectLst/>
                <a:latin typeface="Cambria Math" panose="02040503050406030204" pitchFamily="18" charset="0"/>
                <a:ea typeface="Aptos" panose="020B0004020202020204" pitchFamily="34" charset="0"/>
                <a:cs typeface="Cambria Math" panose="02040503050406030204" pitchFamily="18" charset="0"/>
              </a:rPr>
              <a:t>𝑌⋅𝑏</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a:t>
            </a:r>
            <a:r>
              <a:rPr lang="en-US" sz="2400" kern="100" dirty="0">
                <a:effectLst/>
                <a:latin typeface="Cambria Math" panose="02040503050406030204" pitchFamily="18" charset="0"/>
                <a:ea typeface="Aptos" panose="020B0004020202020204" pitchFamily="34" charset="0"/>
                <a:cs typeface="Cambria Math" panose="02040503050406030204" pitchFamily="18" charset="0"/>
              </a:rPr>
              <a:t>𝐿</a:t>
            </a: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Bef>
                <a:spcPts val="0"/>
              </a:spcBef>
              <a:spcAft>
                <a:spcPts val="800"/>
              </a:spcAf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So, you might design your two-operand instruction set like this:</a:t>
            </a:r>
          </a:p>
          <a:p>
            <a:pPr marL="342900" marR="0" lvl="0" indent="-342900">
              <a:lnSpc>
                <a:spcPct val="107000"/>
              </a:lnSpc>
              <a:spcBef>
                <a:spcPts val="0"/>
              </a:spcBef>
              <a:spcAft>
                <a:spcPts val="800"/>
              </a:spcAft>
              <a:buFont typeface="+mj-lt"/>
              <a:buAutoNum type="arabicPeriod"/>
              <a:tabLst>
                <a:tab pos="457200" algn="l"/>
              </a:tabLs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Instruction 1: ADD </a:t>
            </a:r>
            <a:r>
              <a:rPr lang="en-US" sz="2400" kern="100" dirty="0">
                <a:effectLst/>
                <a:latin typeface="Cambria Math" panose="02040503050406030204" pitchFamily="18" charset="0"/>
                <a:ea typeface="Aptos" panose="020B0004020202020204" pitchFamily="34" charset="0"/>
                <a:cs typeface="Cambria Math" panose="02040503050406030204" pitchFamily="18" charset="0"/>
              </a:rPr>
              <a:t>𝑚</a:t>
            </a:r>
            <a:r>
              <a:rPr lang="en-US" sz="2400" i="1" kern="100" dirty="0">
                <a:effectLst/>
                <a:latin typeface="Aptos" panose="020B0004020202020204" pitchFamily="34" charset="0"/>
                <a:ea typeface="Aptos" panose="020B0004020202020204" pitchFamily="34" charset="0"/>
                <a:cs typeface="Times New Roman" panose="02020603050405020304" pitchFamily="18" charset="0"/>
              </a:rPr>
              <a:t>m</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400" kern="100" dirty="0">
                <a:effectLst/>
                <a:latin typeface="Cambria Math" panose="02040503050406030204" pitchFamily="18" charset="0"/>
                <a:ea typeface="Aptos" panose="020B0004020202020204" pitchFamily="34" charset="0"/>
                <a:cs typeface="Cambria Math" panose="02040503050406030204" pitchFamily="18" charset="0"/>
              </a:rPr>
              <a:t>𝑞</a:t>
            </a:r>
            <a:r>
              <a:rPr lang="en-US" sz="2400" i="1" kern="100" dirty="0">
                <a:effectLst/>
                <a:latin typeface="Aptos" panose="020B0004020202020204" pitchFamily="34" charset="0"/>
                <a:ea typeface="Aptos" panose="020B0004020202020204" pitchFamily="34" charset="0"/>
                <a:cs typeface="Times New Roman" panose="02020603050405020304" pitchFamily="18" charset="0"/>
              </a:rPr>
              <a:t>q</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store result in a temporary register.</a:t>
            </a:r>
          </a:p>
          <a:p>
            <a:pPr marL="342900" marR="0" lvl="0" indent="-342900">
              <a:lnSpc>
                <a:spcPct val="107000"/>
              </a:lnSpc>
              <a:spcBef>
                <a:spcPts val="0"/>
              </a:spcBef>
              <a:spcAft>
                <a:spcPts val="800"/>
              </a:spcAft>
              <a:buFont typeface="+mj-lt"/>
              <a:buAutoNum type="arabicPeriod"/>
              <a:tabLst>
                <a:tab pos="457200" algn="l"/>
              </a:tabLs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Instruction 2: SUBTRACT </a:t>
            </a:r>
            <a:r>
              <a:rPr lang="en-US" sz="2400" i="1" kern="100" dirty="0">
                <a:effectLst/>
                <a:latin typeface="Aptos" panose="020B0004020202020204" pitchFamily="34" charset="0"/>
                <a:ea typeface="Aptos" panose="020B0004020202020204" pitchFamily="34" charset="0"/>
                <a:cs typeface="Times New Roman" panose="02020603050405020304" pitchFamily="18" charset="0"/>
              </a:rPr>
              <a:t>x</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from the result obtained in step 1, store result in a temporary register.</a:t>
            </a:r>
          </a:p>
          <a:p>
            <a:pPr marL="342900" marR="0" lvl="0" indent="-342900">
              <a:lnSpc>
                <a:spcPct val="107000"/>
              </a:lnSpc>
              <a:spcBef>
                <a:spcPts val="0"/>
              </a:spcBef>
              <a:spcAft>
                <a:spcPts val="800"/>
              </a:spcAft>
              <a:buFont typeface="+mj-lt"/>
              <a:buAutoNum type="arabicPeriod"/>
              <a:tabLst>
                <a:tab pos="457200" algn="l"/>
              </a:tabLs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Instruction 3: MULTIPLY </a:t>
            </a:r>
            <a:r>
              <a:rPr lang="en-US" sz="2400" kern="100" dirty="0">
                <a:effectLst/>
                <a:latin typeface="Cambria Math" panose="02040503050406030204" pitchFamily="18" charset="0"/>
                <a:ea typeface="Aptos" panose="020B0004020202020204" pitchFamily="34" charset="0"/>
                <a:cs typeface="Cambria Math" panose="02040503050406030204" pitchFamily="18" charset="0"/>
              </a:rPr>
              <a:t>𝑌</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and </a:t>
            </a:r>
            <a:r>
              <a:rPr lang="en-US" sz="2400" kern="100" dirty="0">
                <a:effectLst/>
                <a:latin typeface="Cambria Math" panose="02040503050406030204" pitchFamily="18" charset="0"/>
                <a:ea typeface="Aptos" panose="020B0004020202020204" pitchFamily="34" charset="0"/>
                <a:cs typeface="Cambria Math" panose="02040503050406030204" pitchFamily="18" charset="0"/>
              </a:rPr>
              <a:t>𝑏</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store result in a temporary register.</a:t>
            </a:r>
          </a:p>
          <a:p>
            <a:pPr marL="342900" marR="0" lvl="0" indent="-342900">
              <a:lnSpc>
                <a:spcPct val="107000"/>
              </a:lnSpc>
              <a:spcBef>
                <a:spcPts val="0"/>
              </a:spcBef>
              <a:spcAft>
                <a:spcPts val="800"/>
              </a:spcAft>
              <a:buFont typeface="+mj-lt"/>
              <a:buAutoNum type="arabicPeriod"/>
              <a:tabLst>
                <a:tab pos="457200" algn="l"/>
              </a:tabLs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Instruction 4: SUBTRACT </a:t>
            </a:r>
            <a:r>
              <a:rPr lang="en-US" sz="2400" i="1" kern="100" dirty="0">
                <a:effectLst/>
                <a:latin typeface="Aptos" panose="020B0004020202020204" pitchFamily="34" charset="0"/>
                <a:ea typeface="Aptos" panose="020B0004020202020204" pitchFamily="34" charset="0"/>
                <a:cs typeface="Times New Roman" panose="02020603050405020304" pitchFamily="18" charset="0"/>
              </a:rPr>
              <a:t>L</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from the result obtained in step 3, store result in a temporary register.</a:t>
            </a:r>
          </a:p>
          <a:p>
            <a:pPr marL="342900" marR="0" lvl="0" indent="-342900">
              <a:lnSpc>
                <a:spcPct val="107000"/>
              </a:lnSpc>
              <a:spcBef>
                <a:spcPts val="0"/>
              </a:spcBef>
              <a:spcAft>
                <a:spcPts val="800"/>
              </a:spcAft>
              <a:buFont typeface="+mj-lt"/>
              <a:buAutoNum type="arabicPeriod"/>
              <a:tabLst>
                <a:tab pos="457200" algn="l"/>
              </a:tabLs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Instruction 5: DIVIDE the result obtained in step 2 by the result obtained in step 4, store the final result in </a:t>
            </a:r>
            <a:r>
              <a:rPr lang="en-US" sz="2400" i="1" kern="100" dirty="0">
                <a:effectLst/>
                <a:latin typeface="Aptos" panose="020B0004020202020204" pitchFamily="34" charset="0"/>
                <a:ea typeface="Aptos" panose="020B0004020202020204" pitchFamily="34" charset="0"/>
                <a:cs typeface="Times New Roman" panose="02020603050405020304" pitchFamily="18" charset="0"/>
              </a:rPr>
              <a:t>z</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07000"/>
              </a:lnSpc>
              <a:spcBef>
                <a:spcPts val="0"/>
              </a:spcBef>
              <a:spcAft>
                <a:spcPts val="800"/>
              </a:spcAf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So, in your two-operand instruction format, you would have instructions that operate directly on data in registers, each performing one specific arithmetic operation.</a:t>
            </a:r>
          </a:p>
          <a:p>
            <a:pPr marL="0" indent="0">
              <a:buNone/>
            </a:pPr>
            <a:endParaRPr lang="en-US" sz="3600" dirty="0"/>
          </a:p>
        </p:txBody>
      </p:sp>
    </p:spTree>
    <p:extLst>
      <p:ext uri="{BB962C8B-B14F-4D97-AF65-F5344CB8AC3E}">
        <p14:creationId xmlns:p14="http://schemas.microsoft.com/office/powerpoint/2010/main" val="3892743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91DBB-4C3C-74A9-F07B-BA0E0C91D422}"/>
              </a:ext>
            </a:extLst>
          </p:cNvPr>
          <p:cNvSpPr>
            <a:spLocks noGrp="1"/>
          </p:cNvSpPr>
          <p:nvPr>
            <p:ph idx="1"/>
          </p:nvPr>
        </p:nvSpPr>
        <p:spPr>
          <a:xfrm>
            <a:off x="551762" y="569702"/>
            <a:ext cx="10515600" cy="5709911"/>
          </a:xfrm>
        </p:spPr>
        <p:txBody>
          <a:bodyPr>
            <a:normAutofit/>
          </a:bodyPr>
          <a:lstStyle/>
          <a:p>
            <a:pPr marL="0" marR="0">
              <a:lnSpc>
                <a:spcPct val="107000"/>
              </a:lnSpc>
              <a:spcBef>
                <a:spcPts val="0"/>
              </a:spcBef>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z=(</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m+q-x</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)/(Y*b-L) in Three operand instruction</a:t>
            </a:r>
          </a:p>
          <a:p>
            <a:pPr marL="342900" marR="0" lvl="0" indent="-342900">
              <a:lnSpc>
                <a:spcPct val="107000"/>
              </a:lnSpc>
              <a:spcBef>
                <a:spcPts val="0"/>
              </a:spcBef>
              <a:spcAft>
                <a:spcPts val="800"/>
              </a:spcAft>
              <a:buFont typeface="+mj-lt"/>
              <a:buAutoNum type="arabicPeriod"/>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LOAD</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Load the values of </a:t>
            </a:r>
            <a:r>
              <a:rPr lang="en-US" sz="2000" i="1" kern="100" dirty="0">
                <a:effectLst/>
                <a:latin typeface="Aptos" panose="020B0004020202020204" pitchFamily="34" charset="0"/>
                <a:ea typeface="Aptos" panose="020B0004020202020204" pitchFamily="34" charset="0"/>
                <a:cs typeface="Times New Roman" panose="02020603050405020304" pitchFamily="18" charset="0"/>
              </a:rPr>
              <a:t>m</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i="1" kern="100" dirty="0">
                <a:effectLst/>
                <a:latin typeface="Aptos" panose="020B0004020202020204" pitchFamily="34" charset="0"/>
                <a:ea typeface="Aptos" panose="020B0004020202020204" pitchFamily="34" charset="0"/>
                <a:cs typeface="Times New Roman" panose="02020603050405020304" pitchFamily="18" charset="0"/>
              </a:rPr>
              <a:t>q</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i="1" kern="100" dirty="0">
                <a:effectLst/>
                <a:latin typeface="Aptos" panose="020B0004020202020204" pitchFamily="34" charset="0"/>
                <a:ea typeface="Aptos" panose="020B0004020202020204" pitchFamily="34" charset="0"/>
                <a:cs typeface="Times New Roman" panose="02020603050405020304" pitchFamily="18" charset="0"/>
              </a:rPr>
              <a:t>x</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i="1" kern="100" dirty="0">
                <a:effectLst/>
                <a:latin typeface="Aptos" panose="020B0004020202020204" pitchFamily="34" charset="0"/>
                <a:ea typeface="Aptos" panose="020B0004020202020204" pitchFamily="34" charset="0"/>
                <a:cs typeface="Times New Roman" panose="02020603050405020304" pitchFamily="18" charset="0"/>
              </a:rPr>
              <a:t>Y</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000" i="1" kern="100" dirty="0">
                <a:effectLst/>
                <a:latin typeface="Aptos" panose="020B0004020202020204" pitchFamily="34" charset="0"/>
                <a:ea typeface="Aptos" panose="020B0004020202020204" pitchFamily="34" charset="0"/>
                <a:cs typeface="Times New Roman" panose="02020603050405020304" pitchFamily="18" charset="0"/>
              </a:rPr>
              <a:t>b</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000" kern="100" dirty="0">
                <a:effectLst/>
                <a:latin typeface="Cambria Math" panose="02040503050406030204" pitchFamily="18" charset="0"/>
                <a:ea typeface="Aptos" panose="020B0004020202020204" pitchFamily="34" charset="0"/>
                <a:cs typeface="Cambria Math" panose="02040503050406030204" pitchFamily="18" charset="0"/>
              </a:rPr>
              <a:t>𝐿</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into separate registers.</a:t>
            </a:r>
          </a:p>
          <a:p>
            <a:pPr marL="342900" marR="0" lvl="0" indent="-342900">
              <a:lnSpc>
                <a:spcPct val="107000"/>
              </a:lnSpc>
              <a:spcBef>
                <a:spcPts val="0"/>
              </a:spcBef>
              <a:spcAft>
                <a:spcPts val="800"/>
              </a:spcAft>
              <a:buFont typeface="+mj-lt"/>
              <a:buAutoNum type="arabicPeriod"/>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ADD</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Add the values of </a:t>
            </a:r>
            <a:r>
              <a:rPr lang="en-US" sz="2000" kern="100" dirty="0">
                <a:effectLst/>
                <a:latin typeface="Cambria Math" panose="02040503050406030204" pitchFamily="18" charset="0"/>
                <a:ea typeface="Aptos" panose="020B0004020202020204" pitchFamily="34" charset="0"/>
                <a:cs typeface="Cambria Math" panose="02040503050406030204" pitchFamily="18" charset="0"/>
              </a:rPr>
              <a:t>𝑚</a:t>
            </a:r>
            <a:r>
              <a:rPr lang="en-US" sz="2000" i="1" kern="100" dirty="0">
                <a:effectLst/>
                <a:latin typeface="Aptos" panose="020B0004020202020204" pitchFamily="34" charset="0"/>
                <a:ea typeface="Aptos" panose="020B0004020202020204" pitchFamily="34" charset="0"/>
                <a:cs typeface="Times New Roman" panose="02020603050405020304" pitchFamily="18" charset="0"/>
              </a:rPr>
              <a:t>m</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2000" kern="100" dirty="0">
                <a:effectLst/>
                <a:latin typeface="Cambria Math" panose="02040503050406030204" pitchFamily="18" charset="0"/>
                <a:ea typeface="Aptos" panose="020B0004020202020204" pitchFamily="34" charset="0"/>
                <a:cs typeface="Cambria Math" panose="02040503050406030204" pitchFamily="18" charset="0"/>
              </a:rPr>
              <a:t>𝑞</a:t>
            </a:r>
            <a:r>
              <a:rPr lang="en-US" sz="2000" i="1" kern="100" dirty="0">
                <a:effectLst/>
                <a:latin typeface="Aptos" panose="020B0004020202020204" pitchFamily="34" charset="0"/>
                <a:ea typeface="Aptos" panose="020B0004020202020204" pitchFamily="34" charset="0"/>
                <a:cs typeface="Times New Roman" panose="02020603050405020304" pitchFamily="18" charset="0"/>
              </a:rPr>
              <a:t>q</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store the result in a designated temporary register.</a:t>
            </a:r>
          </a:p>
          <a:p>
            <a:pPr marL="342900" marR="0" lvl="0" indent="-342900">
              <a:lnSpc>
                <a:spcPct val="107000"/>
              </a:lnSpc>
              <a:spcBef>
                <a:spcPts val="0"/>
              </a:spcBef>
              <a:spcAft>
                <a:spcPts val="800"/>
              </a:spcAft>
              <a:buFont typeface="+mj-lt"/>
              <a:buAutoNum type="arabicPeriod"/>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SUBTRACT</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Subtract the value of </a:t>
            </a:r>
            <a:r>
              <a:rPr lang="en-US" sz="2000" i="1" kern="100" dirty="0">
                <a:effectLst/>
                <a:latin typeface="Aptos" panose="020B0004020202020204" pitchFamily="34" charset="0"/>
                <a:ea typeface="Aptos" panose="020B0004020202020204" pitchFamily="34" charset="0"/>
                <a:cs typeface="Times New Roman" panose="02020603050405020304" pitchFamily="18" charset="0"/>
              </a:rPr>
              <a:t>x</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from the result obtained in step 2, store the result in another designated temporary register.</a:t>
            </a:r>
          </a:p>
          <a:p>
            <a:pPr marL="342900" marR="0" lvl="0" indent="-342900">
              <a:lnSpc>
                <a:spcPct val="107000"/>
              </a:lnSpc>
              <a:spcBef>
                <a:spcPts val="0"/>
              </a:spcBef>
              <a:spcAft>
                <a:spcPts val="800"/>
              </a:spcAft>
              <a:buFont typeface="+mj-lt"/>
              <a:buAutoNum type="arabicPeriod"/>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MULTIPLY</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Multiply the values of </a:t>
            </a:r>
            <a:r>
              <a:rPr lang="en-US" sz="2000" kern="100" dirty="0">
                <a:effectLst/>
                <a:latin typeface="Cambria Math" panose="02040503050406030204" pitchFamily="18" charset="0"/>
                <a:ea typeface="Aptos" panose="020B0004020202020204" pitchFamily="34" charset="0"/>
                <a:cs typeface="Cambria Math" panose="02040503050406030204" pitchFamily="18" charset="0"/>
              </a:rPr>
              <a:t>𝑌</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and </a:t>
            </a:r>
            <a:r>
              <a:rPr lang="en-US" sz="2000" kern="100" dirty="0">
                <a:effectLst/>
                <a:latin typeface="Cambria Math" panose="02040503050406030204" pitchFamily="18" charset="0"/>
                <a:ea typeface="Aptos" panose="020B0004020202020204" pitchFamily="34" charset="0"/>
                <a:cs typeface="Cambria Math" panose="02040503050406030204" pitchFamily="18" charset="0"/>
              </a:rPr>
              <a:t>𝑏</a:t>
            </a:r>
            <a:r>
              <a:rPr lang="en-US" sz="2000" i="1" kern="100" dirty="0">
                <a:effectLst/>
                <a:latin typeface="Aptos" panose="020B0004020202020204" pitchFamily="34" charset="0"/>
                <a:ea typeface="Aptos" panose="020B0004020202020204" pitchFamily="34" charset="0"/>
                <a:cs typeface="Times New Roman" panose="02020603050405020304" pitchFamily="18" charset="0"/>
              </a:rPr>
              <a:t>b</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store the result in another designated temporary register.</a:t>
            </a:r>
          </a:p>
          <a:p>
            <a:pPr marL="342900" marR="0" lvl="0" indent="-342900">
              <a:lnSpc>
                <a:spcPct val="107000"/>
              </a:lnSpc>
              <a:spcBef>
                <a:spcPts val="0"/>
              </a:spcBef>
              <a:spcAft>
                <a:spcPts val="800"/>
              </a:spcAft>
              <a:buFont typeface="+mj-lt"/>
              <a:buAutoNum type="arabicPeriod"/>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SUBTRACT</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Subtract the value of </a:t>
            </a:r>
            <a:r>
              <a:rPr lang="en-US" sz="2000" kern="100" dirty="0">
                <a:effectLst/>
                <a:latin typeface="Cambria Math" panose="02040503050406030204" pitchFamily="18" charset="0"/>
                <a:ea typeface="Aptos" panose="020B0004020202020204" pitchFamily="34" charset="0"/>
                <a:cs typeface="Cambria Math" panose="02040503050406030204" pitchFamily="18" charset="0"/>
              </a:rPr>
              <a:t>𝐿</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from the result obtained in step 4, store the result in another designated temporary register.</a:t>
            </a:r>
          </a:p>
          <a:p>
            <a:pPr marL="342900" marR="0" lvl="0" indent="-342900">
              <a:lnSpc>
                <a:spcPct val="107000"/>
              </a:lnSpc>
              <a:spcBef>
                <a:spcPts val="0"/>
              </a:spcBef>
              <a:spcAft>
                <a:spcPts val="800"/>
              </a:spcAft>
              <a:buFont typeface="+mj-lt"/>
              <a:buAutoNum type="arabicPeriod"/>
              <a:tabLst>
                <a:tab pos="457200" algn="l"/>
              </a:tabLst>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DIVIDE</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Divide the result obtained in step 3 by the result obtained in step 5, and store the final result in the destination register </a:t>
            </a:r>
            <a:r>
              <a:rPr lang="en-US" sz="2000" kern="100" dirty="0">
                <a:effectLst/>
                <a:latin typeface="Cambria Math" panose="02040503050406030204" pitchFamily="18" charset="0"/>
                <a:ea typeface="Aptos" panose="020B0004020202020204" pitchFamily="34" charset="0"/>
                <a:cs typeface="Cambria Math" panose="02040503050406030204" pitchFamily="18" charset="0"/>
              </a:rPr>
              <a:t>𝑧</a:t>
            </a:r>
            <a:r>
              <a:rPr lang="en-US" sz="2000" i="1" kern="100" dirty="0">
                <a:effectLst/>
                <a:latin typeface="Aptos" panose="020B0004020202020204" pitchFamily="34" charset="0"/>
                <a:ea typeface="Aptos" panose="020B0004020202020204" pitchFamily="34" charset="0"/>
                <a:cs typeface="Times New Roman" panose="02020603050405020304" pitchFamily="18" charset="0"/>
              </a:rPr>
              <a:t>z</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07000"/>
              </a:lnSpc>
              <a:spcBef>
                <a:spcPts val="0"/>
              </a:spcBef>
              <a:spcAft>
                <a:spcPts val="80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So, in three-operand instruction format, each instruction operates on three operands, performs one specific arithmetic operation, and stores the result in a designated destination register.</a:t>
            </a:r>
          </a:p>
          <a:p>
            <a:pPr marL="0" indent="0">
              <a:buNone/>
            </a:pPr>
            <a:endParaRPr lang="en-US" sz="2000" dirty="0"/>
          </a:p>
        </p:txBody>
      </p:sp>
    </p:spTree>
    <p:extLst>
      <p:ext uri="{BB962C8B-B14F-4D97-AF65-F5344CB8AC3E}">
        <p14:creationId xmlns:p14="http://schemas.microsoft.com/office/powerpoint/2010/main" val="409800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85614B-EE81-697A-CA84-E35911E1735A}"/>
              </a:ext>
            </a:extLst>
          </p:cNvPr>
          <p:cNvSpPr>
            <a:spLocks noGrp="1"/>
          </p:cNvSpPr>
          <p:nvPr>
            <p:ph idx="1"/>
          </p:nvPr>
        </p:nvSpPr>
        <p:spPr>
          <a:xfrm>
            <a:off x="838200" y="297454"/>
            <a:ext cx="10515600" cy="6301649"/>
          </a:xfrm>
        </p:spPr>
        <p:txBody>
          <a:bodyPr>
            <a:normAutofit lnSpcReduction="10000"/>
          </a:bodyPr>
          <a:lstStyle/>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z=(</a:t>
            </a:r>
            <a:r>
              <a:rPr lang="en-US" sz="1800" kern="100" dirty="0" err="1">
                <a:effectLst/>
                <a:latin typeface="Aptos" panose="020B0004020202020204" pitchFamily="34" charset="0"/>
                <a:ea typeface="Aptos" panose="020B0004020202020204" pitchFamily="34" charset="0"/>
                <a:cs typeface="Times New Roman" panose="02020603050405020304" pitchFamily="18" charset="0"/>
              </a:rPr>
              <a:t>m+q-x</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)/(Y*b-L) in one operand instruction</a:t>
            </a:r>
          </a:p>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 a one-operand instruction format, you'd typically perform a sequence of operations, each modifying the accumulator register, which stores intermediate results. Let's design a one-operand instruction set for your equation </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𝑧</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𝑚</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𝑞</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𝑥/𝑌⋅𝑏</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𝐿</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LOAD m</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Load the value of </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𝑚</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m</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into the accumulator.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ADD q</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Add the value of </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𝑞</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q</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to the accumulator.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SUBTRACT x</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Subtract the value of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x</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from the accumulator.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STORE numerator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Store the intermediate result in a designated temporary register.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LOAD 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Load the value of </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𝑌</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into the accumulator.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MULTIPLY by b</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Multiply the accumulator by the value of </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𝑏</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SUBTRACT L</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Subtract the value of </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𝐿</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from the accumulator.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STORE denominator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Store the intermediate result in a designated temporary register.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DIVIDE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Divide the numerator (stored in the temporary register) by the denominator (stored in another temporary register).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STORE z</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Store the final result in the destination register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z</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 one-operand instruction format, each instruction modifies the accumulator, and intermediate results are stored in temporary registers until the final result is computed and stored in the destination register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z</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indent="0">
              <a:buNone/>
            </a:pPr>
            <a:endParaRPr lang="en-US" dirty="0"/>
          </a:p>
        </p:txBody>
      </p:sp>
    </p:spTree>
    <p:extLst>
      <p:ext uri="{BB962C8B-B14F-4D97-AF65-F5344CB8AC3E}">
        <p14:creationId xmlns:p14="http://schemas.microsoft.com/office/powerpoint/2010/main" val="3637149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648E55-4E78-BE96-EEA2-F8B0B8F7F06E}"/>
              </a:ext>
            </a:extLst>
          </p:cNvPr>
          <p:cNvSpPr>
            <a:spLocks noGrp="1"/>
          </p:cNvSpPr>
          <p:nvPr>
            <p:ph idx="1"/>
          </p:nvPr>
        </p:nvSpPr>
        <p:spPr>
          <a:xfrm>
            <a:off x="838200" y="198304"/>
            <a:ext cx="10515600" cy="6566053"/>
          </a:xfrm>
        </p:spPr>
        <p:txBody>
          <a:bodyPr>
            <a:normAutofit fontScale="92500"/>
          </a:bodyPr>
          <a:lstStyle/>
          <a:p>
            <a:pPr marL="0" indent="0">
              <a:buNone/>
            </a:pPr>
            <a:r>
              <a:rPr lang="it-IT" sz="1800" kern="100" dirty="0">
                <a:effectLst/>
                <a:latin typeface="Aptos" panose="020B0004020202020204" pitchFamily="34" charset="0"/>
                <a:ea typeface="Aptos" panose="020B0004020202020204" pitchFamily="34" charset="0"/>
                <a:cs typeface="Times New Roman" panose="02020603050405020304" pitchFamily="18" charset="0"/>
              </a:rPr>
              <a:t>z=(m+q-x)/(Y*b-L) in zero operand</a:t>
            </a:r>
          </a:p>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 a zero-operand instruction format, you'd typically have a series of operations that act on data implicitly stored in specific registers or memory locations. Let's design a zero-operand instruction set for your equation </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𝑧</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𝑚</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𝑞</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𝑥/𝑌⋅𝑏</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𝐿</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LOAD m</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Load the value of </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𝑚</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m</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from memory into the accumulator register.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ADD q</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Add the value of </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𝑞</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q</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from memory to the accumulator.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SUBTRACT x</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Subtract the value of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x</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from memory from the accumulator.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STORE numerator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Store the intermediate result (numerator) in a designated temporary memory location.</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LOAD 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Load the value of </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𝑌</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from memory into the accumulator.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MULTIPLY by b</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Multiply the accumulator by the value of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b</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from memory.</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SUBTRACT L</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Subtract the value of </a:t>
            </a:r>
            <a:r>
              <a:rPr lang="en-US" sz="1800" kern="100" dirty="0">
                <a:effectLst/>
                <a:latin typeface="Cambria Math" panose="02040503050406030204" pitchFamily="18" charset="0"/>
                <a:ea typeface="Aptos" panose="020B0004020202020204" pitchFamily="34" charset="0"/>
                <a:cs typeface="Cambria Math" panose="02040503050406030204" pitchFamily="18" charset="0"/>
              </a:rPr>
              <a:t>𝐿</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from memory from the accumulator.</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STORE denominator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Store the intermediate result (denominator) in another designated temporary memory location.</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DIVIDE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Divide the numerator (retrieved from the temporary memory location) by the denominator (also retrieved from the temporary memory location).</a:t>
            </a:r>
          </a:p>
          <a:p>
            <a:pPr marL="342900" marR="0" lvl="0" indent="-342900">
              <a:lnSpc>
                <a:spcPct val="107000"/>
              </a:lnSpc>
              <a:spcBef>
                <a:spcPts val="0"/>
              </a:spcBef>
              <a:spcAft>
                <a:spcPts val="800"/>
              </a:spcAft>
              <a:buFont typeface="+mj-lt"/>
              <a:buAutoNum type="arabicPeriod"/>
              <a:tabLst>
                <a:tab pos="457200" algn="l"/>
              </a:tabLst>
            </a:pPr>
            <a:r>
              <a:rPr lang="en-US" sz="1800" b="1" kern="100" dirty="0">
                <a:effectLst/>
                <a:latin typeface="Aptos" panose="020B0004020202020204" pitchFamily="34" charset="0"/>
                <a:ea typeface="Aptos" panose="020B0004020202020204" pitchFamily="34" charset="0"/>
                <a:cs typeface="Times New Roman" panose="02020603050405020304" pitchFamily="18" charset="0"/>
              </a:rPr>
              <a:t>STORE z</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Store the final result in the destination memory location for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z</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07000"/>
              </a:lnSpc>
              <a:spcBef>
                <a:spcPts val="0"/>
              </a:spcBef>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In zero-operand instruction format, operations act on data implicitly retrieved from memory, and intermediate results are stored in designated temporary memory locations until the final result is computed and stored in the destination memory location for </a:t>
            </a:r>
            <a:r>
              <a:rPr lang="en-US" sz="1800" i="1" kern="100" dirty="0">
                <a:effectLst/>
                <a:latin typeface="Aptos" panose="020B0004020202020204" pitchFamily="34" charset="0"/>
                <a:ea typeface="Aptos" panose="020B0004020202020204" pitchFamily="34" charset="0"/>
                <a:cs typeface="Times New Roman" panose="02020603050405020304" pitchFamily="18" charset="0"/>
              </a:rPr>
              <a:t>z</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pPr marL="0" indent="0">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417351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9AE4F3-BAA2-760B-33D2-D0D2549963EF}"/>
              </a:ext>
            </a:extLst>
          </p:cNvPr>
          <p:cNvSpPr>
            <a:spLocks noGrp="1"/>
          </p:cNvSpPr>
          <p:nvPr>
            <p:ph idx="1"/>
          </p:nvPr>
        </p:nvSpPr>
        <p:spPr>
          <a:xfrm>
            <a:off x="484742" y="176270"/>
            <a:ext cx="10869058" cy="6681730"/>
          </a:xfrm>
        </p:spPr>
        <p:txBody>
          <a:bodyPr>
            <a:normAutofit/>
          </a:bodyPr>
          <a:lstStyle/>
          <a:p>
            <a:pPr marL="0" marR="0" indent="0">
              <a:lnSpc>
                <a:spcPct val="107000"/>
              </a:lnSpc>
              <a:spcBef>
                <a:spcPts val="0"/>
              </a:spcBef>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z=(</a:t>
            </a:r>
            <a:r>
              <a:rPr lang="en-US" sz="1600" kern="100" dirty="0" err="1">
                <a:effectLst/>
                <a:latin typeface="Aptos" panose="020B0004020202020204" pitchFamily="34" charset="0"/>
                <a:ea typeface="Aptos" panose="020B0004020202020204" pitchFamily="34" charset="0"/>
                <a:cs typeface="Times New Roman" panose="02020603050405020304" pitchFamily="18" charset="0"/>
              </a:rPr>
              <a:t>m+q-x</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)/(Y*b-L) in stack operand</a:t>
            </a:r>
          </a:p>
          <a:p>
            <a:pPr marL="0" marR="0" indent="0">
              <a:lnSpc>
                <a:spcPct val="107000"/>
              </a:lnSpc>
              <a:spcBef>
                <a:spcPts val="0"/>
              </a:spcBef>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In a stack operand instruction format, you'd typically perform operations on values stored in a stack. Each operation would typically pop one or more operands from the stack, perform the operation, and then push the result back onto the stack. Let's design a stack operand instruction set for your equation </a:t>
            </a:r>
            <a:r>
              <a:rPr lang="en-US" sz="1600" kern="100" dirty="0">
                <a:effectLst/>
                <a:latin typeface="Cambria Math" panose="02040503050406030204" pitchFamily="18" charset="0"/>
                <a:ea typeface="Aptos" panose="020B0004020202020204" pitchFamily="34" charset="0"/>
                <a:cs typeface="Cambria Math" panose="02040503050406030204" pitchFamily="18" charset="0"/>
              </a:rPr>
              <a:t>𝑧</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a:t>
            </a:r>
            <a:r>
              <a:rPr lang="en-US" sz="1600" kern="100" dirty="0">
                <a:effectLst/>
                <a:latin typeface="Cambria Math" panose="02040503050406030204" pitchFamily="18" charset="0"/>
                <a:ea typeface="Aptos" panose="020B0004020202020204" pitchFamily="34" charset="0"/>
                <a:cs typeface="Cambria Math" panose="02040503050406030204" pitchFamily="18" charset="0"/>
              </a:rPr>
              <a:t>𝑚</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a:t>
            </a:r>
            <a:r>
              <a:rPr lang="en-US" sz="1600" kern="100" dirty="0">
                <a:effectLst/>
                <a:latin typeface="Cambria Math" panose="02040503050406030204" pitchFamily="18" charset="0"/>
                <a:ea typeface="Aptos" panose="020B0004020202020204" pitchFamily="34" charset="0"/>
                <a:cs typeface="Cambria Math" panose="02040503050406030204" pitchFamily="18" charset="0"/>
              </a:rPr>
              <a:t>𝑞</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a:t>
            </a:r>
            <a:r>
              <a:rPr lang="en-US" sz="1600" kern="100" dirty="0">
                <a:effectLst/>
                <a:latin typeface="Cambria Math" panose="02040503050406030204" pitchFamily="18" charset="0"/>
                <a:ea typeface="Aptos" panose="020B0004020202020204" pitchFamily="34" charset="0"/>
                <a:cs typeface="Cambria Math" panose="02040503050406030204" pitchFamily="18" charset="0"/>
              </a:rPr>
              <a:t>𝑥/𝑌⋅𝑏</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a:t>
            </a:r>
            <a:r>
              <a:rPr lang="en-US" sz="1600" kern="100" dirty="0">
                <a:effectLst/>
                <a:latin typeface="Cambria Math" panose="02040503050406030204" pitchFamily="18" charset="0"/>
                <a:ea typeface="Aptos" panose="020B0004020202020204" pitchFamily="34" charset="0"/>
                <a:cs typeface="Cambria Math" panose="02040503050406030204" pitchFamily="18" charset="0"/>
              </a:rPr>
              <a:t>𝐿</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tabLst>
                <a:tab pos="457200" algn="l"/>
              </a:tabLst>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PUSH m</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Push the value of </a:t>
            </a:r>
            <a:r>
              <a:rPr lang="en-US" sz="1600" kern="100" dirty="0">
                <a:effectLst/>
                <a:latin typeface="Cambria Math" panose="02040503050406030204" pitchFamily="18" charset="0"/>
                <a:ea typeface="Aptos" panose="020B0004020202020204" pitchFamily="34" charset="0"/>
                <a:cs typeface="Cambria Math" panose="02040503050406030204" pitchFamily="18" charset="0"/>
              </a:rPr>
              <a:t>𝑚</a:t>
            </a:r>
            <a:r>
              <a:rPr lang="en-US" sz="1600" i="1" kern="100" dirty="0">
                <a:effectLst/>
                <a:latin typeface="Aptos" panose="020B0004020202020204" pitchFamily="34" charset="0"/>
                <a:ea typeface="Aptos" panose="020B0004020202020204" pitchFamily="34" charset="0"/>
                <a:cs typeface="Times New Roman" panose="02020603050405020304" pitchFamily="18" charset="0"/>
              </a:rPr>
              <a:t>m</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onto the stack.</a:t>
            </a:r>
          </a:p>
          <a:p>
            <a:pPr marL="342900" marR="0" lvl="0" indent="-342900">
              <a:lnSpc>
                <a:spcPct val="107000"/>
              </a:lnSpc>
              <a:spcBef>
                <a:spcPts val="0"/>
              </a:spcBef>
              <a:spcAft>
                <a:spcPts val="800"/>
              </a:spcAft>
              <a:buFont typeface="+mj-lt"/>
              <a:buAutoNum type="arabicPeriod"/>
              <a:tabLst>
                <a:tab pos="457200" algn="l"/>
              </a:tabLst>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PUSH q</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Push the value of </a:t>
            </a:r>
            <a:r>
              <a:rPr lang="en-US" sz="1600" i="1" kern="100" dirty="0">
                <a:effectLst/>
                <a:latin typeface="Aptos" panose="020B0004020202020204" pitchFamily="34" charset="0"/>
                <a:ea typeface="Aptos" panose="020B0004020202020204" pitchFamily="34" charset="0"/>
                <a:cs typeface="Times New Roman" panose="02020603050405020304" pitchFamily="18" charset="0"/>
              </a:rPr>
              <a:t>q</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onto the stack.</a:t>
            </a:r>
          </a:p>
          <a:p>
            <a:pPr marL="342900" marR="0" lvl="0" indent="-342900">
              <a:lnSpc>
                <a:spcPct val="107000"/>
              </a:lnSpc>
              <a:spcBef>
                <a:spcPts val="0"/>
              </a:spcBef>
              <a:spcAft>
                <a:spcPts val="800"/>
              </a:spcAft>
              <a:buFont typeface="+mj-lt"/>
              <a:buAutoNum type="arabicPeriod"/>
              <a:tabLst>
                <a:tab pos="457200" algn="l"/>
              </a:tabLst>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ADD</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Pop two values from the stack, add them, and push the result back onto the stack.</a:t>
            </a:r>
          </a:p>
          <a:p>
            <a:pPr marL="342900" marR="0" lvl="0" indent="-342900">
              <a:lnSpc>
                <a:spcPct val="107000"/>
              </a:lnSpc>
              <a:spcBef>
                <a:spcPts val="0"/>
              </a:spcBef>
              <a:spcAft>
                <a:spcPts val="800"/>
              </a:spcAft>
              <a:buFont typeface="+mj-lt"/>
              <a:buAutoNum type="arabicPeriod"/>
              <a:tabLst>
                <a:tab pos="457200" algn="l"/>
              </a:tabLst>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PUSH x</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Push the value of </a:t>
            </a:r>
            <a:r>
              <a:rPr lang="en-US" sz="1600" i="1" kern="100" dirty="0">
                <a:effectLst/>
                <a:latin typeface="Aptos" panose="020B0004020202020204" pitchFamily="34" charset="0"/>
                <a:ea typeface="Aptos" panose="020B0004020202020204" pitchFamily="34" charset="0"/>
                <a:cs typeface="Times New Roman" panose="02020603050405020304" pitchFamily="18" charset="0"/>
              </a:rPr>
              <a:t>x</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onto the stack.</a:t>
            </a:r>
          </a:p>
          <a:p>
            <a:pPr marL="342900" marR="0" lvl="0" indent="-342900">
              <a:lnSpc>
                <a:spcPct val="107000"/>
              </a:lnSpc>
              <a:spcBef>
                <a:spcPts val="0"/>
              </a:spcBef>
              <a:spcAft>
                <a:spcPts val="800"/>
              </a:spcAft>
              <a:buFont typeface="+mj-lt"/>
              <a:buAutoNum type="arabicPeriod"/>
              <a:tabLst>
                <a:tab pos="457200" algn="l"/>
              </a:tabLst>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SUBTRACT</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Pop two values from the stack, subtract the second from the first, and push the result back onto the stack.</a:t>
            </a:r>
          </a:p>
          <a:p>
            <a:pPr marL="342900" marR="0" lvl="0" indent="-342900">
              <a:lnSpc>
                <a:spcPct val="107000"/>
              </a:lnSpc>
              <a:spcBef>
                <a:spcPts val="0"/>
              </a:spcBef>
              <a:spcAft>
                <a:spcPts val="800"/>
              </a:spcAft>
              <a:buFont typeface="+mj-lt"/>
              <a:buAutoNum type="arabicPeriod"/>
              <a:tabLst>
                <a:tab pos="457200" algn="l"/>
              </a:tabLst>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PUSH Y</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Push the value of </a:t>
            </a:r>
            <a:r>
              <a:rPr lang="en-US" sz="1600" kern="100" dirty="0">
                <a:effectLst/>
                <a:latin typeface="Cambria Math" panose="02040503050406030204" pitchFamily="18" charset="0"/>
                <a:ea typeface="Aptos" panose="020B0004020202020204" pitchFamily="34" charset="0"/>
                <a:cs typeface="Cambria Math" panose="02040503050406030204" pitchFamily="18" charset="0"/>
              </a:rPr>
              <a:t>𝑌</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onto the stack.</a:t>
            </a:r>
          </a:p>
          <a:p>
            <a:pPr marL="342900" marR="0" lvl="0" indent="-342900">
              <a:lnSpc>
                <a:spcPct val="107000"/>
              </a:lnSpc>
              <a:spcBef>
                <a:spcPts val="0"/>
              </a:spcBef>
              <a:spcAft>
                <a:spcPts val="800"/>
              </a:spcAft>
              <a:buFont typeface="+mj-lt"/>
              <a:buAutoNum type="arabicPeriod"/>
              <a:tabLst>
                <a:tab pos="457200" algn="l"/>
              </a:tabLst>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PUSH b</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Push the value of </a:t>
            </a:r>
            <a:r>
              <a:rPr lang="en-US" sz="1600" kern="100" dirty="0">
                <a:effectLst/>
                <a:latin typeface="Cambria Math" panose="02040503050406030204" pitchFamily="18" charset="0"/>
                <a:ea typeface="Aptos" panose="020B0004020202020204" pitchFamily="34" charset="0"/>
                <a:cs typeface="Cambria Math" panose="02040503050406030204" pitchFamily="18" charset="0"/>
              </a:rPr>
              <a:t>𝑏</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onto the stack.</a:t>
            </a:r>
          </a:p>
          <a:p>
            <a:pPr marL="342900" marR="0" lvl="0" indent="-342900">
              <a:lnSpc>
                <a:spcPct val="107000"/>
              </a:lnSpc>
              <a:spcBef>
                <a:spcPts val="0"/>
              </a:spcBef>
              <a:spcAft>
                <a:spcPts val="800"/>
              </a:spcAft>
              <a:buFont typeface="+mj-lt"/>
              <a:buAutoNum type="arabicPeriod"/>
              <a:tabLst>
                <a:tab pos="457200" algn="l"/>
              </a:tabLst>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MULTIPLY</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Pop two values from the stack, multiply them, and push the result back onto the stack.</a:t>
            </a:r>
          </a:p>
          <a:p>
            <a:pPr marL="342900" marR="0" lvl="0" indent="-342900">
              <a:lnSpc>
                <a:spcPct val="107000"/>
              </a:lnSpc>
              <a:spcBef>
                <a:spcPts val="0"/>
              </a:spcBef>
              <a:spcAft>
                <a:spcPts val="800"/>
              </a:spcAft>
              <a:buFont typeface="+mj-lt"/>
              <a:buAutoNum type="arabicPeriod"/>
              <a:tabLst>
                <a:tab pos="457200" algn="l"/>
              </a:tabLst>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PUSH L</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Push the value of </a:t>
            </a:r>
            <a:r>
              <a:rPr lang="en-US" sz="1600" kern="100" dirty="0">
                <a:effectLst/>
                <a:latin typeface="Cambria Math" panose="02040503050406030204" pitchFamily="18" charset="0"/>
                <a:ea typeface="Aptos" panose="020B0004020202020204" pitchFamily="34" charset="0"/>
                <a:cs typeface="Cambria Math" panose="02040503050406030204" pitchFamily="18" charset="0"/>
              </a:rPr>
              <a:t>𝐿</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onto the stack.</a:t>
            </a:r>
          </a:p>
          <a:p>
            <a:pPr marL="342900" marR="0" lvl="0" indent="-342900">
              <a:lnSpc>
                <a:spcPct val="107000"/>
              </a:lnSpc>
              <a:spcBef>
                <a:spcPts val="0"/>
              </a:spcBef>
              <a:spcAft>
                <a:spcPts val="800"/>
              </a:spcAft>
              <a:buFont typeface="+mj-lt"/>
              <a:buAutoNum type="arabicPeriod"/>
              <a:tabLst>
                <a:tab pos="457200" algn="l"/>
              </a:tabLst>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SUBTRACT</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Pop two values from the stack, subtract the second from the first, and push the result back onto the stack.</a:t>
            </a:r>
          </a:p>
          <a:p>
            <a:pPr marL="342900" marR="0" lvl="0" indent="-342900">
              <a:lnSpc>
                <a:spcPct val="107000"/>
              </a:lnSpc>
              <a:spcBef>
                <a:spcPts val="0"/>
              </a:spcBef>
              <a:spcAft>
                <a:spcPts val="800"/>
              </a:spcAft>
              <a:buFont typeface="+mj-lt"/>
              <a:buAutoNum type="arabicPeriod"/>
              <a:tabLst>
                <a:tab pos="457200" algn="l"/>
              </a:tabLst>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DIVIDE</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Pop two values from the stack (numerator and denominator), divide the numerator by the denominator, and push the result back onto the stack.</a:t>
            </a:r>
          </a:p>
          <a:p>
            <a:pPr marL="342900" marR="0" lvl="0" indent="-342900">
              <a:lnSpc>
                <a:spcPct val="107000"/>
              </a:lnSpc>
              <a:spcBef>
                <a:spcPts val="0"/>
              </a:spcBef>
              <a:spcAft>
                <a:spcPts val="800"/>
              </a:spcAft>
              <a:buFont typeface="+mj-lt"/>
              <a:buAutoNum type="arabicPeriod"/>
              <a:tabLst>
                <a:tab pos="457200" algn="l"/>
              </a:tabLst>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POP z</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Pop the result ( </a:t>
            </a:r>
            <a:r>
              <a:rPr lang="en-US" sz="1600" i="1" kern="100" dirty="0">
                <a:effectLst/>
                <a:latin typeface="Aptos" panose="020B0004020202020204" pitchFamily="34" charset="0"/>
                <a:ea typeface="Aptos" panose="020B0004020202020204" pitchFamily="34" charset="0"/>
                <a:cs typeface="Times New Roman" panose="02020603050405020304" pitchFamily="18" charset="0"/>
              </a:rPr>
              <a:t>z</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 ) from the stack and store it in the destination register or memory location for </a:t>
            </a:r>
            <a:r>
              <a:rPr lang="en-US" sz="1600" kern="100" dirty="0">
                <a:effectLst/>
                <a:latin typeface="Cambria Math" panose="02040503050406030204" pitchFamily="18" charset="0"/>
                <a:ea typeface="Aptos" panose="020B0004020202020204" pitchFamily="34" charset="0"/>
                <a:cs typeface="Cambria Math" panose="02040503050406030204" pitchFamily="18" charset="0"/>
              </a:rPr>
              <a:t>𝑧</a:t>
            </a:r>
            <a:r>
              <a:rPr lang="en-US" sz="1600" i="1" kern="100" dirty="0">
                <a:effectLst/>
                <a:latin typeface="Aptos" panose="020B0004020202020204" pitchFamily="34" charset="0"/>
                <a:ea typeface="Aptos" panose="020B0004020202020204" pitchFamily="34" charset="0"/>
                <a:cs typeface="Times New Roman" panose="02020603050405020304" pitchFamily="18" charset="0"/>
              </a:rPr>
              <a:t>z</a:t>
            </a:r>
            <a:r>
              <a:rPr lang="en-US" sz="1600" kern="100" dirty="0">
                <a:effectLst/>
                <a:latin typeface="Aptos" panose="020B0004020202020204" pitchFamily="34" charset="0"/>
                <a:ea typeface="Aptos" panose="020B0004020202020204" pitchFamily="34" charset="0"/>
                <a:cs typeface="Times New Roman" panose="02020603050405020304" pitchFamily="18" charset="0"/>
              </a:rPr>
              <a:t>.</a:t>
            </a:r>
          </a:p>
          <a:p>
            <a:pPr marL="0" marR="0">
              <a:lnSpc>
                <a:spcPct val="107000"/>
              </a:lnSpc>
              <a:spcBef>
                <a:spcPts val="0"/>
              </a:spcBef>
              <a:spcAft>
                <a:spcPts val="800"/>
              </a:spcAft>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In  stack operand instruction format, values are pushed onto and popped from the stack, and operations are performed directly on the top elements of the stack, allowing for a concise representation of computations.</a:t>
            </a:r>
          </a:p>
          <a:p>
            <a:pPr marL="0" indent="0">
              <a:buNone/>
            </a:pPr>
            <a:endParaRPr lang="en-US" sz="1600" dirty="0"/>
          </a:p>
        </p:txBody>
      </p:sp>
    </p:spTree>
    <p:extLst>
      <p:ext uri="{BB962C8B-B14F-4D97-AF65-F5344CB8AC3E}">
        <p14:creationId xmlns:p14="http://schemas.microsoft.com/office/powerpoint/2010/main" val="32948103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1183</Words>
  <Application>Microsoft Office PowerPoint</Application>
  <PresentationFormat>Widescreen</PresentationFormat>
  <Paragraphs>59</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katalihwa Mustapha</dc:creator>
  <cp:lastModifiedBy>katalihwa Mustapha</cp:lastModifiedBy>
  <cp:revision>3</cp:revision>
  <dcterms:created xsi:type="dcterms:W3CDTF">2024-04-22T13:08:53Z</dcterms:created>
  <dcterms:modified xsi:type="dcterms:W3CDTF">2024-04-22T13:15:39Z</dcterms:modified>
</cp:coreProperties>
</file>