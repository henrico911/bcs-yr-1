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0" r:id="rId2"/>
    <p:sldId id="271" r:id="rId3"/>
    <p:sldId id="272" r:id="rId4"/>
    <p:sldId id="273" r:id="rId5"/>
    <p:sldId id="274" r:id="rId6"/>
    <p:sldId id="275" r:id="rId7"/>
    <p:sldId id="27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8" d="100"/>
          <a:sy n="58" d="100"/>
        </p:scale>
        <p:origin x="98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a:extLst>
              <a:ext uri="{FF2B5EF4-FFF2-40B4-BE49-F238E27FC236}">
                <a16:creationId xmlns:a16="http://schemas.microsoft.com/office/drawing/2014/main" id="{73A4073C-D1A2-5567-AA1C-6E798B93742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1F12324D-4502-8A4C-E2BD-3690441113B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C2F4AE8E-1DBB-C669-7C0D-4E0065A70658}"/>
              </a:ext>
            </a:extLst>
          </p:cNvPr>
          <p:cNvSpPr>
            <a:spLocks noGrp="1" noChangeArrowheads="1"/>
          </p:cNvSpPr>
          <p:nvPr>
            <p:ph type="sldNum" sz="quarter" idx="12"/>
          </p:nvPr>
        </p:nvSpPr>
        <p:spPr>
          <a:ln/>
        </p:spPr>
        <p:txBody>
          <a:bodyPr/>
          <a:lstStyle>
            <a:lvl1pPr>
              <a:defRPr/>
            </a:lvl1pPr>
          </a:lstStyle>
          <a:p>
            <a:pPr>
              <a:defRPr/>
            </a:pPr>
            <a:fld id="{19E1A961-E473-4CE9-86A8-96A5B02DB705}" type="slidenum">
              <a:rPr lang="en-US" altLang="en-US"/>
              <a:pPr>
                <a:defRPr/>
              </a:pPr>
              <a:t>‹#›</a:t>
            </a:fld>
            <a:endParaRPr lang="en-US" altLang="en-US"/>
          </a:p>
        </p:txBody>
      </p:sp>
    </p:spTree>
    <p:extLst>
      <p:ext uri="{BB962C8B-B14F-4D97-AF65-F5344CB8AC3E}">
        <p14:creationId xmlns:p14="http://schemas.microsoft.com/office/powerpoint/2010/main" val="2634220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4359661-499F-C449-1011-32030CB11E0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13C0C0B5-83BD-F4F4-D95A-16ED6A5A5C4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B8333DA9-4FED-A85E-6A3C-CED826244B65}"/>
              </a:ext>
            </a:extLst>
          </p:cNvPr>
          <p:cNvSpPr>
            <a:spLocks noGrp="1" noChangeArrowheads="1"/>
          </p:cNvSpPr>
          <p:nvPr>
            <p:ph type="sldNum" sz="quarter" idx="12"/>
          </p:nvPr>
        </p:nvSpPr>
        <p:spPr>
          <a:ln/>
        </p:spPr>
        <p:txBody>
          <a:bodyPr/>
          <a:lstStyle>
            <a:lvl1pPr>
              <a:defRPr/>
            </a:lvl1pPr>
          </a:lstStyle>
          <a:p>
            <a:pPr>
              <a:defRPr/>
            </a:pPr>
            <a:fld id="{D8A69FAF-CE57-45C2-8FE6-201FCFFE328B}" type="slidenum">
              <a:rPr lang="en-US" altLang="en-US"/>
              <a:pPr>
                <a:defRPr/>
              </a:pPr>
              <a:t>‹#›</a:t>
            </a:fld>
            <a:endParaRPr lang="en-US" altLang="en-US"/>
          </a:p>
        </p:txBody>
      </p:sp>
    </p:spTree>
    <p:extLst>
      <p:ext uri="{BB962C8B-B14F-4D97-AF65-F5344CB8AC3E}">
        <p14:creationId xmlns:p14="http://schemas.microsoft.com/office/powerpoint/2010/main" val="1235916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id="{4873E583-6686-D93A-B0CB-42965D59F9D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9FFDF05D-D13C-8D9B-4558-95D3619CA99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356A6682-E462-C944-0AD6-27D0F29336D6}"/>
              </a:ext>
            </a:extLst>
          </p:cNvPr>
          <p:cNvSpPr>
            <a:spLocks noGrp="1" noChangeArrowheads="1"/>
          </p:cNvSpPr>
          <p:nvPr>
            <p:ph type="sldNum" sz="quarter" idx="12"/>
          </p:nvPr>
        </p:nvSpPr>
        <p:spPr>
          <a:ln/>
        </p:spPr>
        <p:txBody>
          <a:bodyPr/>
          <a:lstStyle>
            <a:lvl1pPr>
              <a:defRPr/>
            </a:lvl1pPr>
          </a:lstStyle>
          <a:p>
            <a:pPr>
              <a:defRPr/>
            </a:pPr>
            <a:fld id="{B52C9D7E-D666-4D0D-9DAC-9C3182FD67A7}" type="slidenum">
              <a:rPr lang="en-US" altLang="en-US"/>
              <a:pPr>
                <a:defRPr/>
              </a:pPr>
              <a:t>‹#›</a:t>
            </a:fld>
            <a:endParaRPr lang="en-US" altLang="en-US"/>
          </a:p>
        </p:txBody>
      </p:sp>
    </p:spTree>
    <p:extLst>
      <p:ext uri="{BB962C8B-B14F-4D97-AF65-F5344CB8AC3E}">
        <p14:creationId xmlns:p14="http://schemas.microsoft.com/office/powerpoint/2010/main" val="3642710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CF537C0-88F2-24C1-EDE3-75180B1F3E5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BFE9439C-B052-3FFB-0ED8-FD412AD6261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4205AC9B-C2A5-B146-B8F2-8B734DDE9AB4}"/>
              </a:ext>
            </a:extLst>
          </p:cNvPr>
          <p:cNvSpPr>
            <a:spLocks noGrp="1" noChangeArrowheads="1"/>
          </p:cNvSpPr>
          <p:nvPr>
            <p:ph type="sldNum" sz="quarter" idx="12"/>
          </p:nvPr>
        </p:nvSpPr>
        <p:spPr>
          <a:ln/>
        </p:spPr>
        <p:txBody>
          <a:bodyPr/>
          <a:lstStyle>
            <a:lvl1pPr>
              <a:defRPr/>
            </a:lvl1pPr>
          </a:lstStyle>
          <a:p>
            <a:pPr>
              <a:defRPr/>
            </a:pPr>
            <a:fld id="{72D28B3D-915D-4770-81B4-69C8875A8233}" type="slidenum">
              <a:rPr lang="en-US" altLang="en-US"/>
              <a:pPr>
                <a:defRPr/>
              </a:pPr>
              <a:t>‹#›</a:t>
            </a:fld>
            <a:endParaRPr lang="en-US" altLang="en-US"/>
          </a:p>
        </p:txBody>
      </p:sp>
    </p:spTree>
    <p:extLst>
      <p:ext uri="{BB962C8B-B14F-4D97-AF65-F5344CB8AC3E}">
        <p14:creationId xmlns:p14="http://schemas.microsoft.com/office/powerpoint/2010/main" val="336761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AAB4A965-B586-F354-A2B3-1482FF6CDD4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4CB13522-AFE4-C28D-45C3-C046E041D59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B8B3AE7C-2BB9-797E-73DF-5CC6FC1FEEFB}"/>
              </a:ext>
            </a:extLst>
          </p:cNvPr>
          <p:cNvSpPr>
            <a:spLocks noGrp="1" noChangeArrowheads="1"/>
          </p:cNvSpPr>
          <p:nvPr>
            <p:ph type="sldNum" sz="quarter" idx="12"/>
          </p:nvPr>
        </p:nvSpPr>
        <p:spPr>
          <a:ln/>
        </p:spPr>
        <p:txBody>
          <a:bodyPr/>
          <a:lstStyle>
            <a:lvl1pPr>
              <a:defRPr/>
            </a:lvl1pPr>
          </a:lstStyle>
          <a:p>
            <a:pPr>
              <a:defRPr/>
            </a:pPr>
            <a:fld id="{1A9A72ED-F89C-46E0-A410-619457B72F48}" type="slidenum">
              <a:rPr lang="en-US" altLang="en-US"/>
              <a:pPr>
                <a:defRPr/>
              </a:pPr>
              <a:t>‹#›</a:t>
            </a:fld>
            <a:endParaRPr lang="en-US" altLang="en-US"/>
          </a:p>
        </p:txBody>
      </p:sp>
    </p:spTree>
    <p:extLst>
      <p:ext uri="{BB962C8B-B14F-4D97-AF65-F5344CB8AC3E}">
        <p14:creationId xmlns:p14="http://schemas.microsoft.com/office/powerpoint/2010/main" val="2337541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D1B08530-C9BE-9925-5E3E-65CFFAB17AE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675D8962-8330-0BFF-2E34-F0649A6BD5C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F59EF1D6-A8EB-59C8-69DC-7503EC4F7D2D}"/>
              </a:ext>
            </a:extLst>
          </p:cNvPr>
          <p:cNvSpPr>
            <a:spLocks noGrp="1" noChangeArrowheads="1"/>
          </p:cNvSpPr>
          <p:nvPr>
            <p:ph type="sldNum" sz="quarter" idx="12"/>
          </p:nvPr>
        </p:nvSpPr>
        <p:spPr>
          <a:ln/>
        </p:spPr>
        <p:txBody>
          <a:bodyPr/>
          <a:lstStyle>
            <a:lvl1pPr>
              <a:defRPr/>
            </a:lvl1pPr>
          </a:lstStyle>
          <a:p>
            <a:pPr>
              <a:defRPr/>
            </a:pPr>
            <a:fld id="{6858C804-3AF2-49CD-853E-DB40DC92D2D3}" type="slidenum">
              <a:rPr lang="en-US" altLang="en-US"/>
              <a:pPr>
                <a:defRPr/>
              </a:pPr>
              <a:t>‹#›</a:t>
            </a:fld>
            <a:endParaRPr lang="en-US" altLang="en-US"/>
          </a:p>
        </p:txBody>
      </p:sp>
    </p:spTree>
    <p:extLst>
      <p:ext uri="{BB962C8B-B14F-4D97-AF65-F5344CB8AC3E}">
        <p14:creationId xmlns:p14="http://schemas.microsoft.com/office/powerpoint/2010/main" val="2423911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D9D03B4-3867-D330-7E31-FFBE9810BEA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D07C2907-5D0D-2509-5C32-47AA6488630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BCB90264-C98F-D785-318A-068D79832B7F}"/>
              </a:ext>
            </a:extLst>
          </p:cNvPr>
          <p:cNvSpPr>
            <a:spLocks noGrp="1" noChangeArrowheads="1"/>
          </p:cNvSpPr>
          <p:nvPr>
            <p:ph type="sldNum" sz="quarter" idx="12"/>
          </p:nvPr>
        </p:nvSpPr>
        <p:spPr>
          <a:ln/>
        </p:spPr>
        <p:txBody>
          <a:bodyPr/>
          <a:lstStyle>
            <a:lvl1pPr>
              <a:defRPr/>
            </a:lvl1pPr>
          </a:lstStyle>
          <a:p>
            <a:pPr>
              <a:defRPr/>
            </a:pPr>
            <a:fld id="{E3F19345-C4F4-4D45-B02D-6269B40D346F}" type="slidenum">
              <a:rPr lang="en-US" altLang="en-US"/>
              <a:pPr>
                <a:defRPr/>
              </a:pPr>
              <a:t>‹#›</a:t>
            </a:fld>
            <a:endParaRPr lang="en-US" altLang="en-US"/>
          </a:p>
        </p:txBody>
      </p:sp>
    </p:spTree>
    <p:extLst>
      <p:ext uri="{BB962C8B-B14F-4D97-AF65-F5344CB8AC3E}">
        <p14:creationId xmlns:p14="http://schemas.microsoft.com/office/powerpoint/2010/main" val="1711266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8A3CDA66-BDD1-9E4D-0FE6-BC2976034C3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C1835CE1-6AD0-1EB3-8049-20080003EF9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0F8FDA9D-A3F1-0E5D-B12F-5146C2F645D5}"/>
              </a:ext>
            </a:extLst>
          </p:cNvPr>
          <p:cNvSpPr>
            <a:spLocks noGrp="1" noChangeArrowheads="1"/>
          </p:cNvSpPr>
          <p:nvPr>
            <p:ph type="sldNum" sz="quarter" idx="12"/>
          </p:nvPr>
        </p:nvSpPr>
        <p:spPr>
          <a:ln/>
        </p:spPr>
        <p:txBody>
          <a:bodyPr/>
          <a:lstStyle>
            <a:lvl1pPr>
              <a:defRPr/>
            </a:lvl1pPr>
          </a:lstStyle>
          <a:p>
            <a:pPr>
              <a:defRPr/>
            </a:pPr>
            <a:fld id="{C4B6E136-E90E-495D-8C6E-668654714043}" type="slidenum">
              <a:rPr lang="en-US" altLang="en-US"/>
              <a:pPr>
                <a:defRPr/>
              </a:pPr>
              <a:t>‹#›</a:t>
            </a:fld>
            <a:endParaRPr lang="en-US" altLang="en-US"/>
          </a:p>
        </p:txBody>
      </p:sp>
    </p:spTree>
    <p:extLst>
      <p:ext uri="{BB962C8B-B14F-4D97-AF65-F5344CB8AC3E}">
        <p14:creationId xmlns:p14="http://schemas.microsoft.com/office/powerpoint/2010/main" val="390504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7EEF3663-B521-7DB9-8952-923AA53C82B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3DA96EBC-08EC-F578-C1DC-D132EC65D67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79F2F5D3-862D-91A9-B888-91B35DF136B1}"/>
              </a:ext>
            </a:extLst>
          </p:cNvPr>
          <p:cNvSpPr>
            <a:spLocks noGrp="1" noChangeArrowheads="1"/>
          </p:cNvSpPr>
          <p:nvPr>
            <p:ph type="sldNum" sz="quarter" idx="12"/>
          </p:nvPr>
        </p:nvSpPr>
        <p:spPr>
          <a:ln/>
        </p:spPr>
        <p:txBody>
          <a:bodyPr/>
          <a:lstStyle>
            <a:lvl1pPr>
              <a:defRPr/>
            </a:lvl1pPr>
          </a:lstStyle>
          <a:p>
            <a:pPr>
              <a:defRPr/>
            </a:pPr>
            <a:fld id="{03B238E2-B3F6-460B-A720-2367DFCB130C}" type="slidenum">
              <a:rPr lang="en-US" altLang="en-US"/>
              <a:pPr>
                <a:defRPr/>
              </a:pPr>
              <a:t>‹#›</a:t>
            </a:fld>
            <a:endParaRPr lang="en-US" altLang="en-US"/>
          </a:p>
        </p:txBody>
      </p:sp>
    </p:spTree>
    <p:extLst>
      <p:ext uri="{BB962C8B-B14F-4D97-AF65-F5344CB8AC3E}">
        <p14:creationId xmlns:p14="http://schemas.microsoft.com/office/powerpoint/2010/main" val="105033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D17B09B-1A35-54E3-1075-CE4C23A0B47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6D20D0EA-4B15-4890-697D-6B5A1D2EB77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528BA6D8-06B1-A22B-4930-97E2F4B1474F}"/>
              </a:ext>
            </a:extLst>
          </p:cNvPr>
          <p:cNvSpPr>
            <a:spLocks noGrp="1" noChangeArrowheads="1"/>
          </p:cNvSpPr>
          <p:nvPr>
            <p:ph type="sldNum" sz="quarter" idx="12"/>
          </p:nvPr>
        </p:nvSpPr>
        <p:spPr>
          <a:ln/>
        </p:spPr>
        <p:txBody>
          <a:bodyPr/>
          <a:lstStyle>
            <a:lvl1pPr>
              <a:defRPr/>
            </a:lvl1pPr>
          </a:lstStyle>
          <a:p>
            <a:pPr>
              <a:defRPr/>
            </a:pPr>
            <a:fld id="{BA577CA0-00BE-414A-A164-F23B1A3B90DE}" type="slidenum">
              <a:rPr lang="en-US" altLang="en-US"/>
              <a:pPr>
                <a:defRPr/>
              </a:pPr>
              <a:t>‹#›</a:t>
            </a:fld>
            <a:endParaRPr lang="en-US" altLang="en-US"/>
          </a:p>
        </p:txBody>
      </p:sp>
    </p:spTree>
    <p:extLst>
      <p:ext uri="{BB962C8B-B14F-4D97-AF65-F5344CB8AC3E}">
        <p14:creationId xmlns:p14="http://schemas.microsoft.com/office/powerpoint/2010/main" val="3948109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99C88AB-6E10-01F4-0B1D-D197F317427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5EDA9992-C493-7890-4BC8-4D433B6F355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A66DCC7F-D394-FDE3-74DC-9B613363F8E9}"/>
              </a:ext>
            </a:extLst>
          </p:cNvPr>
          <p:cNvSpPr>
            <a:spLocks noGrp="1" noChangeArrowheads="1"/>
          </p:cNvSpPr>
          <p:nvPr>
            <p:ph type="sldNum" sz="quarter" idx="12"/>
          </p:nvPr>
        </p:nvSpPr>
        <p:spPr>
          <a:ln/>
        </p:spPr>
        <p:txBody>
          <a:bodyPr/>
          <a:lstStyle>
            <a:lvl1pPr>
              <a:defRPr/>
            </a:lvl1pPr>
          </a:lstStyle>
          <a:p>
            <a:pPr>
              <a:defRPr/>
            </a:pPr>
            <a:fld id="{65008217-4FC7-4D36-A703-9946D2419EF6}" type="slidenum">
              <a:rPr lang="en-US" altLang="en-US"/>
              <a:pPr>
                <a:defRPr/>
              </a:pPr>
              <a:t>‹#›</a:t>
            </a:fld>
            <a:endParaRPr lang="en-US" altLang="en-US"/>
          </a:p>
        </p:txBody>
      </p:sp>
    </p:spTree>
    <p:extLst>
      <p:ext uri="{BB962C8B-B14F-4D97-AF65-F5344CB8AC3E}">
        <p14:creationId xmlns:p14="http://schemas.microsoft.com/office/powerpoint/2010/main" val="990682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0FAA168-EFAD-D9AE-09CC-18545D221B8E}"/>
              </a:ext>
            </a:extLst>
          </p:cNvPr>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AFFADE4D-5F56-B9E4-6127-383C7941D4C6}"/>
              </a:ext>
            </a:extLst>
          </p:cNvPr>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5D404F27-2FC8-5F75-D62B-E622C027159C}"/>
              </a:ext>
            </a:extLst>
          </p:cNvPr>
          <p:cNvSpPr>
            <a:spLocks noGrp="1" noChangeArrowheads="1"/>
          </p:cNvSpPr>
          <p:nvPr>
            <p:ph type="dt" sz="half" idx="2"/>
          </p:nvPr>
        </p:nvSpPr>
        <p:spPr bwMode="auto">
          <a:xfrm>
            <a:off x="609600" y="6245225"/>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en-US"/>
          </a:p>
        </p:txBody>
      </p:sp>
      <p:sp>
        <p:nvSpPr>
          <p:cNvPr id="1029" name="Rectangle 5">
            <a:extLst>
              <a:ext uri="{FF2B5EF4-FFF2-40B4-BE49-F238E27FC236}">
                <a16:creationId xmlns:a16="http://schemas.microsoft.com/office/drawing/2014/main" id="{AF3F01FC-DA6B-7793-34E7-FB6202FD08BF}"/>
              </a:ext>
            </a:extLst>
          </p:cNvPr>
          <p:cNvSpPr>
            <a:spLocks noGrp="1" noChangeArrowheads="1"/>
          </p:cNvSpPr>
          <p:nvPr>
            <p:ph type="ftr" sz="quarter" idx="3"/>
          </p:nvPr>
        </p:nvSpPr>
        <p:spPr bwMode="auto">
          <a:xfrm>
            <a:off x="4165600" y="6245225"/>
            <a:ext cx="3860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en-US"/>
          </a:p>
        </p:txBody>
      </p:sp>
      <p:sp>
        <p:nvSpPr>
          <p:cNvPr id="1030" name="Rectangle 6">
            <a:extLst>
              <a:ext uri="{FF2B5EF4-FFF2-40B4-BE49-F238E27FC236}">
                <a16:creationId xmlns:a16="http://schemas.microsoft.com/office/drawing/2014/main" id="{2A803C9B-CC87-DEBB-3C7C-29F6D1F3583E}"/>
              </a:ext>
            </a:extLst>
          </p:cNvPr>
          <p:cNvSpPr>
            <a:spLocks noGrp="1" noChangeArrowheads="1"/>
          </p:cNvSpPr>
          <p:nvPr>
            <p:ph type="sldNum" sz="quarter" idx="4"/>
          </p:nvPr>
        </p:nvSpPr>
        <p:spPr bwMode="auto">
          <a:xfrm>
            <a:off x="8737600" y="6245225"/>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26A0D7E8-0E6D-4485-8005-9266B967C80C}" type="slidenum">
              <a:rPr lang="en-US" altLang="en-US"/>
              <a:pPr>
                <a:defRPr/>
              </a:pPr>
              <a:t>‹#›</a:t>
            </a:fld>
            <a:endParaRPr lang="en-US" altLang="en-US"/>
          </a:p>
        </p:txBody>
      </p:sp>
    </p:spTree>
    <p:extLst>
      <p:ext uri="{BB962C8B-B14F-4D97-AF65-F5344CB8AC3E}">
        <p14:creationId xmlns:p14="http://schemas.microsoft.com/office/powerpoint/2010/main" val="35498518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FC01EA44-8A0E-B6CD-9633-F1F4D468BFD6}"/>
              </a:ext>
            </a:extLst>
          </p:cNvPr>
          <p:cNvSpPr>
            <a:spLocks noGrp="1" noChangeArrowheads="1"/>
          </p:cNvSpPr>
          <p:nvPr>
            <p:ph type="title"/>
          </p:nvPr>
        </p:nvSpPr>
        <p:spPr/>
        <p:txBody>
          <a:bodyPr/>
          <a:lstStyle/>
          <a:p>
            <a:pPr eaLnBrk="1" hangingPunct="1"/>
            <a:r>
              <a:rPr lang="en-US" altLang="en-US"/>
              <a:t>Number of Operands</a:t>
            </a:r>
          </a:p>
        </p:txBody>
      </p:sp>
      <p:sp>
        <p:nvSpPr>
          <p:cNvPr id="29699" name="Rectangle 3">
            <a:extLst>
              <a:ext uri="{FF2B5EF4-FFF2-40B4-BE49-F238E27FC236}">
                <a16:creationId xmlns:a16="http://schemas.microsoft.com/office/drawing/2014/main" id="{B07F64D2-4E5C-A769-5F3A-96F3D78ABBA5}"/>
              </a:ext>
            </a:extLst>
          </p:cNvPr>
          <p:cNvSpPr>
            <a:spLocks noGrp="1" noChangeArrowheads="1"/>
          </p:cNvSpPr>
          <p:nvPr>
            <p:ph type="body" idx="1"/>
          </p:nvPr>
        </p:nvSpPr>
        <p:spPr/>
        <p:txBody>
          <a:bodyPr/>
          <a:lstStyle/>
          <a:p>
            <a:pPr eaLnBrk="1" hangingPunct="1">
              <a:lnSpc>
                <a:spcPct val="90000"/>
              </a:lnSpc>
            </a:pPr>
            <a:r>
              <a:rPr lang="en-US" altLang="en-US" sz="2400"/>
              <a:t>In practice, we won’t really see a four-address instruction.  </a:t>
            </a:r>
          </a:p>
          <a:p>
            <a:pPr lvl="1" eaLnBrk="1" hangingPunct="1">
              <a:lnSpc>
                <a:spcPct val="90000"/>
              </a:lnSpc>
            </a:pPr>
            <a:r>
              <a:rPr lang="en-US" altLang="en-US" sz="2000"/>
              <a:t>Too much additional complexity in the CPU</a:t>
            </a:r>
          </a:p>
          <a:p>
            <a:pPr lvl="1" eaLnBrk="1" hangingPunct="1">
              <a:lnSpc>
                <a:spcPct val="90000"/>
              </a:lnSpc>
            </a:pPr>
            <a:r>
              <a:rPr lang="en-US" altLang="en-US" sz="2000"/>
              <a:t>Long instruction word</a:t>
            </a:r>
          </a:p>
          <a:p>
            <a:pPr lvl="1" eaLnBrk="1" hangingPunct="1">
              <a:lnSpc>
                <a:spcPct val="90000"/>
              </a:lnSpc>
            </a:pPr>
            <a:r>
              <a:rPr lang="en-US" altLang="en-US" sz="2000"/>
              <a:t>All operands won’t be used very frequently</a:t>
            </a:r>
          </a:p>
          <a:p>
            <a:pPr eaLnBrk="1" hangingPunct="1">
              <a:lnSpc>
                <a:spcPct val="90000"/>
              </a:lnSpc>
            </a:pPr>
            <a:r>
              <a:rPr lang="en-US" altLang="en-US" sz="2400"/>
              <a:t>Most instructions have one, two, or three operand addresses </a:t>
            </a:r>
          </a:p>
          <a:p>
            <a:pPr lvl="1" eaLnBrk="1" hangingPunct="1">
              <a:lnSpc>
                <a:spcPct val="90000"/>
              </a:lnSpc>
            </a:pPr>
            <a:r>
              <a:rPr lang="en-US" altLang="en-US" sz="2000"/>
              <a:t>The next instruction is obtained by incrementing the program counter, with the exception of branch instructions</a:t>
            </a:r>
          </a:p>
          <a:p>
            <a:pPr eaLnBrk="1" hangingPunct="1">
              <a:lnSpc>
                <a:spcPct val="90000"/>
              </a:lnSpc>
            </a:pPr>
            <a:r>
              <a:rPr lang="en-US" altLang="en-US" sz="2400"/>
              <a:t>Let’s describe a hypothetical set of instructions to carry out the computation for:</a:t>
            </a:r>
          </a:p>
          <a:p>
            <a:pPr eaLnBrk="1" hangingPunct="1">
              <a:lnSpc>
                <a:spcPct val="90000"/>
              </a:lnSpc>
              <a:buFontTx/>
              <a:buNone/>
            </a:pPr>
            <a:r>
              <a:rPr lang="en-US" altLang="en-US" sz="2400"/>
              <a:t>			Y = (A-B) / (C + (D * 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A8630F2-B21E-3A8C-C957-DC037CCC0C85}"/>
              </a:ext>
            </a:extLst>
          </p:cNvPr>
          <p:cNvSpPr>
            <a:spLocks noGrp="1" noChangeArrowheads="1"/>
          </p:cNvSpPr>
          <p:nvPr>
            <p:ph type="title"/>
          </p:nvPr>
        </p:nvSpPr>
        <p:spPr/>
        <p:txBody>
          <a:bodyPr/>
          <a:lstStyle/>
          <a:p>
            <a:pPr eaLnBrk="1" hangingPunct="1"/>
            <a:r>
              <a:rPr lang="en-US" altLang="en-US"/>
              <a:t>Three operand instruction</a:t>
            </a:r>
          </a:p>
        </p:txBody>
      </p:sp>
      <p:sp>
        <p:nvSpPr>
          <p:cNvPr id="30723" name="Rectangle 3">
            <a:extLst>
              <a:ext uri="{FF2B5EF4-FFF2-40B4-BE49-F238E27FC236}">
                <a16:creationId xmlns:a16="http://schemas.microsoft.com/office/drawing/2014/main" id="{1814D972-3303-16D1-3DCA-D751CF18A374}"/>
              </a:ext>
            </a:extLst>
          </p:cNvPr>
          <p:cNvSpPr>
            <a:spLocks noGrp="1" noChangeArrowheads="1"/>
          </p:cNvSpPr>
          <p:nvPr>
            <p:ph type="body" idx="1"/>
          </p:nvPr>
        </p:nvSpPr>
        <p:spPr/>
        <p:txBody>
          <a:bodyPr/>
          <a:lstStyle/>
          <a:p>
            <a:pPr eaLnBrk="1" hangingPunct="1">
              <a:lnSpc>
                <a:spcPct val="80000"/>
              </a:lnSpc>
            </a:pPr>
            <a:r>
              <a:rPr lang="en-US" altLang="en-US" sz="2400" dirty="0"/>
              <a:t>If we had a three operand instruction, we could specify two source operands and a destination to store the result.  </a:t>
            </a:r>
          </a:p>
          <a:p>
            <a:pPr eaLnBrk="1" hangingPunct="1">
              <a:lnSpc>
                <a:spcPct val="80000"/>
              </a:lnSpc>
            </a:pPr>
            <a:r>
              <a:rPr lang="en-US" altLang="en-US" sz="2400" dirty="0"/>
              <a:t>Here is a possible sequence of instructions for our equation:</a:t>
            </a:r>
          </a:p>
          <a:p>
            <a:pPr eaLnBrk="1" hangingPunct="1">
              <a:lnSpc>
                <a:spcPct val="80000"/>
              </a:lnSpc>
              <a:buFontTx/>
              <a:buNone/>
            </a:pPr>
            <a:r>
              <a:rPr lang="en-US" altLang="en-US" sz="2400" dirty="0"/>
              <a:t>			Y = (A-B) / (C + (D * E))</a:t>
            </a:r>
          </a:p>
          <a:p>
            <a:pPr eaLnBrk="1" hangingPunct="1">
              <a:lnSpc>
                <a:spcPct val="80000"/>
              </a:lnSpc>
              <a:buFontTx/>
              <a:buNone/>
            </a:pPr>
            <a:endParaRPr lang="en-US" altLang="en-US" sz="2400" dirty="0"/>
          </a:p>
          <a:p>
            <a:pPr lvl="1" eaLnBrk="1" hangingPunct="1">
              <a:lnSpc>
                <a:spcPct val="80000"/>
              </a:lnSpc>
            </a:pPr>
            <a:r>
              <a:rPr lang="en-US" altLang="en-US" sz="2000" dirty="0"/>
              <a:t>SUB R1, A, B		; Register R1 </a:t>
            </a:r>
            <a:r>
              <a:rPr lang="en-US" altLang="en-US" sz="2000" dirty="0">
                <a:sym typeface="Wingdings" panose="05000000000000000000" pitchFamily="2" charset="2"/>
              </a:rPr>
              <a:t></a:t>
            </a:r>
            <a:r>
              <a:rPr lang="en-US" altLang="en-US" sz="2000" dirty="0"/>
              <a:t> A-B</a:t>
            </a:r>
            <a:endParaRPr lang="pt-BR" altLang="en-US" sz="2000" dirty="0"/>
          </a:p>
          <a:p>
            <a:pPr lvl="1" eaLnBrk="1" hangingPunct="1">
              <a:lnSpc>
                <a:spcPct val="80000"/>
              </a:lnSpc>
            </a:pPr>
            <a:r>
              <a:rPr lang="pt-BR" altLang="en-US" sz="2000" dirty="0"/>
              <a:t>MUL R2, D, E		; Register R2 </a:t>
            </a:r>
            <a:r>
              <a:rPr lang="en-US" altLang="en-US" sz="2000" dirty="0">
                <a:sym typeface="Wingdings" panose="05000000000000000000" pitchFamily="2" charset="2"/>
              </a:rPr>
              <a:t></a:t>
            </a:r>
            <a:r>
              <a:rPr lang="pt-BR" altLang="en-US" sz="2000" dirty="0"/>
              <a:t> D * E</a:t>
            </a:r>
          </a:p>
          <a:p>
            <a:pPr lvl="1" eaLnBrk="1" hangingPunct="1">
              <a:lnSpc>
                <a:spcPct val="80000"/>
              </a:lnSpc>
            </a:pPr>
            <a:r>
              <a:rPr lang="pt-BR" altLang="en-US" sz="2000" dirty="0"/>
              <a:t>ADD R2, R2, C		; Register R2 </a:t>
            </a:r>
            <a:r>
              <a:rPr lang="en-US" altLang="en-US" sz="2000" dirty="0">
                <a:sym typeface="Wingdings" panose="05000000000000000000" pitchFamily="2" charset="2"/>
              </a:rPr>
              <a:t></a:t>
            </a:r>
            <a:r>
              <a:rPr lang="pt-BR" altLang="en-US" sz="2000" dirty="0"/>
              <a:t> R2 + C</a:t>
            </a:r>
          </a:p>
          <a:p>
            <a:pPr lvl="1" eaLnBrk="1" hangingPunct="1">
              <a:lnSpc>
                <a:spcPct val="80000"/>
              </a:lnSpc>
            </a:pPr>
            <a:r>
              <a:rPr lang="pt-BR" altLang="en-US" sz="2000" dirty="0"/>
              <a:t>DIV  R1, R1, R2		; Register R1 </a:t>
            </a:r>
            <a:r>
              <a:rPr lang="en-US" altLang="en-US" sz="2000" dirty="0">
                <a:sym typeface="Wingdings" panose="05000000000000000000" pitchFamily="2" charset="2"/>
              </a:rPr>
              <a:t></a:t>
            </a:r>
            <a:r>
              <a:rPr lang="pt-BR" altLang="en-US" sz="2000" dirty="0"/>
              <a:t> R1 / R2</a:t>
            </a:r>
          </a:p>
          <a:p>
            <a:pPr lvl="1" eaLnBrk="1" hangingPunct="1">
              <a:lnSpc>
                <a:spcPct val="80000"/>
              </a:lnSpc>
              <a:buFontTx/>
              <a:buNone/>
            </a:pPr>
            <a:endParaRPr lang="en-US" altLang="en-US" sz="2000" dirty="0"/>
          </a:p>
          <a:p>
            <a:pPr eaLnBrk="1" hangingPunct="1">
              <a:lnSpc>
                <a:spcPct val="80000"/>
              </a:lnSpc>
            </a:pPr>
            <a:r>
              <a:rPr lang="en-US" altLang="en-US" sz="2400" dirty="0"/>
              <a:t>The three address format is fairly convenient because we have the flexibility to dictate where the result of computations should go. Note that after this calculation is done, we haven’t changed the contents of any of our original locations A,B,C,D, or 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D01B71FC-5C0B-61C6-CC27-CAFAC62F27D6}"/>
              </a:ext>
            </a:extLst>
          </p:cNvPr>
          <p:cNvSpPr>
            <a:spLocks noGrp="1" noChangeArrowheads="1"/>
          </p:cNvSpPr>
          <p:nvPr>
            <p:ph type="title"/>
          </p:nvPr>
        </p:nvSpPr>
        <p:spPr/>
        <p:txBody>
          <a:bodyPr/>
          <a:lstStyle/>
          <a:p>
            <a:pPr eaLnBrk="1" hangingPunct="1"/>
            <a:r>
              <a:rPr lang="en-US" altLang="en-US"/>
              <a:t>Two operand instruction</a:t>
            </a:r>
          </a:p>
        </p:txBody>
      </p:sp>
      <p:sp>
        <p:nvSpPr>
          <p:cNvPr id="31747" name="Rectangle 3">
            <a:extLst>
              <a:ext uri="{FF2B5EF4-FFF2-40B4-BE49-F238E27FC236}">
                <a16:creationId xmlns:a16="http://schemas.microsoft.com/office/drawing/2014/main" id="{0E9A71BF-C16D-4AE0-97A9-9EAA36B9BEEC}"/>
              </a:ext>
            </a:extLst>
          </p:cNvPr>
          <p:cNvSpPr>
            <a:spLocks noGrp="1" noChangeArrowheads="1"/>
          </p:cNvSpPr>
          <p:nvPr>
            <p:ph type="body" idx="1"/>
          </p:nvPr>
        </p:nvSpPr>
        <p:spPr/>
        <p:txBody>
          <a:bodyPr/>
          <a:lstStyle/>
          <a:p>
            <a:pPr eaLnBrk="1" hangingPunct="1">
              <a:lnSpc>
                <a:spcPct val="90000"/>
              </a:lnSpc>
            </a:pPr>
            <a:r>
              <a:rPr lang="en-US" altLang="en-US" sz="2800"/>
              <a:t>How can we cut down the number of operands?</a:t>
            </a:r>
          </a:p>
          <a:p>
            <a:pPr lvl="1" eaLnBrk="1" hangingPunct="1">
              <a:lnSpc>
                <a:spcPct val="90000"/>
              </a:lnSpc>
            </a:pPr>
            <a:r>
              <a:rPr lang="en-US" altLang="en-US" sz="2400"/>
              <a:t>Might want to make the instruction shorter</a:t>
            </a:r>
          </a:p>
          <a:p>
            <a:pPr eaLnBrk="1" hangingPunct="1">
              <a:lnSpc>
                <a:spcPct val="90000"/>
              </a:lnSpc>
            </a:pPr>
            <a:r>
              <a:rPr lang="en-US" altLang="en-US" sz="2800"/>
              <a:t>Typical method is to assign a </a:t>
            </a:r>
            <a:r>
              <a:rPr lang="en-US" altLang="en-US" sz="2800" b="1"/>
              <a:t>default</a:t>
            </a:r>
            <a:r>
              <a:rPr lang="en-US" altLang="en-US" sz="2800"/>
              <a:t> destination operand to hold the results of the computation</a:t>
            </a:r>
          </a:p>
          <a:p>
            <a:pPr lvl="1" eaLnBrk="1" hangingPunct="1">
              <a:lnSpc>
                <a:spcPct val="90000"/>
              </a:lnSpc>
            </a:pPr>
            <a:r>
              <a:rPr lang="en-US" altLang="en-US" sz="2400"/>
              <a:t>Result always goes into this operand</a:t>
            </a:r>
          </a:p>
          <a:p>
            <a:pPr lvl="1" eaLnBrk="1" hangingPunct="1">
              <a:lnSpc>
                <a:spcPct val="90000"/>
              </a:lnSpc>
            </a:pPr>
            <a:r>
              <a:rPr lang="en-US" altLang="en-US" sz="2400"/>
              <a:t>Overwrites and old data in that location</a:t>
            </a:r>
          </a:p>
          <a:p>
            <a:pPr eaLnBrk="1" hangingPunct="1">
              <a:lnSpc>
                <a:spcPct val="90000"/>
              </a:lnSpc>
            </a:pPr>
            <a:r>
              <a:rPr lang="en-US" altLang="en-US" sz="2800"/>
              <a:t>Let’s say that the default destination is the first operand in the instruction</a:t>
            </a:r>
          </a:p>
          <a:p>
            <a:pPr lvl="1" eaLnBrk="1" hangingPunct="1">
              <a:lnSpc>
                <a:spcPct val="90000"/>
              </a:lnSpc>
            </a:pPr>
            <a:r>
              <a:rPr lang="en-US" altLang="en-US" sz="2400"/>
              <a:t>First operand might be a register, memory, etc.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9D007C18-79FA-0795-3829-6DE17823B9FB}"/>
              </a:ext>
            </a:extLst>
          </p:cNvPr>
          <p:cNvSpPr>
            <a:spLocks noGrp="1" noChangeArrowheads="1"/>
          </p:cNvSpPr>
          <p:nvPr>
            <p:ph type="title"/>
          </p:nvPr>
        </p:nvSpPr>
        <p:spPr>
          <a:xfrm>
            <a:off x="2209800" y="-152400"/>
            <a:ext cx="7772400" cy="1143000"/>
          </a:xfrm>
        </p:spPr>
        <p:txBody>
          <a:bodyPr/>
          <a:lstStyle/>
          <a:p>
            <a:pPr eaLnBrk="1" hangingPunct="1"/>
            <a:r>
              <a:rPr lang="en-US" altLang="en-US"/>
              <a:t>Two Operand Instructions</a:t>
            </a:r>
          </a:p>
        </p:txBody>
      </p:sp>
      <p:sp>
        <p:nvSpPr>
          <p:cNvPr id="32771" name="Rectangle 3">
            <a:extLst>
              <a:ext uri="{FF2B5EF4-FFF2-40B4-BE49-F238E27FC236}">
                <a16:creationId xmlns:a16="http://schemas.microsoft.com/office/drawing/2014/main" id="{B55CBA97-4DED-BBB1-432E-C87BAC2D92AC}"/>
              </a:ext>
            </a:extLst>
          </p:cNvPr>
          <p:cNvSpPr>
            <a:spLocks noGrp="1" noChangeArrowheads="1"/>
          </p:cNvSpPr>
          <p:nvPr>
            <p:ph type="body" idx="1"/>
          </p:nvPr>
        </p:nvSpPr>
        <p:spPr>
          <a:xfrm>
            <a:off x="1752600" y="1066800"/>
            <a:ext cx="8686800" cy="5791200"/>
          </a:xfrm>
        </p:spPr>
        <p:txBody>
          <a:bodyPr/>
          <a:lstStyle/>
          <a:p>
            <a:pPr eaLnBrk="1" hangingPunct="1">
              <a:lnSpc>
                <a:spcPct val="80000"/>
              </a:lnSpc>
            </a:pPr>
            <a:r>
              <a:rPr lang="en-US" altLang="en-US" sz="2000"/>
              <a:t>Here is a possible sequence of instructions for our equation (say the operands are registers):</a:t>
            </a:r>
          </a:p>
          <a:p>
            <a:pPr eaLnBrk="1" hangingPunct="1">
              <a:lnSpc>
                <a:spcPct val="80000"/>
              </a:lnSpc>
              <a:buFontTx/>
              <a:buNone/>
            </a:pPr>
            <a:r>
              <a:rPr lang="en-US" altLang="en-US" sz="2000"/>
              <a:t>			Y = (A-B) / (C + (D * E))</a:t>
            </a:r>
          </a:p>
          <a:p>
            <a:pPr lvl="1" eaLnBrk="1" hangingPunct="1">
              <a:lnSpc>
                <a:spcPct val="80000"/>
              </a:lnSpc>
            </a:pPr>
            <a:r>
              <a:rPr lang="en-US" altLang="en-US" sz="1800"/>
              <a:t>SUB  A, B		; Register A </a:t>
            </a:r>
            <a:r>
              <a:rPr lang="en-US" altLang="en-US" sz="1800">
                <a:sym typeface="Wingdings" panose="05000000000000000000" pitchFamily="2" charset="2"/>
              </a:rPr>
              <a:t></a:t>
            </a:r>
            <a:r>
              <a:rPr lang="en-US" altLang="en-US" sz="1800"/>
              <a:t> A-B</a:t>
            </a:r>
          </a:p>
          <a:p>
            <a:pPr lvl="1" eaLnBrk="1" hangingPunct="1">
              <a:lnSpc>
                <a:spcPct val="80000"/>
              </a:lnSpc>
            </a:pPr>
            <a:r>
              <a:rPr lang="pt-BR" altLang="en-US" sz="1800"/>
              <a:t>MUL D, E		; Register D </a:t>
            </a:r>
            <a:r>
              <a:rPr lang="en-US" altLang="en-US" sz="1800">
                <a:sym typeface="Wingdings" panose="05000000000000000000" pitchFamily="2" charset="2"/>
              </a:rPr>
              <a:t></a:t>
            </a:r>
            <a:r>
              <a:rPr lang="pt-BR" altLang="en-US" sz="1800"/>
              <a:t> D*E</a:t>
            </a:r>
          </a:p>
          <a:p>
            <a:pPr lvl="1" eaLnBrk="1" hangingPunct="1">
              <a:lnSpc>
                <a:spcPct val="80000"/>
              </a:lnSpc>
            </a:pPr>
            <a:r>
              <a:rPr lang="en-US" altLang="en-US" sz="1800"/>
              <a:t>ADD D, C		; Register D </a:t>
            </a:r>
            <a:r>
              <a:rPr lang="en-US" altLang="en-US" sz="1800">
                <a:sym typeface="Wingdings" panose="05000000000000000000" pitchFamily="2" charset="2"/>
              </a:rPr>
              <a:t></a:t>
            </a:r>
            <a:r>
              <a:rPr lang="en-US" altLang="en-US" sz="1800"/>
              <a:t> D+C</a:t>
            </a:r>
          </a:p>
          <a:p>
            <a:pPr lvl="1" eaLnBrk="1" hangingPunct="1">
              <a:lnSpc>
                <a:spcPct val="80000"/>
              </a:lnSpc>
            </a:pPr>
            <a:r>
              <a:rPr lang="pt-BR" altLang="en-US" sz="1800"/>
              <a:t>DIV  A, D		; Register A </a:t>
            </a:r>
            <a:r>
              <a:rPr lang="en-US" altLang="en-US" sz="1800">
                <a:sym typeface="Wingdings" panose="05000000000000000000" pitchFamily="2" charset="2"/>
              </a:rPr>
              <a:t></a:t>
            </a:r>
            <a:r>
              <a:rPr lang="pt-BR" altLang="en-US" sz="1800"/>
              <a:t> A / D</a:t>
            </a:r>
            <a:endParaRPr lang="en-US" altLang="en-US" sz="1800"/>
          </a:p>
          <a:p>
            <a:pPr eaLnBrk="1" hangingPunct="1">
              <a:lnSpc>
                <a:spcPct val="80000"/>
              </a:lnSpc>
            </a:pPr>
            <a:r>
              <a:rPr lang="en-US" altLang="en-US" sz="2000"/>
              <a:t>Get same end result as before, but we changed the contents of registers A and D</a:t>
            </a:r>
          </a:p>
          <a:p>
            <a:pPr eaLnBrk="1" hangingPunct="1">
              <a:lnSpc>
                <a:spcPct val="80000"/>
              </a:lnSpc>
            </a:pPr>
            <a:r>
              <a:rPr lang="en-US" altLang="en-US" sz="2000"/>
              <a:t>If we had some later processing that wanted to use the original contents of those registers, we must make a copy of them before performing the computation</a:t>
            </a:r>
          </a:p>
          <a:p>
            <a:pPr lvl="1" eaLnBrk="1" hangingPunct="1">
              <a:lnSpc>
                <a:spcPct val="80000"/>
              </a:lnSpc>
            </a:pPr>
            <a:r>
              <a:rPr lang="pt-BR" altLang="en-US" sz="1800"/>
              <a:t>MOV  R1, A		; Copy A to register R1</a:t>
            </a:r>
          </a:p>
          <a:p>
            <a:pPr lvl="1" eaLnBrk="1" hangingPunct="1">
              <a:lnSpc>
                <a:spcPct val="80000"/>
              </a:lnSpc>
            </a:pPr>
            <a:r>
              <a:rPr lang="pt-BR" altLang="en-US" sz="1800"/>
              <a:t>MOV  R2, D		; Copy D to register R2</a:t>
            </a:r>
          </a:p>
          <a:p>
            <a:pPr lvl="1" eaLnBrk="1" hangingPunct="1">
              <a:lnSpc>
                <a:spcPct val="80000"/>
              </a:lnSpc>
            </a:pPr>
            <a:r>
              <a:rPr lang="pt-BR" altLang="en-US" sz="1800"/>
              <a:t>SUB  R1, B		; Register R1 </a:t>
            </a:r>
            <a:r>
              <a:rPr lang="en-US" altLang="en-US" sz="1800">
                <a:sym typeface="Wingdings" panose="05000000000000000000" pitchFamily="2" charset="2"/>
              </a:rPr>
              <a:t></a:t>
            </a:r>
            <a:r>
              <a:rPr lang="pt-BR" altLang="en-US" sz="1800"/>
              <a:t> R1-B</a:t>
            </a:r>
          </a:p>
          <a:p>
            <a:pPr lvl="1" eaLnBrk="1" hangingPunct="1">
              <a:lnSpc>
                <a:spcPct val="80000"/>
              </a:lnSpc>
            </a:pPr>
            <a:r>
              <a:rPr lang="pt-BR" altLang="en-US" sz="1800"/>
              <a:t>MUL R2, E		; Register R2 </a:t>
            </a:r>
            <a:r>
              <a:rPr lang="en-US" altLang="en-US" sz="1800">
                <a:sym typeface="Wingdings" panose="05000000000000000000" pitchFamily="2" charset="2"/>
              </a:rPr>
              <a:t></a:t>
            </a:r>
            <a:r>
              <a:rPr lang="pt-BR" altLang="en-US" sz="1800"/>
              <a:t> R2*E</a:t>
            </a:r>
          </a:p>
          <a:p>
            <a:pPr lvl="1" eaLnBrk="1" hangingPunct="1">
              <a:lnSpc>
                <a:spcPct val="80000"/>
              </a:lnSpc>
            </a:pPr>
            <a:r>
              <a:rPr lang="pt-BR" altLang="en-US" sz="1800"/>
              <a:t>ADD R2, C		; Register R2 </a:t>
            </a:r>
            <a:r>
              <a:rPr lang="en-US" altLang="en-US" sz="1800">
                <a:sym typeface="Wingdings" panose="05000000000000000000" pitchFamily="2" charset="2"/>
              </a:rPr>
              <a:t></a:t>
            </a:r>
            <a:r>
              <a:rPr lang="pt-BR" altLang="en-US" sz="1800"/>
              <a:t> R2+C</a:t>
            </a:r>
          </a:p>
          <a:p>
            <a:pPr lvl="1" eaLnBrk="1" hangingPunct="1">
              <a:lnSpc>
                <a:spcPct val="80000"/>
              </a:lnSpc>
            </a:pPr>
            <a:r>
              <a:rPr lang="pt-BR" altLang="en-US" sz="1800"/>
              <a:t>DIV  R1, R2		; Register R1 </a:t>
            </a:r>
            <a:r>
              <a:rPr lang="en-US" altLang="en-US" sz="1800">
                <a:sym typeface="Wingdings" panose="05000000000000000000" pitchFamily="2" charset="2"/>
              </a:rPr>
              <a:t></a:t>
            </a:r>
            <a:r>
              <a:rPr lang="pt-BR" altLang="en-US" sz="1800"/>
              <a:t> R1 / R2</a:t>
            </a:r>
            <a:endParaRPr lang="en-US" altLang="en-US" sz="1800"/>
          </a:p>
          <a:p>
            <a:pPr eaLnBrk="1" hangingPunct="1">
              <a:lnSpc>
                <a:spcPct val="80000"/>
              </a:lnSpc>
            </a:pPr>
            <a:r>
              <a:rPr lang="en-US" altLang="en-US" sz="2000"/>
              <a:t>Now the original registers for A-E remain the same as before, but at the cost of some extra instructions to save the results.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6DE071CB-8859-AADF-BA8A-8E07B4AD2D29}"/>
              </a:ext>
            </a:extLst>
          </p:cNvPr>
          <p:cNvSpPr>
            <a:spLocks noGrp="1" noChangeArrowheads="1"/>
          </p:cNvSpPr>
          <p:nvPr>
            <p:ph type="title"/>
          </p:nvPr>
        </p:nvSpPr>
        <p:spPr>
          <a:xfrm>
            <a:off x="2209800" y="228600"/>
            <a:ext cx="7772400" cy="1143000"/>
          </a:xfrm>
        </p:spPr>
        <p:txBody>
          <a:bodyPr/>
          <a:lstStyle/>
          <a:p>
            <a:pPr eaLnBrk="1" hangingPunct="1"/>
            <a:r>
              <a:rPr lang="en-US" altLang="en-US"/>
              <a:t>One Operand Instructions</a:t>
            </a:r>
          </a:p>
        </p:txBody>
      </p:sp>
      <p:sp>
        <p:nvSpPr>
          <p:cNvPr id="33795" name="Rectangle 3">
            <a:extLst>
              <a:ext uri="{FF2B5EF4-FFF2-40B4-BE49-F238E27FC236}">
                <a16:creationId xmlns:a16="http://schemas.microsoft.com/office/drawing/2014/main" id="{A8381BED-9552-F79C-972C-188E617C8CEB}"/>
              </a:ext>
            </a:extLst>
          </p:cNvPr>
          <p:cNvSpPr>
            <a:spLocks noGrp="1" noChangeArrowheads="1"/>
          </p:cNvSpPr>
          <p:nvPr>
            <p:ph type="body" idx="1"/>
          </p:nvPr>
        </p:nvSpPr>
        <p:spPr>
          <a:xfrm>
            <a:off x="1981200" y="1371600"/>
            <a:ext cx="8382000" cy="5334000"/>
          </a:xfrm>
        </p:spPr>
        <p:txBody>
          <a:bodyPr/>
          <a:lstStyle/>
          <a:p>
            <a:pPr eaLnBrk="1" hangingPunct="1">
              <a:lnSpc>
                <a:spcPct val="80000"/>
              </a:lnSpc>
            </a:pPr>
            <a:r>
              <a:rPr lang="en-US" altLang="en-US" sz="2000"/>
              <a:t>Can use the same idea to get rid of the second operand, leaving only one operand</a:t>
            </a:r>
          </a:p>
          <a:p>
            <a:pPr eaLnBrk="1" hangingPunct="1">
              <a:lnSpc>
                <a:spcPct val="80000"/>
              </a:lnSpc>
            </a:pPr>
            <a:r>
              <a:rPr lang="en-US" altLang="en-US" sz="2000"/>
              <a:t>The second operand is left implicit; e.g. could assume that the second operand will always be in a register such as the Accumulator:</a:t>
            </a:r>
          </a:p>
          <a:p>
            <a:pPr eaLnBrk="1" hangingPunct="1">
              <a:lnSpc>
                <a:spcPct val="80000"/>
              </a:lnSpc>
              <a:buFontTx/>
              <a:buNone/>
            </a:pPr>
            <a:r>
              <a:rPr lang="en-US" altLang="en-US" sz="2000"/>
              <a:t>		Y = (A-B) / (C + (D * E))</a:t>
            </a:r>
          </a:p>
          <a:p>
            <a:pPr lvl="1" eaLnBrk="1" hangingPunct="1">
              <a:lnSpc>
                <a:spcPct val="80000"/>
              </a:lnSpc>
            </a:pPr>
            <a:r>
              <a:rPr lang="en-US" altLang="en-US" sz="1800"/>
              <a:t>LDA   D			; Load ACC with D</a:t>
            </a:r>
          </a:p>
          <a:p>
            <a:pPr lvl="1" eaLnBrk="1" hangingPunct="1">
              <a:lnSpc>
                <a:spcPct val="80000"/>
              </a:lnSpc>
            </a:pPr>
            <a:r>
              <a:rPr lang="pt-BR" altLang="en-US" sz="1800"/>
              <a:t>MUL  E			; Acc </a:t>
            </a:r>
            <a:r>
              <a:rPr lang="en-US" altLang="en-US" sz="1800">
                <a:sym typeface="Wingdings" panose="05000000000000000000" pitchFamily="2" charset="2"/>
              </a:rPr>
              <a:t></a:t>
            </a:r>
            <a:r>
              <a:rPr lang="pt-BR" altLang="en-US" sz="1800"/>
              <a:t> Acc * E</a:t>
            </a:r>
          </a:p>
          <a:p>
            <a:pPr lvl="1" eaLnBrk="1" hangingPunct="1">
              <a:lnSpc>
                <a:spcPct val="80000"/>
              </a:lnSpc>
            </a:pPr>
            <a:r>
              <a:rPr lang="pt-BR" altLang="en-US" sz="1800"/>
              <a:t>ADD  C			; Acc </a:t>
            </a:r>
            <a:r>
              <a:rPr lang="en-US" altLang="en-US" sz="1800">
                <a:sym typeface="Wingdings" panose="05000000000000000000" pitchFamily="2" charset="2"/>
              </a:rPr>
              <a:t></a:t>
            </a:r>
            <a:r>
              <a:rPr lang="pt-BR" altLang="en-US" sz="1800"/>
              <a:t> Acc + C</a:t>
            </a:r>
          </a:p>
          <a:p>
            <a:pPr lvl="1" eaLnBrk="1" hangingPunct="1">
              <a:lnSpc>
                <a:spcPct val="80000"/>
              </a:lnSpc>
            </a:pPr>
            <a:r>
              <a:rPr lang="en-US" altLang="en-US" sz="1800"/>
              <a:t>STO  R1			;  Store Acc to R1</a:t>
            </a:r>
          </a:p>
          <a:p>
            <a:pPr lvl="1" eaLnBrk="1" hangingPunct="1">
              <a:lnSpc>
                <a:spcPct val="80000"/>
              </a:lnSpc>
            </a:pPr>
            <a:r>
              <a:rPr lang="pt-BR" altLang="en-US" sz="1800"/>
              <a:t>LDA  A			; Acc </a:t>
            </a:r>
            <a:r>
              <a:rPr lang="en-US" altLang="en-US" sz="1800">
                <a:sym typeface="Wingdings" panose="05000000000000000000" pitchFamily="2" charset="2"/>
              </a:rPr>
              <a:t></a:t>
            </a:r>
            <a:r>
              <a:rPr lang="pt-BR" altLang="en-US" sz="1800"/>
              <a:t> A</a:t>
            </a:r>
          </a:p>
          <a:p>
            <a:pPr lvl="1" eaLnBrk="1" hangingPunct="1">
              <a:lnSpc>
                <a:spcPct val="80000"/>
              </a:lnSpc>
            </a:pPr>
            <a:r>
              <a:rPr lang="pt-BR" altLang="en-US" sz="1800"/>
              <a:t>SUB  B 			; Acc </a:t>
            </a:r>
            <a:r>
              <a:rPr lang="en-US" altLang="en-US" sz="1800">
                <a:sym typeface="Wingdings" panose="05000000000000000000" pitchFamily="2" charset="2"/>
              </a:rPr>
              <a:t></a:t>
            </a:r>
            <a:r>
              <a:rPr lang="pt-BR" altLang="en-US" sz="1800"/>
              <a:t> A-B</a:t>
            </a:r>
          </a:p>
          <a:p>
            <a:pPr lvl="1" eaLnBrk="1" hangingPunct="1">
              <a:lnSpc>
                <a:spcPct val="80000"/>
              </a:lnSpc>
            </a:pPr>
            <a:r>
              <a:rPr lang="en-US" altLang="en-US" sz="1800"/>
              <a:t>DIV  R1			; Acc </a:t>
            </a:r>
            <a:r>
              <a:rPr lang="en-US" altLang="en-US" sz="1800">
                <a:sym typeface="Wingdings" panose="05000000000000000000" pitchFamily="2" charset="2"/>
              </a:rPr>
              <a:t></a:t>
            </a:r>
            <a:r>
              <a:rPr lang="en-US" altLang="en-US" sz="1800"/>
              <a:t> Acc / R1</a:t>
            </a:r>
          </a:p>
          <a:p>
            <a:pPr eaLnBrk="1" hangingPunct="1">
              <a:lnSpc>
                <a:spcPct val="80000"/>
              </a:lnSpc>
            </a:pPr>
            <a:r>
              <a:rPr lang="en-US" altLang="en-US" sz="2000"/>
              <a:t>Many early computers relied heavily on one-address based instructions, as it makes the CPU much simpler to design.  As you can see, it does become somewhat more unwieldy to program.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EB5EE35A-F30B-D13C-0802-2B1DF82CCB4A}"/>
              </a:ext>
            </a:extLst>
          </p:cNvPr>
          <p:cNvSpPr>
            <a:spLocks noGrp="1" noChangeArrowheads="1"/>
          </p:cNvSpPr>
          <p:nvPr>
            <p:ph type="title"/>
          </p:nvPr>
        </p:nvSpPr>
        <p:spPr>
          <a:xfrm>
            <a:off x="2209800" y="304800"/>
            <a:ext cx="7772400" cy="1143000"/>
          </a:xfrm>
        </p:spPr>
        <p:txBody>
          <a:bodyPr/>
          <a:lstStyle/>
          <a:p>
            <a:pPr eaLnBrk="1" hangingPunct="1"/>
            <a:r>
              <a:rPr lang="en-US" altLang="en-US"/>
              <a:t>Zero Operand Instructions</a:t>
            </a:r>
          </a:p>
        </p:txBody>
      </p:sp>
      <p:sp>
        <p:nvSpPr>
          <p:cNvPr id="34819" name="Rectangle 3">
            <a:extLst>
              <a:ext uri="{FF2B5EF4-FFF2-40B4-BE49-F238E27FC236}">
                <a16:creationId xmlns:a16="http://schemas.microsoft.com/office/drawing/2014/main" id="{1CF91ED6-A3E4-F244-2C4A-8C7DBE46A202}"/>
              </a:ext>
            </a:extLst>
          </p:cNvPr>
          <p:cNvSpPr>
            <a:spLocks noGrp="1" noChangeArrowheads="1"/>
          </p:cNvSpPr>
          <p:nvPr>
            <p:ph type="body" idx="1"/>
          </p:nvPr>
        </p:nvSpPr>
        <p:spPr>
          <a:xfrm>
            <a:off x="1905000" y="1600200"/>
            <a:ext cx="8382000" cy="4876800"/>
          </a:xfrm>
        </p:spPr>
        <p:txBody>
          <a:bodyPr/>
          <a:lstStyle/>
          <a:p>
            <a:pPr eaLnBrk="1" hangingPunct="1">
              <a:lnSpc>
                <a:spcPct val="90000"/>
              </a:lnSpc>
            </a:pPr>
            <a:r>
              <a:rPr lang="en-US" altLang="en-US" sz="2400"/>
              <a:t>In some cases we can have zero operand instructions</a:t>
            </a:r>
          </a:p>
          <a:p>
            <a:pPr eaLnBrk="1" hangingPunct="1">
              <a:lnSpc>
                <a:spcPct val="90000"/>
              </a:lnSpc>
            </a:pPr>
            <a:r>
              <a:rPr lang="en-US" altLang="en-US" sz="2400"/>
              <a:t>Uses the </a:t>
            </a:r>
            <a:r>
              <a:rPr lang="en-US" altLang="en-US" sz="2400" b="1"/>
              <a:t>Stack</a:t>
            </a:r>
          </a:p>
          <a:p>
            <a:pPr lvl="1" eaLnBrk="1" hangingPunct="1">
              <a:lnSpc>
                <a:spcPct val="90000"/>
              </a:lnSpc>
            </a:pPr>
            <a:r>
              <a:rPr lang="en-US" altLang="en-US" sz="2000"/>
              <a:t>Section of memory where we can add and remove items in LIFO order</a:t>
            </a:r>
          </a:p>
          <a:p>
            <a:pPr lvl="1" eaLnBrk="1" hangingPunct="1">
              <a:lnSpc>
                <a:spcPct val="90000"/>
              </a:lnSpc>
            </a:pPr>
            <a:r>
              <a:rPr lang="en-US" altLang="en-US" sz="2000"/>
              <a:t>Last In, First Out</a:t>
            </a:r>
          </a:p>
          <a:p>
            <a:pPr lvl="1" eaLnBrk="1" hangingPunct="1">
              <a:lnSpc>
                <a:spcPct val="90000"/>
              </a:lnSpc>
            </a:pPr>
            <a:r>
              <a:rPr lang="en-US" altLang="en-US" sz="2000"/>
              <a:t>Envision a stack of trays in a cafeteria; the last tray placed on the stack is the first one someone takes out</a:t>
            </a:r>
          </a:p>
          <a:p>
            <a:pPr lvl="1" eaLnBrk="1" hangingPunct="1">
              <a:lnSpc>
                <a:spcPct val="90000"/>
              </a:lnSpc>
            </a:pPr>
            <a:r>
              <a:rPr lang="en-US" altLang="en-US" sz="2000"/>
              <a:t>The stack in the computer behaves the same way, but with data values</a:t>
            </a:r>
          </a:p>
          <a:p>
            <a:pPr lvl="2" eaLnBrk="1" hangingPunct="1">
              <a:lnSpc>
                <a:spcPct val="90000"/>
              </a:lnSpc>
            </a:pPr>
            <a:r>
              <a:rPr lang="en-US" altLang="en-US" sz="1800"/>
              <a:t>PUSH A	; Places A on top of stack</a:t>
            </a:r>
          </a:p>
          <a:p>
            <a:pPr lvl="2" eaLnBrk="1" hangingPunct="1">
              <a:lnSpc>
                <a:spcPct val="90000"/>
              </a:lnSpc>
            </a:pPr>
            <a:r>
              <a:rPr lang="en-US" altLang="en-US" sz="1800"/>
              <a:t>POP A	; Removes value on top of stack and puts result in A</a:t>
            </a:r>
          </a:p>
          <a:p>
            <a:pPr lvl="2" eaLnBrk="1" hangingPunct="1">
              <a:lnSpc>
                <a:spcPct val="90000"/>
              </a:lnSpc>
            </a:pPr>
            <a:r>
              <a:rPr lang="en-US" altLang="en-US" sz="1800"/>
              <a:t>ADD		; Pops top two values off stack, pushes result back 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B136CB62-12AE-B664-4EED-06210F071981}"/>
              </a:ext>
            </a:extLst>
          </p:cNvPr>
          <p:cNvSpPr>
            <a:spLocks noGrp="1" noChangeArrowheads="1"/>
          </p:cNvSpPr>
          <p:nvPr>
            <p:ph type="title"/>
          </p:nvPr>
        </p:nvSpPr>
        <p:spPr/>
        <p:txBody>
          <a:bodyPr/>
          <a:lstStyle/>
          <a:p>
            <a:pPr eaLnBrk="1" hangingPunct="1"/>
            <a:r>
              <a:rPr lang="en-US" altLang="en-US"/>
              <a:t>Stack-Based Instructions</a:t>
            </a:r>
          </a:p>
        </p:txBody>
      </p:sp>
      <p:sp>
        <p:nvSpPr>
          <p:cNvPr id="35843" name="Rectangle 3">
            <a:extLst>
              <a:ext uri="{FF2B5EF4-FFF2-40B4-BE49-F238E27FC236}">
                <a16:creationId xmlns:a16="http://schemas.microsoft.com/office/drawing/2014/main" id="{09FC7A89-10B1-D36B-C692-2C09C26B6063}"/>
              </a:ext>
            </a:extLst>
          </p:cNvPr>
          <p:cNvSpPr>
            <a:spLocks noGrp="1" noChangeArrowheads="1"/>
          </p:cNvSpPr>
          <p:nvPr>
            <p:ph type="body" idx="1"/>
          </p:nvPr>
        </p:nvSpPr>
        <p:spPr/>
        <p:txBody>
          <a:bodyPr/>
          <a:lstStyle/>
          <a:p>
            <a:pPr eaLnBrk="1" hangingPunct="1">
              <a:lnSpc>
                <a:spcPct val="80000"/>
              </a:lnSpc>
              <a:buFontTx/>
              <a:buNone/>
            </a:pPr>
            <a:r>
              <a:rPr lang="en-US" altLang="en-US" sz="2800"/>
              <a:t>	Y = (A-B) / (C + (D * E))</a:t>
            </a:r>
          </a:p>
          <a:p>
            <a:pPr lvl="1" eaLnBrk="1" hangingPunct="1">
              <a:lnSpc>
                <a:spcPct val="80000"/>
              </a:lnSpc>
            </a:pPr>
            <a:r>
              <a:rPr lang="en-US" altLang="en-US" sz="2400"/>
              <a:t>Instruction		Stack Contents (top to left)</a:t>
            </a:r>
          </a:p>
          <a:p>
            <a:pPr lvl="1" eaLnBrk="1" hangingPunct="1">
              <a:lnSpc>
                <a:spcPct val="80000"/>
              </a:lnSpc>
            </a:pPr>
            <a:r>
              <a:rPr lang="en-US" altLang="en-US" sz="2400"/>
              <a:t>PUSH B		; B </a:t>
            </a:r>
          </a:p>
          <a:p>
            <a:pPr lvl="1" eaLnBrk="1" hangingPunct="1">
              <a:lnSpc>
                <a:spcPct val="80000"/>
              </a:lnSpc>
            </a:pPr>
            <a:r>
              <a:rPr lang="en-US" altLang="en-US" sz="2400"/>
              <a:t>PUSH A		; B, A</a:t>
            </a:r>
          </a:p>
          <a:p>
            <a:pPr lvl="1" eaLnBrk="1" hangingPunct="1">
              <a:lnSpc>
                <a:spcPct val="80000"/>
              </a:lnSpc>
            </a:pPr>
            <a:r>
              <a:rPr lang="en-US" altLang="en-US" sz="2400"/>
              <a:t>SUB			; (A-B)</a:t>
            </a:r>
          </a:p>
          <a:p>
            <a:pPr lvl="1" eaLnBrk="1" hangingPunct="1">
              <a:lnSpc>
                <a:spcPct val="80000"/>
              </a:lnSpc>
            </a:pPr>
            <a:r>
              <a:rPr lang="en-US" altLang="en-US" sz="2400"/>
              <a:t>PUSH E		; (A-B), E</a:t>
            </a:r>
          </a:p>
          <a:p>
            <a:pPr lvl="1" eaLnBrk="1" hangingPunct="1">
              <a:lnSpc>
                <a:spcPct val="80000"/>
              </a:lnSpc>
            </a:pPr>
            <a:r>
              <a:rPr lang="en-US" altLang="en-US" sz="2400"/>
              <a:t>PUSH D		; (A-B), E, D</a:t>
            </a:r>
          </a:p>
          <a:p>
            <a:pPr lvl="1" eaLnBrk="1" hangingPunct="1">
              <a:lnSpc>
                <a:spcPct val="80000"/>
              </a:lnSpc>
            </a:pPr>
            <a:r>
              <a:rPr lang="en-US" altLang="en-US" sz="2400"/>
              <a:t>MUL			; (A-B), (E*D)</a:t>
            </a:r>
          </a:p>
          <a:p>
            <a:pPr lvl="1" eaLnBrk="1" hangingPunct="1">
              <a:lnSpc>
                <a:spcPct val="80000"/>
              </a:lnSpc>
            </a:pPr>
            <a:r>
              <a:rPr lang="en-US" altLang="en-US" sz="2400"/>
              <a:t>PUSH C		; (A-B), (E*D), C</a:t>
            </a:r>
          </a:p>
          <a:p>
            <a:pPr lvl="1" eaLnBrk="1" hangingPunct="1">
              <a:lnSpc>
                <a:spcPct val="80000"/>
              </a:lnSpc>
            </a:pPr>
            <a:r>
              <a:rPr lang="en-US" altLang="en-US" sz="2400"/>
              <a:t>ADD			; (A-B), (E*D+C)</a:t>
            </a:r>
          </a:p>
          <a:p>
            <a:pPr lvl="1" eaLnBrk="1" hangingPunct="1">
              <a:lnSpc>
                <a:spcPct val="80000"/>
              </a:lnSpc>
            </a:pPr>
            <a:r>
              <a:rPr lang="en-US" altLang="en-US" sz="2400"/>
              <a:t>DIV			; (A-B) / (E*D+C)</a:t>
            </a:r>
          </a:p>
          <a:p>
            <a:pPr lvl="1" eaLnBrk="1" hangingPunct="1">
              <a:lnSpc>
                <a:spcPct val="80000"/>
              </a:lnSpc>
            </a:pPr>
            <a:endParaRPr lang="en-US" altLang="en-US" sz="2400"/>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30</TotalTime>
  <Words>963</Words>
  <Application>Microsoft Office PowerPoint</Application>
  <PresentationFormat>Widescreen</PresentationFormat>
  <Paragraphs>78</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Wingdings</vt:lpstr>
      <vt:lpstr>Default Design</vt:lpstr>
      <vt:lpstr>Number of Operands</vt:lpstr>
      <vt:lpstr>Three operand instruction</vt:lpstr>
      <vt:lpstr>Two operand instruction</vt:lpstr>
      <vt:lpstr>Two Operand Instructions</vt:lpstr>
      <vt:lpstr>One Operand Instructions</vt:lpstr>
      <vt:lpstr>Zero Operand Instructions</vt:lpstr>
      <vt:lpstr>Stack-Based Instructions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 of Operands</dc:title>
  <dc:creator>katalihwa Mustapha</dc:creator>
  <cp:lastModifiedBy>katalihwa Mustapha</cp:lastModifiedBy>
  <cp:revision>1</cp:revision>
  <dcterms:created xsi:type="dcterms:W3CDTF">2024-04-15T12:55:03Z</dcterms:created>
  <dcterms:modified xsi:type="dcterms:W3CDTF">2024-04-15T13:25:46Z</dcterms:modified>
</cp:coreProperties>
</file>