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97" r:id="rId2"/>
    <p:sldId id="257" r:id="rId3"/>
    <p:sldId id="296" r:id="rId4"/>
    <p:sldId id="259" r:id="rId5"/>
    <p:sldId id="260" r:id="rId6"/>
    <p:sldId id="261" r:id="rId7"/>
    <p:sldId id="262" r:id="rId8"/>
    <p:sldId id="294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5" r:id="rId35"/>
    <p:sldId id="290" r:id="rId36"/>
    <p:sldId id="291" r:id="rId37"/>
    <p:sldId id="292" r:id="rId3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8C775E-4C3B-493D-B54D-E00C2633CEB3}" type="datetimeFigureOut">
              <a:rPr lang="en-US" smtClean="0"/>
              <a:t>23-Feb-19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A2C01-984C-4919-ABA5-0F575EB3DC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4A2C01-984C-4919-ABA5-0F575EB3DC78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en.wikipedia.org/wiki/Optical_disc" TargetMode="External"/><Relationship Id="rId4" Type="http://schemas.openxmlformats.org/officeDocument/2006/relationships/hyperlink" Target="http://en.wikipedia.org/wiki/Flash_memory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en.wikipedia.org/wiki/Magnetic_tape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en.wikipedia.org/wiki/Magnetic_disk" TargetMode="Externa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1371600"/>
            <a:ext cx="792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/>
              <a:t>MEMORY ORGANISATION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76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545592" y="556260"/>
            <a:ext cx="5378196" cy="5486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1524762" y="1844802"/>
            <a:ext cx="6095999" cy="4699"/>
          </a:xfrm>
          <a:custGeom>
            <a:avLst/>
            <a:gdLst/>
            <a:ahLst/>
            <a:cxnLst/>
            <a:rect l="l" t="t" r="r" b="b"/>
            <a:pathLst>
              <a:path w="6095999" h="4699">
                <a:moveTo>
                  <a:pt x="0" y="4699"/>
                </a:moveTo>
                <a:lnTo>
                  <a:pt x="6095999" y="4699"/>
                </a:lnTo>
                <a:lnTo>
                  <a:pt x="6095999" y="0"/>
                </a:lnTo>
                <a:lnTo>
                  <a:pt x="0" y="0"/>
                </a:lnTo>
                <a:lnTo>
                  <a:pt x="0" y="4699"/>
                </a:lnTo>
                <a:close/>
              </a:path>
            </a:pathLst>
          </a:custGeom>
          <a:solidFill>
            <a:srgbClr val="F8E2CA">
              <a:alpha val="902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1524762" y="2268347"/>
            <a:ext cx="6095999" cy="4699"/>
          </a:xfrm>
          <a:custGeom>
            <a:avLst/>
            <a:gdLst/>
            <a:ahLst/>
            <a:cxnLst/>
            <a:rect l="l" t="t" r="r" b="b"/>
            <a:pathLst>
              <a:path w="6095999" h="4699">
                <a:moveTo>
                  <a:pt x="0" y="4699"/>
                </a:moveTo>
                <a:lnTo>
                  <a:pt x="6095999" y="4699"/>
                </a:lnTo>
                <a:lnTo>
                  <a:pt x="6095999" y="0"/>
                </a:lnTo>
                <a:lnTo>
                  <a:pt x="0" y="0"/>
                </a:lnTo>
                <a:lnTo>
                  <a:pt x="0" y="4699"/>
                </a:lnTo>
                <a:close/>
              </a:path>
            </a:pathLst>
          </a:custGeom>
          <a:solidFill>
            <a:srgbClr val="F8E2CA">
              <a:alpha val="902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1501140" y="1821179"/>
            <a:ext cx="6143244" cy="475488"/>
          </a:xfrm>
          <a:custGeom>
            <a:avLst/>
            <a:gdLst/>
            <a:ahLst/>
            <a:cxnLst/>
            <a:rect l="l" t="t" r="r" b="b"/>
            <a:pathLst>
              <a:path w="6143244" h="475488">
                <a:moveTo>
                  <a:pt x="47243" y="428244"/>
                </a:moveTo>
                <a:lnTo>
                  <a:pt x="37846" y="437642"/>
                </a:lnTo>
                <a:lnTo>
                  <a:pt x="6105398" y="437642"/>
                </a:lnTo>
                <a:lnTo>
                  <a:pt x="47243" y="428244"/>
                </a:lnTo>
                <a:close/>
              </a:path>
              <a:path w="6143244" h="475488">
                <a:moveTo>
                  <a:pt x="1706" y="460723"/>
                </a:moveTo>
                <a:lnTo>
                  <a:pt x="10244" y="471357"/>
                </a:lnTo>
                <a:lnTo>
                  <a:pt x="23621" y="475488"/>
                </a:lnTo>
                <a:lnTo>
                  <a:pt x="6119621" y="475488"/>
                </a:lnTo>
                <a:lnTo>
                  <a:pt x="28321" y="447167"/>
                </a:lnTo>
                <a:lnTo>
                  <a:pt x="28321" y="28321"/>
                </a:lnTo>
                <a:lnTo>
                  <a:pt x="6114923" y="28321"/>
                </a:lnTo>
                <a:lnTo>
                  <a:pt x="6119621" y="0"/>
                </a:lnTo>
                <a:lnTo>
                  <a:pt x="23621" y="0"/>
                </a:lnTo>
                <a:lnTo>
                  <a:pt x="14764" y="1706"/>
                </a:lnTo>
                <a:lnTo>
                  <a:pt x="4130" y="10244"/>
                </a:lnTo>
                <a:lnTo>
                  <a:pt x="0" y="23622"/>
                </a:lnTo>
                <a:lnTo>
                  <a:pt x="0" y="451866"/>
                </a:lnTo>
                <a:lnTo>
                  <a:pt x="1706" y="460723"/>
                </a:lnTo>
                <a:close/>
              </a:path>
              <a:path w="6143244" h="475488">
                <a:moveTo>
                  <a:pt x="6114923" y="28321"/>
                </a:moveTo>
                <a:lnTo>
                  <a:pt x="6114923" y="447167"/>
                </a:lnTo>
                <a:lnTo>
                  <a:pt x="28321" y="447167"/>
                </a:lnTo>
                <a:lnTo>
                  <a:pt x="6119621" y="475488"/>
                </a:lnTo>
                <a:lnTo>
                  <a:pt x="6128479" y="473781"/>
                </a:lnTo>
                <a:lnTo>
                  <a:pt x="6139113" y="465243"/>
                </a:lnTo>
                <a:lnTo>
                  <a:pt x="6143244" y="451866"/>
                </a:lnTo>
                <a:lnTo>
                  <a:pt x="6143244" y="23622"/>
                </a:lnTo>
                <a:lnTo>
                  <a:pt x="6141537" y="14764"/>
                </a:lnTo>
                <a:lnTo>
                  <a:pt x="6132999" y="4130"/>
                </a:lnTo>
                <a:lnTo>
                  <a:pt x="6119621" y="0"/>
                </a:lnTo>
                <a:lnTo>
                  <a:pt x="6114923" y="28321"/>
                </a:lnTo>
                <a:close/>
              </a:path>
              <a:path w="6143244" h="475488">
                <a:moveTo>
                  <a:pt x="37846" y="437642"/>
                </a:moveTo>
                <a:lnTo>
                  <a:pt x="47243" y="428244"/>
                </a:lnTo>
                <a:lnTo>
                  <a:pt x="47243" y="47244"/>
                </a:lnTo>
                <a:lnTo>
                  <a:pt x="6096000" y="47244"/>
                </a:lnTo>
                <a:lnTo>
                  <a:pt x="6096000" y="428244"/>
                </a:lnTo>
                <a:lnTo>
                  <a:pt x="47243" y="428244"/>
                </a:lnTo>
                <a:lnTo>
                  <a:pt x="6105398" y="437642"/>
                </a:lnTo>
                <a:lnTo>
                  <a:pt x="6105398" y="37846"/>
                </a:lnTo>
                <a:lnTo>
                  <a:pt x="37846" y="37846"/>
                </a:lnTo>
                <a:lnTo>
                  <a:pt x="37846" y="437642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529461" y="1849501"/>
            <a:ext cx="6086602" cy="9525"/>
          </a:xfrm>
          <a:custGeom>
            <a:avLst/>
            <a:gdLst/>
            <a:ahLst/>
            <a:cxnLst/>
            <a:rect l="l" t="t" r="r" b="b"/>
            <a:pathLst>
              <a:path w="6086602" h="9525">
                <a:moveTo>
                  <a:pt x="0" y="9525"/>
                </a:moveTo>
                <a:lnTo>
                  <a:pt x="6086602" y="9525"/>
                </a:lnTo>
                <a:lnTo>
                  <a:pt x="6086602" y="0"/>
                </a:lnTo>
                <a:lnTo>
                  <a:pt x="0" y="0"/>
                </a:lnTo>
                <a:lnTo>
                  <a:pt x="0" y="9525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1529461" y="2258822"/>
            <a:ext cx="6086602" cy="9525"/>
          </a:xfrm>
          <a:custGeom>
            <a:avLst/>
            <a:gdLst/>
            <a:ahLst/>
            <a:cxnLst/>
            <a:rect l="l" t="t" r="r" b="b"/>
            <a:pathLst>
              <a:path w="6086602" h="9525">
                <a:moveTo>
                  <a:pt x="0" y="9525"/>
                </a:moveTo>
                <a:lnTo>
                  <a:pt x="6086602" y="9525"/>
                </a:lnTo>
                <a:lnTo>
                  <a:pt x="6086602" y="0"/>
                </a:lnTo>
                <a:lnTo>
                  <a:pt x="0" y="0"/>
                </a:lnTo>
                <a:lnTo>
                  <a:pt x="0" y="9525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1538986" y="1859026"/>
            <a:ext cx="6067552" cy="9398"/>
          </a:xfrm>
          <a:custGeom>
            <a:avLst/>
            <a:gdLst/>
            <a:ahLst/>
            <a:cxnLst/>
            <a:rect l="l" t="t" r="r" b="b"/>
            <a:pathLst>
              <a:path w="6067552" h="9398">
                <a:moveTo>
                  <a:pt x="0" y="9398"/>
                </a:moveTo>
                <a:lnTo>
                  <a:pt x="6067552" y="9398"/>
                </a:lnTo>
                <a:lnTo>
                  <a:pt x="6067552" y="0"/>
                </a:lnTo>
                <a:lnTo>
                  <a:pt x="0" y="0"/>
                </a:lnTo>
                <a:lnTo>
                  <a:pt x="0" y="9398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1538986" y="2249424"/>
            <a:ext cx="6067552" cy="9398"/>
          </a:xfrm>
          <a:custGeom>
            <a:avLst/>
            <a:gdLst/>
            <a:ahLst/>
            <a:cxnLst/>
            <a:rect l="l" t="t" r="r" b="b"/>
            <a:pathLst>
              <a:path w="6067552" h="9398">
                <a:moveTo>
                  <a:pt x="0" y="9398"/>
                </a:moveTo>
                <a:lnTo>
                  <a:pt x="6067552" y="9398"/>
                </a:lnTo>
                <a:lnTo>
                  <a:pt x="6067552" y="0"/>
                </a:lnTo>
                <a:lnTo>
                  <a:pt x="0" y="0"/>
                </a:lnTo>
                <a:lnTo>
                  <a:pt x="0" y="9398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548384" y="1868424"/>
            <a:ext cx="6048756" cy="381000"/>
          </a:xfrm>
          <a:custGeom>
            <a:avLst/>
            <a:gdLst/>
            <a:ahLst/>
            <a:cxnLst/>
            <a:rect l="l" t="t" r="r" b="b"/>
            <a:pathLst>
              <a:path w="6048756" h="381000">
                <a:moveTo>
                  <a:pt x="0" y="381000"/>
                </a:moveTo>
                <a:lnTo>
                  <a:pt x="6048756" y="381000"/>
                </a:lnTo>
                <a:lnTo>
                  <a:pt x="6048756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829562" y="1594865"/>
            <a:ext cx="4267200" cy="501396"/>
          </a:xfrm>
          <a:custGeom>
            <a:avLst/>
            <a:gdLst/>
            <a:ahLst/>
            <a:cxnLst/>
            <a:rect l="l" t="t" r="r" b="b"/>
            <a:pathLst>
              <a:path w="4267200" h="501396">
                <a:moveTo>
                  <a:pt x="0" y="83566"/>
                </a:moveTo>
                <a:lnTo>
                  <a:pt x="120" y="422341"/>
                </a:lnTo>
                <a:lnTo>
                  <a:pt x="12890" y="462396"/>
                </a:lnTo>
                <a:lnTo>
                  <a:pt x="42637" y="490680"/>
                </a:lnTo>
                <a:lnTo>
                  <a:pt x="83565" y="501396"/>
                </a:lnTo>
                <a:lnTo>
                  <a:pt x="4188145" y="501275"/>
                </a:lnTo>
                <a:lnTo>
                  <a:pt x="4228200" y="488505"/>
                </a:lnTo>
                <a:lnTo>
                  <a:pt x="4256484" y="458758"/>
                </a:lnTo>
                <a:lnTo>
                  <a:pt x="4267200" y="417830"/>
                </a:lnTo>
                <a:lnTo>
                  <a:pt x="4267079" y="79054"/>
                </a:lnTo>
                <a:lnTo>
                  <a:pt x="4254309" y="38999"/>
                </a:lnTo>
                <a:lnTo>
                  <a:pt x="4224562" y="10715"/>
                </a:lnTo>
                <a:lnTo>
                  <a:pt x="4183634" y="0"/>
                </a:lnTo>
                <a:lnTo>
                  <a:pt x="79054" y="120"/>
                </a:lnTo>
                <a:lnTo>
                  <a:pt x="38999" y="12890"/>
                </a:lnTo>
                <a:lnTo>
                  <a:pt x="10715" y="42637"/>
                </a:lnTo>
                <a:lnTo>
                  <a:pt x="0" y="835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805939" y="2029333"/>
            <a:ext cx="57658" cy="530859"/>
          </a:xfrm>
          <a:custGeom>
            <a:avLst/>
            <a:gdLst/>
            <a:ahLst/>
            <a:cxnLst/>
            <a:rect l="l" t="t" r="r" b="b"/>
            <a:pathLst>
              <a:path w="57658" h="530859">
                <a:moveTo>
                  <a:pt x="53086" y="26924"/>
                </a:moveTo>
                <a:lnTo>
                  <a:pt x="57658" y="32003"/>
                </a:lnTo>
                <a:lnTo>
                  <a:pt x="53975" y="11049"/>
                </a:lnTo>
                <a:lnTo>
                  <a:pt x="51435" y="5587"/>
                </a:lnTo>
                <a:lnTo>
                  <a:pt x="49530" y="0"/>
                </a:lnTo>
                <a:lnTo>
                  <a:pt x="49276" y="21716"/>
                </a:lnTo>
                <a:lnTo>
                  <a:pt x="53086" y="26924"/>
                </a:lnTo>
                <a:close/>
              </a:path>
              <a:path w="57658" h="530859">
                <a:moveTo>
                  <a:pt x="37846" y="-350900"/>
                </a:moveTo>
                <a:lnTo>
                  <a:pt x="37718" y="-17399"/>
                </a:lnTo>
                <a:lnTo>
                  <a:pt x="39116" y="-3175"/>
                </a:lnTo>
                <a:lnTo>
                  <a:pt x="42926" y="9778"/>
                </a:lnTo>
                <a:lnTo>
                  <a:pt x="49276" y="21716"/>
                </a:lnTo>
                <a:lnTo>
                  <a:pt x="49530" y="0"/>
                </a:lnTo>
                <a:lnTo>
                  <a:pt x="48260" y="-5461"/>
                </a:lnTo>
                <a:lnTo>
                  <a:pt x="47498" y="-11557"/>
                </a:lnTo>
                <a:lnTo>
                  <a:pt x="47243" y="-17907"/>
                </a:lnTo>
                <a:lnTo>
                  <a:pt x="47243" y="-350900"/>
                </a:lnTo>
                <a:lnTo>
                  <a:pt x="61722" y="-390144"/>
                </a:lnTo>
                <a:lnTo>
                  <a:pt x="96139" y="-409829"/>
                </a:lnTo>
                <a:lnTo>
                  <a:pt x="108585" y="-410845"/>
                </a:lnTo>
                <a:lnTo>
                  <a:pt x="4207256" y="-410845"/>
                </a:lnTo>
                <a:lnTo>
                  <a:pt x="4246245" y="-396494"/>
                </a:lnTo>
                <a:lnTo>
                  <a:pt x="4266184" y="-361950"/>
                </a:lnTo>
                <a:lnTo>
                  <a:pt x="4267200" y="-349504"/>
                </a:lnTo>
                <a:lnTo>
                  <a:pt x="4267200" y="-16637"/>
                </a:lnTo>
                <a:lnTo>
                  <a:pt x="4252849" y="22478"/>
                </a:lnTo>
                <a:lnTo>
                  <a:pt x="4218432" y="42290"/>
                </a:lnTo>
                <a:lnTo>
                  <a:pt x="4205986" y="43306"/>
                </a:lnTo>
                <a:lnTo>
                  <a:pt x="107187" y="43306"/>
                </a:lnTo>
                <a:lnTo>
                  <a:pt x="67945" y="28828"/>
                </a:lnTo>
                <a:lnTo>
                  <a:pt x="53975" y="11049"/>
                </a:lnTo>
                <a:lnTo>
                  <a:pt x="57658" y="32003"/>
                </a:lnTo>
                <a:lnTo>
                  <a:pt x="92456" y="51180"/>
                </a:lnTo>
                <a:lnTo>
                  <a:pt x="4206494" y="52831"/>
                </a:lnTo>
                <a:lnTo>
                  <a:pt x="4213733" y="52450"/>
                </a:lnTo>
                <a:lnTo>
                  <a:pt x="4250817" y="37464"/>
                </a:lnTo>
                <a:lnTo>
                  <a:pt x="4273296" y="4825"/>
                </a:lnTo>
                <a:lnTo>
                  <a:pt x="4276725" y="-350012"/>
                </a:lnTo>
                <a:lnTo>
                  <a:pt x="4276344" y="-357378"/>
                </a:lnTo>
                <a:lnTo>
                  <a:pt x="4261358" y="-394462"/>
                </a:lnTo>
                <a:lnTo>
                  <a:pt x="4228719" y="-416941"/>
                </a:lnTo>
                <a:lnTo>
                  <a:pt x="108077" y="-420370"/>
                </a:lnTo>
                <a:lnTo>
                  <a:pt x="100711" y="-419988"/>
                </a:lnTo>
                <a:lnTo>
                  <a:pt x="63627" y="-405003"/>
                </a:lnTo>
                <a:lnTo>
                  <a:pt x="41148" y="-372237"/>
                </a:lnTo>
                <a:lnTo>
                  <a:pt x="38227" y="-358648"/>
                </a:lnTo>
                <a:lnTo>
                  <a:pt x="37846" y="-350900"/>
                </a:lnTo>
                <a:close/>
              </a:path>
              <a:path w="57658" h="530859">
                <a:moveTo>
                  <a:pt x="56768" y="44068"/>
                </a:moveTo>
                <a:lnTo>
                  <a:pt x="51308" y="38988"/>
                </a:lnTo>
                <a:lnTo>
                  <a:pt x="46101" y="33400"/>
                </a:lnTo>
                <a:lnTo>
                  <a:pt x="48133" y="72770"/>
                </a:lnTo>
                <a:lnTo>
                  <a:pt x="86868" y="88518"/>
                </a:lnTo>
                <a:lnTo>
                  <a:pt x="107187" y="90550"/>
                </a:lnTo>
                <a:lnTo>
                  <a:pt x="4208653" y="90550"/>
                </a:lnTo>
                <a:lnTo>
                  <a:pt x="4250182" y="81533"/>
                </a:lnTo>
                <a:lnTo>
                  <a:pt x="4283710" y="58419"/>
                </a:lnTo>
                <a:lnTo>
                  <a:pt x="4306443" y="24129"/>
                </a:lnTo>
                <a:lnTo>
                  <a:pt x="4314444" y="-16637"/>
                </a:lnTo>
                <a:lnTo>
                  <a:pt x="4314444" y="-352171"/>
                </a:lnTo>
                <a:lnTo>
                  <a:pt x="4305554" y="-393700"/>
                </a:lnTo>
                <a:lnTo>
                  <a:pt x="4282313" y="-427355"/>
                </a:lnTo>
                <a:lnTo>
                  <a:pt x="4248023" y="-450088"/>
                </a:lnTo>
                <a:lnTo>
                  <a:pt x="4207256" y="-458088"/>
                </a:lnTo>
                <a:lnTo>
                  <a:pt x="105918" y="-458088"/>
                </a:lnTo>
                <a:lnTo>
                  <a:pt x="64389" y="-449199"/>
                </a:lnTo>
                <a:lnTo>
                  <a:pt x="30734" y="-425958"/>
                </a:lnTo>
                <a:lnTo>
                  <a:pt x="8001" y="-391668"/>
                </a:lnTo>
                <a:lnTo>
                  <a:pt x="0" y="-350900"/>
                </a:lnTo>
                <a:lnTo>
                  <a:pt x="0" y="-15240"/>
                </a:lnTo>
                <a:lnTo>
                  <a:pt x="9017" y="26288"/>
                </a:lnTo>
                <a:lnTo>
                  <a:pt x="32131" y="59816"/>
                </a:lnTo>
                <a:lnTo>
                  <a:pt x="31750" y="6603"/>
                </a:lnTo>
                <a:lnTo>
                  <a:pt x="29972" y="-888"/>
                </a:lnTo>
                <a:lnTo>
                  <a:pt x="28829" y="-8762"/>
                </a:lnTo>
                <a:lnTo>
                  <a:pt x="28321" y="-16891"/>
                </a:lnTo>
                <a:lnTo>
                  <a:pt x="28321" y="-350900"/>
                </a:lnTo>
                <a:lnTo>
                  <a:pt x="37973" y="-388747"/>
                </a:lnTo>
                <a:lnTo>
                  <a:pt x="69850" y="-420370"/>
                </a:lnTo>
                <a:lnTo>
                  <a:pt x="107568" y="-429768"/>
                </a:lnTo>
                <a:lnTo>
                  <a:pt x="4207256" y="-429768"/>
                </a:lnTo>
                <a:lnTo>
                  <a:pt x="4244975" y="-420116"/>
                </a:lnTo>
                <a:lnTo>
                  <a:pt x="4276725" y="-388238"/>
                </a:lnTo>
                <a:lnTo>
                  <a:pt x="4286123" y="-350520"/>
                </a:lnTo>
                <a:lnTo>
                  <a:pt x="4286123" y="-16637"/>
                </a:lnTo>
                <a:lnTo>
                  <a:pt x="4276471" y="21081"/>
                </a:lnTo>
                <a:lnTo>
                  <a:pt x="4244721" y="52831"/>
                </a:lnTo>
                <a:lnTo>
                  <a:pt x="4207002" y="62229"/>
                </a:lnTo>
                <a:lnTo>
                  <a:pt x="107187" y="62229"/>
                </a:lnTo>
                <a:lnTo>
                  <a:pt x="69342" y="52577"/>
                </a:lnTo>
                <a:lnTo>
                  <a:pt x="56768" y="44068"/>
                </a:lnTo>
                <a:close/>
              </a:path>
              <a:path w="57658" h="530859">
                <a:moveTo>
                  <a:pt x="41656" y="27304"/>
                </a:moveTo>
                <a:lnTo>
                  <a:pt x="37718" y="20827"/>
                </a:lnTo>
                <a:lnTo>
                  <a:pt x="34417" y="13842"/>
                </a:lnTo>
                <a:lnTo>
                  <a:pt x="31750" y="6603"/>
                </a:lnTo>
                <a:lnTo>
                  <a:pt x="32131" y="59816"/>
                </a:lnTo>
                <a:lnTo>
                  <a:pt x="40005" y="66928"/>
                </a:lnTo>
                <a:lnTo>
                  <a:pt x="48133" y="72770"/>
                </a:lnTo>
                <a:lnTo>
                  <a:pt x="46101" y="33400"/>
                </a:lnTo>
                <a:lnTo>
                  <a:pt x="41656" y="27304"/>
                </a:lnTo>
                <a:close/>
              </a:path>
            </a:pathLst>
          </a:custGeom>
          <a:solidFill>
            <a:srgbClr val="D99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1524762" y="2615946"/>
            <a:ext cx="6095999" cy="4699"/>
          </a:xfrm>
          <a:custGeom>
            <a:avLst/>
            <a:gdLst/>
            <a:ahLst/>
            <a:cxnLst/>
            <a:rect l="l" t="t" r="r" b="b"/>
            <a:pathLst>
              <a:path w="6095999" h="4699">
                <a:moveTo>
                  <a:pt x="0" y="4699"/>
                </a:moveTo>
                <a:lnTo>
                  <a:pt x="6095999" y="4699"/>
                </a:lnTo>
                <a:lnTo>
                  <a:pt x="6095999" y="0"/>
                </a:lnTo>
                <a:lnTo>
                  <a:pt x="0" y="0"/>
                </a:lnTo>
                <a:lnTo>
                  <a:pt x="0" y="4699"/>
                </a:lnTo>
                <a:close/>
              </a:path>
            </a:pathLst>
          </a:custGeom>
          <a:solidFill>
            <a:srgbClr val="F8E2CA">
              <a:alpha val="902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1524762" y="3039491"/>
            <a:ext cx="6095999" cy="4699"/>
          </a:xfrm>
          <a:custGeom>
            <a:avLst/>
            <a:gdLst/>
            <a:ahLst/>
            <a:cxnLst/>
            <a:rect l="l" t="t" r="r" b="b"/>
            <a:pathLst>
              <a:path w="6095999" h="4699">
                <a:moveTo>
                  <a:pt x="0" y="4699"/>
                </a:moveTo>
                <a:lnTo>
                  <a:pt x="6095999" y="4699"/>
                </a:lnTo>
                <a:lnTo>
                  <a:pt x="6095999" y="0"/>
                </a:lnTo>
                <a:lnTo>
                  <a:pt x="0" y="0"/>
                </a:lnTo>
                <a:lnTo>
                  <a:pt x="0" y="4699"/>
                </a:lnTo>
                <a:close/>
              </a:path>
            </a:pathLst>
          </a:custGeom>
          <a:solidFill>
            <a:srgbClr val="F8E2CA">
              <a:alpha val="902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1501140" y="2592324"/>
            <a:ext cx="6143244" cy="475488"/>
          </a:xfrm>
          <a:custGeom>
            <a:avLst/>
            <a:gdLst/>
            <a:ahLst/>
            <a:cxnLst/>
            <a:rect l="l" t="t" r="r" b="b"/>
            <a:pathLst>
              <a:path w="6143244" h="475488">
                <a:moveTo>
                  <a:pt x="47243" y="428243"/>
                </a:moveTo>
                <a:lnTo>
                  <a:pt x="37846" y="437641"/>
                </a:lnTo>
                <a:lnTo>
                  <a:pt x="6105398" y="437641"/>
                </a:lnTo>
                <a:lnTo>
                  <a:pt x="47243" y="428243"/>
                </a:lnTo>
                <a:close/>
              </a:path>
              <a:path w="6143244" h="475488">
                <a:moveTo>
                  <a:pt x="1706" y="460723"/>
                </a:moveTo>
                <a:lnTo>
                  <a:pt x="10244" y="471357"/>
                </a:lnTo>
                <a:lnTo>
                  <a:pt x="23621" y="475488"/>
                </a:lnTo>
                <a:lnTo>
                  <a:pt x="6119621" y="475488"/>
                </a:lnTo>
                <a:lnTo>
                  <a:pt x="28321" y="447166"/>
                </a:lnTo>
                <a:lnTo>
                  <a:pt x="28321" y="28321"/>
                </a:lnTo>
                <a:lnTo>
                  <a:pt x="6114923" y="28321"/>
                </a:lnTo>
                <a:lnTo>
                  <a:pt x="6119621" y="0"/>
                </a:lnTo>
                <a:lnTo>
                  <a:pt x="23621" y="0"/>
                </a:lnTo>
                <a:lnTo>
                  <a:pt x="14764" y="1706"/>
                </a:lnTo>
                <a:lnTo>
                  <a:pt x="4130" y="10244"/>
                </a:lnTo>
                <a:lnTo>
                  <a:pt x="0" y="23622"/>
                </a:lnTo>
                <a:lnTo>
                  <a:pt x="0" y="451865"/>
                </a:lnTo>
                <a:lnTo>
                  <a:pt x="1706" y="460723"/>
                </a:lnTo>
                <a:close/>
              </a:path>
              <a:path w="6143244" h="475488">
                <a:moveTo>
                  <a:pt x="6114923" y="28321"/>
                </a:moveTo>
                <a:lnTo>
                  <a:pt x="6114923" y="447166"/>
                </a:lnTo>
                <a:lnTo>
                  <a:pt x="28321" y="447166"/>
                </a:lnTo>
                <a:lnTo>
                  <a:pt x="6119621" y="475488"/>
                </a:lnTo>
                <a:lnTo>
                  <a:pt x="6128479" y="473781"/>
                </a:lnTo>
                <a:lnTo>
                  <a:pt x="6139113" y="465243"/>
                </a:lnTo>
                <a:lnTo>
                  <a:pt x="6143244" y="451865"/>
                </a:lnTo>
                <a:lnTo>
                  <a:pt x="6143244" y="23622"/>
                </a:lnTo>
                <a:lnTo>
                  <a:pt x="6141537" y="14764"/>
                </a:lnTo>
                <a:lnTo>
                  <a:pt x="6132999" y="4130"/>
                </a:lnTo>
                <a:lnTo>
                  <a:pt x="6119621" y="0"/>
                </a:lnTo>
                <a:lnTo>
                  <a:pt x="6114923" y="28321"/>
                </a:lnTo>
                <a:close/>
              </a:path>
              <a:path w="6143244" h="475488">
                <a:moveTo>
                  <a:pt x="37846" y="437641"/>
                </a:moveTo>
                <a:lnTo>
                  <a:pt x="47243" y="428243"/>
                </a:lnTo>
                <a:lnTo>
                  <a:pt x="47243" y="47243"/>
                </a:lnTo>
                <a:lnTo>
                  <a:pt x="6096000" y="47243"/>
                </a:lnTo>
                <a:lnTo>
                  <a:pt x="6096000" y="428243"/>
                </a:lnTo>
                <a:lnTo>
                  <a:pt x="47243" y="428243"/>
                </a:lnTo>
                <a:lnTo>
                  <a:pt x="6105398" y="437641"/>
                </a:lnTo>
                <a:lnTo>
                  <a:pt x="6105398" y="37846"/>
                </a:lnTo>
                <a:lnTo>
                  <a:pt x="37846" y="37846"/>
                </a:lnTo>
                <a:lnTo>
                  <a:pt x="37846" y="437641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1529461" y="2620645"/>
            <a:ext cx="6086602" cy="9525"/>
          </a:xfrm>
          <a:custGeom>
            <a:avLst/>
            <a:gdLst/>
            <a:ahLst/>
            <a:cxnLst/>
            <a:rect l="l" t="t" r="r" b="b"/>
            <a:pathLst>
              <a:path w="6086602" h="9525">
                <a:moveTo>
                  <a:pt x="0" y="9525"/>
                </a:moveTo>
                <a:lnTo>
                  <a:pt x="6086602" y="9525"/>
                </a:lnTo>
                <a:lnTo>
                  <a:pt x="6086602" y="0"/>
                </a:lnTo>
                <a:lnTo>
                  <a:pt x="0" y="0"/>
                </a:lnTo>
                <a:lnTo>
                  <a:pt x="0" y="9525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1529461" y="3029966"/>
            <a:ext cx="6086602" cy="9525"/>
          </a:xfrm>
          <a:custGeom>
            <a:avLst/>
            <a:gdLst/>
            <a:ahLst/>
            <a:cxnLst/>
            <a:rect l="l" t="t" r="r" b="b"/>
            <a:pathLst>
              <a:path w="6086602" h="9525">
                <a:moveTo>
                  <a:pt x="0" y="9525"/>
                </a:moveTo>
                <a:lnTo>
                  <a:pt x="6086602" y="9525"/>
                </a:lnTo>
                <a:lnTo>
                  <a:pt x="6086602" y="0"/>
                </a:lnTo>
                <a:lnTo>
                  <a:pt x="0" y="0"/>
                </a:lnTo>
                <a:lnTo>
                  <a:pt x="0" y="9525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1538986" y="2630170"/>
            <a:ext cx="6067552" cy="9397"/>
          </a:xfrm>
          <a:custGeom>
            <a:avLst/>
            <a:gdLst/>
            <a:ahLst/>
            <a:cxnLst/>
            <a:rect l="l" t="t" r="r" b="b"/>
            <a:pathLst>
              <a:path w="6067552" h="9397">
                <a:moveTo>
                  <a:pt x="0" y="9397"/>
                </a:moveTo>
                <a:lnTo>
                  <a:pt x="6067552" y="9397"/>
                </a:lnTo>
                <a:lnTo>
                  <a:pt x="6067552" y="0"/>
                </a:lnTo>
                <a:lnTo>
                  <a:pt x="0" y="0"/>
                </a:lnTo>
                <a:lnTo>
                  <a:pt x="0" y="9397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1538986" y="3020567"/>
            <a:ext cx="6067552" cy="9398"/>
          </a:xfrm>
          <a:custGeom>
            <a:avLst/>
            <a:gdLst/>
            <a:ahLst/>
            <a:cxnLst/>
            <a:rect l="l" t="t" r="r" b="b"/>
            <a:pathLst>
              <a:path w="6067552" h="9398">
                <a:moveTo>
                  <a:pt x="0" y="9398"/>
                </a:moveTo>
                <a:lnTo>
                  <a:pt x="6067552" y="9398"/>
                </a:lnTo>
                <a:lnTo>
                  <a:pt x="6067552" y="0"/>
                </a:lnTo>
                <a:lnTo>
                  <a:pt x="0" y="0"/>
                </a:lnTo>
                <a:lnTo>
                  <a:pt x="0" y="9398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548384" y="2639567"/>
            <a:ext cx="6048756" cy="381000"/>
          </a:xfrm>
          <a:custGeom>
            <a:avLst/>
            <a:gdLst/>
            <a:ahLst/>
            <a:cxnLst/>
            <a:rect l="l" t="t" r="r" b="b"/>
            <a:pathLst>
              <a:path w="6048756" h="381000">
                <a:moveTo>
                  <a:pt x="0" y="381000"/>
                </a:moveTo>
                <a:lnTo>
                  <a:pt x="6048756" y="381000"/>
                </a:lnTo>
                <a:lnTo>
                  <a:pt x="6048756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829562" y="2366010"/>
            <a:ext cx="4267200" cy="501395"/>
          </a:xfrm>
          <a:custGeom>
            <a:avLst/>
            <a:gdLst/>
            <a:ahLst/>
            <a:cxnLst/>
            <a:rect l="l" t="t" r="r" b="b"/>
            <a:pathLst>
              <a:path w="4267200" h="501395">
                <a:moveTo>
                  <a:pt x="0" y="83565"/>
                </a:moveTo>
                <a:lnTo>
                  <a:pt x="120" y="422341"/>
                </a:lnTo>
                <a:lnTo>
                  <a:pt x="12890" y="462396"/>
                </a:lnTo>
                <a:lnTo>
                  <a:pt x="42637" y="490680"/>
                </a:lnTo>
                <a:lnTo>
                  <a:pt x="83565" y="501395"/>
                </a:lnTo>
                <a:lnTo>
                  <a:pt x="4188145" y="501275"/>
                </a:lnTo>
                <a:lnTo>
                  <a:pt x="4228200" y="488505"/>
                </a:lnTo>
                <a:lnTo>
                  <a:pt x="4256484" y="458758"/>
                </a:lnTo>
                <a:lnTo>
                  <a:pt x="4267200" y="417829"/>
                </a:lnTo>
                <a:lnTo>
                  <a:pt x="4267079" y="79054"/>
                </a:lnTo>
                <a:lnTo>
                  <a:pt x="4254309" y="38999"/>
                </a:lnTo>
                <a:lnTo>
                  <a:pt x="4224562" y="10715"/>
                </a:lnTo>
                <a:lnTo>
                  <a:pt x="4183634" y="0"/>
                </a:lnTo>
                <a:lnTo>
                  <a:pt x="79054" y="120"/>
                </a:lnTo>
                <a:lnTo>
                  <a:pt x="38999" y="12890"/>
                </a:lnTo>
                <a:lnTo>
                  <a:pt x="10715" y="42637"/>
                </a:lnTo>
                <a:lnTo>
                  <a:pt x="0" y="835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805939" y="2800477"/>
            <a:ext cx="57658" cy="530860"/>
          </a:xfrm>
          <a:custGeom>
            <a:avLst/>
            <a:gdLst/>
            <a:ahLst/>
            <a:cxnLst/>
            <a:rect l="l" t="t" r="r" b="b"/>
            <a:pathLst>
              <a:path w="57658" h="530860">
                <a:moveTo>
                  <a:pt x="53086" y="26924"/>
                </a:moveTo>
                <a:lnTo>
                  <a:pt x="57658" y="32003"/>
                </a:lnTo>
                <a:lnTo>
                  <a:pt x="53975" y="11049"/>
                </a:lnTo>
                <a:lnTo>
                  <a:pt x="51435" y="5587"/>
                </a:lnTo>
                <a:lnTo>
                  <a:pt x="49530" y="0"/>
                </a:lnTo>
                <a:lnTo>
                  <a:pt x="49276" y="21717"/>
                </a:lnTo>
                <a:lnTo>
                  <a:pt x="53086" y="26924"/>
                </a:lnTo>
                <a:close/>
              </a:path>
              <a:path w="57658" h="530860">
                <a:moveTo>
                  <a:pt x="37846" y="-350900"/>
                </a:moveTo>
                <a:lnTo>
                  <a:pt x="37718" y="-17399"/>
                </a:lnTo>
                <a:lnTo>
                  <a:pt x="39116" y="-3175"/>
                </a:lnTo>
                <a:lnTo>
                  <a:pt x="42926" y="9778"/>
                </a:lnTo>
                <a:lnTo>
                  <a:pt x="49276" y="21717"/>
                </a:lnTo>
                <a:lnTo>
                  <a:pt x="49530" y="0"/>
                </a:lnTo>
                <a:lnTo>
                  <a:pt x="48260" y="-5461"/>
                </a:lnTo>
                <a:lnTo>
                  <a:pt x="47498" y="-11556"/>
                </a:lnTo>
                <a:lnTo>
                  <a:pt x="47243" y="-17906"/>
                </a:lnTo>
                <a:lnTo>
                  <a:pt x="47243" y="-350900"/>
                </a:lnTo>
                <a:lnTo>
                  <a:pt x="61722" y="-390143"/>
                </a:lnTo>
                <a:lnTo>
                  <a:pt x="96139" y="-409828"/>
                </a:lnTo>
                <a:lnTo>
                  <a:pt x="108585" y="-410844"/>
                </a:lnTo>
                <a:lnTo>
                  <a:pt x="4207256" y="-410844"/>
                </a:lnTo>
                <a:lnTo>
                  <a:pt x="4246245" y="-396493"/>
                </a:lnTo>
                <a:lnTo>
                  <a:pt x="4266184" y="-361950"/>
                </a:lnTo>
                <a:lnTo>
                  <a:pt x="4267200" y="-349503"/>
                </a:lnTo>
                <a:lnTo>
                  <a:pt x="4267200" y="-16637"/>
                </a:lnTo>
                <a:lnTo>
                  <a:pt x="4252849" y="22478"/>
                </a:lnTo>
                <a:lnTo>
                  <a:pt x="4218432" y="42290"/>
                </a:lnTo>
                <a:lnTo>
                  <a:pt x="4205986" y="43307"/>
                </a:lnTo>
                <a:lnTo>
                  <a:pt x="107187" y="43307"/>
                </a:lnTo>
                <a:lnTo>
                  <a:pt x="67945" y="28828"/>
                </a:lnTo>
                <a:lnTo>
                  <a:pt x="53975" y="11049"/>
                </a:lnTo>
                <a:lnTo>
                  <a:pt x="57658" y="32003"/>
                </a:lnTo>
                <a:lnTo>
                  <a:pt x="92456" y="51181"/>
                </a:lnTo>
                <a:lnTo>
                  <a:pt x="4206494" y="52832"/>
                </a:lnTo>
                <a:lnTo>
                  <a:pt x="4213733" y="52450"/>
                </a:lnTo>
                <a:lnTo>
                  <a:pt x="4250817" y="37464"/>
                </a:lnTo>
                <a:lnTo>
                  <a:pt x="4273296" y="4825"/>
                </a:lnTo>
                <a:lnTo>
                  <a:pt x="4276725" y="-350012"/>
                </a:lnTo>
                <a:lnTo>
                  <a:pt x="4276344" y="-357377"/>
                </a:lnTo>
                <a:lnTo>
                  <a:pt x="4261358" y="-394462"/>
                </a:lnTo>
                <a:lnTo>
                  <a:pt x="4228719" y="-416940"/>
                </a:lnTo>
                <a:lnTo>
                  <a:pt x="108077" y="-420369"/>
                </a:lnTo>
                <a:lnTo>
                  <a:pt x="100711" y="-419988"/>
                </a:lnTo>
                <a:lnTo>
                  <a:pt x="63627" y="-405002"/>
                </a:lnTo>
                <a:lnTo>
                  <a:pt x="41148" y="-372237"/>
                </a:lnTo>
                <a:lnTo>
                  <a:pt x="38227" y="-358648"/>
                </a:lnTo>
                <a:lnTo>
                  <a:pt x="37846" y="-350900"/>
                </a:lnTo>
                <a:close/>
              </a:path>
              <a:path w="57658" h="530860">
                <a:moveTo>
                  <a:pt x="56768" y="44069"/>
                </a:moveTo>
                <a:lnTo>
                  <a:pt x="51308" y="38988"/>
                </a:lnTo>
                <a:lnTo>
                  <a:pt x="46101" y="33400"/>
                </a:lnTo>
                <a:lnTo>
                  <a:pt x="48133" y="72771"/>
                </a:lnTo>
                <a:lnTo>
                  <a:pt x="86868" y="88519"/>
                </a:lnTo>
                <a:lnTo>
                  <a:pt x="107187" y="90550"/>
                </a:lnTo>
                <a:lnTo>
                  <a:pt x="4208653" y="90550"/>
                </a:lnTo>
                <a:lnTo>
                  <a:pt x="4250182" y="81534"/>
                </a:lnTo>
                <a:lnTo>
                  <a:pt x="4283710" y="58420"/>
                </a:lnTo>
                <a:lnTo>
                  <a:pt x="4306443" y="24130"/>
                </a:lnTo>
                <a:lnTo>
                  <a:pt x="4314444" y="-16637"/>
                </a:lnTo>
                <a:lnTo>
                  <a:pt x="4314444" y="-352171"/>
                </a:lnTo>
                <a:lnTo>
                  <a:pt x="4305554" y="-393700"/>
                </a:lnTo>
                <a:lnTo>
                  <a:pt x="4282313" y="-427354"/>
                </a:lnTo>
                <a:lnTo>
                  <a:pt x="4248023" y="-450088"/>
                </a:lnTo>
                <a:lnTo>
                  <a:pt x="4207256" y="-458088"/>
                </a:lnTo>
                <a:lnTo>
                  <a:pt x="105918" y="-458088"/>
                </a:lnTo>
                <a:lnTo>
                  <a:pt x="64389" y="-449199"/>
                </a:lnTo>
                <a:lnTo>
                  <a:pt x="30734" y="-425957"/>
                </a:lnTo>
                <a:lnTo>
                  <a:pt x="8001" y="-391667"/>
                </a:lnTo>
                <a:lnTo>
                  <a:pt x="0" y="-350900"/>
                </a:lnTo>
                <a:lnTo>
                  <a:pt x="0" y="-15239"/>
                </a:lnTo>
                <a:lnTo>
                  <a:pt x="9017" y="26288"/>
                </a:lnTo>
                <a:lnTo>
                  <a:pt x="32131" y="59817"/>
                </a:lnTo>
                <a:lnTo>
                  <a:pt x="31750" y="6603"/>
                </a:lnTo>
                <a:lnTo>
                  <a:pt x="29972" y="-888"/>
                </a:lnTo>
                <a:lnTo>
                  <a:pt x="28829" y="-8762"/>
                </a:lnTo>
                <a:lnTo>
                  <a:pt x="28321" y="-16890"/>
                </a:lnTo>
                <a:lnTo>
                  <a:pt x="28321" y="-350900"/>
                </a:lnTo>
                <a:lnTo>
                  <a:pt x="37973" y="-388747"/>
                </a:lnTo>
                <a:lnTo>
                  <a:pt x="69850" y="-420369"/>
                </a:lnTo>
                <a:lnTo>
                  <a:pt x="107568" y="-429767"/>
                </a:lnTo>
                <a:lnTo>
                  <a:pt x="4207256" y="-429767"/>
                </a:lnTo>
                <a:lnTo>
                  <a:pt x="4244975" y="-420115"/>
                </a:lnTo>
                <a:lnTo>
                  <a:pt x="4276725" y="-388238"/>
                </a:lnTo>
                <a:lnTo>
                  <a:pt x="4286123" y="-350519"/>
                </a:lnTo>
                <a:lnTo>
                  <a:pt x="4286123" y="-16637"/>
                </a:lnTo>
                <a:lnTo>
                  <a:pt x="4276471" y="21082"/>
                </a:lnTo>
                <a:lnTo>
                  <a:pt x="4244721" y="52832"/>
                </a:lnTo>
                <a:lnTo>
                  <a:pt x="4207002" y="62230"/>
                </a:lnTo>
                <a:lnTo>
                  <a:pt x="107187" y="62230"/>
                </a:lnTo>
                <a:lnTo>
                  <a:pt x="69342" y="52577"/>
                </a:lnTo>
                <a:lnTo>
                  <a:pt x="56768" y="44069"/>
                </a:lnTo>
                <a:close/>
              </a:path>
              <a:path w="57658" h="530860">
                <a:moveTo>
                  <a:pt x="41656" y="27305"/>
                </a:moveTo>
                <a:lnTo>
                  <a:pt x="37718" y="20827"/>
                </a:lnTo>
                <a:lnTo>
                  <a:pt x="34417" y="13843"/>
                </a:lnTo>
                <a:lnTo>
                  <a:pt x="31750" y="6603"/>
                </a:lnTo>
                <a:lnTo>
                  <a:pt x="32131" y="59817"/>
                </a:lnTo>
                <a:lnTo>
                  <a:pt x="40005" y="66928"/>
                </a:lnTo>
                <a:lnTo>
                  <a:pt x="48133" y="72771"/>
                </a:lnTo>
                <a:lnTo>
                  <a:pt x="46101" y="33400"/>
                </a:lnTo>
                <a:lnTo>
                  <a:pt x="41656" y="27305"/>
                </a:lnTo>
                <a:close/>
              </a:path>
            </a:pathLst>
          </a:custGeom>
          <a:solidFill>
            <a:srgbClr val="D99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524762" y="3387090"/>
            <a:ext cx="6095999" cy="4699"/>
          </a:xfrm>
          <a:custGeom>
            <a:avLst/>
            <a:gdLst/>
            <a:ahLst/>
            <a:cxnLst/>
            <a:rect l="l" t="t" r="r" b="b"/>
            <a:pathLst>
              <a:path w="6095999" h="4699">
                <a:moveTo>
                  <a:pt x="0" y="4699"/>
                </a:moveTo>
                <a:lnTo>
                  <a:pt x="6095999" y="4699"/>
                </a:lnTo>
                <a:lnTo>
                  <a:pt x="6095999" y="0"/>
                </a:lnTo>
                <a:lnTo>
                  <a:pt x="0" y="0"/>
                </a:lnTo>
                <a:lnTo>
                  <a:pt x="0" y="4699"/>
                </a:lnTo>
                <a:close/>
              </a:path>
            </a:pathLst>
          </a:custGeom>
          <a:solidFill>
            <a:srgbClr val="F8E2CA">
              <a:alpha val="902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524762" y="3810635"/>
            <a:ext cx="6095999" cy="4699"/>
          </a:xfrm>
          <a:custGeom>
            <a:avLst/>
            <a:gdLst/>
            <a:ahLst/>
            <a:cxnLst/>
            <a:rect l="l" t="t" r="r" b="b"/>
            <a:pathLst>
              <a:path w="6095999" h="4699">
                <a:moveTo>
                  <a:pt x="0" y="4699"/>
                </a:moveTo>
                <a:lnTo>
                  <a:pt x="6095999" y="4699"/>
                </a:lnTo>
                <a:lnTo>
                  <a:pt x="6095999" y="0"/>
                </a:lnTo>
                <a:lnTo>
                  <a:pt x="0" y="0"/>
                </a:lnTo>
                <a:lnTo>
                  <a:pt x="0" y="4699"/>
                </a:lnTo>
                <a:close/>
              </a:path>
            </a:pathLst>
          </a:custGeom>
          <a:solidFill>
            <a:srgbClr val="F8E2CA">
              <a:alpha val="902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501140" y="3363467"/>
            <a:ext cx="6143244" cy="475488"/>
          </a:xfrm>
          <a:custGeom>
            <a:avLst/>
            <a:gdLst/>
            <a:ahLst/>
            <a:cxnLst/>
            <a:rect l="l" t="t" r="r" b="b"/>
            <a:pathLst>
              <a:path w="6143244" h="475488">
                <a:moveTo>
                  <a:pt x="47243" y="428244"/>
                </a:moveTo>
                <a:lnTo>
                  <a:pt x="37846" y="437642"/>
                </a:lnTo>
                <a:lnTo>
                  <a:pt x="6105398" y="437642"/>
                </a:lnTo>
                <a:lnTo>
                  <a:pt x="47243" y="428244"/>
                </a:lnTo>
                <a:close/>
              </a:path>
              <a:path w="6143244" h="475488">
                <a:moveTo>
                  <a:pt x="1706" y="460723"/>
                </a:moveTo>
                <a:lnTo>
                  <a:pt x="10244" y="471357"/>
                </a:lnTo>
                <a:lnTo>
                  <a:pt x="23621" y="475488"/>
                </a:lnTo>
                <a:lnTo>
                  <a:pt x="6119621" y="475488"/>
                </a:lnTo>
                <a:lnTo>
                  <a:pt x="28321" y="447167"/>
                </a:lnTo>
                <a:lnTo>
                  <a:pt x="28321" y="28321"/>
                </a:lnTo>
                <a:lnTo>
                  <a:pt x="6114923" y="28321"/>
                </a:lnTo>
                <a:lnTo>
                  <a:pt x="6119621" y="0"/>
                </a:lnTo>
                <a:lnTo>
                  <a:pt x="23621" y="0"/>
                </a:lnTo>
                <a:lnTo>
                  <a:pt x="14764" y="1706"/>
                </a:lnTo>
                <a:lnTo>
                  <a:pt x="4130" y="10244"/>
                </a:lnTo>
                <a:lnTo>
                  <a:pt x="0" y="23622"/>
                </a:lnTo>
                <a:lnTo>
                  <a:pt x="0" y="451866"/>
                </a:lnTo>
                <a:lnTo>
                  <a:pt x="1706" y="460723"/>
                </a:lnTo>
                <a:close/>
              </a:path>
              <a:path w="6143244" h="475488">
                <a:moveTo>
                  <a:pt x="6114923" y="28321"/>
                </a:moveTo>
                <a:lnTo>
                  <a:pt x="6114923" y="447167"/>
                </a:lnTo>
                <a:lnTo>
                  <a:pt x="28321" y="447167"/>
                </a:lnTo>
                <a:lnTo>
                  <a:pt x="6119621" y="475488"/>
                </a:lnTo>
                <a:lnTo>
                  <a:pt x="6128479" y="473781"/>
                </a:lnTo>
                <a:lnTo>
                  <a:pt x="6139113" y="465243"/>
                </a:lnTo>
                <a:lnTo>
                  <a:pt x="6143244" y="451866"/>
                </a:lnTo>
                <a:lnTo>
                  <a:pt x="6143244" y="23622"/>
                </a:lnTo>
                <a:lnTo>
                  <a:pt x="6141537" y="14764"/>
                </a:lnTo>
                <a:lnTo>
                  <a:pt x="6132999" y="4130"/>
                </a:lnTo>
                <a:lnTo>
                  <a:pt x="6119621" y="0"/>
                </a:lnTo>
                <a:lnTo>
                  <a:pt x="6114923" y="28321"/>
                </a:lnTo>
                <a:close/>
              </a:path>
              <a:path w="6143244" h="475488">
                <a:moveTo>
                  <a:pt x="37846" y="437642"/>
                </a:moveTo>
                <a:lnTo>
                  <a:pt x="47243" y="428244"/>
                </a:lnTo>
                <a:lnTo>
                  <a:pt x="47243" y="47244"/>
                </a:lnTo>
                <a:lnTo>
                  <a:pt x="6096000" y="47244"/>
                </a:lnTo>
                <a:lnTo>
                  <a:pt x="6096000" y="428244"/>
                </a:lnTo>
                <a:lnTo>
                  <a:pt x="47243" y="428244"/>
                </a:lnTo>
                <a:lnTo>
                  <a:pt x="6105398" y="437642"/>
                </a:lnTo>
                <a:lnTo>
                  <a:pt x="6105398" y="37846"/>
                </a:lnTo>
                <a:lnTo>
                  <a:pt x="37846" y="37846"/>
                </a:lnTo>
                <a:lnTo>
                  <a:pt x="37846" y="437642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529461" y="3391789"/>
            <a:ext cx="6086602" cy="9525"/>
          </a:xfrm>
          <a:custGeom>
            <a:avLst/>
            <a:gdLst/>
            <a:ahLst/>
            <a:cxnLst/>
            <a:rect l="l" t="t" r="r" b="b"/>
            <a:pathLst>
              <a:path w="6086602" h="9525">
                <a:moveTo>
                  <a:pt x="0" y="9525"/>
                </a:moveTo>
                <a:lnTo>
                  <a:pt x="6086602" y="9525"/>
                </a:lnTo>
                <a:lnTo>
                  <a:pt x="6086602" y="0"/>
                </a:lnTo>
                <a:lnTo>
                  <a:pt x="0" y="0"/>
                </a:lnTo>
                <a:lnTo>
                  <a:pt x="0" y="9525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1529461" y="3801110"/>
            <a:ext cx="6086602" cy="9525"/>
          </a:xfrm>
          <a:custGeom>
            <a:avLst/>
            <a:gdLst/>
            <a:ahLst/>
            <a:cxnLst/>
            <a:rect l="l" t="t" r="r" b="b"/>
            <a:pathLst>
              <a:path w="6086602" h="9525">
                <a:moveTo>
                  <a:pt x="0" y="9525"/>
                </a:moveTo>
                <a:lnTo>
                  <a:pt x="6086602" y="9525"/>
                </a:lnTo>
                <a:lnTo>
                  <a:pt x="6086602" y="0"/>
                </a:lnTo>
                <a:lnTo>
                  <a:pt x="0" y="0"/>
                </a:lnTo>
                <a:lnTo>
                  <a:pt x="0" y="9525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1538986" y="3401314"/>
            <a:ext cx="6067552" cy="9398"/>
          </a:xfrm>
          <a:custGeom>
            <a:avLst/>
            <a:gdLst/>
            <a:ahLst/>
            <a:cxnLst/>
            <a:rect l="l" t="t" r="r" b="b"/>
            <a:pathLst>
              <a:path w="6067552" h="9398">
                <a:moveTo>
                  <a:pt x="0" y="9398"/>
                </a:moveTo>
                <a:lnTo>
                  <a:pt x="6067552" y="9398"/>
                </a:lnTo>
                <a:lnTo>
                  <a:pt x="6067552" y="0"/>
                </a:lnTo>
                <a:lnTo>
                  <a:pt x="0" y="0"/>
                </a:lnTo>
                <a:lnTo>
                  <a:pt x="0" y="9398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1538986" y="3791712"/>
            <a:ext cx="6067552" cy="9398"/>
          </a:xfrm>
          <a:custGeom>
            <a:avLst/>
            <a:gdLst/>
            <a:ahLst/>
            <a:cxnLst/>
            <a:rect l="l" t="t" r="r" b="b"/>
            <a:pathLst>
              <a:path w="6067552" h="9398">
                <a:moveTo>
                  <a:pt x="0" y="9398"/>
                </a:moveTo>
                <a:lnTo>
                  <a:pt x="6067552" y="9398"/>
                </a:lnTo>
                <a:lnTo>
                  <a:pt x="6067552" y="0"/>
                </a:lnTo>
                <a:lnTo>
                  <a:pt x="0" y="0"/>
                </a:lnTo>
                <a:lnTo>
                  <a:pt x="0" y="9398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548384" y="3410712"/>
            <a:ext cx="6048756" cy="381000"/>
          </a:xfrm>
          <a:custGeom>
            <a:avLst/>
            <a:gdLst/>
            <a:ahLst/>
            <a:cxnLst/>
            <a:rect l="l" t="t" r="r" b="b"/>
            <a:pathLst>
              <a:path w="6048756" h="381000">
                <a:moveTo>
                  <a:pt x="0" y="381000"/>
                </a:moveTo>
                <a:lnTo>
                  <a:pt x="6048756" y="381000"/>
                </a:lnTo>
                <a:lnTo>
                  <a:pt x="6048756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829562" y="3137154"/>
            <a:ext cx="4267200" cy="501396"/>
          </a:xfrm>
          <a:custGeom>
            <a:avLst/>
            <a:gdLst/>
            <a:ahLst/>
            <a:cxnLst/>
            <a:rect l="l" t="t" r="r" b="b"/>
            <a:pathLst>
              <a:path w="4267200" h="501396">
                <a:moveTo>
                  <a:pt x="0" y="83566"/>
                </a:moveTo>
                <a:lnTo>
                  <a:pt x="120" y="422341"/>
                </a:lnTo>
                <a:lnTo>
                  <a:pt x="12890" y="462396"/>
                </a:lnTo>
                <a:lnTo>
                  <a:pt x="42637" y="490680"/>
                </a:lnTo>
                <a:lnTo>
                  <a:pt x="83565" y="501396"/>
                </a:lnTo>
                <a:lnTo>
                  <a:pt x="4188145" y="501275"/>
                </a:lnTo>
                <a:lnTo>
                  <a:pt x="4228200" y="488505"/>
                </a:lnTo>
                <a:lnTo>
                  <a:pt x="4256484" y="458758"/>
                </a:lnTo>
                <a:lnTo>
                  <a:pt x="4267200" y="417830"/>
                </a:lnTo>
                <a:lnTo>
                  <a:pt x="4267079" y="79054"/>
                </a:lnTo>
                <a:lnTo>
                  <a:pt x="4254309" y="38999"/>
                </a:lnTo>
                <a:lnTo>
                  <a:pt x="4224562" y="10715"/>
                </a:lnTo>
                <a:lnTo>
                  <a:pt x="4183634" y="0"/>
                </a:lnTo>
                <a:lnTo>
                  <a:pt x="79054" y="120"/>
                </a:lnTo>
                <a:lnTo>
                  <a:pt x="38999" y="12890"/>
                </a:lnTo>
                <a:lnTo>
                  <a:pt x="10715" y="42637"/>
                </a:lnTo>
                <a:lnTo>
                  <a:pt x="0" y="835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1805939" y="3571621"/>
            <a:ext cx="57658" cy="530859"/>
          </a:xfrm>
          <a:custGeom>
            <a:avLst/>
            <a:gdLst/>
            <a:ahLst/>
            <a:cxnLst/>
            <a:rect l="l" t="t" r="r" b="b"/>
            <a:pathLst>
              <a:path w="57658" h="530859">
                <a:moveTo>
                  <a:pt x="53086" y="26924"/>
                </a:moveTo>
                <a:lnTo>
                  <a:pt x="57658" y="32003"/>
                </a:lnTo>
                <a:lnTo>
                  <a:pt x="53975" y="11049"/>
                </a:lnTo>
                <a:lnTo>
                  <a:pt x="51435" y="5587"/>
                </a:lnTo>
                <a:lnTo>
                  <a:pt x="49530" y="0"/>
                </a:lnTo>
                <a:lnTo>
                  <a:pt x="49276" y="21716"/>
                </a:lnTo>
                <a:lnTo>
                  <a:pt x="53086" y="26924"/>
                </a:lnTo>
                <a:close/>
              </a:path>
              <a:path w="57658" h="530859">
                <a:moveTo>
                  <a:pt x="37846" y="-350900"/>
                </a:moveTo>
                <a:lnTo>
                  <a:pt x="37718" y="-17399"/>
                </a:lnTo>
                <a:lnTo>
                  <a:pt x="39116" y="-3175"/>
                </a:lnTo>
                <a:lnTo>
                  <a:pt x="42926" y="9778"/>
                </a:lnTo>
                <a:lnTo>
                  <a:pt x="49276" y="21716"/>
                </a:lnTo>
                <a:lnTo>
                  <a:pt x="49530" y="0"/>
                </a:lnTo>
                <a:lnTo>
                  <a:pt x="48260" y="-5461"/>
                </a:lnTo>
                <a:lnTo>
                  <a:pt x="47498" y="-11557"/>
                </a:lnTo>
                <a:lnTo>
                  <a:pt x="47243" y="-17907"/>
                </a:lnTo>
                <a:lnTo>
                  <a:pt x="47243" y="-350900"/>
                </a:lnTo>
                <a:lnTo>
                  <a:pt x="61722" y="-390144"/>
                </a:lnTo>
                <a:lnTo>
                  <a:pt x="96139" y="-409829"/>
                </a:lnTo>
                <a:lnTo>
                  <a:pt x="108585" y="-410845"/>
                </a:lnTo>
                <a:lnTo>
                  <a:pt x="4207256" y="-410845"/>
                </a:lnTo>
                <a:lnTo>
                  <a:pt x="4246245" y="-396494"/>
                </a:lnTo>
                <a:lnTo>
                  <a:pt x="4266184" y="-361950"/>
                </a:lnTo>
                <a:lnTo>
                  <a:pt x="4267200" y="-349504"/>
                </a:lnTo>
                <a:lnTo>
                  <a:pt x="4267200" y="-16637"/>
                </a:lnTo>
                <a:lnTo>
                  <a:pt x="4252849" y="22478"/>
                </a:lnTo>
                <a:lnTo>
                  <a:pt x="4218432" y="42290"/>
                </a:lnTo>
                <a:lnTo>
                  <a:pt x="4205986" y="43306"/>
                </a:lnTo>
                <a:lnTo>
                  <a:pt x="107187" y="43306"/>
                </a:lnTo>
                <a:lnTo>
                  <a:pt x="67945" y="28828"/>
                </a:lnTo>
                <a:lnTo>
                  <a:pt x="53975" y="11049"/>
                </a:lnTo>
                <a:lnTo>
                  <a:pt x="57658" y="32003"/>
                </a:lnTo>
                <a:lnTo>
                  <a:pt x="92456" y="51180"/>
                </a:lnTo>
                <a:lnTo>
                  <a:pt x="4206494" y="52831"/>
                </a:lnTo>
                <a:lnTo>
                  <a:pt x="4213733" y="52450"/>
                </a:lnTo>
                <a:lnTo>
                  <a:pt x="4250817" y="37464"/>
                </a:lnTo>
                <a:lnTo>
                  <a:pt x="4273296" y="4825"/>
                </a:lnTo>
                <a:lnTo>
                  <a:pt x="4276725" y="-350012"/>
                </a:lnTo>
                <a:lnTo>
                  <a:pt x="4276344" y="-357378"/>
                </a:lnTo>
                <a:lnTo>
                  <a:pt x="4261358" y="-394462"/>
                </a:lnTo>
                <a:lnTo>
                  <a:pt x="4228719" y="-416941"/>
                </a:lnTo>
                <a:lnTo>
                  <a:pt x="108077" y="-420370"/>
                </a:lnTo>
                <a:lnTo>
                  <a:pt x="100711" y="-419988"/>
                </a:lnTo>
                <a:lnTo>
                  <a:pt x="63627" y="-405003"/>
                </a:lnTo>
                <a:lnTo>
                  <a:pt x="41148" y="-372237"/>
                </a:lnTo>
                <a:lnTo>
                  <a:pt x="38227" y="-358648"/>
                </a:lnTo>
                <a:lnTo>
                  <a:pt x="37846" y="-350900"/>
                </a:lnTo>
                <a:close/>
              </a:path>
              <a:path w="57658" h="530859">
                <a:moveTo>
                  <a:pt x="56768" y="44068"/>
                </a:moveTo>
                <a:lnTo>
                  <a:pt x="51308" y="38988"/>
                </a:lnTo>
                <a:lnTo>
                  <a:pt x="46101" y="33400"/>
                </a:lnTo>
                <a:lnTo>
                  <a:pt x="48133" y="72770"/>
                </a:lnTo>
                <a:lnTo>
                  <a:pt x="86868" y="88518"/>
                </a:lnTo>
                <a:lnTo>
                  <a:pt x="107187" y="90550"/>
                </a:lnTo>
                <a:lnTo>
                  <a:pt x="4208653" y="90550"/>
                </a:lnTo>
                <a:lnTo>
                  <a:pt x="4250182" y="81533"/>
                </a:lnTo>
                <a:lnTo>
                  <a:pt x="4283710" y="58419"/>
                </a:lnTo>
                <a:lnTo>
                  <a:pt x="4306443" y="24129"/>
                </a:lnTo>
                <a:lnTo>
                  <a:pt x="4314444" y="-16637"/>
                </a:lnTo>
                <a:lnTo>
                  <a:pt x="4314444" y="-352171"/>
                </a:lnTo>
                <a:lnTo>
                  <a:pt x="4305554" y="-393700"/>
                </a:lnTo>
                <a:lnTo>
                  <a:pt x="4282313" y="-427355"/>
                </a:lnTo>
                <a:lnTo>
                  <a:pt x="4248023" y="-450088"/>
                </a:lnTo>
                <a:lnTo>
                  <a:pt x="4207256" y="-458088"/>
                </a:lnTo>
                <a:lnTo>
                  <a:pt x="105918" y="-458088"/>
                </a:lnTo>
                <a:lnTo>
                  <a:pt x="64389" y="-449199"/>
                </a:lnTo>
                <a:lnTo>
                  <a:pt x="30734" y="-425958"/>
                </a:lnTo>
                <a:lnTo>
                  <a:pt x="8001" y="-391668"/>
                </a:lnTo>
                <a:lnTo>
                  <a:pt x="0" y="-350900"/>
                </a:lnTo>
                <a:lnTo>
                  <a:pt x="0" y="-15240"/>
                </a:lnTo>
                <a:lnTo>
                  <a:pt x="9017" y="26288"/>
                </a:lnTo>
                <a:lnTo>
                  <a:pt x="32131" y="59816"/>
                </a:lnTo>
                <a:lnTo>
                  <a:pt x="31750" y="6603"/>
                </a:lnTo>
                <a:lnTo>
                  <a:pt x="29972" y="-888"/>
                </a:lnTo>
                <a:lnTo>
                  <a:pt x="28829" y="-8762"/>
                </a:lnTo>
                <a:lnTo>
                  <a:pt x="28321" y="-16891"/>
                </a:lnTo>
                <a:lnTo>
                  <a:pt x="28321" y="-350900"/>
                </a:lnTo>
                <a:lnTo>
                  <a:pt x="37973" y="-388747"/>
                </a:lnTo>
                <a:lnTo>
                  <a:pt x="69850" y="-420370"/>
                </a:lnTo>
                <a:lnTo>
                  <a:pt x="107568" y="-429768"/>
                </a:lnTo>
                <a:lnTo>
                  <a:pt x="4207256" y="-429768"/>
                </a:lnTo>
                <a:lnTo>
                  <a:pt x="4244975" y="-420116"/>
                </a:lnTo>
                <a:lnTo>
                  <a:pt x="4276725" y="-388238"/>
                </a:lnTo>
                <a:lnTo>
                  <a:pt x="4286123" y="-350520"/>
                </a:lnTo>
                <a:lnTo>
                  <a:pt x="4286123" y="-16637"/>
                </a:lnTo>
                <a:lnTo>
                  <a:pt x="4276471" y="21081"/>
                </a:lnTo>
                <a:lnTo>
                  <a:pt x="4244721" y="52831"/>
                </a:lnTo>
                <a:lnTo>
                  <a:pt x="4207002" y="62229"/>
                </a:lnTo>
                <a:lnTo>
                  <a:pt x="107187" y="62229"/>
                </a:lnTo>
                <a:lnTo>
                  <a:pt x="69342" y="52577"/>
                </a:lnTo>
                <a:lnTo>
                  <a:pt x="56768" y="44068"/>
                </a:lnTo>
                <a:close/>
              </a:path>
              <a:path w="57658" h="530859">
                <a:moveTo>
                  <a:pt x="41656" y="27304"/>
                </a:moveTo>
                <a:lnTo>
                  <a:pt x="37718" y="20827"/>
                </a:lnTo>
                <a:lnTo>
                  <a:pt x="34417" y="13842"/>
                </a:lnTo>
                <a:lnTo>
                  <a:pt x="31750" y="6603"/>
                </a:lnTo>
                <a:lnTo>
                  <a:pt x="32131" y="59816"/>
                </a:lnTo>
                <a:lnTo>
                  <a:pt x="40005" y="66928"/>
                </a:lnTo>
                <a:lnTo>
                  <a:pt x="48133" y="72770"/>
                </a:lnTo>
                <a:lnTo>
                  <a:pt x="46101" y="33400"/>
                </a:lnTo>
                <a:lnTo>
                  <a:pt x="41656" y="27304"/>
                </a:lnTo>
                <a:close/>
              </a:path>
            </a:pathLst>
          </a:custGeom>
          <a:solidFill>
            <a:srgbClr val="D99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524762" y="4158233"/>
            <a:ext cx="6095999" cy="4699"/>
          </a:xfrm>
          <a:custGeom>
            <a:avLst/>
            <a:gdLst/>
            <a:ahLst/>
            <a:cxnLst/>
            <a:rect l="l" t="t" r="r" b="b"/>
            <a:pathLst>
              <a:path w="6095999" h="4699">
                <a:moveTo>
                  <a:pt x="0" y="4699"/>
                </a:moveTo>
                <a:lnTo>
                  <a:pt x="6095999" y="4699"/>
                </a:lnTo>
                <a:lnTo>
                  <a:pt x="6095999" y="0"/>
                </a:lnTo>
                <a:lnTo>
                  <a:pt x="0" y="0"/>
                </a:lnTo>
                <a:lnTo>
                  <a:pt x="0" y="4699"/>
                </a:lnTo>
                <a:close/>
              </a:path>
            </a:pathLst>
          </a:custGeom>
          <a:solidFill>
            <a:srgbClr val="F8E2CA">
              <a:alpha val="902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524762" y="4581779"/>
            <a:ext cx="6095999" cy="4698"/>
          </a:xfrm>
          <a:custGeom>
            <a:avLst/>
            <a:gdLst/>
            <a:ahLst/>
            <a:cxnLst/>
            <a:rect l="l" t="t" r="r" b="b"/>
            <a:pathLst>
              <a:path w="6095999" h="4699">
                <a:moveTo>
                  <a:pt x="0" y="4699"/>
                </a:moveTo>
                <a:lnTo>
                  <a:pt x="6095999" y="4699"/>
                </a:lnTo>
                <a:lnTo>
                  <a:pt x="6095999" y="0"/>
                </a:lnTo>
                <a:lnTo>
                  <a:pt x="0" y="0"/>
                </a:lnTo>
                <a:lnTo>
                  <a:pt x="0" y="4699"/>
                </a:lnTo>
                <a:close/>
              </a:path>
            </a:pathLst>
          </a:custGeom>
          <a:solidFill>
            <a:srgbClr val="F8E2CA">
              <a:alpha val="902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501140" y="4134612"/>
            <a:ext cx="6143244" cy="475488"/>
          </a:xfrm>
          <a:custGeom>
            <a:avLst/>
            <a:gdLst/>
            <a:ahLst/>
            <a:cxnLst/>
            <a:rect l="l" t="t" r="r" b="b"/>
            <a:pathLst>
              <a:path w="6143244" h="475488">
                <a:moveTo>
                  <a:pt x="47243" y="428244"/>
                </a:moveTo>
                <a:lnTo>
                  <a:pt x="37846" y="437642"/>
                </a:lnTo>
                <a:lnTo>
                  <a:pt x="6105398" y="437642"/>
                </a:lnTo>
                <a:lnTo>
                  <a:pt x="47243" y="428244"/>
                </a:lnTo>
                <a:close/>
              </a:path>
              <a:path w="6143244" h="475488">
                <a:moveTo>
                  <a:pt x="1706" y="460723"/>
                </a:moveTo>
                <a:lnTo>
                  <a:pt x="10244" y="471357"/>
                </a:lnTo>
                <a:lnTo>
                  <a:pt x="23621" y="475488"/>
                </a:lnTo>
                <a:lnTo>
                  <a:pt x="6119621" y="475488"/>
                </a:lnTo>
                <a:lnTo>
                  <a:pt x="28321" y="447167"/>
                </a:lnTo>
                <a:lnTo>
                  <a:pt x="28321" y="28320"/>
                </a:lnTo>
                <a:lnTo>
                  <a:pt x="6114923" y="28320"/>
                </a:lnTo>
                <a:lnTo>
                  <a:pt x="6119621" y="0"/>
                </a:lnTo>
                <a:lnTo>
                  <a:pt x="23621" y="0"/>
                </a:lnTo>
                <a:lnTo>
                  <a:pt x="14764" y="1706"/>
                </a:lnTo>
                <a:lnTo>
                  <a:pt x="4130" y="10244"/>
                </a:lnTo>
                <a:lnTo>
                  <a:pt x="0" y="23621"/>
                </a:lnTo>
                <a:lnTo>
                  <a:pt x="0" y="451865"/>
                </a:lnTo>
                <a:lnTo>
                  <a:pt x="1706" y="460723"/>
                </a:lnTo>
                <a:close/>
              </a:path>
              <a:path w="6143244" h="475488">
                <a:moveTo>
                  <a:pt x="6114923" y="28320"/>
                </a:moveTo>
                <a:lnTo>
                  <a:pt x="6114923" y="447167"/>
                </a:lnTo>
                <a:lnTo>
                  <a:pt x="28321" y="447167"/>
                </a:lnTo>
                <a:lnTo>
                  <a:pt x="6119621" y="475488"/>
                </a:lnTo>
                <a:lnTo>
                  <a:pt x="6128479" y="473781"/>
                </a:lnTo>
                <a:lnTo>
                  <a:pt x="6139113" y="465243"/>
                </a:lnTo>
                <a:lnTo>
                  <a:pt x="6143244" y="451865"/>
                </a:lnTo>
                <a:lnTo>
                  <a:pt x="6143244" y="23621"/>
                </a:lnTo>
                <a:lnTo>
                  <a:pt x="6141537" y="14764"/>
                </a:lnTo>
                <a:lnTo>
                  <a:pt x="6132999" y="4130"/>
                </a:lnTo>
                <a:lnTo>
                  <a:pt x="6119621" y="0"/>
                </a:lnTo>
                <a:lnTo>
                  <a:pt x="6114923" y="28320"/>
                </a:lnTo>
                <a:close/>
              </a:path>
              <a:path w="6143244" h="475488">
                <a:moveTo>
                  <a:pt x="37846" y="437642"/>
                </a:moveTo>
                <a:lnTo>
                  <a:pt x="47243" y="428244"/>
                </a:lnTo>
                <a:lnTo>
                  <a:pt x="47243" y="47243"/>
                </a:lnTo>
                <a:lnTo>
                  <a:pt x="6096000" y="47243"/>
                </a:lnTo>
                <a:lnTo>
                  <a:pt x="6096000" y="428244"/>
                </a:lnTo>
                <a:lnTo>
                  <a:pt x="47243" y="428244"/>
                </a:lnTo>
                <a:lnTo>
                  <a:pt x="6105398" y="437642"/>
                </a:lnTo>
                <a:lnTo>
                  <a:pt x="6105398" y="37845"/>
                </a:lnTo>
                <a:lnTo>
                  <a:pt x="37846" y="37845"/>
                </a:lnTo>
                <a:lnTo>
                  <a:pt x="37846" y="437642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529461" y="4162932"/>
            <a:ext cx="6086602" cy="9525"/>
          </a:xfrm>
          <a:custGeom>
            <a:avLst/>
            <a:gdLst/>
            <a:ahLst/>
            <a:cxnLst/>
            <a:rect l="l" t="t" r="r" b="b"/>
            <a:pathLst>
              <a:path w="6086602" h="9525">
                <a:moveTo>
                  <a:pt x="0" y="9525"/>
                </a:moveTo>
                <a:lnTo>
                  <a:pt x="6086602" y="9525"/>
                </a:lnTo>
                <a:lnTo>
                  <a:pt x="6086602" y="0"/>
                </a:lnTo>
                <a:lnTo>
                  <a:pt x="0" y="0"/>
                </a:lnTo>
                <a:lnTo>
                  <a:pt x="0" y="9525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529461" y="4572254"/>
            <a:ext cx="6086602" cy="9525"/>
          </a:xfrm>
          <a:custGeom>
            <a:avLst/>
            <a:gdLst/>
            <a:ahLst/>
            <a:cxnLst/>
            <a:rect l="l" t="t" r="r" b="b"/>
            <a:pathLst>
              <a:path w="6086602" h="9525">
                <a:moveTo>
                  <a:pt x="0" y="9525"/>
                </a:moveTo>
                <a:lnTo>
                  <a:pt x="6086602" y="9525"/>
                </a:lnTo>
                <a:lnTo>
                  <a:pt x="6086602" y="0"/>
                </a:lnTo>
                <a:lnTo>
                  <a:pt x="0" y="0"/>
                </a:lnTo>
                <a:lnTo>
                  <a:pt x="0" y="9525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538986" y="4172457"/>
            <a:ext cx="6067552" cy="9398"/>
          </a:xfrm>
          <a:custGeom>
            <a:avLst/>
            <a:gdLst/>
            <a:ahLst/>
            <a:cxnLst/>
            <a:rect l="l" t="t" r="r" b="b"/>
            <a:pathLst>
              <a:path w="6067552" h="9398">
                <a:moveTo>
                  <a:pt x="0" y="9398"/>
                </a:moveTo>
                <a:lnTo>
                  <a:pt x="6067552" y="9398"/>
                </a:lnTo>
                <a:lnTo>
                  <a:pt x="6067552" y="0"/>
                </a:lnTo>
                <a:lnTo>
                  <a:pt x="0" y="0"/>
                </a:lnTo>
                <a:lnTo>
                  <a:pt x="0" y="9398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538986" y="4562856"/>
            <a:ext cx="6067552" cy="9398"/>
          </a:xfrm>
          <a:custGeom>
            <a:avLst/>
            <a:gdLst/>
            <a:ahLst/>
            <a:cxnLst/>
            <a:rect l="l" t="t" r="r" b="b"/>
            <a:pathLst>
              <a:path w="6067552" h="9398">
                <a:moveTo>
                  <a:pt x="0" y="9398"/>
                </a:moveTo>
                <a:lnTo>
                  <a:pt x="6067552" y="9398"/>
                </a:lnTo>
                <a:lnTo>
                  <a:pt x="6067552" y="0"/>
                </a:lnTo>
                <a:lnTo>
                  <a:pt x="0" y="0"/>
                </a:lnTo>
                <a:lnTo>
                  <a:pt x="0" y="9398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548384" y="4181855"/>
            <a:ext cx="6048756" cy="381000"/>
          </a:xfrm>
          <a:custGeom>
            <a:avLst/>
            <a:gdLst/>
            <a:ahLst/>
            <a:cxnLst/>
            <a:rect l="l" t="t" r="r" b="b"/>
            <a:pathLst>
              <a:path w="6048756" h="381000">
                <a:moveTo>
                  <a:pt x="0" y="381000"/>
                </a:moveTo>
                <a:lnTo>
                  <a:pt x="6048756" y="381000"/>
                </a:lnTo>
                <a:lnTo>
                  <a:pt x="6048756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829562" y="3908298"/>
            <a:ext cx="4267200" cy="501395"/>
          </a:xfrm>
          <a:custGeom>
            <a:avLst/>
            <a:gdLst/>
            <a:ahLst/>
            <a:cxnLst/>
            <a:rect l="l" t="t" r="r" b="b"/>
            <a:pathLst>
              <a:path w="4267200" h="501396">
                <a:moveTo>
                  <a:pt x="0" y="83565"/>
                </a:moveTo>
                <a:lnTo>
                  <a:pt x="120" y="422341"/>
                </a:lnTo>
                <a:lnTo>
                  <a:pt x="12890" y="462396"/>
                </a:lnTo>
                <a:lnTo>
                  <a:pt x="42637" y="490680"/>
                </a:lnTo>
                <a:lnTo>
                  <a:pt x="83565" y="501395"/>
                </a:lnTo>
                <a:lnTo>
                  <a:pt x="4188145" y="501275"/>
                </a:lnTo>
                <a:lnTo>
                  <a:pt x="4228200" y="488505"/>
                </a:lnTo>
                <a:lnTo>
                  <a:pt x="4256484" y="458758"/>
                </a:lnTo>
                <a:lnTo>
                  <a:pt x="4267200" y="417829"/>
                </a:lnTo>
                <a:lnTo>
                  <a:pt x="4267079" y="79054"/>
                </a:lnTo>
                <a:lnTo>
                  <a:pt x="4254309" y="38999"/>
                </a:lnTo>
                <a:lnTo>
                  <a:pt x="4224562" y="10715"/>
                </a:lnTo>
                <a:lnTo>
                  <a:pt x="4183634" y="0"/>
                </a:lnTo>
                <a:lnTo>
                  <a:pt x="79054" y="120"/>
                </a:lnTo>
                <a:lnTo>
                  <a:pt x="38999" y="12890"/>
                </a:lnTo>
                <a:lnTo>
                  <a:pt x="10715" y="42637"/>
                </a:lnTo>
                <a:lnTo>
                  <a:pt x="0" y="835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05939" y="4342765"/>
            <a:ext cx="57658" cy="530860"/>
          </a:xfrm>
          <a:custGeom>
            <a:avLst/>
            <a:gdLst/>
            <a:ahLst/>
            <a:cxnLst/>
            <a:rect l="l" t="t" r="r" b="b"/>
            <a:pathLst>
              <a:path w="57658" h="530860">
                <a:moveTo>
                  <a:pt x="53086" y="26924"/>
                </a:moveTo>
                <a:lnTo>
                  <a:pt x="57658" y="32004"/>
                </a:lnTo>
                <a:lnTo>
                  <a:pt x="53975" y="11049"/>
                </a:lnTo>
                <a:lnTo>
                  <a:pt x="51435" y="5587"/>
                </a:lnTo>
                <a:lnTo>
                  <a:pt x="49530" y="0"/>
                </a:lnTo>
                <a:lnTo>
                  <a:pt x="49276" y="21717"/>
                </a:lnTo>
                <a:lnTo>
                  <a:pt x="53086" y="26924"/>
                </a:lnTo>
                <a:close/>
              </a:path>
              <a:path w="57658" h="530860">
                <a:moveTo>
                  <a:pt x="37846" y="-350900"/>
                </a:moveTo>
                <a:lnTo>
                  <a:pt x="37718" y="-17398"/>
                </a:lnTo>
                <a:lnTo>
                  <a:pt x="39116" y="-3175"/>
                </a:lnTo>
                <a:lnTo>
                  <a:pt x="42926" y="9779"/>
                </a:lnTo>
                <a:lnTo>
                  <a:pt x="49276" y="21717"/>
                </a:lnTo>
                <a:lnTo>
                  <a:pt x="49530" y="0"/>
                </a:lnTo>
                <a:lnTo>
                  <a:pt x="48260" y="-5460"/>
                </a:lnTo>
                <a:lnTo>
                  <a:pt x="47498" y="-11556"/>
                </a:lnTo>
                <a:lnTo>
                  <a:pt x="47243" y="-17906"/>
                </a:lnTo>
                <a:lnTo>
                  <a:pt x="47243" y="-350900"/>
                </a:lnTo>
                <a:lnTo>
                  <a:pt x="61722" y="-390144"/>
                </a:lnTo>
                <a:lnTo>
                  <a:pt x="96139" y="-409828"/>
                </a:lnTo>
                <a:lnTo>
                  <a:pt x="108585" y="-410844"/>
                </a:lnTo>
                <a:lnTo>
                  <a:pt x="4207256" y="-410844"/>
                </a:lnTo>
                <a:lnTo>
                  <a:pt x="4246245" y="-396494"/>
                </a:lnTo>
                <a:lnTo>
                  <a:pt x="4266184" y="-361950"/>
                </a:lnTo>
                <a:lnTo>
                  <a:pt x="4267200" y="-349503"/>
                </a:lnTo>
                <a:lnTo>
                  <a:pt x="4267200" y="-16637"/>
                </a:lnTo>
                <a:lnTo>
                  <a:pt x="4252849" y="22479"/>
                </a:lnTo>
                <a:lnTo>
                  <a:pt x="4218432" y="42291"/>
                </a:lnTo>
                <a:lnTo>
                  <a:pt x="4205986" y="43307"/>
                </a:lnTo>
                <a:lnTo>
                  <a:pt x="107187" y="43307"/>
                </a:lnTo>
                <a:lnTo>
                  <a:pt x="67945" y="28829"/>
                </a:lnTo>
                <a:lnTo>
                  <a:pt x="53975" y="11049"/>
                </a:lnTo>
                <a:lnTo>
                  <a:pt x="57658" y="32004"/>
                </a:lnTo>
                <a:lnTo>
                  <a:pt x="92456" y="51181"/>
                </a:lnTo>
                <a:lnTo>
                  <a:pt x="4206494" y="52832"/>
                </a:lnTo>
                <a:lnTo>
                  <a:pt x="4213733" y="52451"/>
                </a:lnTo>
                <a:lnTo>
                  <a:pt x="4250817" y="37465"/>
                </a:lnTo>
                <a:lnTo>
                  <a:pt x="4273296" y="4826"/>
                </a:lnTo>
                <a:lnTo>
                  <a:pt x="4276725" y="-350012"/>
                </a:lnTo>
                <a:lnTo>
                  <a:pt x="4276344" y="-357377"/>
                </a:lnTo>
                <a:lnTo>
                  <a:pt x="4261358" y="-394462"/>
                </a:lnTo>
                <a:lnTo>
                  <a:pt x="4228719" y="-416940"/>
                </a:lnTo>
                <a:lnTo>
                  <a:pt x="108077" y="-420369"/>
                </a:lnTo>
                <a:lnTo>
                  <a:pt x="100711" y="-419988"/>
                </a:lnTo>
                <a:lnTo>
                  <a:pt x="63627" y="-405002"/>
                </a:lnTo>
                <a:lnTo>
                  <a:pt x="41148" y="-372237"/>
                </a:lnTo>
                <a:lnTo>
                  <a:pt x="38227" y="-358647"/>
                </a:lnTo>
                <a:lnTo>
                  <a:pt x="37846" y="-350900"/>
                </a:lnTo>
                <a:close/>
              </a:path>
              <a:path w="57658" h="530860">
                <a:moveTo>
                  <a:pt x="56768" y="44068"/>
                </a:moveTo>
                <a:lnTo>
                  <a:pt x="51308" y="38989"/>
                </a:lnTo>
                <a:lnTo>
                  <a:pt x="46101" y="33401"/>
                </a:lnTo>
                <a:lnTo>
                  <a:pt x="48133" y="72771"/>
                </a:lnTo>
                <a:lnTo>
                  <a:pt x="86868" y="88518"/>
                </a:lnTo>
                <a:lnTo>
                  <a:pt x="107187" y="90551"/>
                </a:lnTo>
                <a:lnTo>
                  <a:pt x="4208653" y="90551"/>
                </a:lnTo>
                <a:lnTo>
                  <a:pt x="4250182" y="81534"/>
                </a:lnTo>
                <a:lnTo>
                  <a:pt x="4283710" y="58420"/>
                </a:lnTo>
                <a:lnTo>
                  <a:pt x="4306443" y="24130"/>
                </a:lnTo>
                <a:lnTo>
                  <a:pt x="4314444" y="-16637"/>
                </a:lnTo>
                <a:lnTo>
                  <a:pt x="4314444" y="-352170"/>
                </a:lnTo>
                <a:lnTo>
                  <a:pt x="4305554" y="-393700"/>
                </a:lnTo>
                <a:lnTo>
                  <a:pt x="4282313" y="-427354"/>
                </a:lnTo>
                <a:lnTo>
                  <a:pt x="4248023" y="-450088"/>
                </a:lnTo>
                <a:lnTo>
                  <a:pt x="4207256" y="-458088"/>
                </a:lnTo>
                <a:lnTo>
                  <a:pt x="105918" y="-458088"/>
                </a:lnTo>
                <a:lnTo>
                  <a:pt x="64389" y="-449198"/>
                </a:lnTo>
                <a:lnTo>
                  <a:pt x="30734" y="-425957"/>
                </a:lnTo>
                <a:lnTo>
                  <a:pt x="8001" y="-391667"/>
                </a:lnTo>
                <a:lnTo>
                  <a:pt x="0" y="-350900"/>
                </a:lnTo>
                <a:lnTo>
                  <a:pt x="0" y="-15239"/>
                </a:lnTo>
                <a:lnTo>
                  <a:pt x="9017" y="26289"/>
                </a:lnTo>
                <a:lnTo>
                  <a:pt x="32131" y="59817"/>
                </a:lnTo>
                <a:lnTo>
                  <a:pt x="31750" y="6604"/>
                </a:lnTo>
                <a:lnTo>
                  <a:pt x="29972" y="-888"/>
                </a:lnTo>
                <a:lnTo>
                  <a:pt x="28829" y="-8762"/>
                </a:lnTo>
                <a:lnTo>
                  <a:pt x="28321" y="-16890"/>
                </a:lnTo>
                <a:lnTo>
                  <a:pt x="28321" y="-350900"/>
                </a:lnTo>
                <a:lnTo>
                  <a:pt x="37973" y="-388746"/>
                </a:lnTo>
                <a:lnTo>
                  <a:pt x="69850" y="-420369"/>
                </a:lnTo>
                <a:lnTo>
                  <a:pt x="107568" y="-429767"/>
                </a:lnTo>
                <a:lnTo>
                  <a:pt x="4207256" y="-429767"/>
                </a:lnTo>
                <a:lnTo>
                  <a:pt x="4244975" y="-420115"/>
                </a:lnTo>
                <a:lnTo>
                  <a:pt x="4276725" y="-388238"/>
                </a:lnTo>
                <a:lnTo>
                  <a:pt x="4286123" y="-350519"/>
                </a:lnTo>
                <a:lnTo>
                  <a:pt x="4286123" y="-16637"/>
                </a:lnTo>
                <a:lnTo>
                  <a:pt x="4276471" y="21082"/>
                </a:lnTo>
                <a:lnTo>
                  <a:pt x="4244721" y="52832"/>
                </a:lnTo>
                <a:lnTo>
                  <a:pt x="4207002" y="62230"/>
                </a:lnTo>
                <a:lnTo>
                  <a:pt x="107187" y="62230"/>
                </a:lnTo>
                <a:lnTo>
                  <a:pt x="69342" y="52578"/>
                </a:lnTo>
                <a:lnTo>
                  <a:pt x="56768" y="44068"/>
                </a:lnTo>
                <a:close/>
              </a:path>
              <a:path w="57658" h="530860">
                <a:moveTo>
                  <a:pt x="41656" y="27305"/>
                </a:moveTo>
                <a:lnTo>
                  <a:pt x="37718" y="20828"/>
                </a:lnTo>
                <a:lnTo>
                  <a:pt x="34417" y="13843"/>
                </a:lnTo>
                <a:lnTo>
                  <a:pt x="31750" y="6604"/>
                </a:lnTo>
                <a:lnTo>
                  <a:pt x="32131" y="59817"/>
                </a:lnTo>
                <a:lnTo>
                  <a:pt x="40005" y="66929"/>
                </a:lnTo>
                <a:lnTo>
                  <a:pt x="48133" y="72771"/>
                </a:lnTo>
                <a:lnTo>
                  <a:pt x="46101" y="33401"/>
                </a:lnTo>
                <a:lnTo>
                  <a:pt x="41656" y="27305"/>
                </a:lnTo>
                <a:close/>
              </a:path>
            </a:pathLst>
          </a:custGeom>
          <a:solidFill>
            <a:srgbClr val="D99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524762" y="4929378"/>
            <a:ext cx="6095999" cy="4699"/>
          </a:xfrm>
          <a:custGeom>
            <a:avLst/>
            <a:gdLst/>
            <a:ahLst/>
            <a:cxnLst/>
            <a:rect l="l" t="t" r="r" b="b"/>
            <a:pathLst>
              <a:path w="6095999" h="4699">
                <a:moveTo>
                  <a:pt x="0" y="4699"/>
                </a:moveTo>
                <a:lnTo>
                  <a:pt x="6095999" y="4699"/>
                </a:lnTo>
                <a:lnTo>
                  <a:pt x="6095999" y="0"/>
                </a:lnTo>
                <a:lnTo>
                  <a:pt x="0" y="0"/>
                </a:lnTo>
                <a:lnTo>
                  <a:pt x="0" y="4699"/>
                </a:lnTo>
                <a:close/>
              </a:path>
            </a:pathLst>
          </a:custGeom>
          <a:solidFill>
            <a:srgbClr val="F8E2CA">
              <a:alpha val="902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524762" y="5352923"/>
            <a:ext cx="6095999" cy="4699"/>
          </a:xfrm>
          <a:custGeom>
            <a:avLst/>
            <a:gdLst/>
            <a:ahLst/>
            <a:cxnLst/>
            <a:rect l="l" t="t" r="r" b="b"/>
            <a:pathLst>
              <a:path w="6095999" h="4699">
                <a:moveTo>
                  <a:pt x="0" y="4699"/>
                </a:moveTo>
                <a:lnTo>
                  <a:pt x="6095999" y="4699"/>
                </a:lnTo>
                <a:lnTo>
                  <a:pt x="6095999" y="0"/>
                </a:lnTo>
                <a:lnTo>
                  <a:pt x="0" y="0"/>
                </a:lnTo>
                <a:lnTo>
                  <a:pt x="0" y="4699"/>
                </a:lnTo>
                <a:close/>
              </a:path>
            </a:pathLst>
          </a:custGeom>
          <a:solidFill>
            <a:srgbClr val="F8E2CA">
              <a:alpha val="902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501140" y="4905756"/>
            <a:ext cx="6143244" cy="475488"/>
          </a:xfrm>
          <a:custGeom>
            <a:avLst/>
            <a:gdLst/>
            <a:ahLst/>
            <a:cxnLst/>
            <a:rect l="l" t="t" r="r" b="b"/>
            <a:pathLst>
              <a:path w="6143244" h="475488">
                <a:moveTo>
                  <a:pt x="47243" y="428244"/>
                </a:moveTo>
                <a:lnTo>
                  <a:pt x="37846" y="437642"/>
                </a:lnTo>
                <a:lnTo>
                  <a:pt x="6105398" y="437642"/>
                </a:lnTo>
                <a:lnTo>
                  <a:pt x="47243" y="428244"/>
                </a:lnTo>
                <a:close/>
              </a:path>
              <a:path w="6143244" h="475488">
                <a:moveTo>
                  <a:pt x="1706" y="460723"/>
                </a:moveTo>
                <a:lnTo>
                  <a:pt x="10244" y="471357"/>
                </a:lnTo>
                <a:lnTo>
                  <a:pt x="23621" y="475488"/>
                </a:lnTo>
                <a:lnTo>
                  <a:pt x="6119621" y="475488"/>
                </a:lnTo>
                <a:lnTo>
                  <a:pt x="28321" y="447167"/>
                </a:lnTo>
                <a:lnTo>
                  <a:pt x="28321" y="28321"/>
                </a:lnTo>
                <a:lnTo>
                  <a:pt x="6114923" y="28321"/>
                </a:lnTo>
                <a:lnTo>
                  <a:pt x="6119621" y="0"/>
                </a:lnTo>
                <a:lnTo>
                  <a:pt x="23621" y="0"/>
                </a:lnTo>
                <a:lnTo>
                  <a:pt x="14764" y="1706"/>
                </a:lnTo>
                <a:lnTo>
                  <a:pt x="4130" y="10244"/>
                </a:lnTo>
                <a:lnTo>
                  <a:pt x="0" y="23622"/>
                </a:lnTo>
                <a:lnTo>
                  <a:pt x="0" y="451866"/>
                </a:lnTo>
                <a:lnTo>
                  <a:pt x="1706" y="460723"/>
                </a:lnTo>
                <a:close/>
              </a:path>
              <a:path w="6143244" h="475488">
                <a:moveTo>
                  <a:pt x="6114923" y="28321"/>
                </a:moveTo>
                <a:lnTo>
                  <a:pt x="6114923" y="447167"/>
                </a:lnTo>
                <a:lnTo>
                  <a:pt x="28321" y="447167"/>
                </a:lnTo>
                <a:lnTo>
                  <a:pt x="6119621" y="475488"/>
                </a:lnTo>
                <a:lnTo>
                  <a:pt x="6128479" y="473781"/>
                </a:lnTo>
                <a:lnTo>
                  <a:pt x="6139113" y="465243"/>
                </a:lnTo>
                <a:lnTo>
                  <a:pt x="6143244" y="451866"/>
                </a:lnTo>
                <a:lnTo>
                  <a:pt x="6143244" y="23622"/>
                </a:lnTo>
                <a:lnTo>
                  <a:pt x="6141537" y="14764"/>
                </a:lnTo>
                <a:lnTo>
                  <a:pt x="6132999" y="4130"/>
                </a:lnTo>
                <a:lnTo>
                  <a:pt x="6119621" y="0"/>
                </a:lnTo>
                <a:lnTo>
                  <a:pt x="6114923" y="28321"/>
                </a:lnTo>
                <a:close/>
              </a:path>
              <a:path w="6143244" h="475488">
                <a:moveTo>
                  <a:pt x="37846" y="437642"/>
                </a:moveTo>
                <a:lnTo>
                  <a:pt x="47243" y="428244"/>
                </a:lnTo>
                <a:lnTo>
                  <a:pt x="47243" y="47244"/>
                </a:lnTo>
                <a:lnTo>
                  <a:pt x="6096000" y="47244"/>
                </a:lnTo>
                <a:lnTo>
                  <a:pt x="6096000" y="428244"/>
                </a:lnTo>
                <a:lnTo>
                  <a:pt x="47243" y="428244"/>
                </a:lnTo>
                <a:lnTo>
                  <a:pt x="6105398" y="437642"/>
                </a:lnTo>
                <a:lnTo>
                  <a:pt x="6105398" y="37846"/>
                </a:lnTo>
                <a:lnTo>
                  <a:pt x="37846" y="37846"/>
                </a:lnTo>
                <a:lnTo>
                  <a:pt x="37846" y="437642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529461" y="4934077"/>
            <a:ext cx="6086602" cy="9525"/>
          </a:xfrm>
          <a:custGeom>
            <a:avLst/>
            <a:gdLst/>
            <a:ahLst/>
            <a:cxnLst/>
            <a:rect l="l" t="t" r="r" b="b"/>
            <a:pathLst>
              <a:path w="6086602" h="9525">
                <a:moveTo>
                  <a:pt x="0" y="9525"/>
                </a:moveTo>
                <a:lnTo>
                  <a:pt x="6086602" y="9525"/>
                </a:lnTo>
                <a:lnTo>
                  <a:pt x="6086602" y="0"/>
                </a:lnTo>
                <a:lnTo>
                  <a:pt x="0" y="0"/>
                </a:lnTo>
                <a:lnTo>
                  <a:pt x="0" y="9525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529461" y="5343398"/>
            <a:ext cx="6086602" cy="9525"/>
          </a:xfrm>
          <a:custGeom>
            <a:avLst/>
            <a:gdLst/>
            <a:ahLst/>
            <a:cxnLst/>
            <a:rect l="l" t="t" r="r" b="b"/>
            <a:pathLst>
              <a:path w="6086602" h="9525">
                <a:moveTo>
                  <a:pt x="0" y="9525"/>
                </a:moveTo>
                <a:lnTo>
                  <a:pt x="6086602" y="9525"/>
                </a:lnTo>
                <a:lnTo>
                  <a:pt x="6086602" y="0"/>
                </a:lnTo>
                <a:lnTo>
                  <a:pt x="0" y="0"/>
                </a:lnTo>
                <a:lnTo>
                  <a:pt x="0" y="9525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538986" y="4943602"/>
            <a:ext cx="6067552" cy="9398"/>
          </a:xfrm>
          <a:custGeom>
            <a:avLst/>
            <a:gdLst/>
            <a:ahLst/>
            <a:cxnLst/>
            <a:rect l="l" t="t" r="r" b="b"/>
            <a:pathLst>
              <a:path w="6067552" h="9398">
                <a:moveTo>
                  <a:pt x="0" y="9398"/>
                </a:moveTo>
                <a:lnTo>
                  <a:pt x="6067552" y="9398"/>
                </a:lnTo>
                <a:lnTo>
                  <a:pt x="6067552" y="0"/>
                </a:lnTo>
                <a:lnTo>
                  <a:pt x="0" y="0"/>
                </a:lnTo>
                <a:lnTo>
                  <a:pt x="0" y="9398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538986" y="5334000"/>
            <a:ext cx="6067552" cy="9398"/>
          </a:xfrm>
          <a:custGeom>
            <a:avLst/>
            <a:gdLst/>
            <a:ahLst/>
            <a:cxnLst/>
            <a:rect l="l" t="t" r="r" b="b"/>
            <a:pathLst>
              <a:path w="6067552" h="9398">
                <a:moveTo>
                  <a:pt x="0" y="9398"/>
                </a:moveTo>
                <a:lnTo>
                  <a:pt x="6067552" y="9398"/>
                </a:lnTo>
                <a:lnTo>
                  <a:pt x="6067552" y="0"/>
                </a:lnTo>
                <a:lnTo>
                  <a:pt x="0" y="0"/>
                </a:lnTo>
                <a:lnTo>
                  <a:pt x="0" y="9398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548384" y="4953000"/>
            <a:ext cx="6048756" cy="381000"/>
          </a:xfrm>
          <a:custGeom>
            <a:avLst/>
            <a:gdLst/>
            <a:ahLst/>
            <a:cxnLst/>
            <a:rect l="l" t="t" r="r" b="b"/>
            <a:pathLst>
              <a:path w="6048756" h="381000">
                <a:moveTo>
                  <a:pt x="0" y="381000"/>
                </a:moveTo>
                <a:lnTo>
                  <a:pt x="6048756" y="381000"/>
                </a:lnTo>
                <a:lnTo>
                  <a:pt x="6048756" y="0"/>
                </a:lnTo>
                <a:lnTo>
                  <a:pt x="0" y="0"/>
                </a:lnTo>
                <a:lnTo>
                  <a:pt x="0" y="381000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29562" y="4679442"/>
            <a:ext cx="4267200" cy="501395"/>
          </a:xfrm>
          <a:custGeom>
            <a:avLst/>
            <a:gdLst/>
            <a:ahLst/>
            <a:cxnLst/>
            <a:rect l="l" t="t" r="r" b="b"/>
            <a:pathLst>
              <a:path w="4267200" h="501396">
                <a:moveTo>
                  <a:pt x="0" y="83565"/>
                </a:moveTo>
                <a:lnTo>
                  <a:pt x="120" y="422341"/>
                </a:lnTo>
                <a:lnTo>
                  <a:pt x="12890" y="462396"/>
                </a:lnTo>
                <a:lnTo>
                  <a:pt x="42637" y="490680"/>
                </a:lnTo>
                <a:lnTo>
                  <a:pt x="83565" y="501395"/>
                </a:lnTo>
                <a:lnTo>
                  <a:pt x="4188145" y="501275"/>
                </a:lnTo>
                <a:lnTo>
                  <a:pt x="4228200" y="488505"/>
                </a:lnTo>
                <a:lnTo>
                  <a:pt x="4256484" y="458758"/>
                </a:lnTo>
                <a:lnTo>
                  <a:pt x="4267200" y="417829"/>
                </a:lnTo>
                <a:lnTo>
                  <a:pt x="4267079" y="79054"/>
                </a:lnTo>
                <a:lnTo>
                  <a:pt x="4254309" y="38999"/>
                </a:lnTo>
                <a:lnTo>
                  <a:pt x="4224562" y="10715"/>
                </a:lnTo>
                <a:lnTo>
                  <a:pt x="4183634" y="0"/>
                </a:lnTo>
                <a:lnTo>
                  <a:pt x="79054" y="120"/>
                </a:lnTo>
                <a:lnTo>
                  <a:pt x="38999" y="12890"/>
                </a:lnTo>
                <a:lnTo>
                  <a:pt x="10715" y="42637"/>
                </a:lnTo>
                <a:lnTo>
                  <a:pt x="0" y="835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05939" y="5113908"/>
            <a:ext cx="57658" cy="530860"/>
          </a:xfrm>
          <a:custGeom>
            <a:avLst/>
            <a:gdLst/>
            <a:ahLst/>
            <a:cxnLst/>
            <a:rect l="l" t="t" r="r" b="b"/>
            <a:pathLst>
              <a:path w="57658" h="530860">
                <a:moveTo>
                  <a:pt x="53086" y="26924"/>
                </a:moveTo>
                <a:lnTo>
                  <a:pt x="57658" y="32004"/>
                </a:lnTo>
                <a:lnTo>
                  <a:pt x="53975" y="11049"/>
                </a:lnTo>
                <a:lnTo>
                  <a:pt x="51435" y="5588"/>
                </a:lnTo>
                <a:lnTo>
                  <a:pt x="49530" y="0"/>
                </a:lnTo>
                <a:lnTo>
                  <a:pt x="49276" y="21717"/>
                </a:lnTo>
                <a:lnTo>
                  <a:pt x="53086" y="26924"/>
                </a:lnTo>
                <a:close/>
              </a:path>
              <a:path w="57658" h="530860">
                <a:moveTo>
                  <a:pt x="37846" y="-350900"/>
                </a:moveTo>
                <a:lnTo>
                  <a:pt x="37718" y="-17398"/>
                </a:lnTo>
                <a:lnTo>
                  <a:pt x="39116" y="-3174"/>
                </a:lnTo>
                <a:lnTo>
                  <a:pt x="42926" y="9779"/>
                </a:lnTo>
                <a:lnTo>
                  <a:pt x="49276" y="21717"/>
                </a:lnTo>
                <a:lnTo>
                  <a:pt x="49530" y="0"/>
                </a:lnTo>
                <a:lnTo>
                  <a:pt x="48260" y="-5460"/>
                </a:lnTo>
                <a:lnTo>
                  <a:pt x="47498" y="-11556"/>
                </a:lnTo>
                <a:lnTo>
                  <a:pt x="47243" y="-17906"/>
                </a:lnTo>
                <a:lnTo>
                  <a:pt x="47243" y="-350900"/>
                </a:lnTo>
                <a:lnTo>
                  <a:pt x="61722" y="-390143"/>
                </a:lnTo>
                <a:lnTo>
                  <a:pt x="96139" y="-409828"/>
                </a:lnTo>
                <a:lnTo>
                  <a:pt x="108585" y="-410844"/>
                </a:lnTo>
                <a:lnTo>
                  <a:pt x="4207256" y="-410844"/>
                </a:lnTo>
                <a:lnTo>
                  <a:pt x="4246245" y="-396493"/>
                </a:lnTo>
                <a:lnTo>
                  <a:pt x="4266184" y="-361949"/>
                </a:lnTo>
                <a:lnTo>
                  <a:pt x="4267200" y="-349503"/>
                </a:lnTo>
                <a:lnTo>
                  <a:pt x="4267200" y="-16636"/>
                </a:lnTo>
                <a:lnTo>
                  <a:pt x="4252849" y="22479"/>
                </a:lnTo>
                <a:lnTo>
                  <a:pt x="4218432" y="42291"/>
                </a:lnTo>
                <a:lnTo>
                  <a:pt x="4205986" y="43307"/>
                </a:lnTo>
                <a:lnTo>
                  <a:pt x="107187" y="43307"/>
                </a:lnTo>
                <a:lnTo>
                  <a:pt x="67945" y="28829"/>
                </a:lnTo>
                <a:lnTo>
                  <a:pt x="53975" y="11049"/>
                </a:lnTo>
                <a:lnTo>
                  <a:pt x="57658" y="32004"/>
                </a:lnTo>
                <a:lnTo>
                  <a:pt x="92456" y="51181"/>
                </a:lnTo>
                <a:lnTo>
                  <a:pt x="4206494" y="52832"/>
                </a:lnTo>
                <a:lnTo>
                  <a:pt x="4213733" y="52451"/>
                </a:lnTo>
                <a:lnTo>
                  <a:pt x="4250817" y="37465"/>
                </a:lnTo>
                <a:lnTo>
                  <a:pt x="4273296" y="4826"/>
                </a:lnTo>
                <a:lnTo>
                  <a:pt x="4276725" y="-350011"/>
                </a:lnTo>
                <a:lnTo>
                  <a:pt x="4276344" y="-357377"/>
                </a:lnTo>
                <a:lnTo>
                  <a:pt x="4261358" y="-394461"/>
                </a:lnTo>
                <a:lnTo>
                  <a:pt x="4228719" y="-416940"/>
                </a:lnTo>
                <a:lnTo>
                  <a:pt x="108077" y="-420369"/>
                </a:lnTo>
                <a:lnTo>
                  <a:pt x="100711" y="-419988"/>
                </a:lnTo>
                <a:lnTo>
                  <a:pt x="63627" y="-405002"/>
                </a:lnTo>
                <a:lnTo>
                  <a:pt x="41148" y="-372236"/>
                </a:lnTo>
                <a:lnTo>
                  <a:pt x="38227" y="-358647"/>
                </a:lnTo>
                <a:lnTo>
                  <a:pt x="37846" y="-350900"/>
                </a:lnTo>
                <a:close/>
              </a:path>
              <a:path w="57658" h="530860">
                <a:moveTo>
                  <a:pt x="56768" y="44069"/>
                </a:moveTo>
                <a:lnTo>
                  <a:pt x="51308" y="38989"/>
                </a:lnTo>
                <a:lnTo>
                  <a:pt x="46101" y="33401"/>
                </a:lnTo>
                <a:lnTo>
                  <a:pt x="48133" y="72771"/>
                </a:lnTo>
                <a:lnTo>
                  <a:pt x="86868" y="88519"/>
                </a:lnTo>
                <a:lnTo>
                  <a:pt x="107187" y="90551"/>
                </a:lnTo>
                <a:lnTo>
                  <a:pt x="4208653" y="90551"/>
                </a:lnTo>
                <a:lnTo>
                  <a:pt x="4250182" y="81534"/>
                </a:lnTo>
                <a:lnTo>
                  <a:pt x="4283710" y="58420"/>
                </a:lnTo>
                <a:lnTo>
                  <a:pt x="4306443" y="24130"/>
                </a:lnTo>
                <a:lnTo>
                  <a:pt x="4314444" y="-16636"/>
                </a:lnTo>
                <a:lnTo>
                  <a:pt x="4314444" y="-352170"/>
                </a:lnTo>
                <a:lnTo>
                  <a:pt x="4305554" y="-393699"/>
                </a:lnTo>
                <a:lnTo>
                  <a:pt x="4282313" y="-427354"/>
                </a:lnTo>
                <a:lnTo>
                  <a:pt x="4248023" y="-450087"/>
                </a:lnTo>
                <a:lnTo>
                  <a:pt x="4207256" y="-458088"/>
                </a:lnTo>
                <a:lnTo>
                  <a:pt x="105918" y="-458088"/>
                </a:lnTo>
                <a:lnTo>
                  <a:pt x="64389" y="-449198"/>
                </a:lnTo>
                <a:lnTo>
                  <a:pt x="30734" y="-425957"/>
                </a:lnTo>
                <a:lnTo>
                  <a:pt x="8001" y="-391667"/>
                </a:lnTo>
                <a:lnTo>
                  <a:pt x="0" y="-350900"/>
                </a:lnTo>
                <a:lnTo>
                  <a:pt x="0" y="-15239"/>
                </a:lnTo>
                <a:lnTo>
                  <a:pt x="9017" y="26289"/>
                </a:lnTo>
                <a:lnTo>
                  <a:pt x="32131" y="59817"/>
                </a:lnTo>
                <a:lnTo>
                  <a:pt x="31750" y="6604"/>
                </a:lnTo>
                <a:lnTo>
                  <a:pt x="29972" y="-888"/>
                </a:lnTo>
                <a:lnTo>
                  <a:pt x="28829" y="-8762"/>
                </a:lnTo>
                <a:lnTo>
                  <a:pt x="28321" y="-16890"/>
                </a:lnTo>
                <a:lnTo>
                  <a:pt x="28321" y="-350900"/>
                </a:lnTo>
                <a:lnTo>
                  <a:pt x="37973" y="-388746"/>
                </a:lnTo>
                <a:lnTo>
                  <a:pt x="69850" y="-420369"/>
                </a:lnTo>
                <a:lnTo>
                  <a:pt x="107568" y="-429767"/>
                </a:lnTo>
                <a:lnTo>
                  <a:pt x="4207256" y="-429767"/>
                </a:lnTo>
                <a:lnTo>
                  <a:pt x="4244975" y="-420115"/>
                </a:lnTo>
                <a:lnTo>
                  <a:pt x="4276725" y="-388238"/>
                </a:lnTo>
                <a:lnTo>
                  <a:pt x="4286123" y="-350519"/>
                </a:lnTo>
                <a:lnTo>
                  <a:pt x="4286123" y="-16636"/>
                </a:lnTo>
                <a:lnTo>
                  <a:pt x="4276471" y="21082"/>
                </a:lnTo>
                <a:lnTo>
                  <a:pt x="4244721" y="52832"/>
                </a:lnTo>
                <a:lnTo>
                  <a:pt x="4207002" y="62230"/>
                </a:lnTo>
                <a:lnTo>
                  <a:pt x="107187" y="62230"/>
                </a:lnTo>
                <a:lnTo>
                  <a:pt x="69342" y="52578"/>
                </a:lnTo>
                <a:lnTo>
                  <a:pt x="56768" y="44069"/>
                </a:lnTo>
                <a:close/>
              </a:path>
              <a:path w="57658" h="530860">
                <a:moveTo>
                  <a:pt x="41656" y="27305"/>
                </a:moveTo>
                <a:lnTo>
                  <a:pt x="37718" y="20828"/>
                </a:lnTo>
                <a:lnTo>
                  <a:pt x="34417" y="13843"/>
                </a:lnTo>
                <a:lnTo>
                  <a:pt x="31750" y="6604"/>
                </a:lnTo>
                <a:lnTo>
                  <a:pt x="32131" y="59817"/>
                </a:lnTo>
                <a:lnTo>
                  <a:pt x="40005" y="66929"/>
                </a:lnTo>
                <a:lnTo>
                  <a:pt x="48133" y="72771"/>
                </a:lnTo>
                <a:lnTo>
                  <a:pt x="46101" y="33401"/>
                </a:lnTo>
                <a:lnTo>
                  <a:pt x="41656" y="27305"/>
                </a:lnTo>
                <a:close/>
              </a:path>
            </a:pathLst>
          </a:custGeom>
          <a:solidFill>
            <a:srgbClr val="D99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524762" y="5700522"/>
            <a:ext cx="6095999" cy="4724"/>
          </a:xfrm>
          <a:custGeom>
            <a:avLst/>
            <a:gdLst/>
            <a:ahLst/>
            <a:cxnLst/>
            <a:rect l="l" t="t" r="r" b="b"/>
            <a:pathLst>
              <a:path w="6095999" h="4724">
                <a:moveTo>
                  <a:pt x="0" y="4724"/>
                </a:moveTo>
                <a:lnTo>
                  <a:pt x="6095999" y="4724"/>
                </a:lnTo>
                <a:lnTo>
                  <a:pt x="6095999" y="0"/>
                </a:lnTo>
                <a:lnTo>
                  <a:pt x="0" y="0"/>
                </a:lnTo>
                <a:lnTo>
                  <a:pt x="0" y="4724"/>
                </a:lnTo>
                <a:close/>
              </a:path>
            </a:pathLst>
          </a:custGeom>
          <a:solidFill>
            <a:srgbClr val="F8E2CA">
              <a:alpha val="902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24762" y="6124041"/>
            <a:ext cx="6095999" cy="4724"/>
          </a:xfrm>
          <a:custGeom>
            <a:avLst/>
            <a:gdLst/>
            <a:ahLst/>
            <a:cxnLst/>
            <a:rect l="l" t="t" r="r" b="b"/>
            <a:pathLst>
              <a:path w="6095999" h="4724">
                <a:moveTo>
                  <a:pt x="0" y="4724"/>
                </a:moveTo>
                <a:lnTo>
                  <a:pt x="6095999" y="4724"/>
                </a:lnTo>
                <a:lnTo>
                  <a:pt x="6095999" y="0"/>
                </a:lnTo>
                <a:lnTo>
                  <a:pt x="0" y="0"/>
                </a:lnTo>
                <a:lnTo>
                  <a:pt x="0" y="4724"/>
                </a:lnTo>
                <a:close/>
              </a:path>
            </a:pathLst>
          </a:custGeom>
          <a:solidFill>
            <a:srgbClr val="F8E2CA">
              <a:alpha val="90200"/>
            </a:srgbClr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501140" y="5676900"/>
            <a:ext cx="6143244" cy="475488"/>
          </a:xfrm>
          <a:custGeom>
            <a:avLst/>
            <a:gdLst/>
            <a:ahLst/>
            <a:cxnLst/>
            <a:rect l="l" t="t" r="r" b="b"/>
            <a:pathLst>
              <a:path w="6143244" h="475488">
                <a:moveTo>
                  <a:pt x="47243" y="428244"/>
                </a:moveTo>
                <a:lnTo>
                  <a:pt x="37846" y="437692"/>
                </a:lnTo>
                <a:lnTo>
                  <a:pt x="6105398" y="437692"/>
                </a:lnTo>
                <a:lnTo>
                  <a:pt x="47243" y="428244"/>
                </a:lnTo>
                <a:close/>
              </a:path>
              <a:path w="6143244" h="475488">
                <a:moveTo>
                  <a:pt x="1706" y="460707"/>
                </a:moveTo>
                <a:lnTo>
                  <a:pt x="10244" y="471347"/>
                </a:lnTo>
                <a:lnTo>
                  <a:pt x="23621" y="475488"/>
                </a:lnTo>
                <a:lnTo>
                  <a:pt x="6119621" y="475488"/>
                </a:lnTo>
                <a:lnTo>
                  <a:pt x="28321" y="447141"/>
                </a:lnTo>
                <a:lnTo>
                  <a:pt x="28321" y="28346"/>
                </a:lnTo>
                <a:lnTo>
                  <a:pt x="6114923" y="28346"/>
                </a:lnTo>
                <a:lnTo>
                  <a:pt x="6119621" y="0"/>
                </a:lnTo>
                <a:lnTo>
                  <a:pt x="23621" y="0"/>
                </a:lnTo>
                <a:lnTo>
                  <a:pt x="14764" y="1711"/>
                </a:lnTo>
                <a:lnTo>
                  <a:pt x="4130" y="10260"/>
                </a:lnTo>
                <a:lnTo>
                  <a:pt x="0" y="23621"/>
                </a:lnTo>
                <a:lnTo>
                  <a:pt x="0" y="451866"/>
                </a:lnTo>
                <a:lnTo>
                  <a:pt x="1706" y="460707"/>
                </a:lnTo>
                <a:close/>
              </a:path>
              <a:path w="6143244" h="475488">
                <a:moveTo>
                  <a:pt x="6114923" y="28346"/>
                </a:moveTo>
                <a:lnTo>
                  <a:pt x="6114923" y="447141"/>
                </a:lnTo>
                <a:lnTo>
                  <a:pt x="28321" y="447141"/>
                </a:lnTo>
                <a:lnTo>
                  <a:pt x="6119621" y="475488"/>
                </a:lnTo>
                <a:lnTo>
                  <a:pt x="6128479" y="473776"/>
                </a:lnTo>
                <a:lnTo>
                  <a:pt x="6139113" y="465227"/>
                </a:lnTo>
                <a:lnTo>
                  <a:pt x="6143244" y="451866"/>
                </a:lnTo>
                <a:lnTo>
                  <a:pt x="6143244" y="23621"/>
                </a:lnTo>
                <a:lnTo>
                  <a:pt x="6141537" y="14780"/>
                </a:lnTo>
                <a:lnTo>
                  <a:pt x="6132999" y="4140"/>
                </a:lnTo>
                <a:lnTo>
                  <a:pt x="6119621" y="0"/>
                </a:lnTo>
                <a:lnTo>
                  <a:pt x="6114923" y="28346"/>
                </a:lnTo>
                <a:close/>
              </a:path>
              <a:path w="6143244" h="475488">
                <a:moveTo>
                  <a:pt x="37846" y="437692"/>
                </a:moveTo>
                <a:lnTo>
                  <a:pt x="47243" y="428244"/>
                </a:lnTo>
                <a:lnTo>
                  <a:pt x="47243" y="47243"/>
                </a:lnTo>
                <a:lnTo>
                  <a:pt x="6096000" y="47243"/>
                </a:lnTo>
                <a:lnTo>
                  <a:pt x="6096000" y="428244"/>
                </a:lnTo>
                <a:lnTo>
                  <a:pt x="47243" y="428244"/>
                </a:lnTo>
                <a:lnTo>
                  <a:pt x="6105398" y="437692"/>
                </a:lnTo>
                <a:lnTo>
                  <a:pt x="6105398" y="37795"/>
                </a:lnTo>
                <a:lnTo>
                  <a:pt x="37846" y="37795"/>
                </a:lnTo>
                <a:lnTo>
                  <a:pt x="37846" y="437692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529461" y="5705246"/>
            <a:ext cx="6086602" cy="9448"/>
          </a:xfrm>
          <a:custGeom>
            <a:avLst/>
            <a:gdLst/>
            <a:ahLst/>
            <a:cxnLst/>
            <a:rect l="l" t="t" r="r" b="b"/>
            <a:pathLst>
              <a:path w="6086602" h="9448">
                <a:moveTo>
                  <a:pt x="0" y="9448"/>
                </a:moveTo>
                <a:lnTo>
                  <a:pt x="6086602" y="9448"/>
                </a:lnTo>
                <a:lnTo>
                  <a:pt x="6086602" y="0"/>
                </a:lnTo>
                <a:lnTo>
                  <a:pt x="0" y="0"/>
                </a:lnTo>
                <a:lnTo>
                  <a:pt x="0" y="9448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529461" y="6114592"/>
            <a:ext cx="6086602" cy="9448"/>
          </a:xfrm>
          <a:custGeom>
            <a:avLst/>
            <a:gdLst/>
            <a:ahLst/>
            <a:cxnLst/>
            <a:rect l="l" t="t" r="r" b="b"/>
            <a:pathLst>
              <a:path w="6086602" h="9448">
                <a:moveTo>
                  <a:pt x="0" y="9448"/>
                </a:moveTo>
                <a:lnTo>
                  <a:pt x="6086602" y="9448"/>
                </a:lnTo>
                <a:lnTo>
                  <a:pt x="6086602" y="0"/>
                </a:lnTo>
                <a:lnTo>
                  <a:pt x="0" y="0"/>
                </a:lnTo>
                <a:lnTo>
                  <a:pt x="0" y="9448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38986" y="5714695"/>
            <a:ext cx="6067552" cy="9448"/>
          </a:xfrm>
          <a:custGeom>
            <a:avLst/>
            <a:gdLst/>
            <a:ahLst/>
            <a:cxnLst/>
            <a:rect l="l" t="t" r="r" b="b"/>
            <a:pathLst>
              <a:path w="6067552" h="9448">
                <a:moveTo>
                  <a:pt x="0" y="9448"/>
                </a:moveTo>
                <a:lnTo>
                  <a:pt x="6067552" y="9448"/>
                </a:lnTo>
                <a:lnTo>
                  <a:pt x="6067552" y="0"/>
                </a:lnTo>
                <a:lnTo>
                  <a:pt x="0" y="0"/>
                </a:lnTo>
                <a:lnTo>
                  <a:pt x="0" y="9448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538986" y="6105144"/>
            <a:ext cx="6067552" cy="9448"/>
          </a:xfrm>
          <a:custGeom>
            <a:avLst/>
            <a:gdLst/>
            <a:ahLst/>
            <a:cxnLst/>
            <a:rect l="l" t="t" r="r" b="b"/>
            <a:pathLst>
              <a:path w="6067552" h="9448">
                <a:moveTo>
                  <a:pt x="0" y="9448"/>
                </a:moveTo>
                <a:lnTo>
                  <a:pt x="6067552" y="9448"/>
                </a:lnTo>
                <a:lnTo>
                  <a:pt x="6067552" y="0"/>
                </a:lnTo>
                <a:lnTo>
                  <a:pt x="0" y="0"/>
                </a:lnTo>
                <a:lnTo>
                  <a:pt x="0" y="9448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548384" y="5724144"/>
            <a:ext cx="6048756" cy="381000"/>
          </a:xfrm>
          <a:custGeom>
            <a:avLst/>
            <a:gdLst/>
            <a:ahLst/>
            <a:cxnLst/>
            <a:rect l="l" t="t" r="r" b="b"/>
            <a:pathLst>
              <a:path w="6048756" h="381000">
                <a:moveTo>
                  <a:pt x="0" y="380999"/>
                </a:moveTo>
                <a:lnTo>
                  <a:pt x="6048756" y="380999"/>
                </a:lnTo>
                <a:lnTo>
                  <a:pt x="6048756" y="0"/>
                </a:lnTo>
                <a:lnTo>
                  <a:pt x="0" y="0"/>
                </a:lnTo>
                <a:lnTo>
                  <a:pt x="0" y="380999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29562" y="5450586"/>
            <a:ext cx="4267200" cy="501395"/>
          </a:xfrm>
          <a:custGeom>
            <a:avLst/>
            <a:gdLst/>
            <a:ahLst/>
            <a:cxnLst/>
            <a:rect l="l" t="t" r="r" b="b"/>
            <a:pathLst>
              <a:path w="4267200" h="501395">
                <a:moveTo>
                  <a:pt x="0" y="83565"/>
                </a:moveTo>
                <a:lnTo>
                  <a:pt x="120" y="422346"/>
                </a:lnTo>
                <a:lnTo>
                  <a:pt x="12890" y="462419"/>
                </a:lnTo>
                <a:lnTo>
                  <a:pt x="42637" y="490690"/>
                </a:lnTo>
                <a:lnTo>
                  <a:pt x="83565" y="501395"/>
                </a:lnTo>
                <a:lnTo>
                  <a:pt x="4188145" y="501276"/>
                </a:lnTo>
                <a:lnTo>
                  <a:pt x="4228200" y="488518"/>
                </a:lnTo>
                <a:lnTo>
                  <a:pt x="4256484" y="458781"/>
                </a:lnTo>
                <a:lnTo>
                  <a:pt x="4267200" y="417829"/>
                </a:lnTo>
                <a:lnTo>
                  <a:pt x="4267079" y="79054"/>
                </a:lnTo>
                <a:lnTo>
                  <a:pt x="4254309" y="38999"/>
                </a:lnTo>
                <a:lnTo>
                  <a:pt x="4224562" y="10715"/>
                </a:lnTo>
                <a:lnTo>
                  <a:pt x="4183634" y="0"/>
                </a:lnTo>
                <a:lnTo>
                  <a:pt x="79054" y="120"/>
                </a:lnTo>
                <a:lnTo>
                  <a:pt x="38999" y="12890"/>
                </a:lnTo>
                <a:lnTo>
                  <a:pt x="10715" y="42637"/>
                </a:lnTo>
                <a:lnTo>
                  <a:pt x="0" y="8356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05939" y="5885103"/>
            <a:ext cx="57658" cy="530885"/>
          </a:xfrm>
          <a:custGeom>
            <a:avLst/>
            <a:gdLst/>
            <a:ahLst/>
            <a:cxnLst/>
            <a:rect l="l" t="t" r="r" b="b"/>
            <a:pathLst>
              <a:path w="57658" h="530885">
                <a:moveTo>
                  <a:pt x="53086" y="26898"/>
                </a:moveTo>
                <a:lnTo>
                  <a:pt x="57658" y="31965"/>
                </a:lnTo>
                <a:lnTo>
                  <a:pt x="53975" y="10960"/>
                </a:lnTo>
                <a:lnTo>
                  <a:pt x="51435" y="5575"/>
                </a:lnTo>
                <a:lnTo>
                  <a:pt x="49530" y="0"/>
                </a:lnTo>
                <a:lnTo>
                  <a:pt x="49276" y="21640"/>
                </a:lnTo>
                <a:lnTo>
                  <a:pt x="53086" y="26898"/>
                </a:lnTo>
                <a:close/>
              </a:path>
              <a:path w="57658" h="530885">
                <a:moveTo>
                  <a:pt x="37846" y="-350951"/>
                </a:moveTo>
                <a:lnTo>
                  <a:pt x="37718" y="-17437"/>
                </a:lnTo>
                <a:lnTo>
                  <a:pt x="39116" y="-3238"/>
                </a:lnTo>
                <a:lnTo>
                  <a:pt x="42926" y="9715"/>
                </a:lnTo>
                <a:lnTo>
                  <a:pt x="49276" y="21640"/>
                </a:lnTo>
                <a:lnTo>
                  <a:pt x="49530" y="0"/>
                </a:lnTo>
                <a:lnTo>
                  <a:pt x="48260" y="-5524"/>
                </a:lnTo>
                <a:lnTo>
                  <a:pt x="47498" y="-11569"/>
                </a:lnTo>
                <a:lnTo>
                  <a:pt x="47243" y="-17970"/>
                </a:lnTo>
                <a:lnTo>
                  <a:pt x="47243" y="-350951"/>
                </a:lnTo>
                <a:lnTo>
                  <a:pt x="61722" y="-390194"/>
                </a:lnTo>
                <a:lnTo>
                  <a:pt x="96139" y="-409879"/>
                </a:lnTo>
                <a:lnTo>
                  <a:pt x="108585" y="-410895"/>
                </a:lnTo>
                <a:lnTo>
                  <a:pt x="4207256" y="-410895"/>
                </a:lnTo>
                <a:lnTo>
                  <a:pt x="4246245" y="-396544"/>
                </a:lnTo>
                <a:lnTo>
                  <a:pt x="4266184" y="-362000"/>
                </a:lnTo>
                <a:lnTo>
                  <a:pt x="4267200" y="-349554"/>
                </a:lnTo>
                <a:lnTo>
                  <a:pt x="4267200" y="-16662"/>
                </a:lnTo>
                <a:lnTo>
                  <a:pt x="4252849" y="22364"/>
                </a:lnTo>
                <a:lnTo>
                  <a:pt x="4218432" y="42240"/>
                </a:lnTo>
                <a:lnTo>
                  <a:pt x="4205986" y="43294"/>
                </a:lnTo>
                <a:lnTo>
                  <a:pt x="107187" y="43256"/>
                </a:lnTo>
                <a:lnTo>
                  <a:pt x="67945" y="28790"/>
                </a:lnTo>
                <a:lnTo>
                  <a:pt x="53975" y="10960"/>
                </a:lnTo>
                <a:lnTo>
                  <a:pt x="57658" y="31965"/>
                </a:lnTo>
                <a:lnTo>
                  <a:pt x="92456" y="51142"/>
                </a:lnTo>
                <a:lnTo>
                  <a:pt x="4206494" y="52730"/>
                </a:lnTo>
                <a:lnTo>
                  <a:pt x="4213733" y="52387"/>
                </a:lnTo>
                <a:lnTo>
                  <a:pt x="4250817" y="37388"/>
                </a:lnTo>
                <a:lnTo>
                  <a:pt x="4273296" y="4762"/>
                </a:lnTo>
                <a:lnTo>
                  <a:pt x="4276725" y="-350062"/>
                </a:lnTo>
                <a:lnTo>
                  <a:pt x="4276344" y="-357428"/>
                </a:lnTo>
                <a:lnTo>
                  <a:pt x="4261358" y="-394512"/>
                </a:lnTo>
                <a:lnTo>
                  <a:pt x="4228719" y="-416991"/>
                </a:lnTo>
                <a:lnTo>
                  <a:pt x="108077" y="-420420"/>
                </a:lnTo>
                <a:lnTo>
                  <a:pt x="100711" y="-420039"/>
                </a:lnTo>
                <a:lnTo>
                  <a:pt x="63627" y="-405053"/>
                </a:lnTo>
                <a:lnTo>
                  <a:pt x="41148" y="-372287"/>
                </a:lnTo>
                <a:lnTo>
                  <a:pt x="38227" y="-358698"/>
                </a:lnTo>
                <a:lnTo>
                  <a:pt x="37846" y="-350951"/>
                </a:lnTo>
                <a:close/>
              </a:path>
              <a:path w="57658" h="530885">
                <a:moveTo>
                  <a:pt x="56768" y="44018"/>
                </a:moveTo>
                <a:lnTo>
                  <a:pt x="51308" y="38925"/>
                </a:lnTo>
                <a:lnTo>
                  <a:pt x="46101" y="33299"/>
                </a:lnTo>
                <a:lnTo>
                  <a:pt x="48133" y="72745"/>
                </a:lnTo>
                <a:lnTo>
                  <a:pt x="86868" y="88518"/>
                </a:lnTo>
                <a:lnTo>
                  <a:pt x="107187" y="90500"/>
                </a:lnTo>
                <a:lnTo>
                  <a:pt x="4208653" y="90462"/>
                </a:lnTo>
                <a:lnTo>
                  <a:pt x="4250182" y="81546"/>
                </a:lnTo>
                <a:lnTo>
                  <a:pt x="4283710" y="58381"/>
                </a:lnTo>
                <a:lnTo>
                  <a:pt x="4306443" y="24117"/>
                </a:lnTo>
                <a:lnTo>
                  <a:pt x="4314444" y="-16662"/>
                </a:lnTo>
                <a:lnTo>
                  <a:pt x="4314444" y="-352221"/>
                </a:lnTo>
                <a:lnTo>
                  <a:pt x="4305554" y="-393750"/>
                </a:lnTo>
                <a:lnTo>
                  <a:pt x="4282313" y="-427405"/>
                </a:lnTo>
                <a:lnTo>
                  <a:pt x="4248023" y="-450138"/>
                </a:lnTo>
                <a:lnTo>
                  <a:pt x="4207256" y="-458139"/>
                </a:lnTo>
                <a:lnTo>
                  <a:pt x="105918" y="-458139"/>
                </a:lnTo>
                <a:lnTo>
                  <a:pt x="64389" y="-449249"/>
                </a:lnTo>
                <a:lnTo>
                  <a:pt x="30734" y="-426008"/>
                </a:lnTo>
                <a:lnTo>
                  <a:pt x="8001" y="-391718"/>
                </a:lnTo>
                <a:lnTo>
                  <a:pt x="0" y="-350951"/>
                </a:lnTo>
                <a:lnTo>
                  <a:pt x="0" y="-15341"/>
                </a:lnTo>
                <a:lnTo>
                  <a:pt x="9017" y="26263"/>
                </a:lnTo>
                <a:lnTo>
                  <a:pt x="32131" y="59791"/>
                </a:lnTo>
                <a:lnTo>
                  <a:pt x="31750" y="6565"/>
                </a:lnTo>
                <a:lnTo>
                  <a:pt x="29972" y="-939"/>
                </a:lnTo>
                <a:lnTo>
                  <a:pt x="28829" y="-8788"/>
                </a:lnTo>
                <a:lnTo>
                  <a:pt x="28321" y="-16916"/>
                </a:lnTo>
                <a:lnTo>
                  <a:pt x="28321" y="-350951"/>
                </a:lnTo>
                <a:lnTo>
                  <a:pt x="37973" y="-388797"/>
                </a:lnTo>
                <a:lnTo>
                  <a:pt x="69850" y="-420420"/>
                </a:lnTo>
                <a:lnTo>
                  <a:pt x="107568" y="-429818"/>
                </a:lnTo>
                <a:lnTo>
                  <a:pt x="4207256" y="-429818"/>
                </a:lnTo>
                <a:lnTo>
                  <a:pt x="4244975" y="-420166"/>
                </a:lnTo>
                <a:lnTo>
                  <a:pt x="4276725" y="-388289"/>
                </a:lnTo>
                <a:lnTo>
                  <a:pt x="4286123" y="-350570"/>
                </a:lnTo>
                <a:lnTo>
                  <a:pt x="4286123" y="-16662"/>
                </a:lnTo>
                <a:lnTo>
                  <a:pt x="4276471" y="21094"/>
                </a:lnTo>
                <a:lnTo>
                  <a:pt x="4244721" y="52730"/>
                </a:lnTo>
                <a:lnTo>
                  <a:pt x="4207002" y="62166"/>
                </a:lnTo>
                <a:lnTo>
                  <a:pt x="107187" y="62153"/>
                </a:lnTo>
                <a:lnTo>
                  <a:pt x="69342" y="52527"/>
                </a:lnTo>
                <a:lnTo>
                  <a:pt x="56768" y="44018"/>
                </a:lnTo>
                <a:close/>
              </a:path>
              <a:path w="57658" h="530885">
                <a:moveTo>
                  <a:pt x="41656" y="27279"/>
                </a:moveTo>
                <a:lnTo>
                  <a:pt x="37718" y="20713"/>
                </a:lnTo>
                <a:lnTo>
                  <a:pt x="34417" y="13855"/>
                </a:lnTo>
                <a:lnTo>
                  <a:pt x="31750" y="6565"/>
                </a:lnTo>
                <a:lnTo>
                  <a:pt x="32131" y="59791"/>
                </a:lnTo>
                <a:lnTo>
                  <a:pt x="40005" y="66852"/>
                </a:lnTo>
                <a:lnTo>
                  <a:pt x="48133" y="72745"/>
                </a:lnTo>
                <a:lnTo>
                  <a:pt x="46101" y="33299"/>
                </a:lnTo>
                <a:lnTo>
                  <a:pt x="41656" y="27279"/>
                </a:lnTo>
                <a:close/>
              </a:path>
            </a:pathLst>
          </a:custGeom>
          <a:solidFill>
            <a:srgbClr val="D99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002282" y="1732637"/>
            <a:ext cx="1723876" cy="241808"/>
          </a:xfrm>
          <a:prstGeom prst="rect">
            <a:avLst/>
          </a:prstGeom>
        </p:spPr>
        <p:txBody>
          <a:bodyPr wrap="square" lIns="0" tIns="11461" rIns="0" bIns="0" rtlCol="0">
            <a:noAutofit/>
          </a:bodyPr>
          <a:lstStyle/>
          <a:p>
            <a:pPr marL="12700">
              <a:lnSpc>
                <a:spcPts val="1805"/>
              </a:lnSpc>
            </a:pPr>
            <a:r>
              <a:rPr sz="1700" spc="0" dirty="0" smtClean="0">
                <a:latin typeface="Corbel"/>
                <a:cs typeface="Corbel"/>
              </a:rPr>
              <a:t>Memory Hierarchy</a:t>
            </a:r>
            <a:endParaRPr sz="1700">
              <a:latin typeface="Corbel"/>
              <a:cs typeface="Corbe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02282" y="2503781"/>
            <a:ext cx="1306858" cy="241808"/>
          </a:xfrm>
          <a:prstGeom prst="rect">
            <a:avLst/>
          </a:prstGeom>
        </p:spPr>
        <p:txBody>
          <a:bodyPr wrap="square" lIns="0" tIns="11461" rIns="0" bIns="0" rtlCol="0">
            <a:noAutofit/>
          </a:bodyPr>
          <a:lstStyle/>
          <a:p>
            <a:pPr marL="12700">
              <a:lnSpc>
                <a:spcPts val="1805"/>
              </a:lnSpc>
            </a:pPr>
            <a:r>
              <a:rPr sz="1700" spc="0" dirty="0" smtClean="0">
                <a:latin typeface="Corbel"/>
                <a:cs typeface="Corbel"/>
              </a:rPr>
              <a:t>Main Memory</a:t>
            </a:r>
            <a:endParaRPr sz="1700">
              <a:latin typeface="Corbel"/>
              <a:cs typeface="Corbe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02282" y="3275179"/>
            <a:ext cx="1639221" cy="241808"/>
          </a:xfrm>
          <a:prstGeom prst="rect">
            <a:avLst/>
          </a:prstGeom>
        </p:spPr>
        <p:txBody>
          <a:bodyPr wrap="square" lIns="0" tIns="11461" rIns="0" bIns="0" rtlCol="0">
            <a:noAutofit/>
          </a:bodyPr>
          <a:lstStyle/>
          <a:p>
            <a:pPr marL="12700">
              <a:lnSpc>
                <a:spcPts val="1805"/>
              </a:lnSpc>
            </a:pPr>
            <a:r>
              <a:rPr sz="1700" spc="0" dirty="0" smtClean="0">
                <a:latin typeface="Corbel"/>
                <a:cs typeface="Corbel"/>
              </a:rPr>
              <a:t>Auxiliary Memory</a:t>
            </a:r>
            <a:endParaRPr sz="17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02282" y="4046323"/>
            <a:ext cx="1869086" cy="241807"/>
          </a:xfrm>
          <a:prstGeom prst="rect">
            <a:avLst/>
          </a:prstGeom>
        </p:spPr>
        <p:txBody>
          <a:bodyPr wrap="square" lIns="0" tIns="11461" rIns="0" bIns="0" rtlCol="0">
            <a:noAutofit/>
          </a:bodyPr>
          <a:lstStyle/>
          <a:p>
            <a:pPr marL="12700">
              <a:lnSpc>
                <a:spcPts val="1805"/>
              </a:lnSpc>
            </a:pPr>
            <a:r>
              <a:rPr sz="1700" spc="0" dirty="0" smtClean="0">
                <a:latin typeface="Corbel"/>
                <a:cs typeface="Corbel"/>
              </a:rPr>
              <a:t>Associative Memory</a:t>
            </a:r>
            <a:endParaRPr sz="1700">
              <a:latin typeface="Corbel"/>
              <a:cs typeface="Corbe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02282" y="4817241"/>
            <a:ext cx="1408992" cy="242112"/>
          </a:xfrm>
          <a:prstGeom prst="rect">
            <a:avLst/>
          </a:prstGeom>
        </p:spPr>
        <p:txBody>
          <a:bodyPr wrap="square" lIns="0" tIns="11461" rIns="0" bIns="0" rtlCol="0">
            <a:noAutofit/>
          </a:bodyPr>
          <a:lstStyle/>
          <a:p>
            <a:pPr marL="12700">
              <a:lnSpc>
                <a:spcPts val="1805"/>
              </a:lnSpc>
            </a:pPr>
            <a:r>
              <a:rPr sz="1700" spc="-1" dirty="0" smtClean="0">
                <a:latin typeface="Corbel"/>
                <a:cs typeface="Corbel"/>
              </a:rPr>
              <a:t>Cache Memory</a:t>
            </a:r>
            <a:endParaRPr sz="17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02282" y="5588916"/>
            <a:ext cx="1454232" cy="241807"/>
          </a:xfrm>
          <a:prstGeom prst="rect">
            <a:avLst/>
          </a:prstGeom>
        </p:spPr>
        <p:txBody>
          <a:bodyPr wrap="square" lIns="0" tIns="11461" rIns="0" bIns="0" rtlCol="0">
            <a:noAutofit/>
          </a:bodyPr>
          <a:lstStyle/>
          <a:p>
            <a:pPr marL="12700">
              <a:lnSpc>
                <a:spcPts val="1805"/>
              </a:lnSpc>
            </a:pPr>
            <a:r>
              <a:rPr sz="1700" spc="0" dirty="0" smtClean="0">
                <a:latin typeface="Corbel"/>
                <a:cs typeface="Corbel"/>
              </a:rPr>
              <a:t>Virtual Memory</a:t>
            </a:r>
            <a:endParaRPr sz="17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57031" y="6586882"/>
            <a:ext cx="126097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dirty="0" smtClean="0">
                <a:solidFill>
                  <a:srgbClr val="3E3E3E"/>
                </a:solidFill>
                <a:latin typeface="Corbel"/>
                <a:cs typeface="Corbel"/>
              </a:rPr>
              <a:t>2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48384" y="5712333"/>
            <a:ext cx="6048756" cy="40462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1548384" y="4941189"/>
            <a:ext cx="6048756" cy="4046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1548384" y="4170044"/>
            <a:ext cx="6048756" cy="4046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1548384" y="3398901"/>
            <a:ext cx="6048756" cy="4046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1548384" y="2627756"/>
            <a:ext cx="6048756" cy="4046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1548384" y="1856613"/>
            <a:ext cx="6048756" cy="40462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0548"/>
            <a:ext cx="9143999" cy="687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4736" y="527303"/>
            <a:ext cx="4579620" cy="5410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38276" y="1866745"/>
            <a:ext cx="7312253" cy="659384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45720">
              <a:lnSpc>
                <a:spcPts val="2550"/>
              </a:lnSpc>
            </a:pPr>
            <a:r>
              <a:rPr sz="2400" spc="0" dirty="0" smtClean="0">
                <a:latin typeface="Times New Roman"/>
                <a:cs typeface="Times New Roman"/>
              </a:rPr>
              <a:t>CPU logic is usually faster than main memory access time,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590"/>
              </a:lnSpc>
              <a:spcBef>
                <a:spcPts val="1"/>
              </a:spcBef>
            </a:pPr>
            <a:r>
              <a:rPr sz="2400" dirty="0" smtClean="0">
                <a:latin typeface="Times New Roman"/>
                <a:cs typeface="Times New Roman"/>
              </a:rPr>
              <a:t>with the result that processing speed is limited primarily by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8236" y="1916960"/>
            <a:ext cx="197063" cy="269240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900" spc="9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900">
              <a:latin typeface="Wingdings 2"/>
              <a:cs typeface="Wingdings 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8276" y="2525113"/>
            <a:ext cx="2231237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sz="2400" spc="0" dirty="0" smtClean="0">
                <a:latin typeface="Times New Roman"/>
                <a:cs typeface="Times New Roman"/>
              </a:rPr>
              <a:t>the speed of main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74593" y="2525113"/>
            <a:ext cx="1141577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sz="2400" spc="-24" dirty="0" smtClean="0">
                <a:latin typeface="Times New Roman"/>
                <a:cs typeface="Times New Roman"/>
              </a:rPr>
              <a:t>memory.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8276" y="3183236"/>
            <a:ext cx="2231917" cy="66001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sz="2400" spc="0" dirty="0" smtClean="0">
                <a:latin typeface="Times New Roman"/>
                <a:cs typeface="Times New Roman"/>
              </a:rPr>
              <a:t>The cache is used</a:t>
            </a:r>
            <a:endParaRPr sz="2400">
              <a:latin typeface="Times New Roman"/>
              <a:cs typeface="Times New Roman"/>
            </a:endParaRPr>
          </a:p>
          <a:p>
            <a:pPr marL="12700" marR="10433">
              <a:lnSpc>
                <a:spcPts val="2595"/>
              </a:lnSpc>
              <a:spcBef>
                <a:spcPts val="2"/>
              </a:spcBef>
            </a:pPr>
            <a:r>
              <a:rPr sz="2400" dirty="0" smtClean="0">
                <a:latin typeface="Times New Roman"/>
                <a:cs typeface="Times New Roman"/>
              </a:rPr>
              <a:t>being executed in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64535" y="3183236"/>
            <a:ext cx="5314482" cy="66001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23469">
              <a:lnSpc>
                <a:spcPts val="2550"/>
              </a:lnSpc>
            </a:pPr>
            <a:r>
              <a:rPr sz="2400" spc="0" dirty="0" smtClean="0">
                <a:latin typeface="Times New Roman"/>
                <a:cs typeface="Times New Roman"/>
              </a:rPr>
              <a:t>for storing segments of programs currently</a:t>
            </a:r>
            <a:endParaRPr sz="2400">
              <a:latin typeface="Times New Roman"/>
              <a:cs typeface="Times New Roman"/>
            </a:endParaRPr>
          </a:p>
          <a:p>
            <a:pPr marL="12700" marR="45765">
              <a:lnSpc>
                <a:spcPts val="2595"/>
              </a:lnSpc>
              <a:spcBef>
                <a:spcPts val="2"/>
              </a:spcBef>
            </a:pPr>
            <a:r>
              <a:rPr sz="2400" spc="1" dirty="0" smtClean="0">
                <a:latin typeface="Times New Roman"/>
                <a:cs typeface="Times New Roman"/>
              </a:rPr>
              <a:t>the CPU and temporary data frequently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236" y="3233452"/>
            <a:ext cx="197277" cy="269544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900" spc="9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900">
              <a:latin typeface="Wingdings 2"/>
              <a:cs typeface="Wingdings 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8276" y="3842230"/>
            <a:ext cx="4265472" cy="330200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sz="2400" spc="0" dirty="0" smtClean="0">
                <a:latin typeface="Times New Roman"/>
                <a:cs typeface="Times New Roman"/>
              </a:rPr>
              <a:t>needed in the present calculations.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8276" y="4500598"/>
            <a:ext cx="7711541" cy="659443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sz="2400" spc="0" dirty="0" smtClean="0">
                <a:latin typeface="Times New Roman"/>
                <a:cs typeface="Times New Roman"/>
              </a:rPr>
              <a:t>The typical access time ratio between cache and main memory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ts val="2590"/>
              </a:lnSpc>
              <a:spcBef>
                <a:spcPts val="1"/>
              </a:spcBef>
            </a:pPr>
            <a:r>
              <a:rPr sz="2400" spc="0" dirty="0" smtClean="0">
                <a:latin typeface="Times New Roman"/>
                <a:cs typeface="Times New Roman"/>
              </a:rPr>
              <a:t>is about 1 to 7~10 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236" y="4550813"/>
            <a:ext cx="197063" cy="26923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900" spc="9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900">
              <a:latin typeface="Wingdings 2"/>
              <a:cs typeface="Wingdings 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8276" y="5488429"/>
            <a:ext cx="7329017" cy="659384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>
              <a:lnSpc>
                <a:spcPts val="2550"/>
              </a:lnSpc>
            </a:pPr>
            <a:r>
              <a:rPr sz="2400" spc="0" dirty="0" smtClean="0">
                <a:latin typeface="Times New Roman"/>
                <a:cs typeface="Times New Roman"/>
              </a:rPr>
              <a:t>Auxiliary memory access time is usually 1000 times that of</a:t>
            </a:r>
            <a:endParaRPr sz="2400">
              <a:latin typeface="Times New Roman"/>
              <a:cs typeface="Times New Roman"/>
            </a:endParaRPr>
          </a:p>
          <a:p>
            <a:pPr marL="12700" marR="45720">
              <a:lnSpc>
                <a:spcPts val="2590"/>
              </a:lnSpc>
              <a:spcBef>
                <a:spcPts val="1"/>
              </a:spcBef>
            </a:pPr>
            <a:r>
              <a:rPr sz="2400" spc="-14" dirty="0" smtClean="0">
                <a:latin typeface="Times New Roman"/>
                <a:cs typeface="Times New Roman"/>
              </a:rPr>
              <a:t>main memory.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236" y="5538644"/>
            <a:ext cx="197063" cy="269240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900" spc="9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900">
              <a:latin typeface="Wingdings 2"/>
              <a:cs typeface="Wingdings 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4112" y="6586882"/>
            <a:ext cx="1425711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2" dirty="0" smtClean="0">
                <a:solidFill>
                  <a:srgbClr val="3E3E3E"/>
                </a:solidFill>
                <a:latin typeface="Corbel"/>
                <a:cs typeface="Corbel"/>
              </a:rPr>
              <a:t>Memory Organisation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55507" y="6586882"/>
            <a:ext cx="126990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dirty="0" smtClean="0">
                <a:solidFill>
                  <a:srgbClr val="3E3E3E"/>
                </a:solidFill>
                <a:latin typeface="Corbel"/>
                <a:cs typeface="Corbel"/>
              </a:rPr>
              <a:t>4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545592" y="542543"/>
            <a:ext cx="4578096" cy="5410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174236" y="3299460"/>
            <a:ext cx="1138427" cy="7833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874008" y="3880104"/>
            <a:ext cx="1708404" cy="78181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468624" y="4498848"/>
            <a:ext cx="2519172" cy="66446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63240" y="5077968"/>
            <a:ext cx="3329940" cy="6644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657856" y="5657088"/>
            <a:ext cx="4140708" cy="66446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443472" y="5067300"/>
            <a:ext cx="576072" cy="1152144"/>
          </a:xfrm>
          <a:custGeom>
            <a:avLst/>
            <a:gdLst/>
            <a:ahLst/>
            <a:cxnLst/>
            <a:rect l="l" t="t" r="r" b="b"/>
            <a:pathLst>
              <a:path w="576072" h="1152144">
                <a:moveTo>
                  <a:pt x="0" y="0"/>
                </a:moveTo>
                <a:lnTo>
                  <a:pt x="23630" y="158"/>
                </a:lnTo>
                <a:lnTo>
                  <a:pt x="46733" y="627"/>
                </a:lnTo>
                <a:lnTo>
                  <a:pt x="69235" y="1393"/>
                </a:lnTo>
                <a:lnTo>
                  <a:pt x="91062" y="2444"/>
                </a:lnTo>
                <a:lnTo>
                  <a:pt x="112139" y="3768"/>
                </a:lnTo>
                <a:lnTo>
                  <a:pt x="132392" y="5352"/>
                </a:lnTo>
                <a:lnTo>
                  <a:pt x="151748" y="7185"/>
                </a:lnTo>
                <a:lnTo>
                  <a:pt x="170133" y="9253"/>
                </a:lnTo>
                <a:lnTo>
                  <a:pt x="203692" y="14049"/>
                </a:lnTo>
                <a:lnTo>
                  <a:pt x="232477" y="19641"/>
                </a:lnTo>
                <a:lnTo>
                  <a:pt x="255895" y="25931"/>
                </a:lnTo>
                <a:lnTo>
                  <a:pt x="273356" y="32820"/>
                </a:lnTo>
                <a:lnTo>
                  <a:pt x="287081" y="44064"/>
                </a:lnTo>
                <a:lnTo>
                  <a:pt x="288035" y="48006"/>
                </a:lnTo>
                <a:lnTo>
                  <a:pt x="288035" y="528066"/>
                </a:lnTo>
                <a:lnTo>
                  <a:pt x="288990" y="532003"/>
                </a:lnTo>
                <a:lnTo>
                  <a:pt x="296404" y="539603"/>
                </a:lnTo>
                <a:lnTo>
                  <a:pt x="310663" y="546754"/>
                </a:lnTo>
                <a:lnTo>
                  <a:pt x="320176" y="550129"/>
                </a:lnTo>
                <a:lnTo>
                  <a:pt x="331177" y="553355"/>
                </a:lnTo>
                <a:lnTo>
                  <a:pt x="343594" y="556419"/>
                </a:lnTo>
                <a:lnTo>
                  <a:pt x="357353" y="559309"/>
                </a:lnTo>
                <a:lnTo>
                  <a:pt x="372379" y="562013"/>
                </a:lnTo>
                <a:lnTo>
                  <a:pt x="388599" y="564517"/>
                </a:lnTo>
                <a:lnTo>
                  <a:pt x="405938" y="566810"/>
                </a:lnTo>
                <a:lnTo>
                  <a:pt x="424323" y="568880"/>
                </a:lnTo>
                <a:lnTo>
                  <a:pt x="443679" y="570714"/>
                </a:lnTo>
                <a:lnTo>
                  <a:pt x="463932" y="572300"/>
                </a:lnTo>
                <a:lnTo>
                  <a:pt x="485009" y="573625"/>
                </a:lnTo>
                <a:lnTo>
                  <a:pt x="506836" y="574677"/>
                </a:lnTo>
                <a:lnTo>
                  <a:pt x="529338" y="575443"/>
                </a:lnTo>
                <a:lnTo>
                  <a:pt x="552441" y="575912"/>
                </a:lnTo>
                <a:lnTo>
                  <a:pt x="576072" y="576072"/>
                </a:lnTo>
                <a:lnTo>
                  <a:pt x="552441" y="576231"/>
                </a:lnTo>
                <a:lnTo>
                  <a:pt x="529338" y="576700"/>
                </a:lnTo>
                <a:lnTo>
                  <a:pt x="506836" y="577466"/>
                </a:lnTo>
                <a:lnTo>
                  <a:pt x="485009" y="578518"/>
                </a:lnTo>
                <a:lnTo>
                  <a:pt x="463932" y="579843"/>
                </a:lnTo>
                <a:lnTo>
                  <a:pt x="443679" y="581429"/>
                </a:lnTo>
                <a:lnTo>
                  <a:pt x="424323" y="583263"/>
                </a:lnTo>
                <a:lnTo>
                  <a:pt x="405938" y="585333"/>
                </a:lnTo>
                <a:lnTo>
                  <a:pt x="372379" y="590130"/>
                </a:lnTo>
                <a:lnTo>
                  <a:pt x="343594" y="595724"/>
                </a:lnTo>
                <a:lnTo>
                  <a:pt x="320176" y="602014"/>
                </a:lnTo>
                <a:lnTo>
                  <a:pt x="302715" y="608902"/>
                </a:lnTo>
                <a:lnTo>
                  <a:pt x="288990" y="620140"/>
                </a:lnTo>
                <a:lnTo>
                  <a:pt x="288035" y="624078"/>
                </a:lnTo>
                <a:lnTo>
                  <a:pt x="288035" y="1104138"/>
                </a:lnTo>
                <a:lnTo>
                  <a:pt x="287081" y="1108075"/>
                </a:lnTo>
                <a:lnTo>
                  <a:pt x="279667" y="1115675"/>
                </a:lnTo>
                <a:lnTo>
                  <a:pt x="265408" y="1122826"/>
                </a:lnTo>
                <a:lnTo>
                  <a:pt x="255895" y="1126201"/>
                </a:lnTo>
                <a:lnTo>
                  <a:pt x="244894" y="1129427"/>
                </a:lnTo>
                <a:lnTo>
                  <a:pt x="232477" y="1132491"/>
                </a:lnTo>
                <a:lnTo>
                  <a:pt x="218718" y="1135381"/>
                </a:lnTo>
                <a:lnTo>
                  <a:pt x="203692" y="1138085"/>
                </a:lnTo>
                <a:lnTo>
                  <a:pt x="187472" y="1140589"/>
                </a:lnTo>
                <a:lnTo>
                  <a:pt x="170133" y="1142882"/>
                </a:lnTo>
                <a:lnTo>
                  <a:pt x="151748" y="1144952"/>
                </a:lnTo>
                <a:lnTo>
                  <a:pt x="132392" y="1146786"/>
                </a:lnTo>
                <a:lnTo>
                  <a:pt x="112139" y="1148372"/>
                </a:lnTo>
                <a:lnTo>
                  <a:pt x="91062" y="1149697"/>
                </a:lnTo>
                <a:lnTo>
                  <a:pt x="69235" y="1150749"/>
                </a:lnTo>
                <a:lnTo>
                  <a:pt x="46733" y="1151515"/>
                </a:lnTo>
                <a:lnTo>
                  <a:pt x="23630" y="1151984"/>
                </a:lnTo>
                <a:lnTo>
                  <a:pt x="0" y="1152144"/>
                </a:lnTo>
              </a:path>
            </a:pathLst>
          </a:custGeom>
          <a:ln w="6095">
            <a:solidFill>
              <a:srgbClr val="EFAC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68474" y="3358134"/>
            <a:ext cx="216407" cy="2880360"/>
          </a:xfrm>
          <a:custGeom>
            <a:avLst/>
            <a:gdLst/>
            <a:ahLst/>
            <a:cxnLst/>
            <a:rect l="l" t="t" r="r" b="b"/>
            <a:pathLst>
              <a:path w="216407" h="2880360">
                <a:moveTo>
                  <a:pt x="108203" y="0"/>
                </a:moveTo>
                <a:lnTo>
                  <a:pt x="0" y="108203"/>
                </a:lnTo>
                <a:lnTo>
                  <a:pt x="54101" y="108203"/>
                </a:lnTo>
                <a:lnTo>
                  <a:pt x="54101" y="2880360"/>
                </a:lnTo>
                <a:lnTo>
                  <a:pt x="162306" y="2880360"/>
                </a:lnTo>
                <a:lnTo>
                  <a:pt x="162306" y="108203"/>
                </a:lnTo>
                <a:lnTo>
                  <a:pt x="216407" y="108203"/>
                </a:lnTo>
                <a:lnTo>
                  <a:pt x="108203" y="0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211451" y="3324733"/>
            <a:ext cx="330454" cy="2937382"/>
          </a:xfrm>
          <a:custGeom>
            <a:avLst/>
            <a:gdLst/>
            <a:ahLst/>
            <a:cxnLst/>
            <a:rect l="l" t="t" r="r" b="b"/>
            <a:pathLst>
              <a:path w="330454" h="2937382">
                <a:moveTo>
                  <a:pt x="87503" y="165226"/>
                </a:moveTo>
                <a:lnTo>
                  <a:pt x="87503" y="2937382"/>
                </a:lnTo>
                <a:lnTo>
                  <a:pt x="242950" y="2937382"/>
                </a:lnTo>
                <a:lnTo>
                  <a:pt x="214630" y="2909036"/>
                </a:lnTo>
                <a:lnTo>
                  <a:pt x="115824" y="2909036"/>
                </a:lnTo>
                <a:lnTo>
                  <a:pt x="115824" y="136905"/>
                </a:lnTo>
                <a:lnTo>
                  <a:pt x="68453" y="136905"/>
                </a:lnTo>
                <a:lnTo>
                  <a:pt x="165226" y="40131"/>
                </a:lnTo>
                <a:lnTo>
                  <a:pt x="262000" y="136905"/>
                </a:lnTo>
                <a:lnTo>
                  <a:pt x="165226" y="0"/>
                </a:lnTo>
                <a:lnTo>
                  <a:pt x="0" y="165226"/>
                </a:lnTo>
                <a:lnTo>
                  <a:pt x="87503" y="165226"/>
                </a:lnTo>
                <a:close/>
              </a:path>
              <a:path w="330454" h="2937382">
                <a:moveTo>
                  <a:pt x="214630" y="2909036"/>
                </a:moveTo>
                <a:lnTo>
                  <a:pt x="242950" y="2937382"/>
                </a:lnTo>
                <a:lnTo>
                  <a:pt x="242950" y="165226"/>
                </a:lnTo>
                <a:lnTo>
                  <a:pt x="330454" y="165226"/>
                </a:lnTo>
                <a:lnTo>
                  <a:pt x="165226" y="0"/>
                </a:lnTo>
                <a:lnTo>
                  <a:pt x="262000" y="136905"/>
                </a:lnTo>
                <a:lnTo>
                  <a:pt x="214630" y="136905"/>
                </a:lnTo>
                <a:lnTo>
                  <a:pt x="214630" y="2909036"/>
                </a:lnTo>
                <a:close/>
              </a:path>
              <a:path w="330454" h="2937382">
                <a:moveTo>
                  <a:pt x="125349" y="127380"/>
                </a:moveTo>
                <a:lnTo>
                  <a:pt x="125349" y="2899587"/>
                </a:lnTo>
                <a:lnTo>
                  <a:pt x="205105" y="2899587"/>
                </a:lnTo>
                <a:lnTo>
                  <a:pt x="195706" y="2890139"/>
                </a:lnTo>
                <a:lnTo>
                  <a:pt x="134747" y="2890139"/>
                </a:lnTo>
                <a:lnTo>
                  <a:pt x="134747" y="117982"/>
                </a:lnTo>
                <a:lnTo>
                  <a:pt x="114046" y="117982"/>
                </a:lnTo>
                <a:lnTo>
                  <a:pt x="165226" y="66801"/>
                </a:lnTo>
                <a:lnTo>
                  <a:pt x="216407" y="117982"/>
                </a:lnTo>
                <a:lnTo>
                  <a:pt x="165226" y="53466"/>
                </a:lnTo>
                <a:lnTo>
                  <a:pt x="91186" y="127380"/>
                </a:lnTo>
                <a:lnTo>
                  <a:pt x="125349" y="127380"/>
                </a:lnTo>
                <a:close/>
              </a:path>
              <a:path w="330454" h="2937382">
                <a:moveTo>
                  <a:pt x="195706" y="2890139"/>
                </a:moveTo>
                <a:lnTo>
                  <a:pt x="205105" y="2899587"/>
                </a:lnTo>
                <a:lnTo>
                  <a:pt x="205105" y="127380"/>
                </a:lnTo>
                <a:lnTo>
                  <a:pt x="239268" y="127380"/>
                </a:lnTo>
                <a:lnTo>
                  <a:pt x="165226" y="53466"/>
                </a:lnTo>
                <a:lnTo>
                  <a:pt x="216407" y="117982"/>
                </a:lnTo>
                <a:lnTo>
                  <a:pt x="195706" y="117982"/>
                </a:lnTo>
                <a:lnTo>
                  <a:pt x="195706" y="2890139"/>
                </a:lnTo>
                <a:close/>
              </a:path>
            </a:pathLst>
          </a:custGeom>
          <a:solidFill>
            <a:srgbClr val="AF7D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443472" y="4492752"/>
            <a:ext cx="557783" cy="507492"/>
          </a:xfrm>
          <a:custGeom>
            <a:avLst/>
            <a:gdLst/>
            <a:ahLst/>
            <a:cxnLst/>
            <a:rect l="l" t="t" r="r" b="b"/>
            <a:pathLst>
              <a:path w="557783" h="507492">
                <a:moveTo>
                  <a:pt x="0" y="0"/>
                </a:moveTo>
                <a:lnTo>
                  <a:pt x="22876" y="140"/>
                </a:lnTo>
                <a:lnTo>
                  <a:pt x="45243" y="553"/>
                </a:lnTo>
                <a:lnTo>
                  <a:pt x="67028" y="1228"/>
                </a:lnTo>
                <a:lnTo>
                  <a:pt x="88160" y="2154"/>
                </a:lnTo>
                <a:lnTo>
                  <a:pt x="108567" y="3321"/>
                </a:lnTo>
                <a:lnTo>
                  <a:pt x="128177" y="4718"/>
                </a:lnTo>
                <a:lnTo>
                  <a:pt x="146918" y="6333"/>
                </a:lnTo>
                <a:lnTo>
                  <a:pt x="164720" y="8156"/>
                </a:lnTo>
                <a:lnTo>
                  <a:pt x="181509" y="10176"/>
                </a:lnTo>
                <a:lnTo>
                  <a:pt x="197215" y="12382"/>
                </a:lnTo>
                <a:lnTo>
                  <a:pt x="211765" y="14763"/>
                </a:lnTo>
                <a:lnTo>
                  <a:pt x="225088" y="17309"/>
                </a:lnTo>
                <a:lnTo>
                  <a:pt x="237113" y="20008"/>
                </a:lnTo>
                <a:lnTo>
                  <a:pt x="247766" y="22850"/>
                </a:lnTo>
                <a:lnTo>
                  <a:pt x="256978" y="25824"/>
                </a:lnTo>
                <a:lnTo>
                  <a:pt x="270787" y="32124"/>
                </a:lnTo>
                <a:lnTo>
                  <a:pt x="277967" y="38820"/>
                </a:lnTo>
                <a:lnTo>
                  <a:pt x="278892" y="42291"/>
                </a:lnTo>
                <a:lnTo>
                  <a:pt x="278892" y="211455"/>
                </a:lnTo>
                <a:lnTo>
                  <a:pt x="279816" y="214925"/>
                </a:lnTo>
                <a:lnTo>
                  <a:pt x="286996" y="221621"/>
                </a:lnTo>
                <a:lnTo>
                  <a:pt x="300805" y="227921"/>
                </a:lnTo>
                <a:lnTo>
                  <a:pt x="310017" y="230895"/>
                </a:lnTo>
                <a:lnTo>
                  <a:pt x="320670" y="233737"/>
                </a:lnTo>
                <a:lnTo>
                  <a:pt x="332695" y="236436"/>
                </a:lnTo>
                <a:lnTo>
                  <a:pt x="346018" y="238982"/>
                </a:lnTo>
                <a:lnTo>
                  <a:pt x="360568" y="241363"/>
                </a:lnTo>
                <a:lnTo>
                  <a:pt x="376274" y="243569"/>
                </a:lnTo>
                <a:lnTo>
                  <a:pt x="393063" y="245589"/>
                </a:lnTo>
                <a:lnTo>
                  <a:pt x="410865" y="247412"/>
                </a:lnTo>
                <a:lnTo>
                  <a:pt x="429606" y="249027"/>
                </a:lnTo>
                <a:lnTo>
                  <a:pt x="449216" y="250424"/>
                </a:lnTo>
                <a:lnTo>
                  <a:pt x="469623" y="251591"/>
                </a:lnTo>
                <a:lnTo>
                  <a:pt x="490755" y="252517"/>
                </a:lnTo>
                <a:lnTo>
                  <a:pt x="512540" y="253192"/>
                </a:lnTo>
                <a:lnTo>
                  <a:pt x="534907" y="253605"/>
                </a:lnTo>
                <a:lnTo>
                  <a:pt x="557783" y="253746"/>
                </a:lnTo>
                <a:lnTo>
                  <a:pt x="534907" y="253886"/>
                </a:lnTo>
                <a:lnTo>
                  <a:pt x="512540" y="254299"/>
                </a:lnTo>
                <a:lnTo>
                  <a:pt x="490755" y="254974"/>
                </a:lnTo>
                <a:lnTo>
                  <a:pt x="469623" y="255900"/>
                </a:lnTo>
                <a:lnTo>
                  <a:pt x="449216" y="257067"/>
                </a:lnTo>
                <a:lnTo>
                  <a:pt x="429606" y="258464"/>
                </a:lnTo>
                <a:lnTo>
                  <a:pt x="410865" y="260079"/>
                </a:lnTo>
                <a:lnTo>
                  <a:pt x="393063" y="261902"/>
                </a:lnTo>
                <a:lnTo>
                  <a:pt x="376274" y="263922"/>
                </a:lnTo>
                <a:lnTo>
                  <a:pt x="360568" y="266128"/>
                </a:lnTo>
                <a:lnTo>
                  <a:pt x="346018" y="268509"/>
                </a:lnTo>
                <a:lnTo>
                  <a:pt x="332695" y="271055"/>
                </a:lnTo>
                <a:lnTo>
                  <a:pt x="320670" y="273754"/>
                </a:lnTo>
                <a:lnTo>
                  <a:pt x="310017" y="276596"/>
                </a:lnTo>
                <a:lnTo>
                  <a:pt x="300805" y="279570"/>
                </a:lnTo>
                <a:lnTo>
                  <a:pt x="286996" y="285870"/>
                </a:lnTo>
                <a:lnTo>
                  <a:pt x="279816" y="292566"/>
                </a:lnTo>
                <a:lnTo>
                  <a:pt x="278892" y="296037"/>
                </a:lnTo>
                <a:lnTo>
                  <a:pt x="278892" y="465200"/>
                </a:lnTo>
                <a:lnTo>
                  <a:pt x="277967" y="468671"/>
                </a:lnTo>
                <a:lnTo>
                  <a:pt x="270787" y="475367"/>
                </a:lnTo>
                <a:lnTo>
                  <a:pt x="256978" y="481667"/>
                </a:lnTo>
                <a:lnTo>
                  <a:pt x="247766" y="484641"/>
                </a:lnTo>
                <a:lnTo>
                  <a:pt x="237113" y="487483"/>
                </a:lnTo>
                <a:lnTo>
                  <a:pt x="225088" y="490182"/>
                </a:lnTo>
                <a:lnTo>
                  <a:pt x="211765" y="492728"/>
                </a:lnTo>
                <a:lnTo>
                  <a:pt x="197215" y="495109"/>
                </a:lnTo>
                <a:lnTo>
                  <a:pt x="181509" y="497315"/>
                </a:lnTo>
                <a:lnTo>
                  <a:pt x="164720" y="499335"/>
                </a:lnTo>
                <a:lnTo>
                  <a:pt x="146918" y="501158"/>
                </a:lnTo>
                <a:lnTo>
                  <a:pt x="128177" y="502773"/>
                </a:lnTo>
                <a:lnTo>
                  <a:pt x="108567" y="504170"/>
                </a:lnTo>
                <a:lnTo>
                  <a:pt x="88160" y="505337"/>
                </a:lnTo>
                <a:lnTo>
                  <a:pt x="67028" y="506263"/>
                </a:lnTo>
                <a:lnTo>
                  <a:pt x="45243" y="506938"/>
                </a:lnTo>
                <a:lnTo>
                  <a:pt x="22876" y="507351"/>
                </a:lnTo>
                <a:lnTo>
                  <a:pt x="0" y="507492"/>
                </a:lnTo>
              </a:path>
            </a:pathLst>
          </a:custGeom>
          <a:ln w="6096">
            <a:solidFill>
              <a:srgbClr val="EFAC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8236" y="1912776"/>
            <a:ext cx="7966140" cy="2561028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1900" spc="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1900" spc="0" dirty="0" smtClean="0">
                <a:solidFill>
                  <a:srgbClr val="EFAC00"/>
                </a:solidFill>
                <a:latin typeface="Times New Roman"/>
                <a:cs typeface="Times New Roman"/>
              </a:rPr>
              <a:t>  </a:t>
            </a:r>
            <a:r>
              <a:rPr sz="1900" spc="40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The</a:t>
            </a:r>
            <a:r>
              <a:rPr sz="2400" spc="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m</a:t>
            </a:r>
            <a:r>
              <a:rPr sz="2400" spc="9" dirty="0" smtClean="0">
                <a:latin typeface="Corbel"/>
                <a:cs typeface="Corbel"/>
              </a:rPr>
              <a:t>e</a:t>
            </a:r>
            <a:r>
              <a:rPr sz="2400" spc="0" dirty="0" smtClean="0">
                <a:latin typeface="Corbel"/>
                <a:cs typeface="Corbel"/>
              </a:rPr>
              <a:t>m</a:t>
            </a:r>
            <a:r>
              <a:rPr sz="2400" spc="9" dirty="0" smtClean="0">
                <a:latin typeface="Corbel"/>
                <a:cs typeface="Corbel"/>
              </a:rPr>
              <a:t>o</a:t>
            </a:r>
            <a:r>
              <a:rPr sz="2400" spc="0" dirty="0" smtClean="0">
                <a:latin typeface="Corbel"/>
                <a:cs typeface="Corbel"/>
              </a:rPr>
              <a:t>ry</a:t>
            </a:r>
            <a:r>
              <a:rPr sz="2400" spc="-1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hier</a:t>
            </a:r>
            <a:r>
              <a:rPr sz="2400" spc="4" dirty="0" smtClean="0">
                <a:latin typeface="Corbel"/>
                <a:cs typeface="Corbel"/>
              </a:rPr>
              <a:t>a</a:t>
            </a:r>
            <a:r>
              <a:rPr sz="2400" spc="0" dirty="0" smtClean="0">
                <a:latin typeface="Corbel"/>
                <a:cs typeface="Corbel"/>
              </a:rPr>
              <a:t>r</a:t>
            </a:r>
            <a:r>
              <a:rPr sz="2400" spc="4" dirty="0" smtClean="0">
                <a:latin typeface="Corbel"/>
                <a:cs typeface="Corbel"/>
              </a:rPr>
              <a:t>c</a:t>
            </a:r>
            <a:r>
              <a:rPr sz="2400" spc="0" dirty="0" smtClean="0">
                <a:latin typeface="Corbel"/>
                <a:cs typeface="Corbel"/>
              </a:rPr>
              <a:t>hy</a:t>
            </a:r>
            <a:r>
              <a:rPr sz="2400" spc="-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s</a:t>
            </a:r>
            <a:r>
              <a:rPr sz="2400" spc="4" dirty="0" smtClean="0">
                <a:latin typeface="Corbel"/>
                <a:cs typeface="Corbel"/>
              </a:rPr>
              <a:t>y</a:t>
            </a:r>
            <a:r>
              <a:rPr sz="2400" spc="0" dirty="0" smtClean="0">
                <a:latin typeface="Corbel"/>
                <a:cs typeface="Corbel"/>
              </a:rPr>
              <a:t>st</a:t>
            </a:r>
            <a:r>
              <a:rPr sz="2400" spc="4" dirty="0" smtClean="0">
                <a:latin typeface="Corbel"/>
                <a:cs typeface="Corbel"/>
              </a:rPr>
              <a:t>e</a:t>
            </a:r>
            <a:r>
              <a:rPr sz="2400" spc="0" dirty="0" smtClean="0">
                <a:latin typeface="Corbel"/>
                <a:cs typeface="Corbel"/>
              </a:rPr>
              <a:t>m</a:t>
            </a:r>
            <a:r>
              <a:rPr sz="2400" spc="1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c</a:t>
            </a:r>
            <a:r>
              <a:rPr sz="2400" spc="9" dirty="0" smtClean="0">
                <a:latin typeface="Corbel"/>
                <a:cs typeface="Corbel"/>
              </a:rPr>
              <a:t>o</a:t>
            </a:r>
            <a:r>
              <a:rPr sz="2400" spc="0" dirty="0" smtClean="0">
                <a:latin typeface="Corbel"/>
                <a:cs typeface="Corbel"/>
              </a:rPr>
              <a:t>nsists</a:t>
            </a:r>
            <a:r>
              <a:rPr sz="2400" spc="9" dirty="0" smtClean="0">
                <a:latin typeface="Corbel"/>
                <a:cs typeface="Corbel"/>
              </a:rPr>
              <a:t> </a:t>
            </a:r>
            <a:r>
              <a:rPr sz="2400" spc="4" dirty="0" smtClean="0">
                <a:latin typeface="Corbel"/>
                <a:cs typeface="Corbel"/>
              </a:rPr>
              <a:t>o</a:t>
            </a:r>
            <a:r>
              <a:rPr sz="2400" spc="0" dirty="0" smtClean="0">
                <a:latin typeface="Corbel"/>
                <a:cs typeface="Corbel"/>
              </a:rPr>
              <a:t>f</a:t>
            </a:r>
            <a:r>
              <a:rPr sz="2400" spc="-1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all</a:t>
            </a:r>
            <a:r>
              <a:rPr sz="2400" spc="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st</a:t>
            </a:r>
            <a:r>
              <a:rPr sz="2400" spc="4" dirty="0" smtClean="0">
                <a:latin typeface="Corbel"/>
                <a:cs typeface="Corbel"/>
              </a:rPr>
              <a:t>o</a:t>
            </a:r>
            <a:r>
              <a:rPr sz="2400" spc="0" dirty="0" smtClean="0">
                <a:latin typeface="Corbel"/>
                <a:cs typeface="Corbel"/>
              </a:rPr>
              <a:t>rage</a:t>
            </a:r>
            <a:r>
              <a:rPr sz="2400" spc="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de</a:t>
            </a:r>
            <a:r>
              <a:rPr sz="2400" spc="-4" dirty="0" smtClean="0">
                <a:latin typeface="Corbel"/>
                <a:cs typeface="Corbel"/>
              </a:rPr>
              <a:t>v</a:t>
            </a:r>
            <a:r>
              <a:rPr sz="2400" spc="0" dirty="0" smtClean="0">
                <a:latin typeface="Corbel"/>
                <a:cs typeface="Corbel"/>
              </a:rPr>
              <a:t>ic</a:t>
            </a:r>
            <a:r>
              <a:rPr sz="2400" spc="9" dirty="0" smtClean="0">
                <a:latin typeface="Corbel"/>
                <a:cs typeface="Corbel"/>
              </a:rPr>
              <a:t>e</a:t>
            </a:r>
            <a:r>
              <a:rPr sz="2400" spc="0" dirty="0" smtClean="0">
                <a:latin typeface="Corbel"/>
                <a:cs typeface="Corbel"/>
              </a:rPr>
              <a:t>s</a:t>
            </a:r>
            <a:endParaRPr sz="2400">
              <a:latin typeface="Corbel"/>
              <a:cs typeface="Corbel"/>
            </a:endParaRPr>
          </a:p>
          <a:p>
            <a:pPr marL="332739" marR="45720">
              <a:lnSpc>
                <a:spcPts val="2880"/>
              </a:lnSpc>
              <a:spcBef>
                <a:spcPts val="19"/>
              </a:spcBef>
            </a:pPr>
            <a:r>
              <a:rPr sz="2400" spc="0" dirty="0" smtClean="0">
                <a:latin typeface="Corbel"/>
                <a:cs typeface="Corbel"/>
              </a:rPr>
              <a:t>employed in a computer system from the slow by high-</a:t>
            </a:r>
            <a:endParaRPr sz="2400">
              <a:latin typeface="Corbel"/>
              <a:cs typeface="Corbel"/>
            </a:endParaRPr>
          </a:p>
          <a:p>
            <a:pPr marL="332739" marR="45720">
              <a:lnSpc>
                <a:spcPts val="2880"/>
              </a:lnSpc>
            </a:pPr>
            <a:r>
              <a:rPr sz="2400" spc="0" dirty="0" smtClean="0">
                <a:latin typeface="Corbel"/>
                <a:cs typeface="Corbel"/>
              </a:rPr>
              <a:t>capacity </a:t>
            </a:r>
            <a:r>
              <a:rPr sz="2400" spc="0" dirty="0" smtClean="0">
                <a:solidFill>
                  <a:srgbClr val="168AB9"/>
                </a:solidFill>
                <a:latin typeface="Corbel"/>
                <a:cs typeface="Corbel"/>
              </a:rPr>
              <a:t>auxiliary </a:t>
            </a:r>
            <a:r>
              <a:rPr sz="2400" spc="0" dirty="0" smtClean="0">
                <a:latin typeface="Corbel"/>
                <a:cs typeface="Corbel"/>
              </a:rPr>
              <a:t>memory to a relatively faster </a:t>
            </a:r>
            <a:r>
              <a:rPr sz="2400" spc="0" dirty="0" smtClean="0">
                <a:solidFill>
                  <a:srgbClr val="168AB9"/>
                </a:solidFill>
                <a:latin typeface="Corbel"/>
                <a:cs typeface="Corbel"/>
              </a:rPr>
              <a:t>main</a:t>
            </a:r>
            <a:endParaRPr sz="2400">
              <a:latin typeface="Corbel"/>
              <a:cs typeface="Corbel"/>
            </a:endParaRPr>
          </a:p>
          <a:p>
            <a:pPr marL="332739" marR="45720">
              <a:lnSpc>
                <a:spcPts val="2880"/>
              </a:lnSpc>
            </a:pPr>
            <a:r>
              <a:rPr sz="2400" spc="-4" dirty="0" smtClean="0">
                <a:latin typeface="Corbel"/>
                <a:cs typeface="Corbel"/>
              </a:rPr>
              <a:t>memory, to an even smaller and faster </a:t>
            </a:r>
            <a:r>
              <a:rPr sz="2400" spc="-4" dirty="0" smtClean="0">
                <a:solidFill>
                  <a:srgbClr val="168AB9"/>
                </a:solidFill>
                <a:latin typeface="Corbel"/>
                <a:cs typeface="Corbel"/>
              </a:rPr>
              <a:t>cache </a:t>
            </a:r>
            <a:r>
              <a:rPr sz="2400" spc="-4" dirty="0" smtClean="0">
                <a:latin typeface="Corbel"/>
                <a:cs typeface="Corbel"/>
              </a:rPr>
              <a:t>memory.</a:t>
            </a:r>
            <a:endParaRPr sz="2400">
              <a:latin typeface="Corbel"/>
              <a:cs typeface="Corbel"/>
            </a:endParaRPr>
          </a:p>
          <a:p>
            <a:pPr marL="3707897" marR="3455420" algn="ctr">
              <a:lnSpc>
                <a:spcPct val="100626"/>
              </a:lnSpc>
              <a:spcBef>
                <a:spcPts val="301"/>
              </a:spcBef>
            </a:pPr>
            <a:r>
              <a:rPr sz="1700" spc="-4" dirty="0" smtClean="0">
                <a:latin typeface="Corbel"/>
                <a:cs typeface="Corbel"/>
              </a:rPr>
              <a:t>Register</a:t>
            </a:r>
            <a:endParaRPr sz="1700">
              <a:latin typeface="Corbel"/>
              <a:cs typeface="Corbel"/>
            </a:endParaRPr>
          </a:p>
          <a:p>
            <a:pPr marL="3702075" marR="3447803" algn="ctr">
              <a:lnSpc>
                <a:spcPts val="1860"/>
              </a:lnSpc>
              <a:spcBef>
                <a:spcPts val="93"/>
              </a:spcBef>
            </a:pPr>
            <a:r>
              <a:rPr sz="1700" spc="2" dirty="0" smtClean="0">
                <a:latin typeface="Corbel"/>
                <a:cs typeface="Corbel"/>
              </a:rPr>
              <a:t>Memory</a:t>
            </a:r>
            <a:endParaRPr sz="1700">
              <a:latin typeface="Corbel"/>
              <a:cs typeface="Corbel"/>
            </a:endParaRPr>
          </a:p>
          <a:p>
            <a:pPr marL="3800861" marR="3547513" algn="ctr">
              <a:lnSpc>
                <a:spcPct val="100626"/>
              </a:lnSpc>
              <a:spcBef>
                <a:spcPts val="557"/>
              </a:spcBef>
            </a:pPr>
            <a:r>
              <a:rPr sz="1700" spc="2" dirty="0" smtClean="0">
                <a:latin typeface="Corbel"/>
                <a:cs typeface="Corbel"/>
              </a:rPr>
              <a:t>Cache</a:t>
            </a:r>
            <a:endParaRPr sz="1700">
              <a:latin typeface="Corbel"/>
              <a:cs typeface="Corbel"/>
            </a:endParaRPr>
          </a:p>
          <a:p>
            <a:pPr marL="3702075" marR="3447803" algn="ctr">
              <a:lnSpc>
                <a:spcPts val="1860"/>
              </a:lnSpc>
              <a:spcBef>
                <a:spcPts val="93"/>
              </a:spcBef>
            </a:pPr>
            <a:r>
              <a:rPr sz="1700" spc="2" dirty="0" smtClean="0">
                <a:latin typeface="Corbel"/>
                <a:cs typeface="Corbel"/>
              </a:rPr>
              <a:t>Memory</a:t>
            </a:r>
            <a:endParaRPr sz="17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0083" y="4430476"/>
            <a:ext cx="1822777" cy="528927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0" dirty="0" smtClean="0">
                <a:latin typeface="Corbel"/>
                <a:cs typeface="Corbel"/>
              </a:rPr>
              <a:t>Increasing order of</a:t>
            </a:r>
            <a:endParaRPr sz="1800">
              <a:latin typeface="Corbel"/>
              <a:cs typeface="Corbel"/>
            </a:endParaRPr>
          </a:p>
          <a:p>
            <a:pPr marL="12700" marR="34335">
              <a:lnSpc>
                <a:spcPts val="2165"/>
              </a:lnSpc>
              <a:spcBef>
                <a:spcPts val="13"/>
              </a:spcBef>
            </a:pPr>
            <a:r>
              <a:rPr sz="1800" spc="-1" dirty="0" smtClean="0">
                <a:latin typeface="Corbel"/>
                <a:cs typeface="Corbel"/>
              </a:rPr>
              <a:t>access time ratio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00061" y="4569387"/>
            <a:ext cx="1650478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0" dirty="0" smtClean="0">
                <a:latin typeface="Corbel"/>
                <a:cs typeface="Corbel"/>
              </a:rPr>
              <a:t>Primary Memory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91178" y="4693769"/>
            <a:ext cx="1306858" cy="241807"/>
          </a:xfrm>
          <a:prstGeom prst="rect">
            <a:avLst/>
          </a:prstGeom>
        </p:spPr>
        <p:txBody>
          <a:bodyPr wrap="square" lIns="0" tIns="11461" rIns="0" bIns="0" rtlCol="0">
            <a:noAutofit/>
          </a:bodyPr>
          <a:lstStyle/>
          <a:p>
            <a:pPr marL="12700">
              <a:lnSpc>
                <a:spcPts val="1805"/>
              </a:lnSpc>
            </a:pPr>
            <a:r>
              <a:rPr sz="1700" spc="0" dirty="0" smtClean="0">
                <a:latin typeface="Corbel"/>
                <a:cs typeface="Corbel"/>
              </a:rPr>
              <a:t>Main Memory</a:t>
            </a:r>
            <a:endParaRPr sz="17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37838" y="5272889"/>
            <a:ext cx="1414980" cy="241808"/>
          </a:xfrm>
          <a:prstGeom prst="rect">
            <a:avLst/>
          </a:prstGeom>
        </p:spPr>
        <p:txBody>
          <a:bodyPr wrap="square" lIns="0" tIns="11461" rIns="0" bIns="0" rtlCol="0">
            <a:noAutofit/>
          </a:bodyPr>
          <a:lstStyle/>
          <a:p>
            <a:pPr marL="12700">
              <a:lnSpc>
                <a:spcPts val="1805"/>
              </a:lnSpc>
            </a:pPr>
            <a:r>
              <a:rPr sz="1700" spc="0" dirty="0" smtClean="0">
                <a:latin typeface="Corbel"/>
                <a:cs typeface="Corbel"/>
              </a:rPr>
              <a:t>Magnetic Disks</a:t>
            </a:r>
            <a:endParaRPr sz="17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81520" y="5277158"/>
            <a:ext cx="1907576" cy="802665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290">
              <a:lnSpc>
                <a:spcPts val="1900"/>
              </a:lnSpc>
            </a:pPr>
            <a:r>
              <a:rPr sz="1800" spc="0" dirty="0" smtClean="0">
                <a:latin typeface="Corbel"/>
                <a:cs typeface="Corbel"/>
              </a:rPr>
              <a:t>Auxiliary Memory</a:t>
            </a:r>
            <a:endParaRPr sz="1800">
              <a:latin typeface="Corbel"/>
              <a:cs typeface="Corbel"/>
            </a:endParaRPr>
          </a:p>
          <a:p>
            <a:pPr marL="12700" marR="34290">
              <a:lnSpc>
                <a:spcPts val="2160"/>
              </a:lnSpc>
              <a:spcBef>
                <a:spcPts val="13"/>
              </a:spcBef>
            </a:pPr>
            <a:r>
              <a:rPr sz="1800" spc="2" dirty="0" smtClean="0">
                <a:latin typeface="Corbel"/>
                <a:cs typeface="Corbel"/>
              </a:rPr>
              <a:t>Or</a:t>
            </a:r>
            <a:endParaRPr sz="1800">
              <a:latin typeface="Corbel"/>
              <a:cs typeface="Corbel"/>
            </a:endParaRPr>
          </a:p>
          <a:p>
            <a:pPr marL="12700">
              <a:lnSpc>
                <a:spcPts val="2160"/>
              </a:lnSpc>
            </a:pPr>
            <a:r>
              <a:rPr sz="1800" dirty="0" smtClean="0">
                <a:latin typeface="Corbel"/>
                <a:cs typeface="Corbel"/>
              </a:rPr>
              <a:t>Secondary Memory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21074" y="5852263"/>
            <a:ext cx="1445980" cy="241808"/>
          </a:xfrm>
          <a:prstGeom prst="rect">
            <a:avLst/>
          </a:prstGeom>
        </p:spPr>
        <p:txBody>
          <a:bodyPr wrap="square" lIns="0" tIns="11461" rIns="0" bIns="0" rtlCol="0">
            <a:noAutofit/>
          </a:bodyPr>
          <a:lstStyle/>
          <a:p>
            <a:pPr marL="12700">
              <a:lnSpc>
                <a:spcPts val="1805"/>
              </a:lnSpc>
            </a:pPr>
            <a:r>
              <a:rPr sz="1700" spc="-17" dirty="0" smtClean="0">
                <a:latin typeface="Corbel"/>
                <a:cs typeface="Corbel"/>
              </a:rPr>
              <a:t>Magnetic Tapes</a:t>
            </a:r>
            <a:endParaRPr sz="17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4112" y="6586882"/>
            <a:ext cx="1425711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2" dirty="0" smtClean="0">
                <a:solidFill>
                  <a:srgbClr val="3E3E3E"/>
                </a:solidFill>
                <a:latin typeface="Corbel"/>
                <a:cs typeface="Corbel"/>
              </a:rPr>
              <a:t>Memory Organisation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61603" y="6586882"/>
            <a:ext cx="121409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dirty="0" smtClean="0">
                <a:solidFill>
                  <a:srgbClr val="3E3E3E"/>
                </a:solidFill>
                <a:latin typeface="Corbel"/>
                <a:cs typeface="Corbel"/>
              </a:rPr>
              <a:t>5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4068" y="565403"/>
            <a:ext cx="3956304" cy="4998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38200" y="1524000"/>
            <a:ext cx="7969292" cy="3208451"/>
          </a:xfrm>
          <a:prstGeom prst="rect">
            <a:avLst/>
          </a:prstGeom>
        </p:spPr>
        <p:txBody>
          <a:bodyPr wrap="square" lIns="0" tIns="8890" rIns="0" bIns="0" rtlCol="0">
            <a:noAutofit/>
          </a:bodyPr>
          <a:lstStyle/>
          <a:p>
            <a:pPr marL="12700" marR="190134">
              <a:lnSpc>
                <a:spcPts val="2898"/>
              </a:lnSpc>
            </a:pPr>
            <a:r>
              <a:rPr sz="2400" spc="0" dirty="0" smtClean="0">
                <a:latin typeface="Corbel"/>
                <a:cs typeface="Corbel"/>
              </a:rPr>
              <a:t>Each memory is a collection of various memory location. </a:t>
            </a:r>
            <a:endParaRPr sz="2400">
              <a:latin typeface="Corbel"/>
              <a:cs typeface="Corbel"/>
            </a:endParaRPr>
          </a:p>
          <a:p>
            <a:pPr marL="12700" marR="190134">
              <a:lnSpc>
                <a:spcPts val="2898"/>
              </a:lnSpc>
            </a:pPr>
            <a:r>
              <a:rPr sz="2400" spc="0" dirty="0" smtClean="0">
                <a:latin typeface="Corbel"/>
                <a:cs typeface="Corbel"/>
              </a:rPr>
              <a:t>Accessing the memory means finding and reaching desired </a:t>
            </a:r>
            <a:endParaRPr sz="2400">
              <a:latin typeface="Corbel"/>
              <a:cs typeface="Corbel"/>
            </a:endParaRPr>
          </a:p>
          <a:p>
            <a:pPr marL="12700" marR="190134">
              <a:lnSpc>
                <a:spcPts val="2898"/>
              </a:lnSpc>
            </a:pPr>
            <a:r>
              <a:rPr sz="2400" spc="0" dirty="0" smtClean="0">
                <a:latin typeface="Corbel"/>
                <a:cs typeface="Corbel"/>
              </a:rPr>
              <a:t>location and than reading information from memory </a:t>
            </a:r>
            <a:endParaRPr sz="2400">
              <a:latin typeface="Corbel"/>
              <a:cs typeface="Corbel"/>
            </a:endParaRPr>
          </a:p>
          <a:p>
            <a:pPr marL="12700" marR="190134">
              <a:lnSpc>
                <a:spcPts val="2898"/>
              </a:lnSpc>
            </a:pPr>
            <a:r>
              <a:rPr sz="2400" spc="-2" dirty="0" smtClean="0">
                <a:latin typeface="Corbel"/>
                <a:cs typeface="Corbel"/>
              </a:rPr>
              <a:t>location. The information from locations can be accessed as </a:t>
            </a:r>
            <a:endParaRPr sz="2400">
              <a:latin typeface="Corbel"/>
              <a:cs typeface="Corbel"/>
            </a:endParaRPr>
          </a:p>
          <a:p>
            <a:pPr marL="12700" marR="190134">
              <a:lnSpc>
                <a:spcPts val="2898"/>
              </a:lnSpc>
            </a:pPr>
            <a:r>
              <a:rPr sz="2400" spc="1" dirty="0" smtClean="0">
                <a:latin typeface="Corbel"/>
                <a:cs typeface="Corbel"/>
              </a:rPr>
              <a:t>follows:</a:t>
            </a:r>
            <a:endParaRPr sz="2400">
              <a:latin typeface="Corbel"/>
              <a:cs typeface="Corbel"/>
            </a:endParaRPr>
          </a:p>
          <a:p>
            <a:pPr marL="116636" marR="5228155" indent="6096">
              <a:lnSpc>
                <a:spcPts val="2898"/>
              </a:lnSpc>
              <a:spcBef>
                <a:spcPts val="1328"/>
              </a:spcBef>
            </a:pPr>
            <a:r>
              <a:rPr sz="2400" b="1" spc="-1" dirty="0" smtClean="0">
                <a:latin typeface="Corbel"/>
                <a:cs typeface="Corbel"/>
              </a:rPr>
              <a:t>Random access </a:t>
            </a:r>
            <a:endParaRPr sz="2400">
              <a:latin typeface="Corbel"/>
              <a:cs typeface="Corbel"/>
            </a:endParaRPr>
          </a:p>
          <a:p>
            <a:pPr marL="116636" marR="5228155">
              <a:lnSpc>
                <a:spcPts val="2898"/>
              </a:lnSpc>
            </a:pPr>
            <a:r>
              <a:rPr sz="2400" b="1" spc="-1" dirty="0" smtClean="0">
                <a:latin typeface="Corbel"/>
                <a:cs typeface="Corbel"/>
              </a:rPr>
              <a:t>Sequential access </a:t>
            </a:r>
            <a:endParaRPr sz="2400">
              <a:latin typeface="Corbel"/>
              <a:cs typeface="Corbel"/>
            </a:endParaRPr>
          </a:p>
          <a:p>
            <a:pPr marL="116636" marR="5228155">
              <a:lnSpc>
                <a:spcPts val="2898"/>
              </a:lnSpc>
            </a:pPr>
            <a:r>
              <a:rPr sz="2400" b="1" spc="-1" dirty="0" smtClean="0">
                <a:latin typeface="Corbel"/>
                <a:cs typeface="Corbel"/>
              </a:rPr>
              <a:t>Direct access</a:t>
            </a:r>
            <a:endParaRPr sz="2400">
              <a:latin typeface="Corbel"/>
              <a:cs typeface="Corbel"/>
            </a:endParaRPr>
          </a:p>
          <a:p>
            <a:pPr marL="12700">
              <a:lnSpc>
                <a:spcPct val="100626"/>
              </a:lnSpc>
              <a:spcBef>
                <a:spcPts val="1241"/>
              </a:spcBef>
            </a:pPr>
            <a:r>
              <a:rPr sz="2400" b="1" u="heavy" spc="31" dirty="0" smtClean="0">
                <a:latin typeface="Corbel"/>
                <a:cs typeface="Corbel"/>
              </a:rPr>
              <a:t>Random Access</a:t>
            </a:r>
            <a:r>
              <a:rPr sz="2400" spc="31" dirty="0" smtClean="0">
                <a:latin typeface="Corbel"/>
                <a:cs typeface="Corbel"/>
              </a:rPr>
              <a:t>: It is the access mode where each memory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236" y="1878362"/>
            <a:ext cx="197277" cy="269544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900" spc="9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900">
              <a:latin typeface="Wingdings 2"/>
              <a:cs typeface="Wingdings 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2244" y="3554505"/>
            <a:ext cx="312668" cy="915415"/>
          </a:xfrm>
          <a:prstGeom prst="rect">
            <a:avLst/>
          </a:prstGeom>
        </p:spPr>
        <p:txBody>
          <a:bodyPr wrap="square" lIns="0" tIns="15557" rIns="0" bIns="0" rtlCol="0">
            <a:noAutofit/>
          </a:bodyPr>
          <a:lstStyle/>
          <a:p>
            <a:pPr marL="12700" marR="1524">
              <a:lnSpc>
                <a:spcPts val="2450"/>
              </a:lnSpc>
            </a:pPr>
            <a:r>
              <a:rPr sz="2400" b="1" dirty="0" smtClean="0">
                <a:latin typeface="Corbel"/>
                <a:cs typeface="Corbel"/>
              </a:rPr>
              <a:t>1.</a:t>
            </a:r>
            <a:endParaRPr sz="2400">
              <a:latin typeface="Corbel"/>
              <a:cs typeface="Corbel"/>
            </a:endParaRPr>
          </a:p>
          <a:p>
            <a:pPr marL="12700">
              <a:lnSpc>
                <a:spcPts val="2305"/>
              </a:lnSpc>
            </a:pPr>
            <a:r>
              <a:rPr sz="2400" b="1" dirty="0" smtClean="0">
                <a:latin typeface="Corbel"/>
                <a:cs typeface="Corbel"/>
              </a:rPr>
              <a:t>2.</a:t>
            </a:r>
            <a:endParaRPr sz="2400">
              <a:latin typeface="Corbel"/>
              <a:cs typeface="Corbel"/>
            </a:endParaRPr>
          </a:p>
          <a:p>
            <a:pPr marL="12700" marR="3047">
              <a:lnSpc>
                <a:spcPts val="2350"/>
              </a:lnSpc>
              <a:spcBef>
                <a:spcPts val="2"/>
              </a:spcBef>
            </a:pPr>
            <a:r>
              <a:rPr sz="2400" b="1" spc="2" dirty="0" smtClean="0">
                <a:latin typeface="Corbel"/>
                <a:cs typeface="Corbel"/>
              </a:rPr>
              <a:t>3.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236" y="4756309"/>
            <a:ext cx="197277" cy="269544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900" spc="9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900">
              <a:latin typeface="Wingdings 2"/>
              <a:cs typeface="Wingdings 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5181600"/>
            <a:ext cx="7713646" cy="815648"/>
          </a:xfrm>
          <a:prstGeom prst="rect">
            <a:avLst/>
          </a:prstGeom>
        </p:spPr>
        <p:txBody>
          <a:bodyPr wrap="square" lIns="0" tIns="8890" rIns="0" bIns="0" rtlCol="0">
            <a:noAutofit/>
          </a:bodyPr>
          <a:lstStyle/>
          <a:p>
            <a:pPr marL="12700" algn="just">
              <a:lnSpc>
                <a:spcPts val="2898"/>
              </a:lnSpc>
            </a:pPr>
            <a:r>
              <a:rPr sz="2400" spc="2" dirty="0" smtClean="0">
                <a:latin typeface="Corbel"/>
                <a:cs typeface="Corbel"/>
              </a:rPr>
              <a:t>location has a unique address. Using these unique addresses </a:t>
            </a:r>
            <a:endParaRPr sz="2400">
              <a:latin typeface="Corbel"/>
              <a:cs typeface="Corbel"/>
            </a:endParaRPr>
          </a:p>
          <a:p>
            <a:pPr marL="12700" algn="just">
              <a:lnSpc>
                <a:spcPts val="2898"/>
              </a:lnSpc>
            </a:pPr>
            <a:r>
              <a:rPr sz="2400" dirty="0" smtClean="0">
                <a:latin typeface="Corbel"/>
                <a:cs typeface="Corbel"/>
              </a:rPr>
              <a:t>e</a:t>
            </a:r>
            <a:r>
              <a:rPr sz="2400" spc="9" dirty="0" smtClean="0">
                <a:latin typeface="Corbel"/>
                <a:cs typeface="Corbel"/>
              </a:rPr>
              <a:t>a</a:t>
            </a:r>
            <a:r>
              <a:rPr sz="2400" spc="0" dirty="0" smtClean="0">
                <a:latin typeface="Corbel"/>
                <a:cs typeface="Corbel"/>
              </a:rPr>
              <a:t>ch </a:t>
            </a:r>
            <a:r>
              <a:rPr sz="2400" spc="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me</a:t>
            </a:r>
            <a:r>
              <a:rPr sz="2400" spc="-9" dirty="0" smtClean="0">
                <a:latin typeface="Corbel"/>
                <a:cs typeface="Corbel"/>
              </a:rPr>
              <a:t>mo</a:t>
            </a:r>
            <a:r>
              <a:rPr sz="2400" spc="0" dirty="0" smtClean="0">
                <a:latin typeface="Corbel"/>
                <a:cs typeface="Corbel"/>
              </a:rPr>
              <a:t>ry </a:t>
            </a:r>
            <a:r>
              <a:rPr sz="2400" spc="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l</a:t>
            </a:r>
            <a:r>
              <a:rPr sz="2400" spc="-9" dirty="0" smtClean="0">
                <a:latin typeface="Corbel"/>
                <a:cs typeface="Corbel"/>
              </a:rPr>
              <a:t>o</a:t>
            </a:r>
            <a:r>
              <a:rPr sz="2400" spc="0" dirty="0" smtClean="0">
                <a:latin typeface="Corbel"/>
                <a:cs typeface="Corbel"/>
              </a:rPr>
              <a:t>cation </a:t>
            </a:r>
            <a:r>
              <a:rPr sz="2400" spc="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can </a:t>
            </a:r>
            <a:r>
              <a:rPr sz="2400" spc="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be  addr</a:t>
            </a:r>
            <a:r>
              <a:rPr sz="2400" spc="14" dirty="0" smtClean="0">
                <a:latin typeface="Corbel"/>
                <a:cs typeface="Corbel"/>
              </a:rPr>
              <a:t>e</a:t>
            </a:r>
            <a:r>
              <a:rPr sz="2400" spc="0" dirty="0" smtClean="0">
                <a:latin typeface="Corbel"/>
                <a:cs typeface="Corbel"/>
              </a:rPr>
              <a:t>s</a:t>
            </a:r>
            <a:r>
              <a:rPr sz="2400" spc="4" dirty="0" smtClean="0">
                <a:latin typeface="Corbel"/>
                <a:cs typeface="Corbel"/>
              </a:rPr>
              <a:t>s</a:t>
            </a:r>
            <a:r>
              <a:rPr sz="2400" spc="0" dirty="0" smtClean="0">
                <a:latin typeface="Corbel"/>
                <a:cs typeface="Corbel"/>
              </a:rPr>
              <a:t>ed  i</a:t>
            </a:r>
            <a:r>
              <a:rPr sz="2400" spc="-9" dirty="0" smtClean="0">
                <a:latin typeface="Corbel"/>
                <a:cs typeface="Corbel"/>
              </a:rPr>
              <a:t>n</a:t>
            </a:r>
            <a:r>
              <a:rPr sz="2400" spc="0" dirty="0" smtClean="0">
                <a:latin typeface="Corbel"/>
                <a:cs typeface="Corbel"/>
              </a:rPr>
              <a:t>d</a:t>
            </a:r>
            <a:r>
              <a:rPr sz="2400" spc="14" dirty="0" smtClean="0">
                <a:latin typeface="Corbel"/>
                <a:cs typeface="Corbel"/>
              </a:rPr>
              <a:t>e</a:t>
            </a:r>
            <a:r>
              <a:rPr sz="2400" spc="0" dirty="0" smtClean="0">
                <a:latin typeface="Corbel"/>
                <a:cs typeface="Corbel"/>
              </a:rPr>
              <a:t>pende</a:t>
            </a:r>
            <a:r>
              <a:rPr sz="2400" spc="4" dirty="0" smtClean="0">
                <a:latin typeface="Corbel"/>
                <a:cs typeface="Corbel"/>
              </a:rPr>
              <a:t>n</a:t>
            </a:r>
            <a:r>
              <a:rPr sz="2400" spc="0" dirty="0" smtClean="0">
                <a:latin typeface="Corbel"/>
                <a:cs typeface="Corbel"/>
              </a:rPr>
              <a:t>tly </a:t>
            </a:r>
            <a:r>
              <a:rPr sz="2400" spc="19" dirty="0" smtClean="0">
                <a:latin typeface="Corbel"/>
                <a:cs typeface="Corbel"/>
              </a:rPr>
              <a:t> </a:t>
            </a:r>
            <a:r>
              <a:rPr sz="2400" spc="4" dirty="0" smtClean="0">
                <a:latin typeface="Corbel"/>
                <a:cs typeface="Corbel"/>
              </a:rPr>
              <a:t>in </a:t>
            </a:r>
            <a:endParaRPr sz="2400">
              <a:latin typeface="Corbel"/>
              <a:cs typeface="Corbel"/>
            </a:endParaRPr>
          </a:p>
          <a:p>
            <a:pPr marL="12700" algn="just">
              <a:lnSpc>
                <a:spcPts val="2898"/>
              </a:lnSpc>
            </a:pPr>
            <a:r>
              <a:rPr sz="2400" spc="0" dirty="0" smtClean="0">
                <a:latin typeface="Corbel"/>
                <a:cs typeface="Corbel"/>
              </a:rPr>
              <a:t>any  </a:t>
            </a:r>
            <a:r>
              <a:rPr sz="2400" spc="9" dirty="0" smtClean="0">
                <a:latin typeface="Corbel"/>
                <a:cs typeface="Corbel"/>
              </a:rPr>
              <a:t> </a:t>
            </a:r>
            <a:r>
              <a:rPr sz="2400" spc="-9" dirty="0" smtClean="0">
                <a:latin typeface="Corbel"/>
                <a:cs typeface="Corbel"/>
              </a:rPr>
              <a:t>o</a:t>
            </a:r>
            <a:r>
              <a:rPr sz="2400" spc="0" dirty="0" smtClean="0">
                <a:latin typeface="Corbel"/>
                <a:cs typeface="Corbel"/>
              </a:rPr>
              <a:t>rder   </a:t>
            </a:r>
            <a:r>
              <a:rPr sz="2400" spc="-4" dirty="0" smtClean="0">
                <a:latin typeface="Corbel"/>
                <a:cs typeface="Corbel"/>
              </a:rPr>
              <a:t>i</a:t>
            </a:r>
            <a:r>
              <a:rPr sz="2400" spc="0" dirty="0" smtClean="0">
                <a:latin typeface="Corbel"/>
                <a:cs typeface="Corbel"/>
              </a:rPr>
              <a:t>n  </a:t>
            </a:r>
            <a:r>
              <a:rPr sz="2400" spc="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e</a:t>
            </a:r>
            <a:r>
              <a:rPr sz="2400" spc="9" dirty="0" smtClean="0">
                <a:latin typeface="Corbel"/>
                <a:cs typeface="Corbel"/>
              </a:rPr>
              <a:t>q</a:t>
            </a:r>
            <a:r>
              <a:rPr sz="2400" spc="4" dirty="0" smtClean="0">
                <a:latin typeface="Corbel"/>
                <a:cs typeface="Corbel"/>
              </a:rPr>
              <a:t>u</a:t>
            </a:r>
            <a:r>
              <a:rPr sz="2400" spc="0" dirty="0" smtClean="0">
                <a:latin typeface="Corbel"/>
                <a:cs typeface="Corbel"/>
              </a:rPr>
              <a:t>al  </a:t>
            </a:r>
            <a:r>
              <a:rPr sz="2400" spc="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a</a:t>
            </a:r>
            <a:r>
              <a:rPr sz="2400" spc="-9" dirty="0" smtClean="0">
                <a:latin typeface="Corbel"/>
                <a:cs typeface="Corbel"/>
              </a:rPr>
              <a:t>mo</a:t>
            </a:r>
            <a:r>
              <a:rPr sz="2400" spc="0" dirty="0" smtClean="0">
                <a:latin typeface="Corbel"/>
                <a:cs typeface="Corbel"/>
              </a:rPr>
              <a:t>unt  </a:t>
            </a:r>
            <a:r>
              <a:rPr sz="2400" spc="4" dirty="0" smtClean="0">
                <a:latin typeface="Corbel"/>
                <a:cs typeface="Corbel"/>
              </a:rPr>
              <a:t> o</a:t>
            </a:r>
            <a:r>
              <a:rPr sz="2400" spc="0" dirty="0" smtClean="0">
                <a:latin typeface="Corbel"/>
                <a:cs typeface="Corbel"/>
              </a:rPr>
              <a:t>f  </a:t>
            </a:r>
            <a:r>
              <a:rPr sz="2400" spc="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t</a:t>
            </a:r>
            <a:r>
              <a:rPr sz="2400" spc="-9" dirty="0" smtClean="0">
                <a:latin typeface="Corbel"/>
                <a:cs typeface="Corbel"/>
              </a:rPr>
              <a:t>i</a:t>
            </a:r>
            <a:r>
              <a:rPr sz="2400" spc="0" dirty="0" smtClean="0">
                <a:latin typeface="Corbel"/>
                <a:cs typeface="Corbel"/>
              </a:rPr>
              <a:t>m</a:t>
            </a:r>
            <a:r>
              <a:rPr sz="2400" spc="9" dirty="0" smtClean="0">
                <a:latin typeface="Corbel"/>
                <a:cs typeface="Corbel"/>
              </a:rPr>
              <a:t>e</a:t>
            </a:r>
            <a:r>
              <a:rPr sz="2400" spc="0" dirty="0" smtClean="0">
                <a:latin typeface="Corbel"/>
                <a:cs typeface="Corbel"/>
              </a:rPr>
              <a:t>.  </a:t>
            </a:r>
            <a:r>
              <a:rPr sz="2400" spc="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G</a:t>
            </a:r>
            <a:r>
              <a:rPr sz="2400" spc="9" dirty="0" smtClean="0">
                <a:latin typeface="Corbel"/>
                <a:cs typeface="Corbel"/>
              </a:rPr>
              <a:t>e</a:t>
            </a:r>
            <a:r>
              <a:rPr sz="2400" spc="0" dirty="0" smtClean="0">
                <a:latin typeface="Corbel"/>
                <a:cs typeface="Corbel"/>
              </a:rPr>
              <a:t>neral</a:t>
            </a:r>
            <a:r>
              <a:rPr sz="2400" spc="-9" dirty="0" smtClean="0">
                <a:latin typeface="Corbel"/>
                <a:cs typeface="Corbel"/>
              </a:rPr>
              <a:t>l</a:t>
            </a:r>
            <a:r>
              <a:rPr sz="2400" spc="-84" dirty="0" smtClean="0">
                <a:latin typeface="Corbel"/>
                <a:cs typeface="Corbel"/>
              </a:rPr>
              <a:t>y</a:t>
            </a:r>
            <a:r>
              <a:rPr sz="2400" spc="0" dirty="0" smtClean="0">
                <a:latin typeface="Corbel"/>
                <a:cs typeface="Corbel"/>
              </a:rPr>
              <a:t>,  </a:t>
            </a:r>
            <a:r>
              <a:rPr sz="2400" spc="2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main </a:t>
            </a:r>
            <a:endParaRPr sz="2400">
              <a:latin typeface="Corbel"/>
              <a:cs typeface="Corbel"/>
            </a:endParaRPr>
          </a:p>
          <a:p>
            <a:pPr marL="12700" algn="just">
              <a:lnSpc>
                <a:spcPts val="2898"/>
              </a:lnSpc>
            </a:pPr>
            <a:r>
              <a:rPr sz="2400" spc="0" dirty="0" smtClean="0">
                <a:latin typeface="Corbel"/>
                <a:cs typeface="Corbel"/>
              </a:rPr>
              <a:t>memories are random access memories(RAM).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4112" y="6586882"/>
            <a:ext cx="1425711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2" dirty="0" smtClean="0">
                <a:solidFill>
                  <a:srgbClr val="3E3E3E"/>
                </a:solidFill>
                <a:latin typeface="Corbel"/>
                <a:cs typeface="Corbel"/>
              </a:rPr>
              <a:t>Memory Organisation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55507" y="6586882"/>
            <a:ext cx="128180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dirty="0" smtClean="0">
                <a:solidFill>
                  <a:srgbClr val="3E3E3E"/>
                </a:solidFill>
                <a:latin typeface="Corbel"/>
                <a:cs typeface="Corbel"/>
              </a:rPr>
              <a:t>6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069810" y="4824603"/>
            <a:ext cx="8385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4068" y="565403"/>
            <a:ext cx="3956304" cy="4998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18236" y="1912776"/>
            <a:ext cx="8034200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1900" spc="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1900" spc="0" dirty="0" smtClean="0">
                <a:solidFill>
                  <a:srgbClr val="EFAC00"/>
                </a:solidFill>
                <a:latin typeface="Times New Roman"/>
                <a:cs typeface="Times New Roman"/>
              </a:rPr>
              <a:t>  </a:t>
            </a:r>
            <a:r>
              <a:rPr sz="1900" spc="10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2400" b="1" spc="-444" dirty="0" smtClean="0">
                <a:latin typeface="Corbel"/>
                <a:cs typeface="Corbel"/>
              </a:rPr>
              <a:t> </a:t>
            </a:r>
            <a:r>
              <a:rPr sz="2400" b="1" u="heavy" spc="0" dirty="0" smtClean="0">
                <a:latin typeface="Corbel"/>
                <a:cs typeface="Corbel"/>
              </a:rPr>
              <a:t>Seq</a:t>
            </a:r>
            <a:r>
              <a:rPr sz="2400" b="1" u="heavy" spc="9" dirty="0" smtClean="0">
                <a:latin typeface="Corbel"/>
                <a:cs typeface="Corbel"/>
              </a:rPr>
              <a:t>u</a:t>
            </a:r>
            <a:r>
              <a:rPr sz="2400" b="1" u="heavy" spc="4" dirty="0" smtClean="0">
                <a:latin typeface="Corbel"/>
                <a:cs typeface="Corbel"/>
              </a:rPr>
              <a:t>e</a:t>
            </a:r>
            <a:r>
              <a:rPr sz="2400" b="1" u="heavy" spc="0" dirty="0" smtClean="0">
                <a:latin typeface="Corbel"/>
                <a:cs typeface="Corbel"/>
              </a:rPr>
              <a:t>n</a:t>
            </a:r>
            <a:r>
              <a:rPr sz="2400" b="1" u="heavy" spc="4" dirty="0" smtClean="0">
                <a:latin typeface="Corbel"/>
                <a:cs typeface="Corbel"/>
              </a:rPr>
              <a:t>t</a:t>
            </a:r>
            <a:r>
              <a:rPr sz="2400" b="1" u="heavy" spc="0" dirty="0" smtClean="0">
                <a:latin typeface="Corbel"/>
                <a:cs typeface="Corbel"/>
              </a:rPr>
              <a:t>i</a:t>
            </a:r>
            <a:r>
              <a:rPr sz="2400" b="1" u="heavy" spc="4" dirty="0" smtClean="0">
                <a:latin typeface="Corbel"/>
                <a:cs typeface="Corbel"/>
              </a:rPr>
              <a:t>a</a:t>
            </a:r>
            <a:r>
              <a:rPr sz="2400" b="1" u="heavy" spc="0" dirty="0" smtClean="0">
                <a:latin typeface="Corbel"/>
                <a:cs typeface="Corbel"/>
              </a:rPr>
              <a:t>l</a:t>
            </a:r>
            <a:r>
              <a:rPr sz="2400" b="1" u="heavy" spc="54" dirty="0" smtClean="0">
                <a:latin typeface="Corbel"/>
                <a:cs typeface="Corbel"/>
              </a:rPr>
              <a:t> </a:t>
            </a:r>
            <a:r>
              <a:rPr sz="2400" b="1" u="heavy" spc="0" dirty="0" smtClean="0">
                <a:latin typeface="Corbel"/>
                <a:cs typeface="Corbel"/>
              </a:rPr>
              <a:t>A</a:t>
            </a:r>
            <a:r>
              <a:rPr sz="2400" b="1" u="heavy" spc="-44" dirty="0" smtClean="0">
                <a:latin typeface="Corbel"/>
                <a:cs typeface="Corbel"/>
              </a:rPr>
              <a:t>c</a:t>
            </a:r>
            <a:r>
              <a:rPr sz="2400" b="1" u="heavy" spc="0" dirty="0" smtClean="0">
                <a:latin typeface="Corbel"/>
                <a:cs typeface="Corbel"/>
              </a:rPr>
              <a:t>ces</a:t>
            </a:r>
            <a:r>
              <a:rPr sz="2400" b="1" u="heavy" spc="9" dirty="0" smtClean="0">
                <a:latin typeface="Corbel"/>
                <a:cs typeface="Corbel"/>
              </a:rPr>
              <a:t>s</a:t>
            </a:r>
            <a:r>
              <a:rPr sz="2400" spc="0" dirty="0" smtClean="0">
                <a:latin typeface="Corbel"/>
                <a:cs typeface="Corbel"/>
              </a:rPr>
              <a:t>:</a:t>
            </a:r>
            <a:r>
              <a:rPr sz="2400" spc="8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If</a:t>
            </a:r>
            <a:r>
              <a:rPr sz="2400" spc="8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storage</a:t>
            </a:r>
            <a:r>
              <a:rPr sz="2400" spc="8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locations</a:t>
            </a:r>
            <a:r>
              <a:rPr sz="2400" spc="7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can</a:t>
            </a:r>
            <a:r>
              <a:rPr sz="2400" spc="8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be</a:t>
            </a:r>
            <a:r>
              <a:rPr sz="2400" spc="7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a</a:t>
            </a:r>
            <a:r>
              <a:rPr sz="2400" spc="-29" dirty="0" smtClean="0">
                <a:latin typeface="Corbel"/>
                <a:cs typeface="Corbel"/>
              </a:rPr>
              <a:t>c</a:t>
            </a:r>
            <a:r>
              <a:rPr sz="2400" spc="0" dirty="0" smtClean="0">
                <a:latin typeface="Corbel"/>
                <a:cs typeface="Corbel"/>
              </a:rPr>
              <a:t>c</a:t>
            </a:r>
            <a:r>
              <a:rPr sz="2400" spc="4" dirty="0" smtClean="0">
                <a:latin typeface="Corbel"/>
                <a:cs typeface="Corbel"/>
              </a:rPr>
              <a:t>e</a:t>
            </a:r>
            <a:r>
              <a:rPr sz="2400" spc="0" dirty="0" smtClean="0">
                <a:latin typeface="Corbel"/>
                <a:cs typeface="Corbel"/>
              </a:rPr>
              <a:t>ss</a:t>
            </a:r>
            <a:r>
              <a:rPr sz="2400" spc="4" dirty="0" smtClean="0">
                <a:latin typeface="Corbel"/>
                <a:cs typeface="Corbel"/>
              </a:rPr>
              <a:t>e</a:t>
            </a:r>
            <a:r>
              <a:rPr sz="2400" spc="0" dirty="0" smtClean="0">
                <a:latin typeface="Corbel"/>
                <a:cs typeface="Corbel"/>
              </a:rPr>
              <a:t>d</a:t>
            </a:r>
            <a:r>
              <a:rPr sz="2400" spc="8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o</a:t>
            </a:r>
            <a:r>
              <a:rPr sz="2400" spc="-14" dirty="0" smtClean="0">
                <a:latin typeface="Corbel"/>
                <a:cs typeface="Corbel"/>
              </a:rPr>
              <a:t>n</a:t>
            </a:r>
            <a:r>
              <a:rPr sz="2400" spc="0" dirty="0" smtClean="0">
                <a:latin typeface="Corbel"/>
                <a:cs typeface="Corbel"/>
              </a:rPr>
              <a:t>ly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8276" y="2278536"/>
            <a:ext cx="7714405" cy="1977324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43" dirty="0" smtClean="0">
                <a:latin typeface="Corbel"/>
                <a:cs typeface="Corbel"/>
              </a:rPr>
              <a:t>in a certain predetermined sequence, the access method is</a:t>
            </a:r>
            <a:endParaRPr sz="2400">
              <a:latin typeface="Corbel"/>
              <a:cs typeface="Corbel"/>
            </a:endParaRPr>
          </a:p>
          <a:p>
            <a:pPr marL="12700" marR="44310">
              <a:lnSpc>
                <a:spcPts val="2880"/>
              </a:lnSpc>
              <a:spcBef>
                <a:spcPts val="19"/>
              </a:spcBef>
            </a:pPr>
            <a:r>
              <a:rPr sz="2400" spc="0" dirty="0" smtClean="0">
                <a:latin typeface="Corbel"/>
                <a:cs typeface="Corbel"/>
              </a:rPr>
              <a:t>known as serial or sequential access.</a:t>
            </a:r>
            <a:endParaRPr sz="2400">
              <a:latin typeface="Corbel"/>
              <a:cs typeface="Corbel"/>
            </a:endParaRPr>
          </a:p>
          <a:p>
            <a:pPr marL="305612" marR="11003" indent="-274320" algn="just">
              <a:lnSpc>
                <a:spcPct val="100022"/>
              </a:lnSpc>
              <a:spcBef>
                <a:spcPts val="335"/>
              </a:spcBef>
              <a:tabLst>
                <a:tab pos="304800" algn="l"/>
              </a:tabLst>
            </a:pPr>
            <a:r>
              <a:rPr sz="1800" spc="0" dirty="0" smtClean="0">
                <a:solidFill>
                  <a:srgbClr val="5FB5CC"/>
                </a:solidFill>
                <a:latin typeface="Wingdings"/>
                <a:cs typeface="Wingdings"/>
              </a:rPr>
              <a:t></a:t>
            </a:r>
            <a:r>
              <a:rPr sz="1800" spc="0" dirty="0" smtClean="0">
                <a:solidFill>
                  <a:srgbClr val="5FB5CC"/>
                </a:solidFill>
                <a:latin typeface="Times New Roman"/>
                <a:cs typeface="Times New Roman"/>
              </a:rPr>
              <a:t>	</a:t>
            </a:r>
            <a:r>
              <a:rPr sz="2000" spc="0" dirty="0" smtClean="0">
                <a:latin typeface="Corbel"/>
                <a:cs typeface="Corbel"/>
              </a:rPr>
              <a:t>Oppos</a:t>
            </a:r>
            <a:r>
              <a:rPr sz="2000" spc="4" dirty="0" smtClean="0">
                <a:latin typeface="Corbel"/>
                <a:cs typeface="Corbel"/>
              </a:rPr>
              <a:t>i</a:t>
            </a:r>
            <a:r>
              <a:rPr sz="2000" spc="0" dirty="0" smtClean="0">
                <a:latin typeface="Corbel"/>
                <a:cs typeface="Corbel"/>
              </a:rPr>
              <a:t>te</a:t>
            </a:r>
            <a:r>
              <a:rPr sz="2000" spc="44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of</a:t>
            </a:r>
            <a:r>
              <a:rPr sz="2000" spc="44" dirty="0" smtClean="0">
                <a:latin typeface="Corbel"/>
                <a:cs typeface="Corbel"/>
              </a:rPr>
              <a:t> </a:t>
            </a:r>
            <a:r>
              <a:rPr sz="2000" spc="-9" dirty="0" smtClean="0">
                <a:latin typeface="Corbel"/>
                <a:cs typeface="Corbel"/>
              </a:rPr>
              <a:t>R</a:t>
            </a:r>
            <a:r>
              <a:rPr sz="2000" spc="0" dirty="0" smtClean="0">
                <a:latin typeface="Corbel"/>
                <a:cs typeface="Corbel"/>
              </a:rPr>
              <a:t>AM:</a:t>
            </a:r>
            <a:r>
              <a:rPr sz="2000" spc="44" dirty="0" smtClean="0">
                <a:latin typeface="Corbel"/>
                <a:cs typeface="Corbel"/>
              </a:rPr>
              <a:t> </a:t>
            </a:r>
            <a:r>
              <a:rPr sz="2000" b="1" spc="-4" dirty="0" smtClean="0">
                <a:latin typeface="Corbel"/>
                <a:cs typeface="Corbel"/>
              </a:rPr>
              <a:t>S</a:t>
            </a:r>
            <a:r>
              <a:rPr sz="2000" b="1" spc="0" dirty="0" smtClean="0">
                <a:latin typeface="Corbel"/>
                <a:cs typeface="Corbel"/>
              </a:rPr>
              <a:t>er</a:t>
            </a:r>
            <a:r>
              <a:rPr sz="2000" b="1" spc="-4" dirty="0" smtClean="0">
                <a:latin typeface="Corbel"/>
                <a:cs typeface="Corbel"/>
              </a:rPr>
              <a:t>i</a:t>
            </a:r>
            <a:r>
              <a:rPr sz="2000" b="1" spc="0" dirty="0" smtClean="0">
                <a:latin typeface="Corbel"/>
                <a:cs typeface="Corbel"/>
              </a:rPr>
              <a:t>al</a:t>
            </a:r>
            <a:r>
              <a:rPr sz="2000" b="1" spc="19" dirty="0" smtClean="0">
                <a:latin typeface="Corbel"/>
                <a:cs typeface="Corbel"/>
              </a:rPr>
              <a:t> </a:t>
            </a:r>
            <a:r>
              <a:rPr sz="2000" b="1" spc="0" dirty="0" smtClean="0">
                <a:latin typeface="Corbel"/>
                <a:cs typeface="Corbel"/>
              </a:rPr>
              <a:t>A</a:t>
            </a:r>
            <a:r>
              <a:rPr sz="2000" b="1" spc="-29" dirty="0" smtClean="0">
                <a:latin typeface="Corbel"/>
                <a:cs typeface="Corbel"/>
              </a:rPr>
              <a:t>c</a:t>
            </a:r>
            <a:r>
              <a:rPr sz="2000" b="1" spc="0" dirty="0" smtClean="0">
                <a:latin typeface="Corbel"/>
                <a:cs typeface="Corbel"/>
              </a:rPr>
              <a:t>c</a:t>
            </a:r>
            <a:r>
              <a:rPr sz="2000" b="1" spc="4" dirty="0" smtClean="0">
                <a:latin typeface="Corbel"/>
                <a:cs typeface="Corbel"/>
              </a:rPr>
              <a:t>e</a:t>
            </a:r>
            <a:r>
              <a:rPr sz="2000" b="1" spc="0" dirty="0" smtClean="0">
                <a:latin typeface="Corbel"/>
                <a:cs typeface="Corbel"/>
              </a:rPr>
              <a:t>ss</a:t>
            </a:r>
            <a:r>
              <a:rPr sz="2000" b="1" spc="39" dirty="0" smtClean="0">
                <a:latin typeface="Corbel"/>
                <a:cs typeface="Corbel"/>
              </a:rPr>
              <a:t> </a:t>
            </a:r>
            <a:r>
              <a:rPr sz="2000" b="1" spc="-9" dirty="0" smtClean="0">
                <a:latin typeface="Corbel"/>
                <a:cs typeface="Corbel"/>
              </a:rPr>
              <a:t>M</a:t>
            </a:r>
            <a:r>
              <a:rPr sz="2000" b="1" spc="0" dirty="0" smtClean="0">
                <a:latin typeface="Corbel"/>
                <a:cs typeface="Corbel"/>
              </a:rPr>
              <a:t>emo</a:t>
            </a:r>
            <a:r>
              <a:rPr sz="2000" b="1" spc="-9" dirty="0" smtClean="0">
                <a:latin typeface="Corbel"/>
                <a:cs typeface="Corbel"/>
              </a:rPr>
              <a:t>r</a:t>
            </a:r>
            <a:r>
              <a:rPr sz="2000" b="1" spc="0" dirty="0" smtClean="0">
                <a:latin typeface="Corbel"/>
                <a:cs typeface="Corbel"/>
              </a:rPr>
              <a:t>y</a:t>
            </a:r>
            <a:r>
              <a:rPr sz="2000" b="1" spc="25" dirty="0" smtClean="0">
                <a:latin typeface="Corbel"/>
                <a:cs typeface="Corbel"/>
              </a:rPr>
              <a:t> </a:t>
            </a:r>
            <a:r>
              <a:rPr sz="2000" spc="-25" dirty="0" smtClean="0">
                <a:latin typeface="Corbel"/>
                <a:cs typeface="Corbel"/>
              </a:rPr>
              <a:t>(</a:t>
            </a:r>
            <a:r>
              <a:rPr sz="2000" spc="0" dirty="0" smtClean="0">
                <a:latin typeface="Corbel"/>
                <a:cs typeface="Corbel"/>
              </a:rPr>
              <a:t>SA</a:t>
            </a:r>
            <a:r>
              <a:rPr sz="2000" spc="-4" dirty="0" smtClean="0">
                <a:latin typeface="Corbel"/>
                <a:cs typeface="Corbel"/>
              </a:rPr>
              <a:t>M</a:t>
            </a:r>
            <a:r>
              <a:rPr sz="2000" spc="0" dirty="0" smtClean="0">
                <a:latin typeface="Corbel"/>
                <a:cs typeface="Corbel"/>
              </a:rPr>
              <a:t>).</a:t>
            </a:r>
            <a:r>
              <a:rPr sz="2000" spc="29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SAM</a:t>
            </a:r>
            <a:r>
              <a:rPr sz="2000" spc="39" dirty="0" smtClean="0">
                <a:latin typeface="Corbel"/>
                <a:cs typeface="Corbel"/>
              </a:rPr>
              <a:t> </a:t>
            </a:r>
            <a:r>
              <a:rPr sz="2000" spc="-9" dirty="0" smtClean="0">
                <a:latin typeface="Corbel"/>
                <a:cs typeface="Corbel"/>
              </a:rPr>
              <a:t>w</a:t>
            </a:r>
            <a:r>
              <a:rPr sz="2000" spc="0" dirty="0" smtClean="0">
                <a:latin typeface="Corbel"/>
                <a:cs typeface="Corbel"/>
              </a:rPr>
              <a:t>orks</a:t>
            </a:r>
            <a:r>
              <a:rPr sz="2000" spc="50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very</a:t>
            </a:r>
            <a:r>
              <a:rPr sz="2000" spc="39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well for</a:t>
            </a:r>
            <a:r>
              <a:rPr sz="2000" spc="4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mem</a:t>
            </a:r>
            <a:r>
              <a:rPr sz="2000" spc="-4" dirty="0" smtClean="0">
                <a:latin typeface="Corbel"/>
                <a:cs typeface="Corbel"/>
              </a:rPr>
              <a:t>o</a:t>
            </a:r>
            <a:r>
              <a:rPr sz="2000" spc="0" dirty="0" smtClean="0">
                <a:latin typeface="Corbel"/>
                <a:cs typeface="Corbel"/>
              </a:rPr>
              <a:t>ry</a:t>
            </a:r>
            <a:r>
              <a:rPr sz="2000" spc="20" dirty="0" smtClean="0">
                <a:latin typeface="Corbel"/>
                <a:cs typeface="Corbel"/>
              </a:rPr>
              <a:t> </a:t>
            </a:r>
            <a:r>
              <a:rPr sz="2000" b="1" spc="9" dirty="0" smtClean="0">
                <a:latin typeface="Corbel"/>
                <a:cs typeface="Corbel"/>
              </a:rPr>
              <a:t>b</a:t>
            </a:r>
            <a:r>
              <a:rPr sz="2000" b="1" spc="0" dirty="0" smtClean="0">
                <a:latin typeface="Corbel"/>
                <a:cs typeface="Corbel"/>
              </a:rPr>
              <a:t>uffer</a:t>
            </a:r>
            <a:r>
              <a:rPr sz="2000" b="1" spc="4" dirty="0" smtClean="0">
                <a:latin typeface="Corbel"/>
                <a:cs typeface="Corbel"/>
              </a:rPr>
              <a:t>s</a:t>
            </a:r>
            <a:r>
              <a:rPr sz="2000" spc="0" dirty="0" smtClean="0">
                <a:latin typeface="Corbel"/>
                <a:cs typeface="Corbel"/>
              </a:rPr>
              <a:t>,</a:t>
            </a:r>
            <a:r>
              <a:rPr sz="2000" spc="4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where</a:t>
            </a:r>
            <a:r>
              <a:rPr sz="2000" spc="15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the</a:t>
            </a:r>
            <a:r>
              <a:rPr sz="2000" spc="15" dirty="0" smtClean="0">
                <a:latin typeface="Corbel"/>
                <a:cs typeface="Corbel"/>
              </a:rPr>
              <a:t> </a:t>
            </a:r>
            <a:r>
              <a:rPr sz="2000" spc="-4" dirty="0" smtClean="0">
                <a:latin typeface="Corbel"/>
                <a:cs typeface="Corbel"/>
              </a:rPr>
              <a:t>d</a:t>
            </a:r>
            <a:r>
              <a:rPr sz="2000" spc="0" dirty="0" smtClean="0">
                <a:latin typeface="Corbel"/>
                <a:cs typeface="Corbel"/>
              </a:rPr>
              <a:t>ata</a:t>
            </a:r>
            <a:r>
              <a:rPr sz="2000" spc="9" dirty="0" smtClean="0">
                <a:latin typeface="Corbel"/>
                <a:cs typeface="Corbel"/>
              </a:rPr>
              <a:t> </a:t>
            </a:r>
            <a:r>
              <a:rPr sz="2000" spc="4" dirty="0" smtClean="0">
                <a:latin typeface="Corbel"/>
                <a:cs typeface="Corbel"/>
              </a:rPr>
              <a:t>i</a:t>
            </a:r>
            <a:r>
              <a:rPr sz="2000" spc="0" dirty="0" smtClean="0">
                <a:latin typeface="Corbel"/>
                <a:cs typeface="Corbel"/>
              </a:rPr>
              <a:t>s</a:t>
            </a:r>
            <a:r>
              <a:rPr sz="2000" spc="9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no</a:t>
            </a:r>
            <a:r>
              <a:rPr sz="2000" spc="-14" dirty="0" smtClean="0">
                <a:latin typeface="Corbel"/>
                <a:cs typeface="Corbel"/>
              </a:rPr>
              <a:t>r</a:t>
            </a:r>
            <a:r>
              <a:rPr sz="2000" spc="-4" dirty="0" smtClean="0">
                <a:latin typeface="Corbel"/>
                <a:cs typeface="Corbel"/>
              </a:rPr>
              <a:t>m</a:t>
            </a:r>
            <a:r>
              <a:rPr sz="2000" spc="0" dirty="0" smtClean="0">
                <a:latin typeface="Corbel"/>
                <a:cs typeface="Corbel"/>
              </a:rPr>
              <a:t>ally</a:t>
            </a:r>
            <a:r>
              <a:rPr sz="2000" spc="9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stored </a:t>
            </a:r>
            <a:r>
              <a:rPr sz="2000" spc="14" dirty="0" smtClean="0">
                <a:latin typeface="Corbel"/>
                <a:cs typeface="Corbel"/>
              </a:rPr>
              <a:t>i</a:t>
            </a:r>
            <a:r>
              <a:rPr sz="2000" spc="0" dirty="0" smtClean="0">
                <a:latin typeface="Corbel"/>
                <a:cs typeface="Corbel"/>
              </a:rPr>
              <a:t>n</a:t>
            </a:r>
            <a:r>
              <a:rPr sz="2000" spc="9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the</a:t>
            </a:r>
            <a:r>
              <a:rPr sz="2000" spc="4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o</a:t>
            </a:r>
            <a:r>
              <a:rPr sz="2000" spc="9" dirty="0" smtClean="0">
                <a:latin typeface="Corbel"/>
                <a:cs typeface="Corbel"/>
              </a:rPr>
              <a:t>r</a:t>
            </a:r>
            <a:r>
              <a:rPr sz="2000" spc="-4" dirty="0" smtClean="0">
                <a:latin typeface="Corbel"/>
                <a:cs typeface="Corbel"/>
              </a:rPr>
              <a:t>d</a:t>
            </a:r>
            <a:r>
              <a:rPr sz="2000" spc="0" dirty="0" smtClean="0">
                <a:latin typeface="Corbel"/>
                <a:cs typeface="Corbel"/>
              </a:rPr>
              <a:t>er</a:t>
            </a:r>
            <a:r>
              <a:rPr sz="2000" spc="20" dirty="0" smtClean="0">
                <a:latin typeface="Corbel"/>
                <a:cs typeface="Corbel"/>
              </a:rPr>
              <a:t> </a:t>
            </a:r>
            <a:r>
              <a:rPr sz="2000" spc="4" dirty="0" smtClean="0">
                <a:latin typeface="Corbel"/>
                <a:cs typeface="Corbel"/>
              </a:rPr>
              <a:t>in </a:t>
            </a:r>
            <a:r>
              <a:rPr sz="2000" spc="0" dirty="0" smtClean="0">
                <a:latin typeface="Corbel"/>
                <a:cs typeface="Corbel"/>
              </a:rPr>
              <a:t>wh</a:t>
            </a:r>
            <a:r>
              <a:rPr sz="2000" spc="4" dirty="0" smtClean="0">
                <a:latin typeface="Corbel"/>
                <a:cs typeface="Corbel"/>
              </a:rPr>
              <a:t>i</a:t>
            </a:r>
            <a:r>
              <a:rPr sz="2000" spc="-14" dirty="0" smtClean="0">
                <a:latin typeface="Corbel"/>
                <a:cs typeface="Corbel"/>
              </a:rPr>
              <a:t>c</a:t>
            </a:r>
            <a:r>
              <a:rPr sz="2000" spc="0" dirty="0" smtClean="0">
                <a:latin typeface="Corbel"/>
                <a:cs typeface="Corbel"/>
              </a:rPr>
              <a:t>h</a:t>
            </a:r>
            <a:r>
              <a:rPr sz="2000" spc="44" dirty="0" smtClean="0">
                <a:latin typeface="Corbel"/>
                <a:cs typeface="Corbel"/>
              </a:rPr>
              <a:t> </a:t>
            </a:r>
            <a:r>
              <a:rPr sz="2000" spc="4" dirty="0" smtClean="0">
                <a:latin typeface="Corbel"/>
                <a:cs typeface="Corbel"/>
              </a:rPr>
              <a:t>i</a:t>
            </a:r>
            <a:r>
              <a:rPr sz="2000" spc="0" dirty="0" smtClean="0">
                <a:latin typeface="Corbel"/>
                <a:cs typeface="Corbel"/>
              </a:rPr>
              <a:t>t</a:t>
            </a:r>
            <a:r>
              <a:rPr sz="2000" spc="44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will</a:t>
            </a:r>
            <a:r>
              <a:rPr sz="2000" spc="44" dirty="0" smtClean="0">
                <a:latin typeface="Corbel"/>
                <a:cs typeface="Corbel"/>
              </a:rPr>
              <a:t> </a:t>
            </a:r>
            <a:r>
              <a:rPr sz="2000" spc="-4" dirty="0" smtClean="0">
                <a:latin typeface="Corbel"/>
                <a:cs typeface="Corbel"/>
              </a:rPr>
              <a:t>b</a:t>
            </a:r>
            <a:r>
              <a:rPr sz="2000" spc="0" dirty="0" smtClean="0">
                <a:latin typeface="Corbel"/>
                <a:cs typeface="Corbel"/>
              </a:rPr>
              <a:t>e</a:t>
            </a:r>
            <a:r>
              <a:rPr sz="2000" spc="44" dirty="0" smtClean="0">
                <a:latin typeface="Corbel"/>
                <a:cs typeface="Corbel"/>
              </a:rPr>
              <a:t> </a:t>
            </a:r>
            <a:r>
              <a:rPr sz="2000" spc="-4" dirty="0" smtClean="0">
                <a:latin typeface="Corbel"/>
                <a:cs typeface="Corbel"/>
              </a:rPr>
              <a:t>u</a:t>
            </a:r>
            <a:r>
              <a:rPr sz="2000" spc="4" dirty="0" smtClean="0">
                <a:latin typeface="Corbel"/>
                <a:cs typeface="Corbel"/>
              </a:rPr>
              <a:t>s</a:t>
            </a:r>
            <a:r>
              <a:rPr sz="2000" spc="9" dirty="0" smtClean="0">
                <a:latin typeface="Corbel"/>
                <a:cs typeface="Corbel"/>
              </a:rPr>
              <a:t>e</a:t>
            </a:r>
            <a:r>
              <a:rPr sz="2000" spc="0" dirty="0" smtClean="0">
                <a:latin typeface="Corbel"/>
                <a:cs typeface="Corbel"/>
              </a:rPr>
              <a:t>d</a:t>
            </a:r>
            <a:r>
              <a:rPr sz="2000" spc="44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(a</a:t>
            </a:r>
            <a:r>
              <a:rPr sz="2000" spc="44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good</a:t>
            </a:r>
            <a:r>
              <a:rPr sz="2000" spc="39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example</a:t>
            </a:r>
            <a:r>
              <a:rPr sz="2000" spc="50" dirty="0" smtClean="0">
                <a:latin typeface="Corbel"/>
                <a:cs typeface="Corbel"/>
              </a:rPr>
              <a:t> </a:t>
            </a:r>
            <a:r>
              <a:rPr sz="2000" spc="4" dirty="0" smtClean="0">
                <a:latin typeface="Corbel"/>
                <a:cs typeface="Corbel"/>
              </a:rPr>
              <a:t>i</a:t>
            </a:r>
            <a:r>
              <a:rPr sz="2000" spc="0" dirty="0" smtClean="0">
                <a:latin typeface="Corbel"/>
                <a:cs typeface="Corbel"/>
              </a:rPr>
              <a:t>s</a:t>
            </a:r>
            <a:r>
              <a:rPr sz="2000" spc="50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the</a:t>
            </a:r>
            <a:r>
              <a:rPr sz="2000" spc="44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te</a:t>
            </a:r>
            <a:r>
              <a:rPr sz="2000" spc="9" dirty="0" smtClean="0">
                <a:latin typeface="Corbel"/>
                <a:cs typeface="Corbel"/>
              </a:rPr>
              <a:t>x</a:t>
            </a:r>
            <a:r>
              <a:rPr sz="2000" spc="0" dirty="0" smtClean="0">
                <a:latin typeface="Corbel"/>
                <a:cs typeface="Corbel"/>
              </a:rPr>
              <a:t>t</a:t>
            </a:r>
            <a:r>
              <a:rPr sz="2000" spc="4" dirty="0" smtClean="0">
                <a:latin typeface="Corbel"/>
                <a:cs typeface="Corbel"/>
              </a:rPr>
              <a:t>u</a:t>
            </a:r>
            <a:r>
              <a:rPr sz="2000" spc="0" dirty="0" smtClean="0">
                <a:latin typeface="Corbel"/>
                <a:cs typeface="Corbel"/>
              </a:rPr>
              <a:t>re</a:t>
            </a:r>
            <a:r>
              <a:rPr sz="2000" spc="59" dirty="0" smtClean="0">
                <a:latin typeface="Corbel"/>
                <a:cs typeface="Corbel"/>
              </a:rPr>
              <a:t> </a:t>
            </a:r>
            <a:r>
              <a:rPr sz="2000" spc="-4" dirty="0" smtClean="0">
                <a:latin typeface="Corbel"/>
                <a:cs typeface="Corbel"/>
              </a:rPr>
              <a:t>bu</a:t>
            </a:r>
            <a:r>
              <a:rPr sz="2000" spc="9" dirty="0" smtClean="0">
                <a:latin typeface="Corbel"/>
                <a:cs typeface="Corbel"/>
              </a:rPr>
              <a:t>ff</a:t>
            </a:r>
            <a:r>
              <a:rPr sz="2000" spc="0" dirty="0" smtClean="0">
                <a:latin typeface="Corbel"/>
                <a:cs typeface="Corbel"/>
              </a:rPr>
              <a:t>er</a:t>
            </a:r>
            <a:r>
              <a:rPr sz="2000" spc="64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m</a:t>
            </a:r>
            <a:r>
              <a:rPr sz="2000" spc="-4" dirty="0" smtClean="0">
                <a:latin typeface="Corbel"/>
                <a:cs typeface="Corbel"/>
              </a:rPr>
              <a:t>e</a:t>
            </a:r>
            <a:r>
              <a:rPr sz="2000" spc="0" dirty="0" smtClean="0">
                <a:latin typeface="Corbel"/>
                <a:cs typeface="Corbel"/>
              </a:rPr>
              <a:t>mory</a:t>
            </a:r>
            <a:r>
              <a:rPr sz="2000" spc="50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on a vid</a:t>
            </a:r>
            <a:r>
              <a:rPr sz="2000" spc="-4" dirty="0" smtClean="0">
                <a:latin typeface="Corbel"/>
                <a:cs typeface="Corbel"/>
              </a:rPr>
              <a:t>e</a:t>
            </a:r>
            <a:r>
              <a:rPr sz="2000" spc="0" dirty="0" smtClean="0">
                <a:latin typeface="Corbel"/>
                <a:cs typeface="Corbel"/>
              </a:rPr>
              <a:t>o</a:t>
            </a:r>
            <a:r>
              <a:rPr sz="2000" spc="-4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card</a:t>
            </a:r>
            <a:r>
              <a:rPr sz="2000" spc="-9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,</a:t>
            </a:r>
            <a:r>
              <a:rPr sz="2000" spc="-4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magnetic ta</a:t>
            </a:r>
            <a:r>
              <a:rPr sz="2000" spc="4" dirty="0" smtClean="0">
                <a:latin typeface="Corbel"/>
                <a:cs typeface="Corbel"/>
              </a:rPr>
              <a:t>p</a:t>
            </a:r>
            <a:r>
              <a:rPr sz="2000" spc="0" dirty="0" smtClean="0">
                <a:latin typeface="Corbel"/>
                <a:cs typeface="Corbel"/>
              </a:rPr>
              <a:t>es,</a:t>
            </a:r>
            <a:r>
              <a:rPr sz="2000" spc="-9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et</a:t>
            </a:r>
            <a:r>
              <a:rPr sz="2000" spc="-4" dirty="0" smtClean="0">
                <a:latin typeface="Corbel"/>
                <a:cs typeface="Corbel"/>
              </a:rPr>
              <a:t>c</a:t>
            </a:r>
            <a:r>
              <a:rPr sz="2000" spc="0" dirty="0" smtClean="0">
                <a:latin typeface="Corbel"/>
                <a:cs typeface="Corbel"/>
              </a:rPr>
              <a:t>.).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236" y="4656357"/>
            <a:ext cx="8035736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1900" spc="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1900" spc="0" dirty="0" smtClean="0">
                <a:solidFill>
                  <a:srgbClr val="EFAC00"/>
                </a:solidFill>
                <a:latin typeface="Times New Roman"/>
                <a:cs typeface="Times New Roman"/>
              </a:rPr>
              <a:t>  </a:t>
            </a:r>
            <a:r>
              <a:rPr sz="1900" spc="10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2400" b="1" spc="-444" dirty="0" smtClean="0">
                <a:latin typeface="Corbel"/>
                <a:cs typeface="Corbel"/>
              </a:rPr>
              <a:t> </a:t>
            </a:r>
            <a:r>
              <a:rPr sz="2400" b="1" u="heavy" spc="0" dirty="0" smtClean="0">
                <a:latin typeface="Corbel"/>
                <a:cs typeface="Corbel"/>
              </a:rPr>
              <a:t>D</a:t>
            </a:r>
            <a:r>
              <a:rPr sz="2400" b="1" u="heavy" spc="9" dirty="0" smtClean="0">
                <a:latin typeface="Corbel"/>
                <a:cs typeface="Corbel"/>
              </a:rPr>
              <a:t>i</a:t>
            </a:r>
            <a:r>
              <a:rPr sz="2400" b="1" u="heavy" spc="-9" dirty="0" smtClean="0">
                <a:latin typeface="Corbel"/>
                <a:cs typeface="Corbel"/>
              </a:rPr>
              <a:t>r</a:t>
            </a:r>
            <a:r>
              <a:rPr sz="2400" b="1" u="heavy" spc="4" dirty="0" smtClean="0">
                <a:latin typeface="Corbel"/>
                <a:cs typeface="Corbel"/>
              </a:rPr>
              <a:t>e</a:t>
            </a:r>
            <a:r>
              <a:rPr sz="2400" b="1" u="heavy" spc="0" dirty="0" smtClean="0">
                <a:latin typeface="Corbel"/>
                <a:cs typeface="Corbel"/>
              </a:rPr>
              <a:t>ct</a:t>
            </a:r>
            <a:r>
              <a:rPr sz="2400" b="1" u="heavy" spc="184" dirty="0" smtClean="0">
                <a:latin typeface="Corbel"/>
                <a:cs typeface="Corbel"/>
              </a:rPr>
              <a:t> </a:t>
            </a:r>
            <a:r>
              <a:rPr sz="2400" b="1" u="heavy" spc="4" dirty="0" smtClean="0">
                <a:latin typeface="Corbel"/>
                <a:cs typeface="Corbel"/>
              </a:rPr>
              <a:t>A</a:t>
            </a:r>
            <a:r>
              <a:rPr sz="2400" b="1" u="heavy" spc="-39" dirty="0" smtClean="0">
                <a:latin typeface="Corbel"/>
                <a:cs typeface="Corbel"/>
              </a:rPr>
              <a:t>c</a:t>
            </a:r>
            <a:r>
              <a:rPr sz="2400" b="1" u="heavy" spc="0" dirty="0" smtClean="0">
                <a:latin typeface="Corbel"/>
                <a:cs typeface="Corbel"/>
              </a:rPr>
              <a:t>ces</a:t>
            </a:r>
            <a:r>
              <a:rPr sz="2400" b="1" u="heavy" spc="9" dirty="0" smtClean="0">
                <a:latin typeface="Corbel"/>
                <a:cs typeface="Corbel"/>
              </a:rPr>
              <a:t>s</a:t>
            </a:r>
            <a:r>
              <a:rPr sz="2400" spc="0" dirty="0" smtClean="0">
                <a:latin typeface="Corbel"/>
                <a:cs typeface="Corbel"/>
              </a:rPr>
              <a:t>:</a:t>
            </a:r>
            <a:r>
              <a:rPr sz="2400" spc="21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In</a:t>
            </a:r>
            <a:r>
              <a:rPr sz="2400" spc="214" dirty="0" smtClean="0">
                <a:latin typeface="Corbel"/>
                <a:cs typeface="Corbel"/>
              </a:rPr>
              <a:t> </a:t>
            </a:r>
            <a:r>
              <a:rPr sz="2400" spc="-4" dirty="0" smtClean="0">
                <a:latin typeface="Corbel"/>
                <a:cs typeface="Corbel"/>
              </a:rPr>
              <a:t>thi</a:t>
            </a:r>
            <a:r>
              <a:rPr sz="2400" spc="0" dirty="0" smtClean="0">
                <a:latin typeface="Corbel"/>
                <a:cs typeface="Corbel"/>
              </a:rPr>
              <a:t>s</a:t>
            </a:r>
            <a:r>
              <a:rPr sz="2400" spc="21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a</a:t>
            </a:r>
            <a:r>
              <a:rPr sz="2400" spc="-29" dirty="0" smtClean="0">
                <a:latin typeface="Corbel"/>
                <a:cs typeface="Corbel"/>
              </a:rPr>
              <a:t>c</a:t>
            </a:r>
            <a:r>
              <a:rPr sz="2400" spc="0" dirty="0" smtClean="0">
                <a:latin typeface="Corbel"/>
                <a:cs typeface="Corbel"/>
              </a:rPr>
              <a:t>c</a:t>
            </a:r>
            <a:r>
              <a:rPr sz="2400" spc="4" dirty="0" smtClean="0">
                <a:latin typeface="Corbel"/>
                <a:cs typeface="Corbel"/>
              </a:rPr>
              <a:t>e</a:t>
            </a:r>
            <a:r>
              <a:rPr sz="2400" spc="0" dirty="0" smtClean="0">
                <a:latin typeface="Corbel"/>
                <a:cs typeface="Corbel"/>
              </a:rPr>
              <a:t>ss</a:t>
            </a:r>
            <a:r>
              <a:rPr sz="2400" spc="21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i</a:t>
            </a:r>
            <a:r>
              <a:rPr sz="2400" spc="-9" dirty="0" smtClean="0">
                <a:latin typeface="Corbel"/>
                <a:cs typeface="Corbel"/>
              </a:rPr>
              <a:t>n</a:t>
            </a:r>
            <a:r>
              <a:rPr sz="2400" spc="0" dirty="0" smtClean="0">
                <a:latin typeface="Corbel"/>
                <a:cs typeface="Corbel"/>
              </a:rPr>
              <a:t>f</a:t>
            </a:r>
            <a:r>
              <a:rPr sz="2400" spc="4" dirty="0" smtClean="0">
                <a:latin typeface="Corbel"/>
                <a:cs typeface="Corbel"/>
              </a:rPr>
              <a:t>o</a:t>
            </a:r>
            <a:r>
              <a:rPr sz="2400" spc="-9" dirty="0" smtClean="0">
                <a:latin typeface="Corbel"/>
                <a:cs typeface="Corbel"/>
              </a:rPr>
              <a:t>r</a:t>
            </a:r>
            <a:r>
              <a:rPr sz="2400" spc="0" dirty="0" smtClean="0">
                <a:latin typeface="Corbel"/>
                <a:cs typeface="Corbel"/>
              </a:rPr>
              <a:t>mat</a:t>
            </a:r>
            <a:r>
              <a:rPr sz="2400" spc="-4" dirty="0" smtClean="0">
                <a:latin typeface="Corbel"/>
                <a:cs typeface="Corbel"/>
              </a:rPr>
              <a:t>i</a:t>
            </a:r>
            <a:r>
              <a:rPr sz="2400" spc="0" dirty="0" smtClean="0">
                <a:latin typeface="Corbel"/>
                <a:cs typeface="Corbel"/>
              </a:rPr>
              <a:t>on</a:t>
            </a:r>
            <a:r>
              <a:rPr sz="2400" spc="219" dirty="0" smtClean="0">
                <a:latin typeface="Corbel"/>
                <a:cs typeface="Corbel"/>
              </a:rPr>
              <a:t> </a:t>
            </a:r>
            <a:r>
              <a:rPr sz="2400" spc="4" dirty="0" smtClean="0">
                <a:latin typeface="Corbel"/>
                <a:cs typeface="Corbel"/>
              </a:rPr>
              <a:t>i</a:t>
            </a:r>
            <a:r>
              <a:rPr sz="2400" spc="0" dirty="0" smtClean="0">
                <a:latin typeface="Corbel"/>
                <a:cs typeface="Corbel"/>
              </a:rPr>
              <a:t>s</a:t>
            </a:r>
            <a:r>
              <a:rPr sz="2400" spc="21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s</a:t>
            </a:r>
            <a:r>
              <a:rPr sz="2400" spc="4" dirty="0" smtClean="0">
                <a:latin typeface="Corbel"/>
                <a:cs typeface="Corbel"/>
              </a:rPr>
              <a:t>t</a:t>
            </a:r>
            <a:r>
              <a:rPr sz="2400" spc="0" dirty="0" smtClean="0">
                <a:latin typeface="Corbel"/>
                <a:cs typeface="Corbel"/>
              </a:rPr>
              <a:t>or</a:t>
            </a:r>
            <a:r>
              <a:rPr sz="2400" spc="9" dirty="0" smtClean="0">
                <a:latin typeface="Corbel"/>
                <a:cs typeface="Corbel"/>
              </a:rPr>
              <a:t>e</a:t>
            </a:r>
            <a:r>
              <a:rPr sz="2400" spc="0" dirty="0" smtClean="0">
                <a:latin typeface="Corbel"/>
                <a:cs typeface="Corbel"/>
              </a:rPr>
              <a:t>d</a:t>
            </a:r>
            <a:r>
              <a:rPr sz="2400" spc="209" dirty="0" smtClean="0">
                <a:latin typeface="Corbel"/>
                <a:cs typeface="Corbel"/>
              </a:rPr>
              <a:t> </a:t>
            </a:r>
            <a:r>
              <a:rPr sz="2400" spc="4" dirty="0" smtClean="0">
                <a:latin typeface="Corbel"/>
                <a:cs typeface="Corbel"/>
              </a:rPr>
              <a:t>o</a:t>
            </a:r>
            <a:r>
              <a:rPr sz="2400" spc="0" dirty="0" smtClean="0">
                <a:latin typeface="Corbel"/>
                <a:cs typeface="Corbel"/>
              </a:rPr>
              <a:t>n</a:t>
            </a:r>
            <a:r>
              <a:rPr sz="2400" spc="20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tracks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8276" y="5022371"/>
            <a:ext cx="7715334" cy="1061745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2127">
              <a:lnSpc>
                <a:spcPts val="2500"/>
              </a:lnSpc>
            </a:pPr>
            <a:r>
              <a:rPr sz="2400" spc="18" dirty="0" smtClean="0">
                <a:latin typeface="Corbel"/>
                <a:cs typeface="Corbel"/>
              </a:rPr>
              <a:t>and each track has a separate read/write head. This features</a:t>
            </a:r>
            <a:endParaRPr sz="2400">
              <a:latin typeface="Corbel"/>
              <a:cs typeface="Corbel"/>
            </a:endParaRPr>
          </a:p>
          <a:p>
            <a:pPr marL="12700">
              <a:lnSpc>
                <a:spcPts val="2880"/>
              </a:lnSpc>
              <a:spcBef>
                <a:spcPts val="19"/>
              </a:spcBef>
            </a:pPr>
            <a:r>
              <a:rPr sz="2400" spc="2" dirty="0" smtClean="0">
                <a:latin typeface="Corbel"/>
                <a:cs typeface="Corbel"/>
              </a:rPr>
              <a:t>makes  it  a  semi  random  mode  which  is  generally  used  in</a:t>
            </a:r>
            <a:endParaRPr sz="2400">
              <a:latin typeface="Corbel"/>
              <a:cs typeface="Corbel"/>
            </a:endParaRPr>
          </a:p>
          <a:p>
            <a:pPr marL="12700" marR="45720">
              <a:lnSpc>
                <a:spcPts val="2880"/>
              </a:lnSpc>
            </a:pPr>
            <a:r>
              <a:rPr sz="2400" dirty="0" smtClean="0">
                <a:latin typeface="Corbel"/>
                <a:cs typeface="Corbel"/>
              </a:rPr>
              <a:t>magnetic disks.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4112" y="6586882"/>
            <a:ext cx="1425711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2" dirty="0" smtClean="0">
                <a:solidFill>
                  <a:srgbClr val="3E3E3E"/>
                </a:solidFill>
                <a:latin typeface="Corbel"/>
                <a:cs typeface="Corbel"/>
              </a:rPr>
              <a:t>Memory Organisation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69223" y="6586882"/>
            <a:ext cx="11344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dirty="0" smtClean="0">
                <a:solidFill>
                  <a:srgbClr val="3E3E3E"/>
                </a:solidFill>
                <a:latin typeface="Corbel"/>
                <a:cs typeface="Corbel"/>
              </a:rPr>
              <a:t>7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70564" y="2012441"/>
            <a:ext cx="6961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1750256" y="4756023"/>
            <a:ext cx="8641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0"/>
            <a:ext cx="9144000" cy="7103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0" y="1434973"/>
            <a:ext cx="9144000" cy="46989"/>
          </a:xfrm>
          <a:custGeom>
            <a:avLst/>
            <a:gdLst/>
            <a:ahLst/>
            <a:cxnLst/>
            <a:rect l="l" t="t" r="r" b="b"/>
            <a:pathLst>
              <a:path w="9144000" h="46989">
                <a:moveTo>
                  <a:pt x="9143999" y="0"/>
                </a:moveTo>
                <a:lnTo>
                  <a:pt x="0" y="0"/>
                </a:lnTo>
                <a:lnTo>
                  <a:pt x="0" y="46989"/>
                </a:lnTo>
                <a:lnTo>
                  <a:pt x="9143999" y="46989"/>
                </a:lnTo>
                <a:lnTo>
                  <a:pt x="914399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1434084"/>
            <a:ext cx="9143999" cy="5423914"/>
          </a:xfrm>
          <a:custGeom>
            <a:avLst/>
            <a:gdLst/>
            <a:ahLst/>
            <a:cxnLst/>
            <a:rect l="l" t="t" r="r" b="b"/>
            <a:pathLst>
              <a:path w="9143999" h="5423914">
                <a:moveTo>
                  <a:pt x="0" y="5423914"/>
                </a:moveTo>
                <a:lnTo>
                  <a:pt x="9143999" y="5423914"/>
                </a:lnTo>
                <a:lnTo>
                  <a:pt x="9143999" y="0"/>
                </a:lnTo>
                <a:lnTo>
                  <a:pt x="0" y="0"/>
                </a:lnTo>
                <a:lnTo>
                  <a:pt x="0" y="54239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1091" y="531814"/>
            <a:ext cx="5021509" cy="839786"/>
          </a:xfrm>
          <a:prstGeom prst="rect">
            <a:avLst/>
          </a:prstGeom>
        </p:spPr>
        <p:txBody>
          <a:bodyPr wrap="square" lIns="0" tIns="28003" rIns="0" bIns="0" rtlCol="0">
            <a:noAutofit/>
          </a:bodyPr>
          <a:lstStyle/>
          <a:p>
            <a:pPr marL="12700">
              <a:lnSpc>
                <a:spcPts val="4410"/>
              </a:lnSpc>
            </a:pPr>
            <a:r>
              <a:rPr sz="4200" spc="-2" smtClean="0">
                <a:solidFill>
                  <a:srgbClr val="E5C424"/>
                </a:solidFill>
                <a:latin typeface="Arial"/>
                <a:cs typeface="Arial"/>
              </a:rPr>
              <a:t>Wh</a:t>
            </a:r>
            <a:r>
              <a:rPr lang="en-US" sz="4200" spc="-2" dirty="0" smtClean="0">
                <a:solidFill>
                  <a:srgbClr val="E5C424"/>
                </a:solidFill>
                <a:latin typeface="Arial"/>
                <a:cs typeface="Arial"/>
              </a:rPr>
              <a:t>at is RAM??</a:t>
            </a:r>
            <a:endParaRPr sz="4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4112" y="6586882"/>
            <a:ext cx="1425711" cy="177799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2" dirty="0" smtClean="0">
                <a:solidFill>
                  <a:srgbClr val="3E3E3E"/>
                </a:solidFill>
                <a:latin typeface="Corbel"/>
                <a:cs typeface="Corbel"/>
              </a:rPr>
              <a:t>Memory Organisation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755507" y="6586882"/>
            <a:ext cx="128180" cy="177799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dirty="0" smtClean="0">
                <a:solidFill>
                  <a:srgbClr val="3E3E3E"/>
                </a:solidFill>
                <a:latin typeface="Corbel"/>
                <a:cs typeface="Corbel"/>
              </a:rPr>
              <a:t>9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object 57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510540" y="272796"/>
            <a:ext cx="6458712" cy="10637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847838" y="1971294"/>
            <a:ext cx="806196" cy="2168651"/>
          </a:xfrm>
          <a:custGeom>
            <a:avLst/>
            <a:gdLst/>
            <a:ahLst/>
            <a:cxnLst/>
            <a:rect l="l" t="t" r="r" b="b"/>
            <a:pathLst>
              <a:path w="806196" h="2168652">
                <a:moveTo>
                  <a:pt x="0" y="2168651"/>
                </a:moveTo>
                <a:lnTo>
                  <a:pt x="806196" y="2168651"/>
                </a:lnTo>
                <a:lnTo>
                  <a:pt x="806196" y="0"/>
                </a:lnTo>
                <a:lnTo>
                  <a:pt x="0" y="0"/>
                </a:lnTo>
                <a:lnTo>
                  <a:pt x="0" y="2168651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847838" y="3975354"/>
            <a:ext cx="806195" cy="0"/>
          </a:xfrm>
          <a:custGeom>
            <a:avLst/>
            <a:gdLst/>
            <a:ahLst/>
            <a:cxnLst/>
            <a:rect l="l" t="t" r="r" b="b"/>
            <a:pathLst>
              <a:path w="806195">
                <a:moveTo>
                  <a:pt x="0" y="0"/>
                </a:moveTo>
                <a:lnTo>
                  <a:pt x="806195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847838" y="3809238"/>
            <a:ext cx="806195" cy="0"/>
          </a:xfrm>
          <a:custGeom>
            <a:avLst/>
            <a:gdLst/>
            <a:ahLst/>
            <a:cxnLst/>
            <a:rect l="l" t="t" r="r" b="b"/>
            <a:pathLst>
              <a:path w="806195">
                <a:moveTo>
                  <a:pt x="0" y="0"/>
                </a:moveTo>
                <a:lnTo>
                  <a:pt x="806195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847838" y="3652266"/>
            <a:ext cx="790955" cy="0"/>
          </a:xfrm>
          <a:custGeom>
            <a:avLst/>
            <a:gdLst/>
            <a:ahLst/>
            <a:cxnLst/>
            <a:rect l="l" t="t" r="r" b="b"/>
            <a:pathLst>
              <a:path w="790955">
                <a:moveTo>
                  <a:pt x="0" y="0"/>
                </a:moveTo>
                <a:lnTo>
                  <a:pt x="790955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7847838" y="3502914"/>
            <a:ext cx="806195" cy="0"/>
          </a:xfrm>
          <a:custGeom>
            <a:avLst/>
            <a:gdLst/>
            <a:ahLst/>
            <a:cxnLst/>
            <a:rect l="l" t="t" r="r" b="b"/>
            <a:pathLst>
              <a:path w="806195">
                <a:moveTo>
                  <a:pt x="0" y="0"/>
                </a:moveTo>
                <a:lnTo>
                  <a:pt x="806195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7861554" y="2113026"/>
            <a:ext cx="792479" cy="0"/>
          </a:xfrm>
          <a:custGeom>
            <a:avLst/>
            <a:gdLst/>
            <a:ahLst/>
            <a:cxnLst/>
            <a:rect l="l" t="t" r="r" b="b"/>
            <a:pathLst>
              <a:path w="792479">
                <a:moveTo>
                  <a:pt x="0" y="0"/>
                </a:moveTo>
                <a:lnTo>
                  <a:pt x="792479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861554" y="2277616"/>
            <a:ext cx="792479" cy="1"/>
          </a:xfrm>
          <a:custGeom>
            <a:avLst/>
            <a:gdLst/>
            <a:ahLst/>
            <a:cxnLst/>
            <a:rect l="l" t="t" r="r" b="b"/>
            <a:pathLst>
              <a:path w="792479" h="1">
                <a:moveTo>
                  <a:pt x="792479" y="1"/>
                </a:moveTo>
                <a:lnTo>
                  <a:pt x="0" y="1"/>
                </a:ln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477262" y="3214878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477262" y="3412998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477262" y="3609594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477262" y="3806190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477262" y="4001262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>
                <a:moveTo>
                  <a:pt x="0" y="0"/>
                </a:moveTo>
                <a:lnTo>
                  <a:pt x="36576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2827782" y="3025902"/>
            <a:ext cx="1537716" cy="1146048"/>
          </a:xfrm>
          <a:custGeom>
            <a:avLst/>
            <a:gdLst/>
            <a:ahLst/>
            <a:cxnLst/>
            <a:rect l="l" t="t" r="r" b="b"/>
            <a:pathLst>
              <a:path w="1537716" h="1146048">
                <a:moveTo>
                  <a:pt x="0" y="1146048"/>
                </a:moveTo>
                <a:lnTo>
                  <a:pt x="1537716" y="1146048"/>
                </a:lnTo>
                <a:lnTo>
                  <a:pt x="1537716" y="0"/>
                </a:lnTo>
                <a:lnTo>
                  <a:pt x="0" y="0"/>
                </a:lnTo>
                <a:lnTo>
                  <a:pt x="0" y="1146048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384548" y="3552444"/>
            <a:ext cx="128015" cy="88391"/>
          </a:xfrm>
          <a:custGeom>
            <a:avLst/>
            <a:gdLst/>
            <a:ahLst/>
            <a:cxnLst/>
            <a:rect l="l" t="t" r="r" b="b"/>
            <a:pathLst>
              <a:path w="128015" h="88391">
                <a:moveTo>
                  <a:pt x="116712" y="0"/>
                </a:moveTo>
                <a:lnTo>
                  <a:pt x="0" y="44830"/>
                </a:lnTo>
                <a:lnTo>
                  <a:pt x="117348" y="88391"/>
                </a:lnTo>
                <a:lnTo>
                  <a:pt x="120316" y="82126"/>
                </a:lnTo>
                <a:lnTo>
                  <a:pt x="124594" y="69986"/>
                </a:lnTo>
                <a:lnTo>
                  <a:pt x="127160" y="57508"/>
                </a:lnTo>
                <a:lnTo>
                  <a:pt x="128015" y="44830"/>
                </a:lnTo>
                <a:lnTo>
                  <a:pt x="127662" y="36681"/>
                </a:lnTo>
                <a:lnTo>
                  <a:pt x="125706" y="24121"/>
                </a:lnTo>
                <a:lnTo>
                  <a:pt x="122051" y="11857"/>
                </a:lnTo>
                <a:lnTo>
                  <a:pt x="1167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945380" y="3552444"/>
            <a:ext cx="128016" cy="88391"/>
          </a:xfrm>
          <a:custGeom>
            <a:avLst/>
            <a:gdLst/>
            <a:ahLst/>
            <a:cxnLst/>
            <a:rect l="l" t="t" r="r" b="b"/>
            <a:pathLst>
              <a:path w="128016" h="88391">
                <a:moveTo>
                  <a:pt x="10287" y="88391"/>
                </a:moveTo>
                <a:lnTo>
                  <a:pt x="128016" y="44830"/>
                </a:lnTo>
                <a:lnTo>
                  <a:pt x="10922" y="0"/>
                </a:lnTo>
                <a:lnTo>
                  <a:pt x="7461" y="7470"/>
                </a:lnTo>
                <a:lnTo>
                  <a:pt x="3326" y="19623"/>
                </a:lnTo>
                <a:lnTo>
                  <a:pt x="834" y="32113"/>
                </a:lnTo>
                <a:lnTo>
                  <a:pt x="0" y="44830"/>
                </a:lnTo>
                <a:lnTo>
                  <a:pt x="234" y="51507"/>
                </a:lnTo>
                <a:lnTo>
                  <a:pt x="1964" y="64122"/>
                </a:lnTo>
                <a:lnTo>
                  <a:pt x="5332" y="76463"/>
                </a:lnTo>
                <a:lnTo>
                  <a:pt x="10287" y="883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499610" y="3600450"/>
            <a:ext cx="446531" cy="0"/>
          </a:xfrm>
          <a:custGeom>
            <a:avLst/>
            <a:gdLst/>
            <a:ahLst/>
            <a:cxnLst/>
            <a:rect l="l" t="t" r="r" b="b"/>
            <a:pathLst>
              <a:path w="446531">
                <a:moveTo>
                  <a:pt x="0" y="0"/>
                </a:moveTo>
                <a:lnTo>
                  <a:pt x="446531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082802" y="4776978"/>
            <a:ext cx="4946904" cy="0"/>
          </a:xfrm>
          <a:custGeom>
            <a:avLst/>
            <a:gdLst/>
            <a:ahLst/>
            <a:cxnLst/>
            <a:rect l="l" t="t" r="r" b="b"/>
            <a:pathLst>
              <a:path w="4946904">
                <a:moveTo>
                  <a:pt x="0" y="0"/>
                </a:moveTo>
                <a:lnTo>
                  <a:pt x="4946904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082802" y="5787390"/>
            <a:ext cx="4946904" cy="0"/>
          </a:xfrm>
          <a:custGeom>
            <a:avLst/>
            <a:gdLst/>
            <a:ahLst/>
            <a:cxnLst/>
            <a:rect l="l" t="t" r="r" b="b"/>
            <a:pathLst>
              <a:path w="4946904">
                <a:moveTo>
                  <a:pt x="0" y="0"/>
                </a:moveTo>
                <a:lnTo>
                  <a:pt x="4946904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2827782" y="4613910"/>
            <a:ext cx="0" cy="1173480"/>
          </a:xfrm>
          <a:custGeom>
            <a:avLst/>
            <a:gdLst/>
            <a:ahLst/>
            <a:cxnLst/>
            <a:rect l="l" t="t" r="r" b="b"/>
            <a:pathLst>
              <a:path h="1173479">
                <a:moveTo>
                  <a:pt x="0" y="0"/>
                </a:moveTo>
                <a:lnTo>
                  <a:pt x="0" y="117348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202430" y="4613910"/>
            <a:ext cx="0" cy="1173480"/>
          </a:xfrm>
          <a:custGeom>
            <a:avLst/>
            <a:gdLst/>
            <a:ahLst/>
            <a:cxnLst/>
            <a:rect l="l" t="t" r="r" b="b"/>
            <a:pathLst>
              <a:path h="1173479">
                <a:moveTo>
                  <a:pt x="0" y="0"/>
                </a:moveTo>
                <a:lnTo>
                  <a:pt x="0" y="117348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594866" y="4597146"/>
            <a:ext cx="281940" cy="0"/>
          </a:xfrm>
          <a:custGeom>
            <a:avLst/>
            <a:gdLst/>
            <a:ahLst/>
            <a:cxnLst/>
            <a:rect l="l" t="t" r="r" b="b"/>
            <a:pathLst>
              <a:path w="281940">
                <a:moveTo>
                  <a:pt x="0" y="0"/>
                </a:moveTo>
                <a:lnTo>
                  <a:pt x="28194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18236" y="1777710"/>
            <a:ext cx="5619941" cy="584708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2700">
              <a:lnSpc>
                <a:spcPts val="2105"/>
              </a:lnSpc>
            </a:pPr>
            <a:r>
              <a:rPr sz="1600" spc="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1600" spc="0" dirty="0" smtClean="0">
                <a:solidFill>
                  <a:srgbClr val="EFAC00"/>
                </a:solidFill>
                <a:latin typeface="Times New Roman"/>
                <a:cs typeface="Times New Roman"/>
              </a:rPr>
              <a:t>   </a:t>
            </a:r>
            <a:r>
              <a:rPr sz="1600" spc="26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RAM is</a:t>
            </a:r>
            <a:r>
              <a:rPr sz="2000" spc="9" dirty="0" smtClean="0">
                <a:latin typeface="Corbel"/>
                <a:cs typeface="Corbel"/>
              </a:rPr>
              <a:t> </a:t>
            </a:r>
            <a:r>
              <a:rPr sz="2000" spc="-4" dirty="0" smtClean="0">
                <a:latin typeface="Corbel"/>
                <a:cs typeface="Corbel"/>
              </a:rPr>
              <a:t>u</a:t>
            </a:r>
            <a:r>
              <a:rPr sz="2000" spc="4" dirty="0" smtClean="0">
                <a:latin typeface="Corbel"/>
                <a:cs typeface="Corbel"/>
              </a:rPr>
              <a:t>s</a:t>
            </a:r>
            <a:r>
              <a:rPr sz="2000" spc="0" dirty="0" smtClean="0">
                <a:latin typeface="Corbel"/>
                <a:cs typeface="Corbel"/>
              </a:rPr>
              <a:t>ed f</a:t>
            </a:r>
            <a:r>
              <a:rPr sz="2000" spc="4" dirty="0" smtClean="0">
                <a:latin typeface="Corbel"/>
                <a:cs typeface="Corbel"/>
              </a:rPr>
              <a:t>o</a:t>
            </a:r>
            <a:r>
              <a:rPr sz="2000" spc="0" dirty="0" smtClean="0">
                <a:latin typeface="Corbel"/>
                <a:cs typeface="Corbel"/>
              </a:rPr>
              <a:t>r </a:t>
            </a:r>
            <a:r>
              <a:rPr sz="2000" spc="4" dirty="0" smtClean="0">
                <a:latin typeface="Corbel"/>
                <a:cs typeface="Corbel"/>
              </a:rPr>
              <a:t>s</a:t>
            </a:r>
            <a:r>
              <a:rPr sz="2000" spc="0" dirty="0" smtClean="0">
                <a:latin typeface="Corbel"/>
                <a:cs typeface="Corbel"/>
              </a:rPr>
              <a:t>to</a:t>
            </a:r>
            <a:r>
              <a:rPr sz="2000" spc="4" dirty="0" smtClean="0">
                <a:latin typeface="Corbel"/>
                <a:cs typeface="Corbel"/>
              </a:rPr>
              <a:t>r</a:t>
            </a:r>
            <a:r>
              <a:rPr sz="2000" spc="0" dirty="0" smtClean="0">
                <a:latin typeface="Corbel"/>
                <a:cs typeface="Corbel"/>
              </a:rPr>
              <a:t>ing</a:t>
            </a:r>
            <a:r>
              <a:rPr sz="2000" spc="-4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b</a:t>
            </a:r>
            <a:r>
              <a:rPr sz="2000" spc="-4" dirty="0" smtClean="0">
                <a:latin typeface="Corbel"/>
                <a:cs typeface="Corbel"/>
              </a:rPr>
              <a:t>u</a:t>
            </a:r>
            <a:r>
              <a:rPr sz="2000" spc="0" dirty="0" smtClean="0">
                <a:latin typeface="Corbel"/>
                <a:cs typeface="Corbel"/>
              </a:rPr>
              <a:t>lk</a:t>
            </a:r>
            <a:r>
              <a:rPr sz="2000" spc="4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of p</a:t>
            </a:r>
            <a:r>
              <a:rPr sz="2000" spc="4" dirty="0" smtClean="0">
                <a:latin typeface="Corbel"/>
                <a:cs typeface="Corbel"/>
              </a:rPr>
              <a:t>r</a:t>
            </a:r>
            <a:r>
              <a:rPr sz="2000" spc="0" dirty="0" smtClean="0">
                <a:latin typeface="Corbel"/>
                <a:cs typeface="Corbel"/>
              </a:rPr>
              <a:t>o</a:t>
            </a:r>
            <a:r>
              <a:rPr sz="2000" spc="4" dirty="0" smtClean="0">
                <a:latin typeface="Corbel"/>
                <a:cs typeface="Corbel"/>
              </a:rPr>
              <a:t>g</a:t>
            </a:r>
            <a:r>
              <a:rPr sz="2000" spc="0" dirty="0" smtClean="0">
                <a:latin typeface="Corbel"/>
                <a:cs typeface="Corbel"/>
              </a:rPr>
              <a:t>r</a:t>
            </a:r>
            <a:r>
              <a:rPr sz="2000" spc="4" dirty="0" smtClean="0">
                <a:latin typeface="Corbel"/>
                <a:cs typeface="Corbel"/>
              </a:rPr>
              <a:t>a</a:t>
            </a:r>
            <a:r>
              <a:rPr sz="2000" spc="0" dirty="0" smtClean="0">
                <a:latin typeface="Corbel"/>
                <a:cs typeface="Corbel"/>
              </a:rPr>
              <a:t>ms</a:t>
            </a:r>
            <a:r>
              <a:rPr sz="2000" spc="-9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a</a:t>
            </a:r>
            <a:r>
              <a:rPr sz="2000" spc="4" dirty="0" smtClean="0">
                <a:latin typeface="Corbel"/>
                <a:cs typeface="Corbel"/>
              </a:rPr>
              <a:t>n</a:t>
            </a:r>
            <a:r>
              <a:rPr sz="2000" spc="0" dirty="0" smtClean="0">
                <a:latin typeface="Corbel"/>
                <a:cs typeface="Corbel"/>
              </a:rPr>
              <a:t>d</a:t>
            </a:r>
            <a:r>
              <a:rPr sz="2000" spc="-4" dirty="0" smtClean="0">
                <a:latin typeface="Corbel"/>
                <a:cs typeface="Corbel"/>
              </a:rPr>
              <a:t> </a:t>
            </a:r>
            <a:r>
              <a:rPr sz="2000" spc="0" dirty="0" smtClean="0">
                <a:latin typeface="Corbel"/>
                <a:cs typeface="Corbel"/>
              </a:rPr>
              <a:t>data</a:t>
            </a:r>
            <a:endParaRPr sz="2000">
              <a:latin typeface="Corbel"/>
              <a:cs typeface="Corbel"/>
            </a:endParaRPr>
          </a:p>
          <a:p>
            <a:pPr marL="332739" marR="38176">
              <a:lnSpc>
                <a:spcPts val="2400"/>
              </a:lnSpc>
              <a:spcBef>
                <a:spcPts val="14"/>
              </a:spcBef>
            </a:pPr>
            <a:r>
              <a:rPr sz="2000" spc="1" dirty="0" smtClean="0">
                <a:latin typeface="Corbel"/>
                <a:cs typeface="Corbel"/>
              </a:rPr>
              <a:t>that is subject to change.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57008" y="1960299"/>
            <a:ext cx="177115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dirty="0" smtClean="0">
                <a:latin typeface="Corbel"/>
                <a:cs typeface="Corbel"/>
              </a:rPr>
              <a:t>0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175629" y="2296849"/>
            <a:ext cx="635766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dirty="0" smtClean="0">
                <a:latin typeface="Corbel"/>
                <a:cs typeface="Corbel"/>
              </a:rPr>
              <a:t>words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12461" y="2466267"/>
            <a:ext cx="2594070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-2" dirty="0" smtClean="0">
                <a:latin typeface="Corbel"/>
                <a:cs typeface="Corbel"/>
              </a:rPr>
              <a:t>(8 bits (one byte) per word)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20953" y="2634542"/>
            <a:ext cx="1675525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-8" dirty="0" smtClean="0">
                <a:latin typeface="Corbel"/>
                <a:cs typeface="Corbel"/>
              </a:rPr>
              <a:t>Typical RAM chip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94206" y="3136216"/>
            <a:ext cx="936608" cy="960501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 marR="22860">
              <a:lnSpc>
                <a:spcPts val="1300"/>
              </a:lnSpc>
            </a:pPr>
            <a:r>
              <a:rPr sz="1200" spc="0" dirty="0" smtClean="0">
                <a:latin typeface="Corbel"/>
                <a:cs typeface="Corbel"/>
              </a:rPr>
              <a:t>Chip select 1</a:t>
            </a:r>
            <a:endParaRPr sz="1200">
              <a:latin typeface="Corbel"/>
              <a:cs typeface="Corbel"/>
            </a:endParaRPr>
          </a:p>
          <a:p>
            <a:pPr marL="12700" marR="22860">
              <a:lnSpc>
                <a:spcPct val="100626"/>
              </a:lnSpc>
              <a:spcBef>
                <a:spcPts val="25"/>
              </a:spcBef>
            </a:pPr>
            <a:r>
              <a:rPr sz="1200" spc="0" dirty="0" smtClean="0">
                <a:latin typeface="Corbel"/>
                <a:cs typeface="Corbel"/>
              </a:rPr>
              <a:t>Chip select 2</a:t>
            </a:r>
            <a:endParaRPr sz="1200">
              <a:latin typeface="Corbel"/>
              <a:cs typeface="Corbel"/>
            </a:endParaRPr>
          </a:p>
          <a:p>
            <a:pPr marL="551052" marR="22860">
              <a:lnSpc>
                <a:spcPct val="100626"/>
              </a:lnSpc>
              <a:spcBef>
                <a:spcPts val="100"/>
              </a:spcBef>
            </a:pPr>
            <a:r>
              <a:rPr sz="1200" spc="-6" dirty="0" smtClean="0">
                <a:latin typeface="Corbel"/>
                <a:cs typeface="Corbel"/>
              </a:rPr>
              <a:t>Read</a:t>
            </a:r>
            <a:endParaRPr sz="1200">
              <a:latin typeface="Corbel"/>
              <a:cs typeface="Corbel"/>
            </a:endParaRPr>
          </a:p>
          <a:p>
            <a:pPr marL="551052">
              <a:lnSpc>
                <a:spcPct val="100626"/>
              </a:lnSpc>
              <a:spcBef>
                <a:spcPts val="85"/>
              </a:spcBef>
            </a:pPr>
            <a:r>
              <a:rPr sz="1200" spc="0" dirty="0" smtClean="0">
                <a:latin typeface="Corbel"/>
                <a:cs typeface="Corbel"/>
              </a:rPr>
              <a:t>Write</a:t>
            </a:r>
            <a:endParaRPr sz="1200">
              <a:latin typeface="Corbel"/>
              <a:cs typeface="Corbel"/>
            </a:endParaRPr>
          </a:p>
          <a:p>
            <a:pPr marL="12700" marR="22860">
              <a:lnSpc>
                <a:spcPct val="100626"/>
              </a:lnSpc>
              <a:spcBef>
                <a:spcPts val="85"/>
              </a:spcBef>
            </a:pPr>
            <a:r>
              <a:rPr sz="1200" spc="0" dirty="0" smtClean="0">
                <a:latin typeface="Corbel"/>
                <a:cs typeface="Corbel"/>
              </a:rPr>
              <a:t>7-bit address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141468" y="3528519"/>
            <a:ext cx="910672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1" dirty="0" smtClean="0">
                <a:latin typeface="Corbel"/>
                <a:cs typeface="Corbel"/>
              </a:rPr>
              <a:t>8-bit data bus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44011" y="3619070"/>
            <a:ext cx="360798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dirty="0" smtClean="0">
                <a:latin typeface="Corbel"/>
                <a:cs typeface="Corbel"/>
              </a:rPr>
              <a:t>RAM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12482" y="4006777"/>
            <a:ext cx="373039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-9" dirty="0" smtClean="0">
                <a:latin typeface="Corbel"/>
                <a:cs typeface="Corbel"/>
              </a:rPr>
              <a:t>127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353814" y="4970477"/>
            <a:ext cx="1097386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dirty="0" smtClean="0">
                <a:latin typeface="Corbel"/>
                <a:cs typeface="Corbel"/>
              </a:rPr>
              <a:t>High-impedence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53814" y="5291152"/>
            <a:ext cx="1198541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0" dirty="0" smtClean="0">
                <a:latin typeface="Corbel"/>
                <a:cs typeface="Corbel"/>
              </a:rPr>
              <a:t>Input data to RAM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353814" y="5616094"/>
            <a:ext cx="1080470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0" dirty="0" smtClean="0">
                <a:latin typeface="Corbel"/>
                <a:cs typeface="Corbel"/>
              </a:rPr>
              <a:t>High Impedence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674112" y="6586882"/>
            <a:ext cx="1425711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2" dirty="0" smtClean="0">
                <a:solidFill>
                  <a:srgbClr val="3E3E3E"/>
                </a:solidFill>
                <a:latin typeface="Corbel"/>
                <a:cs typeface="Corbel"/>
              </a:rPr>
              <a:t>Memory Organisation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88451" y="6586882"/>
            <a:ext cx="195465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dirty="0" smtClean="0">
                <a:solidFill>
                  <a:srgbClr val="3E3E3E"/>
                </a:solidFill>
                <a:latin typeface="Corbel"/>
                <a:cs typeface="Corbel"/>
              </a:rPr>
              <a:t>10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82802" y="4613910"/>
            <a:ext cx="1744979" cy="163067"/>
          </a:xfrm>
          <a:prstGeom prst="rect">
            <a:avLst/>
          </a:prstGeom>
        </p:spPr>
        <p:txBody>
          <a:bodyPr wrap="square" lIns="0" tIns="7524" rIns="0" bIns="0" rtlCol="0">
            <a:noAutofit/>
          </a:bodyPr>
          <a:lstStyle/>
          <a:p>
            <a:pPr marL="103479">
              <a:lnSpc>
                <a:spcPts val="1185"/>
              </a:lnSpc>
            </a:pPr>
            <a:r>
              <a:rPr sz="1200" spc="0" dirty="0" smtClean="0">
                <a:latin typeface="Corbel"/>
                <a:cs typeface="Corbel"/>
              </a:rPr>
              <a:t>CS1   </a:t>
            </a:r>
            <a:r>
              <a:rPr sz="1200" spc="179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CS2   </a:t>
            </a:r>
            <a:r>
              <a:rPr sz="1200" spc="239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RD  </a:t>
            </a:r>
            <a:r>
              <a:rPr sz="1200" spc="164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WR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827781" y="4613910"/>
            <a:ext cx="1374648" cy="163067"/>
          </a:xfrm>
          <a:prstGeom prst="rect">
            <a:avLst/>
          </a:prstGeom>
        </p:spPr>
        <p:txBody>
          <a:bodyPr wrap="square" lIns="0" tIns="6953" rIns="0" bIns="0" rtlCol="0">
            <a:noAutofit/>
          </a:bodyPr>
          <a:lstStyle/>
          <a:p>
            <a:pPr marL="111379">
              <a:lnSpc>
                <a:spcPts val="1095"/>
              </a:lnSpc>
            </a:pPr>
            <a:r>
              <a:rPr sz="1200" spc="0" dirty="0" smtClean="0">
                <a:latin typeface="Corbel"/>
                <a:cs typeface="Corbel"/>
              </a:rPr>
              <a:t>Memory function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02430" y="4613910"/>
            <a:ext cx="1827276" cy="163067"/>
          </a:xfrm>
          <a:prstGeom prst="rect">
            <a:avLst/>
          </a:prstGeom>
        </p:spPr>
        <p:txBody>
          <a:bodyPr wrap="square" lIns="0" tIns="6953" rIns="0" bIns="0" rtlCol="0">
            <a:noAutofit/>
          </a:bodyPr>
          <a:lstStyle/>
          <a:p>
            <a:pPr marL="192786">
              <a:lnSpc>
                <a:spcPts val="1095"/>
              </a:lnSpc>
            </a:pPr>
            <a:r>
              <a:rPr sz="1200" spc="-1" dirty="0" smtClean="0">
                <a:latin typeface="Corbel"/>
                <a:cs typeface="Corbel"/>
              </a:rPr>
              <a:t>State of data bus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82802" y="4776978"/>
            <a:ext cx="1744979" cy="1010412"/>
          </a:xfrm>
          <a:prstGeom prst="rect">
            <a:avLst/>
          </a:prstGeom>
        </p:spPr>
        <p:txBody>
          <a:bodyPr wrap="square" lIns="0" tIns="21590" rIns="0" bIns="0" rtlCol="0">
            <a:noAutofit/>
          </a:bodyPr>
          <a:lstStyle/>
          <a:p>
            <a:pPr marL="164744">
              <a:lnSpc>
                <a:spcPct val="100626"/>
              </a:lnSpc>
            </a:pPr>
            <a:r>
              <a:rPr sz="1200" spc="0" dirty="0" smtClean="0">
                <a:latin typeface="Corbel"/>
                <a:cs typeface="Corbel"/>
              </a:rPr>
              <a:t>0      </a:t>
            </a:r>
            <a:r>
              <a:rPr sz="1200" spc="225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0       </a:t>
            </a:r>
            <a:r>
              <a:rPr sz="1200" spc="209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x      </a:t>
            </a:r>
            <a:r>
              <a:rPr sz="1200" spc="220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x</a:t>
            </a:r>
            <a:endParaRPr sz="1200">
              <a:latin typeface="Corbel"/>
              <a:cs typeface="Corbel"/>
            </a:endParaRPr>
          </a:p>
          <a:p>
            <a:pPr marL="164744">
              <a:lnSpc>
                <a:spcPts val="1265"/>
              </a:lnSpc>
              <a:spcBef>
                <a:spcPts val="63"/>
              </a:spcBef>
            </a:pPr>
            <a:r>
              <a:rPr sz="1200" spc="0" dirty="0" smtClean="0">
                <a:latin typeface="Corbel"/>
                <a:cs typeface="Corbel"/>
              </a:rPr>
              <a:t>0      </a:t>
            </a:r>
            <a:r>
              <a:rPr sz="1200" spc="225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1       </a:t>
            </a:r>
            <a:r>
              <a:rPr sz="1200" spc="220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x      </a:t>
            </a:r>
            <a:r>
              <a:rPr sz="1200" spc="220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x</a:t>
            </a:r>
            <a:endParaRPr sz="1200">
              <a:latin typeface="Corbel"/>
              <a:cs typeface="Corbel"/>
            </a:endParaRPr>
          </a:p>
          <a:p>
            <a:pPr marL="164744">
              <a:lnSpc>
                <a:spcPts val="1285"/>
              </a:lnSpc>
              <a:spcBef>
                <a:spcPts val="1"/>
              </a:spcBef>
            </a:pPr>
            <a:r>
              <a:rPr sz="1200" spc="0" dirty="0" smtClean="0">
                <a:latin typeface="Corbel"/>
                <a:cs typeface="Corbel"/>
              </a:rPr>
              <a:t>1      </a:t>
            </a:r>
            <a:r>
              <a:rPr sz="1200" spc="220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0       </a:t>
            </a:r>
            <a:r>
              <a:rPr sz="1200" spc="225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0      </a:t>
            </a:r>
            <a:r>
              <a:rPr sz="1200" spc="209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0</a:t>
            </a:r>
            <a:endParaRPr sz="1200">
              <a:latin typeface="Corbel"/>
              <a:cs typeface="Corbel"/>
            </a:endParaRPr>
          </a:p>
          <a:p>
            <a:pPr marL="164744">
              <a:lnSpc>
                <a:spcPts val="1265"/>
              </a:lnSpc>
            </a:pPr>
            <a:r>
              <a:rPr sz="1200" spc="0" dirty="0" smtClean="0">
                <a:latin typeface="Corbel"/>
                <a:cs typeface="Corbel"/>
              </a:rPr>
              <a:t>1      </a:t>
            </a:r>
            <a:r>
              <a:rPr sz="1200" spc="220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0       </a:t>
            </a:r>
            <a:r>
              <a:rPr sz="1200" spc="225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0      </a:t>
            </a:r>
            <a:r>
              <a:rPr sz="1200" spc="209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1</a:t>
            </a:r>
            <a:endParaRPr sz="1200">
              <a:latin typeface="Corbel"/>
              <a:cs typeface="Corbel"/>
            </a:endParaRPr>
          </a:p>
          <a:p>
            <a:pPr marL="164744">
              <a:lnSpc>
                <a:spcPts val="1275"/>
              </a:lnSpc>
              <a:spcBef>
                <a:spcPts val="0"/>
              </a:spcBef>
            </a:pPr>
            <a:r>
              <a:rPr sz="1200" spc="0" dirty="0" smtClean="0">
                <a:latin typeface="Corbel"/>
                <a:cs typeface="Corbel"/>
              </a:rPr>
              <a:t>1      </a:t>
            </a:r>
            <a:r>
              <a:rPr sz="1200" spc="220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0       </a:t>
            </a:r>
            <a:r>
              <a:rPr sz="1200" spc="225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1      </a:t>
            </a:r>
            <a:r>
              <a:rPr sz="1200" spc="220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x</a:t>
            </a:r>
            <a:endParaRPr sz="1200">
              <a:latin typeface="Corbel"/>
              <a:cs typeface="Corbel"/>
            </a:endParaRPr>
          </a:p>
          <a:p>
            <a:pPr marL="164744">
              <a:lnSpc>
                <a:spcPts val="1245"/>
              </a:lnSpc>
            </a:pPr>
            <a:r>
              <a:rPr sz="1200" spc="0" dirty="0" smtClean="0">
                <a:latin typeface="Corbel"/>
                <a:cs typeface="Corbel"/>
              </a:rPr>
              <a:t>1      </a:t>
            </a:r>
            <a:r>
              <a:rPr sz="1200" spc="220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1       </a:t>
            </a:r>
            <a:r>
              <a:rPr sz="1200" spc="220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x      </a:t>
            </a:r>
            <a:r>
              <a:rPr sz="1200" spc="234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x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27781" y="4776978"/>
            <a:ext cx="1374648" cy="1010412"/>
          </a:xfrm>
          <a:prstGeom prst="rect">
            <a:avLst/>
          </a:prstGeom>
        </p:spPr>
        <p:txBody>
          <a:bodyPr wrap="square" lIns="0" tIns="26034" rIns="0" bIns="0" rtlCol="0">
            <a:noAutofit/>
          </a:bodyPr>
          <a:lstStyle/>
          <a:p>
            <a:pPr marL="226060" marR="678224" indent="7619">
              <a:lnSpc>
                <a:spcPts val="1449"/>
              </a:lnSpc>
            </a:pPr>
            <a:r>
              <a:rPr sz="1200" spc="0" dirty="0" smtClean="0">
                <a:latin typeface="Corbel"/>
                <a:cs typeface="Corbel"/>
              </a:rPr>
              <a:t>Inhibit </a:t>
            </a:r>
            <a:endParaRPr sz="1200">
              <a:latin typeface="Corbel"/>
              <a:cs typeface="Corbel"/>
            </a:endParaRPr>
          </a:p>
          <a:p>
            <a:pPr marL="226060" marR="678224">
              <a:lnSpc>
                <a:spcPts val="1449"/>
              </a:lnSpc>
            </a:pPr>
            <a:r>
              <a:rPr sz="1200" dirty="0" smtClean="0">
                <a:latin typeface="Corbel"/>
                <a:cs typeface="Corbel"/>
              </a:rPr>
              <a:t>Inhibit </a:t>
            </a:r>
            <a:endParaRPr sz="1200">
              <a:latin typeface="Corbel"/>
              <a:cs typeface="Corbel"/>
            </a:endParaRPr>
          </a:p>
          <a:p>
            <a:pPr marL="226060" marR="678224">
              <a:lnSpc>
                <a:spcPts val="1449"/>
              </a:lnSpc>
            </a:pPr>
            <a:r>
              <a:rPr sz="1200" spc="0" dirty="0" smtClean="0">
                <a:latin typeface="Corbel"/>
                <a:cs typeface="Corbel"/>
              </a:rPr>
              <a:t>Inhibit </a:t>
            </a:r>
            <a:endParaRPr sz="1200">
              <a:latin typeface="Corbel"/>
              <a:cs typeface="Corbel"/>
            </a:endParaRPr>
          </a:p>
          <a:p>
            <a:pPr marL="226060" marR="678224">
              <a:lnSpc>
                <a:spcPts val="1449"/>
              </a:lnSpc>
            </a:pPr>
            <a:r>
              <a:rPr sz="1200" spc="0" dirty="0" smtClean="0">
                <a:latin typeface="Corbel"/>
                <a:cs typeface="Corbel"/>
              </a:rPr>
              <a:t>Write </a:t>
            </a:r>
            <a:endParaRPr sz="1200">
              <a:latin typeface="Corbel"/>
              <a:cs typeface="Corbel"/>
            </a:endParaRPr>
          </a:p>
          <a:p>
            <a:pPr marL="226060" marR="678224">
              <a:lnSpc>
                <a:spcPts val="1449"/>
              </a:lnSpc>
            </a:pPr>
            <a:r>
              <a:rPr sz="1200" spc="-4" dirty="0" smtClean="0">
                <a:latin typeface="Corbel"/>
                <a:cs typeface="Corbel"/>
              </a:rPr>
              <a:t>Read </a:t>
            </a:r>
            <a:endParaRPr sz="1200">
              <a:latin typeface="Corbel"/>
              <a:cs typeface="Corbel"/>
            </a:endParaRPr>
          </a:p>
          <a:p>
            <a:pPr marL="226060" marR="678224">
              <a:lnSpc>
                <a:spcPts val="1449"/>
              </a:lnSpc>
            </a:pPr>
            <a:r>
              <a:rPr sz="1200" spc="0" dirty="0" smtClean="0">
                <a:latin typeface="Corbel"/>
                <a:cs typeface="Corbel"/>
              </a:rPr>
              <a:t>Inhibit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202430" y="4776978"/>
            <a:ext cx="1827276" cy="1010412"/>
          </a:xfrm>
          <a:prstGeom prst="rect">
            <a:avLst/>
          </a:prstGeom>
        </p:spPr>
        <p:txBody>
          <a:bodyPr wrap="square" lIns="0" tIns="9525" rIns="0" bIns="0" rtlCol="0">
            <a:noAutofit/>
          </a:bodyPr>
          <a:lstStyle/>
          <a:p>
            <a:pPr marL="164084" marR="186145">
              <a:lnSpc>
                <a:spcPts val="1449"/>
              </a:lnSpc>
            </a:pPr>
            <a:r>
              <a:rPr sz="1200" dirty="0" smtClean="0">
                <a:latin typeface="Corbel"/>
                <a:cs typeface="Corbel"/>
              </a:rPr>
              <a:t>High-impedence </a:t>
            </a:r>
            <a:endParaRPr sz="1200">
              <a:latin typeface="Corbel"/>
              <a:cs typeface="Corbel"/>
            </a:endParaRPr>
          </a:p>
          <a:p>
            <a:pPr marL="164084" marR="186145">
              <a:lnSpc>
                <a:spcPts val="1449"/>
              </a:lnSpc>
              <a:spcBef>
                <a:spcPts val="1095"/>
              </a:spcBef>
            </a:pPr>
            <a:r>
              <a:rPr sz="1200" dirty="0" smtClean="0">
                <a:latin typeface="Corbel"/>
                <a:cs typeface="Corbel"/>
              </a:rPr>
              <a:t>High-impedence </a:t>
            </a:r>
            <a:endParaRPr sz="1200">
              <a:latin typeface="Corbel"/>
              <a:cs typeface="Corbel"/>
            </a:endParaRPr>
          </a:p>
          <a:p>
            <a:pPr marL="164084" marR="186145">
              <a:lnSpc>
                <a:spcPts val="1449"/>
              </a:lnSpc>
              <a:spcBef>
                <a:spcPts val="1095"/>
              </a:spcBef>
            </a:pPr>
            <a:r>
              <a:rPr sz="1200" spc="0" dirty="0" smtClean="0">
                <a:latin typeface="Corbel"/>
                <a:cs typeface="Corbel"/>
              </a:rPr>
              <a:t>Output data from RAM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77262" y="3025902"/>
            <a:ext cx="350519" cy="18897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4" name="object 14"/>
          <p:cNvSpPr txBox="1"/>
          <p:nvPr/>
        </p:nvSpPr>
        <p:spPr>
          <a:xfrm>
            <a:off x="2827782" y="3025902"/>
            <a:ext cx="1537716" cy="1146048"/>
          </a:xfrm>
          <a:prstGeom prst="rect">
            <a:avLst/>
          </a:prstGeom>
        </p:spPr>
        <p:txBody>
          <a:bodyPr wrap="square" lIns="0" tIns="2488" rIns="0" bIns="0" rtlCol="0">
            <a:noAutofit/>
          </a:bodyPr>
          <a:lstStyle/>
          <a:p>
            <a:pPr>
              <a:lnSpc>
                <a:spcPts val="700"/>
              </a:lnSpc>
            </a:pPr>
            <a:endParaRPr sz="700"/>
          </a:p>
          <a:p>
            <a:pPr marL="100075" marR="1118444">
              <a:lnSpc>
                <a:spcPts val="1449"/>
              </a:lnSpc>
            </a:pPr>
            <a:r>
              <a:rPr sz="1200" u="heavy" spc="0" dirty="0" smtClean="0">
                <a:latin typeface="Corbel"/>
                <a:cs typeface="Corbel"/>
              </a:rPr>
              <a:t>CS1 </a:t>
            </a:r>
            <a:r>
              <a:rPr sz="1200" u="heavy" spc="-89" dirty="0" smtClean="0">
                <a:latin typeface="Corbel"/>
                <a:cs typeface="Corbel"/>
              </a:rPr>
              <a:t> </a:t>
            </a:r>
            <a:r>
              <a:rPr sz="1200" spc="-89" dirty="0" smtClean="0">
                <a:latin typeface="Corbel"/>
                <a:cs typeface="Corbel"/>
              </a:rPr>
              <a:t> </a:t>
            </a:r>
            <a:r>
              <a:rPr sz="1200" spc="0" dirty="0" smtClean="0">
                <a:latin typeface="Corbel"/>
                <a:cs typeface="Corbel"/>
              </a:rPr>
              <a:t>CS2</a:t>
            </a:r>
            <a:endParaRPr sz="1200">
              <a:latin typeface="Corbel"/>
              <a:cs typeface="Corbel"/>
            </a:endParaRPr>
          </a:p>
          <a:p>
            <a:pPr marL="100075">
              <a:lnSpc>
                <a:spcPts val="1475"/>
              </a:lnSpc>
              <a:spcBef>
                <a:spcPts val="163"/>
              </a:spcBef>
            </a:pPr>
            <a:r>
              <a:rPr sz="1200" spc="0" dirty="0" smtClean="0">
                <a:latin typeface="Corbel"/>
                <a:cs typeface="Corbel"/>
              </a:rPr>
              <a:t>RD             </a:t>
            </a:r>
            <a:r>
              <a:rPr sz="1200" spc="139" dirty="0" smtClean="0">
                <a:latin typeface="Corbel"/>
                <a:cs typeface="Corbel"/>
              </a:rPr>
              <a:t> </a:t>
            </a:r>
            <a:r>
              <a:rPr sz="1800" spc="0" baseline="25304" dirty="0" smtClean="0">
                <a:latin typeface="Corbel"/>
                <a:cs typeface="Corbel"/>
              </a:rPr>
              <a:t>128</a:t>
            </a:r>
            <a:r>
              <a:rPr sz="1800" spc="-4" baseline="25304" dirty="0" smtClean="0">
                <a:latin typeface="Corbel"/>
                <a:cs typeface="Corbel"/>
              </a:rPr>
              <a:t> </a:t>
            </a:r>
            <a:r>
              <a:rPr sz="1800" spc="0" baseline="25304" dirty="0" smtClean="0">
                <a:latin typeface="Corbel"/>
                <a:cs typeface="Corbel"/>
              </a:rPr>
              <a:t>x</a:t>
            </a:r>
            <a:r>
              <a:rPr sz="1800" spc="-4" baseline="25304" dirty="0" smtClean="0">
                <a:latin typeface="Corbel"/>
                <a:cs typeface="Corbel"/>
              </a:rPr>
              <a:t> </a:t>
            </a:r>
            <a:r>
              <a:rPr sz="1800" spc="0" baseline="25304" dirty="0" smtClean="0">
                <a:latin typeface="Corbel"/>
                <a:cs typeface="Corbel"/>
              </a:rPr>
              <a:t>8</a:t>
            </a:r>
            <a:endParaRPr sz="1200">
              <a:latin typeface="Corbel"/>
              <a:cs typeface="Corbel"/>
            </a:endParaRPr>
          </a:p>
          <a:p>
            <a:pPr marL="115950" marR="1099917" indent="-15875">
              <a:lnSpc>
                <a:spcPts val="1449"/>
              </a:lnSpc>
              <a:spcBef>
                <a:spcPts val="11"/>
              </a:spcBef>
            </a:pPr>
            <a:r>
              <a:rPr sz="1200" spc="0" dirty="0" smtClean="0">
                <a:latin typeface="Corbel"/>
                <a:cs typeface="Corbel"/>
              </a:rPr>
              <a:t>WR AD 7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77262" y="3214878"/>
            <a:ext cx="350519" cy="19812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2" name="object 12"/>
          <p:cNvSpPr txBox="1"/>
          <p:nvPr/>
        </p:nvSpPr>
        <p:spPr>
          <a:xfrm>
            <a:off x="2477262" y="3412998"/>
            <a:ext cx="350519" cy="1965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1" name="object 11"/>
          <p:cNvSpPr txBox="1"/>
          <p:nvPr/>
        </p:nvSpPr>
        <p:spPr>
          <a:xfrm>
            <a:off x="2477262" y="3609594"/>
            <a:ext cx="350519" cy="196595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10" name="object 10"/>
          <p:cNvSpPr txBox="1"/>
          <p:nvPr/>
        </p:nvSpPr>
        <p:spPr>
          <a:xfrm>
            <a:off x="2477262" y="3806190"/>
            <a:ext cx="350519" cy="19507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9" name="object 9"/>
          <p:cNvSpPr txBox="1"/>
          <p:nvPr/>
        </p:nvSpPr>
        <p:spPr>
          <a:xfrm>
            <a:off x="2477262" y="4001262"/>
            <a:ext cx="350519" cy="170687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7847838" y="1971294"/>
            <a:ext cx="806196" cy="14173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7" name="object 7"/>
          <p:cNvSpPr txBox="1"/>
          <p:nvPr/>
        </p:nvSpPr>
        <p:spPr>
          <a:xfrm>
            <a:off x="7847838" y="2113026"/>
            <a:ext cx="806196" cy="1645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7847838" y="2277617"/>
            <a:ext cx="806196" cy="12252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7847838" y="3502913"/>
            <a:ext cx="806196" cy="14935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7847838" y="3652266"/>
            <a:ext cx="806196" cy="1569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7847838" y="3809238"/>
            <a:ext cx="806196" cy="16611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7847838" y="3975354"/>
            <a:ext cx="806196" cy="16459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5592" y="266700"/>
            <a:ext cx="7472172" cy="10927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52627" y="1697192"/>
            <a:ext cx="7637252" cy="3838373"/>
          </a:xfrm>
          <a:prstGeom prst="rect">
            <a:avLst/>
          </a:prstGeom>
        </p:spPr>
        <p:txBody>
          <a:bodyPr wrap="square" lIns="0" tIns="13366" rIns="0" bIns="0" rtlCol="0">
            <a:noAutofit/>
          </a:bodyPr>
          <a:lstStyle/>
          <a:p>
            <a:pPr marL="108712" marR="24105">
              <a:lnSpc>
                <a:spcPts val="2105"/>
              </a:lnSpc>
            </a:pPr>
            <a:r>
              <a:rPr sz="2000" spc="-2" dirty="0" smtClean="0">
                <a:latin typeface="Corbel"/>
                <a:cs typeface="Corbel"/>
              </a:rPr>
              <a:t>Static RAM (</a:t>
            </a:r>
            <a:r>
              <a:rPr sz="2000" spc="-2" dirty="0" smtClean="0">
                <a:solidFill>
                  <a:srgbClr val="FF0000"/>
                </a:solidFill>
                <a:latin typeface="Corbel"/>
                <a:cs typeface="Corbel"/>
              </a:rPr>
              <a:t>SRAM</a:t>
            </a:r>
            <a:r>
              <a:rPr sz="2000" spc="-2" dirty="0" smtClean="0">
                <a:latin typeface="Corbel"/>
                <a:cs typeface="Corbel"/>
              </a:rPr>
              <a:t>)</a:t>
            </a:r>
            <a:endParaRPr sz="2000">
              <a:latin typeface="Corbel"/>
              <a:cs typeface="Corbel"/>
            </a:endParaRPr>
          </a:p>
          <a:p>
            <a:pPr marL="127000" marR="24105">
              <a:lnSpc>
                <a:spcPct val="100626"/>
              </a:lnSpc>
              <a:spcBef>
                <a:spcPts val="94"/>
              </a:spcBef>
            </a:pPr>
            <a:r>
              <a:rPr sz="1600" spc="0" dirty="0" smtClean="0">
                <a:solidFill>
                  <a:srgbClr val="5FB5CC"/>
                </a:solidFill>
                <a:latin typeface="Wingdings"/>
                <a:cs typeface="Wingdings"/>
              </a:rPr>
              <a:t></a:t>
            </a:r>
            <a:r>
              <a:rPr sz="1600" spc="0" dirty="0" smtClean="0">
                <a:solidFill>
                  <a:srgbClr val="5FB5CC"/>
                </a:solidFill>
                <a:latin typeface="Times New Roman"/>
                <a:cs typeface="Times New Roman"/>
              </a:rPr>
              <a:t>  </a:t>
            </a:r>
            <a:r>
              <a:rPr sz="1600" spc="227" dirty="0" smtClean="0">
                <a:solidFill>
                  <a:srgbClr val="5FB5CC"/>
                </a:solidFill>
                <a:latin typeface="Times New Roman"/>
                <a:cs typeface="Times New Roman"/>
              </a:rPr>
              <a:t> </a:t>
            </a:r>
            <a:r>
              <a:rPr sz="1800" spc="0" dirty="0" smtClean="0">
                <a:latin typeface="Corbel"/>
                <a:cs typeface="Corbel"/>
              </a:rPr>
              <a:t>Each ce</a:t>
            </a:r>
            <a:r>
              <a:rPr sz="1800" spc="4" dirty="0" smtClean="0">
                <a:latin typeface="Corbel"/>
                <a:cs typeface="Corbel"/>
              </a:rPr>
              <a:t>l</a:t>
            </a:r>
            <a:r>
              <a:rPr sz="1800" spc="0" dirty="0" smtClean="0">
                <a:latin typeface="Corbel"/>
                <a:cs typeface="Corbel"/>
              </a:rPr>
              <a:t>l</a:t>
            </a:r>
            <a:r>
              <a:rPr sz="1800" spc="-9" dirty="0" smtClean="0">
                <a:latin typeface="Corbel"/>
                <a:cs typeface="Corbel"/>
              </a:rPr>
              <a:t> </a:t>
            </a:r>
            <a:r>
              <a:rPr sz="1800" spc="0" dirty="0" smtClean="0">
                <a:latin typeface="Corbel"/>
                <a:cs typeface="Corbel"/>
              </a:rPr>
              <a:t>stores</a:t>
            </a:r>
            <a:r>
              <a:rPr sz="1800" spc="-9" dirty="0" smtClean="0">
                <a:latin typeface="Corbel"/>
                <a:cs typeface="Corbel"/>
              </a:rPr>
              <a:t> </a:t>
            </a:r>
            <a:r>
              <a:rPr sz="1800" spc="-4" dirty="0" smtClean="0">
                <a:latin typeface="Corbel"/>
                <a:cs typeface="Corbel"/>
              </a:rPr>
              <a:t>b</a:t>
            </a:r>
            <a:r>
              <a:rPr sz="1800" spc="0" dirty="0" smtClean="0">
                <a:latin typeface="Corbel"/>
                <a:cs typeface="Corbel"/>
              </a:rPr>
              <a:t>it with a</a:t>
            </a:r>
            <a:r>
              <a:rPr sz="1800" spc="4" dirty="0" smtClean="0">
                <a:latin typeface="Corbel"/>
                <a:cs typeface="Corbel"/>
              </a:rPr>
              <a:t> </a:t>
            </a:r>
            <a:r>
              <a:rPr sz="1800" spc="0" dirty="0" smtClean="0">
                <a:latin typeface="Corbel"/>
                <a:cs typeface="Corbel"/>
              </a:rPr>
              <a:t>s</a:t>
            </a:r>
            <a:r>
              <a:rPr sz="1800" spc="4" dirty="0" smtClean="0">
                <a:latin typeface="Corbel"/>
                <a:cs typeface="Corbel"/>
              </a:rPr>
              <a:t>ix</a:t>
            </a:r>
            <a:r>
              <a:rPr sz="1800" spc="0" dirty="0" smtClean="0">
                <a:latin typeface="Corbel"/>
                <a:cs typeface="Corbel"/>
              </a:rPr>
              <a:t>-tr</a:t>
            </a:r>
            <a:r>
              <a:rPr sz="1800" spc="-9" dirty="0" smtClean="0">
                <a:latin typeface="Corbel"/>
                <a:cs typeface="Corbel"/>
              </a:rPr>
              <a:t>a</a:t>
            </a:r>
            <a:r>
              <a:rPr sz="1800" spc="0" dirty="0" smtClean="0">
                <a:latin typeface="Corbel"/>
                <a:cs typeface="Corbel"/>
              </a:rPr>
              <a:t>nsi</a:t>
            </a:r>
            <a:r>
              <a:rPr sz="1800" spc="4" dirty="0" smtClean="0">
                <a:latin typeface="Corbel"/>
                <a:cs typeface="Corbel"/>
              </a:rPr>
              <a:t>s</a:t>
            </a:r>
            <a:r>
              <a:rPr sz="1800" spc="0" dirty="0" smtClean="0">
                <a:latin typeface="Corbel"/>
                <a:cs typeface="Corbel"/>
              </a:rPr>
              <a:t>tor</a:t>
            </a:r>
            <a:r>
              <a:rPr sz="1800" spc="-4" dirty="0" smtClean="0">
                <a:latin typeface="Corbel"/>
                <a:cs typeface="Corbel"/>
              </a:rPr>
              <a:t> </a:t>
            </a:r>
            <a:r>
              <a:rPr sz="1800" spc="0" dirty="0" smtClean="0">
                <a:latin typeface="Corbel"/>
                <a:cs typeface="Corbel"/>
              </a:rPr>
              <a:t>circu</a:t>
            </a:r>
            <a:r>
              <a:rPr sz="1800" spc="4" dirty="0" smtClean="0">
                <a:latin typeface="Corbel"/>
                <a:cs typeface="Corbel"/>
              </a:rPr>
              <a:t>i</a:t>
            </a:r>
            <a:r>
              <a:rPr sz="1800" spc="0" dirty="0" smtClean="0">
                <a:latin typeface="Corbel"/>
                <a:cs typeface="Corbel"/>
              </a:rPr>
              <a:t>t.</a:t>
            </a:r>
            <a:endParaRPr sz="1800">
              <a:latin typeface="Corbel"/>
              <a:cs typeface="Corbel"/>
            </a:endParaRPr>
          </a:p>
          <a:p>
            <a:pPr marL="127000" marR="24105">
              <a:lnSpc>
                <a:spcPct val="100626"/>
              </a:lnSpc>
              <a:spcBef>
                <a:spcPts val="204"/>
              </a:spcBef>
            </a:pPr>
            <a:r>
              <a:rPr sz="1600" spc="0" dirty="0" smtClean="0">
                <a:solidFill>
                  <a:srgbClr val="5FB5CC"/>
                </a:solidFill>
                <a:latin typeface="Wingdings"/>
                <a:cs typeface="Wingdings"/>
              </a:rPr>
              <a:t></a:t>
            </a:r>
            <a:r>
              <a:rPr sz="1600" spc="0" dirty="0" smtClean="0">
                <a:solidFill>
                  <a:srgbClr val="5FB5CC"/>
                </a:solidFill>
                <a:latin typeface="Times New Roman"/>
                <a:cs typeface="Times New Roman"/>
              </a:rPr>
              <a:t>  </a:t>
            </a:r>
            <a:r>
              <a:rPr sz="1600" spc="227" dirty="0" smtClean="0">
                <a:solidFill>
                  <a:srgbClr val="5FB5CC"/>
                </a:solidFill>
                <a:latin typeface="Times New Roman"/>
                <a:cs typeface="Times New Roman"/>
              </a:rPr>
              <a:t> </a:t>
            </a:r>
            <a:r>
              <a:rPr sz="1800" spc="-34" dirty="0" smtClean="0">
                <a:latin typeface="Corbel"/>
                <a:cs typeface="Corbel"/>
              </a:rPr>
              <a:t>R</a:t>
            </a:r>
            <a:r>
              <a:rPr sz="1800" spc="0" dirty="0" smtClean="0">
                <a:latin typeface="Corbel"/>
                <a:cs typeface="Corbel"/>
              </a:rPr>
              <a:t>etains v</a:t>
            </a:r>
            <a:r>
              <a:rPr sz="1800" spc="-4" dirty="0" smtClean="0">
                <a:latin typeface="Corbel"/>
                <a:cs typeface="Corbel"/>
              </a:rPr>
              <a:t>a</a:t>
            </a:r>
            <a:r>
              <a:rPr sz="1800" spc="0" dirty="0" smtClean="0">
                <a:latin typeface="Corbel"/>
                <a:cs typeface="Corbel"/>
              </a:rPr>
              <a:t>l</a:t>
            </a:r>
            <a:r>
              <a:rPr sz="1800" spc="4" dirty="0" smtClean="0">
                <a:latin typeface="Corbel"/>
                <a:cs typeface="Corbel"/>
              </a:rPr>
              <a:t>u</a:t>
            </a:r>
            <a:r>
              <a:rPr sz="1800" spc="0" dirty="0" smtClean="0">
                <a:latin typeface="Corbel"/>
                <a:cs typeface="Corbel"/>
              </a:rPr>
              <a:t>e</a:t>
            </a:r>
            <a:r>
              <a:rPr sz="1800" spc="14" dirty="0" smtClean="0">
                <a:latin typeface="Corbel"/>
                <a:cs typeface="Corbel"/>
              </a:rPr>
              <a:t> </a:t>
            </a:r>
            <a:r>
              <a:rPr sz="1800" spc="0" dirty="0" smtClean="0">
                <a:latin typeface="Corbel"/>
                <a:cs typeface="Corbel"/>
              </a:rPr>
              <a:t>indef</a:t>
            </a:r>
            <a:r>
              <a:rPr sz="1800" spc="4" dirty="0" smtClean="0">
                <a:latin typeface="Corbel"/>
                <a:cs typeface="Corbel"/>
              </a:rPr>
              <a:t>i</a:t>
            </a:r>
            <a:r>
              <a:rPr sz="1800" spc="0" dirty="0" smtClean="0">
                <a:latin typeface="Corbel"/>
                <a:cs typeface="Corbel"/>
              </a:rPr>
              <a:t>nite</a:t>
            </a:r>
            <a:r>
              <a:rPr sz="1800" spc="4" dirty="0" smtClean="0">
                <a:latin typeface="Corbel"/>
                <a:cs typeface="Corbel"/>
              </a:rPr>
              <a:t>l</a:t>
            </a:r>
            <a:r>
              <a:rPr sz="1800" spc="-59" dirty="0" smtClean="0">
                <a:latin typeface="Corbel"/>
                <a:cs typeface="Corbel"/>
              </a:rPr>
              <a:t>y</a:t>
            </a:r>
            <a:r>
              <a:rPr sz="1800" spc="0" dirty="0" smtClean="0">
                <a:latin typeface="Corbel"/>
                <a:cs typeface="Corbel"/>
              </a:rPr>
              <a:t>,</a:t>
            </a:r>
            <a:r>
              <a:rPr sz="1800" spc="-19" dirty="0" smtClean="0">
                <a:latin typeface="Corbel"/>
                <a:cs typeface="Corbel"/>
              </a:rPr>
              <a:t> </a:t>
            </a:r>
            <a:r>
              <a:rPr sz="1800" spc="-4" dirty="0" smtClean="0">
                <a:latin typeface="Corbel"/>
                <a:cs typeface="Corbel"/>
              </a:rPr>
              <a:t>a</a:t>
            </a:r>
            <a:r>
              <a:rPr sz="1800" spc="0" dirty="0" smtClean="0">
                <a:latin typeface="Corbel"/>
                <a:cs typeface="Corbel"/>
              </a:rPr>
              <a:t>s </a:t>
            </a:r>
            <a:r>
              <a:rPr sz="1800" spc="4" dirty="0" smtClean="0">
                <a:latin typeface="Corbel"/>
                <a:cs typeface="Corbel"/>
              </a:rPr>
              <a:t>l</a:t>
            </a:r>
            <a:r>
              <a:rPr sz="1800" spc="0" dirty="0" smtClean="0">
                <a:latin typeface="Corbel"/>
                <a:cs typeface="Corbel"/>
              </a:rPr>
              <a:t>ong as </a:t>
            </a:r>
            <a:r>
              <a:rPr sz="1800" spc="4" dirty="0" smtClean="0">
                <a:latin typeface="Corbel"/>
                <a:cs typeface="Corbel"/>
              </a:rPr>
              <a:t>i</a:t>
            </a:r>
            <a:r>
              <a:rPr sz="1800" spc="0" dirty="0" smtClean="0">
                <a:latin typeface="Corbel"/>
                <a:cs typeface="Corbel"/>
              </a:rPr>
              <a:t>t is</a:t>
            </a:r>
            <a:r>
              <a:rPr sz="1800" spc="-9" dirty="0" smtClean="0">
                <a:latin typeface="Corbel"/>
                <a:cs typeface="Corbel"/>
              </a:rPr>
              <a:t> </a:t>
            </a:r>
            <a:r>
              <a:rPr sz="1800" spc="-34" dirty="0" smtClean="0">
                <a:latin typeface="Corbel"/>
                <a:cs typeface="Corbel"/>
              </a:rPr>
              <a:t>k</a:t>
            </a:r>
            <a:r>
              <a:rPr sz="1800" spc="0" dirty="0" smtClean="0">
                <a:latin typeface="Corbel"/>
                <a:cs typeface="Corbel"/>
              </a:rPr>
              <a:t>e</a:t>
            </a:r>
            <a:r>
              <a:rPr sz="1800" spc="4" dirty="0" smtClean="0">
                <a:latin typeface="Corbel"/>
                <a:cs typeface="Corbel"/>
              </a:rPr>
              <a:t>p</a:t>
            </a:r>
            <a:r>
              <a:rPr sz="1800" spc="0" dirty="0" smtClean="0">
                <a:latin typeface="Corbel"/>
                <a:cs typeface="Corbel"/>
              </a:rPr>
              <a:t>t</a:t>
            </a:r>
            <a:r>
              <a:rPr sz="1800" spc="-14" dirty="0" smtClean="0">
                <a:latin typeface="Corbel"/>
                <a:cs typeface="Corbel"/>
              </a:rPr>
              <a:t> </a:t>
            </a:r>
            <a:r>
              <a:rPr sz="1800" spc="0" dirty="0" smtClean="0">
                <a:latin typeface="Corbel"/>
                <a:cs typeface="Corbel"/>
              </a:rPr>
              <a:t>po</a:t>
            </a:r>
            <a:r>
              <a:rPr sz="1800" spc="4" dirty="0" smtClean="0">
                <a:latin typeface="Corbel"/>
                <a:cs typeface="Corbel"/>
              </a:rPr>
              <a:t>w</a:t>
            </a:r>
            <a:r>
              <a:rPr sz="1800" spc="0" dirty="0" smtClean="0">
                <a:latin typeface="Corbel"/>
                <a:cs typeface="Corbel"/>
              </a:rPr>
              <a:t>ered.</a:t>
            </a:r>
            <a:endParaRPr sz="1800">
              <a:latin typeface="Corbel"/>
              <a:cs typeface="Corbel"/>
            </a:endParaRPr>
          </a:p>
          <a:p>
            <a:pPr marL="401624" marR="13784" indent="-274624">
              <a:lnSpc>
                <a:spcPts val="1939"/>
              </a:lnSpc>
              <a:spcBef>
                <a:spcPts val="457"/>
              </a:spcBef>
              <a:tabLst>
                <a:tab pos="393700" algn="l"/>
              </a:tabLst>
            </a:pPr>
            <a:r>
              <a:rPr sz="1600" spc="-796" dirty="0" smtClean="0">
                <a:solidFill>
                  <a:srgbClr val="5FB5CC"/>
                </a:solidFill>
                <a:latin typeface="Wingdings"/>
                <a:cs typeface="Wingdings"/>
              </a:rPr>
              <a:t></a:t>
            </a:r>
            <a:r>
              <a:rPr sz="1600" spc="0" dirty="0" smtClean="0">
                <a:solidFill>
                  <a:srgbClr val="5FB5CC"/>
                </a:solidFill>
                <a:latin typeface="Times New Roman"/>
                <a:cs typeface="Times New Roman"/>
              </a:rPr>
              <a:t>	</a:t>
            </a:r>
            <a:r>
              <a:rPr sz="1800" spc="0" dirty="0" smtClean="0">
                <a:latin typeface="Corbel"/>
                <a:cs typeface="Corbel"/>
              </a:rPr>
              <a:t>Faster (8-16 times faster) and more expensive (8-16 times more expensive as well) than DRAM.</a:t>
            </a:r>
            <a:endParaRPr sz="1800">
              <a:latin typeface="Corbel"/>
              <a:cs typeface="Corbel"/>
            </a:endParaRPr>
          </a:p>
          <a:p>
            <a:pPr marL="108712" marR="24105">
              <a:lnSpc>
                <a:spcPts val="2235"/>
              </a:lnSpc>
              <a:spcBef>
                <a:spcPts val="14"/>
              </a:spcBef>
            </a:pPr>
            <a:r>
              <a:rPr sz="2000" spc="-1" dirty="0" smtClean="0">
                <a:latin typeface="Corbel"/>
                <a:cs typeface="Corbel"/>
              </a:rPr>
              <a:t>Dynamic RAM (</a:t>
            </a:r>
            <a:r>
              <a:rPr sz="2000" spc="-1" dirty="0" smtClean="0">
                <a:solidFill>
                  <a:srgbClr val="FF0000"/>
                </a:solidFill>
                <a:latin typeface="Corbel"/>
                <a:cs typeface="Corbel"/>
              </a:rPr>
              <a:t>DRAM</a:t>
            </a:r>
            <a:r>
              <a:rPr sz="2000" spc="-1" dirty="0" smtClean="0">
                <a:latin typeface="Corbel"/>
                <a:cs typeface="Corbel"/>
              </a:rPr>
              <a:t>)</a:t>
            </a:r>
            <a:endParaRPr sz="2000">
              <a:latin typeface="Corbel"/>
              <a:cs typeface="Corbel"/>
            </a:endParaRPr>
          </a:p>
          <a:p>
            <a:pPr marL="127000" marR="24105">
              <a:lnSpc>
                <a:spcPct val="100626"/>
              </a:lnSpc>
              <a:spcBef>
                <a:spcPts val="73"/>
              </a:spcBef>
            </a:pPr>
            <a:r>
              <a:rPr sz="1450" spc="0" dirty="0" smtClean="0">
                <a:solidFill>
                  <a:srgbClr val="5FB5CC"/>
                </a:solidFill>
                <a:latin typeface="Wingdings"/>
                <a:cs typeface="Wingdings"/>
              </a:rPr>
              <a:t></a:t>
            </a:r>
            <a:r>
              <a:rPr sz="1450" spc="0" dirty="0" smtClean="0">
                <a:solidFill>
                  <a:srgbClr val="5FB5CC"/>
                </a:solidFill>
                <a:latin typeface="Times New Roman"/>
                <a:cs typeface="Times New Roman"/>
              </a:rPr>
              <a:t>   </a:t>
            </a:r>
            <a:r>
              <a:rPr sz="1450" spc="48" dirty="0" smtClean="0">
                <a:solidFill>
                  <a:srgbClr val="5FB5CC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E</a:t>
            </a:r>
            <a:r>
              <a:rPr sz="1600" spc="-4" dirty="0" smtClean="0">
                <a:latin typeface="Corbel"/>
                <a:cs typeface="Corbel"/>
              </a:rPr>
              <a:t>a</a:t>
            </a:r>
            <a:r>
              <a:rPr sz="1600" spc="0" dirty="0" smtClean="0">
                <a:latin typeface="Corbel"/>
                <a:cs typeface="Corbel"/>
              </a:rPr>
              <a:t>ch</a:t>
            </a:r>
            <a:r>
              <a:rPr sz="1600" spc="-7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c</a:t>
            </a:r>
            <a:r>
              <a:rPr sz="1600" spc="-4" dirty="0" smtClean="0">
                <a:latin typeface="Corbel"/>
                <a:cs typeface="Corbel"/>
              </a:rPr>
              <a:t>e</a:t>
            </a:r>
            <a:r>
              <a:rPr sz="1600" spc="0" dirty="0" smtClean="0">
                <a:latin typeface="Corbel"/>
                <a:cs typeface="Corbel"/>
              </a:rPr>
              <a:t>ll</a:t>
            </a:r>
            <a:r>
              <a:rPr sz="1600" spc="4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sto</a:t>
            </a:r>
            <a:r>
              <a:rPr sz="1600" spc="4" dirty="0" smtClean="0">
                <a:latin typeface="Corbel"/>
                <a:cs typeface="Corbel"/>
              </a:rPr>
              <a:t>r</a:t>
            </a:r>
            <a:r>
              <a:rPr sz="1600" spc="0" dirty="0" smtClean="0">
                <a:latin typeface="Corbel"/>
                <a:cs typeface="Corbel"/>
              </a:rPr>
              <a:t>es</a:t>
            </a:r>
            <a:r>
              <a:rPr sz="1600" spc="-25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bit</a:t>
            </a:r>
            <a:r>
              <a:rPr sz="1600" spc="-7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w</a:t>
            </a:r>
            <a:r>
              <a:rPr sz="1600" spc="4" dirty="0" smtClean="0">
                <a:latin typeface="Corbel"/>
                <a:cs typeface="Corbel"/>
              </a:rPr>
              <a:t>i</a:t>
            </a:r>
            <a:r>
              <a:rPr sz="1600" spc="0" dirty="0" smtClean="0">
                <a:latin typeface="Corbel"/>
                <a:cs typeface="Corbel"/>
              </a:rPr>
              <a:t>th</a:t>
            </a:r>
            <a:r>
              <a:rPr sz="1600" spc="-24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a</a:t>
            </a:r>
            <a:r>
              <a:rPr sz="1600" spc="2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c</a:t>
            </a:r>
            <a:r>
              <a:rPr sz="1600" spc="-4" dirty="0" smtClean="0">
                <a:latin typeface="Corbel"/>
                <a:cs typeface="Corbel"/>
              </a:rPr>
              <a:t>a</a:t>
            </a:r>
            <a:r>
              <a:rPr sz="1600" spc="0" dirty="0" smtClean="0">
                <a:latin typeface="Corbel"/>
                <a:cs typeface="Corbel"/>
              </a:rPr>
              <a:t>pacitor</a:t>
            </a:r>
            <a:r>
              <a:rPr sz="1600" spc="-41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and</a:t>
            </a:r>
            <a:r>
              <a:rPr sz="1600" spc="-4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transisto</a:t>
            </a:r>
            <a:r>
              <a:rPr sz="1600" spc="-79" dirty="0" smtClean="0">
                <a:latin typeface="Corbel"/>
                <a:cs typeface="Corbel"/>
              </a:rPr>
              <a:t>r</a:t>
            </a:r>
            <a:r>
              <a:rPr sz="1600" spc="0" dirty="0" smtClean="0">
                <a:latin typeface="Corbel"/>
                <a:cs typeface="Corbel"/>
              </a:rPr>
              <a:t>.</a:t>
            </a:r>
            <a:endParaRPr sz="1600">
              <a:latin typeface="Corbel"/>
              <a:cs typeface="Corbel"/>
            </a:endParaRPr>
          </a:p>
          <a:p>
            <a:pPr marL="127000" marR="24105">
              <a:lnSpc>
                <a:spcPct val="100626"/>
              </a:lnSpc>
              <a:spcBef>
                <a:spcPts val="180"/>
              </a:spcBef>
            </a:pPr>
            <a:r>
              <a:rPr sz="1450" spc="0" dirty="0" smtClean="0">
                <a:solidFill>
                  <a:srgbClr val="5FB5CC"/>
                </a:solidFill>
                <a:latin typeface="Wingdings"/>
                <a:cs typeface="Wingdings"/>
              </a:rPr>
              <a:t></a:t>
            </a:r>
            <a:r>
              <a:rPr sz="1450" spc="0" dirty="0" smtClean="0">
                <a:solidFill>
                  <a:srgbClr val="5FB5CC"/>
                </a:solidFill>
                <a:latin typeface="Times New Roman"/>
                <a:cs typeface="Times New Roman"/>
              </a:rPr>
              <a:t>   </a:t>
            </a:r>
            <a:r>
              <a:rPr sz="1450" spc="48" dirty="0" smtClean="0">
                <a:solidFill>
                  <a:srgbClr val="5FB5CC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Value</a:t>
            </a:r>
            <a:r>
              <a:rPr sz="1600" spc="-7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must</a:t>
            </a:r>
            <a:r>
              <a:rPr sz="1600" spc="-33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be</a:t>
            </a:r>
            <a:r>
              <a:rPr sz="1600" spc="-1" dirty="0" smtClean="0">
                <a:latin typeface="Corbel"/>
                <a:cs typeface="Corbel"/>
              </a:rPr>
              <a:t> </a:t>
            </a:r>
            <a:r>
              <a:rPr sz="1600" spc="4" dirty="0" smtClean="0">
                <a:latin typeface="Corbel"/>
                <a:cs typeface="Corbel"/>
              </a:rPr>
              <a:t>r</a:t>
            </a:r>
            <a:r>
              <a:rPr sz="1600" spc="0" dirty="0" smtClean="0">
                <a:latin typeface="Corbel"/>
                <a:cs typeface="Corbel"/>
              </a:rPr>
              <a:t>e</a:t>
            </a:r>
            <a:r>
              <a:rPr sz="1600" spc="-4" dirty="0" smtClean="0">
                <a:latin typeface="Corbel"/>
                <a:cs typeface="Corbel"/>
              </a:rPr>
              <a:t>f</a:t>
            </a:r>
            <a:r>
              <a:rPr sz="1600" spc="4" dirty="0" smtClean="0">
                <a:latin typeface="Corbel"/>
                <a:cs typeface="Corbel"/>
              </a:rPr>
              <a:t>r</a:t>
            </a:r>
            <a:r>
              <a:rPr sz="1600" spc="0" dirty="0" smtClean="0">
                <a:latin typeface="Corbel"/>
                <a:cs typeface="Corbel"/>
              </a:rPr>
              <a:t>eshed</a:t>
            </a:r>
            <a:r>
              <a:rPr sz="1600" spc="-2" dirty="0" smtClean="0">
                <a:latin typeface="Corbel"/>
                <a:cs typeface="Corbel"/>
              </a:rPr>
              <a:t> </a:t>
            </a:r>
            <a:r>
              <a:rPr sz="1600" spc="-14" dirty="0" smtClean="0">
                <a:latin typeface="Corbel"/>
                <a:cs typeface="Corbel"/>
              </a:rPr>
              <a:t>e</a:t>
            </a:r>
            <a:r>
              <a:rPr sz="1600" spc="-4" dirty="0" smtClean="0">
                <a:latin typeface="Corbel"/>
                <a:cs typeface="Corbel"/>
              </a:rPr>
              <a:t>v</a:t>
            </a:r>
            <a:r>
              <a:rPr sz="1600" spc="0" dirty="0" smtClean="0">
                <a:latin typeface="Corbel"/>
                <a:cs typeface="Corbel"/>
              </a:rPr>
              <a:t>ery</a:t>
            </a:r>
            <a:r>
              <a:rPr sz="1600" spc="-16" dirty="0" smtClean="0">
                <a:latin typeface="Corbel"/>
                <a:cs typeface="Corbel"/>
              </a:rPr>
              <a:t> </a:t>
            </a:r>
            <a:r>
              <a:rPr sz="1600" spc="4" dirty="0" smtClean="0">
                <a:latin typeface="Corbel"/>
                <a:cs typeface="Corbel"/>
              </a:rPr>
              <a:t>1</a:t>
            </a:r>
            <a:r>
              <a:rPr sz="1600" spc="9" dirty="0" smtClean="0">
                <a:latin typeface="Corbel"/>
                <a:cs typeface="Corbel"/>
              </a:rPr>
              <a:t>0</a:t>
            </a:r>
            <a:r>
              <a:rPr sz="1600" spc="-4" dirty="0" smtClean="0">
                <a:latin typeface="Corbel"/>
                <a:cs typeface="Corbel"/>
              </a:rPr>
              <a:t>-</a:t>
            </a:r>
            <a:r>
              <a:rPr sz="1600" spc="4" dirty="0" smtClean="0">
                <a:latin typeface="Corbel"/>
                <a:cs typeface="Corbel"/>
              </a:rPr>
              <a:t>1</a:t>
            </a:r>
            <a:r>
              <a:rPr sz="1600" spc="0" dirty="0" smtClean="0">
                <a:latin typeface="Corbel"/>
                <a:cs typeface="Corbel"/>
              </a:rPr>
              <a:t>00</a:t>
            </a:r>
            <a:r>
              <a:rPr sz="1600" spc="-24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ms.</a:t>
            </a:r>
            <a:endParaRPr sz="1600">
              <a:latin typeface="Corbel"/>
              <a:cs typeface="Corbel"/>
            </a:endParaRPr>
          </a:p>
          <a:p>
            <a:pPr marL="401624" indent="-274624">
              <a:lnSpc>
                <a:spcPts val="1730"/>
              </a:lnSpc>
              <a:spcBef>
                <a:spcPts val="401"/>
              </a:spcBef>
              <a:tabLst>
                <a:tab pos="393700" algn="l"/>
              </a:tabLst>
            </a:pPr>
            <a:r>
              <a:rPr sz="1450" dirty="0" smtClean="0">
                <a:solidFill>
                  <a:srgbClr val="5FB5CC"/>
                </a:solidFill>
                <a:latin typeface="Wingdings"/>
                <a:cs typeface="Wingdings"/>
              </a:rPr>
              <a:t></a:t>
            </a:r>
            <a:r>
              <a:rPr sz="1450" spc="-362" dirty="0" smtClean="0">
                <a:solidFill>
                  <a:srgbClr val="5FB5CC"/>
                </a:solidFill>
                <a:latin typeface="Times New Roman"/>
                <a:cs typeface="Times New Roman"/>
              </a:rPr>
              <a:t> </a:t>
            </a:r>
            <a:r>
              <a:rPr sz="1450" spc="0" dirty="0" smtClean="0">
                <a:solidFill>
                  <a:srgbClr val="5FB5CC"/>
                </a:solidFill>
                <a:latin typeface="Times New Roman"/>
                <a:cs typeface="Times New Roman"/>
              </a:rPr>
              <a:t>	</a:t>
            </a:r>
            <a:r>
              <a:rPr sz="1600" spc="-4" dirty="0" smtClean="0">
                <a:latin typeface="Corbel"/>
                <a:cs typeface="Corbel"/>
              </a:rPr>
              <a:t>S</a:t>
            </a:r>
            <a:r>
              <a:rPr sz="1600" spc="0" dirty="0" smtClean="0">
                <a:latin typeface="Corbel"/>
                <a:cs typeface="Corbel"/>
              </a:rPr>
              <a:t>lo</a:t>
            </a:r>
            <a:r>
              <a:rPr sz="1600" spc="4" dirty="0" smtClean="0">
                <a:latin typeface="Corbel"/>
                <a:cs typeface="Corbel"/>
              </a:rPr>
              <a:t>w</a:t>
            </a:r>
            <a:r>
              <a:rPr sz="1600" spc="0" dirty="0" smtClean="0">
                <a:latin typeface="Corbel"/>
                <a:cs typeface="Corbel"/>
              </a:rPr>
              <a:t>er</a:t>
            </a:r>
            <a:r>
              <a:rPr sz="1600" spc="-25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and</a:t>
            </a:r>
            <a:r>
              <a:rPr sz="1600" spc="10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che</a:t>
            </a:r>
            <a:r>
              <a:rPr sz="1600" spc="-4" dirty="0" smtClean="0">
                <a:latin typeface="Corbel"/>
                <a:cs typeface="Corbel"/>
              </a:rPr>
              <a:t>a</a:t>
            </a:r>
            <a:r>
              <a:rPr sz="1600" spc="0" dirty="0" smtClean="0">
                <a:latin typeface="Corbel"/>
                <a:cs typeface="Corbel"/>
              </a:rPr>
              <a:t>per</a:t>
            </a:r>
            <a:r>
              <a:rPr sz="1600" spc="-23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than</a:t>
            </a:r>
            <a:r>
              <a:rPr sz="1600" spc="-50" dirty="0" smtClean="0">
                <a:latin typeface="Corbel"/>
                <a:cs typeface="Corbel"/>
              </a:rPr>
              <a:t> </a:t>
            </a:r>
            <a:r>
              <a:rPr sz="1600" spc="-4" dirty="0" smtClean="0">
                <a:latin typeface="Corbel"/>
                <a:cs typeface="Corbel"/>
              </a:rPr>
              <a:t>S</a:t>
            </a:r>
            <a:r>
              <a:rPr sz="1600" spc="0" dirty="0" smtClean="0">
                <a:latin typeface="Corbel"/>
                <a:cs typeface="Corbel"/>
              </a:rPr>
              <a:t>RA</a:t>
            </a:r>
            <a:r>
              <a:rPr sz="1600" spc="-4" dirty="0" smtClean="0">
                <a:latin typeface="Corbel"/>
                <a:cs typeface="Corbel"/>
              </a:rPr>
              <a:t>M</a:t>
            </a:r>
            <a:r>
              <a:rPr sz="1600" spc="0" dirty="0" smtClean="0">
                <a:latin typeface="Corbel"/>
                <a:cs typeface="Corbel"/>
              </a:rPr>
              <a:t>.</a:t>
            </a:r>
            <a:r>
              <a:rPr sz="1600" spc="-20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Has</a:t>
            </a:r>
            <a:r>
              <a:rPr sz="1600" spc="-19" dirty="0" smtClean="0">
                <a:latin typeface="Corbel"/>
                <a:cs typeface="Corbel"/>
              </a:rPr>
              <a:t> </a:t>
            </a:r>
            <a:r>
              <a:rPr sz="1600" spc="4" dirty="0" smtClean="0">
                <a:latin typeface="Corbel"/>
                <a:cs typeface="Corbel"/>
              </a:rPr>
              <a:t>r</a:t>
            </a:r>
            <a:r>
              <a:rPr sz="1600" spc="0" dirty="0" smtClean="0">
                <a:latin typeface="Corbel"/>
                <a:cs typeface="Corbel"/>
              </a:rPr>
              <a:t>e</a:t>
            </a:r>
            <a:r>
              <a:rPr sz="1600" spc="-4" dirty="0" smtClean="0">
                <a:latin typeface="Corbel"/>
                <a:cs typeface="Corbel"/>
              </a:rPr>
              <a:t>d</a:t>
            </a:r>
            <a:r>
              <a:rPr sz="1600" spc="0" dirty="0" smtClean="0">
                <a:latin typeface="Corbel"/>
                <a:cs typeface="Corbel"/>
              </a:rPr>
              <a:t>uced</a:t>
            </a:r>
            <a:r>
              <a:rPr sz="1600" spc="-18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p</a:t>
            </a:r>
            <a:r>
              <a:rPr sz="1600" spc="4" dirty="0" smtClean="0">
                <a:latin typeface="Corbel"/>
                <a:cs typeface="Corbel"/>
              </a:rPr>
              <a:t>o</a:t>
            </a:r>
            <a:r>
              <a:rPr sz="1600" spc="0" dirty="0" smtClean="0">
                <a:latin typeface="Corbel"/>
                <a:cs typeface="Corbel"/>
              </a:rPr>
              <a:t>wer</a:t>
            </a:r>
            <a:r>
              <a:rPr sz="1600" spc="-31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consumption,</a:t>
            </a:r>
            <a:r>
              <a:rPr sz="1600" spc="-50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and</a:t>
            </a:r>
            <a:r>
              <a:rPr sz="1600" spc="-4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a</a:t>
            </a:r>
            <a:r>
              <a:rPr sz="1600" spc="2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la</a:t>
            </a:r>
            <a:r>
              <a:rPr sz="1600" spc="4" dirty="0" smtClean="0">
                <a:latin typeface="Corbel"/>
                <a:cs typeface="Corbel"/>
              </a:rPr>
              <a:t>r</a:t>
            </a:r>
            <a:r>
              <a:rPr sz="1600" spc="0" dirty="0" smtClean="0">
                <a:latin typeface="Corbel"/>
                <a:cs typeface="Corbel"/>
              </a:rPr>
              <a:t>ge</a:t>
            </a:r>
            <a:r>
              <a:rPr sz="1600" spc="-13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sto</a:t>
            </a:r>
            <a:r>
              <a:rPr sz="1600" spc="4" dirty="0" smtClean="0">
                <a:latin typeface="Corbel"/>
                <a:cs typeface="Corbel"/>
              </a:rPr>
              <a:t>r</a:t>
            </a:r>
            <a:r>
              <a:rPr sz="1600" spc="0" dirty="0" smtClean="0">
                <a:latin typeface="Corbel"/>
                <a:cs typeface="Corbel"/>
              </a:rPr>
              <a:t>age c</a:t>
            </a:r>
            <a:r>
              <a:rPr sz="1600" spc="-4" dirty="0" smtClean="0">
                <a:latin typeface="Corbel"/>
                <a:cs typeface="Corbel"/>
              </a:rPr>
              <a:t>a</a:t>
            </a:r>
            <a:r>
              <a:rPr sz="1600" spc="0" dirty="0" smtClean="0">
                <a:latin typeface="Corbel"/>
                <a:cs typeface="Corbel"/>
              </a:rPr>
              <a:t>pacit</a:t>
            </a:r>
            <a:r>
              <a:rPr sz="1600" spc="-69" dirty="0" smtClean="0">
                <a:latin typeface="Corbel"/>
                <a:cs typeface="Corbel"/>
              </a:rPr>
              <a:t>y</a:t>
            </a:r>
            <a:r>
              <a:rPr sz="1600" spc="0" dirty="0" smtClean="0">
                <a:latin typeface="Corbel"/>
                <a:cs typeface="Corbel"/>
              </a:rPr>
              <a:t>.</a:t>
            </a:r>
            <a:endParaRPr sz="1600">
              <a:latin typeface="Corbel"/>
              <a:cs typeface="Corbel"/>
            </a:endParaRPr>
          </a:p>
          <a:p>
            <a:pPr marL="127000" marR="24105">
              <a:lnSpc>
                <a:spcPct val="100626"/>
              </a:lnSpc>
              <a:spcBef>
                <a:spcPts val="158"/>
              </a:spcBef>
            </a:pPr>
            <a:r>
              <a:rPr sz="1600" spc="-2" dirty="0" smtClean="0">
                <a:latin typeface="Corbel"/>
                <a:cs typeface="Corbel"/>
              </a:rPr>
              <a:t>In contrast to , SRAM and DRAM:</a:t>
            </a:r>
            <a:endParaRPr sz="1600">
              <a:latin typeface="Corbel"/>
              <a:cs typeface="Corbel"/>
            </a:endParaRPr>
          </a:p>
          <a:p>
            <a:pPr marR="4986389" algn="ctr">
              <a:lnSpc>
                <a:spcPct val="100626"/>
              </a:lnSpc>
              <a:spcBef>
                <a:spcPts val="190"/>
              </a:spcBef>
            </a:pPr>
            <a:r>
              <a:rPr sz="1800" spc="-8" dirty="0" smtClean="0">
                <a:latin typeface="Corbel"/>
                <a:cs typeface="Corbel"/>
              </a:rPr>
              <a:t>Non Volatile RAM (</a:t>
            </a:r>
            <a:r>
              <a:rPr sz="1800" spc="-8" dirty="0" smtClean="0">
                <a:solidFill>
                  <a:srgbClr val="FF0000"/>
                </a:solidFill>
                <a:latin typeface="Corbel"/>
                <a:cs typeface="Corbel"/>
              </a:rPr>
              <a:t>NVRAM)</a:t>
            </a:r>
            <a:endParaRPr sz="1800">
              <a:latin typeface="Corbel"/>
              <a:cs typeface="Corbel"/>
            </a:endParaRPr>
          </a:p>
          <a:p>
            <a:pPr marL="127000" marR="24105">
              <a:lnSpc>
                <a:spcPct val="100626"/>
              </a:lnSpc>
              <a:spcBef>
                <a:spcPts val="185"/>
              </a:spcBef>
            </a:pPr>
            <a:r>
              <a:rPr sz="1450" spc="0" dirty="0" smtClean="0">
                <a:solidFill>
                  <a:srgbClr val="5FB5CC"/>
                </a:solidFill>
                <a:latin typeface="Wingdings"/>
                <a:cs typeface="Wingdings"/>
              </a:rPr>
              <a:t></a:t>
            </a:r>
            <a:r>
              <a:rPr sz="1450" spc="0" dirty="0" smtClean="0">
                <a:solidFill>
                  <a:srgbClr val="5FB5CC"/>
                </a:solidFill>
                <a:latin typeface="Times New Roman"/>
                <a:cs typeface="Times New Roman"/>
              </a:rPr>
              <a:t>   </a:t>
            </a:r>
            <a:r>
              <a:rPr sz="1450" spc="48" dirty="0" smtClean="0">
                <a:solidFill>
                  <a:srgbClr val="5FB5CC"/>
                </a:solidFill>
                <a:latin typeface="Times New Roman"/>
                <a:cs typeface="Times New Roman"/>
              </a:rPr>
              <a:t> </a:t>
            </a:r>
            <a:r>
              <a:rPr sz="1600" spc="4" dirty="0" smtClean="0">
                <a:latin typeface="Corbel"/>
                <a:cs typeface="Corbel"/>
              </a:rPr>
              <a:t>r</a:t>
            </a:r>
            <a:r>
              <a:rPr sz="1600" spc="0" dirty="0" smtClean="0">
                <a:latin typeface="Corbel"/>
                <a:cs typeface="Corbel"/>
              </a:rPr>
              <a:t>et</a:t>
            </a:r>
            <a:r>
              <a:rPr sz="1600" spc="-4" dirty="0" smtClean="0">
                <a:latin typeface="Corbel"/>
                <a:cs typeface="Corbel"/>
              </a:rPr>
              <a:t>a</a:t>
            </a:r>
            <a:r>
              <a:rPr sz="1600" spc="0" dirty="0" smtClean="0">
                <a:latin typeface="Corbel"/>
                <a:cs typeface="Corbel"/>
              </a:rPr>
              <a:t>ins</a:t>
            </a:r>
            <a:r>
              <a:rPr sz="1600" spc="-9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its information</a:t>
            </a:r>
            <a:r>
              <a:rPr sz="1600" spc="-43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w</a:t>
            </a:r>
            <a:r>
              <a:rPr sz="1600" spc="4" dirty="0" smtClean="0">
                <a:latin typeface="Corbel"/>
                <a:cs typeface="Corbel"/>
              </a:rPr>
              <a:t>h</a:t>
            </a:r>
            <a:r>
              <a:rPr sz="1600" spc="0" dirty="0" smtClean="0">
                <a:latin typeface="Corbel"/>
                <a:cs typeface="Corbel"/>
              </a:rPr>
              <a:t>en</a:t>
            </a:r>
            <a:r>
              <a:rPr sz="1600" spc="-26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p</a:t>
            </a:r>
            <a:r>
              <a:rPr sz="1600" spc="4" dirty="0" smtClean="0">
                <a:latin typeface="Corbel"/>
                <a:cs typeface="Corbel"/>
              </a:rPr>
              <a:t>o</a:t>
            </a:r>
            <a:r>
              <a:rPr sz="1600" spc="0" dirty="0" smtClean="0">
                <a:latin typeface="Corbel"/>
                <a:cs typeface="Corbel"/>
              </a:rPr>
              <a:t>wer</a:t>
            </a:r>
            <a:r>
              <a:rPr sz="1600" spc="-31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is</a:t>
            </a:r>
            <a:r>
              <a:rPr sz="1600" spc="9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tu</a:t>
            </a:r>
            <a:r>
              <a:rPr sz="1600" spc="4" dirty="0" smtClean="0">
                <a:latin typeface="Corbel"/>
                <a:cs typeface="Corbel"/>
              </a:rPr>
              <a:t>r</a:t>
            </a:r>
            <a:r>
              <a:rPr sz="1600" spc="0" dirty="0" smtClean="0">
                <a:latin typeface="Corbel"/>
                <a:cs typeface="Corbel"/>
              </a:rPr>
              <a:t>ned</a:t>
            </a:r>
            <a:r>
              <a:rPr sz="1600" spc="-34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off</a:t>
            </a:r>
            <a:r>
              <a:rPr sz="1600" spc="31" dirty="0" smtClean="0">
                <a:latin typeface="Corbel"/>
                <a:cs typeface="Corbel"/>
              </a:rPr>
              <a:t> </a:t>
            </a:r>
            <a:r>
              <a:rPr sz="1600" spc="-9" dirty="0" smtClean="0">
                <a:latin typeface="Corbel"/>
                <a:cs typeface="Corbel"/>
              </a:rPr>
              <a:t>(</a:t>
            </a:r>
            <a:r>
              <a:rPr sz="1600" spc="0" dirty="0" smtClean="0">
                <a:latin typeface="Corbel"/>
                <a:cs typeface="Corbel"/>
              </a:rPr>
              <a:t>non</a:t>
            </a:r>
            <a:r>
              <a:rPr sz="1600" spc="-15" dirty="0" smtClean="0">
                <a:latin typeface="Corbel"/>
                <a:cs typeface="Corbel"/>
              </a:rPr>
              <a:t> </a:t>
            </a:r>
            <a:r>
              <a:rPr sz="1600" spc="-4" dirty="0" smtClean="0">
                <a:latin typeface="Corbel"/>
                <a:cs typeface="Corbel"/>
              </a:rPr>
              <a:t>v</a:t>
            </a:r>
            <a:r>
              <a:rPr sz="1600" spc="0" dirty="0" smtClean="0">
                <a:latin typeface="Corbel"/>
                <a:cs typeface="Corbel"/>
              </a:rPr>
              <a:t>olatil</a:t>
            </a:r>
            <a:r>
              <a:rPr sz="1600" spc="-34" dirty="0" smtClean="0">
                <a:latin typeface="Corbel"/>
                <a:cs typeface="Corbel"/>
              </a:rPr>
              <a:t>e</a:t>
            </a:r>
            <a:r>
              <a:rPr sz="1600" spc="0" dirty="0" smtClean="0">
                <a:latin typeface="Corbel"/>
                <a:cs typeface="Corbel"/>
              </a:rPr>
              <a:t>).</a:t>
            </a:r>
            <a:endParaRPr sz="1600">
              <a:latin typeface="Corbel"/>
              <a:cs typeface="Corbel"/>
            </a:endParaRPr>
          </a:p>
          <a:p>
            <a:pPr marL="127000" marR="24105">
              <a:lnSpc>
                <a:spcPct val="100626"/>
              </a:lnSpc>
              <a:spcBef>
                <a:spcPts val="180"/>
              </a:spcBef>
            </a:pPr>
            <a:r>
              <a:rPr sz="1450" spc="0" dirty="0" smtClean="0">
                <a:solidFill>
                  <a:srgbClr val="5FB5CC"/>
                </a:solidFill>
                <a:latin typeface="Wingdings"/>
                <a:cs typeface="Wingdings"/>
              </a:rPr>
              <a:t></a:t>
            </a:r>
            <a:r>
              <a:rPr sz="1450" spc="0" dirty="0" smtClean="0">
                <a:solidFill>
                  <a:srgbClr val="5FB5CC"/>
                </a:solidFill>
                <a:latin typeface="Times New Roman"/>
                <a:cs typeface="Times New Roman"/>
              </a:rPr>
              <a:t>   </a:t>
            </a:r>
            <a:r>
              <a:rPr sz="1450" spc="48" dirty="0" smtClean="0">
                <a:solidFill>
                  <a:srgbClr val="5FB5CC"/>
                </a:solidFill>
                <a:latin typeface="Times New Roman"/>
                <a:cs typeface="Times New Roman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b</a:t>
            </a:r>
            <a:r>
              <a:rPr sz="1600" spc="-4" dirty="0" smtClean="0">
                <a:latin typeface="Corbel"/>
                <a:cs typeface="Corbel"/>
              </a:rPr>
              <a:t>e</a:t>
            </a:r>
            <a:r>
              <a:rPr sz="1600" spc="0" dirty="0" smtClean="0">
                <a:latin typeface="Corbel"/>
                <a:cs typeface="Corbel"/>
              </a:rPr>
              <a:t>st</a:t>
            </a:r>
            <a:r>
              <a:rPr sz="1600" spc="-4" dirty="0" smtClean="0">
                <a:latin typeface="Corbel"/>
                <a:cs typeface="Corbel"/>
              </a:rPr>
              <a:t>-</a:t>
            </a:r>
            <a:r>
              <a:rPr sz="1600" spc="0" dirty="0" smtClean="0">
                <a:latin typeface="Corbel"/>
                <a:cs typeface="Corbel"/>
              </a:rPr>
              <a:t>kno</a:t>
            </a:r>
            <a:r>
              <a:rPr sz="1600" spc="4" dirty="0" smtClean="0">
                <a:latin typeface="Corbel"/>
                <a:cs typeface="Corbel"/>
              </a:rPr>
              <a:t>w</a:t>
            </a:r>
            <a:r>
              <a:rPr sz="1600" spc="0" dirty="0" smtClean="0">
                <a:latin typeface="Corbel"/>
                <a:cs typeface="Corbel"/>
              </a:rPr>
              <a:t>n</a:t>
            </a:r>
            <a:r>
              <a:rPr sz="1600" spc="-43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form</a:t>
            </a:r>
            <a:r>
              <a:rPr sz="1600" spc="-17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of</a:t>
            </a:r>
            <a:r>
              <a:rPr sz="1600" spc="-3" dirty="0" smtClean="0">
                <a:latin typeface="Corbel"/>
                <a:cs typeface="Corbel"/>
              </a:rPr>
              <a:t> </a:t>
            </a:r>
            <a:r>
              <a:rPr sz="1600" spc="4" dirty="0" smtClean="0">
                <a:latin typeface="Corbel"/>
                <a:cs typeface="Corbel"/>
              </a:rPr>
              <a:t>N</a:t>
            </a:r>
            <a:r>
              <a:rPr sz="1600" spc="0" dirty="0" smtClean="0">
                <a:latin typeface="Corbel"/>
                <a:cs typeface="Corbel"/>
              </a:rPr>
              <a:t>V</a:t>
            </a:r>
            <a:r>
              <a:rPr sz="1600" spc="4" dirty="0" smtClean="0">
                <a:latin typeface="Corbel"/>
                <a:cs typeface="Corbel"/>
              </a:rPr>
              <a:t>R</a:t>
            </a:r>
            <a:r>
              <a:rPr sz="1600" spc="-4" dirty="0" smtClean="0">
                <a:latin typeface="Corbel"/>
                <a:cs typeface="Corbel"/>
              </a:rPr>
              <a:t>A</a:t>
            </a:r>
            <a:r>
              <a:rPr sz="1600" spc="0" dirty="0" smtClean="0">
                <a:latin typeface="Corbel"/>
                <a:cs typeface="Corbel"/>
              </a:rPr>
              <a:t>M</a:t>
            </a:r>
            <a:r>
              <a:rPr sz="1600" spc="-43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m</a:t>
            </a:r>
            <a:r>
              <a:rPr sz="1600" spc="-4" dirty="0" smtClean="0">
                <a:latin typeface="Corbel"/>
                <a:cs typeface="Corbel"/>
              </a:rPr>
              <a:t>e</a:t>
            </a:r>
            <a:r>
              <a:rPr sz="1600" spc="0" dirty="0" smtClean="0">
                <a:latin typeface="Corbel"/>
                <a:cs typeface="Corbel"/>
              </a:rPr>
              <a:t>mory</a:t>
            </a:r>
            <a:r>
              <a:rPr sz="1600" spc="-50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tod</a:t>
            </a:r>
            <a:r>
              <a:rPr sz="1600" spc="-4" dirty="0" smtClean="0">
                <a:latin typeface="Corbel"/>
                <a:cs typeface="Corbel"/>
              </a:rPr>
              <a:t>a</a:t>
            </a:r>
            <a:r>
              <a:rPr sz="1600" spc="0" dirty="0" smtClean="0">
                <a:latin typeface="Corbel"/>
                <a:cs typeface="Corbel"/>
              </a:rPr>
              <a:t>y</a:t>
            </a:r>
            <a:r>
              <a:rPr sz="1600" spc="-18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is</a:t>
            </a:r>
            <a:r>
              <a:rPr sz="1600" spc="29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flash</a:t>
            </a:r>
            <a:r>
              <a:rPr sz="1600" spc="-11" dirty="0" smtClean="0">
                <a:latin typeface="Corbel"/>
                <a:cs typeface="Corbel"/>
              </a:rPr>
              <a:t> </a:t>
            </a:r>
            <a:r>
              <a:rPr sz="1600" spc="0" dirty="0" smtClean="0">
                <a:latin typeface="Corbel"/>
                <a:cs typeface="Corbel"/>
              </a:rPr>
              <a:t>m</a:t>
            </a:r>
            <a:r>
              <a:rPr sz="1600" spc="-4" dirty="0" smtClean="0">
                <a:latin typeface="Corbel"/>
                <a:cs typeface="Corbel"/>
              </a:rPr>
              <a:t>e</a:t>
            </a:r>
            <a:r>
              <a:rPr sz="1600" spc="0" dirty="0" smtClean="0">
                <a:latin typeface="Corbel"/>
                <a:cs typeface="Corbel"/>
              </a:rPr>
              <a:t>mor</a:t>
            </a:r>
            <a:r>
              <a:rPr sz="1600" spc="-64" dirty="0" smtClean="0">
                <a:latin typeface="Corbel"/>
                <a:cs typeface="Corbel"/>
              </a:rPr>
              <a:t>y</a:t>
            </a:r>
            <a:r>
              <a:rPr sz="1600" spc="0" dirty="0" smtClean="0">
                <a:latin typeface="Corbel"/>
                <a:cs typeface="Corbel"/>
              </a:rPr>
              <a:t>.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8599" y="1724323"/>
            <a:ext cx="168095" cy="228092"/>
          </a:xfrm>
          <a:prstGeom prst="rect">
            <a:avLst/>
          </a:prstGeom>
        </p:spPr>
        <p:txBody>
          <a:bodyPr wrap="square" lIns="0" tIns="3175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60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600">
              <a:latin typeface="Wingdings 2"/>
              <a:cs typeface="Wingdings 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8599" y="3151168"/>
            <a:ext cx="168095" cy="228092"/>
          </a:xfrm>
          <a:prstGeom prst="rect">
            <a:avLst/>
          </a:prstGeom>
        </p:spPr>
        <p:txBody>
          <a:bodyPr wrap="square" lIns="0" tIns="3175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60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600">
              <a:latin typeface="Wingdings 2"/>
              <a:cs typeface="Wingdings 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9727" y="4691573"/>
            <a:ext cx="192186" cy="299719"/>
          </a:xfrm>
          <a:prstGeom prst="rect">
            <a:avLst/>
          </a:prstGeom>
        </p:spPr>
        <p:txBody>
          <a:bodyPr wrap="square" lIns="0" tIns="14636" rIns="0" bIns="0" rtlCol="0">
            <a:noAutofit/>
          </a:bodyPr>
          <a:lstStyle/>
          <a:p>
            <a:pPr marL="12700">
              <a:lnSpc>
                <a:spcPts val="2305"/>
              </a:lnSpc>
            </a:pPr>
            <a:r>
              <a:rPr sz="2150" dirty="0" smtClean="0">
                <a:solidFill>
                  <a:srgbClr val="EFAC00"/>
                </a:solidFill>
                <a:latin typeface="Wingdings"/>
                <a:cs typeface="Wingdings"/>
              </a:rPr>
              <a:t></a:t>
            </a:r>
            <a:endParaRPr sz="2150">
              <a:latin typeface="Wingdings"/>
              <a:cs typeface="Wingding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6927" y="5843870"/>
            <a:ext cx="7307056" cy="447547"/>
          </a:xfrm>
          <a:prstGeom prst="rect">
            <a:avLst/>
          </a:prstGeom>
        </p:spPr>
        <p:txBody>
          <a:bodyPr wrap="square" lIns="0" tIns="10763" rIns="0" bIns="0" rtlCol="0">
            <a:noAutofit/>
          </a:bodyPr>
          <a:lstStyle/>
          <a:p>
            <a:pPr marL="12700">
              <a:lnSpc>
                <a:spcPts val="1695"/>
              </a:lnSpc>
            </a:pPr>
            <a:r>
              <a:rPr sz="1600" spc="-1" dirty="0" smtClean="0">
                <a:latin typeface="Corbel"/>
                <a:cs typeface="Corbel"/>
              </a:rPr>
              <a:t>Virtually all desktop or server computers since 1975 used DRAMs for main memory and</a:t>
            </a:r>
            <a:endParaRPr sz="1600">
              <a:latin typeface="Corbel"/>
              <a:cs typeface="Corbel"/>
            </a:endParaRPr>
          </a:p>
          <a:p>
            <a:pPr marL="12700" marR="30403">
              <a:lnSpc>
                <a:spcPts val="1730"/>
              </a:lnSpc>
              <a:spcBef>
                <a:spcPts val="1"/>
              </a:spcBef>
            </a:pPr>
            <a:r>
              <a:rPr sz="1600" spc="0" dirty="0" smtClean="0">
                <a:latin typeface="Corbel"/>
                <a:cs typeface="Corbel"/>
              </a:rPr>
              <a:t>SRAMs for cache.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4112" y="6586882"/>
            <a:ext cx="1425711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2" dirty="0" smtClean="0">
                <a:solidFill>
                  <a:srgbClr val="3E3E3E"/>
                </a:solidFill>
                <a:latin typeface="Corbel"/>
                <a:cs typeface="Corbel"/>
              </a:rPr>
              <a:t>Memory Organisation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97595" y="6586882"/>
            <a:ext cx="185493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dirty="0" smtClean="0">
                <a:solidFill>
                  <a:srgbClr val="3E3E3E"/>
                </a:solidFill>
                <a:latin typeface="Corbel"/>
                <a:cs typeface="Corbel"/>
              </a:rPr>
              <a:t>11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5592" y="294132"/>
            <a:ext cx="5027676" cy="1065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90600" y="1676400"/>
            <a:ext cx="7683988" cy="4319168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 algn="just">
              <a:lnSpc>
                <a:spcPts val="3260"/>
              </a:lnSpc>
            </a:pPr>
            <a:r>
              <a:rPr sz="2700" smtClean="0">
                <a:latin typeface="Corbel"/>
                <a:cs typeface="Corbel"/>
              </a:rPr>
              <a:t>It </a:t>
            </a:r>
            <a:r>
              <a:rPr sz="2700" dirty="0" smtClean="0">
                <a:latin typeface="Corbel"/>
                <a:cs typeface="Corbel"/>
              </a:rPr>
              <a:t>is </a:t>
            </a:r>
            <a:r>
              <a:rPr sz="2700" spc="14" dirty="0" smtClean="0">
                <a:latin typeface="Corbel"/>
                <a:cs typeface="Corbel"/>
              </a:rPr>
              <a:t>n</a:t>
            </a:r>
            <a:r>
              <a:rPr sz="2700" spc="0" dirty="0" smtClean="0">
                <a:latin typeface="Corbel"/>
                <a:cs typeface="Corbel"/>
              </a:rPr>
              <a:t>o</a:t>
            </a:r>
            <a:r>
              <a:rPr sz="2700" spc="-9" dirty="0" smtClean="0">
                <a:latin typeface="Corbel"/>
                <a:cs typeface="Corbel"/>
              </a:rPr>
              <a:t>n</a:t>
            </a:r>
            <a:r>
              <a:rPr sz="2700" spc="0" dirty="0" smtClean="0">
                <a:latin typeface="Corbel"/>
                <a:cs typeface="Corbel"/>
              </a:rPr>
              <a:t>-volati</a:t>
            </a:r>
            <a:r>
              <a:rPr sz="2700" spc="-9" dirty="0" smtClean="0">
                <a:latin typeface="Corbel"/>
                <a:cs typeface="Corbel"/>
              </a:rPr>
              <a:t>l</a:t>
            </a:r>
            <a:r>
              <a:rPr sz="2700" spc="0" dirty="0" smtClean="0">
                <a:latin typeface="Corbel"/>
                <a:cs typeface="Corbel"/>
              </a:rPr>
              <a:t>e</a:t>
            </a:r>
            <a:r>
              <a:rPr sz="2700" spc="-9" dirty="0" smtClean="0">
                <a:latin typeface="Corbel"/>
                <a:cs typeface="Corbel"/>
              </a:rPr>
              <a:t> </a:t>
            </a:r>
            <a:r>
              <a:rPr sz="2700" spc="0" dirty="0" smtClean="0">
                <a:latin typeface="Corbel"/>
                <a:cs typeface="Corbel"/>
              </a:rPr>
              <a:t>me</a:t>
            </a:r>
            <a:r>
              <a:rPr sz="2700" spc="-9" dirty="0" smtClean="0">
                <a:latin typeface="Corbel"/>
                <a:cs typeface="Corbel"/>
              </a:rPr>
              <a:t>m</a:t>
            </a:r>
            <a:r>
              <a:rPr sz="2700" spc="0" dirty="0" smtClean="0">
                <a:latin typeface="Corbel"/>
                <a:cs typeface="Corbel"/>
              </a:rPr>
              <a:t>or</a:t>
            </a:r>
            <a:r>
              <a:rPr sz="2700" spc="-100" dirty="0" smtClean="0">
                <a:latin typeface="Corbel"/>
                <a:cs typeface="Corbel"/>
              </a:rPr>
              <a:t>y</a:t>
            </a:r>
            <a:r>
              <a:rPr sz="2700" spc="0" dirty="0" smtClean="0">
                <a:latin typeface="Corbel"/>
                <a:cs typeface="Corbel"/>
              </a:rPr>
              <a:t>,</a:t>
            </a:r>
            <a:r>
              <a:rPr sz="2700" spc="539" dirty="0" smtClean="0">
                <a:latin typeface="Corbel"/>
                <a:cs typeface="Corbel"/>
              </a:rPr>
              <a:t> </a:t>
            </a:r>
            <a:r>
              <a:rPr sz="2700" spc="0" dirty="0" smtClean="0">
                <a:latin typeface="Corbel"/>
                <a:cs typeface="Corbel"/>
              </a:rPr>
              <a:t>w</a:t>
            </a:r>
            <a:r>
              <a:rPr sz="2700" spc="4" dirty="0" smtClean="0">
                <a:latin typeface="Corbel"/>
                <a:cs typeface="Corbel"/>
              </a:rPr>
              <a:t>h</a:t>
            </a:r>
            <a:r>
              <a:rPr sz="2700" spc="0" dirty="0" smtClean="0">
                <a:latin typeface="Corbel"/>
                <a:cs typeface="Corbel"/>
              </a:rPr>
              <a:t>ich retains</a:t>
            </a:r>
            <a:r>
              <a:rPr sz="2700" spc="-9" dirty="0" smtClean="0">
                <a:latin typeface="Corbel"/>
                <a:cs typeface="Corbel"/>
              </a:rPr>
              <a:t> </a:t>
            </a:r>
            <a:r>
              <a:rPr sz="2700" spc="0" dirty="0" smtClean="0">
                <a:latin typeface="Corbel"/>
                <a:cs typeface="Corbel"/>
              </a:rPr>
              <a:t>the</a:t>
            </a:r>
            <a:r>
              <a:rPr sz="2700" spc="-9" dirty="0" smtClean="0">
                <a:latin typeface="Corbel"/>
                <a:cs typeface="Corbel"/>
              </a:rPr>
              <a:t> </a:t>
            </a:r>
            <a:r>
              <a:rPr sz="2700" spc="0" dirty="0" smtClean="0">
                <a:latin typeface="Corbel"/>
                <a:cs typeface="Corbel"/>
              </a:rPr>
              <a:t>data</a:t>
            </a:r>
            <a:r>
              <a:rPr sz="2700" spc="9" dirty="0" smtClean="0">
                <a:latin typeface="Corbel"/>
                <a:cs typeface="Corbel"/>
              </a:rPr>
              <a:t> </a:t>
            </a:r>
            <a:r>
              <a:rPr sz="2700" spc="-9" dirty="0" smtClean="0">
                <a:latin typeface="Corbel"/>
                <a:cs typeface="Corbel"/>
              </a:rPr>
              <a:t>e</a:t>
            </a:r>
            <a:r>
              <a:rPr sz="2700" spc="0" dirty="0" smtClean="0">
                <a:latin typeface="Corbel"/>
                <a:cs typeface="Corbel"/>
              </a:rPr>
              <a:t>ven </a:t>
            </a:r>
            <a:endParaRPr sz="2700">
              <a:latin typeface="Corbel"/>
              <a:cs typeface="Corbel"/>
            </a:endParaRPr>
          </a:p>
          <a:p>
            <a:pPr marL="12700" algn="just">
              <a:lnSpc>
                <a:spcPts val="3260"/>
              </a:lnSpc>
            </a:pPr>
            <a:r>
              <a:rPr sz="2700" spc="-2" dirty="0" smtClean="0">
                <a:latin typeface="Corbel"/>
                <a:cs typeface="Corbel"/>
              </a:rPr>
              <a:t>when power is  removed from this memory. Programs </a:t>
            </a:r>
            <a:endParaRPr sz="2700">
              <a:latin typeface="Corbel"/>
              <a:cs typeface="Corbel"/>
            </a:endParaRPr>
          </a:p>
          <a:p>
            <a:pPr marL="12700" algn="just">
              <a:lnSpc>
                <a:spcPts val="3260"/>
              </a:lnSpc>
            </a:pPr>
            <a:r>
              <a:rPr sz="2700" spc="0" dirty="0" smtClean="0">
                <a:latin typeface="Corbel"/>
                <a:cs typeface="Corbel"/>
              </a:rPr>
              <a:t>and data that can not be altered are stored in ROM.</a:t>
            </a:r>
            <a:endParaRPr sz="2700">
              <a:latin typeface="Corbel"/>
              <a:cs typeface="Corbel"/>
            </a:endParaRPr>
          </a:p>
          <a:p>
            <a:pPr marL="12700" marR="281395">
              <a:lnSpc>
                <a:spcPts val="3260"/>
              </a:lnSpc>
              <a:spcBef>
                <a:spcPts val="1923"/>
              </a:spcBef>
            </a:pPr>
            <a:r>
              <a:rPr sz="2700" spc="0" dirty="0" smtClean="0">
                <a:latin typeface="Corbel"/>
                <a:cs typeface="Corbel"/>
              </a:rPr>
              <a:t>ROM is used for storing programs that are </a:t>
            </a:r>
            <a:endParaRPr sz="2700">
              <a:latin typeface="Corbel"/>
              <a:cs typeface="Corbel"/>
            </a:endParaRPr>
          </a:p>
          <a:p>
            <a:pPr marL="12700" marR="281395">
              <a:lnSpc>
                <a:spcPts val="3261"/>
              </a:lnSpc>
            </a:pPr>
            <a:r>
              <a:rPr sz="2700" b="1" spc="-8" dirty="0" smtClean="0">
                <a:latin typeface="Corbel"/>
                <a:cs typeface="Corbel"/>
              </a:rPr>
              <a:t>PERMANENTLY </a:t>
            </a:r>
            <a:r>
              <a:rPr sz="2700" spc="-8" dirty="0" smtClean="0">
                <a:latin typeface="Corbel"/>
                <a:cs typeface="Corbel"/>
              </a:rPr>
              <a:t>resident in the computer and for </a:t>
            </a:r>
            <a:endParaRPr sz="2700">
              <a:latin typeface="Corbel"/>
              <a:cs typeface="Corbel"/>
            </a:endParaRPr>
          </a:p>
          <a:p>
            <a:pPr marL="12700" marR="281395">
              <a:lnSpc>
                <a:spcPts val="3260"/>
              </a:lnSpc>
            </a:pPr>
            <a:r>
              <a:rPr sz="2700" spc="1" dirty="0" smtClean="0">
                <a:latin typeface="Corbel"/>
                <a:cs typeface="Corbel"/>
              </a:rPr>
              <a:t>tables of constants that do not change in value once </a:t>
            </a:r>
            <a:endParaRPr sz="2700">
              <a:latin typeface="Corbel"/>
              <a:cs typeface="Corbel"/>
            </a:endParaRPr>
          </a:p>
          <a:p>
            <a:pPr marL="12700" marR="281395">
              <a:lnSpc>
                <a:spcPts val="3260"/>
              </a:lnSpc>
            </a:pPr>
            <a:r>
              <a:rPr sz="2700" spc="1" dirty="0" smtClean="0">
                <a:latin typeface="Corbel"/>
                <a:cs typeface="Corbel"/>
              </a:rPr>
              <a:t>the production of the computer is completed.</a:t>
            </a:r>
            <a:endParaRPr sz="2700">
              <a:latin typeface="Corbel"/>
              <a:cs typeface="Corbel"/>
            </a:endParaRPr>
          </a:p>
          <a:p>
            <a:pPr marL="12700" marR="7655">
              <a:lnSpc>
                <a:spcPts val="3260"/>
              </a:lnSpc>
              <a:spcBef>
                <a:spcPts val="1923"/>
              </a:spcBef>
            </a:pPr>
            <a:r>
              <a:rPr sz="2700" spc="0" dirty="0" smtClean="0">
                <a:latin typeface="Corbel"/>
                <a:cs typeface="Corbel"/>
              </a:rPr>
              <a:t>The ROM portion of main memory is needed for </a:t>
            </a:r>
            <a:endParaRPr sz="2700">
              <a:latin typeface="Corbel"/>
              <a:cs typeface="Corbel"/>
            </a:endParaRPr>
          </a:p>
          <a:p>
            <a:pPr marL="12700" marR="7655">
              <a:lnSpc>
                <a:spcPts val="3260"/>
              </a:lnSpc>
            </a:pPr>
            <a:r>
              <a:rPr sz="2700" spc="0" dirty="0" smtClean="0">
                <a:latin typeface="Corbel"/>
                <a:cs typeface="Corbel"/>
              </a:rPr>
              <a:t>storing an initial program called </a:t>
            </a:r>
            <a:r>
              <a:rPr sz="2700" b="1" i="1" spc="0" dirty="0" smtClean="0">
                <a:latin typeface="Corbel"/>
                <a:cs typeface="Corbel"/>
              </a:rPr>
              <a:t>bootstrap loader</a:t>
            </a:r>
            <a:r>
              <a:rPr sz="2700" i="1" spc="0" dirty="0" smtClean="0">
                <a:latin typeface="Corbel"/>
                <a:cs typeface="Corbel"/>
              </a:rPr>
              <a:t>, </a:t>
            </a:r>
            <a:endParaRPr sz="2700">
              <a:latin typeface="Corbel"/>
              <a:cs typeface="Corbel"/>
            </a:endParaRPr>
          </a:p>
          <a:p>
            <a:pPr marL="12700" marR="7655">
              <a:lnSpc>
                <a:spcPts val="3260"/>
              </a:lnSpc>
            </a:pPr>
            <a:r>
              <a:rPr sz="2700" dirty="0" smtClean="0">
                <a:latin typeface="Corbel"/>
                <a:cs typeface="Corbel"/>
              </a:rPr>
              <a:t>whi</a:t>
            </a:r>
            <a:r>
              <a:rPr sz="2700" spc="9" dirty="0" smtClean="0">
                <a:latin typeface="Corbel"/>
                <a:cs typeface="Corbel"/>
              </a:rPr>
              <a:t>c</a:t>
            </a:r>
            <a:r>
              <a:rPr sz="2700" spc="0" dirty="0" smtClean="0">
                <a:latin typeface="Corbel"/>
                <a:cs typeface="Corbel"/>
              </a:rPr>
              <a:t>h is to start </a:t>
            </a:r>
            <a:r>
              <a:rPr sz="2700" spc="4" dirty="0" smtClean="0">
                <a:latin typeface="Corbel"/>
                <a:cs typeface="Corbel"/>
              </a:rPr>
              <a:t>t</a:t>
            </a:r>
            <a:r>
              <a:rPr sz="2700" spc="0" dirty="0" smtClean="0">
                <a:latin typeface="Corbel"/>
                <a:cs typeface="Corbel"/>
              </a:rPr>
              <a:t>he c</a:t>
            </a:r>
            <a:r>
              <a:rPr sz="2700" spc="4" dirty="0" smtClean="0">
                <a:latin typeface="Corbel"/>
                <a:cs typeface="Corbel"/>
              </a:rPr>
              <a:t>o</a:t>
            </a:r>
            <a:r>
              <a:rPr sz="2700" spc="0" dirty="0" smtClean="0">
                <a:latin typeface="Corbel"/>
                <a:cs typeface="Corbel"/>
              </a:rPr>
              <a:t>mp</a:t>
            </a:r>
            <a:r>
              <a:rPr sz="2700" spc="-9" dirty="0" smtClean="0">
                <a:latin typeface="Corbel"/>
                <a:cs typeface="Corbel"/>
              </a:rPr>
              <a:t>u</a:t>
            </a:r>
            <a:r>
              <a:rPr sz="2700" spc="0" dirty="0" smtClean="0">
                <a:latin typeface="Corbel"/>
                <a:cs typeface="Corbel"/>
              </a:rPr>
              <a:t>ter</a:t>
            </a:r>
            <a:r>
              <a:rPr sz="2700" spc="14" dirty="0" smtClean="0">
                <a:latin typeface="Corbel"/>
                <a:cs typeface="Corbel"/>
              </a:rPr>
              <a:t> </a:t>
            </a:r>
            <a:r>
              <a:rPr sz="2700" spc="0" dirty="0" smtClean="0">
                <a:latin typeface="Corbel"/>
                <a:cs typeface="Corbel"/>
              </a:rPr>
              <a:t>operati</a:t>
            </a:r>
            <a:r>
              <a:rPr sz="2700" spc="4" dirty="0" smtClean="0">
                <a:latin typeface="Corbel"/>
                <a:cs typeface="Corbel"/>
              </a:rPr>
              <a:t>n</a:t>
            </a:r>
            <a:r>
              <a:rPr sz="2700" spc="0" dirty="0" smtClean="0">
                <a:latin typeface="Corbel"/>
                <a:cs typeface="Corbel"/>
              </a:rPr>
              <a:t>g</a:t>
            </a:r>
            <a:r>
              <a:rPr sz="2700" spc="9" dirty="0" smtClean="0">
                <a:latin typeface="Corbel"/>
                <a:cs typeface="Corbel"/>
              </a:rPr>
              <a:t> </a:t>
            </a:r>
            <a:r>
              <a:rPr sz="2700" spc="0" dirty="0" smtClean="0">
                <a:latin typeface="Corbel"/>
                <a:cs typeface="Corbel"/>
              </a:rPr>
              <a:t>sy</a:t>
            </a:r>
            <a:r>
              <a:rPr sz="2700" spc="9" dirty="0" smtClean="0">
                <a:latin typeface="Corbel"/>
                <a:cs typeface="Corbel"/>
              </a:rPr>
              <a:t>s</a:t>
            </a:r>
            <a:r>
              <a:rPr sz="2700" spc="0" dirty="0" smtClean="0">
                <a:latin typeface="Corbel"/>
                <a:cs typeface="Corbel"/>
              </a:rPr>
              <a:t>tem wh</a:t>
            </a:r>
            <a:r>
              <a:rPr sz="2700" spc="9" dirty="0" smtClean="0">
                <a:latin typeface="Corbel"/>
                <a:cs typeface="Corbel"/>
              </a:rPr>
              <a:t>e</a:t>
            </a:r>
            <a:r>
              <a:rPr sz="2700" spc="0" dirty="0" smtClean="0">
                <a:latin typeface="Corbel"/>
                <a:cs typeface="Corbel"/>
              </a:rPr>
              <a:t>n </a:t>
            </a:r>
            <a:endParaRPr sz="2700">
              <a:latin typeface="Corbel"/>
              <a:cs typeface="Corbel"/>
            </a:endParaRPr>
          </a:p>
          <a:p>
            <a:pPr marL="12700" marR="7655">
              <a:lnSpc>
                <a:spcPts val="3260"/>
              </a:lnSpc>
            </a:pPr>
            <a:r>
              <a:rPr sz="2700" spc="0" dirty="0" smtClean="0">
                <a:latin typeface="Corbel"/>
                <a:cs typeface="Corbel"/>
              </a:rPr>
              <a:t>power is turned on.</a:t>
            </a:r>
            <a:endParaRPr sz="27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236" y="1881911"/>
            <a:ext cx="218521" cy="299720"/>
          </a:xfrm>
          <a:prstGeom prst="rect">
            <a:avLst/>
          </a:prstGeom>
        </p:spPr>
        <p:txBody>
          <a:bodyPr wrap="square" lIns="0" tIns="1905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21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2150">
              <a:latin typeface="Wingdings 2"/>
              <a:cs typeface="Wingdings 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236" y="3198403"/>
            <a:ext cx="218735" cy="300024"/>
          </a:xfrm>
          <a:prstGeom prst="rect">
            <a:avLst/>
          </a:prstGeom>
        </p:spPr>
        <p:txBody>
          <a:bodyPr wrap="square" lIns="0" tIns="1905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21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2150">
              <a:latin typeface="Wingdings 2"/>
              <a:cs typeface="Wingdings 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236" y="4844704"/>
            <a:ext cx="218735" cy="300024"/>
          </a:xfrm>
          <a:prstGeom prst="rect">
            <a:avLst/>
          </a:prstGeom>
        </p:spPr>
        <p:txBody>
          <a:bodyPr wrap="square" lIns="0" tIns="1905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21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2150">
              <a:latin typeface="Wingdings 2"/>
              <a:cs typeface="Wingdings 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4112" y="6586882"/>
            <a:ext cx="1425711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2" dirty="0" smtClean="0">
                <a:solidFill>
                  <a:srgbClr val="3E3E3E"/>
                </a:solidFill>
                <a:latin typeface="Corbel"/>
                <a:cs typeface="Corbel"/>
              </a:rPr>
              <a:t>Memory Organisation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88451" y="6586882"/>
            <a:ext cx="195018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dirty="0" smtClean="0">
                <a:solidFill>
                  <a:srgbClr val="3E3E3E"/>
                </a:solidFill>
                <a:latin typeface="Corbel"/>
                <a:cs typeface="Corbel"/>
              </a:rPr>
              <a:t>12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bject 23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45592" y="294132"/>
            <a:ext cx="5027676" cy="10652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989326" y="2449829"/>
            <a:ext cx="332232" cy="0"/>
          </a:xfrm>
          <a:custGeom>
            <a:avLst/>
            <a:gdLst/>
            <a:ahLst/>
            <a:cxnLst/>
            <a:rect l="l" t="t" r="r" b="b"/>
            <a:pathLst>
              <a:path w="332232">
                <a:moveTo>
                  <a:pt x="0" y="0"/>
                </a:moveTo>
                <a:lnTo>
                  <a:pt x="332232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989326" y="2654046"/>
            <a:ext cx="332232" cy="0"/>
          </a:xfrm>
          <a:custGeom>
            <a:avLst/>
            <a:gdLst/>
            <a:ahLst/>
            <a:cxnLst/>
            <a:rect l="l" t="t" r="r" b="b"/>
            <a:pathLst>
              <a:path w="332232">
                <a:moveTo>
                  <a:pt x="0" y="0"/>
                </a:moveTo>
                <a:lnTo>
                  <a:pt x="332232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989326" y="3262122"/>
            <a:ext cx="332232" cy="0"/>
          </a:xfrm>
          <a:custGeom>
            <a:avLst/>
            <a:gdLst/>
            <a:ahLst/>
            <a:cxnLst/>
            <a:rect l="l" t="t" r="r" b="b"/>
            <a:pathLst>
              <a:path w="332232">
                <a:moveTo>
                  <a:pt x="0" y="0"/>
                </a:moveTo>
                <a:lnTo>
                  <a:pt x="332232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301746" y="2254758"/>
            <a:ext cx="1412748" cy="1200912"/>
          </a:xfrm>
          <a:custGeom>
            <a:avLst/>
            <a:gdLst/>
            <a:ahLst/>
            <a:cxnLst/>
            <a:rect l="l" t="t" r="r" b="b"/>
            <a:pathLst>
              <a:path w="1412748" h="1200912">
                <a:moveTo>
                  <a:pt x="0" y="1200912"/>
                </a:moveTo>
                <a:lnTo>
                  <a:pt x="1412748" y="1200912"/>
                </a:lnTo>
                <a:lnTo>
                  <a:pt x="1412748" y="0"/>
                </a:lnTo>
                <a:lnTo>
                  <a:pt x="0" y="0"/>
                </a:lnTo>
                <a:lnTo>
                  <a:pt x="0" y="1200912"/>
                </a:lnTo>
                <a:close/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244084" y="2799588"/>
            <a:ext cx="117348" cy="89915"/>
          </a:xfrm>
          <a:custGeom>
            <a:avLst/>
            <a:gdLst/>
            <a:ahLst/>
            <a:cxnLst/>
            <a:rect l="l" t="t" r="r" b="b"/>
            <a:pathLst>
              <a:path w="117348" h="89915">
                <a:moveTo>
                  <a:pt x="9525" y="89915"/>
                </a:moveTo>
                <a:lnTo>
                  <a:pt x="117348" y="45592"/>
                </a:lnTo>
                <a:lnTo>
                  <a:pt x="10032" y="0"/>
                </a:lnTo>
                <a:lnTo>
                  <a:pt x="6713" y="8026"/>
                </a:lnTo>
                <a:lnTo>
                  <a:pt x="3004" y="20256"/>
                </a:lnTo>
                <a:lnTo>
                  <a:pt x="756" y="32814"/>
                </a:lnTo>
                <a:lnTo>
                  <a:pt x="0" y="45592"/>
                </a:lnTo>
                <a:lnTo>
                  <a:pt x="242" y="52875"/>
                </a:lnTo>
                <a:lnTo>
                  <a:pt x="1841" y="65537"/>
                </a:lnTo>
                <a:lnTo>
                  <a:pt x="4935" y="77928"/>
                </a:lnTo>
                <a:lnTo>
                  <a:pt x="9525" y="899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729734" y="2847594"/>
            <a:ext cx="522731" cy="0"/>
          </a:xfrm>
          <a:custGeom>
            <a:avLst/>
            <a:gdLst/>
            <a:ahLst/>
            <a:cxnLst/>
            <a:rect l="l" t="t" r="r" b="b"/>
            <a:pathLst>
              <a:path w="522731">
                <a:moveTo>
                  <a:pt x="0" y="0"/>
                </a:moveTo>
                <a:lnTo>
                  <a:pt x="522731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18236" y="1912776"/>
            <a:ext cx="2660871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1900" spc="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1900" spc="0" dirty="0" smtClean="0">
                <a:solidFill>
                  <a:srgbClr val="EFAC00"/>
                </a:solidFill>
                <a:latin typeface="Times New Roman"/>
                <a:cs typeface="Times New Roman"/>
              </a:rPr>
              <a:t>  </a:t>
            </a:r>
            <a:r>
              <a:rPr sz="1900" spc="40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2400" spc="-154" dirty="0" smtClean="0">
                <a:latin typeface="Corbel"/>
                <a:cs typeface="Corbel"/>
              </a:rPr>
              <a:t>T</a:t>
            </a:r>
            <a:r>
              <a:rPr sz="2400" spc="0" dirty="0" smtClean="0">
                <a:latin typeface="Corbel"/>
                <a:cs typeface="Corbel"/>
              </a:rPr>
              <a:t>ypi</a:t>
            </a:r>
            <a:r>
              <a:rPr sz="2400" spc="4" dirty="0" smtClean="0">
                <a:latin typeface="Corbel"/>
                <a:cs typeface="Corbel"/>
              </a:rPr>
              <a:t>c</a:t>
            </a:r>
            <a:r>
              <a:rPr sz="2400" spc="0" dirty="0" smtClean="0">
                <a:latin typeface="Corbel"/>
                <a:cs typeface="Corbel"/>
              </a:rPr>
              <a:t>al</a:t>
            </a:r>
            <a:r>
              <a:rPr sz="2400" spc="1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ROM chip: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06854" y="2364591"/>
            <a:ext cx="842178" cy="382955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 marR="9544">
              <a:lnSpc>
                <a:spcPts val="1300"/>
              </a:lnSpc>
            </a:pPr>
            <a:r>
              <a:rPr sz="1200" spc="-1" dirty="0" smtClean="0">
                <a:latin typeface="Corbel"/>
                <a:cs typeface="Corbel"/>
              </a:rPr>
              <a:t>Chip select 1</a:t>
            </a:r>
            <a:endParaRPr sz="1200">
              <a:latin typeface="Corbel"/>
              <a:cs typeface="Corbel"/>
            </a:endParaRPr>
          </a:p>
          <a:p>
            <a:pPr marL="12700">
              <a:lnSpc>
                <a:spcPct val="100626"/>
              </a:lnSpc>
              <a:spcBef>
                <a:spcPts val="95"/>
              </a:spcBef>
            </a:pPr>
            <a:r>
              <a:rPr sz="1200" spc="-1" dirty="0" smtClean="0">
                <a:latin typeface="Corbel"/>
                <a:cs typeface="Corbel"/>
              </a:rPr>
              <a:t>Chip select 2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30139" y="2758418"/>
            <a:ext cx="911335" cy="178104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2" dirty="0" smtClean="0">
                <a:latin typeface="Corbel"/>
                <a:cs typeface="Corbel"/>
              </a:rPr>
              <a:t>8-bit data bus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06854" y="3175994"/>
            <a:ext cx="867047" cy="178104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1" dirty="0" smtClean="0">
                <a:latin typeface="Corbel"/>
                <a:cs typeface="Corbel"/>
              </a:rPr>
              <a:t>9-bit address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18236" y="3741957"/>
            <a:ext cx="7803580" cy="2159279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45765">
              <a:lnSpc>
                <a:spcPts val="2500"/>
              </a:lnSpc>
            </a:pPr>
            <a:r>
              <a:rPr sz="1900" spc="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1900" spc="0" dirty="0" smtClean="0">
                <a:solidFill>
                  <a:srgbClr val="EFAC00"/>
                </a:solidFill>
                <a:latin typeface="Times New Roman"/>
                <a:cs typeface="Times New Roman"/>
              </a:rPr>
              <a:t>  </a:t>
            </a:r>
            <a:r>
              <a:rPr sz="1900" spc="40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Since</a:t>
            </a:r>
            <a:r>
              <a:rPr sz="2400" spc="1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the ROM</a:t>
            </a:r>
            <a:r>
              <a:rPr sz="2400" spc="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c</a:t>
            </a:r>
            <a:r>
              <a:rPr sz="2400" spc="4" dirty="0" smtClean="0">
                <a:latin typeface="Corbel"/>
                <a:cs typeface="Corbel"/>
              </a:rPr>
              <a:t>a</a:t>
            </a:r>
            <a:r>
              <a:rPr sz="2400" spc="0" dirty="0" smtClean="0">
                <a:latin typeface="Corbel"/>
                <a:cs typeface="Corbel"/>
              </a:rPr>
              <a:t>n</a:t>
            </a:r>
            <a:r>
              <a:rPr sz="2400" spc="-14" dirty="0" smtClean="0">
                <a:latin typeface="Corbel"/>
                <a:cs typeface="Corbel"/>
              </a:rPr>
              <a:t> </a:t>
            </a:r>
            <a:r>
              <a:rPr sz="2400" spc="4" dirty="0" smtClean="0">
                <a:latin typeface="Corbel"/>
                <a:cs typeface="Corbel"/>
              </a:rPr>
              <a:t>o</a:t>
            </a:r>
            <a:r>
              <a:rPr sz="2400" spc="0" dirty="0" smtClean="0">
                <a:latin typeface="Corbel"/>
                <a:cs typeface="Corbel"/>
              </a:rPr>
              <a:t>nly REA</a:t>
            </a:r>
            <a:r>
              <a:rPr sz="2400" spc="-64" dirty="0" smtClean="0">
                <a:latin typeface="Corbel"/>
                <a:cs typeface="Corbel"/>
              </a:rPr>
              <a:t>D</a:t>
            </a:r>
            <a:r>
              <a:rPr sz="2400" spc="0" dirty="0" smtClean="0">
                <a:latin typeface="Corbel"/>
                <a:cs typeface="Corbel"/>
              </a:rPr>
              <a:t>,</a:t>
            </a:r>
            <a:r>
              <a:rPr sz="2400" spc="1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the</a:t>
            </a:r>
            <a:r>
              <a:rPr sz="2400" spc="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data</a:t>
            </a:r>
            <a:r>
              <a:rPr sz="2400" spc="1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b</a:t>
            </a:r>
            <a:r>
              <a:rPr sz="2400" spc="4" dirty="0" smtClean="0">
                <a:latin typeface="Corbel"/>
                <a:cs typeface="Corbel"/>
              </a:rPr>
              <a:t>u</a:t>
            </a:r>
            <a:r>
              <a:rPr sz="2400" spc="0" dirty="0" smtClean="0">
                <a:latin typeface="Corbel"/>
                <a:cs typeface="Corbel"/>
              </a:rPr>
              <a:t>s</a:t>
            </a:r>
            <a:r>
              <a:rPr sz="2400" spc="-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c</a:t>
            </a:r>
            <a:r>
              <a:rPr sz="2400" spc="4" dirty="0" smtClean="0">
                <a:latin typeface="Corbel"/>
                <a:cs typeface="Corbel"/>
              </a:rPr>
              <a:t>a</a:t>
            </a:r>
            <a:r>
              <a:rPr sz="2400" spc="0" dirty="0" smtClean="0">
                <a:latin typeface="Corbel"/>
                <a:cs typeface="Corbel"/>
              </a:rPr>
              <a:t>n</a:t>
            </a:r>
            <a:r>
              <a:rPr sz="2400" spc="-14" dirty="0" smtClean="0">
                <a:latin typeface="Corbel"/>
                <a:cs typeface="Corbel"/>
              </a:rPr>
              <a:t> </a:t>
            </a:r>
            <a:r>
              <a:rPr sz="2400" spc="4" dirty="0" smtClean="0">
                <a:latin typeface="Corbel"/>
                <a:cs typeface="Corbel"/>
              </a:rPr>
              <a:t>o</a:t>
            </a:r>
            <a:r>
              <a:rPr sz="2400" spc="0" dirty="0" smtClean="0">
                <a:latin typeface="Corbel"/>
                <a:cs typeface="Corbel"/>
              </a:rPr>
              <a:t>nly be in</a:t>
            </a:r>
            <a:endParaRPr sz="2400">
              <a:latin typeface="Corbel"/>
              <a:cs typeface="Corbel"/>
            </a:endParaRPr>
          </a:p>
          <a:p>
            <a:pPr marL="332739" marR="45765">
              <a:lnSpc>
                <a:spcPts val="2880"/>
              </a:lnSpc>
              <a:spcBef>
                <a:spcPts val="19"/>
              </a:spcBef>
            </a:pPr>
            <a:r>
              <a:rPr sz="2400" spc="0" dirty="0" smtClean="0">
                <a:latin typeface="Corbel"/>
                <a:cs typeface="Corbel"/>
              </a:rPr>
              <a:t>output mode.</a:t>
            </a:r>
            <a:endParaRPr sz="2400">
              <a:latin typeface="Corbel"/>
              <a:cs typeface="Corbel"/>
            </a:endParaRPr>
          </a:p>
          <a:p>
            <a:pPr marL="12700" marR="45765">
              <a:lnSpc>
                <a:spcPts val="2880"/>
              </a:lnSpc>
            </a:pPr>
            <a:r>
              <a:rPr sz="1900" spc="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1900" spc="0" dirty="0" smtClean="0">
                <a:solidFill>
                  <a:srgbClr val="EFAC00"/>
                </a:solidFill>
                <a:latin typeface="Times New Roman"/>
                <a:cs typeface="Times New Roman"/>
              </a:rPr>
              <a:t>  </a:t>
            </a:r>
            <a:r>
              <a:rPr sz="1900" spc="40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No </a:t>
            </a:r>
            <a:r>
              <a:rPr sz="2400" spc="-9" dirty="0" smtClean="0">
                <a:latin typeface="Corbel"/>
                <a:cs typeface="Corbel"/>
              </a:rPr>
              <a:t>n</a:t>
            </a:r>
            <a:r>
              <a:rPr sz="2400" spc="0" dirty="0" smtClean="0">
                <a:latin typeface="Corbel"/>
                <a:cs typeface="Corbel"/>
              </a:rPr>
              <a:t>e</a:t>
            </a:r>
            <a:r>
              <a:rPr sz="2400" spc="14" dirty="0" smtClean="0">
                <a:latin typeface="Corbel"/>
                <a:cs typeface="Corbel"/>
              </a:rPr>
              <a:t>e</a:t>
            </a:r>
            <a:r>
              <a:rPr sz="2400" spc="0" dirty="0" smtClean="0">
                <a:latin typeface="Corbel"/>
                <a:cs typeface="Corbel"/>
              </a:rPr>
              <a:t>d </a:t>
            </a:r>
            <a:r>
              <a:rPr sz="2400" spc="4" dirty="0" smtClean="0">
                <a:latin typeface="Corbel"/>
                <a:cs typeface="Corbel"/>
              </a:rPr>
              <a:t>o</a:t>
            </a:r>
            <a:r>
              <a:rPr sz="2400" spc="0" dirty="0" smtClean="0">
                <a:latin typeface="Corbel"/>
                <a:cs typeface="Corbel"/>
              </a:rPr>
              <a:t>f</a:t>
            </a:r>
            <a:r>
              <a:rPr sz="2400" spc="-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READ</a:t>
            </a:r>
            <a:r>
              <a:rPr sz="2400" spc="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and</a:t>
            </a:r>
            <a:r>
              <a:rPr sz="2400" spc="-12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WRITE</a:t>
            </a:r>
            <a:r>
              <a:rPr sz="2400" spc="1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c</a:t>
            </a:r>
            <a:r>
              <a:rPr sz="2400" spc="9" dirty="0" smtClean="0">
                <a:latin typeface="Corbel"/>
                <a:cs typeface="Corbel"/>
              </a:rPr>
              <a:t>o</a:t>
            </a:r>
            <a:r>
              <a:rPr sz="2400" spc="0" dirty="0" smtClean="0">
                <a:latin typeface="Corbel"/>
                <a:cs typeface="Corbel"/>
              </a:rPr>
              <a:t>ntrol.</a:t>
            </a:r>
            <a:endParaRPr sz="2400">
              <a:latin typeface="Corbel"/>
              <a:cs typeface="Corbel"/>
            </a:endParaRPr>
          </a:p>
          <a:p>
            <a:pPr marL="12700">
              <a:lnSpc>
                <a:spcPts val="2880"/>
              </a:lnSpc>
            </a:pPr>
            <a:r>
              <a:rPr sz="1900" spc="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1900" spc="0" dirty="0" smtClean="0">
                <a:solidFill>
                  <a:srgbClr val="EFAC00"/>
                </a:solidFill>
                <a:latin typeface="Times New Roman"/>
                <a:cs typeface="Times New Roman"/>
              </a:rPr>
              <a:t>  </a:t>
            </a:r>
            <a:r>
              <a:rPr sz="1900" spc="40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Same </a:t>
            </a:r>
            <a:r>
              <a:rPr sz="2400" spc="4" dirty="0" smtClean="0">
                <a:latin typeface="Corbel"/>
                <a:cs typeface="Corbel"/>
              </a:rPr>
              <a:t>s</a:t>
            </a:r>
            <a:r>
              <a:rPr sz="2400" spc="0" dirty="0" smtClean="0">
                <a:latin typeface="Corbel"/>
                <a:cs typeface="Corbel"/>
              </a:rPr>
              <a:t>ized RAM</a:t>
            </a:r>
            <a:r>
              <a:rPr sz="2400" spc="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and </a:t>
            </a:r>
            <a:r>
              <a:rPr sz="2400" spc="-4" dirty="0" smtClean="0">
                <a:latin typeface="Corbel"/>
                <a:cs typeface="Corbel"/>
              </a:rPr>
              <a:t>R</a:t>
            </a:r>
            <a:r>
              <a:rPr sz="2400" spc="0" dirty="0" smtClean="0">
                <a:latin typeface="Corbel"/>
                <a:cs typeface="Corbel"/>
              </a:rPr>
              <a:t>OM chip , it is</a:t>
            </a:r>
            <a:r>
              <a:rPr sz="2400" spc="1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po</a:t>
            </a:r>
            <a:r>
              <a:rPr sz="2400" spc="4" dirty="0" smtClean="0">
                <a:latin typeface="Corbel"/>
                <a:cs typeface="Corbel"/>
              </a:rPr>
              <a:t>s</a:t>
            </a:r>
            <a:r>
              <a:rPr sz="2400" spc="0" dirty="0" smtClean="0">
                <a:latin typeface="Corbel"/>
                <a:cs typeface="Corbel"/>
              </a:rPr>
              <a:t>sible</a:t>
            </a:r>
            <a:r>
              <a:rPr sz="2400" spc="25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to</a:t>
            </a:r>
            <a:r>
              <a:rPr sz="2400" spc="-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have</a:t>
            </a:r>
            <a:r>
              <a:rPr sz="2400" spc="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m</a:t>
            </a:r>
            <a:r>
              <a:rPr sz="2400" spc="9" dirty="0" smtClean="0">
                <a:latin typeface="Corbel"/>
                <a:cs typeface="Corbel"/>
              </a:rPr>
              <a:t>o</a:t>
            </a:r>
            <a:r>
              <a:rPr sz="2400" spc="0" dirty="0" smtClean="0">
                <a:latin typeface="Corbel"/>
                <a:cs typeface="Corbel"/>
              </a:rPr>
              <a:t>re</a:t>
            </a:r>
            <a:endParaRPr sz="2400">
              <a:latin typeface="Corbel"/>
              <a:cs typeface="Corbel"/>
            </a:endParaRPr>
          </a:p>
          <a:p>
            <a:pPr marL="332739" marR="45765">
              <a:lnSpc>
                <a:spcPts val="2880"/>
              </a:lnSpc>
            </a:pPr>
            <a:r>
              <a:rPr sz="2400" spc="1" dirty="0" smtClean="0">
                <a:latin typeface="Corbel"/>
                <a:cs typeface="Corbel"/>
              </a:rPr>
              <a:t>bits of ROM than of RAM , because the internal binary cells</a:t>
            </a:r>
            <a:endParaRPr sz="2400">
              <a:latin typeface="Corbel"/>
              <a:cs typeface="Corbel"/>
            </a:endParaRPr>
          </a:p>
          <a:p>
            <a:pPr marL="332739" marR="45765">
              <a:lnSpc>
                <a:spcPts val="2880"/>
              </a:lnSpc>
            </a:pPr>
            <a:r>
              <a:rPr sz="2400" spc="0" dirty="0" smtClean="0">
                <a:latin typeface="Corbel"/>
                <a:cs typeface="Corbel"/>
              </a:rPr>
              <a:t>in ROM occupy less space than in RAM.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74112" y="6586882"/>
            <a:ext cx="1425711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2" dirty="0" smtClean="0">
                <a:solidFill>
                  <a:srgbClr val="3E3E3E"/>
                </a:solidFill>
                <a:latin typeface="Corbel"/>
                <a:cs typeface="Corbel"/>
              </a:rPr>
              <a:t>Memory Organisation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00643" y="6586882"/>
            <a:ext cx="180141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19" dirty="0" smtClean="0">
                <a:solidFill>
                  <a:srgbClr val="3E3E3E"/>
                </a:solidFill>
                <a:latin typeface="Corbel"/>
                <a:cs typeface="Corbel"/>
              </a:rPr>
              <a:t>13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89326" y="2254758"/>
            <a:ext cx="312420" cy="195071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8" name="object 8"/>
          <p:cNvSpPr txBox="1"/>
          <p:nvPr/>
        </p:nvSpPr>
        <p:spPr>
          <a:xfrm>
            <a:off x="3301746" y="2254758"/>
            <a:ext cx="1412748" cy="1200912"/>
          </a:xfrm>
          <a:prstGeom prst="rect">
            <a:avLst/>
          </a:prstGeom>
        </p:spPr>
        <p:txBody>
          <a:bodyPr wrap="square" lIns="0" tIns="3885" rIns="0" bIns="0" rtlCol="0">
            <a:noAutofit/>
          </a:bodyPr>
          <a:lstStyle/>
          <a:p>
            <a:pPr>
              <a:lnSpc>
                <a:spcPts val="600"/>
              </a:lnSpc>
            </a:pPr>
            <a:endParaRPr sz="600"/>
          </a:p>
          <a:p>
            <a:pPr marL="108712" marR="982808">
              <a:lnSpc>
                <a:spcPts val="1449"/>
              </a:lnSpc>
            </a:pPr>
            <a:r>
              <a:rPr sz="1200" u="heavy" spc="0" dirty="0" smtClean="0">
                <a:latin typeface="Corbel"/>
                <a:cs typeface="Corbel"/>
              </a:rPr>
              <a:t>CS1 </a:t>
            </a:r>
            <a:r>
              <a:rPr sz="1200" u="heavy" spc="-75" dirty="0" smtClean="0">
                <a:latin typeface="Corbel"/>
                <a:cs typeface="Corbel"/>
              </a:rPr>
              <a:t> </a:t>
            </a:r>
            <a:r>
              <a:rPr sz="1200" spc="-75" dirty="0" smtClean="0">
                <a:latin typeface="Corbel"/>
                <a:cs typeface="Corbel"/>
              </a:rPr>
              <a:t> </a:t>
            </a:r>
            <a:endParaRPr sz="1200">
              <a:latin typeface="Corbel"/>
              <a:cs typeface="Corbel"/>
            </a:endParaRPr>
          </a:p>
          <a:p>
            <a:pPr marL="108712" marR="982808">
              <a:lnSpc>
                <a:spcPts val="1449"/>
              </a:lnSpc>
              <a:spcBef>
                <a:spcPts val="152"/>
              </a:spcBef>
            </a:pPr>
            <a:r>
              <a:rPr sz="1200" dirty="0" smtClean="0">
                <a:latin typeface="Corbel"/>
                <a:cs typeface="Corbel"/>
              </a:rPr>
              <a:t>CS2</a:t>
            </a:r>
            <a:endParaRPr sz="1200">
              <a:latin typeface="Corbel"/>
              <a:cs typeface="Corbel"/>
            </a:endParaRPr>
          </a:p>
          <a:p>
            <a:pPr marL="675259" marR="261952" algn="ctr">
              <a:lnSpc>
                <a:spcPts val="1085"/>
              </a:lnSpc>
              <a:spcBef>
                <a:spcPts val="206"/>
              </a:spcBef>
            </a:pPr>
            <a:r>
              <a:rPr sz="1200" spc="0" dirty="0" smtClean="0">
                <a:latin typeface="Corbel"/>
                <a:cs typeface="Corbel"/>
              </a:rPr>
              <a:t>512 x 8</a:t>
            </a:r>
            <a:endParaRPr sz="1200">
              <a:latin typeface="Corbel"/>
              <a:cs typeface="Corbel"/>
            </a:endParaRPr>
          </a:p>
          <a:p>
            <a:pPr marL="762381" marR="275354" algn="ctr">
              <a:lnSpc>
                <a:spcPts val="1325"/>
              </a:lnSpc>
              <a:spcBef>
                <a:spcPts val="12"/>
              </a:spcBef>
            </a:pPr>
            <a:r>
              <a:rPr sz="1200" dirty="0" smtClean="0">
                <a:latin typeface="Corbel"/>
                <a:cs typeface="Corbel"/>
              </a:rPr>
              <a:t>ROM</a:t>
            </a:r>
            <a:endParaRPr sz="1200">
              <a:latin typeface="Corbel"/>
              <a:cs typeface="Corbel"/>
            </a:endParaRPr>
          </a:p>
          <a:p>
            <a:pPr marL="121412">
              <a:lnSpc>
                <a:spcPct val="100626"/>
              </a:lnSpc>
              <a:spcBef>
                <a:spcPts val="922"/>
              </a:spcBef>
            </a:pPr>
            <a:r>
              <a:rPr sz="1200" spc="-2" dirty="0" smtClean="0">
                <a:latin typeface="Corbel"/>
                <a:cs typeface="Corbel"/>
              </a:rPr>
              <a:t>AD 9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14494" y="2254758"/>
            <a:ext cx="537971" cy="59283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6" name="object 6"/>
          <p:cNvSpPr txBox="1"/>
          <p:nvPr/>
        </p:nvSpPr>
        <p:spPr>
          <a:xfrm>
            <a:off x="2989326" y="2449829"/>
            <a:ext cx="312420" cy="20421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5" name="object 5"/>
          <p:cNvSpPr txBox="1"/>
          <p:nvPr/>
        </p:nvSpPr>
        <p:spPr>
          <a:xfrm>
            <a:off x="2989326" y="2654046"/>
            <a:ext cx="312420" cy="6080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4714494" y="2847594"/>
            <a:ext cx="537971" cy="60807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2989326" y="3262122"/>
            <a:ext cx="312420" cy="193548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3652675" y="2340102"/>
            <a:ext cx="5140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44068" y="589788"/>
            <a:ext cx="3872483" cy="4754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18236" y="1876200"/>
            <a:ext cx="7038627" cy="659384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1900" spc="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1900" spc="0" dirty="0" smtClean="0">
                <a:solidFill>
                  <a:srgbClr val="EFAC00"/>
                </a:solidFill>
                <a:latin typeface="Times New Roman"/>
                <a:cs typeface="Times New Roman"/>
              </a:rPr>
              <a:t>  </a:t>
            </a:r>
            <a:r>
              <a:rPr sz="1900" spc="40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The </a:t>
            </a:r>
            <a:r>
              <a:rPr sz="2400" spc="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r</a:t>
            </a:r>
            <a:r>
              <a:rPr sz="2400" spc="9" dirty="0" smtClean="0">
                <a:latin typeface="Corbel"/>
                <a:cs typeface="Corbel"/>
              </a:rPr>
              <a:t>e</a:t>
            </a:r>
            <a:r>
              <a:rPr sz="2400" spc="4" dirty="0" smtClean="0">
                <a:latin typeface="Corbel"/>
                <a:cs typeface="Corbel"/>
              </a:rPr>
              <a:t>qu</a:t>
            </a:r>
            <a:r>
              <a:rPr sz="2400" spc="0" dirty="0" smtClean="0">
                <a:latin typeface="Corbel"/>
                <a:cs typeface="Corbel"/>
              </a:rPr>
              <a:t>ir</a:t>
            </a:r>
            <a:r>
              <a:rPr sz="2400" spc="4" dirty="0" smtClean="0">
                <a:latin typeface="Corbel"/>
                <a:cs typeface="Corbel"/>
              </a:rPr>
              <a:t>e</a:t>
            </a:r>
            <a:r>
              <a:rPr sz="2400" spc="0" dirty="0" smtClean="0">
                <a:latin typeface="Corbel"/>
                <a:cs typeface="Corbel"/>
              </a:rPr>
              <a:t>d</a:t>
            </a:r>
            <a:r>
              <a:rPr sz="2400" spc="-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paths</a:t>
            </a:r>
            <a:r>
              <a:rPr sz="2400" spc="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in a ROM m</a:t>
            </a:r>
            <a:r>
              <a:rPr sz="2400" spc="4" dirty="0" smtClean="0">
                <a:latin typeface="Corbel"/>
                <a:cs typeface="Corbel"/>
              </a:rPr>
              <a:t>a</a:t>
            </a:r>
            <a:r>
              <a:rPr sz="2400" spc="0" dirty="0" smtClean="0">
                <a:latin typeface="Corbel"/>
                <a:cs typeface="Corbel"/>
              </a:rPr>
              <a:t>y</a:t>
            </a:r>
            <a:r>
              <a:rPr sz="2400" spc="-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be p</a:t>
            </a:r>
            <a:r>
              <a:rPr sz="2400" spc="9" dirty="0" smtClean="0">
                <a:latin typeface="Corbel"/>
                <a:cs typeface="Corbel"/>
              </a:rPr>
              <a:t>r</a:t>
            </a:r>
            <a:r>
              <a:rPr sz="2400" spc="4" dirty="0" smtClean="0">
                <a:latin typeface="Corbel"/>
                <a:cs typeface="Corbel"/>
              </a:rPr>
              <a:t>o</a:t>
            </a:r>
            <a:r>
              <a:rPr sz="2400" spc="0" dirty="0" smtClean="0">
                <a:latin typeface="Corbel"/>
                <a:cs typeface="Corbel"/>
              </a:rPr>
              <a:t>gra</a:t>
            </a:r>
            <a:r>
              <a:rPr sz="2400" spc="9" dirty="0" smtClean="0">
                <a:latin typeface="Corbel"/>
                <a:cs typeface="Corbel"/>
              </a:rPr>
              <a:t>m</a:t>
            </a:r>
            <a:r>
              <a:rPr sz="2400" spc="0" dirty="0" smtClean="0">
                <a:latin typeface="Corbel"/>
                <a:cs typeface="Corbel"/>
              </a:rPr>
              <a:t>m</a:t>
            </a:r>
            <a:r>
              <a:rPr sz="2400" spc="9" dirty="0" smtClean="0">
                <a:latin typeface="Corbel"/>
                <a:cs typeface="Corbel"/>
              </a:rPr>
              <a:t>e</a:t>
            </a:r>
            <a:r>
              <a:rPr sz="2400" spc="0" dirty="0" smtClean="0">
                <a:latin typeface="Corbel"/>
                <a:cs typeface="Corbel"/>
              </a:rPr>
              <a:t>d</a:t>
            </a:r>
            <a:r>
              <a:rPr sz="2400" spc="-25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in</a:t>
            </a:r>
            <a:endParaRPr sz="2400">
              <a:latin typeface="Corbel"/>
              <a:cs typeface="Corbel"/>
            </a:endParaRPr>
          </a:p>
          <a:p>
            <a:pPr marL="332739" marR="45720">
              <a:lnSpc>
                <a:spcPts val="2590"/>
              </a:lnSpc>
              <a:spcBef>
                <a:spcPts val="4"/>
              </a:spcBef>
            </a:pPr>
            <a:r>
              <a:rPr sz="2400" spc="1" dirty="0" smtClean="0">
                <a:latin typeface="Corbel"/>
                <a:cs typeface="Corbel"/>
              </a:rPr>
              <a:t>different ways: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67624" y="1876200"/>
            <a:ext cx="592316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3" dirty="0" smtClean="0">
                <a:latin typeface="Corbel"/>
                <a:cs typeface="Corbel"/>
              </a:rPr>
              <a:t>four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9196" y="2538317"/>
            <a:ext cx="7758905" cy="380491"/>
          </a:xfrm>
          <a:prstGeom prst="rect">
            <a:avLst/>
          </a:prstGeom>
        </p:spPr>
        <p:txBody>
          <a:bodyPr wrap="square" lIns="0" tIns="18383" rIns="0" bIns="0" rtlCol="0">
            <a:noAutofit/>
          </a:bodyPr>
          <a:lstStyle/>
          <a:p>
            <a:pPr marL="12700">
              <a:lnSpc>
                <a:spcPts val="2895"/>
              </a:lnSpc>
            </a:pPr>
            <a:r>
              <a:rPr sz="2400" b="1" spc="6" dirty="0" smtClean="0">
                <a:latin typeface="Corbel"/>
                <a:cs typeface="Corbel"/>
              </a:rPr>
              <a:t>1. </a:t>
            </a:r>
            <a:r>
              <a:rPr sz="2400" b="1" u="heavy" spc="6" dirty="0" smtClean="0">
                <a:latin typeface="Corbel"/>
                <a:cs typeface="Corbel"/>
              </a:rPr>
              <a:t>Mask Programming</a:t>
            </a:r>
            <a:r>
              <a:rPr sz="2800" b="1" spc="6" dirty="0" smtClean="0">
                <a:latin typeface="Corbel"/>
                <a:cs typeface="Corbel"/>
              </a:rPr>
              <a:t>: </a:t>
            </a:r>
            <a:r>
              <a:rPr sz="2400" spc="6" dirty="0" smtClean="0">
                <a:latin typeface="Corbel"/>
                <a:cs typeface="Corbel"/>
              </a:rPr>
              <a:t>It is done by the company during the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236" y="2918616"/>
            <a:ext cx="7876056" cy="988948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4" dirty="0" smtClean="0">
                <a:latin typeface="Corbel"/>
                <a:cs typeface="Corbel"/>
              </a:rPr>
              <a:t>fabrication process of the unit. The procedure for fabricating a</a:t>
            </a:r>
            <a:endParaRPr sz="2400">
              <a:latin typeface="Corbel"/>
              <a:cs typeface="Corbel"/>
            </a:endParaRPr>
          </a:p>
          <a:p>
            <a:pPr marL="12700" marR="45720">
              <a:lnSpc>
                <a:spcPts val="2590"/>
              </a:lnSpc>
              <a:spcBef>
                <a:spcPts val="4"/>
              </a:spcBef>
            </a:pPr>
            <a:r>
              <a:rPr sz="2400" spc="0" dirty="0" smtClean="0">
                <a:latin typeface="Corbel"/>
                <a:cs typeface="Corbel"/>
              </a:rPr>
              <a:t>ROM requires that the customer fills out the truth table he</a:t>
            </a:r>
            <a:endParaRPr sz="2400">
              <a:latin typeface="Corbel"/>
              <a:cs typeface="Corbel"/>
            </a:endParaRPr>
          </a:p>
          <a:p>
            <a:pPr marL="12700" marR="45720">
              <a:lnSpc>
                <a:spcPts val="2595"/>
              </a:lnSpc>
              <a:spcBef>
                <a:spcPts val="0"/>
              </a:spcBef>
            </a:pPr>
            <a:r>
              <a:rPr sz="2400" spc="-4" dirty="0" smtClean="0">
                <a:latin typeface="Corbel"/>
                <a:cs typeface="Corbel"/>
              </a:rPr>
              <a:t>wishes the ROM to satisfy.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236" y="4235733"/>
            <a:ext cx="6011273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b="1" spc="0" dirty="0" smtClean="0">
                <a:latin typeface="Corbel"/>
                <a:cs typeface="Corbel"/>
              </a:rPr>
              <a:t>2. </a:t>
            </a:r>
            <a:r>
              <a:rPr sz="2400" b="1" u="heavy" spc="0" dirty="0" smtClean="0">
                <a:latin typeface="Corbel"/>
                <a:cs typeface="Corbel"/>
              </a:rPr>
              <a:t>Programmable Read only memory(PROM):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236" y="4564917"/>
            <a:ext cx="7893613" cy="1647215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3153">
              <a:lnSpc>
                <a:spcPts val="2500"/>
              </a:lnSpc>
            </a:pPr>
            <a:r>
              <a:rPr sz="2400" spc="-1" dirty="0" smtClean="0">
                <a:latin typeface="Corbel"/>
                <a:cs typeface="Corbel"/>
              </a:rPr>
              <a:t>PROM contain all the fuses intact giving all 1’s in the bits of the</a:t>
            </a:r>
            <a:endParaRPr sz="2400">
              <a:latin typeface="Corbel"/>
              <a:cs typeface="Corbel"/>
            </a:endParaRPr>
          </a:p>
          <a:p>
            <a:pPr marL="12700">
              <a:lnSpc>
                <a:spcPts val="2590"/>
              </a:lnSpc>
              <a:spcBef>
                <a:spcPts val="4"/>
              </a:spcBef>
            </a:pPr>
            <a:r>
              <a:rPr sz="2400" spc="-2" dirty="0" smtClean="0">
                <a:latin typeface="Corbel"/>
                <a:cs typeface="Corbel"/>
              </a:rPr>
              <a:t>stored words. A blown fuse defines binary 0 state and an intact</a:t>
            </a:r>
            <a:endParaRPr sz="2400">
              <a:latin typeface="Corbel"/>
              <a:cs typeface="Corbel"/>
            </a:endParaRPr>
          </a:p>
          <a:p>
            <a:pPr marL="12700" marR="45765">
              <a:lnSpc>
                <a:spcPts val="2595"/>
              </a:lnSpc>
              <a:spcBef>
                <a:spcPts val="0"/>
              </a:spcBef>
            </a:pPr>
            <a:r>
              <a:rPr sz="2400" spc="-2" dirty="0" smtClean="0">
                <a:latin typeface="Corbel"/>
                <a:cs typeface="Corbel"/>
              </a:rPr>
              <a:t>fuse give a binary 1 state. This allows the user to program the</a:t>
            </a:r>
            <a:endParaRPr sz="2400">
              <a:latin typeface="Corbel"/>
              <a:cs typeface="Corbel"/>
            </a:endParaRPr>
          </a:p>
          <a:p>
            <a:pPr marL="12700" marR="45765">
              <a:lnSpc>
                <a:spcPts val="2590"/>
              </a:lnSpc>
            </a:pPr>
            <a:r>
              <a:rPr sz="2400" spc="0" dirty="0" smtClean="0">
                <a:latin typeface="Corbel"/>
                <a:cs typeface="Corbel"/>
              </a:rPr>
              <a:t>PROM by using a special instruments called PROM</a:t>
            </a:r>
            <a:endParaRPr sz="2400">
              <a:latin typeface="Corbel"/>
              <a:cs typeface="Corbel"/>
            </a:endParaRPr>
          </a:p>
          <a:p>
            <a:pPr marL="12700" marR="45765">
              <a:lnSpc>
                <a:spcPts val="2590"/>
              </a:lnSpc>
            </a:pPr>
            <a:r>
              <a:rPr sz="2400" spc="-10" dirty="0" smtClean="0">
                <a:latin typeface="Corbel"/>
                <a:cs typeface="Corbel"/>
              </a:rPr>
              <a:t>programmer.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74112" y="6586882"/>
            <a:ext cx="1425711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2" dirty="0" smtClean="0">
                <a:solidFill>
                  <a:srgbClr val="3E3E3E"/>
                </a:solidFill>
                <a:latin typeface="Corbel"/>
                <a:cs typeface="Corbel"/>
              </a:rPr>
              <a:t>Memory Organisation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86927" y="6586882"/>
            <a:ext cx="195911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dirty="0" smtClean="0">
                <a:solidFill>
                  <a:srgbClr val="3E3E3E"/>
                </a:solidFill>
                <a:latin typeface="Corbel"/>
                <a:cs typeface="Corbel"/>
              </a:rPr>
              <a:t>14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90652" y="2675382"/>
            <a:ext cx="6286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2902212" y="4335399"/>
            <a:ext cx="6440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3636649" y="4335399"/>
            <a:ext cx="6392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4271927" y="4335399"/>
            <a:ext cx="63547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44068" y="589788"/>
            <a:ext cx="3872483" cy="4754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18236" y="1876200"/>
            <a:ext cx="7775035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b="1" spc="0" dirty="0" smtClean="0">
                <a:latin typeface="Corbel"/>
                <a:cs typeface="Corbel"/>
              </a:rPr>
              <a:t>3. </a:t>
            </a:r>
            <a:r>
              <a:rPr sz="2400" b="1" u="heavy" spc="0" dirty="0" smtClean="0">
                <a:latin typeface="Corbel"/>
                <a:cs typeface="Corbel"/>
              </a:rPr>
              <a:t>Erasable PROM(EPROM):</a:t>
            </a:r>
            <a:r>
              <a:rPr sz="2400" b="1" spc="0" dirty="0" smtClean="0">
                <a:latin typeface="Corbel"/>
                <a:cs typeface="Corbel"/>
              </a:rPr>
              <a:t>  </a:t>
            </a:r>
            <a:r>
              <a:rPr sz="2400" spc="0" dirty="0" smtClean="0">
                <a:latin typeface="Corbel"/>
                <a:cs typeface="Corbel"/>
              </a:rPr>
              <a:t>In a PROM once fixed pattern is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236" y="2205384"/>
            <a:ext cx="7692469" cy="1976501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45765">
              <a:lnSpc>
                <a:spcPts val="2500"/>
              </a:lnSpc>
            </a:pPr>
            <a:r>
              <a:rPr sz="2400" spc="-3" dirty="0" smtClean="0">
                <a:latin typeface="Corbel"/>
                <a:cs typeface="Corbel"/>
              </a:rPr>
              <a:t>permanent and can not be altered. The EPROM can be</a:t>
            </a:r>
            <a:endParaRPr sz="2400">
              <a:latin typeface="Corbel"/>
              <a:cs typeface="Corbel"/>
            </a:endParaRPr>
          </a:p>
          <a:p>
            <a:pPr marL="12700" marR="45765">
              <a:lnSpc>
                <a:spcPts val="2590"/>
              </a:lnSpc>
              <a:spcBef>
                <a:spcPts val="4"/>
              </a:spcBef>
            </a:pPr>
            <a:r>
              <a:rPr sz="2400" dirty="0" smtClean="0">
                <a:latin typeface="Corbel"/>
                <a:cs typeface="Corbel"/>
              </a:rPr>
              <a:t>restructured to the initial state even through it has been</a:t>
            </a:r>
            <a:endParaRPr sz="2400">
              <a:latin typeface="Corbel"/>
              <a:cs typeface="Corbel"/>
            </a:endParaRPr>
          </a:p>
          <a:p>
            <a:pPr marL="12700" marR="45765">
              <a:lnSpc>
                <a:spcPts val="2590"/>
              </a:lnSpc>
            </a:pPr>
            <a:r>
              <a:rPr sz="2400" spc="-5" dirty="0" smtClean="0">
                <a:latin typeface="Corbel"/>
                <a:cs typeface="Corbel"/>
              </a:rPr>
              <a:t>programmed previously. When EPROM is placed under a</a:t>
            </a:r>
            <a:endParaRPr sz="2400">
              <a:latin typeface="Corbel"/>
              <a:cs typeface="Corbel"/>
            </a:endParaRPr>
          </a:p>
          <a:p>
            <a:pPr marL="12700">
              <a:lnSpc>
                <a:spcPts val="2590"/>
              </a:lnSpc>
            </a:pPr>
            <a:r>
              <a:rPr sz="2400" spc="0" dirty="0" smtClean="0">
                <a:latin typeface="Corbel"/>
                <a:cs typeface="Corbel"/>
              </a:rPr>
              <a:t>special ultra-violet light for a given period of time all the data</a:t>
            </a:r>
            <a:endParaRPr sz="2400">
              <a:latin typeface="Corbel"/>
              <a:cs typeface="Corbel"/>
            </a:endParaRPr>
          </a:p>
          <a:p>
            <a:pPr marL="12700" marR="45765">
              <a:lnSpc>
                <a:spcPts val="2595"/>
              </a:lnSpc>
              <a:spcBef>
                <a:spcPts val="0"/>
              </a:spcBef>
            </a:pPr>
            <a:r>
              <a:rPr sz="2400" spc="-1" dirty="0" smtClean="0">
                <a:latin typeface="Corbel"/>
                <a:cs typeface="Corbel"/>
              </a:rPr>
              <a:t>are erased. After erase, the EPROM returns to it initial  state</a:t>
            </a:r>
            <a:endParaRPr sz="2400">
              <a:latin typeface="Corbel"/>
              <a:cs typeface="Corbel"/>
            </a:endParaRPr>
          </a:p>
          <a:p>
            <a:pPr marL="12700" marR="45765">
              <a:lnSpc>
                <a:spcPts val="2590"/>
              </a:lnSpc>
            </a:pPr>
            <a:r>
              <a:rPr sz="2400" spc="9" dirty="0" smtClean="0">
                <a:latin typeface="Corbel"/>
                <a:cs typeface="Corbel"/>
              </a:rPr>
              <a:t>and can be programmed to a new set of values.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236" y="4510053"/>
            <a:ext cx="7179448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0" dirty="0" smtClean="0">
                <a:latin typeface="Corbel"/>
                <a:cs typeface="Corbel"/>
              </a:rPr>
              <a:t>4. </a:t>
            </a:r>
            <a:r>
              <a:rPr sz="2400" b="1" u="heavy" spc="0" dirty="0" smtClean="0">
                <a:latin typeface="Corbel"/>
                <a:cs typeface="Corbel"/>
              </a:rPr>
              <a:t>Electrically Erasable PROM(EEPROM):  </a:t>
            </a:r>
            <a:r>
              <a:rPr sz="2400" spc="0" dirty="0" smtClean="0">
                <a:latin typeface="Corbel"/>
                <a:cs typeface="Corbel"/>
              </a:rPr>
              <a:t>It is similar to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236" y="4839011"/>
            <a:ext cx="7689584" cy="1318258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-1" dirty="0" smtClean="0">
                <a:latin typeface="Corbel"/>
                <a:cs typeface="Corbel"/>
              </a:rPr>
              <a:t>EPROM except that the previously programmed connections</a:t>
            </a:r>
            <a:endParaRPr sz="2400">
              <a:latin typeface="Corbel"/>
              <a:cs typeface="Corbel"/>
            </a:endParaRPr>
          </a:p>
          <a:p>
            <a:pPr marL="12700" marR="45765">
              <a:lnSpc>
                <a:spcPts val="2595"/>
              </a:lnSpc>
              <a:spcBef>
                <a:spcPts val="4"/>
              </a:spcBef>
            </a:pPr>
            <a:r>
              <a:rPr sz="2400" spc="0" dirty="0" smtClean="0">
                <a:latin typeface="Corbel"/>
                <a:cs typeface="Corbel"/>
              </a:rPr>
              <a:t>can be erased with an electrical signal instead of ultra violet</a:t>
            </a:r>
            <a:endParaRPr sz="2400">
              <a:latin typeface="Corbel"/>
              <a:cs typeface="Corbel"/>
            </a:endParaRPr>
          </a:p>
          <a:p>
            <a:pPr marL="12700" marR="45765">
              <a:lnSpc>
                <a:spcPts val="2590"/>
              </a:lnSpc>
            </a:pPr>
            <a:r>
              <a:rPr sz="2400" spc="-2" dirty="0" smtClean="0">
                <a:latin typeface="Corbel"/>
                <a:cs typeface="Corbel"/>
              </a:rPr>
              <a:t>light. The advantage is that device can be erased without</a:t>
            </a:r>
            <a:endParaRPr sz="2400">
              <a:latin typeface="Corbel"/>
              <a:cs typeface="Corbel"/>
            </a:endParaRPr>
          </a:p>
          <a:p>
            <a:pPr marL="12700" marR="45765">
              <a:lnSpc>
                <a:spcPts val="2590"/>
              </a:lnSpc>
            </a:pPr>
            <a:r>
              <a:rPr sz="2400" spc="-4" dirty="0" smtClean="0">
                <a:latin typeface="Corbel"/>
                <a:cs typeface="Corbel"/>
              </a:rPr>
              <a:t>removing it from it’s socket.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74112" y="6586882"/>
            <a:ext cx="1425711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2" dirty="0" smtClean="0">
                <a:solidFill>
                  <a:srgbClr val="3E3E3E"/>
                </a:solidFill>
                <a:latin typeface="Corbel"/>
                <a:cs typeface="Corbel"/>
              </a:rPr>
              <a:t>Memory Organisation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93023" y="6586882"/>
            <a:ext cx="190330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dirty="0" smtClean="0">
                <a:solidFill>
                  <a:srgbClr val="3E3E3E"/>
                </a:solidFill>
                <a:latin typeface="Corbel"/>
                <a:cs typeface="Corbel"/>
              </a:rPr>
              <a:t>15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60117" y="1975865"/>
            <a:ext cx="6159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2372295" y="4609719"/>
            <a:ext cx="62751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3562476" y="4609719"/>
            <a:ext cx="6159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5949792" y="4609719"/>
            <a:ext cx="121823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44068" y="565403"/>
            <a:ext cx="4389120" cy="5425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38276" y="1912776"/>
            <a:ext cx="7688820" cy="3622675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0" dirty="0" smtClean="0">
                <a:latin typeface="Corbel"/>
                <a:cs typeface="Corbel"/>
              </a:rPr>
              <a:t>Also called as Secondary Memory, used to store large chunks</a:t>
            </a:r>
            <a:endParaRPr sz="2400">
              <a:latin typeface="Corbel"/>
              <a:cs typeface="Corbel"/>
            </a:endParaRPr>
          </a:p>
          <a:p>
            <a:pPr marL="12700" marR="45720">
              <a:lnSpc>
                <a:spcPts val="2880"/>
              </a:lnSpc>
              <a:spcBef>
                <a:spcPts val="19"/>
              </a:spcBef>
            </a:pPr>
            <a:r>
              <a:rPr sz="2400" spc="0" dirty="0" smtClean="0">
                <a:latin typeface="Corbel"/>
                <a:cs typeface="Corbel"/>
              </a:rPr>
              <a:t>of data at a lesser cost per byte than a primary memory for</a:t>
            </a:r>
            <a:endParaRPr sz="2400">
              <a:latin typeface="Corbel"/>
              <a:cs typeface="Corbel"/>
            </a:endParaRPr>
          </a:p>
          <a:p>
            <a:pPr marL="12700" marR="45720">
              <a:lnSpc>
                <a:spcPts val="2880"/>
              </a:lnSpc>
            </a:pPr>
            <a:r>
              <a:rPr sz="2400" spc="1" dirty="0" smtClean="0">
                <a:latin typeface="Corbel"/>
                <a:cs typeface="Corbel"/>
              </a:rPr>
              <a:t>backup.</a:t>
            </a:r>
            <a:endParaRPr sz="2400">
              <a:latin typeface="Corbel"/>
              <a:cs typeface="Corbel"/>
            </a:endParaRPr>
          </a:p>
          <a:p>
            <a:pPr marL="12700" marR="45720">
              <a:lnSpc>
                <a:spcPts val="2880"/>
              </a:lnSpc>
            </a:pPr>
            <a:r>
              <a:rPr sz="2400" spc="0" dirty="0" smtClean="0">
                <a:latin typeface="Corbel"/>
                <a:cs typeface="Corbel"/>
              </a:rPr>
              <a:t>It does not lose the data when the device is powered down—</a:t>
            </a:r>
            <a:endParaRPr sz="2400">
              <a:latin typeface="Corbel"/>
              <a:cs typeface="Corbel"/>
            </a:endParaRPr>
          </a:p>
          <a:p>
            <a:pPr marL="12700" marR="45720">
              <a:lnSpc>
                <a:spcPts val="2880"/>
              </a:lnSpc>
            </a:pPr>
            <a:r>
              <a:rPr sz="2400" spc="0" dirty="0" smtClean="0">
                <a:latin typeface="Corbel"/>
                <a:cs typeface="Corbel"/>
              </a:rPr>
              <a:t>it is non-volatile.</a:t>
            </a:r>
            <a:endParaRPr sz="2400">
              <a:latin typeface="Corbel"/>
              <a:cs typeface="Corbel"/>
            </a:endParaRPr>
          </a:p>
          <a:p>
            <a:pPr marL="12700" marR="132054">
              <a:lnSpc>
                <a:spcPct val="100022"/>
              </a:lnSpc>
            </a:pPr>
            <a:r>
              <a:rPr sz="2400" spc="-2" dirty="0" smtClean="0">
                <a:latin typeface="Corbel"/>
                <a:cs typeface="Corbel"/>
              </a:rPr>
              <a:t>It is not directly accessible by the CPU, they are accessed via the input/output channels.</a:t>
            </a:r>
            <a:endParaRPr sz="2400">
              <a:latin typeface="Corbel"/>
              <a:cs typeface="Corbel"/>
            </a:endParaRPr>
          </a:p>
          <a:p>
            <a:pPr marL="12700" marR="60264">
              <a:lnSpc>
                <a:spcPct val="100022"/>
              </a:lnSpc>
            </a:pPr>
            <a:r>
              <a:rPr sz="2400" dirty="0" smtClean="0">
                <a:latin typeface="Corbel"/>
                <a:cs typeface="Corbel"/>
              </a:rPr>
              <a:t>The most common form of auxiliary memory devices used in consumer systems is flash memory, optical discs, and magnetic disks, magnetic tapes.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236" y="1944392"/>
            <a:ext cx="197063" cy="269240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900" spc="9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900">
              <a:latin typeface="Wingdings 2"/>
              <a:cs typeface="Wingdings 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236" y="3041672"/>
            <a:ext cx="197063" cy="269240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900" spc="9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900">
              <a:latin typeface="Wingdings 2"/>
              <a:cs typeface="Wingdings 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236" y="3773573"/>
            <a:ext cx="197063" cy="26923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900" spc="9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900">
              <a:latin typeface="Wingdings 2"/>
              <a:cs typeface="Wingdings 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236" y="4505093"/>
            <a:ext cx="197063" cy="26923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900" spc="9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900">
              <a:latin typeface="Wingdings 2"/>
              <a:cs typeface="Wingdings 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4112" y="6586882"/>
            <a:ext cx="1425711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2" dirty="0" smtClean="0">
                <a:solidFill>
                  <a:srgbClr val="3E3E3E"/>
                </a:solidFill>
                <a:latin typeface="Corbel"/>
                <a:cs typeface="Corbel"/>
              </a:rPr>
              <a:t>Memory Organisation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686927" y="6586882"/>
            <a:ext cx="197102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dirty="0" smtClean="0">
                <a:solidFill>
                  <a:srgbClr val="3E3E3E"/>
                </a:solidFill>
                <a:latin typeface="Corbel"/>
                <a:cs typeface="Corbel"/>
              </a:rPr>
              <a:t>19</a:t>
            </a:r>
            <a:endParaRPr sz="1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5592" y="559308"/>
            <a:ext cx="6534911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38276" y="1845442"/>
            <a:ext cx="6428717" cy="406400"/>
          </a:xfrm>
          <a:prstGeom prst="rect">
            <a:avLst/>
          </a:prstGeom>
        </p:spPr>
        <p:txBody>
          <a:bodyPr wrap="square" lIns="0" tIns="19685" rIns="0" bIns="0" rtlCol="0">
            <a:noAutofit/>
          </a:bodyPr>
          <a:lstStyle/>
          <a:p>
            <a:pPr marL="12700">
              <a:lnSpc>
                <a:spcPts val="3100"/>
              </a:lnSpc>
            </a:pPr>
            <a:r>
              <a:rPr sz="3000" i="1" u="heavy" spc="-2" dirty="0" smtClean="0">
                <a:solidFill>
                  <a:srgbClr val="168AB9"/>
                </a:solidFill>
                <a:latin typeface="Corbel"/>
                <a:cs typeface="Corbel"/>
                <a:hlinkClick r:id="rId4"/>
              </a:rPr>
              <a:t>Flash memory</a:t>
            </a:r>
            <a:r>
              <a:rPr sz="3000" i="1" spc="-2" dirty="0" smtClean="0">
                <a:latin typeface="Corbel"/>
                <a:cs typeface="Corbel"/>
                <a:hlinkClick r:id="rId4"/>
              </a:rPr>
              <a:t>:</a:t>
            </a:r>
            <a:r>
              <a:rPr sz="3000" i="1" spc="-2" dirty="0" smtClean="0">
                <a:latin typeface="Corbel"/>
                <a:cs typeface="Corbel"/>
              </a:rPr>
              <a:t> </a:t>
            </a:r>
            <a:r>
              <a:rPr sz="3000" spc="-2" dirty="0" smtClean="0">
                <a:latin typeface="Corbel"/>
                <a:cs typeface="Corbel"/>
              </a:rPr>
              <a:t>An electronic non-volatile</a:t>
            </a:r>
            <a:endParaRPr sz="30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8236" y="1884962"/>
            <a:ext cx="239979" cy="330200"/>
          </a:xfrm>
          <a:prstGeom prst="rect">
            <a:avLst/>
          </a:prstGeom>
        </p:spPr>
        <p:txBody>
          <a:bodyPr wrap="square" lIns="0" tIns="16033" rIns="0" bIns="0" rtlCol="0">
            <a:noAutofit/>
          </a:bodyPr>
          <a:lstStyle/>
          <a:p>
            <a:pPr marL="12700">
              <a:lnSpc>
                <a:spcPts val="2525"/>
              </a:lnSpc>
            </a:pPr>
            <a:r>
              <a:rPr sz="2400" dirty="0" smtClean="0">
                <a:solidFill>
                  <a:srgbClr val="EFAC00"/>
                </a:solidFill>
                <a:latin typeface="Wingdings 2"/>
                <a:cs typeface="Wingdings 2"/>
                <a:hlinkClick r:id="rId4"/>
              </a:rPr>
              <a:t></a:t>
            </a:r>
            <a:endParaRPr sz="2400">
              <a:latin typeface="Wingdings 2"/>
              <a:cs typeface="Wingdings 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8276" y="2211202"/>
            <a:ext cx="7587449" cy="2235580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3622"/>
              </a:lnSpc>
            </a:pPr>
            <a:r>
              <a:rPr sz="3000" dirty="0" smtClean="0">
                <a:latin typeface="Corbel"/>
                <a:cs typeface="Corbel"/>
              </a:rPr>
              <a:t>com</a:t>
            </a:r>
            <a:r>
              <a:rPr sz="3000" spc="9" dirty="0" smtClean="0">
                <a:latin typeface="Corbel"/>
                <a:cs typeface="Corbel"/>
              </a:rPr>
              <a:t>p</a:t>
            </a:r>
            <a:r>
              <a:rPr sz="3000" spc="0" dirty="0" smtClean="0">
                <a:latin typeface="Corbel"/>
                <a:cs typeface="Corbel"/>
              </a:rPr>
              <a:t>uter</a:t>
            </a:r>
            <a:r>
              <a:rPr sz="3000" spc="-14" dirty="0" smtClean="0">
                <a:latin typeface="Corbel"/>
                <a:cs typeface="Corbel"/>
              </a:rPr>
              <a:t> </a:t>
            </a:r>
            <a:r>
              <a:rPr sz="3000" spc="0" dirty="0" smtClean="0">
                <a:latin typeface="Corbel"/>
                <a:cs typeface="Corbel"/>
              </a:rPr>
              <a:t>sto</a:t>
            </a:r>
            <a:r>
              <a:rPr sz="3000" spc="4" dirty="0" smtClean="0">
                <a:latin typeface="Corbel"/>
                <a:cs typeface="Corbel"/>
              </a:rPr>
              <a:t>r</a:t>
            </a:r>
            <a:r>
              <a:rPr sz="3000" spc="0" dirty="0" smtClean="0">
                <a:latin typeface="Corbel"/>
                <a:cs typeface="Corbel"/>
              </a:rPr>
              <a:t>age d</a:t>
            </a:r>
            <a:r>
              <a:rPr sz="3000" spc="-9" dirty="0" smtClean="0">
                <a:latin typeface="Corbel"/>
                <a:cs typeface="Corbel"/>
              </a:rPr>
              <a:t>e</a:t>
            </a:r>
            <a:r>
              <a:rPr sz="3000" spc="0" dirty="0" smtClean="0">
                <a:latin typeface="Corbel"/>
                <a:cs typeface="Corbel"/>
              </a:rPr>
              <a:t>vice </a:t>
            </a:r>
            <a:r>
              <a:rPr sz="3000" spc="9" dirty="0" smtClean="0">
                <a:latin typeface="Corbel"/>
                <a:cs typeface="Corbel"/>
              </a:rPr>
              <a:t>t</a:t>
            </a:r>
            <a:r>
              <a:rPr sz="3000" spc="0" dirty="0" smtClean="0">
                <a:latin typeface="Corbel"/>
                <a:cs typeface="Corbel"/>
              </a:rPr>
              <a:t>hat </a:t>
            </a:r>
            <a:r>
              <a:rPr sz="3000" spc="9" dirty="0" smtClean="0">
                <a:latin typeface="Corbel"/>
                <a:cs typeface="Corbel"/>
              </a:rPr>
              <a:t>c</a:t>
            </a:r>
            <a:r>
              <a:rPr sz="3000" spc="0" dirty="0" smtClean="0">
                <a:latin typeface="Corbel"/>
                <a:cs typeface="Corbel"/>
              </a:rPr>
              <a:t>an</a:t>
            </a:r>
            <a:r>
              <a:rPr sz="3000" spc="9" dirty="0" smtClean="0">
                <a:latin typeface="Corbel"/>
                <a:cs typeface="Corbel"/>
              </a:rPr>
              <a:t> </a:t>
            </a:r>
            <a:r>
              <a:rPr sz="3000" spc="0" dirty="0" smtClean="0">
                <a:latin typeface="Corbel"/>
                <a:cs typeface="Corbel"/>
              </a:rPr>
              <a:t>be elec</a:t>
            </a:r>
            <a:r>
              <a:rPr sz="3000" spc="4" dirty="0" smtClean="0">
                <a:latin typeface="Corbel"/>
                <a:cs typeface="Corbel"/>
              </a:rPr>
              <a:t>t</a:t>
            </a:r>
            <a:r>
              <a:rPr sz="3000" spc="0" dirty="0" smtClean="0">
                <a:latin typeface="Corbel"/>
                <a:cs typeface="Corbel"/>
              </a:rPr>
              <a:t>ri</a:t>
            </a:r>
            <a:r>
              <a:rPr sz="3000" spc="9" dirty="0" smtClean="0">
                <a:latin typeface="Corbel"/>
                <a:cs typeface="Corbel"/>
              </a:rPr>
              <a:t>c</a:t>
            </a:r>
            <a:r>
              <a:rPr sz="3000" spc="0" dirty="0" smtClean="0">
                <a:latin typeface="Corbel"/>
                <a:cs typeface="Corbel"/>
              </a:rPr>
              <a:t>ally </a:t>
            </a:r>
            <a:endParaRPr sz="3000">
              <a:latin typeface="Corbel"/>
              <a:cs typeface="Corbel"/>
            </a:endParaRPr>
          </a:p>
          <a:p>
            <a:pPr marL="12700">
              <a:lnSpc>
                <a:spcPts val="3622"/>
              </a:lnSpc>
            </a:pPr>
            <a:r>
              <a:rPr sz="3000" spc="1" dirty="0" smtClean="0">
                <a:latin typeface="Corbel"/>
                <a:cs typeface="Corbel"/>
              </a:rPr>
              <a:t>erased and reprogrammed, and works without </a:t>
            </a:r>
            <a:endParaRPr sz="3000">
              <a:latin typeface="Corbel"/>
              <a:cs typeface="Corbel"/>
            </a:endParaRPr>
          </a:p>
          <a:p>
            <a:pPr marL="12700">
              <a:lnSpc>
                <a:spcPts val="3624"/>
              </a:lnSpc>
            </a:pPr>
            <a:r>
              <a:rPr sz="3000" spc="0" dirty="0" smtClean="0">
                <a:latin typeface="Corbel"/>
                <a:cs typeface="Corbel"/>
              </a:rPr>
              <a:t>any moving parts. Examples of this are </a:t>
            </a:r>
            <a:r>
              <a:rPr sz="3000" b="1" spc="0" dirty="0" smtClean="0">
                <a:latin typeface="Corbel"/>
                <a:cs typeface="Corbel"/>
              </a:rPr>
              <a:t>USB </a:t>
            </a:r>
            <a:endParaRPr sz="3000">
              <a:latin typeface="Corbel"/>
              <a:cs typeface="Corbel"/>
            </a:endParaRPr>
          </a:p>
          <a:p>
            <a:pPr marL="12700">
              <a:lnSpc>
                <a:spcPts val="3624"/>
              </a:lnSpc>
            </a:pPr>
            <a:r>
              <a:rPr sz="3000" b="1" spc="0" dirty="0" smtClean="0">
                <a:latin typeface="Corbel"/>
                <a:cs typeface="Corbel"/>
              </a:rPr>
              <a:t>flash drives </a:t>
            </a:r>
            <a:r>
              <a:rPr sz="3000" spc="0" dirty="0" smtClean="0">
                <a:latin typeface="Corbel"/>
                <a:cs typeface="Corbel"/>
              </a:rPr>
              <a:t>and </a:t>
            </a:r>
            <a:r>
              <a:rPr sz="3000" b="1" spc="0" dirty="0" smtClean="0">
                <a:latin typeface="Corbel"/>
                <a:cs typeface="Corbel"/>
              </a:rPr>
              <a:t>solid state drives</a:t>
            </a:r>
            <a:r>
              <a:rPr sz="3000" spc="0" dirty="0" smtClean="0">
                <a:latin typeface="Corbel"/>
                <a:cs typeface="Corbel"/>
              </a:rPr>
              <a:t>.</a:t>
            </a:r>
            <a:endParaRPr sz="3000">
              <a:latin typeface="Corbel"/>
              <a:cs typeface="Corbel"/>
            </a:endParaRPr>
          </a:p>
          <a:p>
            <a:pPr marL="12700" marR="56309">
              <a:lnSpc>
                <a:spcPct val="100626"/>
              </a:lnSpc>
              <a:spcBef>
                <a:spcPts val="1555"/>
              </a:spcBef>
            </a:pPr>
            <a:r>
              <a:rPr sz="3000" i="1" u="heavy" spc="0" dirty="0" smtClean="0">
                <a:solidFill>
                  <a:srgbClr val="168AB9"/>
                </a:solidFill>
                <a:latin typeface="Corbel"/>
                <a:cs typeface="Corbel"/>
                <a:hlinkClick r:id="rId5"/>
              </a:rPr>
              <a:t>Optical disc</a:t>
            </a:r>
            <a:r>
              <a:rPr sz="3000" i="1" spc="0" dirty="0" smtClean="0">
                <a:latin typeface="Corbel"/>
                <a:cs typeface="Corbel"/>
                <a:hlinkClick r:id="rId5"/>
              </a:rPr>
              <a:t>:</a:t>
            </a:r>
            <a:r>
              <a:rPr sz="3000" i="1" spc="0" dirty="0" smtClean="0">
                <a:latin typeface="Corbel"/>
                <a:cs typeface="Corbel"/>
              </a:rPr>
              <a:t> </a:t>
            </a:r>
            <a:r>
              <a:rPr sz="3000" spc="0" dirty="0" smtClean="0">
                <a:latin typeface="Corbel"/>
                <a:cs typeface="Corbel"/>
              </a:rPr>
              <a:t>Its a storage medium from which</a:t>
            </a:r>
            <a:endParaRPr sz="30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236" y="4079903"/>
            <a:ext cx="239979" cy="330200"/>
          </a:xfrm>
          <a:prstGeom prst="rect">
            <a:avLst/>
          </a:prstGeom>
        </p:spPr>
        <p:txBody>
          <a:bodyPr wrap="square" lIns="0" tIns="16033" rIns="0" bIns="0" rtlCol="0">
            <a:noAutofit/>
          </a:bodyPr>
          <a:lstStyle/>
          <a:p>
            <a:pPr marL="12700">
              <a:lnSpc>
                <a:spcPts val="2525"/>
              </a:lnSpc>
            </a:pPr>
            <a:r>
              <a:rPr sz="2400" dirty="0" smtClean="0">
                <a:solidFill>
                  <a:srgbClr val="EFAC00"/>
                </a:solidFill>
                <a:latin typeface="Wingdings 2"/>
                <a:cs typeface="Wingdings 2"/>
                <a:hlinkClick r:id="rId5"/>
              </a:rPr>
              <a:t></a:t>
            </a:r>
            <a:endParaRPr sz="2400">
              <a:latin typeface="Wingdings 2"/>
              <a:cs typeface="Wingdings 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4572000"/>
            <a:ext cx="7486871" cy="1503959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>
              <a:lnSpc>
                <a:spcPts val="3622"/>
              </a:lnSpc>
            </a:pPr>
            <a:r>
              <a:rPr sz="3000" spc="2" dirty="0" smtClean="0">
                <a:latin typeface="Corbel"/>
                <a:cs typeface="Corbel"/>
              </a:rPr>
              <a:t>data is read and to which it is written by lasers. </a:t>
            </a:r>
            <a:endParaRPr sz="3000">
              <a:latin typeface="Corbel"/>
              <a:cs typeface="Corbel"/>
            </a:endParaRPr>
          </a:p>
          <a:p>
            <a:pPr marL="12700">
              <a:lnSpc>
                <a:spcPts val="3622"/>
              </a:lnSpc>
            </a:pPr>
            <a:r>
              <a:rPr sz="3000" dirty="0" smtClean="0">
                <a:latin typeface="Corbel"/>
                <a:cs typeface="Corbel"/>
              </a:rPr>
              <a:t>There</a:t>
            </a:r>
            <a:r>
              <a:rPr sz="3000" spc="-19" dirty="0" smtClean="0">
                <a:latin typeface="Corbel"/>
                <a:cs typeface="Corbel"/>
              </a:rPr>
              <a:t> </a:t>
            </a:r>
            <a:r>
              <a:rPr sz="3000" spc="0" dirty="0" smtClean="0">
                <a:latin typeface="Corbel"/>
                <a:cs typeface="Corbel"/>
              </a:rPr>
              <a:t>are</a:t>
            </a:r>
            <a:r>
              <a:rPr sz="3000" spc="-9" dirty="0" smtClean="0">
                <a:latin typeface="Corbel"/>
                <a:cs typeface="Corbel"/>
              </a:rPr>
              <a:t> </a:t>
            </a:r>
            <a:r>
              <a:rPr sz="3000" spc="0" dirty="0" smtClean="0">
                <a:latin typeface="Corbel"/>
                <a:cs typeface="Corbel"/>
              </a:rPr>
              <a:t>three</a:t>
            </a:r>
            <a:r>
              <a:rPr sz="3000" spc="-19" dirty="0" smtClean="0">
                <a:latin typeface="Corbel"/>
                <a:cs typeface="Corbel"/>
              </a:rPr>
              <a:t> </a:t>
            </a:r>
            <a:r>
              <a:rPr sz="3000" spc="0" dirty="0" smtClean="0">
                <a:latin typeface="Corbel"/>
                <a:cs typeface="Corbel"/>
              </a:rPr>
              <a:t>ba</a:t>
            </a:r>
            <a:r>
              <a:rPr sz="3000" spc="-9" dirty="0" smtClean="0">
                <a:latin typeface="Corbel"/>
                <a:cs typeface="Corbel"/>
              </a:rPr>
              <a:t>s</a:t>
            </a:r>
            <a:r>
              <a:rPr sz="3000" spc="0" dirty="0" smtClean="0">
                <a:latin typeface="Corbel"/>
                <a:cs typeface="Corbel"/>
              </a:rPr>
              <a:t>ic</a:t>
            </a:r>
            <a:r>
              <a:rPr sz="3000" spc="9" dirty="0" smtClean="0">
                <a:latin typeface="Corbel"/>
                <a:cs typeface="Corbel"/>
              </a:rPr>
              <a:t> </a:t>
            </a:r>
            <a:r>
              <a:rPr sz="3000" spc="0" dirty="0" smtClean="0">
                <a:latin typeface="Corbel"/>
                <a:cs typeface="Corbel"/>
              </a:rPr>
              <a:t>types</a:t>
            </a:r>
            <a:r>
              <a:rPr sz="3000" spc="-14" dirty="0" smtClean="0">
                <a:latin typeface="Corbel"/>
                <a:cs typeface="Corbel"/>
              </a:rPr>
              <a:t> </a:t>
            </a:r>
            <a:r>
              <a:rPr sz="3000" spc="0" dirty="0" smtClean="0">
                <a:latin typeface="Corbel"/>
                <a:cs typeface="Corbel"/>
              </a:rPr>
              <a:t>of</a:t>
            </a:r>
            <a:r>
              <a:rPr sz="3000" spc="-9" dirty="0" smtClean="0">
                <a:latin typeface="Corbel"/>
                <a:cs typeface="Corbel"/>
              </a:rPr>
              <a:t> </a:t>
            </a:r>
            <a:r>
              <a:rPr sz="3000" spc="0" dirty="0" smtClean="0">
                <a:latin typeface="Corbel"/>
                <a:cs typeface="Corbel"/>
              </a:rPr>
              <a:t>optical disk</a:t>
            </a:r>
            <a:r>
              <a:rPr sz="3000" spc="19" dirty="0" smtClean="0">
                <a:latin typeface="Corbel"/>
                <a:cs typeface="Corbel"/>
              </a:rPr>
              <a:t>s</a:t>
            </a:r>
            <a:r>
              <a:rPr sz="3000" spc="0" dirty="0" smtClean="0">
                <a:latin typeface="Corbel"/>
                <a:cs typeface="Corbel"/>
              </a:rPr>
              <a:t>:</a:t>
            </a:r>
            <a:r>
              <a:rPr sz="3000" spc="-119" dirty="0" smtClean="0">
                <a:latin typeface="Corbel"/>
                <a:cs typeface="Corbel"/>
              </a:rPr>
              <a:t> </a:t>
            </a:r>
            <a:r>
              <a:rPr sz="3000" spc="-4" dirty="0" smtClean="0">
                <a:latin typeface="Corbel"/>
                <a:cs typeface="Corbel"/>
              </a:rPr>
              <a:t>C</a:t>
            </a:r>
            <a:r>
              <a:rPr sz="3000" spc="0" dirty="0" smtClean="0">
                <a:latin typeface="Corbel"/>
                <a:cs typeface="Corbel"/>
              </a:rPr>
              <a:t>D- </a:t>
            </a:r>
            <a:endParaRPr sz="3000">
              <a:latin typeface="Corbel"/>
              <a:cs typeface="Corbel"/>
            </a:endParaRPr>
          </a:p>
          <a:p>
            <a:pPr marL="12700">
              <a:lnSpc>
                <a:spcPts val="3622"/>
              </a:lnSpc>
            </a:pPr>
            <a:r>
              <a:rPr sz="3000" spc="-4" dirty="0" smtClean="0">
                <a:latin typeface="Corbel"/>
                <a:cs typeface="Corbel"/>
              </a:rPr>
              <a:t>ROM (read-only), WORM (write-once read- </a:t>
            </a:r>
            <a:endParaRPr sz="3000">
              <a:latin typeface="Corbel"/>
              <a:cs typeface="Corbel"/>
            </a:endParaRPr>
          </a:p>
          <a:p>
            <a:pPr marL="12700">
              <a:lnSpc>
                <a:spcPts val="3622"/>
              </a:lnSpc>
            </a:pPr>
            <a:r>
              <a:rPr sz="3000" spc="0" dirty="0" smtClean="0">
                <a:latin typeface="Corbel"/>
                <a:cs typeface="Corbel"/>
              </a:rPr>
              <a:t>many) &amp; EO (erasable optical disks).</a:t>
            </a:r>
            <a:endParaRPr sz="30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4112" y="6586882"/>
            <a:ext cx="1425711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2" dirty="0" smtClean="0">
                <a:solidFill>
                  <a:srgbClr val="3E3E3E"/>
                </a:solidFill>
                <a:latin typeface="Corbel"/>
                <a:cs typeface="Corbel"/>
              </a:rPr>
              <a:t>Memory Organisation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82355" y="6586882"/>
            <a:ext cx="197979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25" dirty="0" smtClean="0">
                <a:solidFill>
                  <a:srgbClr val="3E3E3E"/>
                </a:solidFill>
                <a:latin typeface="Corbel"/>
                <a:cs typeface="Corbel"/>
              </a:rPr>
              <a:t>20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71063" y="2001774"/>
            <a:ext cx="74754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2061875" y="4196715"/>
            <a:ext cx="76296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object 123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545592" y="559308"/>
            <a:ext cx="6534911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112258" y="2372105"/>
            <a:ext cx="2756789" cy="426720"/>
          </a:xfrm>
          <a:custGeom>
            <a:avLst/>
            <a:gdLst/>
            <a:ahLst/>
            <a:cxnLst/>
            <a:rect l="l" t="t" r="r" b="b"/>
            <a:pathLst>
              <a:path w="2756789" h="426720">
                <a:moveTo>
                  <a:pt x="0" y="0"/>
                </a:moveTo>
                <a:lnTo>
                  <a:pt x="1654047" y="71120"/>
                </a:lnTo>
                <a:lnTo>
                  <a:pt x="2205482" y="213360"/>
                </a:lnTo>
                <a:lnTo>
                  <a:pt x="2756789" y="42672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953762" y="2583941"/>
            <a:ext cx="2758313" cy="355092"/>
          </a:xfrm>
          <a:custGeom>
            <a:avLst/>
            <a:gdLst/>
            <a:ahLst/>
            <a:cxnLst/>
            <a:rect l="l" t="t" r="r" b="b"/>
            <a:pathLst>
              <a:path w="2758313" h="355092">
                <a:moveTo>
                  <a:pt x="0" y="0"/>
                </a:moveTo>
                <a:lnTo>
                  <a:pt x="1812670" y="70993"/>
                </a:lnTo>
                <a:lnTo>
                  <a:pt x="2364232" y="213106"/>
                </a:lnTo>
                <a:lnTo>
                  <a:pt x="2758313" y="355092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686550" y="2797302"/>
            <a:ext cx="1182497" cy="356615"/>
          </a:xfrm>
          <a:custGeom>
            <a:avLst/>
            <a:gdLst/>
            <a:ahLst/>
            <a:cxnLst/>
            <a:rect l="l" t="t" r="r" b="b"/>
            <a:pathLst>
              <a:path w="1182497" h="356615">
                <a:moveTo>
                  <a:pt x="1182497" y="0"/>
                </a:moveTo>
                <a:lnTo>
                  <a:pt x="1024890" y="142621"/>
                </a:lnTo>
                <a:lnTo>
                  <a:pt x="472948" y="285369"/>
                </a:lnTo>
                <a:lnTo>
                  <a:pt x="0" y="356615"/>
                </a:lnTo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977890" y="2797302"/>
            <a:ext cx="1891157" cy="566927"/>
          </a:xfrm>
          <a:custGeom>
            <a:avLst/>
            <a:gdLst/>
            <a:ahLst/>
            <a:cxnLst/>
            <a:rect l="l" t="t" r="r" b="b"/>
            <a:pathLst>
              <a:path w="1891157" h="566927">
                <a:moveTo>
                  <a:pt x="1891157" y="0"/>
                </a:moveTo>
                <a:lnTo>
                  <a:pt x="1891157" y="283463"/>
                </a:lnTo>
                <a:lnTo>
                  <a:pt x="1812416" y="354330"/>
                </a:lnTo>
                <a:lnTo>
                  <a:pt x="1181989" y="496062"/>
                </a:lnTo>
                <a:lnTo>
                  <a:pt x="630428" y="566927"/>
                </a:lnTo>
                <a:lnTo>
                  <a:pt x="0" y="566927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662422" y="3152394"/>
            <a:ext cx="1025525" cy="141731"/>
          </a:xfrm>
          <a:custGeom>
            <a:avLst/>
            <a:gdLst/>
            <a:ahLst/>
            <a:cxnLst/>
            <a:rect l="l" t="t" r="r" b="b"/>
            <a:pathLst>
              <a:path w="1025525" h="141731">
                <a:moveTo>
                  <a:pt x="1025525" y="0"/>
                </a:moveTo>
                <a:lnTo>
                  <a:pt x="315594" y="0"/>
                </a:lnTo>
                <a:lnTo>
                  <a:pt x="78866" y="70865"/>
                </a:lnTo>
                <a:lnTo>
                  <a:pt x="0" y="141731"/>
                </a:lnTo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886450" y="3376422"/>
            <a:ext cx="117348" cy="60960"/>
          </a:xfrm>
          <a:custGeom>
            <a:avLst/>
            <a:gdLst/>
            <a:ahLst/>
            <a:cxnLst/>
            <a:rect l="l" t="t" r="r" b="b"/>
            <a:pathLst>
              <a:path w="117348" h="60960">
                <a:moveTo>
                  <a:pt x="117348" y="0"/>
                </a:moveTo>
                <a:lnTo>
                  <a:pt x="0" y="6096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670042" y="3306317"/>
            <a:ext cx="0" cy="260604"/>
          </a:xfrm>
          <a:custGeom>
            <a:avLst/>
            <a:gdLst/>
            <a:ahLst/>
            <a:cxnLst/>
            <a:rect l="l" t="t" r="r" b="b"/>
            <a:pathLst>
              <a:path h="260604">
                <a:moveTo>
                  <a:pt x="0" y="0"/>
                </a:moveTo>
                <a:lnTo>
                  <a:pt x="0" y="260604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662422" y="3295650"/>
            <a:ext cx="1734184" cy="283463"/>
          </a:xfrm>
          <a:custGeom>
            <a:avLst/>
            <a:gdLst/>
            <a:ahLst/>
            <a:cxnLst/>
            <a:rect l="l" t="t" r="r" b="b"/>
            <a:pathLst>
              <a:path w="1734184" h="283463">
                <a:moveTo>
                  <a:pt x="0" y="0"/>
                </a:moveTo>
                <a:lnTo>
                  <a:pt x="315340" y="141732"/>
                </a:lnTo>
                <a:lnTo>
                  <a:pt x="630554" y="212598"/>
                </a:lnTo>
                <a:lnTo>
                  <a:pt x="1734184" y="283463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662422" y="3577590"/>
            <a:ext cx="1418717" cy="214884"/>
          </a:xfrm>
          <a:custGeom>
            <a:avLst/>
            <a:gdLst/>
            <a:ahLst/>
            <a:cxnLst/>
            <a:rect l="l" t="t" r="r" b="b"/>
            <a:pathLst>
              <a:path w="1418717" h="214884">
                <a:moveTo>
                  <a:pt x="0" y="0"/>
                </a:moveTo>
                <a:lnTo>
                  <a:pt x="315213" y="143256"/>
                </a:lnTo>
                <a:lnTo>
                  <a:pt x="709422" y="214884"/>
                </a:lnTo>
                <a:lnTo>
                  <a:pt x="1418717" y="214884"/>
                </a:lnTo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069074" y="3591305"/>
            <a:ext cx="353568" cy="201168"/>
          </a:xfrm>
          <a:custGeom>
            <a:avLst/>
            <a:gdLst/>
            <a:ahLst/>
            <a:cxnLst/>
            <a:rect l="l" t="t" r="r" b="b"/>
            <a:pathLst>
              <a:path w="353568" h="201168">
                <a:moveTo>
                  <a:pt x="353568" y="0"/>
                </a:moveTo>
                <a:lnTo>
                  <a:pt x="0" y="201168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160514" y="3577590"/>
            <a:ext cx="472312" cy="214884"/>
          </a:xfrm>
          <a:custGeom>
            <a:avLst/>
            <a:gdLst/>
            <a:ahLst/>
            <a:cxnLst/>
            <a:rect l="l" t="t" r="r" b="b"/>
            <a:pathLst>
              <a:path w="472312" h="214884">
                <a:moveTo>
                  <a:pt x="314832" y="0"/>
                </a:moveTo>
                <a:lnTo>
                  <a:pt x="0" y="214884"/>
                </a:lnTo>
                <a:lnTo>
                  <a:pt x="472312" y="214884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474458" y="3577590"/>
            <a:ext cx="630809" cy="214884"/>
          </a:xfrm>
          <a:custGeom>
            <a:avLst/>
            <a:gdLst/>
            <a:ahLst/>
            <a:cxnLst/>
            <a:rect l="l" t="t" r="r" b="b"/>
            <a:pathLst>
              <a:path w="630809" h="214884">
                <a:moveTo>
                  <a:pt x="0" y="0"/>
                </a:moveTo>
                <a:lnTo>
                  <a:pt x="630809" y="0"/>
                </a:lnTo>
                <a:lnTo>
                  <a:pt x="630809" y="214884"/>
                </a:lnTo>
                <a:lnTo>
                  <a:pt x="157734" y="214884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862322" y="2382774"/>
            <a:ext cx="198119" cy="201167"/>
          </a:xfrm>
          <a:custGeom>
            <a:avLst/>
            <a:gdLst/>
            <a:ahLst/>
            <a:cxnLst/>
            <a:rect l="l" t="t" r="r" b="b"/>
            <a:pathLst>
              <a:path w="198119" h="201167">
                <a:moveTo>
                  <a:pt x="198119" y="0"/>
                </a:moveTo>
                <a:lnTo>
                  <a:pt x="0" y="201167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941570" y="2382774"/>
            <a:ext cx="196595" cy="201167"/>
          </a:xfrm>
          <a:custGeom>
            <a:avLst/>
            <a:gdLst/>
            <a:ahLst/>
            <a:cxnLst/>
            <a:rect l="l" t="t" r="r" b="b"/>
            <a:pathLst>
              <a:path w="196595" h="201167">
                <a:moveTo>
                  <a:pt x="196595" y="0"/>
                </a:moveTo>
                <a:lnTo>
                  <a:pt x="0" y="201167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725162" y="2382774"/>
            <a:ext cx="0" cy="190500"/>
          </a:xfrm>
          <a:custGeom>
            <a:avLst/>
            <a:gdLst/>
            <a:ahLst/>
            <a:cxnLst/>
            <a:rect l="l" t="t" r="r" b="b"/>
            <a:pathLst>
              <a:path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705350" y="2376678"/>
            <a:ext cx="341375" cy="0"/>
          </a:xfrm>
          <a:custGeom>
            <a:avLst/>
            <a:gdLst/>
            <a:ahLst/>
            <a:cxnLst/>
            <a:rect l="l" t="t" r="r" b="b"/>
            <a:pathLst>
              <a:path w="341375">
                <a:moveTo>
                  <a:pt x="341375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705350" y="2590038"/>
            <a:ext cx="184403" cy="0"/>
          </a:xfrm>
          <a:custGeom>
            <a:avLst/>
            <a:gdLst/>
            <a:ahLst/>
            <a:cxnLst/>
            <a:rect l="l" t="t" r="r" b="b"/>
            <a:pathLst>
              <a:path w="184403">
                <a:moveTo>
                  <a:pt x="184403" y="0"/>
                </a:moveTo>
                <a:lnTo>
                  <a:pt x="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5513070" y="2382774"/>
            <a:ext cx="0" cy="190500"/>
          </a:xfrm>
          <a:custGeom>
            <a:avLst/>
            <a:gdLst/>
            <a:ahLst/>
            <a:cxnLst/>
            <a:rect l="l" t="t" r="r" b="b"/>
            <a:pathLst>
              <a:path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747766" y="2454402"/>
            <a:ext cx="0" cy="118872"/>
          </a:xfrm>
          <a:custGeom>
            <a:avLst/>
            <a:gdLst/>
            <a:ahLst/>
            <a:cxnLst/>
            <a:rect l="l" t="t" r="r" b="b"/>
            <a:pathLst>
              <a:path h="118872">
                <a:moveTo>
                  <a:pt x="0" y="0"/>
                </a:moveTo>
                <a:lnTo>
                  <a:pt x="0" y="118872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985510" y="2454402"/>
            <a:ext cx="0" cy="118872"/>
          </a:xfrm>
          <a:custGeom>
            <a:avLst/>
            <a:gdLst/>
            <a:ahLst/>
            <a:cxnLst/>
            <a:rect l="l" t="t" r="r" b="b"/>
            <a:pathLst>
              <a:path h="118872">
                <a:moveTo>
                  <a:pt x="0" y="0"/>
                </a:moveTo>
                <a:lnTo>
                  <a:pt x="0" y="118872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6300978" y="2454402"/>
            <a:ext cx="0" cy="118872"/>
          </a:xfrm>
          <a:custGeom>
            <a:avLst/>
            <a:gdLst/>
            <a:ahLst/>
            <a:cxnLst/>
            <a:rect l="l" t="t" r="r" b="b"/>
            <a:pathLst>
              <a:path h="118872">
                <a:moveTo>
                  <a:pt x="0" y="0"/>
                </a:moveTo>
                <a:lnTo>
                  <a:pt x="0" y="118872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537198" y="2454402"/>
            <a:ext cx="0" cy="188975"/>
          </a:xfrm>
          <a:custGeom>
            <a:avLst/>
            <a:gdLst/>
            <a:ahLst/>
            <a:cxnLst/>
            <a:rect l="l" t="t" r="r" b="b"/>
            <a:pathLst>
              <a:path h="188975">
                <a:moveTo>
                  <a:pt x="0" y="0"/>
                </a:moveTo>
                <a:lnTo>
                  <a:pt x="0" y="188975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771894" y="2454402"/>
            <a:ext cx="0" cy="188975"/>
          </a:xfrm>
          <a:custGeom>
            <a:avLst/>
            <a:gdLst/>
            <a:ahLst/>
            <a:cxnLst/>
            <a:rect l="l" t="t" r="r" b="b"/>
            <a:pathLst>
              <a:path h="188975">
                <a:moveTo>
                  <a:pt x="0" y="0"/>
                </a:moveTo>
                <a:lnTo>
                  <a:pt x="0" y="188975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009638" y="2526029"/>
            <a:ext cx="0" cy="188975"/>
          </a:xfrm>
          <a:custGeom>
            <a:avLst/>
            <a:gdLst/>
            <a:ahLst/>
            <a:cxnLst/>
            <a:rect l="l" t="t" r="r" b="b"/>
            <a:pathLst>
              <a:path h="188975">
                <a:moveTo>
                  <a:pt x="0" y="0"/>
                </a:moveTo>
                <a:lnTo>
                  <a:pt x="0" y="188975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7245858" y="2596134"/>
            <a:ext cx="0" cy="188975"/>
          </a:xfrm>
          <a:custGeom>
            <a:avLst/>
            <a:gdLst/>
            <a:ahLst/>
            <a:cxnLst/>
            <a:rect l="l" t="t" r="r" b="b"/>
            <a:pathLst>
              <a:path h="188975">
                <a:moveTo>
                  <a:pt x="0" y="0"/>
                </a:moveTo>
                <a:lnTo>
                  <a:pt x="0" y="188975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7559802" y="2737866"/>
            <a:ext cx="0" cy="120396"/>
          </a:xfrm>
          <a:custGeom>
            <a:avLst/>
            <a:gdLst/>
            <a:ahLst/>
            <a:cxnLst/>
            <a:rect l="l" t="t" r="r" b="b"/>
            <a:pathLst>
              <a:path h="120396">
                <a:moveTo>
                  <a:pt x="0" y="0"/>
                </a:moveTo>
                <a:lnTo>
                  <a:pt x="0" y="120396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7796022" y="2807970"/>
            <a:ext cx="0" cy="50291"/>
          </a:xfrm>
          <a:custGeom>
            <a:avLst/>
            <a:gdLst/>
            <a:ahLst/>
            <a:cxnLst/>
            <a:rect l="l" t="t" r="r" b="b"/>
            <a:pathLst>
              <a:path h="50291">
                <a:moveTo>
                  <a:pt x="0" y="0"/>
                </a:moveTo>
                <a:lnTo>
                  <a:pt x="0" y="50291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639050" y="2951226"/>
            <a:ext cx="0" cy="190500"/>
          </a:xfrm>
          <a:custGeom>
            <a:avLst/>
            <a:gdLst/>
            <a:ahLst/>
            <a:cxnLst/>
            <a:rect l="l" t="t" r="r" b="b"/>
            <a:pathLst>
              <a:path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7482078" y="3022854"/>
            <a:ext cx="0" cy="188975"/>
          </a:xfrm>
          <a:custGeom>
            <a:avLst/>
            <a:gdLst/>
            <a:ahLst/>
            <a:cxnLst/>
            <a:rect l="l" t="t" r="r" b="b"/>
            <a:pathLst>
              <a:path h="188975">
                <a:moveTo>
                  <a:pt x="0" y="0"/>
                </a:moveTo>
                <a:lnTo>
                  <a:pt x="0" y="188975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7245858" y="3092958"/>
            <a:ext cx="0" cy="190500"/>
          </a:xfrm>
          <a:custGeom>
            <a:avLst/>
            <a:gdLst/>
            <a:ahLst/>
            <a:cxnLst/>
            <a:rect l="l" t="t" r="r" b="b"/>
            <a:pathLst>
              <a:path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7009638" y="3166110"/>
            <a:ext cx="0" cy="117348"/>
          </a:xfrm>
          <a:custGeom>
            <a:avLst/>
            <a:gdLst/>
            <a:ahLst/>
            <a:cxnLst/>
            <a:rect l="l" t="t" r="r" b="b"/>
            <a:pathLst>
              <a:path h="117348">
                <a:moveTo>
                  <a:pt x="0" y="0"/>
                </a:moveTo>
                <a:lnTo>
                  <a:pt x="0" y="117348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6771894" y="3166110"/>
            <a:ext cx="0" cy="187451"/>
          </a:xfrm>
          <a:custGeom>
            <a:avLst/>
            <a:gdLst/>
            <a:ahLst/>
            <a:cxnLst/>
            <a:rect l="l" t="t" r="r" b="b"/>
            <a:pathLst>
              <a:path h="187451">
                <a:moveTo>
                  <a:pt x="0" y="0"/>
                </a:moveTo>
                <a:lnTo>
                  <a:pt x="0" y="187451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6378702" y="3166110"/>
            <a:ext cx="0" cy="187451"/>
          </a:xfrm>
          <a:custGeom>
            <a:avLst/>
            <a:gdLst/>
            <a:ahLst/>
            <a:cxnLst/>
            <a:rect l="l" t="t" r="r" b="b"/>
            <a:pathLst>
              <a:path h="187451">
                <a:moveTo>
                  <a:pt x="0" y="0"/>
                </a:moveTo>
                <a:lnTo>
                  <a:pt x="0" y="187451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6063234" y="3166110"/>
            <a:ext cx="0" cy="187451"/>
          </a:xfrm>
          <a:custGeom>
            <a:avLst/>
            <a:gdLst/>
            <a:ahLst/>
            <a:cxnLst/>
            <a:rect l="l" t="t" r="r" b="b"/>
            <a:pathLst>
              <a:path h="187451">
                <a:moveTo>
                  <a:pt x="0" y="0"/>
                </a:moveTo>
                <a:lnTo>
                  <a:pt x="0" y="187451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5886450" y="3376422"/>
            <a:ext cx="117348" cy="60960"/>
          </a:xfrm>
          <a:custGeom>
            <a:avLst/>
            <a:gdLst/>
            <a:ahLst/>
            <a:cxnLst/>
            <a:rect l="l" t="t" r="r" b="b"/>
            <a:pathLst>
              <a:path w="117348" h="60960">
                <a:moveTo>
                  <a:pt x="117348" y="0"/>
                </a:moveTo>
                <a:lnTo>
                  <a:pt x="0" y="6096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5906262" y="3236214"/>
            <a:ext cx="0" cy="187451"/>
          </a:xfrm>
          <a:custGeom>
            <a:avLst/>
            <a:gdLst/>
            <a:ahLst/>
            <a:cxnLst/>
            <a:rect l="l" t="t" r="r" b="b"/>
            <a:pathLst>
              <a:path h="187451">
                <a:moveTo>
                  <a:pt x="0" y="0"/>
                </a:moveTo>
                <a:lnTo>
                  <a:pt x="0" y="187451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5505450" y="2228850"/>
            <a:ext cx="787780" cy="141732"/>
          </a:xfrm>
          <a:custGeom>
            <a:avLst/>
            <a:gdLst/>
            <a:ahLst/>
            <a:cxnLst/>
            <a:rect l="l" t="t" r="r" b="b"/>
            <a:pathLst>
              <a:path w="787780" h="141732">
                <a:moveTo>
                  <a:pt x="0" y="70865"/>
                </a:moveTo>
                <a:lnTo>
                  <a:pt x="78739" y="0"/>
                </a:lnTo>
                <a:lnTo>
                  <a:pt x="709040" y="70865"/>
                </a:lnTo>
                <a:lnTo>
                  <a:pt x="787780" y="141732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6529578" y="2300478"/>
            <a:ext cx="473837" cy="141732"/>
          </a:xfrm>
          <a:custGeom>
            <a:avLst/>
            <a:gdLst/>
            <a:ahLst/>
            <a:cxnLst/>
            <a:rect l="l" t="t" r="r" b="b"/>
            <a:pathLst>
              <a:path w="473837" h="141732">
                <a:moveTo>
                  <a:pt x="0" y="70866"/>
                </a:moveTo>
                <a:lnTo>
                  <a:pt x="78994" y="0"/>
                </a:lnTo>
                <a:lnTo>
                  <a:pt x="394843" y="70866"/>
                </a:lnTo>
                <a:lnTo>
                  <a:pt x="473837" y="141732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7317485" y="2443734"/>
            <a:ext cx="236093" cy="140207"/>
          </a:xfrm>
          <a:custGeom>
            <a:avLst/>
            <a:gdLst/>
            <a:ahLst/>
            <a:cxnLst/>
            <a:rect l="l" t="t" r="r" b="b"/>
            <a:pathLst>
              <a:path w="236093" h="140207">
                <a:moveTo>
                  <a:pt x="0" y="70103"/>
                </a:moveTo>
                <a:lnTo>
                  <a:pt x="78740" y="0"/>
                </a:lnTo>
                <a:lnTo>
                  <a:pt x="236093" y="70103"/>
                </a:lnTo>
                <a:lnTo>
                  <a:pt x="236093" y="140207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7710678" y="3012186"/>
            <a:ext cx="316865" cy="281939"/>
          </a:xfrm>
          <a:custGeom>
            <a:avLst/>
            <a:gdLst/>
            <a:ahLst/>
            <a:cxnLst/>
            <a:rect l="l" t="t" r="r" b="b"/>
            <a:pathLst>
              <a:path w="316865" h="281939">
                <a:moveTo>
                  <a:pt x="0" y="211454"/>
                </a:moveTo>
                <a:lnTo>
                  <a:pt x="79248" y="281939"/>
                </a:lnTo>
                <a:lnTo>
                  <a:pt x="316865" y="70485"/>
                </a:lnTo>
                <a:lnTo>
                  <a:pt x="237617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7002018" y="3295650"/>
            <a:ext cx="472312" cy="141732"/>
          </a:xfrm>
          <a:custGeom>
            <a:avLst/>
            <a:gdLst/>
            <a:ahLst/>
            <a:cxnLst/>
            <a:rect l="l" t="t" r="r" b="b"/>
            <a:pathLst>
              <a:path w="472312" h="141732">
                <a:moveTo>
                  <a:pt x="472312" y="0"/>
                </a:moveTo>
                <a:lnTo>
                  <a:pt x="393573" y="70865"/>
                </a:lnTo>
                <a:lnTo>
                  <a:pt x="78739" y="141732"/>
                </a:lnTo>
                <a:lnTo>
                  <a:pt x="0" y="70865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6057138" y="3012186"/>
            <a:ext cx="708533" cy="70103"/>
          </a:xfrm>
          <a:custGeom>
            <a:avLst/>
            <a:gdLst/>
            <a:ahLst/>
            <a:cxnLst/>
            <a:rect l="l" t="t" r="r" b="b"/>
            <a:pathLst>
              <a:path w="708533" h="70103">
                <a:moveTo>
                  <a:pt x="708533" y="70103"/>
                </a:moveTo>
                <a:lnTo>
                  <a:pt x="629792" y="0"/>
                </a:lnTo>
                <a:lnTo>
                  <a:pt x="78739" y="0"/>
                </a:lnTo>
                <a:lnTo>
                  <a:pt x="0" y="70103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5289042" y="2430017"/>
            <a:ext cx="131063" cy="736092"/>
          </a:xfrm>
          <a:custGeom>
            <a:avLst/>
            <a:gdLst/>
            <a:ahLst/>
            <a:cxnLst/>
            <a:rect l="l" t="t" r="r" b="b"/>
            <a:pathLst>
              <a:path w="131063" h="736092">
                <a:moveTo>
                  <a:pt x="0" y="736092"/>
                </a:moveTo>
                <a:lnTo>
                  <a:pt x="131063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5344668" y="2449067"/>
            <a:ext cx="103632" cy="170687"/>
          </a:xfrm>
          <a:custGeom>
            <a:avLst/>
            <a:gdLst/>
            <a:ahLst/>
            <a:cxnLst/>
            <a:rect l="l" t="t" r="r" b="b"/>
            <a:pathLst>
              <a:path w="103632" h="170687">
                <a:moveTo>
                  <a:pt x="103632" y="170307"/>
                </a:moveTo>
                <a:lnTo>
                  <a:pt x="90424" y="0"/>
                </a:lnTo>
                <a:lnTo>
                  <a:pt x="0" y="150241"/>
                </a:lnTo>
                <a:lnTo>
                  <a:pt x="3442" y="151866"/>
                </a:lnTo>
                <a:lnTo>
                  <a:pt x="15144" y="156813"/>
                </a:lnTo>
                <a:lnTo>
                  <a:pt x="27153" y="161019"/>
                </a:lnTo>
                <a:lnTo>
                  <a:pt x="39429" y="164479"/>
                </a:lnTo>
                <a:lnTo>
                  <a:pt x="51933" y="167183"/>
                </a:lnTo>
                <a:lnTo>
                  <a:pt x="64626" y="169125"/>
                </a:lnTo>
                <a:lnTo>
                  <a:pt x="77470" y="170296"/>
                </a:lnTo>
                <a:lnTo>
                  <a:pt x="90424" y="170687"/>
                </a:lnTo>
                <a:lnTo>
                  <a:pt x="99187" y="170561"/>
                </a:lnTo>
                <a:lnTo>
                  <a:pt x="103632" y="1703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5203698" y="3169158"/>
            <a:ext cx="762000" cy="120395"/>
          </a:xfrm>
          <a:custGeom>
            <a:avLst/>
            <a:gdLst/>
            <a:ahLst/>
            <a:cxnLst/>
            <a:rect l="l" t="t" r="r" b="b"/>
            <a:pathLst>
              <a:path w="762000" h="120395">
                <a:moveTo>
                  <a:pt x="0" y="0"/>
                </a:moveTo>
                <a:lnTo>
                  <a:pt x="762000" y="120395"/>
                </a:lnTo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5782056" y="3211067"/>
            <a:ext cx="190500" cy="92964"/>
          </a:xfrm>
          <a:custGeom>
            <a:avLst/>
            <a:gdLst/>
            <a:ahLst/>
            <a:cxnLst/>
            <a:rect l="l" t="t" r="r" b="b"/>
            <a:pathLst>
              <a:path w="190500" h="92964">
                <a:moveTo>
                  <a:pt x="635" y="92964"/>
                </a:moveTo>
                <a:lnTo>
                  <a:pt x="190500" y="78232"/>
                </a:lnTo>
                <a:lnTo>
                  <a:pt x="20828" y="0"/>
                </a:lnTo>
                <a:lnTo>
                  <a:pt x="18478" y="4301"/>
                </a:lnTo>
                <a:lnTo>
                  <a:pt x="12881" y="16024"/>
                </a:lnTo>
                <a:lnTo>
                  <a:pt x="8275" y="28053"/>
                </a:lnTo>
                <a:lnTo>
                  <a:pt x="4672" y="40338"/>
                </a:lnTo>
                <a:lnTo>
                  <a:pt x="2084" y="52830"/>
                </a:lnTo>
                <a:lnTo>
                  <a:pt x="523" y="65477"/>
                </a:lnTo>
                <a:lnTo>
                  <a:pt x="0" y="78232"/>
                </a:lnTo>
                <a:lnTo>
                  <a:pt x="0" y="83058"/>
                </a:lnTo>
                <a:lnTo>
                  <a:pt x="254" y="88011"/>
                </a:lnTo>
                <a:lnTo>
                  <a:pt x="635" y="929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7619238" y="2382774"/>
            <a:ext cx="591311" cy="414527"/>
          </a:xfrm>
          <a:custGeom>
            <a:avLst/>
            <a:gdLst/>
            <a:ahLst/>
            <a:cxnLst/>
            <a:rect l="l" t="t" r="r" b="b"/>
            <a:pathLst>
              <a:path w="591311" h="414527">
                <a:moveTo>
                  <a:pt x="591311" y="0"/>
                </a:moveTo>
                <a:lnTo>
                  <a:pt x="0" y="414527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7638288" y="2647188"/>
            <a:ext cx="172211" cy="146303"/>
          </a:xfrm>
          <a:custGeom>
            <a:avLst/>
            <a:gdLst/>
            <a:ahLst/>
            <a:cxnLst/>
            <a:rect l="l" t="t" r="r" b="b"/>
            <a:pathLst>
              <a:path w="172211" h="146303">
                <a:moveTo>
                  <a:pt x="103123" y="0"/>
                </a:moveTo>
                <a:lnTo>
                  <a:pt x="0" y="146303"/>
                </a:lnTo>
                <a:lnTo>
                  <a:pt x="172211" y="71500"/>
                </a:lnTo>
                <a:lnTo>
                  <a:pt x="167080" y="62376"/>
                </a:lnTo>
                <a:lnTo>
                  <a:pt x="160134" y="51793"/>
                </a:lnTo>
                <a:lnTo>
                  <a:pt x="152397" y="41710"/>
                </a:lnTo>
                <a:lnTo>
                  <a:pt x="143905" y="32160"/>
                </a:lnTo>
                <a:lnTo>
                  <a:pt x="134695" y="23179"/>
                </a:lnTo>
                <a:lnTo>
                  <a:pt x="124804" y="14802"/>
                </a:lnTo>
                <a:lnTo>
                  <a:pt x="114268" y="7064"/>
                </a:lnTo>
                <a:lnTo>
                  <a:pt x="1031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6438138" y="2500122"/>
            <a:ext cx="432815" cy="321563"/>
          </a:xfrm>
          <a:custGeom>
            <a:avLst/>
            <a:gdLst/>
            <a:ahLst/>
            <a:cxnLst/>
            <a:rect l="l" t="t" r="r" b="b"/>
            <a:pathLst>
              <a:path w="432815" h="321563">
                <a:moveTo>
                  <a:pt x="432815" y="321563"/>
                </a:moveTo>
                <a:lnTo>
                  <a:pt x="0" y="0"/>
                </a:lnTo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6457188" y="2519172"/>
            <a:ext cx="176784" cy="138683"/>
          </a:xfrm>
          <a:custGeom>
            <a:avLst/>
            <a:gdLst/>
            <a:ahLst/>
            <a:cxnLst/>
            <a:rect l="l" t="t" r="r" b="b"/>
            <a:pathLst>
              <a:path w="176784" h="138683">
                <a:moveTo>
                  <a:pt x="176784" y="64007"/>
                </a:moveTo>
                <a:lnTo>
                  <a:pt x="0" y="0"/>
                </a:lnTo>
                <a:lnTo>
                  <a:pt x="112394" y="138683"/>
                </a:lnTo>
                <a:lnTo>
                  <a:pt x="120711" y="132897"/>
                </a:lnTo>
                <a:lnTo>
                  <a:pt x="130995" y="124740"/>
                </a:lnTo>
                <a:lnTo>
                  <a:pt x="140570" y="115956"/>
                </a:lnTo>
                <a:lnTo>
                  <a:pt x="149406" y="106584"/>
                </a:lnTo>
                <a:lnTo>
                  <a:pt x="157475" y="96665"/>
                </a:lnTo>
                <a:lnTo>
                  <a:pt x="164748" y="86236"/>
                </a:lnTo>
                <a:lnTo>
                  <a:pt x="171193" y="75337"/>
                </a:lnTo>
                <a:lnTo>
                  <a:pt x="176784" y="6400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7101078" y="2643378"/>
            <a:ext cx="53340" cy="237744"/>
          </a:xfrm>
          <a:custGeom>
            <a:avLst/>
            <a:gdLst/>
            <a:ahLst/>
            <a:cxnLst/>
            <a:rect l="l" t="t" r="r" b="b"/>
            <a:pathLst>
              <a:path w="53340" h="237744">
                <a:moveTo>
                  <a:pt x="0" y="237744"/>
                </a:moveTo>
                <a:lnTo>
                  <a:pt x="53340" y="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7054596" y="2660904"/>
            <a:ext cx="112775" cy="172212"/>
          </a:xfrm>
          <a:custGeom>
            <a:avLst/>
            <a:gdLst/>
            <a:ahLst/>
            <a:cxnLst/>
            <a:rect l="l" t="t" r="r" b="b"/>
            <a:pathLst>
              <a:path w="112775" h="172212">
                <a:moveTo>
                  <a:pt x="98044" y="172212"/>
                </a:moveTo>
                <a:lnTo>
                  <a:pt x="112775" y="0"/>
                </a:lnTo>
                <a:lnTo>
                  <a:pt x="0" y="138684"/>
                </a:lnTo>
                <a:lnTo>
                  <a:pt x="12488" y="146484"/>
                </a:lnTo>
                <a:lnTo>
                  <a:pt x="23735" y="152433"/>
                </a:lnTo>
                <a:lnTo>
                  <a:pt x="35375" y="157646"/>
                </a:lnTo>
                <a:lnTo>
                  <a:pt x="47367" y="162109"/>
                </a:lnTo>
                <a:lnTo>
                  <a:pt x="59670" y="165809"/>
                </a:lnTo>
                <a:lnTo>
                  <a:pt x="72245" y="168735"/>
                </a:lnTo>
                <a:lnTo>
                  <a:pt x="85049" y="170873"/>
                </a:lnTo>
                <a:lnTo>
                  <a:pt x="98044" y="17221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7015733" y="2958846"/>
            <a:ext cx="524256" cy="117348"/>
          </a:xfrm>
          <a:custGeom>
            <a:avLst/>
            <a:gdLst/>
            <a:ahLst/>
            <a:cxnLst/>
            <a:rect l="l" t="t" r="r" b="b"/>
            <a:pathLst>
              <a:path w="524256" h="117348">
                <a:moveTo>
                  <a:pt x="0" y="0"/>
                </a:moveTo>
                <a:lnTo>
                  <a:pt x="524256" y="117348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7357872" y="2987040"/>
            <a:ext cx="190500" cy="91439"/>
          </a:xfrm>
          <a:custGeom>
            <a:avLst/>
            <a:gdLst/>
            <a:ahLst/>
            <a:cxnLst/>
            <a:rect l="l" t="t" r="r" b="b"/>
            <a:pathLst>
              <a:path w="190500" h="91439">
                <a:moveTo>
                  <a:pt x="0" y="91439"/>
                </a:moveTo>
                <a:lnTo>
                  <a:pt x="190500" y="88519"/>
                </a:lnTo>
                <a:lnTo>
                  <a:pt x="27177" y="0"/>
                </a:lnTo>
                <a:lnTo>
                  <a:pt x="25088" y="3213"/>
                </a:lnTo>
                <a:lnTo>
                  <a:pt x="18526" y="14520"/>
                </a:lnTo>
                <a:lnTo>
                  <a:pt x="12931" y="26205"/>
                </a:lnTo>
                <a:lnTo>
                  <a:pt x="8317" y="38218"/>
                </a:lnTo>
                <a:lnTo>
                  <a:pt x="4702" y="50507"/>
                </a:lnTo>
                <a:lnTo>
                  <a:pt x="2100" y="63020"/>
                </a:lnTo>
                <a:lnTo>
                  <a:pt x="527" y="75708"/>
                </a:lnTo>
                <a:lnTo>
                  <a:pt x="0" y="88519"/>
                </a:lnTo>
                <a:lnTo>
                  <a:pt x="0" y="914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6851142" y="2951226"/>
            <a:ext cx="0" cy="260603"/>
          </a:xfrm>
          <a:custGeom>
            <a:avLst/>
            <a:gdLst/>
            <a:ahLst/>
            <a:cxnLst/>
            <a:rect l="l" t="t" r="r" b="b"/>
            <a:pathLst>
              <a:path h="260603">
                <a:moveTo>
                  <a:pt x="0" y="0"/>
                </a:moveTo>
                <a:lnTo>
                  <a:pt x="0" y="260603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6800088" y="3046476"/>
            <a:ext cx="103631" cy="172212"/>
          </a:xfrm>
          <a:custGeom>
            <a:avLst/>
            <a:gdLst/>
            <a:ahLst/>
            <a:cxnLst/>
            <a:rect l="l" t="t" r="r" b="b"/>
            <a:pathLst>
              <a:path w="103631" h="172212">
                <a:moveTo>
                  <a:pt x="0" y="6603"/>
                </a:moveTo>
                <a:lnTo>
                  <a:pt x="52577" y="172212"/>
                </a:lnTo>
                <a:lnTo>
                  <a:pt x="103631" y="6223"/>
                </a:lnTo>
                <a:lnTo>
                  <a:pt x="90598" y="3451"/>
                </a:lnTo>
                <a:lnTo>
                  <a:pt x="78028" y="1549"/>
                </a:lnTo>
                <a:lnTo>
                  <a:pt x="65343" y="391"/>
                </a:lnTo>
                <a:lnTo>
                  <a:pt x="52577" y="0"/>
                </a:lnTo>
                <a:lnTo>
                  <a:pt x="50373" y="11"/>
                </a:lnTo>
                <a:lnTo>
                  <a:pt x="37627" y="535"/>
                </a:lnTo>
                <a:lnTo>
                  <a:pt x="24962" y="1823"/>
                </a:lnTo>
                <a:lnTo>
                  <a:pt x="12409" y="3853"/>
                </a:lnTo>
                <a:lnTo>
                  <a:pt x="0" y="66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5743194" y="2015489"/>
            <a:ext cx="2205101" cy="214884"/>
          </a:xfrm>
          <a:custGeom>
            <a:avLst/>
            <a:gdLst/>
            <a:ahLst/>
            <a:cxnLst/>
            <a:rect l="l" t="t" r="r" b="b"/>
            <a:pathLst>
              <a:path w="2205101" h="214884">
                <a:moveTo>
                  <a:pt x="0" y="71627"/>
                </a:moveTo>
                <a:lnTo>
                  <a:pt x="78739" y="0"/>
                </a:lnTo>
                <a:lnTo>
                  <a:pt x="2126360" y="0"/>
                </a:lnTo>
                <a:lnTo>
                  <a:pt x="2205101" y="214884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307074" y="2454402"/>
            <a:ext cx="91439" cy="35051"/>
          </a:xfrm>
          <a:custGeom>
            <a:avLst/>
            <a:gdLst/>
            <a:ahLst/>
            <a:cxnLst/>
            <a:rect l="l" t="t" r="r" b="b"/>
            <a:pathLst>
              <a:path w="91439" h="35051">
                <a:moveTo>
                  <a:pt x="91439" y="0"/>
                </a:moveTo>
                <a:lnTo>
                  <a:pt x="0" y="35051"/>
                </a:lnTo>
              </a:path>
            </a:pathLst>
          </a:custGeom>
          <a:ln w="25907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281166" y="2454402"/>
            <a:ext cx="196596" cy="129539"/>
          </a:xfrm>
          <a:custGeom>
            <a:avLst/>
            <a:gdLst/>
            <a:ahLst/>
            <a:cxnLst/>
            <a:rect l="l" t="t" r="r" b="b"/>
            <a:pathLst>
              <a:path w="196596" h="129539">
                <a:moveTo>
                  <a:pt x="196596" y="0"/>
                </a:moveTo>
                <a:lnTo>
                  <a:pt x="0" y="129539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332982" y="2466594"/>
            <a:ext cx="210312" cy="141731"/>
          </a:xfrm>
          <a:custGeom>
            <a:avLst/>
            <a:gdLst/>
            <a:ahLst/>
            <a:cxnLst/>
            <a:rect l="l" t="t" r="r" b="b"/>
            <a:pathLst>
              <a:path w="210312" h="141731">
                <a:moveTo>
                  <a:pt x="210312" y="0"/>
                </a:moveTo>
                <a:lnTo>
                  <a:pt x="0" y="141731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386322" y="2526029"/>
            <a:ext cx="170687" cy="94487"/>
          </a:xfrm>
          <a:custGeom>
            <a:avLst/>
            <a:gdLst/>
            <a:ahLst/>
            <a:cxnLst/>
            <a:rect l="l" t="t" r="r" b="b"/>
            <a:pathLst>
              <a:path w="170687" h="94487">
                <a:moveTo>
                  <a:pt x="170687" y="0"/>
                </a:moveTo>
                <a:lnTo>
                  <a:pt x="0" y="94487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464046" y="2596134"/>
            <a:ext cx="92963" cy="35051"/>
          </a:xfrm>
          <a:custGeom>
            <a:avLst/>
            <a:gdLst/>
            <a:ahLst/>
            <a:cxnLst/>
            <a:rect l="l" t="t" r="r" b="b"/>
            <a:pathLst>
              <a:path w="92963" h="35051">
                <a:moveTo>
                  <a:pt x="92963" y="0"/>
                </a:moveTo>
                <a:lnTo>
                  <a:pt x="0" y="35051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7015733" y="2561082"/>
            <a:ext cx="79248" cy="35051"/>
          </a:xfrm>
          <a:custGeom>
            <a:avLst/>
            <a:gdLst/>
            <a:ahLst/>
            <a:cxnLst/>
            <a:rect l="l" t="t" r="r" b="b"/>
            <a:pathLst>
              <a:path w="79248" h="35051">
                <a:moveTo>
                  <a:pt x="79248" y="0"/>
                </a:moveTo>
                <a:lnTo>
                  <a:pt x="0" y="35051"/>
                </a:lnTo>
              </a:path>
            </a:pathLst>
          </a:custGeom>
          <a:ln w="25907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7027926" y="2573274"/>
            <a:ext cx="184403" cy="106679"/>
          </a:xfrm>
          <a:custGeom>
            <a:avLst/>
            <a:gdLst/>
            <a:ahLst/>
            <a:cxnLst/>
            <a:rect l="l" t="t" r="r" b="b"/>
            <a:pathLst>
              <a:path w="184403" h="106679">
                <a:moveTo>
                  <a:pt x="184403" y="0"/>
                </a:moveTo>
                <a:lnTo>
                  <a:pt x="0" y="106679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7069074" y="2620517"/>
            <a:ext cx="170687" cy="106680"/>
          </a:xfrm>
          <a:custGeom>
            <a:avLst/>
            <a:gdLst/>
            <a:ahLst/>
            <a:cxnLst/>
            <a:rect l="l" t="t" r="r" b="b"/>
            <a:pathLst>
              <a:path w="170687" h="106680">
                <a:moveTo>
                  <a:pt x="170687" y="0"/>
                </a:moveTo>
                <a:lnTo>
                  <a:pt x="0" y="106680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7146798" y="2679954"/>
            <a:ext cx="105155" cy="47244"/>
          </a:xfrm>
          <a:custGeom>
            <a:avLst/>
            <a:gdLst/>
            <a:ahLst/>
            <a:cxnLst/>
            <a:rect l="l" t="t" r="r" b="b"/>
            <a:pathLst>
              <a:path w="105155" h="47244">
                <a:moveTo>
                  <a:pt x="105155" y="0"/>
                </a:moveTo>
                <a:lnTo>
                  <a:pt x="0" y="47244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7539990" y="2737866"/>
            <a:ext cx="118871" cy="59436"/>
          </a:xfrm>
          <a:custGeom>
            <a:avLst/>
            <a:gdLst/>
            <a:ahLst/>
            <a:cxnLst/>
            <a:rect l="l" t="t" r="r" b="b"/>
            <a:pathLst>
              <a:path w="118871" h="59436">
                <a:moveTo>
                  <a:pt x="118871" y="0"/>
                </a:moveTo>
                <a:lnTo>
                  <a:pt x="0" y="59436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7567422" y="2760726"/>
            <a:ext cx="170687" cy="108203"/>
          </a:xfrm>
          <a:custGeom>
            <a:avLst/>
            <a:gdLst/>
            <a:ahLst/>
            <a:cxnLst/>
            <a:rect l="l" t="t" r="r" b="b"/>
            <a:pathLst>
              <a:path w="170687" h="108203">
                <a:moveTo>
                  <a:pt x="170687" y="0"/>
                </a:moveTo>
                <a:lnTo>
                  <a:pt x="0" y="108203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7619238" y="2774441"/>
            <a:ext cx="170687" cy="117348"/>
          </a:xfrm>
          <a:custGeom>
            <a:avLst/>
            <a:gdLst/>
            <a:ahLst/>
            <a:cxnLst/>
            <a:rect l="l" t="t" r="r" b="b"/>
            <a:pathLst>
              <a:path w="170687" h="117348">
                <a:moveTo>
                  <a:pt x="170687" y="0"/>
                </a:moveTo>
                <a:lnTo>
                  <a:pt x="0" y="117348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7474458" y="2998470"/>
            <a:ext cx="118872" cy="59435"/>
          </a:xfrm>
          <a:custGeom>
            <a:avLst/>
            <a:gdLst/>
            <a:ahLst/>
            <a:cxnLst/>
            <a:rect l="l" t="t" r="r" b="b"/>
            <a:pathLst>
              <a:path w="118872" h="59435">
                <a:moveTo>
                  <a:pt x="118872" y="0"/>
                </a:moveTo>
                <a:lnTo>
                  <a:pt x="0" y="59435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7462266" y="3022854"/>
            <a:ext cx="196595" cy="129540"/>
          </a:xfrm>
          <a:custGeom>
            <a:avLst/>
            <a:gdLst/>
            <a:ahLst/>
            <a:cxnLst/>
            <a:rect l="l" t="t" r="r" b="b"/>
            <a:pathLst>
              <a:path w="196595" h="129540">
                <a:moveTo>
                  <a:pt x="196595" y="0"/>
                </a:moveTo>
                <a:lnTo>
                  <a:pt x="0" y="129540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7514082" y="3092958"/>
            <a:ext cx="144779" cy="83819"/>
          </a:xfrm>
          <a:custGeom>
            <a:avLst/>
            <a:gdLst/>
            <a:ahLst/>
            <a:cxnLst/>
            <a:rect l="l" t="t" r="r" b="b"/>
            <a:pathLst>
              <a:path w="144779" h="83819">
                <a:moveTo>
                  <a:pt x="144779" y="0"/>
                </a:moveTo>
                <a:lnTo>
                  <a:pt x="0" y="83819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6753606" y="3166110"/>
            <a:ext cx="117348" cy="56387"/>
          </a:xfrm>
          <a:custGeom>
            <a:avLst/>
            <a:gdLst/>
            <a:ahLst/>
            <a:cxnLst/>
            <a:rect l="l" t="t" r="r" b="b"/>
            <a:pathLst>
              <a:path w="117348" h="56387">
                <a:moveTo>
                  <a:pt x="117348" y="0"/>
                </a:moveTo>
                <a:lnTo>
                  <a:pt x="0" y="56387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779514" y="3129534"/>
            <a:ext cx="210311" cy="129539"/>
          </a:xfrm>
          <a:custGeom>
            <a:avLst/>
            <a:gdLst/>
            <a:ahLst/>
            <a:cxnLst/>
            <a:rect l="l" t="t" r="r" b="b"/>
            <a:pathLst>
              <a:path w="210311" h="129539">
                <a:moveTo>
                  <a:pt x="210311" y="0"/>
                </a:moveTo>
                <a:lnTo>
                  <a:pt x="0" y="129539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6831330" y="3166110"/>
            <a:ext cx="196596" cy="129539"/>
          </a:xfrm>
          <a:custGeom>
            <a:avLst/>
            <a:gdLst/>
            <a:ahLst/>
            <a:cxnLst/>
            <a:rect l="l" t="t" r="r" b="b"/>
            <a:pathLst>
              <a:path w="196596" h="129539">
                <a:moveTo>
                  <a:pt x="196596" y="0"/>
                </a:moveTo>
                <a:lnTo>
                  <a:pt x="0" y="129539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910578" y="3236214"/>
            <a:ext cx="117348" cy="59436"/>
          </a:xfrm>
          <a:custGeom>
            <a:avLst/>
            <a:gdLst/>
            <a:ahLst/>
            <a:cxnLst/>
            <a:rect l="l" t="t" r="r" b="b"/>
            <a:pathLst>
              <a:path w="117348" h="59436">
                <a:moveTo>
                  <a:pt x="117348" y="0"/>
                </a:moveTo>
                <a:lnTo>
                  <a:pt x="0" y="59436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5886450" y="3166110"/>
            <a:ext cx="117348" cy="56387"/>
          </a:xfrm>
          <a:custGeom>
            <a:avLst/>
            <a:gdLst/>
            <a:ahLst/>
            <a:cxnLst/>
            <a:rect l="l" t="t" r="r" b="b"/>
            <a:pathLst>
              <a:path w="117348" h="56387">
                <a:moveTo>
                  <a:pt x="117348" y="0"/>
                </a:moveTo>
                <a:lnTo>
                  <a:pt x="0" y="56387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5886450" y="3199638"/>
            <a:ext cx="144779" cy="96012"/>
          </a:xfrm>
          <a:custGeom>
            <a:avLst/>
            <a:gdLst/>
            <a:ahLst/>
            <a:cxnLst/>
            <a:rect l="l" t="t" r="r" b="b"/>
            <a:pathLst>
              <a:path w="144779" h="96012">
                <a:moveTo>
                  <a:pt x="144779" y="0"/>
                </a:moveTo>
                <a:lnTo>
                  <a:pt x="0" y="96012"/>
                </a:lnTo>
              </a:path>
            </a:pathLst>
          </a:custGeom>
          <a:ln w="25907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5886450" y="3259074"/>
            <a:ext cx="158496" cy="106679"/>
          </a:xfrm>
          <a:custGeom>
            <a:avLst/>
            <a:gdLst/>
            <a:ahLst/>
            <a:cxnLst/>
            <a:rect l="l" t="t" r="r" b="b"/>
            <a:pathLst>
              <a:path w="158496" h="106679">
                <a:moveTo>
                  <a:pt x="158496" y="0"/>
                </a:moveTo>
                <a:lnTo>
                  <a:pt x="0" y="106679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5886450" y="3330702"/>
            <a:ext cx="158496" cy="45720"/>
          </a:xfrm>
          <a:custGeom>
            <a:avLst/>
            <a:gdLst/>
            <a:ahLst/>
            <a:cxnLst/>
            <a:rect l="l" t="t" r="r" b="b"/>
            <a:pathLst>
              <a:path w="158496" h="45720">
                <a:moveTo>
                  <a:pt x="158496" y="0"/>
                </a:moveTo>
                <a:lnTo>
                  <a:pt x="0" y="45720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5334762" y="2396490"/>
            <a:ext cx="92963" cy="47244"/>
          </a:xfrm>
          <a:custGeom>
            <a:avLst/>
            <a:gdLst/>
            <a:ahLst/>
            <a:cxnLst/>
            <a:rect l="l" t="t" r="r" b="b"/>
            <a:pathLst>
              <a:path w="92963" h="47244">
                <a:moveTo>
                  <a:pt x="92963" y="0"/>
                </a:moveTo>
                <a:lnTo>
                  <a:pt x="0" y="47244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5334762" y="2407158"/>
            <a:ext cx="156972" cy="106679"/>
          </a:xfrm>
          <a:custGeom>
            <a:avLst/>
            <a:gdLst/>
            <a:ahLst/>
            <a:cxnLst/>
            <a:rect l="l" t="t" r="r" b="b"/>
            <a:pathLst>
              <a:path w="156972" h="106679">
                <a:moveTo>
                  <a:pt x="156972" y="0"/>
                </a:moveTo>
                <a:lnTo>
                  <a:pt x="0" y="106679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5348478" y="2466594"/>
            <a:ext cx="156972" cy="106679"/>
          </a:xfrm>
          <a:custGeom>
            <a:avLst/>
            <a:gdLst/>
            <a:ahLst/>
            <a:cxnLst/>
            <a:rect l="l" t="t" r="r" b="b"/>
            <a:pathLst>
              <a:path w="156972" h="106679">
                <a:moveTo>
                  <a:pt x="156972" y="0"/>
                </a:moveTo>
                <a:lnTo>
                  <a:pt x="0" y="106679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5414010" y="2550414"/>
            <a:ext cx="77724" cy="33527"/>
          </a:xfrm>
          <a:custGeom>
            <a:avLst/>
            <a:gdLst/>
            <a:ahLst/>
            <a:cxnLst/>
            <a:rect l="l" t="t" r="r" b="b"/>
            <a:pathLst>
              <a:path w="77724" h="33527">
                <a:moveTo>
                  <a:pt x="77724" y="0"/>
                </a:moveTo>
                <a:lnTo>
                  <a:pt x="0" y="33527"/>
                </a:lnTo>
              </a:path>
            </a:pathLst>
          </a:custGeom>
          <a:ln w="25908">
            <a:solidFill>
              <a:srgbClr val="91919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5354574" y="2382774"/>
            <a:ext cx="0" cy="190500"/>
          </a:xfrm>
          <a:custGeom>
            <a:avLst/>
            <a:gdLst/>
            <a:ahLst/>
            <a:cxnLst/>
            <a:rect l="l" t="t" r="r" b="b"/>
            <a:pathLst>
              <a:path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ln w="25908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938276" y="1822912"/>
            <a:ext cx="2642453" cy="254304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i="1" u="heavy" spc="-3" dirty="0" smtClean="0">
                <a:solidFill>
                  <a:srgbClr val="168AB9"/>
                </a:solidFill>
                <a:latin typeface="Corbel"/>
                <a:cs typeface="Corbel"/>
                <a:hlinkClick r:id="rId4"/>
              </a:rPr>
              <a:t>Magnetic tapes</a:t>
            </a:r>
            <a:r>
              <a:rPr sz="1800" i="1" spc="-3" dirty="0" smtClean="0">
                <a:latin typeface="Corbel"/>
                <a:cs typeface="Corbel"/>
                <a:hlinkClick r:id="rId4"/>
              </a:rPr>
              <a:t>:</a:t>
            </a:r>
            <a:r>
              <a:rPr sz="1800" i="1" spc="-3" dirty="0" smtClean="0">
                <a:latin typeface="Corbel"/>
                <a:cs typeface="Corbel"/>
              </a:rPr>
              <a:t> </a:t>
            </a:r>
            <a:r>
              <a:rPr sz="1800" spc="-3" dirty="0" smtClean="0">
                <a:latin typeface="Corbel"/>
                <a:cs typeface="Corbel"/>
              </a:rPr>
              <a:t>A magnetic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99047" y="1832816"/>
            <a:ext cx="489584" cy="459993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 marR="22859">
              <a:lnSpc>
                <a:spcPts val="1325"/>
              </a:lnSpc>
            </a:pPr>
            <a:r>
              <a:rPr sz="1200" spc="0" dirty="0" smtClean="0">
                <a:latin typeface="Arial"/>
                <a:cs typeface="Arial"/>
              </a:rPr>
              <a:t>file i</a:t>
            </a:r>
            <a:endParaRPr sz="1200">
              <a:latin typeface="Arial"/>
              <a:cs typeface="Arial"/>
            </a:endParaRPr>
          </a:p>
          <a:p>
            <a:pPr marL="97561">
              <a:lnSpc>
                <a:spcPct val="95825"/>
              </a:lnSpc>
              <a:spcBef>
                <a:spcPts val="775"/>
              </a:spcBef>
            </a:pPr>
            <a:r>
              <a:rPr sz="1200" spc="0" dirty="0" smtClean="0">
                <a:latin typeface="Arial"/>
                <a:cs typeface="Arial"/>
              </a:rPr>
              <a:t>block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18236" y="1846607"/>
            <a:ext cx="154362" cy="208584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450" dirty="0" smtClean="0">
                <a:solidFill>
                  <a:srgbClr val="EFAC00"/>
                </a:solidFill>
                <a:latin typeface="Wingdings 2"/>
                <a:cs typeface="Wingdings 2"/>
                <a:hlinkClick r:id="rId4"/>
              </a:rPr>
              <a:t></a:t>
            </a:r>
            <a:endParaRPr sz="1450">
              <a:latin typeface="Wingdings 2"/>
              <a:cs typeface="Wingdings 2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38276" y="2097840"/>
            <a:ext cx="2804858" cy="135128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289">
              <a:lnSpc>
                <a:spcPts val="1900"/>
              </a:lnSpc>
            </a:pPr>
            <a:r>
              <a:rPr sz="1800" spc="2" dirty="0" smtClean="0">
                <a:latin typeface="Corbel"/>
                <a:cs typeface="Corbel"/>
              </a:rPr>
              <a:t>tape consists of electric,</a:t>
            </a:r>
            <a:endParaRPr sz="1800">
              <a:latin typeface="Corbel"/>
              <a:cs typeface="Corbel"/>
            </a:endParaRPr>
          </a:p>
          <a:p>
            <a:pPr marL="12700" marR="34289">
              <a:lnSpc>
                <a:spcPts val="2160"/>
              </a:lnSpc>
              <a:spcBef>
                <a:spcPts val="13"/>
              </a:spcBef>
            </a:pPr>
            <a:r>
              <a:rPr sz="1800" spc="2" dirty="0" smtClean="0">
                <a:latin typeface="Corbel"/>
                <a:cs typeface="Corbel"/>
              </a:rPr>
              <a:t>mechanical and electronic</a:t>
            </a:r>
            <a:endParaRPr sz="1800">
              <a:latin typeface="Corbel"/>
              <a:cs typeface="Corbel"/>
            </a:endParaRPr>
          </a:p>
          <a:p>
            <a:pPr marL="12700" marR="34289">
              <a:lnSpc>
                <a:spcPts val="2160"/>
              </a:lnSpc>
            </a:pPr>
            <a:r>
              <a:rPr sz="1800" spc="1" dirty="0" smtClean="0">
                <a:latin typeface="Corbel"/>
                <a:cs typeface="Corbel"/>
              </a:rPr>
              <a:t>components to provide the</a:t>
            </a:r>
            <a:endParaRPr sz="1800">
              <a:latin typeface="Corbel"/>
              <a:cs typeface="Corbel"/>
            </a:endParaRPr>
          </a:p>
          <a:p>
            <a:pPr marL="12700">
              <a:lnSpc>
                <a:spcPts val="2160"/>
              </a:lnSpc>
            </a:pPr>
            <a:r>
              <a:rPr sz="1800" spc="1" dirty="0" smtClean="0">
                <a:latin typeface="Corbel"/>
                <a:cs typeface="Corbel"/>
              </a:rPr>
              <a:t>parts and control mechanism</a:t>
            </a:r>
            <a:endParaRPr sz="1800">
              <a:latin typeface="Corbel"/>
              <a:cs typeface="Corbel"/>
            </a:endParaRPr>
          </a:p>
          <a:p>
            <a:pPr marL="12700" marR="34289">
              <a:lnSpc>
                <a:spcPts val="2160"/>
              </a:lnSpc>
            </a:pPr>
            <a:r>
              <a:rPr sz="1800" spc="1" dirty="0" smtClean="0">
                <a:latin typeface="Corbel"/>
                <a:cs typeface="Corbel"/>
              </a:rPr>
              <a:t>for a magnetic tape unit.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32780" y="2115010"/>
            <a:ext cx="529082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spc="-2" dirty="0" smtClean="0">
                <a:latin typeface="Arial"/>
                <a:cs typeface="Arial"/>
              </a:rPr>
              <a:t>block 1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124344" y="2115010"/>
            <a:ext cx="132994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dirty="0" smtClean="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53730" y="2258266"/>
            <a:ext cx="361899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dirty="0" smtClean="0">
                <a:latin typeface="Arial"/>
                <a:cs typeface="Arial"/>
              </a:rPr>
              <a:t>EOF</a:t>
            </a:r>
            <a:endParaRPr sz="12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66838" y="2328751"/>
            <a:ext cx="529081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spc="-2" dirty="0" smtClean="0">
                <a:latin typeface="Arial"/>
                <a:cs typeface="Arial"/>
              </a:rPr>
              <a:t>block 3</a:t>
            </a:r>
            <a:endParaRPr sz="12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577332" y="2418324"/>
            <a:ext cx="206256" cy="151891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sz="1000" dirty="0" smtClean="0">
                <a:latin typeface="Arial"/>
                <a:cs typeface="Arial"/>
              </a:rPr>
              <a:t>R1</a:t>
            </a:r>
            <a:endParaRPr sz="1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10758" y="2490841"/>
            <a:ext cx="507840" cy="151891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sz="1000" spc="0" dirty="0" smtClean="0">
                <a:latin typeface="Arial"/>
                <a:cs typeface="Arial"/>
              </a:rPr>
              <a:t>R2  </a:t>
            </a:r>
            <a:r>
              <a:rPr sz="1000" spc="259" dirty="0" smtClean="0">
                <a:latin typeface="Arial"/>
                <a:cs typeface="Arial"/>
              </a:rPr>
              <a:t> </a:t>
            </a:r>
            <a:r>
              <a:rPr sz="1000" spc="0" dirty="0" smtClean="0">
                <a:latin typeface="Arial"/>
                <a:cs typeface="Arial"/>
              </a:rPr>
              <a:t>R3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658254" y="2490841"/>
            <a:ext cx="394768" cy="222630"/>
          </a:xfrm>
          <a:prstGeom prst="rect">
            <a:avLst/>
          </a:prstGeom>
        </p:spPr>
        <p:txBody>
          <a:bodyPr wrap="square" lIns="0" tIns="10604" rIns="0" bIns="0" rtlCol="0">
            <a:noAutofit/>
          </a:bodyPr>
          <a:lstStyle/>
          <a:p>
            <a:pPr marL="12700">
              <a:lnSpc>
                <a:spcPts val="1670"/>
              </a:lnSpc>
            </a:pPr>
            <a:r>
              <a:rPr sz="1500" spc="-32" baseline="26089" dirty="0" smtClean="0">
                <a:latin typeface="Arial"/>
                <a:cs typeface="Arial"/>
              </a:rPr>
              <a:t>R4 </a:t>
            </a:r>
            <a:r>
              <a:rPr sz="1500" spc="-32" baseline="-8696" dirty="0" smtClean="0">
                <a:latin typeface="Arial"/>
                <a:cs typeface="Arial"/>
              </a:rPr>
              <a:t>R5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07960" y="2702677"/>
            <a:ext cx="206256" cy="151891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sz="1000" dirty="0" smtClean="0">
                <a:latin typeface="Arial"/>
                <a:cs typeface="Arial"/>
              </a:rPr>
              <a:t>R6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26226" y="2826471"/>
            <a:ext cx="950496" cy="178104"/>
          </a:xfrm>
          <a:prstGeom prst="rect">
            <a:avLst/>
          </a:prstGeom>
        </p:spPr>
        <p:txBody>
          <a:bodyPr wrap="square" lIns="0" tIns="8445" rIns="0" bIns="0" rtlCol="0">
            <a:noAutofit/>
          </a:bodyPr>
          <a:lstStyle/>
          <a:p>
            <a:pPr marL="12700">
              <a:lnSpc>
                <a:spcPts val="1330"/>
              </a:lnSpc>
            </a:pPr>
            <a:r>
              <a:rPr sz="1200" spc="0" dirty="0" smtClean="0">
                <a:latin typeface="Arial"/>
                <a:cs typeface="Arial"/>
              </a:rPr>
              <a:t>block</a:t>
            </a:r>
            <a:r>
              <a:rPr sz="1200" spc="-24" dirty="0" smtClean="0">
                <a:latin typeface="Arial"/>
                <a:cs typeface="Arial"/>
              </a:rPr>
              <a:t> </a:t>
            </a:r>
            <a:r>
              <a:rPr sz="1200" spc="0" dirty="0" smtClean="0">
                <a:latin typeface="Arial"/>
                <a:cs typeface="Arial"/>
              </a:rPr>
              <a:t>3  </a:t>
            </a:r>
            <a:r>
              <a:rPr sz="1200" spc="182" dirty="0" smtClean="0">
                <a:latin typeface="Arial"/>
                <a:cs typeface="Arial"/>
              </a:rPr>
              <a:t> </a:t>
            </a:r>
            <a:r>
              <a:rPr sz="1200" spc="0" dirty="0" smtClean="0">
                <a:latin typeface="Arial"/>
                <a:cs typeface="Arial"/>
              </a:rPr>
              <a:t>IRG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02677" y="2987030"/>
            <a:ext cx="206256" cy="151891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sz="1000" dirty="0" smtClean="0">
                <a:latin typeface="Arial"/>
                <a:cs typeface="Arial"/>
              </a:rPr>
              <a:t>R1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46650" y="3038554"/>
            <a:ext cx="361899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dirty="0" smtClean="0">
                <a:latin typeface="Arial"/>
                <a:cs typeface="Arial"/>
              </a:rPr>
              <a:t>EOF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73265" y="3129785"/>
            <a:ext cx="206465" cy="152196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sz="1000" dirty="0" smtClean="0">
                <a:latin typeface="Arial"/>
                <a:cs typeface="Arial"/>
              </a:rPr>
              <a:t>R3</a:t>
            </a:r>
            <a:endParaRPr sz="1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04922" y="3129785"/>
            <a:ext cx="206465" cy="152196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sz="1000" dirty="0" smtClean="0">
                <a:latin typeface="Arial"/>
                <a:cs typeface="Arial"/>
              </a:rPr>
              <a:t>R2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938643" y="3181810"/>
            <a:ext cx="529081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spc="-2" dirty="0" smtClean="0">
                <a:latin typeface="Arial"/>
                <a:cs typeface="Arial"/>
              </a:rPr>
              <a:t>block 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61278" y="3200771"/>
            <a:ext cx="206030" cy="151891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sz="1000" dirty="0" smtClean="0">
                <a:latin typeface="Arial"/>
                <a:cs typeface="Arial"/>
              </a:rPr>
              <a:t>R5</a:t>
            </a:r>
            <a:endParaRPr sz="1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33417" y="3200771"/>
            <a:ext cx="206030" cy="151891"/>
          </a:xfrm>
          <a:prstGeom prst="rect">
            <a:avLst/>
          </a:prstGeom>
        </p:spPr>
        <p:txBody>
          <a:bodyPr wrap="square" lIns="0" tIns="7111" rIns="0" bIns="0" rtlCol="0">
            <a:noAutofit/>
          </a:bodyPr>
          <a:lstStyle/>
          <a:p>
            <a:pPr marL="12700">
              <a:lnSpc>
                <a:spcPts val="1120"/>
              </a:lnSpc>
            </a:pPr>
            <a:r>
              <a:rPr sz="1000" dirty="0" smtClean="0">
                <a:latin typeface="Arial"/>
                <a:cs typeface="Arial"/>
              </a:rPr>
              <a:t>R4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28458" y="3395551"/>
            <a:ext cx="529081" cy="177800"/>
          </a:xfrm>
          <a:prstGeom prst="rect">
            <a:avLst/>
          </a:prstGeom>
        </p:spPr>
        <p:txBody>
          <a:bodyPr wrap="square" lIns="0" tIns="8413" rIns="0" bIns="0" rtlCol="0">
            <a:noAutofit/>
          </a:bodyPr>
          <a:lstStyle/>
          <a:p>
            <a:pPr marL="12700">
              <a:lnSpc>
                <a:spcPts val="1325"/>
              </a:lnSpc>
            </a:pPr>
            <a:r>
              <a:rPr sz="1200" spc="-2" dirty="0" smtClean="0">
                <a:latin typeface="Arial"/>
                <a:cs typeface="Arial"/>
              </a:rPr>
              <a:t>block 2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8276" y="3744014"/>
            <a:ext cx="2999404" cy="1625981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289">
              <a:lnSpc>
                <a:spcPts val="1900"/>
              </a:lnSpc>
            </a:pPr>
            <a:r>
              <a:rPr sz="1800" spc="1" dirty="0" smtClean="0">
                <a:latin typeface="Corbel"/>
                <a:cs typeface="Corbel"/>
              </a:rPr>
              <a:t>The tape itself is a strip of</a:t>
            </a:r>
            <a:endParaRPr sz="1800">
              <a:latin typeface="Corbel"/>
              <a:cs typeface="Corbel"/>
            </a:endParaRPr>
          </a:p>
          <a:p>
            <a:pPr marL="12700" marR="34289">
              <a:lnSpc>
                <a:spcPts val="2160"/>
              </a:lnSpc>
              <a:spcBef>
                <a:spcPts val="13"/>
              </a:spcBef>
            </a:pPr>
            <a:r>
              <a:rPr sz="1800" spc="1" dirty="0" smtClean="0">
                <a:latin typeface="Corbel"/>
                <a:cs typeface="Corbel"/>
              </a:rPr>
              <a:t>plastic coated with a magnetic</a:t>
            </a:r>
            <a:endParaRPr sz="1800">
              <a:latin typeface="Corbel"/>
              <a:cs typeface="Corbel"/>
            </a:endParaRPr>
          </a:p>
          <a:p>
            <a:pPr marL="12700" marR="34289">
              <a:lnSpc>
                <a:spcPts val="2160"/>
              </a:lnSpc>
            </a:pPr>
            <a:r>
              <a:rPr sz="1800" spc="0" dirty="0" smtClean="0">
                <a:latin typeface="Corbel"/>
                <a:cs typeface="Corbel"/>
              </a:rPr>
              <a:t>recording medium. Bits are</a:t>
            </a:r>
            <a:endParaRPr sz="1800">
              <a:latin typeface="Corbel"/>
              <a:cs typeface="Corbel"/>
            </a:endParaRPr>
          </a:p>
          <a:p>
            <a:pPr marL="12700" marR="34289">
              <a:lnSpc>
                <a:spcPts val="2160"/>
              </a:lnSpc>
            </a:pPr>
            <a:r>
              <a:rPr sz="1800" spc="1" dirty="0" smtClean="0">
                <a:latin typeface="Corbel"/>
                <a:cs typeface="Corbel"/>
              </a:rPr>
              <a:t>recorded as magnetic spots on</a:t>
            </a:r>
            <a:endParaRPr sz="1800">
              <a:latin typeface="Corbel"/>
              <a:cs typeface="Corbel"/>
            </a:endParaRPr>
          </a:p>
          <a:p>
            <a:pPr marL="12700">
              <a:lnSpc>
                <a:spcPts val="2160"/>
              </a:lnSpc>
            </a:pPr>
            <a:r>
              <a:rPr sz="1800" spc="1" dirty="0" smtClean="0">
                <a:latin typeface="Corbel"/>
                <a:cs typeface="Corbel"/>
              </a:rPr>
              <a:t>tape along several tracks called</a:t>
            </a:r>
            <a:endParaRPr sz="1800">
              <a:latin typeface="Corbel"/>
              <a:cs typeface="Corbel"/>
            </a:endParaRPr>
          </a:p>
          <a:p>
            <a:pPr marL="12700" marR="34289">
              <a:lnSpc>
                <a:spcPts val="2165"/>
              </a:lnSpc>
              <a:spcBef>
                <a:spcPts val="0"/>
              </a:spcBef>
            </a:pPr>
            <a:r>
              <a:rPr sz="1800" b="1" spc="1" dirty="0" smtClean="0">
                <a:latin typeface="Corbel"/>
                <a:cs typeface="Corbel"/>
              </a:rPr>
              <a:t>RECORDS.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8236" y="3767725"/>
            <a:ext cx="154147" cy="20827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4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450">
              <a:latin typeface="Wingdings 2"/>
              <a:cs typeface="Wingdings 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79747" y="4427148"/>
            <a:ext cx="139700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dirty="0" smtClean="0">
                <a:solidFill>
                  <a:srgbClr val="EFAC00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66259" y="4442387"/>
            <a:ext cx="4267981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0" dirty="0" smtClean="0">
                <a:latin typeface="Corbel"/>
                <a:cs typeface="Corbel"/>
              </a:rPr>
              <a:t>R/W heads are mounted in each track so that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79747" y="4716480"/>
            <a:ext cx="3323860" cy="5288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0" dirty="0" smtClean="0">
                <a:latin typeface="Corbel"/>
                <a:cs typeface="Corbel"/>
              </a:rPr>
              <a:t>data can be recorded and read as a</a:t>
            </a:r>
            <a:endParaRPr sz="1800">
              <a:latin typeface="Corbel"/>
              <a:cs typeface="Corbel"/>
            </a:endParaRPr>
          </a:p>
          <a:p>
            <a:pPr marL="12700" marR="34335">
              <a:lnSpc>
                <a:spcPts val="2160"/>
              </a:lnSpc>
              <a:spcBef>
                <a:spcPts val="13"/>
              </a:spcBef>
            </a:pPr>
            <a:r>
              <a:rPr sz="1800" spc="0" dirty="0" smtClean="0">
                <a:latin typeface="Corbel"/>
                <a:cs typeface="Corbel"/>
              </a:rPr>
              <a:t>sequence of characters.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79747" y="5250362"/>
            <a:ext cx="139700" cy="254000"/>
          </a:xfrm>
          <a:prstGeom prst="rect">
            <a:avLst/>
          </a:prstGeom>
        </p:spPr>
        <p:txBody>
          <a:bodyPr wrap="square" lIns="0" tIns="12319" rIns="0" bIns="0" rtlCol="0">
            <a:noAutofit/>
          </a:bodyPr>
          <a:lstStyle/>
          <a:p>
            <a:pPr marL="12700">
              <a:lnSpc>
                <a:spcPts val="1939"/>
              </a:lnSpc>
            </a:pPr>
            <a:r>
              <a:rPr sz="1800" dirty="0" smtClean="0">
                <a:solidFill>
                  <a:srgbClr val="FFD25D"/>
                </a:solidFill>
                <a:latin typeface="Arial"/>
                <a:cs typeface="Arial"/>
              </a:rPr>
              <a:t>•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66259" y="5265601"/>
            <a:ext cx="4031001" cy="25400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0" dirty="0" smtClean="0">
                <a:latin typeface="Corbel"/>
                <a:cs typeface="Corbel"/>
              </a:rPr>
              <a:t>Can be stopped , started to move forward,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79747" y="5539921"/>
            <a:ext cx="4476136" cy="80264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spc="0" dirty="0" smtClean="0">
                <a:latin typeface="Corbel"/>
                <a:cs typeface="Corbel"/>
              </a:rPr>
              <a:t>or in reverse, or can be rewound, but cannot be</a:t>
            </a:r>
            <a:endParaRPr sz="1800">
              <a:latin typeface="Corbel"/>
              <a:cs typeface="Corbel"/>
            </a:endParaRPr>
          </a:p>
          <a:p>
            <a:pPr marL="12700" marR="34290">
              <a:lnSpc>
                <a:spcPts val="2160"/>
              </a:lnSpc>
              <a:spcBef>
                <a:spcPts val="13"/>
              </a:spcBef>
            </a:pPr>
            <a:r>
              <a:rPr sz="1800" spc="0" dirty="0" smtClean="0">
                <a:latin typeface="Corbel"/>
                <a:cs typeface="Corbel"/>
              </a:rPr>
              <a:t>stopped fast enough between individual</a:t>
            </a:r>
            <a:endParaRPr sz="1800">
              <a:latin typeface="Corbel"/>
              <a:cs typeface="Corbel"/>
            </a:endParaRPr>
          </a:p>
          <a:p>
            <a:pPr marL="12700" marR="34290">
              <a:lnSpc>
                <a:spcPts val="2160"/>
              </a:lnSpc>
            </a:pPr>
            <a:r>
              <a:rPr sz="1800" spc="0" dirty="0" smtClean="0">
                <a:latin typeface="Corbel"/>
                <a:cs typeface="Corbel"/>
              </a:rPr>
              <a:t>characters.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38276" y="5664584"/>
            <a:ext cx="3161547" cy="1100098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22860">
              <a:lnSpc>
                <a:spcPts val="1900"/>
              </a:lnSpc>
            </a:pPr>
            <a:r>
              <a:rPr sz="1800" spc="2" dirty="0" smtClean="0">
                <a:latin typeface="Corbel"/>
                <a:cs typeface="Corbel"/>
              </a:rPr>
              <a:t>Each record on tape has an</a:t>
            </a:r>
            <a:endParaRPr sz="1800">
              <a:latin typeface="Corbel"/>
              <a:cs typeface="Corbel"/>
            </a:endParaRPr>
          </a:p>
          <a:p>
            <a:pPr marL="12700" marR="22860">
              <a:lnSpc>
                <a:spcPts val="2160"/>
              </a:lnSpc>
              <a:spcBef>
                <a:spcPts val="13"/>
              </a:spcBef>
            </a:pPr>
            <a:r>
              <a:rPr sz="1800" spc="1" dirty="0" smtClean="0">
                <a:latin typeface="Corbel"/>
                <a:cs typeface="Corbel"/>
              </a:rPr>
              <a:t>identification bit pattern at the</a:t>
            </a:r>
            <a:endParaRPr sz="1800">
              <a:latin typeface="Corbel"/>
              <a:cs typeface="Corbel"/>
            </a:endParaRPr>
          </a:p>
          <a:p>
            <a:pPr marL="12700" marR="22860">
              <a:lnSpc>
                <a:spcPts val="2160"/>
              </a:lnSpc>
            </a:pPr>
            <a:r>
              <a:rPr sz="1800" spc="2" dirty="0" smtClean="0">
                <a:latin typeface="Corbel"/>
                <a:cs typeface="Corbel"/>
              </a:rPr>
              <a:t>beg. and the end.</a:t>
            </a:r>
            <a:endParaRPr sz="1800">
              <a:latin typeface="Corbel"/>
              <a:cs typeface="Corbel"/>
            </a:endParaRPr>
          </a:p>
          <a:p>
            <a:pPr marL="1748536">
              <a:lnSpc>
                <a:spcPct val="100626"/>
              </a:lnSpc>
              <a:spcBef>
                <a:spcPts val="785"/>
              </a:spcBef>
            </a:pPr>
            <a:r>
              <a:rPr sz="1200" spc="-2" dirty="0" smtClean="0">
                <a:solidFill>
                  <a:srgbClr val="3E3E3E"/>
                </a:solidFill>
                <a:latin typeface="Corbel"/>
                <a:cs typeface="Corbel"/>
              </a:rPr>
              <a:t>Memory Organisation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236" y="5688296"/>
            <a:ext cx="154147" cy="208280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4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450">
              <a:latin typeface="Wingdings 2"/>
              <a:cs typeface="Wingdings 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88451" y="6586882"/>
            <a:ext cx="194104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dirty="0" smtClean="0">
                <a:solidFill>
                  <a:srgbClr val="3E3E3E"/>
                </a:solidFill>
                <a:latin typeface="Corbel"/>
                <a:cs typeface="Corbel"/>
              </a:rPr>
              <a:t>21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4458" y="3577590"/>
            <a:ext cx="157734" cy="21488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4" name="object 4"/>
          <p:cNvSpPr txBox="1"/>
          <p:nvPr/>
        </p:nvSpPr>
        <p:spPr>
          <a:xfrm>
            <a:off x="7632192" y="3577590"/>
            <a:ext cx="473075" cy="214884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3" name="object 3"/>
          <p:cNvSpPr txBox="1"/>
          <p:nvPr/>
        </p:nvSpPr>
        <p:spPr>
          <a:xfrm>
            <a:off x="4725162" y="2376678"/>
            <a:ext cx="164591" cy="2133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  <p:sp>
        <p:nvSpPr>
          <p:cNvPr id="2" name="object 2"/>
          <p:cNvSpPr txBox="1"/>
          <p:nvPr/>
        </p:nvSpPr>
        <p:spPr>
          <a:xfrm>
            <a:off x="4889754" y="2376678"/>
            <a:ext cx="156972" cy="196596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5592" y="559308"/>
            <a:ext cx="6534911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652516" y="1629155"/>
            <a:ext cx="2650236" cy="27371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558028" y="4338826"/>
            <a:ext cx="2601468" cy="24414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9364" y="1737516"/>
            <a:ext cx="1878730" cy="33020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i="1" u="heavy" spc="1" dirty="0" smtClean="0">
                <a:solidFill>
                  <a:srgbClr val="168AB9"/>
                </a:solidFill>
                <a:latin typeface="Corbel"/>
                <a:cs typeface="Corbel"/>
                <a:hlinkClick r:id="rId6"/>
              </a:rPr>
              <a:t>Magnetic Disk</a:t>
            </a:r>
            <a:r>
              <a:rPr sz="2400" i="1" spc="1" dirty="0" smtClean="0">
                <a:latin typeface="Corbel"/>
                <a:cs typeface="Corbel"/>
                <a:hlinkClick r:id="rId6"/>
              </a:rPr>
              <a:t>: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8276" y="2088088"/>
            <a:ext cx="4000552" cy="3821351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28705">
              <a:lnSpc>
                <a:spcPts val="1900"/>
              </a:lnSpc>
            </a:pPr>
            <a:r>
              <a:rPr sz="1800" dirty="0" smtClean="0">
                <a:latin typeface="Corbel"/>
                <a:cs typeface="Corbel"/>
              </a:rPr>
              <a:t>A magnetic disk is a circular plate</a:t>
            </a:r>
            <a:endParaRPr sz="1800">
              <a:latin typeface="Corbel"/>
              <a:cs typeface="Corbel"/>
            </a:endParaRPr>
          </a:p>
          <a:p>
            <a:pPr marL="12700" marR="384711">
              <a:lnSpc>
                <a:spcPct val="100022"/>
              </a:lnSpc>
            </a:pPr>
            <a:r>
              <a:rPr sz="1800" spc="1" dirty="0" smtClean="0">
                <a:latin typeface="Corbel"/>
                <a:cs typeface="Corbel"/>
              </a:rPr>
              <a:t>constructed of metal or plastic coated with magnetized material.</a:t>
            </a:r>
            <a:endParaRPr sz="1800">
              <a:latin typeface="Corbel"/>
              <a:cs typeface="Corbel"/>
            </a:endParaRPr>
          </a:p>
          <a:p>
            <a:pPr marL="12700">
              <a:lnSpc>
                <a:spcPct val="100022"/>
              </a:lnSpc>
            </a:pPr>
            <a:r>
              <a:rPr sz="1800" dirty="0" smtClean="0">
                <a:latin typeface="Corbel"/>
                <a:cs typeface="Corbel"/>
              </a:rPr>
              <a:t>B</a:t>
            </a:r>
            <a:r>
              <a:rPr sz="1800" spc="4" dirty="0" smtClean="0">
                <a:latin typeface="Corbel"/>
                <a:cs typeface="Corbel"/>
              </a:rPr>
              <a:t>o</a:t>
            </a:r>
            <a:r>
              <a:rPr sz="1800" spc="0" dirty="0" smtClean="0">
                <a:latin typeface="Corbel"/>
                <a:cs typeface="Corbel"/>
              </a:rPr>
              <a:t>th</a:t>
            </a:r>
            <a:r>
              <a:rPr sz="1800" spc="4" dirty="0" smtClean="0">
                <a:latin typeface="Corbel"/>
                <a:cs typeface="Corbel"/>
              </a:rPr>
              <a:t> s</a:t>
            </a:r>
            <a:r>
              <a:rPr sz="1800" spc="0" dirty="0" smtClean="0">
                <a:latin typeface="Corbel"/>
                <a:cs typeface="Corbel"/>
              </a:rPr>
              <a:t>id</a:t>
            </a:r>
            <a:r>
              <a:rPr sz="1800" spc="4" dirty="0" smtClean="0">
                <a:latin typeface="Corbel"/>
                <a:cs typeface="Corbel"/>
              </a:rPr>
              <a:t>e</a:t>
            </a:r>
            <a:r>
              <a:rPr sz="1800" spc="0" dirty="0" smtClean="0">
                <a:latin typeface="Corbel"/>
                <a:cs typeface="Corbel"/>
              </a:rPr>
              <a:t>s</a:t>
            </a:r>
            <a:r>
              <a:rPr sz="1800" spc="-9" dirty="0" smtClean="0">
                <a:latin typeface="Corbel"/>
                <a:cs typeface="Corbel"/>
              </a:rPr>
              <a:t> </a:t>
            </a:r>
            <a:r>
              <a:rPr sz="1800" spc="0" dirty="0" smtClean="0">
                <a:latin typeface="Corbel"/>
                <a:cs typeface="Corbel"/>
              </a:rPr>
              <a:t>of</a:t>
            </a:r>
            <a:r>
              <a:rPr sz="1800" spc="4" dirty="0" smtClean="0">
                <a:latin typeface="Corbel"/>
                <a:cs typeface="Corbel"/>
              </a:rPr>
              <a:t> </a:t>
            </a:r>
            <a:r>
              <a:rPr sz="1800" spc="0" dirty="0" smtClean="0">
                <a:latin typeface="Corbel"/>
                <a:cs typeface="Corbel"/>
              </a:rPr>
              <a:t>t</a:t>
            </a:r>
            <a:r>
              <a:rPr sz="1800" spc="4" dirty="0" smtClean="0">
                <a:latin typeface="Corbel"/>
                <a:cs typeface="Corbel"/>
              </a:rPr>
              <a:t>h</a:t>
            </a:r>
            <a:r>
              <a:rPr sz="1800" spc="0" dirty="0" smtClean="0">
                <a:latin typeface="Corbel"/>
                <a:cs typeface="Corbel"/>
              </a:rPr>
              <a:t>e</a:t>
            </a:r>
            <a:r>
              <a:rPr sz="1800" spc="14" dirty="0" smtClean="0">
                <a:latin typeface="Corbel"/>
                <a:cs typeface="Corbel"/>
              </a:rPr>
              <a:t> </a:t>
            </a:r>
            <a:r>
              <a:rPr sz="1800" spc="0" dirty="0" smtClean="0">
                <a:latin typeface="Corbel"/>
                <a:cs typeface="Corbel"/>
              </a:rPr>
              <a:t>di</a:t>
            </a:r>
            <a:r>
              <a:rPr sz="1800" spc="4" dirty="0" smtClean="0">
                <a:latin typeface="Corbel"/>
                <a:cs typeface="Corbel"/>
              </a:rPr>
              <a:t>s</a:t>
            </a:r>
            <a:r>
              <a:rPr sz="1800" spc="0" dirty="0" smtClean="0">
                <a:latin typeface="Corbel"/>
                <a:cs typeface="Corbel"/>
              </a:rPr>
              <a:t>k</a:t>
            </a:r>
            <a:r>
              <a:rPr sz="1800" spc="-9" dirty="0" smtClean="0">
                <a:latin typeface="Corbel"/>
                <a:cs typeface="Corbel"/>
              </a:rPr>
              <a:t> </a:t>
            </a:r>
            <a:r>
              <a:rPr sz="1800" spc="0" dirty="0" smtClean="0">
                <a:latin typeface="Corbel"/>
                <a:cs typeface="Corbel"/>
              </a:rPr>
              <a:t>are</a:t>
            </a:r>
            <a:r>
              <a:rPr sz="1800" spc="14" dirty="0" smtClean="0">
                <a:latin typeface="Corbel"/>
                <a:cs typeface="Corbel"/>
              </a:rPr>
              <a:t> </a:t>
            </a:r>
            <a:r>
              <a:rPr sz="1800" spc="4" dirty="0" smtClean="0">
                <a:latin typeface="Corbel"/>
                <a:cs typeface="Corbel"/>
              </a:rPr>
              <a:t>use</a:t>
            </a:r>
            <a:r>
              <a:rPr sz="1800" spc="0" dirty="0" smtClean="0">
                <a:latin typeface="Corbel"/>
                <a:cs typeface="Corbel"/>
              </a:rPr>
              <a:t>d </a:t>
            </a:r>
            <a:r>
              <a:rPr sz="1800" spc="-4" dirty="0" smtClean="0">
                <a:latin typeface="Corbel"/>
                <a:cs typeface="Corbel"/>
              </a:rPr>
              <a:t>a</a:t>
            </a:r>
            <a:r>
              <a:rPr sz="1800" spc="0" dirty="0" smtClean="0">
                <a:latin typeface="Corbel"/>
                <a:cs typeface="Corbel"/>
              </a:rPr>
              <a:t>nd </a:t>
            </a:r>
            <a:r>
              <a:rPr sz="1800" spc="4" dirty="0" smtClean="0">
                <a:latin typeface="Corbel"/>
                <a:cs typeface="Corbel"/>
              </a:rPr>
              <a:t>s</a:t>
            </a:r>
            <a:r>
              <a:rPr sz="1800" spc="-4" dirty="0" smtClean="0">
                <a:latin typeface="Corbel"/>
                <a:cs typeface="Corbel"/>
              </a:rPr>
              <a:t>e</a:t>
            </a:r>
            <a:r>
              <a:rPr sz="1800" spc="0" dirty="0" smtClean="0">
                <a:latin typeface="Corbel"/>
                <a:cs typeface="Corbel"/>
              </a:rPr>
              <a:t>veral</a:t>
            </a:r>
            <a:r>
              <a:rPr sz="1800" spc="14" dirty="0" smtClean="0">
                <a:latin typeface="Corbel"/>
                <a:cs typeface="Corbel"/>
              </a:rPr>
              <a:t> </a:t>
            </a:r>
            <a:r>
              <a:rPr sz="1800" spc="0" dirty="0" smtClean="0">
                <a:latin typeface="Corbel"/>
                <a:cs typeface="Corbel"/>
              </a:rPr>
              <a:t>di</a:t>
            </a:r>
            <a:r>
              <a:rPr sz="1800" spc="4" dirty="0" smtClean="0">
                <a:latin typeface="Corbel"/>
                <a:cs typeface="Corbel"/>
              </a:rPr>
              <a:t>s</a:t>
            </a:r>
            <a:r>
              <a:rPr sz="1800" spc="0" dirty="0" smtClean="0">
                <a:latin typeface="Corbel"/>
                <a:cs typeface="Corbel"/>
              </a:rPr>
              <a:t>ks</a:t>
            </a:r>
            <a:r>
              <a:rPr sz="1800" spc="-4" dirty="0" smtClean="0">
                <a:latin typeface="Corbel"/>
                <a:cs typeface="Corbel"/>
              </a:rPr>
              <a:t> </a:t>
            </a:r>
            <a:r>
              <a:rPr sz="1800" spc="0" dirty="0" smtClean="0">
                <a:latin typeface="Corbel"/>
                <a:cs typeface="Corbel"/>
              </a:rPr>
              <a:t>m</a:t>
            </a:r>
            <a:r>
              <a:rPr sz="1800" spc="-4" dirty="0" smtClean="0">
                <a:latin typeface="Corbel"/>
                <a:cs typeface="Corbel"/>
              </a:rPr>
              <a:t>a</a:t>
            </a:r>
            <a:r>
              <a:rPr sz="1800" spc="0" dirty="0" smtClean="0">
                <a:latin typeface="Corbel"/>
                <a:cs typeface="Corbel"/>
              </a:rPr>
              <a:t>y</a:t>
            </a:r>
            <a:r>
              <a:rPr sz="1800" spc="14" dirty="0" smtClean="0">
                <a:latin typeface="Corbel"/>
                <a:cs typeface="Corbel"/>
              </a:rPr>
              <a:t> </a:t>
            </a:r>
            <a:r>
              <a:rPr sz="1800" spc="0" dirty="0" smtClean="0">
                <a:latin typeface="Corbel"/>
                <a:cs typeface="Corbel"/>
              </a:rPr>
              <a:t>be </a:t>
            </a:r>
            <a:r>
              <a:rPr sz="1800" spc="9" dirty="0" smtClean="0">
                <a:latin typeface="Corbel"/>
                <a:cs typeface="Corbel"/>
              </a:rPr>
              <a:t>s</a:t>
            </a:r>
            <a:r>
              <a:rPr sz="1800" spc="0" dirty="0" smtClean="0">
                <a:latin typeface="Corbel"/>
                <a:cs typeface="Corbel"/>
              </a:rPr>
              <a:t>tac</a:t>
            </a:r>
            <a:r>
              <a:rPr sz="1800" spc="-29" dirty="0" smtClean="0">
                <a:latin typeface="Corbel"/>
                <a:cs typeface="Corbel"/>
              </a:rPr>
              <a:t>k</a:t>
            </a:r>
            <a:r>
              <a:rPr sz="1800" spc="4" dirty="0" smtClean="0">
                <a:latin typeface="Corbel"/>
                <a:cs typeface="Corbel"/>
              </a:rPr>
              <a:t>e</a:t>
            </a:r>
            <a:r>
              <a:rPr sz="1800" spc="0" dirty="0" smtClean="0">
                <a:latin typeface="Corbel"/>
                <a:cs typeface="Corbel"/>
              </a:rPr>
              <a:t>d on</a:t>
            </a:r>
            <a:r>
              <a:rPr sz="1800" spc="9" dirty="0" smtClean="0">
                <a:latin typeface="Corbel"/>
                <a:cs typeface="Corbel"/>
              </a:rPr>
              <a:t> </a:t>
            </a:r>
            <a:r>
              <a:rPr sz="1800" spc="0" dirty="0" smtClean="0">
                <a:latin typeface="Corbel"/>
                <a:cs typeface="Corbel"/>
              </a:rPr>
              <a:t>one </a:t>
            </a:r>
            <a:r>
              <a:rPr sz="1800" spc="4" dirty="0" smtClean="0">
                <a:latin typeface="Corbel"/>
                <a:cs typeface="Corbel"/>
              </a:rPr>
              <a:t>sp</a:t>
            </a:r>
            <a:r>
              <a:rPr sz="1800" spc="0" dirty="0" smtClean="0">
                <a:latin typeface="Corbel"/>
                <a:cs typeface="Corbel"/>
              </a:rPr>
              <a:t>indle</a:t>
            </a:r>
            <a:r>
              <a:rPr sz="1800" spc="-14" dirty="0" smtClean="0">
                <a:latin typeface="Corbel"/>
                <a:cs typeface="Corbel"/>
              </a:rPr>
              <a:t> </a:t>
            </a:r>
            <a:r>
              <a:rPr sz="1800" spc="0" dirty="0" smtClean="0">
                <a:latin typeface="Corbel"/>
                <a:cs typeface="Corbel"/>
              </a:rPr>
              <a:t>w</a:t>
            </a:r>
            <a:r>
              <a:rPr sz="1800" spc="4" dirty="0" smtClean="0">
                <a:latin typeface="Corbel"/>
                <a:cs typeface="Corbel"/>
              </a:rPr>
              <a:t>i</a:t>
            </a:r>
            <a:r>
              <a:rPr sz="1800" spc="0" dirty="0" smtClean="0">
                <a:latin typeface="Corbel"/>
                <a:cs typeface="Corbel"/>
              </a:rPr>
              <a:t>th</a:t>
            </a:r>
            <a:r>
              <a:rPr sz="1800" spc="4" dirty="0" smtClean="0">
                <a:latin typeface="Corbel"/>
                <a:cs typeface="Corbel"/>
              </a:rPr>
              <a:t> </a:t>
            </a:r>
            <a:r>
              <a:rPr sz="1800" spc="0" dirty="0" smtClean="0">
                <a:latin typeface="Corbel"/>
                <a:cs typeface="Corbel"/>
              </a:rPr>
              <a:t>r</a:t>
            </a:r>
            <a:r>
              <a:rPr sz="1800" spc="4" dirty="0" smtClean="0">
                <a:latin typeface="Corbel"/>
                <a:cs typeface="Corbel"/>
              </a:rPr>
              <a:t>e</a:t>
            </a:r>
            <a:r>
              <a:rPr sz="1800" spc="0" dirty="0" smtClean="0">
                <a:latin typeface="Corbel"/>
                <a:cs typeface="Corbel"/>
              </a:rPr>
              <a:t>a</a:t>
            </a:r>
            <a:r>
              <a:rPr sz="1800" spc="-4" dirty="0" smtClean="0">
                <a:latin typeface="Corbel"/>
                <a:cs typeface="Corbel"/>
              </a:rPr>
              <a:t>d</a:t>
            </a:r>
            <a:r>
              <a:rPr sz="1800" spc="0" dirty="0" smtClean="0">
                <a:latin typeface="Corbel"/>
                <a:cs typeface="Corbel"/>
              </a:rPr>
              <a:t>/wri</a:t>
            </a:r>
            <a:r>
              <a:rPr sz="1800" spc="4" dirty="0" smtClean="0">
                <a:latin typeface="Corbel"/>
                <a:cs typeface="Corbel"/>
              </a:rPr>
              <a:t>t</a:t>
            </a:r>
            <a:r>
              <a:rPr sz="1800" spc="0" dirty="0" smtClean="0">
                <a:latin typeface="Corbel"/>
                <a:cs typeface="Corbel"/>
              </a:rPr>
              <a:t>e</a:t>
            </a:r>
            <a:r>
              <a:rPr sz="1800" spc="24" dirty="0" smtClean="0">
                <a:latin typeface="Corbel"/>
                <a:cs typeface="Corbel"/>
              </a:rPr>
              <a:t> </a:t>
            </a:r>
            <a:r>
              <a:rPr sz="1800" spc="0" dirty="0" smtClean="0">
                <a:latin typeface="Corbel"/>
                <a:cs typeface="Corbel"/>
              </a:rPr>
              <a:t>h</a:t>
            </a:r>
            <a:r>
              <a:rPr sz="1800" spc="9" dirty="0" smtClean="0">
                <a:latin typeface="Corbel"/>
                <a:cs typeface="Corbel"/>
              </a:rPr>
              <a:t>e</a:t>
            </a:r>
            <a:r>
              <a:rPr sz="1800" spc="0" dirty="0" smtClean="0">
                <a:latin typeface="Corbel"/>
                <a:cs typeface="Corbel"/>
              </a:rPr>
              <a:t>a</a:t>
            </a:r>
            <a:r>
              <a:rPr sz="1800" spc="-4" dirty="0" smtClean="0">
                <a:latin typeface="Corbel"/>
                <a:cs typeface="Corbel"/>
              </a:rPr>
              <a:t>d</a:t>
            </a:r>
            <a:r>
              <a:rPr sz="1800" spc="0" dirty="0" smtClean="0">
                <a:latin typeface="Corbel"/>
                <a:cs typeface="Corbel"/>
              </a:rPr>
              <a:t>s</a:t>
            </a:r>
            <a:r>
              <a:rPr sz="1800" spc="14" dirty="0" smtClean="0">
                <a:latin typeface="Corbel"/>
                <a:cs typeface="Corbel"/>
              </a:rPr>
              <a:t> </a:t>
            </a:r>
            <a:r>
              <a:rPr sz="1800" spc="0" dirty="0" smtClean="0">
                <a:latin typeface="Corbel"/>
                <a:cs typeface="Corbel"/>
              </a:rPr>
              <a:t>av</a:t>
            </a:r>
            <a:r>
              <a:rPr sz="1800" spc="-9" dirty="0" smtClean="0">
                <a:latin typeface="Corbel"/>
                <a:cs typeface="Corbel"/>
              </a:rPr>
              <a:t>a</a:t>
            </a:r>
            <a:r>
              <a:rPr sz="1800" spc="0" dirty="0" smtClean="0">
                <a:latin typeface="Corbel"/>
                <a:cs typeface="Corbel"/>
              </a:rPr>
              <a:t>ilable</a:t>
            </a:r>
            <a:r>
              <a:rPr sz="1800" spc="29" dirty="0" smtClean="0">
                <a:latin typeface="Corbel"/>
                <a:cs typeface="Corbel"/>
              </a:rPr>
              <a:t> </a:t>
            </a:r>
            <a:r>
              <a:rPr sz="1800" spc="0" dirty="0" smtClean="0">
                <a:latin typeface="Corbel"/>
                <a:cs typeface="Corbel"/>
              </a:rPr>
              <a:t>on </a:t>
            </a:r>
            <a:r>
              <a:rPr sz="1800" spc="4" dirty="0" smtClean="0">
                <a:latin typeface="Corbel"/>
                <a:cs typeface="Corbel"/>
              </a:rPr>
              <a:t>e</a:t>
            </a:r>
            <a:r>
              <a:rPr sz="1800" spc="0" dirty="0" smtClean="0">
                <a:latin typeface="Corbel"/>
                <a:cs typeface="Corbel"/>
              </a:rPr>
              <a:t>ach</a:t>
            </a:r>
            <a:r>
              <a:rPr sz="1800" spc="14" dirty="0" smtClean="0">
                <a:latin typeface="Corbel"/>
                <a:cs typeface="Corbel"/>
              </a:rPr>
              <a:t> </a:t>
            </a:r>
            <a:r>
              <a:rPr sz="1800" spc="4" dirty="0" smtClean="0">
                <a:latin typeface="Corbel"/>
                <a:cs typeface="Corbel"/>
              </a:rPr>
              <a:t>su</a:t>
            </a:r>
            <a:r>
              <a:rPr sz="1800" spc="0" dirty="0" smtClean="0">
                <a:latin typeface="Corbel"/>
                <a:cs typeface="Corbel"/>
              </a:rPr>
              <a:t>r</a:t>
            </a:r>
            <a:r>
              <a:rPr sz="1800" spc="4" dirty="0" smtClean="0">
                <a:latin typeface="Corbel"/>
                <a:cs typeface="Corbel"/>
              </a:rPr>
              <a:t>f</a:t>
            </a:r>
            <a:r>
              <a:rPr sz="1800" spc="0" dirty="0" smtClean="0">
                <a:latin typeface="Corbel"/>
                <a:cs typeface="Corbel"/>
              </a:rPr>
              <a:t>ac</a:t>
            </a:r>
            <a:r>
              <a:rPr sz="1800" spc="9" dirty="0" smtClean="0">
                <a:latin typeface="Corbel"/>
                <a:cs typeface="Corbel"/>
              </a:rPr>
              <a:t>e</a:t>
            </a:r>
            <a:r>
              <a:rPr sz="1800" spc="0" dirty="0" smtClean="0">
                <a:latin typeface="Corbel"/>
                <a:cs typeface="Corbel"/>
              </a:rPr>
              <a:t>.</a:t>
            </a:r>
            <a:endParaRPr sz="1800">
              <a:latin typeface="Corbel"/>
              <a:cs typeface="Corbel"/>
            </a:endParaRPr>
          </a:p>
          <a:p>
            <a:pPr marL="12700" marR="112549">
              <a:lnSpc>
                <a:spcPct val="100022"/>
              </a:lnSpc>
            </a:pPr>
            <a:r>
              <a:rPr sz="1800" spc="0" dirty="0" smtClean="0">
                <a:latin typeface="Corbel"/>
                <a:cs typeface="Corbel"/>
              </a:rPr>
              <a:t>Bits are stored in magnetized surface in spots along concentric circles called tracks. Tracks are commonly divided into sections called sectors.</a:t>
            </a:r>
            <a:endParaRPr sz="1800">
              <a:latin typeface="Corbel"/>
              <a:cs typeface="Corbel"/>
            </a:endParaRPr>
          </a:p>
          <a:p>
            <a:pPr marL="12700" marR="28705">
              <a:lnSpc>
                <a:spcPts val="2165"/>
              </a:lnSpc>
              <a:spcBef>
                <a:spcPts val="108"/>
              </a:spcBef>
            </a:pPr>
            <a:r>
              <a:rPr sz="1800" spc="1" dirty="0" smtClean="0">
                <a:latin typeface="Corbel"/>
                <a:cs typeface="Corbel"/>
              </a:rPr>
              <a:t>Disk that are permanently attached and</a:t>
            </a:r>
            <a:endParaRPr sz="1800">
              <a:latin typeface="Corbel"/>
              <a:cs typeface="Corbel"/>
            </a:endParaRPr>
          </a:p>
          <a:p>
            <a:pPr marL="12700" marR="290386">
              <a:lnSpc>
                <a:spcPct val="100022"/>
              </a:lnSpc>
            </a:pPr>
            <a:r>
              <a:rPr sz="1800" spc="1" dirty="0" smtClean="0">
                <a:latin typeface="Corbel"/>
                <a:cs typeface="Corbel"/>
              </a:rPr>
              <a:t>cannot removed by occasional user are called hard disks.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236" y="2111783"/>
            <a:ext cx="154362" cy="208584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4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450">
              <a:latin typeface="Wingdings 2"/>
              <a:cs typeface="Wingdings 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236" y="2935367"/>
            <a:ext cx="154147" cy="208279"/>
          </a:xfrm>
          <a:prstGeom prst="rect">
            <a:avLst/>
          </a:prstGeom>
        </p:spPr>
        <p:txBody>
          <a:bodyPr wrap="square" lIns="0" tIns="889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450" spc="15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450">
              <a:latin typeface="Wingdings 2"/>
              <a:cs typeface="Wingdings 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236" y="4032901"/>
            <a:ext cx="154147" cy="20827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4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450">
              <a:latin typeface="Wingdings 2"/>
              <a:cs typeface="Wingdings 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236" y="5129938"/>
            <a:ext cx="154362" cy="208584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4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450">
              <a:latin typeface="Wingdings 2"/>
              <a:cs typeface="Wingdings 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74112" y="6586882"/>
            <a:ext cx="1425711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2" dirty="0" smtClean="0">
                <a:solidFill>
                  <a:srgbClr val="3E3E3E"/>
                </a:solidFill>
                <a:latin typeface="Corbel"/>
                <a:cs typeface="Corbel"/>
              </a:rPr>
              <a:t>Memory Organisation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85403" y="6586882"/>
            <a:ext cx="191437" cy="177800"/>
          </a:xfrm>
          <a:prstGeom prst="rect">
            <a:avLst/>
          </a:prstGeom>
        </p:spPr>
        <p:txBody>
          <a:bodyPr wrap="square" lIns="0" tIns="8255" rIns="0" bIns="0" rtlCol="0">
            <a:noAutofit/>
          </a:bodyPr>
          <a:lstStyle/>
          <a:p>
            <a:pPr marL="12700">
              <a:lnSpc>
                <a:spcPts val="1300"/>
              </a:lnSpc>
            </a:pPr>
            <a:r>
              <a:rPr sz="1200" spc="-50" dirty="0" smtClean="0">
                <a:solidFill>
                  <a:srgbClr val="3E3E3E"/>
                </a:solidFill>
                <a:latin typeface="Corbel"/>
                <a:cs typeface="Corbel"/>
              </a:rPr>
              <a:t>22</a:t>
            </a:r>
            <a:endParaRPr sz="1200">
              <a:latin typeface="Corbel"/>
              <a:cs typeface="Corbe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651789" y="1837182"/>
            <a:ext cx="62405" cy="1524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25400">
              <a:lnSpc>
                <a:spcPts val="1000"/>
              </a:lnSpc>
            </a:pP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4068" y="592835"/>
            <a:ext cx="5983224" cy="4663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18236" y="1932855"/>
            <a:ext cx="6550500" cy="1407668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>
              <a:lnSpc>
                <a:spcPts val="3304"/>
              </a:lnSpc>
            </a:pPr>
            <a:r>
              <a:rPr sz="2550" spc="71" dirty="0" smtClean="0">
                <a:solidFill>
                  <a:srgbClr val="EFAC00"/>
                </a:solidFill>
                <a:latin typeface="Arial"/>
                <a:cs typeface="Arial"/>
              </a:rPr>
              <a:t>•  </a:t>
            </a:r>
            <a:r>
              <a:rPr sz="3200" spc="0" dirty="0" smtClean="0">
                <a:latin typeface="Corbel"/>
                <a:cs typeface="Corbel"/>
              </a:rPr>
              <a:t>A memory unit accessed by contents</a:t>
            </a:r>
            <a:endParaRPr sz="3200">
              <a:latin typeface="Corbel"/>
              <a:cs typeface="Corbel"/>
            </a:endParaRPr>
          </a:p>
          <a:p>
            <a:pPr marL="332739" marR="61036">
              <a:lnSpc>
                <a:spcPts val="3840"/>
              </a:lnSpc>
              <a:spcBef>
                <a:spcPts val="26"/>
              </a:spcBef>
            </a:pPr>
            <a:r>
              <a:rPr sz="3200" spc="0" dirty="0" smtClean="0">
                <a:latin typeface="Corbel"/>
                <a:cs typeface="Corbel"/>
              </a:rPr>
              <a:t>an associative memory or content</a:t>
            </a:r>
            <a:endParaRPr sz="3200">
              <a:latin typeface="Corbel"/>
              <a:cs typeface="Corbel"/>
            </a:endParaRPr>
          </a:p>
          <a:p>
            <a:pPr marL="332739" marR="61036">
              <a:lnSpc>
                <a:spcPts val="3840"/>
              </a:lnSpc>
            </a:pPr>
            <a:r>
              <a:rPr sz="3200" spc="-5" dirty="0" smtClean="0">
                <a:latin typeface="Corbel"/>
                <a:cs typeface="Corbel"/>
              </a:rPr>
              <a:t>addressable memory(CAM).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60713" y="1932855"/>
            <a:ext cx="345323" cy="432308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>
              <a:lnSpc>
                <a:spcPts val="3304"/>
              </a:lnSpc>
            </a:pPr>
            <a:r>
              <a:rPr sz="3200" dirty="0" smtClean="0">
                <a:latin typeface="Corbel"/>
                <a:cs typeface="Corbel"/>
              </a:rPr>
              <a:t>is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00888" y="1932855"/>
            <a:ext cx="1074437" cy="432308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>
              <a:lnSpc>
                <a:spcPts val="3304"/>
              </a:lnSpc>
            </a:pPr>
            <a:r>
              <a:rPr sz="3200" spc="1" dirty="0" smtClean="0">
                <a:latin typeface="Corbel"/>
                <a:cs typeface="Corbel"/>
              </a:rPr>
              <a:t>called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236" y="3883956"/>
            <a:ext cx="6520656" cy="919988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 marR="61036">
              <a:lnSpc>
                <a:spcPts val="3304"/>
              </a:lnSpc>
            </a:pPr>
            <a:r>
              <a:rPr sz="2550" spc="71" dirty="0" smtClean="0">
                <a:solidFill>
                  <a:srgbClr val="EFAC00"/>
                </a:solidFill>
                <a:latin typeface="Arial"/>
                <a:cs typeface="Arial"/>
              </a:rPr>
              <a:t>•  </a:t>
            </a:r>
            <a:r>
              <a:rPr sz="3200" spc="0" dirty="0" smtClean="0">
                <a:latin typeface="Corbel"/>
                <a:cs typeface="Corbel"/>
              </a:rPr>
              <a:t>This type of memory is accessed</a:t>
            </a:r>
            <a:endParaRPr sz="3200">
              <a:latin typeface="Corbel"/>
              <a:cs typeface="Corbel"/>
            </a:endParaRPr>
          </a:p>
          <a:p>
            <a:pPr marL="332739">
              <a:lnSpc>
                <a:spcPts val="3840"/>
              </a:lnSpc>
              <a:spcBef>
                <a:spcPts val="26"/>
              </a:spcBef>
            </a:pPr>
            <a:r>
              <a:rPr sz="3200" spc="0" dirty="0" smtClean="0">
                <a:latin typeface="Corbel"/>
                <a:cs typeface="Corbel"/>
              </a:rPr>
              <a:t>simultaneously and in parallel on the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31822" y="4371636"/>
            <a:ext cx="1356019" cy="432307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>
              <a:lnSpc>
                <a:spcPts val="3304"/>
              </a:lnSpc>
            </a:pPr>
            <a:r>
              <a:rPr sz="3200" spc="1" dirty="0" smtClean="0">
                <a:latin typeface="Corbel"/>
                <a:cs typeface="Corbel"/>
              </a:rPr>
              <a:t>basis of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38276" y="4859090"/>
            <a:ext cx="7416779" cy="920494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>
              <a:lnSpc>
                <a:spcPts val="3304"/>
              </a:lnSpc>
            </a:pPr>
            <a:r>
              <a:rPr sz="3200" spc="-1" dirty="0" smtClean="0">
                <a:latin typeface="Corbel"/>
                <a:cs typeface="Corbel"/>
              </a:rPr>
              <a:t>data content rather than by specific address</a:t>
            </a:r>
            <a:endParaRPr sz="3200">
              <a:latin typeface="Corbel"/>
              <a:cs typeface="Corbel"/>
            </a:endParaRPr>
          </a:p>
          <a:p>
            <a:pPr marL="12700" marR="61081">
              <a:lnSpc>
                <a:spcPts val="3840"/>
              </a:lnSpc>
              <a:spcBef>
                <a:spcPts val="26"/>
              </a:spcBef>
            </a:pPr>
            <a:r>
              <a:rPr sz="3200" spc="0" dirty="0" smtClean="0">
                <a:latin typeface="Corbel"/>
                <a:cs typeface="Corbel"/>
              </a:rPr>
              <a:t>or location.</a:t>
            </a:r>
            <a:endParaRPr sz="3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4068" y="606551"/>
            <a:ext cx="7740396" cy="4343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8236" y="1845442"/>
            <a:ext cx="7887764" cy="1832241"/>
          </a:xfrm>
          <a:prstGeom prst="rect">
            <a:avLst/>
          </a:prstGeom>
        </p:spPr>
        <p:txBody>
          <a:bodyPr wrap="square" lIns="0" tIns="19685" rIns="0" bIns="0" rtlCol="0">
            <a:noAutofit/>
          </a:bodyPr>
          <a:lstStyle/>
          <a:p>
            <a:pPr marL="12700" marR="59808">
              <a:lnSpc>
                <a:spcPts val="3100"/>
              </a:lnSpc>
            </a:pPr>
            <a:r>
              <a:rPr sz="240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2400" spc="589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3000" b="1" spc="-1" dirty="0" smtClean="0">
                <a:latin typeface="Corbel"/>
                <a:cs typeface="Corbel"/>
              </a:rPr>
              <a:t>Write operation</a:t>
            </a:r>
            <a:r>
              <a:rPr sz="3000" spc="-1" dirty="0" smtClean="0">
                <a:latin typeface="Corbel"/>
                <a:cs typeface="Corbel"/>
              </a:rPr>
              <a:t>:</a:t>
            </a:r>
            <a:endParaRPr sz="3000">
              <a:latin typeface="Corbel"/>
              <a:cs typeface="Corbel"/>
            </a:endParaRPr>
          </a:p>
          <a:p>
            <a:pPr marL="625652" marR="122180" indent="-274320">
              <a:lnSpc>
                <a:spcPts val="3139"/>
              </a:lnSpc>
              <a:spcBef>
                <a:spcPts val="325"/>
              </a:spcBef>
              <a:tabLst>
                <a:tab pos="673100" algn="l"/>
              </a:tabLst>
            </a:pPr>
            <a:r>
              <a:rPr sz="2300" dirty="0" smtClean="0">
                <a:solidFill>
                  <a:srgbClr val="5FB5CC"/>
                </a:solidFill>
                <a:latin typeface="Wingdings"/>
                <a:cs typeface="Wingdings"/>
              </a:rPr>
              <a:t></a:t>
            </a:r>
            <a:r>
              <a:rPr sz="2300" dirty="0" smtClean="0">
                <a:solidFill>
                  <a:srgbClr val="5FB5CC"/>
                </a:solidFill>
                <a:latin typeface="Times New Roman"/>
                <a:cs typeface="Times New Roman"/>
              </a:rPr>
              <a:t>		</a:t>
            </a:r>
            <a:r>
              <a:rPr sz="2600" spc="-2" dirty="0" smtClean="0">
                <a:latin typeface="Corbel"/>
                <a:cs typeface="Corbel"/>
              </a:rPr>
              <a:t>When a word is written in in an associative memory, </a:t>
            </a:r>
            <a:endParaRPr sz="2600">
              <a:latin typeface="Corbel"/>
              <a:cs typeface="Corbel"/>
            </a:endParaRPr>
          </a:p>
          <a:p>
            <a:pPr marL="625652" marR="122180">
              <a:lnSpc>
                <a:spcPts val="3139"/>
              </a:lnSpc>
              <a:tabLst>
                <a:tab pos="673100" algn="l"/>
              </a:tabLst>
            </a:pPr>
            <a:r>
              <a:rPr sz="2600" spc="-1" dirty="0" smtClean="0">
                <a:latin typeface="Corbel"/>
                <a:cs typeface="Corbel"/>
              </a:rPr>
              <a:t>no address is given.</a:t>
            </a:r>
            <a:endParaRPr sz="2600">
              <a:latin typeface="Corbel"/>
              <a:cs typeface="Corbel"/>
            </a:endParaRPr>
          </a:p>
          <a:p>
            <a:pPr marL="351332">
              <a:lnSpc>
                <a:spcPts val="3085"/>
              </a:lnSpc>
            </a:pPr>
            <a:r>
              <a:rPr sz="2300" dirty="0" smtClean="0">
                <a:solidFill>
                  <a:srgbClr val="5FB5CC"/>
                </a:solidFill>
                <a:latin typeface="Wingdings"/>
                <a:cs typeface="Wingdings"/>
              </a:rPr>
              <a:t></a:t>
            </a:r>
            <a:r>
              <a:rPr sz="2300" spc="147" dirty="0" smtClean="0">
                <a:solidFill>
                  <a:srgbClr val="5FB5CC"/>
                </a:solidFill>
                <a:latin typeface="Times New Roman"/>
                <a:cs typeface="Times New Roman"/>
              </a:rPr>
              <a:t>  </a:t>
            </a:r>
            <a:r>
              <a:rPr sz="2600" spc="-1" dirty="0" smtClean="0">
                <a:latin typeface="Corbel"/>
                <a:cs typeface="Corbel"/>
              </a:rPr>
              <a:t>The memory is capable of finding an unused location</a:t>
            </a:r>
            <a:endParaRPr sz="2600">
              <a:latin typeface="Corbel"/>
              <a:cs typeface="Corbel"/>
            </a:endParaRPr>
          </a:p>
          <a:p>
            <a:pPr marL="625652" marR="59808">
              <a:lnSpc>
                <a:spcPts val="2550"/>
              </a:lnSpc>
            </a:pPr>
            <a:r>
              <a:rPr sz="2600" spc="-1" dirty="0" smtClean="0">
                <a:latin typeface="Corbel"/>
                <a:cs typeface="Corbel"/>
              </a:rPr>
              <a:t>to store the word.</a:t>
            </a:r>
            <a:endParaRPr sz="2600">
              <a:latin typeface="Corbel"/>
              <a:cs typeface="Corbe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18236" y="4034287"/>
            <a:ext cx="7645025" cy="2149435"/>
          </a:xfrm>
          <a:prstGeom prst="rect">
            <a:avLst/>
          </a:prstGeom>
        </p:spPr>
        <p:txBody>
          <a:bodyPr wrap="square" lIns="0" tIns="19685" rIns="0" bIns="0" rtlCol="0">
            <a:noAutofit/>
          </a:bodyPr>
          <a:lstStyle/>
          <a:p>
            <a:pPr marL="12700" marR="47108">
              <a:lnSpc>
                <a:spcPts val="3100"/>
              </a:lnSpc>
            </a:pPr>
            <a:r>
              <a:rPr sz="240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2400" spc="589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3000" b="1" spc="-4" dirty="0" smtClean="0">
                <a:latin typeface="Corbel"/>
                <a:cs typeface="Corbel"/>
              </a:rPr>
              <a:t>Read operation</a:t>
            </a:r>
            <a:r>
              <a:rPr sz="3000" spc="-4" dirty="0" smtClean="0">
                <a:latin typeface="Corbel"/>
                <a:cs typeface="Corbel"/>
              </a:rPr>
              <a:t>:</a:t>
            </a:r>
            <a:endParaRPr sz="3000">
              <a:latin typeface="Corbel"/>
              <a:cs typeface="Corbel"/>
            </a:endParaRPr>
          </a:p>
          <a:p>
            <a:pPr marL="625652" marR="143751" indent="-274320">
              <a:lnSpc>
                <a:spcPts val="3139"/>
              </a:lnSpc>
              <a:spcBef>
                <a:spcPts val="325"/>
              </a:spcBef>
              <a:tabLst>
                <a:tab pos="622300" algn="l"/>
              </a:tabLst>
            </a:pPr>
            <a:r>
              <a:rPr sz="2350" spc="-10" dirty="0" smtClean="0">
                <a:solidFill>
                  <a:srgbClr val="5FB5CC"/>
                </a:solidFill>
                <a:latin typeface="Wingdings"/>
                <a:cs typeface="Wingdings"/>
              </a:rPr>
              <a:t></a:t>
            </a:r>
            <a:r>
              <a:rPr sz="2350" spc="0" dirty="0" smtClean="0">
                <a:solidFill>
                  <a:srgbClr val="5FB5CC"/>
                </a:solidFill>
                <a:latin typeface="Times New Roman"/>
                <a:cs typeface="Times New Roman"/>
              </a:rPr>
              <a:t>	</a:t>
            </a:r>
            <a:r>
              <a:rPr sz="2600" spc="0" dirty="0" smtClean="0">
                <a:latin typeface="Corbel"/>
                <a:cs typeface="Corbel"/>
              </a:rPr>
              <a:t>When a word is to be read from an associative </a:t>
            </a:r>
            <a:endParaRPr sz="2600">
              <a:latin typeface="Corbel"/>
              <a:cs typeface="Corbel"/>
            </a:endParaRPr>
          </a:p>
          <a:p>
            <a:pPr marL="625652" marR="143751">
              <a:lnSpc>
                <a:spcPts val="3139"/>
              </a:lnSpc>
              <a:tabLst>
                <a:tab pos="622300" algn="l"/>
              </a:tabLst>
            </a:pPr>
            <a:r>
              <a:rPr sz="2600" spc="-3" dirty="0" smtClean="0">
                <a:latin typeface="Corbel"/>
                <a:cs typeface="Corbel"/>
              </a:rPr>
              <a:t>memory, the contents of the word, or a part of the </a:t>
            </a:r>
            <a:endParaRPr sz="2600">
              <a:latin typeface="Corbel"/>
              <a:cs typeface="Corbel"/>
            </a:endParaRPr>
          </a:p>
          <a:p>
            <a:pPr marL="625652" marR="143751">
              <a:lnSpc>
                <a:spcPts val="3139"/>
              </a:lnSpc>
              <a:tabLst>
                <a:tab pos="622300" algn="l"/>
              </a:tabLst>
            </a:pPr>
            <a:r>
              <a:rPr sz="2600" spc="-1" dirty="0" smtClean="0">
                <a:latin typeface="Corbel"/>
                <a:cs typeface="Corbel"/>
              </a:rPr>
              <a:t>word is specified.</a:t>
            </a:r>
            <a:endParaRPr sz="2600">
              <a:latin typeface="Corbel"/>
              <a:cs typeface="Corbel"/>
            </a:endParaRPr>
          </a:p>
          <a:p>
            <a:pPr marL="625652" indent="-274320">
              <a:lnSpc>
                <a:spcPts val="3139"/>
              </a:lnSpc>
              <a:tabLst>
                <a:tab pos="660400" algn="l"/>
              </a:tabLst>
            </a:pPr>
            <a:r>
              <a:rPr sz="2350" spc="9" dirty="0" smtClean="0">
                <a:solidFill>
                  <a:srgbClr val="5FB5CC"/>
                </a:solidFill>
                <a:latin typeface="Wingdings"/>
                <a:cs typeface="Wingdings"/>
              </a:rPr>
              <a:t></a:t>
            </a:r>
            <a:r>
              <a:rPr sz="2350" spc="0" dirty="0" smtClean="0">
                <a:solidFill>
                  <a:srgbClr val="5FB5CC"/>
                </a:solidFill>
                <a:latin typeface="Times New Roman"/>
                <a:cs typeface="Times New Roman"/>
              </a:rPr>
              <a:t>		</a:t>
            </a:r>
            <a:r>
              <a:rPr sz="2600" spc="-1" dirty="0" smtClean="0">
                <a:latin typeface="Corbel"/>
                <a:cs typeface="Corbel"/>
              </a:rPr>
              <a:t>The memory locates all the words which match the </a:t>
            </a:r>
            <a:endParaRPr sz="2600">
              <a:latin typeface="Corbel"/>
              <a:cs typeface="Corbel"/>
            </a:endParaRPr>
          </a:p>
          <a:p>
            <a:pPr marL="625652">
              <a:lnSpc>
                <a:spcPts val="3139"/>
              </a:lnSpc>
              <a:tabLst>
                <a:tab pos="660400" algn="l"/>
              </a:tabLst>
            </a:pPr>
            <a:r>
              <a:rPr sz="2600" spc="-2" dirty="0" smtClean="0">
                <a:latin typeface="Corbel"/>
                <a:cs typeface="Corbel"/>
              </a:rPr>
              <a:t>specified content and marks them for reading.</a:t>
            </a:r>
            <a:endParaRPr sz="2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4068" y="589788"/>
            <a:ext cx="7403592" cy="4754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40708" y="1700784"/>
            <a:ext cx="4471416" cy="49682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0200" y="1561165"/>
            <a:ext cx="3261858" cy="803120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b="1" dirty="0" smtClean="0">
                <a:latin typeface="Corbel"/>
                <a:cs typeface="Corbel"/>
              </a:rPr>
              <a:t>Argument register(A): </a:t>
            </a:r>
            <a:r>
              <a:rPr sz="1800" dirty="0" smtClean="0">
                <a:latin typeface="Corbel"/>
                <a:cs typeface="Corbel"/>
              </a:rPr>
              <a:t>It contains</a:t>
            </a:r>
            <a:endParaRPr sz="1800">
              <a:latin typeface="Corbel"/>
              <a:cs typeface="Corbel"/>
            </a:endParaRPr>
          </a:p>
          <a:p>
            <a:pPr marL="12700" marR="34335">
              <a:lnSpc>
                <a:spcPts val="2160"/>
              </a:lnSpc>
              <a:spcBef>
                <a:spcPts val="13"/>
              </a:spcBef>
            </a:pPr>
            <a:r>
              <a:rPr sz="1800" spc="1" dirty="0" smtClean="0">
                <a:latin typeface="Corbel"/>
                <a:cs typeface="Corbel"/>
              </a:rPr>
              <a:t>the word to be searched. It has </a:t>
            </a:r>
            <a:r>
              <a:rPr sz="1800" i="1" spc="1" dirty="0" smtClean="0">
                <a:latin typeface="Corbel"/>
                <a:cs typeface="Corbel"/>
              </a:rPr>
              <a:t>n</a:t>
            </a:r>
            <a:endParaRPr sz="1800">
              <a:latin typeface="Corbel"/>
              <a:cs typeface="Corbel"/>
            </a:endParaRPr>
          </a:p>
          <a:p>
            <a:pPr marL="12700" marR="34335">
              <a:lnSpc>
                <a:spcPts val="2160"/>
              </a:lnSpc>
            </a:pPr>
            <a:r>
              <a:rPr sz="1800" spc="0" dirty="0" smtClean="0">
                <a:latin typeface="Corbel"/>
                <a:cs typeface="Corbel"/>
              </a:rPr>
              <a:t>bits(one for each bit of the word).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0200" y="2658926"/>
            <a:ext cx="3413593" cy="1077341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289">
              <a:lnSpc>
                <a:spcPts val="1900"/>
              </a:lnSpc>
            </a:pPr>
            <a:r>
              <a:rPr sz="1800" b="1" spc="-2" dirty="0" smtClean="0">
                <a:latin typeface="Corbel"/>
                <a:cs typeface="Corbel"/>
              </a:rPr>
              <a:t>Key Register(K): </a:t>
            </a:r>
            <a:r>
              <a:rPr sz="1800" spc="-2" dirty="0" smtClean="0">
                <a:latin typeface="Corbel"/>
                <a:cs typeface="Corbel"/>
              </a:rPr>
              <a:t>It provides mask</a:t>
            </a:r>
            <a:endParaRPr sz="1800">
              <a:latin typeface="Corbel"/>
              <a:cs typeface="Corbel"/>
            </a:endParaRPr>
          </a:p>
          <a:p>
            <a:pPr marL="12700">
              <a:lnSpc>
                <a:spcPts val="2160"/>
              </a:lnSpc>
              <a:spcBef>
                <a:spcPts val="13"/>
              </a:spcBef>
            </a:pPr>
            <a:r>
              <a:rPr sz="1800" spc="-1" dirty="0" smtClean="0">
                <a:latin typeface="Corbel"/>
                <a:cs typeface="Corbel"/>
              </a:rPr>
              <a:t>for choosing a particular field or key</a:t>
            </a:r>
            <a:endParaRPr sz="1800">
              <a:latin typeface="Corbel"/>
              <a:cs typeface="Corbel"/>
            </a:endParaRPr>
          </a:p>
          <a:p>
            <a:pPr marL="12700" marR="34289">
              <a:lnSpc>
                <a:spcPts val="2165"/>
              </a:lnSpc>
              <a:spcBef>
                <a:spcPts val="0"/>
              </a:spcBef>
            </a:pPr>
            <a:r>
              <a:rPr sz="1800" spc="1" dirty="0" smtClean="0">
                <a:latin typeface="Corbel"/>
                <a:cs typeface="Corbel"/>
              </a:rPr>
              <a:t>in the argument word. It also has </a:t>
            </a:r>
            <a:r>
              <a:rPr sz="1800" i="1" spc="1" dirty="0" smtClean="0">
                <a:latin typeface="Corbel"/>
                <a:cs typeface="Corbel"/>
              </a:rPr>
              <a:t>n</a:t>
            </a:r>
            <a:endParaRPr sz="1800">
              <a:latin typeface="Corbel"/>
              <a:cs typeface="Corbel"/>
            </a:endParaRPr>
          </a:p>
          <a:p>
            <a:pPr marL="12700" marR="34289">
              <a:lnSpc>
                <a:spcPts val="2160"/>
              </a:lnSpc>
            </a:pPr>
            <a:r>
              <a:rPr sz="1800" dirty="0" smtClean="0">
                <a:latin typeface="Corbel"/>
                <a:cs typeface="Corbel"/>
              </a:rPr>
              <a:t>bits.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30200" y="4030907"/>
            <a:ext cx="3410023" cy="802718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 marR="34335">
              <a:lnSpc>
                <a:spcPts val="1900"/>
              </a:lnSpc>
            </a:pPr>
            <a:r>
              <a:rPr sz="1800" b="1" spc="0" dirty="0" smtClean="0">
                <a:latin typeface="Corbel"/>
                <a:cs typeface="Corbel"/>
              </a:rPr>
              <a:t>Associative memory array: </a:t>
            </a:r>
            <a:r>
              <a:rPr sz="1800" spc="0" dirty="0" smtClean="0">
                <a:latin typeface="Corbel"/>
                <a:cs typeface="Corbel"/>
              </a:rPr>
              <a:t>It</a:t>
            </a:r>
            <a:endParaRPr sz="1800">
              <a:latin typeface="Corbel"/>
              <a:cs typeface="Corbel"/>
            </a:endParaRPr>
          </a:p>
          <a:p>
            <a:pPr marL="12700" marR="34335">
              <a:lnSpc>
                <a:spcPts val="2160"/>
              </a:lnSpc>
              <a:spcBef>
                <a:spcPts val="13"/>
              </a:spcBef>
            </a:pPr>
            <a:r>
              <a:rPr sz="1800" spc="1" dirty="0" smtClean="0">
                <a:latin typeface="Corbel"/>
                <a:cs typeface="Corbel"/>
              </a:rPr>
              <a:t>contains the words which are to be</a:t>
            </a:r>
            <a:endParaRPr sz="1800">
              <a:latin typeface="Corbel"/>
              <a:cs typeface="Corbel"/>
            </a:endParaRPr>
          </a:p>
          <a:p>
            <a:pPr marL="12700">
              <a:lnSpc>
                <a:spcPts val="2160"/>
              </a:lnSpc>
            </a:pPr>
            <a:r>
              <a:rPr sz="1800" spc="0" dirty="0" smtClean="0">
                <a:latin typeface="Corbel"/>
                <a:cs typeface="Corbel"/>
              </a:rPr>
              <a:t>compared with the argument word.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330200" y="5128441"/>
            <a:ext cx="3541469" cy="1625904"/>
          </a:xfrm>
          <a:prstGeom prst="rect">
            <a:avLst/>
          </a:prstGeom>
        </p:spPr>
        <p:txBody>
          <a:bodyPr wrap="square" lIns="0" tIns="12065" rIns="0" bIns="0" rtlCol="0">
            <a:noAutofit/>
          </a:bodyPr>
          <a:lstStyle/>
          <a:p>
            <a:pPr marL="12700">
              <a:lnSpc>
                <a:spcPts val="1900"/>
              </a:lnSpc>
            </a:pPr>
            <a:r>
              <a:rPr sz="1800" b="1" spc="0" dirty="0" smtClean="0">
                <a:latin typeface="Corbel"/>
                <a:cs typeface="Corbel"/>
              </a:rPr>
              <a:t>Match Register(M):</a:t>
            </a:r>
            <a:r>
              <a:rPr sz="1800" spc="0" dirty="0" smtClean="0">
                <a:latin typeface="Corbel"/>
                <a:cs typeface="Corbel"/>
              </a:rPr>
              <a:t>It has m bits, one</a:t>
            </a:r>
            <a:endParaRPr sz="1800">
              <a:latin typeface="Corbel"/>
              <a:cs typeface="Corbel"/>
            </a:endParaRPr>
          </a:p>
          <a:p>
            <a:pPr marL="12700" marR="34289">
              <a:lnSpc>
                <a:spcPts val="2160"/>
              </a:lnSpc>
              <a:spcBef>
                <a:spcPts val="13"/>
              </a:spcBef>
            </a:pPr>
            <a:r>
              <a:rPr sz="1800" dirty="0" smtClean="0">
                <a:latin typeface="Corbel"/>
                <a:cs typeface="Corbel"/>
              </a:rPr>
              <a:t>bit corresponding to each word in</a:t>
            </a:r>
            <a:endParaRPr sz="1800">
              <a:latin typeface="Corbel"/>
              <a:cs typeface="Corbel"/>
            </a:endParaRPr>
          </a:p>
          <a:p>
            <a:pPr marL="12700" marR="34289">
              <a:lnSpc>
                <a:spcPts val="2160"/>
              </a:lnSpc>
            </a:pPr>
            <a:r>
              <a:rPr sz="1800" spc="-2" dirty="0" smtClean="0">
                <a:latin typeface="Corbel"/>
                <a:cs typeface="Corbel"/>
              </a:rPr>
              <a:t>the memory array . After the</a:t>
            </a:r>
            <a:endParaRPr sz="1800">
              <a:latin typeface="Corbel"/>
              <a:cs typeface="Corbel"/>
            </a:endParaRPr>
          </a:p>
          <a:p>
            <a:pPr marL="12700" marR="34289">
              <a:lnSpc>
                <a:spcPts val="2160"/>
              </a:lnSpc>
            </a:pPr>
            <a:r>
              <a:rPr sz="1800" spc="0" dirty="0" smtClean="0">
                <a:latin typeface="Corbel"/>
                <a:cs typeface="Corbel"/>
              </a:rPr>
              <a:t>matching process, the bits</a:t>
            </a:r>
            <a:endParaRPr sz="1800">
              <a:latin typeface="Corbel"/>
              <a:cs typeface="Corbel"/>
            </a:endParaRPr>
          </a:p>
          <a:p>
            <a:pPr marL="12700" marR="34289">
              <a:lnSpc>
                <a:spcPts val="2160"/>
              </a:lnSpc>
            </a:pPr>
            <a:r>
              <a:rPr sz="1800" spc="0" dirty="0" smtClean="0">
                <a:latin typeface="Corbel"/>
                <a:cs typeface="Corbel"/>
              </a:rPr>
              <a:t>corresponding to matching words in</a:t>
            </a:r>
            <a:endParaRPr sz="1800">
              <a:latin typeface="Corbel"/>
              <a:cs typeface="Corbel"/>
            </a:endParaRPr>
          </a:p>
          <a:p>
            <a:pPr marL="12700" marR="34289">
              <a:lnSpc>
                <a:spcPts val="2160"/>
              </a:lnSpc>
            </a:pPr>
            <a:r>
              <a:rPr sz="1800" spc="0" dirty="0" smtClean="0">
                <a:latin typeface="Corbel"/>
                <a:cs typeface="Corbel"/>
              </a:rPr>
              <a:t>match register are set to 1.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4068" y="589788"/>
            <a:ext cx="5497067" cy="4754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79676" y="5114543"/>
            <a:ext cx="4991100" cy="17419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487172" y="1626431"/>
            <a:ext cx="8369654" cy="3676191"/>
          </a:xfrm>
          <a:prstGeom prst="rect">
            <a:avLst/>
          </a:prstGeom>
        </p:spPr>
        <p:txBody>
          <a:bodyPr wrap="square" lIns="0" tIns="15525" rIns="0" bIns="0" rtlCol="0">
            <a:noAutofit/>
          </a:bodyPr>
          <a:lstStyle/>
          <a:p>
            <a:pPr marL="12700" marR="44622">
              <a:lnSpc>
                <a:spcPts val="2445"/>
              </a:lnSpc>
            </a:pPr>
            <a:r>
              <a:rPr sz="2200" spc="-158" dirty="0" smtClean="0">
                <a:solidFill>
                  <a:srgbClr val="EFAC00"/>
                </a:solidFill>
                <a:latin typeface="Arial"/>
                <a:cs typeface="Arial"/>
              </a:rPr>
              <a:t>• </a:t>
            </a:r>
            <a:r>
              <a:rPr sz="2200" spc="-6" dirty="0" smtClean="0">
                <a:latin typeface="Corbel"/>
                <a:cs typeface="Corbel"/>
              </a:rPr>
              <a:t>The entire argument word is compared with each memory word, if the</a:t>
            </a:r>
            <a:endParaRPr sz="2200">
              <a:latin typeface="Corbel"/>
              <a:cs typeface="Corbel"/>
            </a:endParaRPr>
          </a:p>
          <a:p>
            <a:pPr marL="12700" marR="44622">
              <a:lnSpc>
                <a:spcPts val="2640"/>
              </a:lnSpc>
              <a:spcBef>
                <a:spcPts val="9"/>
              </a:spcBef>
            </a:pPr>
            <a:r>
              <a:rPr sz="2200" spc="-5" dirty="0" smtClean="0">
                <a:latin typeface="Corbel"/>
                <a:cs typeface="Corbel"/>
              </a:rPr>
              <a:t>key register contains all 1’s. Otherwise, only those bits in the argument</a:t>
            </a:r>
            <a:endParaRPr sz="2200">
              <a:latin typeface="Corbel"/>
              <a:cs typeface="Corbel"/>
            </a:endParaRPr>
          </a:p>
          <a:p>
            <a:pPr marL="12700" marR="44622">
              <a:lnSpc>
                <a:spcPts val="2640"/>
              </a:lnSpc>
            </a:pPr>
            <a:r>
              <a:rPr sz="2200" spc="-5" dirty="0" smtClean="0">
                <a:latin typeface="Corbel"/>
                <a:cs typeface="Corbel"/>
              </a:rPr>
              <a:t>that have 1’s in their corresponding position of the key register are</a:t>
            </a:r>
            <a:endParaRPr sz="2200">
              <a:latin typeface="Corbel"/>
              <a:cs typeface="Corbel"/>
            </a:endParaRPr>
          </a:p>
          <a:p>
            <a:pPr marL="12700" marR="44622">
              <a:lnSpc>
                <a:spcPts val="2640"/>
              </a:lnSpc>
            </a:pPr>
            <a:r>
              <a:rPr sz="2200" spc="1" dirty="0" smtClean="0">
                <a:latin typeface="Corbel"/>
                <a:cs typeface="Corbel"/>
              </a:rPr>
              <a:t>compared.</a:t>
            </a:r>
            <a:endParaRPr sz="2200">
              <a:latin typeface="Corbel"/>
              <a:cs typeface="Corbel"/>
            </a:endParaRPr>
          </a:p>
          <a:p>
            <a:pPr marL="12700" marR="44622">
              <a:lnSpc>
                <a:spcPts val="2640"/>
              </a:lnSpc>
            </a:pPr>
            <a:r>
              <a:rPr sz="2200" spc="14" dirty="0" smtClean="0">
                <a:solidFill>
                  <a:srgbClr val="EFAC00"/>
                </a:solidFill>
                <a:latin typeface="Arial"/>
                <a:cs typeface="Arial"/>
              </a:rPr>
              <a:t>•</a:t>
            </a:r>
            <a:r>
              <a:rPr sz="2200" spc="-7" dirty="0" smtClean="0">
                <a:latin typeface="Corbel"/>
                <a:cs typeface="Corbel"/>
              </a:rPr>
              <a:t>Thus the key provides a mask or identifying piece of information which</a:t>
            </a:r>
            <a:endParaRPr sz="2200">
              <a:latin typeface="Corbel"/>
              <a:cs typeface="Corbel"/>
            </a:endParaRPr>
          </a:p>
          <a:p>
            <a:pPr marL="12700" marR="44622">
              <a:lnSpc>
                <a:spcPts val="2640"/>
              </a:lnSpc>
            </a:pPr>
            <a:r>
              <a:rPr sz="2200" spc="-3" dirty="0" smtClean="0">
                <a:latin typeface="Corbel"/>
                <a:cs typeface="Corbel"/>
              </a:rPr>
              <a:t>specifies how the reference to memory is made.</a:t>
            </a:r>
            <a:endParaRPr sz="2200">
              <a:latin typeface="Corbel"/>
              <a:cs typeface="Corbel"/>
            </a:endParaRPr>
          </a:p>
          <a:p>
            <a:pPr marL="12700" marR="44622">
              <a:lnSpc>
                <a:spcPts val="2640"/>
              </a:lnSpc>
            </a:pPr>
            <a:r>
              <a:rPr sz="2200" spc="14" dirty="0" smtClean="0">
                <a:solidFill>
                  <a:srgbClr val="EFAC00"/>
                </a:solidFill>
                <a:latin typeface="Arial"/>
                <a:cs typeface="Arial"/>
              </a:rPr>
              <a:t>•</a:t>
            </a:r>
            <a:r>
              <a:rPr sz="2200" spc="-6" dirty="0" smtClean="0">
                <a:latin typeface="Corbel"/>
                <a:cs typeface="Corbel"/>
              </a:rPr>
              <a:t>To illustrate with a numerical example, suppose that the argument</a:t>
            </a:r>
            <a:endParaRPr sz="2200">
              <a:latin typeface="Corbel"/>
              <a:cs typeface="Corbel"/>
            </a:endParaRPr>
          </a:p>
          <a:p>
            <a:pPr marL="12700" marR="44622">
              <a:lnSpc>
                <a:spcPts val="2640"/>
              </a:lnSpc>
            </a:pPr>
            <a:r>
              <a:rPr sz="2200" spc="-1" dirty="0" smtClean="0">
                <a:latin typeface="Corbel"/>
                <a:cs typeface="Corbel"/>
              </a:rPr>
              <a:t>register A and the key register K have the bit configuration as shown</a:t>
            </a:r>
            <a:endParaRPr sz="2200">
              <a:latin typeface="Corbel"/>
              <a:cs typeface="Corbel"/>
            </a:endParaRPr>
          </a:p>
          <a:p>
            <a:pPr marL="12700" marR="44622">
              <a:lnSpc>
                <a:spcPts val="2640"/>
              </a:lnSpc>
            </a:pPr>
            <a:r>
              <a:rPr sz="2200" spc="-9" dirty="0" smtClean="0">
                <a:latin typeface="Corbel"/>
                <a:cs typeface="Corbel"/>
              </a:rPr>
              <a:t>below.</a:t>
            </a:r>
            <a:endParaRPr sz="2200">
              <a:latin typeface="Corbel"/>
              <a:cs typeface="Corbel"/>
            </a:endParaRPr>
          </a:p>
          <a:p>
            <a:pPr marL="12700">
              <a:lnSpc>
                <a:spcPts val="2640"/>
              </a:lnSpc>
            </a:pPr>
            <a:r>
              <a:rPr sz="2200" spc="14" dirty="0" smtClean="0">
                <a:solidFill>
                  <a:srgbClr val="EFAC00"/>
                </a:solidFill>
                <a:latin typeface="Arial"/>
                <a:cs typeface="Arial"/>
              </a:rPr>
              <a:t>•</a:t>
            </a:r>
            <a:r>
              <a:rPr sz="2200" spc="-7" dirty="0" smtClean="0">
                <a:latin typeface="Corbel"/>
                <a:cs typeface="Corbel"/>
              </a:rPr>
              <a:t>Only the three left most bits of A are compared with the memory words</a:t>
            </a:r>
            <a:endParaRPr sz="2200">
              <a:latin typeface="Corbel"/>
              <a:cs typeface="Corbel"/>
            </a:endParaRPr>
          </a:p>
          <a:p>
            <a:pPr marL="12700" marR="44622">
              <a:lnSpc>
                <a:spcPts val="2640"/>
              </a:lnSpc>
            </a:pPr>
            <a:r>
              <a:rPr sz="2200" spc="-8" dirty="0" smtClean="0">
                <a:latin typeface="Corbel"/>
                <a:cs typeface="Corbel"/>
              </a:rPr>
              <a:t>because K has 1’s in these three positions only.</a:t>
            </a:r>
            <a:endParaRPr sz="2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4068" y="589788"/>
            <a:ext cx="4146804" cy="4754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8236" y="1932855"/>
            <a:ext cx="7865598" cy="2383409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 marR="61036">
              <a:lnSpc>
                <a:spcPts val="3304"/>
              </a:lnSpc>
            </a:pPr>
            <a:r>
              <a:rPr sz="25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2550" spc="467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3200" spc="0" dirty="0" smtClean="0">
                <a:latin typeface="Corbel"/>
                <a:cs typeface="Corbel"/>
              </a:rPr>
              <a:t>An associative memory is more expensive</a:t>
            </a:r>
            <a:endParaRPr sz="3200">
              <a:latin typeface="Corbel"/>
              <a:cs typeface="Corbel"/>
            </a:endParaRPr>
          </a:p>
          <a:p>
            <a:pPr marL="332739">
              <a:lnSpc>
                <a:spcPts val="3840"/>
              </a:lnSpc>
              <a:spcBef>
                <a:spcPts val="26"/>
              </a:spcBef>
            </a:pPr>
            <a:r>
              <a:rPr sz="3200" spc="-1" dirty="0" smtClean="0">
                <a:latin typeface="Corbel"/>
                <a:cs typeface="Corbel"/>
              </a:rPr>
              <a:t>than a random access memory because each</a:t>
            </a:r>
            <a:endParaRPr sz="3200">
              <a:latin typeface="Corbel"/>
              <a:cs typeface="Corbel"/>
            </a:endParaRPr>
          </a:p>
          <a:p>
            <a:pPr marL="332739" marR="61036">
              <a:lnSpc>
                <a:spcPts val="3840"/>
              </a:lnSpc>
            </a:pPr>
            <a:r>
              <a:rPr sz="3200" spc="0" dirty="0" smtClean="0">
                <a:latin typeface="Corbel"/>
                <a:cs typeface="Corbel"/>
              </a:rPr>
              <a:t>cell must have an extra storage capability as</a:t>
            </a:r>
            <a:endParaRPr sz="3200">
              <a:latin typeface="Corbel"/>
              <a:cs typeface="Corbel"/>
            </a:endParaRPr>
          </a:p>
          <a:p>
            <a:pPr marL="332739" marR="61036">
              <a:lnSpc>
                <a:spcPts val="3845"/>
              </a:lnSpc>
              <a:spcBef>
                <a:spcPts val="0"/>
              </a:spcBef>
            </a:pPr>
            <a:r>
              <a:rPr sz="3200" spc="0" dirty="0" smtClean="0">
                <a:latin typeface="Corbel"/>
                <a:cs typeface="Corbel"/>
              </a:rPr>
              <a:t>well as logic circuits for matching its content</a:t>
            </a:r>
            <a:endParaRPr sz="3200">
              <a:latin typeface="Corbel"/>
              <a:cs typeface="Corbel"/>
            </a:endParaRPr>
          </a:p>
          <a:p>
            <a:pPr marL="332739" marR="61036">
              <a:lnSpc>
                <a:spcPts val="3840"/>
              </a:lnSpc>
            </a:pPr>
            <a:r>
              <a:rPr sz="3200" spc="0" dirty="0" smtClean="0">
                <a:latin typeface="Corbel"/>
                <a:cs typeface="Corbel"/>
              </a:rPr>
              <a:t>with an external argument.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18236" y="4859090"/>
            <a:ext cx="7844441" cy="1408174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 marR="61036">
              <a:lnSpc>
                <a:spcPts val="3304"/>
              </a:lnSpc>
            </a:pPr>
            <a:r>
              <a:rPr sz="25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2550" spc="467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3200" spc="0" dirty="0" smtClean="0">
                <a:latin typeface="Corbel"/>
                <a:cs typeface="Corbel"/>
              </a:rPr>
              <a:t>For this reason, associative memories are</a:t>
            </a:r>
            <a:endParaRPr sz="3200">
              <a:latin typeface="Corbel"/>
              <a:cs typeface="Corbel"/>
            </a:endParaRPr>
          </a:p>
          <a:p>
            <a:pPr marL="332739">
              <a:lnSpc>
                <a:spcPts val="3840"/>
              </a:lnSpc>
              <a:spcBef>
                <a:spcPts val="26"/>
              </a:spcBef>
            </a:pPr>
            <a:r>
              <a:rPr sz="3200" spc="0" dirty="0" smtClean="0">
                <a:latin typeface="Corbel"/>
                <a:cs typeface="Corbel"/>
              </a:rPr>
              <a:t>used in applications where the search time is</a:t>
            </a:r>
            <a:endParaRPr sz="3200">
              <a:latin typeface="Corbel"/>
              <a:cs typeface="Corbel"/>
            </a:endParaRPr>
          </a:p>
          <a:p>
            <a:pPr marL="332739" marR="61036">
              <a:lnSpc>
                <a:spcPts val="3840"/>
              </a:lnSpc>
            </a:pPr>
            <a:r>
              <a:rPr sz="3200" spc="0" dirty="0" smtClean="0">
                <a:latin typeface="Corbel"/>
                <a:cs typeface="Corbel"/>
              </a:rPr>
              <a:t>very critical and must be very short.</a:t>
            </a:r>
            <a:endParaRPr sz="3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4068" y="589788"/>
            <a:ext cx="4411980" cy="4754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38276" y="1846421"/>
            <a:ext cx="7480223" cy="4477664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12700" marR="210987">
              <a:lnSpc>
                <a:spcPts val="3381"/>
              </a:lnSpc>
            </a:pPr>
            <a:r>
              <a:rPr sz="2800" spc="-5" dirty="0" smtClean="0">
                <a:latin typeface="Corbel"/>
                <a:cs typeface="Corbel"/>
              </a:rPr>
              <a:t>If the active portions of the program and data are </a:t>
            </a:r>
            <a:endParaRPr sz="2800">
              <a:latin typeface="Corbel"/>
              <a:cs typeface="Corbel"/>
            </a:endParaRPr>
          </a:p>
          <a:p>
            <a:pPr marL="12700" marR="210987">
              <a:lnSpc>
                <a:spcPts val="3382"/>
              </a:lnSpc>
            </a:pPr>
            <a:r>
              <a:rPr sz="2800" spc="-5" dirty="0" smtClean="0">
                <a:latin typeface="Corbel"/>
                <a:cs typeface="Corbel"/>
              </a:rPr>
              <a:t>placed in a fast small memory, the </a:t>
            </a:r>
            <a:r>
              <a:rPr sz="2800" b="1" spc="-5" dirty="0" smtClean="0">
                <a:latin typeface="Corbel"/>
                <a:cs typeface="Corbel"/>
              </a:rPr>
              <a:t>average </a:t>
            </a:r>
            <a:endParaRPr sz="2800">
              <a:latin typeface="Corbel"/>
              <a:cs typeface="Corbel"/>
            </a:endParaRPr>
          </a:p>
          <a:p>
            <a:pPr marL="12700" marR="210987">
              <a:lnSpc>
                <a:spcPts val="3382"/>
              </a:lnSpc>
            </a:pPr>
            <a:r>
              <a:rPr sz="2800" b="1" spc="-5" dirty="0" smtClean="0">
                <a:latin typeface="Corbel"/>
                <a:cs typeface="Corbel"/>
              </a:rPr>
              <a:t>memory access time </a:t>
            </a:r>
            <a:r>
              <a:rPr sz="2800" spc="-5" dirty="0" smtClean="0">
                <a:latin typeface="Corbel"/>
                <a:cs typeface="Corbel"/>
              </a:rPr>
              <a:t>can be reduced.</a:t>
            </a:r>
            <a:endParaRPr sz="2800">
              <a:latin typeface="Corbel"/>
              <a:cs typeface="Corbel"/>
            </a:endParaRPr>
          </a:p>
          <a:p>
            <a:pPr marL="12700" marR="51709">
              <a:lnSpc>
                <a:spcPts val="3329"/>
              </a:lnSpc>
              <a:spcBef>
                <a:spcPts val="1615"/>
              </a:spcBef>
            </a:pPr>
            <a:r>
              <a:rPr sz="2800" spc="0" dirty="0" smtClean="0">
                <a:latin typeface="Corbel"/>
                <a:cs typeface="Corbel"/>
              </a:rPr>
              <a:t>Thus reducing the </a:t>
            </a:r>
            <a:r>
              <a:rPr sz="2800" b="1" spc="0" dirty="0" smtClean="0">
                <a:latin typeface="Corbel"/>
                <a:cs typeface="Corbel"/>
              </a:rPr>
              <a:t>total execution time </a:t>
            </a:r>
            <a:r>
              <a:rPr sz="2800" spc="0" dirty="0" smtClean="0">
                <a:latin typeface="Corbel"/>
                <a:cs typeface="Corbel"/>
              </a:rPr>
              <a:t>of the</a:t>
            </a:r>
            <a:endParaRPr sz="2800">
              <a:latin typeface="Corbel"/>
              <a:cs typeface="Corbel"/>
            </a:endParaRPr>
          </a:p>
          <a:p>
            <a:pPr marL="12700" marR="51709">
              <a:lnSpc>
                <a:spcPts val="2745"/>
              </a:lnSpc>
            </a:pPr>
            <a:r>
              <a:rPr sz="2800" spc="1" dirty="0" smtClean="0">
                <a:latin typeface="Corbel"/>
                <a:cs typeface="Corbel"/>
              </a:rPr>
              <a:t>program</a:t>
            </a:r>
            <a:endParaRPr sz="2800">
              <a:latin typeface="Corbel"/>
              <a:cs typeface="Corbel"/>
            </a:endParaRPr>
          </a:p>
          <a:p>
            <a:pPr marL="12700" marR="51709">
              <a:lnSpc>
                <a:spcPts val="3325"/>
              </a:lnSpc>
              <a:spcBef>
                <a:spcPts val="2023"/>
              </a:spcBef>
            </a:pPr>
            <a:r>
              <a:rPr sz="2800" spc="-1" dirty="0" smtClean="0">
                <a:latin typeface="Corbel"/>
                <a:cs typeface="Corbel"/>
              </a:rPr>
              <a:t>Such a fast small memory is referred to as cache</a:t>
            </a:r>
            <a:endParaRPr sz="2800">
              <a:latin typeface="Corbel"/>
              <a:cs typeface="Corbel"/>
            </a:endParaRPr>
          </a:p>
          <a:p>
            <a:pPr marL="12700" marR="51709">
              <a:lnSpc>
                <a:spcPts val="2745"/>
              </a:lnSpc>
            </a:pPr>
            <a:r>
              <a:rPr sz="2800" dirty="0" smtClean="0">
                <a:latin typeface="Corbel"/>
                <a:cs typeface="Corbel"/>
              </a:rPr>
              <a:t>memory</a:t>
            </a:r>
            <a:endParaRPr sz="2800">
              <a:latin typeface="Corbel"/>
              <a:cs typeface="Corbel"/>
            </a:endParaRPr>
          </a:p>
          <a:p>
            <a:pPr marL="12700">
              <a:lnSpc>
                <a:spcPts val="3381"/>
              </a:lnSpc>
              <a:spcBef>
                <a:spcPts val="2405"/>
              </a:spcBef>
            </a:pPr>
            <a:r>
              <a:rPr sz="2800" spc="-6" dirty="0" smtClean="0">
                <a:latin typeface="Corbel"/>
                <a:cs typeface="Corbel"/>
              </a:rPr>
              <a:t>The cache is the fastest component in the memory </a:t>
            </a:r>
            <a:endParaRPr sz="2800">
              <a:latin typeface="Corbel"/>
              <a:cs typeface="Corbel"/>
            </a:endParaRPr>
          </a:p>
          <a:p>
            <a:pPr marL="12700">
              <a:lnSpc>
                <a:spcPts val="3381"/>
              </a:lnSpc>
            </a:pPr>
            <a:r>
              <a:rPr sz="2800" spc="-8" dirty="0" smtClean="0">
                <a:latin typeface="Corbel"/>
                <a:cs typeface="Corbel"/>
              </a:rPr>
              <a:t>hierarchy and approaches the speed of CPU </a:t>
            </a:r>
            <a:endParaRPr sz="2800">
              <a:latin typeface="Corbel"/>
              <a:cs typeface="Corbel"/>
            </a:endParaRPr>
          </a:p>
          <a:p>
            <a:pPr marL="12700">
              <a:lnSpc>
                <a:spcPts val="3381"/>
              </a:lnSpc>
            </a:pPr>
            <a:r>
              <a:rPr sz="2800" spc="1" dirty="0" smtClean="0">
                <a:latin typeface="Corbel"/>
                <a:cs typeface="Corbel"/>
              </a:rPr>
              <a:t>component</a:t>
            </a:r>
            <a:endParaRPr sz="28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236" y="1882521"/>
            <a:ext cx="226031" cy="310388"/>
          </a:xfrm>
          <a:prstGeom prst="rect">
            <a:avLst/>
          </a:prstGeom>
        </p:spPr>
        <p:txBody>
          <a:bodyPr wrap="square" lIns="0" tIns="15049" rIns="0" bIns="0" rtlCol="0">
            <a:noAutofit/>
          </a:bodyPr>
          <a:lstStyle/>
          <a:p>
            <a:pPr marL="12700">
              <a:lnSpc>
                <a:spcPts val="2370"/>
              </a:lnSpc>
            </a:pPr>
            <a:r>
              <a:rPr sz="22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2250">
              <a:latin typeface="Wingdings 2"/>
              <a:cs typeface="Wingdings 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236" y="3247782"/>
            <a:ext cx="226246" cy="3106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22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2250">
              <a:latin typeface="Wingdings 2"/>
              <a:cs typeface="Wingdings 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236" y="4272535"/>
            <a:ext cx="226031" cy="310388"/>
          </a:xfrm>
          <a:prstGeom prst="rect">
            <a:avLst/>
          </a:prstGeom>
        </p:spPr>
        <p:txBody>
          <a:bodyPr wrap="square" lIns="0" tIns="15049" rIns="0" bIns="0" rtlCol="0">
            <a:noAutofit/>
          </a:bodyPr>
          <a:lstStyle/>
          <a:p>
            <a:pPr marL="12700">
              <a:lnSpc>
                <a:spcPts val="2370"/>
              </a:lnSpc>
            </a:pPr>
            <a:r>
              <a:rPr sz="22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2250">
              <a:latin typeface="Wingdings 2"/>
              <a:cs typeface="Wingdings 2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18236" y="5296917"/>
            <a:ext cx="226031" cy="310388"/>
          </a:xfrm>
          <a:prstGeom prst="rect">
            <a:avLst/>
          </a:prstGeom>
        </p:spPr>
        <p:txBody>
          <a:bodyPr wrap="square" lIns="0" tIns="15049" rIns="0" bIns="0" rtlCol="0">
            <a:noAutofit/>
          </a:bodyPr>
          <a:lstStyle/>
          <a:p>
            <a:pPr marL="12700">
              <a:lnSpc>
                <a:spcPts val="2370"/>
              </a:lnSpc>
            </a:pPr>
            <a:r>
              <a:rPr sz="22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2250">
              <a:latin typeface="Wingdings 2"/>
              <a:cs typeface="Wingdings 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4068" y="559308"/>
            <a:ext cx="6352032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38276" y="1846841"/>
            <a:ext cx="7502873" cy="4610733"/>
          </a:xfrm>
          <a:prstGeom prst="rect">
            <a:avLst/>
          </a:prstGeom>
        </p:spPr>
        <p:txBody>
          <a:bodyPr wrap="square" lIns="0" tIns="16192" rIns="0" bIns="0" rtlCol="0">
            <a:noAutofit/>
          </a:bodyPr>
          <a:lstStyle/>
          <a:p>
            <a:pPr marL="12700" marR="1077771" algn="just">
              <a:lnSpc>
                <a:spcPts val="2550"/>
              </a:lnSpc>
            </a:pPr>
            <a:r>
              <a:rPr sz="2500" spc="-2" dirty="0" smtClean="0">
                <a:latin typeface="Corbel"/>
                <a:cs typeface="Corbel"/>
              </a:rPr>
              <a:t>When CPU needs to access memory, the cache is</a:t>
            </a:r>
            <a:endParaRPr sz="2500">
              <a:latin typeface="Corbel"/>
              <a:cs typeface="Corbel"/>
            </a:endParaRPr>
          </a:p>
          <a:p>
            <a:pPr marL="12700" marR="6067257" algn="just">
              <a:lnSpc>
                <a:spcPts val="2450"/>
              </a:lnSpc>
            </a:pPr>
            <a:r>
              <a:rPr sz="2500" spc="3" dirty="0" smtClean="0">
                <a:latin typeface="Corbel"/>
                <a:cs typeface="Corbel"/>
              </a:rPr>
              <a:t>examined.</a:t>
            </a:r>
            <a:endParaRPr sz="2500">
              <a:latin typeface="Corbel"/>
              <a:cs typeface="Corbel"/>
            </a:endParaRPr>
          </a:p>
          <a:p>
            <a:pPr marL="12700">
              <a:lnSpc>
                <a:spcPts val="3018"/>
              </a:lnSpc>
              <a:spcBef>
                <a:spcPts val="2146"/>
              </a:spcBef>
            </a:pPr>
            <a:r>
              <a:rPr sz="2500" spc="-3" dirty="0" smtClean="0">
                <a:latin typeface="Corbel"/>
                <a:cs typeface="Corbel"/>
              </a:rPr>
              <a:t>If the word is found in the cache, it is read from the cache </a:t>
            </a:r>
            <a:endParaRPr sz="2500">
              <a:latin typeface="Corbel"/>
              <a:cs typeface="Corbel"/>
            </a:endParaRPr>
          </a:p>
          <a:p>
            <a:pPr marL="12700">
              <a:lnSpc>
                <a:spcPts val="3018"/>
              </a:lnSpc>
            </a:pPr>
            <a:r>
              <a:rPr sz="2500" spc="-14" dirty="0" smtClean="0">
                <a:latin typeface="Corbel"/>
                <a:cs typeface="Corbel"/>
              </a:rPr>
              <a:t>memory.</a:t>
            </a:r>
            <a:endParaRPr sz="2500">
              <a:latin typeface="Corbel"/>
              <a:cs typeface="Corbel"/>
            </a:endParaRPr>
          </a:p>
          <a:p>
            <a:pPr marL="12700" marR="358074">
              <a:lnSpc>
                <a:spcPts val="3018"/>
              </a:lnSpc>
              <a:spcBef>
                <a:spcPts val="1784"/>
              </a:spcBef>
            </a:pPr>
            <a:r>
              <a:rPr sz="2500" spc="-6" dirty="0" smtClean="0">
                <a:latin typeface="Corbel"/>
                <a:cs typeface="Corbel"/>
              </a:rPr>
              <a:t>If the word addressed by the CPU is not found in the </a:t>
            </a:r>
            <a:endParaRPr sz="2500">
              <a:latin typeface="Corbel"/>
              <a:cs typeface="Corbel"/>
            </a:endParaRPr>
          </a:p>
          <a:p>
            <a:pPr marL="12700" marR="358074">
              <a:lnSpc>
                <a:spcPts val="3018"/>
              </a:lnSpc>
            </a:pPr>
            <a:r>
              <a:rPr sz="2500" spc="-4" dirty="0" smtClean="0">
                <a:latin typeface="Corbel"/>
                <a:cs typeface="Corbel"/>
              </a:rPr>
              <a:t>cache, the main memory is accessed to read the word.</a:t>
            </a:r>
            <a:endParaRPr sz="2500">
              <a:latin typeface="Corbel"/>
              <a:cs typeface="Corbel"/>
            </a:endParaRPr>
          </a:p>
          <a:p>
            <a:pPr marL="12700" marR="27445" algn="just">
              <a:lnSpc>
                <a:spcPts val="2970"/>
              </a:lnSpc>
              <a:spcBef>
                <a:spcPts val="1442"/>
              </a:spcBef>
            </a:pPr>
            <a:r>
              <a:rPr sz="2500" spc="-5" dirty="0" smtClean="0">
                <a:latin typeface="Corbel"/>
                <a:cs typeface="Corbel"/>
              </a:rPr>
              <a:t>A block of words containing the one just accessed is then</a:t>
            </a:r>
            <a:endParaRPr sz="2500">
              <a:latin typeface="Corbel"/>
              <a:cs typeface="Corbel"/>
            </a:endParaRPr>
          </a:p>
          <a:p>
            <a:pPr marL="12700" marR="884320" algn="just">
              <a:lnSpc>
                <a:spcPts val="2450"/>
              </a:lnSpc>
            </a:pPr>
            <a:r>
              <a:rPr sz="2500" spc="0" dirty="0" smtClean="0">
                <a:latin typeface="Corbel"/>
                <a:cs typeface="Corbel"/>
              </a:rPr>
              <a:t>transferred  from main memory to cache memory.</a:t>
            </a:r>
            <a:endParaRPr sz="2500">
              <a:latin typeface="Corbel"/>
              <a:cs typeface="Corbel"/>
            </a:endParaRPr>
          </a:p>
          <a:p>
            <a:pPr marL="12700" marR="195050" algn="just">
              <a:lnSpc>
                <a:spcPts val="3018"/>
              </a:lnSpc>
              <a:spcBef>
                <a:spcPts val="2148"/>
              </a:spcBef>
            </a:pPr>
            <a:r>
              <a:rPr sz="2500" spc="-3" dirty="0" smtClean="0">
                <a:latin typeface="Corbel"/>
                <a:cs typeface="Corbel"/>
              </a:rPr>
              <a:t>If the cache is full, then a block equivalent to the size of </a:t>
            </a:r>
            <a:endParaRPr sz="2500">
              <a:latin typeface="Corbel"/>
              <a:cs typeface="Corbel"/>
            </a:endParaRPr>
          </a:p>
          <a:p>
            <a:pPr marL="12700" marR="195050" algn="just">
              <a:lnSpc>
                <a:spcPts val="3018"/>
              </a:lnSpc>
            </a:pPr>
            <a:r>
              <a:rPr sz="2500" spc="-4" dirty="0" smtClean="0">
                <a:latin typeface="Corbel"/>
                <a:cs typeface="Corbel"/>
              </a:rPr>
              <a:t>the used word is replaced according to the replacement </a:t>
            </a:r>
            <a:endParaRPr sz="2500">
              <a:latin typeface="Corbel"/>
              <a:cs typeface="Corbel"/>
            </a:endParaRPr>
          </a:p>
          <a:p>
            <a:pPr marL="12700" marR="195050" algn="just">
              <a:lnSpc>
                <a:spcPts val="3018"/>
              </a:lnSpc>
            </a:pPr>
            <a:r>
              <a:rPr sz="2500" spc="-3" dirty="0" smtClean="0">
                <a:latin typeface="Corbel"/>
                <a:cs typeface="Corbel"/>
              </a:rPr>
              <a:t>algorithm being used.</a:t>
            </a:r>
            <a:endParaRPr sz="25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236" y="1878973"/>
            <a:ext cx="204788" cy="280212"/>
          </a:xfrm>
          <a:prstGeom prst="rect">
            <a:avLst/>
          </a:prstGeom>
        </p:spPr>
        <p:txBody>
          <a:bodyPr wrap="square" lIns="0" tIns="1905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200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2000">
              <a:latin typeface="Wingdings 2"/>
              <a:cs typeface="Wingdings 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8236" y="2793871"/>
            <a:ext cx="204573" cy="279907"/>
          </a:xfrm>
          <a:prstGeom prst="rect">
            <a:avLst/>
          </a:prstGeom>
        </p:spPr>
        <p:txBody>
          <a:bodyPr wrap="square" lIns="0" tIns="1905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200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2000">
              <a:latin typeface="Wingdings 2"/>
              <a:cs typeface="Wingdings 2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236" y="3708652"/>
            <a:ext cx="204573" cy="279907"/>
          </a:xfrm>
          <a:prstGeom prst="rect">
            <a:avLst/>
          </a:prstGeom>
        </p:spPr>
        <p:txBody>
          <a:bodyPr wrap="square" lIns="0" tIns="1905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200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2000">
              <a:latin typeface="Wingdings 2"/>
              <a:cs typeface="Wingdings 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236" y="4623052"/>
            <a:ext cx="204573" cy="279907"/>
          </a:xfrm>
          <a:prstGeom prst="rect">
            <a:avLst/>
          </a:prstGeom>
        </p:spPr>
        <p:txBody>
          <a:bodyPr wrap="square" lIns="0" tIns="1905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200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2000">
              <a:latin typeface="Wingdings 2"/>
              <a:cs typeface="Wingdings 2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18236" y="5537731"/>
            <a:ext cx="204573" cy="279908"/>
          </a:xfrm>
          <a:prstGeom prst="rect">
            <a:avLst/>
          </a:prstGeom>
        </p:spPr>
        <p:txBody>
          <a:bodyPr wrap="square" lIns="0" tIns="1905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200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2000">
              <a:latin typeface="Wingdings 2"/>
              <a:cs typeface="Wingdings 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545592" y="565403"/>
            <a:ext cx="2208276" cy="4998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00723" y="5502402"/>
            <a:ext cx="4699" cy="864108"/>
          </a:xfrm>
          <a:custGeom>
            <a:avLst/>
            <a:gdLst/>
            <a:ahLst/>
            <a:cxnLst/>
            <a:rect l="l" t="t" r="r" b="b"/>
            <a:pathLst>
              <a:path w="4699" h="864108">
                <a:moveTo>
                  <a:pt x="0" y="864108"/>
                </a:moveTo>
                <a:lnTo>
                  <a:pt x="4699" y="864108"/>
                </a:lnTo>
                <a:lnTo>
                  <a:pt x="4699" y="0"/>
                </a:lnTo>
                <a:lnTo>
                  <a:pt x="0" y="0"/>
                </a:lnTo>
                <a:lnTo>
                  <a:pt x="0" y="864108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196846" y="5502402"/>
            <a:ext cx="4699" cy="864108"/>
          </a:xfrm>
          <a:custGeom>
            <a:avLst/>
            <a:gdLst/>
            <a:ahLst/>
            <a:cxnLst/>
            <a:rect l="l" t="t" r="r" b="b"/>
            <a:pathLst>
              <a:path w="4699" h="864108">
                <a:moveTo>
                  <a:pt x="0" y="864108"/>
                </a:moveTo>
                <a:lnTo>
                  <a:pt x="4699" y="864108"/>
                </a:lnTo>
                <a:lnTo>
                  <a:pt x="4699" y="0"/>
                </a:lnTo>
                <a:lnTo>
                  <a:pt x="0" y="0"/>
                </a:lnTo>
                <a:lnTo>
                  <a:pt x="0" y="864108"/>
                </a:lnTo>
                <a:close/>
              </a:path>
            </a:pathLst>
          </a:custGeom>
          <a:solidFill>
            <a:srgbClr val="EFAC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73224" y="5478780"/>
            <a:ext cx="4655820" cy="911351"/>
          </a:xfrm>
          <a:custGeom>
            <a:avLst/>
            <a:gdLst/>
            <a:ahLst/>
            <a:cxnLst/>
            <a:rect l="l" t="t" r="r" b="b"/>
            <a:pathLst>
              <a:path w="4655820" h="911351">
                <a:moveTo>
                  <a:pt x="47243" y="864108"/>
                </a:moveTo>
                <a:lnTo>
                  <a:pt x="37845" y="873556"/>
                </a:lnTo>
                <a:lnTo>
                  <a:pt x="4617974" y="873556"/>
                </a:lnTo>
                <a:lnTo>
                  <a:pt x="47243" y="864108"/>
                </a:lnTo>
                <a:close/>
              </a:path>
              <a:path w="4655820" h="911351">
                <a:moveTo>
                  <a:pt x="1706" y="896571"/>
                </a:moveTo>
                <a:lnTo>
                  <a:pt x="10244" y="907211"/>
                </a:lnTo>
                <a:lnTo>
                  <a:pt x="23621" y="911352"/>
                </a:lnTo>
                <a:lnTo>
                  <a:pt x="4632198" y="911352"/>
                </a:lnTo>
                <a:lnTo>
                  <a:pt x="28320" y="883005"/>
                </a:lnTo>
                <a:lnTo>
                  <a:pt x="28320" y="28321"/>
                </a:lnTo>
                <a:lnTo>
                  <a:pt x="4627499" y="28321"/>
                </a:lnTo>
                <a:lnTo>
                  <a:pt x="4632198" y="0"/>
                </a:lnTo>
                <a:lnTo>
                  <a:pt x="23621" y="0"/>
                </a:lnTo>
                <a:lnTo>
                  <a:pt x="14764" y="1706"/>
                </a:lnTo>
                <a:lnTo>
                  <a:pt x="4130" y="10244"/>
                </a:lnTo>
                <a:lnTo>
                  <a:pt x="0" y="23622"/>
                </a:lnTo>
                <a:lnTo>
                  <a:pt x="0" y="887730"/>
                </a:lnTo>
                <a:lnTo>
                  <a:pt x="1706" y="896571"/>
                </a:lnTo>
                <a:close/>
              </a:path>
              <a:path w="4655820" h="911351">
                <a:moveTo>
                  <a:pt x="4627499" y="28321"/>
                </a:moveTo>
                <a:lnTo>
                  <a:pt x="4627499" y="883005"/>
                </a:lnTo>
                <a:lnTo>
                  <a:pt x="28320" y="883005"/>
                </a:lnTo>
                <a:lnTo>
                  <a:pt x="4632198" y="911352"/>
                </a:lnTo>
                <a:lnTo>
                  <a:pt x="4641055" y="909640"/>
                </a:lnTo>
                <a:lnTo>
                  <a:pt x="4651689" y="901091"/>
                </a:lnTo>
                <a:lnTo>
                  <a:pt x="4655820" y="887730"/>
                </a:lnTo>
                <a:lnTo>
                  <a:pt x="4655820" y="23622"/>
                </a:lnTo>
                <a:lnTo>
                  <a:pt x="4654113" y="14764"/>
                </a:lnTo>
                <a:lnTo>
                  <a:pt x="4645575" y="4130"/>
                </a:lnTo>
                <a:lnTo>
                  <a:pt x="4632198" y="0"/>
                </a:lnTo>
                <a:lnTo>
                  <a:pt x="4627499" y="28321"/>
                </a:lnTo>
                <a:close/>
              </a:path>
              <a:path w="4655820" h="911351">
                <a:moveTo>
                  <a:pt x="37845" y="873556"/>
                </a:moveTo>
                <a:lnTo>
                  <a:pt x="47243" y="864108"/>
                </a:lnTo>
                <a:lnTo>
                  <a:pt x="47243" y="47244"/>
                </a:lnTo>
                <a:lnTo>
                  <a:pt x="4608576" y="47244"/>
                </a:lnTo>
                <a:lnTo>
                  <a:pt x="4608576" y="864108"/>
                </a:lnTo>
                <a:lnTo>
                  <a:pt x="47243" y="864108"/>
                </a:lnTo>
                <a:lnTo>
                  <a:pt x="4617974" y="873556"/>
                </a:lnTo>
                <a:lnTo>
                  <a:pt x="4617974" y="37846"/>
                </a:lnTo>
                <a:lnTo>
                  <a:pt x="37845" y="37846"/>
                </a:lnTo>
                <a:lnTo>
                  <a:pt x="37845" y="873556"/>
                </a:lnTo>
                <a:close/>
              </a:path>
            </a:pathLst>
          </a:custGeom>
          <a:solidFill>
            <a:srgbClr val="AF7D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201545" y="5507101"/>
            <a:ext cx="4599178" cy="9525"/>
          </a:xfrm>
          <a:custGeom>
            <a:avLst/>
            <a:gdLst/>
            <a:ahLst/>
            <a:cxnLst/>
            <a:rect l="l" t="t" r="r" b="b"/>
            <a:pathLst>
              <a:path w="4599178" h="9525">
                <a:moveTo>
                  <a:pt x="0" y="9525"/>
                </a:moveTo>
                <a:lnTo>
                  <a:pt x="4599178" y="9525"/>
                </a:lnTo>
                <a:lnTo>
                  <a:pt x="4599178" y="0"/>
                </a:lnTo>
                <a:lnTo>
                  <a:pt x="0" y="0"/>
                </a:lnTo>
                <a:lnTo>
                  <a:pt x="0" y="9525"/>
                </a:lnTo>
                <a:close/>
              </a:path>
            </a:pathLst>
          </a:custGeom>
          <a:solidFill>
            <a:srgbClr val="AF7D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201545" y="6352336"/>
            <a:ext cx="4599178" cy="9448"/>
          </a:xfrm>
          <a:custGeom>
            <a:avLst/>
            <a:gdLst/>
            <a:ahLst/>
            <a:cxnLst/>
            <a:rect l="l" t="t" r="r" b="b"/>
            <a:pathLst>
              <a:path w="4599178" h="9448">
                <a:moveTo>
                  <a:pt x="0" y="9448"/>
                </a:moveTo>
                <a:lnTo>
                  <a:pt x="4599178" y="9448"/>
                </a:lnTo>
                <a:lnTo>
                  <a:pt x="4599178" y="0"/>
                </a:lnTo>
                <a:lnTo>
                  <a:pt x="0" y="0"/>
                </a:lnTo>
                <a:lnTo>
                  <a:pt x="0" y="9448"/>
                </a:lnTo>
                <a:close/>
              </a:path>
            </a:pathLst>
          </a:custGeom>
          <a:solidFill>
            <a:srgbClr val="AF7D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211070" y="5516626"/>
            <a:ext cx="4580128" cy="9398"/>
          </a:xfrm>
          <a:custGeom>
            <a:avLst/>
            <a:gdLst/>
            <a:ahLst/>
            <a:cxnLst/>
            <a:rect l="l" t="t" r="r" b="b"/>
            <a:pathLst>
              <a:path w="4580128" h="9398">
                <a:moveTo>
                  <a:pt x="0" y="9398"/>
                </a:moveTo>
                <a:lnTo>
                  <a:pt x="4580128" y="9398"/>
                </a:lnTo>
                <a:lnTo>
                  <a:pt x="4580128" y="0"/>
                </a:lnTo>
                <a:lnTo>
                  <a:pt x="0" y="0"/>
                </a:lnTo>
                <a:lnTo>
                  <a:pt x="0" y="9398"/>
                </a:lnTo>
                <a:close/>
              </a:path>
            </a:pathLst>
          </a:custGeom>
          <a:solidFill>
            <a:srgbClr val="AF7D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211070" y="6342888"/>
            <a:ext cx="4580128" cy="9448"/>
          </a:xfrm>
          <a:custGeom>
            <a:avLst/>
            <a:gdLst/>
            <a:ahLst/>
            <a:cxnLst/>
            <a:rect l="l" t="t" r="r" b="b"/>
            <a:pathLst>
              <a:path w="4580128" h="9448">
                <a:moveTo>
                  <a:pt x="0" y="9448"/>
                </a:moveTo>
                <a:lnTo>
                  <a:pt x="4580128" y="9448"/>
                </a:lnTo>
                <a:lnTo>
                  <a:pt x="4580128" y="0"/>
                </a:lnTo>
                <a:lnTo>
                  <a:pt x="0" y="0"/>
                </a:lnTo>
                <a:lnTo>
                  <a:pt x="0" y="9448"/>
                </a:lnTo>
                <a:close/>
              </a:path>
            </a:pathLst>
          </a:custGeom>
          <a:solidFill>
            <a:srgbClr val="AF7D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220468" y="5526024"/>
            <a:ext cx="4561332" cy="816863"/>
          </a:xfrm>
          <a:custGeom>
            <a:avLst/>
            <a:gdLst/>
            <a:ahLst/>
            <a:cxnLst/>
            <a:rect l="l" t="t" r="r" b="b"/>
            <a:pathLst>
              <a:path w="4561332" h="816863">
                <a:moveTo>
                  <a:pt x="0" y="816863"/>
                </a:moveTo>
                <a:lnTo>
                  <a:pt x="4561332" y="816863"/>
                </a:lnTo>
                <a:lnTo>
                  <a:pt x="4561332" y="0"/>
                </a:lnTo>
                <a:lnTo>
                  <a:pt x="0" y="0"/>
                </a:lnTo>
                <a:lnTo>
                  <a:pt x="0" y="816863"/>
                </a:lnTo>
                <a:close/>
              </a:path>
            </a:pathLst>
          </a:custGeom>
          <a:solidFill>
            <a:srgbClr val="AF7D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8236" y="1932855"/>
            <a:ext cx="7607888" cy="1407668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 marR="61036">
              <a:lnSpc>
                <a:spcPts val="3304"/>
              </a:lnSpc>
            </a:pPr>
            <a:r>
              <a:rPr sz="25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2550" spc="467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3200" spc="-3" dirty="0" smtClean="0">
                <a:latin typeface="Corbel"/>
                <a:cs typeface="Corbel"/>
              </a:rPr>
              <a:t>When the CPU refers to memory and finds</a:t>
            </a:r>
            <a:endParaRPr sz="3200">
              <a:latin typeface="Corbel"/>
              <a:cs typeface="Corbel"/>
            </a:endParaRPr>
          </a:p>
          <a:p>
            <a:pPr marL="332739">
              <a:lnSpc>
                <a:spcPts val="3840"/>
              </a:lnSpc>
              <a:spcBef>
                <a:spcPts val="26"/>
              </a:spcBef>
            </a:pPr>
            <a:r>
              <a:rPr sz="3200" spc="-2" dirty="0" smtClean="0">
                <a:latin typeface="Corbel"/>
                <a:cs typeface="Corbel"/>
              </a:rPr>
              <a:t>the word in cache, it is said to produce a </a:t>
            </a:r>
            <a:r>
              <a:rPr sz="3200" b="1" spc="-2" dirty="0" smtClean="0">
                <a:latin typeface="Corbel"/>
                <a:cs typeface="Corbel"/>
              </a:rPr>
              <a:t>hit</a:t>
            </a:r>
            <a:endParaRPr sz="3200">
              <a:latin typeface="Corbel"/>
              <a:cs typeface="Corbel"/>
            </a:endParaRPr>
          </a:p>
          <a:p>
            <a:pPr marL="12700" marR="61036">
              <a:lnSpc>
                <a:spcPts val="3840"/>
              </a:lnSpc>
            </a:pPr>
            <a:r>
              <a:rPr sz="25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2550" spc="467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3200" spc="-1" dirty="0" smtClean="0">
                <a:latin typeface="Corbel"/>
                <a:cs typeface="Corbel"/>
              </a:rPr>
              <a:t>Otherwise, it is a </a:t>
            </a:r>
            <a:r>
              <a:rPr sz="3200" b="1" spc="-1" dirty="0" smtClean="0">
                <a:latin typeface="Corbel"/>
                <a:cs typeface="Corbel"/>
              </a:rPr>
              <a:t>miss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236" y="3883956"/>
            <a:ext cx="7551980" cy="1407746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 marR="61036">
              <a:lnSpc>
                <a:spcPts val="3304"/>
              </a:lnSpc>
            </a:pPr>
            <a:r>
              <a:rPr sz="25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2550" spc="467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3200" spc="0" dirty="0" smtClean="0">
                <a:latin typeface="Corbel"/>
                <a:cs typeface="Corbel"/>
              </a:rPr>
              <a:t>The performance of cache memory is</a:t>
            </a:r>
            <a:endParaRPr sz="3200">
              <a:latin typeface="Corbel"/>
              <a:cs typeface="Corbel"/>
            </a:endParaRPr>
          </a:p>
          <a:p>
            <a:pPr marL="332739">
              <a:lnSpc>
                <a:spcPts val="3840"/>
              </a:lnSpc>
              <a:spcBef>
                <a:spcPts val="26"/>
              </a:spcBef>
            </a:pPr>
            <a:r>
              <a:rPr sz="3200" spc="0" dirty="0" smtClean="0">
                <a:latin typeface="Corbel"/>
                <a:cs typeface="Corbel"/>
              </a:rPr>
              <a:t>frequently measured in terms of a quantity</a:t>
            </a:r>
            <a:endParaRPr sz="3200">
              <a:latin typeface="Corbel"/>
              <a:cs typeface="Corbel"/>
            </a:endParaRPr>
          </a:p>
          <a:p>
            <a:pPr marL="332739" marR="61036">
              <a:lnSpc>
                <a:spcPts val="3840"/>
              </a:lnSpc>
            </a:pPr>
            <a:r>
              <a:rPr sz="3200" spc="-4" dirty="0" smtClean="0">
                <a:latin typeface="Corbel"/>
                <a:cs typeface="Corbel"/>
              </a:rPr>
              <a:t>called </a:t>
            </a:r>
            <a:r>
              <a:rPr sz="3200" b="1" spc="-4" dirty="0" smtClean="0">
                <a:latin typeface="Corbel"/>
                <a:cs typeface="Corbel"/>
              </a:rPr>
              <a:t>hit ratio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2220468" y="5516562"/>
            <a:ext cx="4561332" cy="835774"/>
          </a:xfrm>
          <a:prstGeom prst="rect">
            <a:avLst/>
          </a:prstGeom>
        </p:spPr>
        <p:txBody>
          <a:bodyPr wrap="square" lIns="0" tIns="2593" rIns="0" bIns="0" rtlCol="0">
            <a:noAutofit/>
          </a:bodyPr>
          <a:lstStyle/>
          <a:p>
            <a:pPr>
              <a:lnSpc>
                <a:spcPts val="550"/>
              </a:lnSpc>
            </a:pPr>
            <a:endParaRPr sz="550"/>
          </a:p>
          <a:p>
            <a:pPr marL="381634">
              <a:lnSpc>
                <a:spcPct val="100626"/>
              </a:lnSpc>
              <a:spcBef>
                <a:spcPts val="1000"/>
              </a:spcBef>
            </a:pPr>
            <a:r>
              <a:rPr sz="2800" b="1" spc="0" dirty="0" smtClean="0">
                <a:latin typeface="Corbel"/>
                <a:cs typeface="Corbel"/>
              </a:rPr>
              <a:t>Hit ratio = hit / (hit+miss)</a:t>
            </a:r>
            <a:endParaRPr sz="2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5592" y="565404"/>
            <a:ext cx="4178808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87196" y="4762498"/>
            <a:ext cx="7097268" cy="20665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90473" y="1663604"/>
            <a:ext cx="7182483" cy="199669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>
              <a:lnSpc>
                <a:spcPts val="2972"/>
              </a:lnSpc>
            </a:pPr>
            <a:r>
              <a:rPr sz="2400" dirty="0" smtClean="0">
                <a:solidFill>
                  <a:srgbClr val="EFAC00"/>
                </a:solidFill>
                <a:latin typeface="Arial"/>
                <a:cs typeface="Arial"/>
              </a:rPr>
              <a:t>•</a:t>
            </a:r>
            <a:r>
              <a:rPr sz="2400" dirty="0" smtClean="0">
                <a:latin typeface="Corbel"/>
                <a:cs typeface="Corbel"/>
              </a:rPr>
              <a:t>The tra</a:t>
            </a:r>
            <a:r>
              <a:rPr sz="2400" spc="-9" dirty="0" smtClean="0">
                <a:latin typeface="Corbel"/>
                <a:cs typeface="Corbel"/>
              </a:rPr>
              <a:t>n</a:t>
            </a:r>
            <a:r>
              <a:rPr sz="2400" spc="0" dirty="0" smtClean="0">
                <a:latin typeface="Corbel"/>
                <a:cs typeface="Corbel"/>
              </a:rPr>
              <a:t>s</a:t>
            </a:r>
            <a:r>
              <a:rPr sz="2400" spc="4" dirty="0" smtClean="0">
                <a:latin typeface="Corbel"/>
                <a:cs typeface="Corbel"/>
              </a:rPr>
              <a:t>f</a:t>
            </a:r>
            <a:r>
              <a:rPr sz="2400" spc="0" dirty="0" smtClean="0">
                <a:latin typeface="Corbel"/>
                <a:cs typeface="Corbel"/>
              </a:rPr>
              <a:t>or</a:t>
            </a:r>
            <a:r>
              <a:rPr sz="2400" spc="4" dirty="0" smtClean="0">
                <a:latin typeface="Corbel"/>
                <a:cs typeface="Corbel"/>
              </a:rPr>
              <a:t>m</a:t>
            </a:r>
            <a:r>
              <a:rPr sz="2400" spc="0" dirty="0" smtClean="0">
                <a:latin typeface="Corbel"/>
                <a:cs typeface="Corbel"/>
              </a:rPr>
              <a:t>at</a:t>
            </a:r>
            <a:r>
              <a:rPr sz="2400" spc="-9" dirty="0" smtClean="0">
                <a:latin typeface="Corbel"/>
                <a:cs typeface="Corbel"/>
              </a:rPr>
              <a:t>i</a:t>
            </a:r>
            <a:r>
              <a:rPr sz="2400" spc="0" dirty="0" smtClean="0">
                <a:latin typeface="Corbel"/>
                <a:cs typeface="Corbel"/>
              </a:rPr>
              <a:t>on of</a:t>
            </a:r>
            <a:r>
              <a:rPr sz="2400" spc="-1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da</a:t>
            </a:r>
            <a:r>
              <a:rPr sz="2400" spc="-4" dirty="0" smtClean="0">
                <a:latin typeface="Corbel"/>
                <a:cs typeface="Corbel"/>
              </a:rPr>
              <a:t>t</a:t>
            </a:r>
            <a:r>
              <a:rPr sz="2400" spc="0" dirty="0" smtClean="0">
                <a:latin typeface="Corbel"/>
                <a:cs typeface="Corbel"/>
              </a:rPr>
              <a:t>a</a:t>
            </a:r>
            <a:r>
              <a:rPr sz="2400" spc="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fr</a:t>
            </a:r>
            <a:r>
              <a:rPr sz="2400" spc="4" dirty="0" smtClean="0">
                <a:latin typeface="Corbel"/>
                <a:cs typeface="Corbel"/>
              </a:rPr>
              <a:t>o</a:t>
            </a:r>
            <a:r>
              <a:rPr sz="2400" spc="0" dirty="0" smtClean="0">
                <a:latin typeface="Corbel"/>
                <a:cs typeface="Corbel"/>
              </a:rPr>
              <a:t>m</a:t>
            </a:r>
            <a:r>
              <a:rPr sz="2400" spc="-3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main me</a:t>
            </a:r>
            <a:r>
              <a:rPr sz="2400" spc="9" dirty="0" smtClean="0">
                <a:latin typeface="Corbel"/>
                <a:cs typeface="Corbel"/>
              </a:rPr>
              <a:t>m</a:t>
            </a:r>
            <a:r>
              <a:rPr sz="2400" spc="0" dirty="0" smtClean="0">
                <a:latin typeface="Corbel"/>
                <a:cs typeface="Corbel"/>
              </a:rPr>
              <a:t>ory</a:t>
            </a:r>
            <a:r>
              <a:rPr sz="2400" spc="-2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to ca</a:t>
            </a:r>
            <a:r>
              <a:rPr sz="2400" spc="4" dirty="0" smtClean="0">
                <a:latin typeface="Corbel"/>
                <a:cs typeface="Corbel"/>
              </a:rPr>
              <a:t>c</a:t>
            </a:r>
            <a:r>
              <a:rPr sz="2400" spc="0" dirty="0" smtClean="0">
                <a:latin typeface="Corbel"/>
                <a:cs typeface="Corbel"/>
              </a:rPr>
              <a:t>he </a:t>
            </a:r>
            <a:endParaRPr sz="2400">
              <a:latin typeface="Corbel"/>
              <a:cs typeface="Corbel"/>
            </a:endParaRPr>
          </a:p>
          <a:p>
            <a:pPr marL="12700">
              <a:lnSpc>
                <a:spcPts val="2899"/>
              </a:lnSpc>
            </a:pPr>
            <a:r>
              <a:rPr sz="2400" dirty="0" smtClean="0">
                <a:latin typeface="Corbel"/>
                <a:cs typeface="Corbel"/>
              </a:rPr>
              <a:t>memory is referred to as a </a:t>
            </a:r>
            <a:r>
              <a:rPr sz="2400" b="1" dirty="0" smtClean="0">
                <a:latin typeface="Corbel"/>
                <a:cs typeface="Corbel"/>
              </a:rPr>
              <a:t>mapping </a:t>
            </a:r>
            <a:r>
              <a:rPr sz="2400" dirty="0" smtClean="0">
                <a:latin typeface="Corbel"/>
                <a:cs typeface="Corbel"/>
              </a:rPr>
              <a:t>process, there are </a:t>
            </a:r>
            <a:endParaRPr sz="2400">
              <a:latin typeface="Corbel"/>
              <a:cs typeface="Corbel"/>
            </a:endParaRPr>
          </a:p>
          <a:p>
            <a:pPr marL="12700">
              <a:lnSpc>
                <a:spcPts val="2898"/>
              </a:lnSpc>
            </a:pPr>
            <a:r>
              <a:rPr sz="2400" spc="0" dirty="0" smtClean="0">
                <a:latin typeface="Corbel"/>
                <a:cs typeface="Corbel"/>
              </a:rPr>
              <a:t>three types of mapping:</a:t>
            </a:r>
            <a:endParaRPr sz="2400">
              <a:latin typeface="Corbel"/>
              <a:cs typeface="Corbel"/>
            </a:endParaRPr>
          </a:p>
          <a:p>
            <a:pPr marL="469899" marR="42507">
              <a:lnSpc>
                <a:spcPts val="2655"/>
              </a:lnSpc>
            </a:pPr>
            <a:r>
              <a:rPr sz="2400" spc="4" dirty="0" smtClean="0">
                <a:solidFill>
                  <a:srgbClr val="EFAC00"/>
                </a:solidFill>
                <a:latin typeface="Wingdings"/>
                <a:cs typeface="Wingdings"/>
              </a:rPr>
              <a:t></a:t>
            </a:r>
            <a:r>
              <a:rPr sz="2400" spc="0" dirty="0" smtClean="0">
                <a:latin typeface="Corbel"/>
                <a:cs typeface="Corbel"/>
              </a:rPr>
              <a:t>Associative mapping</a:t>
            </a:r>
            <a:endParaRPr sz="2400">
              <a:latin typeface="Corbel"/>
              <a:cs typeface="Corbel"/>
            </a:endParaRPr>
          </a:p>
          <a:p>
            <a:pPr marL="469899" marR="42507">
              <a:lnSpc>
                <a:spcPts val="2590"/>
              </a:lnSpc>
            </a:pPr>
            <a:r>
              <a:rPr sz="2400" spc="4" dirty="0" smtClean="0">
                <a:solidFill>
                  <a:srgbClr val="EFAC00"/>
                </a:solidFill>
                <a:latin typeface="Wingdings"/>
                <a:cs typeface="Wingdings"/>
              </a:rPr>
              <a:t></a:t>
            </a:r>
            <a:r>
              <a:rPr sz="2400" spc="0" dirty="0" smtClean="0">
                <a:latin typeface="Corbel"/>
                <a:cs typeface="Corbel"/>
              </a:rPr>
              <a:t>Direct mapping</a:t>
            </a:r>
            <a:endParaRPr sz="2400">
              <a:latin typeface="Corbel"/>
              <a:cs typeface="Corbel"/>
            </a:endParaRPr>
          </a:p>
          <a:p>
            <a:pPr marL="469899" marR="42507">
              <a:lnSpc>
                <a:spcPts val="2590"/>
              </a:lnSpc>
            </a:pPr>
            <a:r>
              <a:rPr sz="2400" spc="4" dirty="0" smtClean="0">
                <a:solidFill>
                  <a:srgbClr val="EFAC00"/>
                </a:solidFill>
                <a:latin typeface="Wingdings"/>
                <a:cs typeface="Wingdings"/>
              </a:rPr>
              <a:t></a:t>
            </a:r>
            <a:r>
              <a:rPr sz="2400" spc="1" dirty="0" smtClean="0">
                <a:latin typeface="Corbel"/>
                <a:cs typeface="Corbel"/>
              </a:rPr>
              <a:t>Set-associative mapping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90473" y="4041679"/>
            <a:ext cx="7260607" cy="716278"/>
          </a:xfrm>
          <a:prstGeom prst="rect">
            <a:avLst/>
          </a:prstGeom>
        </p:spPr>
        <p:txBody>
          <a:bodyPr wrap="square" lIns="0" tIns="16891" rIns="0" bIns="0" rtlCol="0">
            <a:noAutofit/>
          </a:bodyPr>
          <a:lstStyle/>
          <a:p>
            <a:pPr marL="12700">
              <a:lnSpc>
                <a:spcPts val="2660"/>
              </a:lnSpc>
            </a:pPr>
            <a:r>
              <a:rPr sz="2400" dirty="0" smtClean="0">
                <a:solidFill>
                  <a:srgbClr val="EFAC00"/>
                </a:solidFill>
                <a:latin typeface="Arial"/>
                <a:cs typeface="Arial"/>
              </a:rPr>
              <a:t>•</a:t>
            </a:r>
            <a:r>
              <a:rPr sz="2400" spc="-2" dirty="0" smtClean="0">
                <a:latin typeface="Corbel"/>
                <a:cs typeface="Corbel"/>
              </a:rPr>
              <a:t>To help understand the mapping procedure, we have the</a:t>
            </a:r>
            <a:endParaRPr sz="2400">
              <a:latin typeface="Corbel"/>
              <a:cs typeface="Corbel"/>
            </a:endParaRPr>
          </a:p>
          <a:p>
            <a:pPr marL="12700" marR="48767">
              <a:lnSpc>
                <a:spcPts val="2880"/>
              </a:lnSpc>
              <a:spcBef>
                <a:spcPts val="11"/>
              </a:spcBef>
            </a:pPr>
            <a:r>
              <a:rPr sz="2400" spc="0" dirty="0" smtClean="0">
                <a:latin typeface="Corbel"/>
                <a:cs typeface="Corbel"/>
              </a:rPr>
              <a:t>following example:</a:t>
            </a:r>
            <a:endParaRPr sz="2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4068" y="565404"/>
            <a:ext cx="5091683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39740" y="1629156"/>
            <a:ext cx="3604260" cy="43921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32840" y="1729642"/>
            <a:ext cx="4481510" cy="988821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0" dirty="0" smtClean="0">
                <a:latin typeface="Corbel"/>
                <a:cs typeface="Corbel"/>
              </a:rPr>
              <a:t>The fastest and most flexible cache</a:t>
            </a:r>
            <a:endParaRPr sz="2400">
              <a:latin typeface="Corbel"/>
              <a:cs typeface="Corbel"/>
            </a:endParaRPr>
          </a:p>
          <a:p>
            <a:pPr marL="12700" marR="45720">
              <a:lnSpc>
                <a:spcPts val="2590"/>
              </a:lnSpc>
              <a:spcBef>
                <a:spcPts val="4"/>
              </a:spcBef>
            </a:pPr>
            <a:r>
              <a:rPr sz="2400" spc="-1" dirty="0" smtClean="0">
                <a:latin typeface="Corbel"/>
                <a:cs typeface="Corbel"/>
              </a:rPr>
              <a:t>organization uses an associative</a:t>
            </a:r>
            <a:endParaRPr sz="2400">
              <a:latin typeface="Corbel"/>
              <a:cs typeface="Corbel"/>
            </a:endParaRPr>
          </a:p>
          <a:p>
            <a:pPr marL="12700" marR="45720">
              <a:lnSpc>
                <a:spcPts val="2595"/>
              </a:lnSpc>
              <a:spcBef>
                <a:spcPts val="0"/>
              </a:spcBef>
            </a:pPr>
            <a:r>
              <a:rPr sz="2400" spc="-14" dirty="0" smtClean="0">
                <a:latin typeface="Corbel"/>
                <a:cs typeface="Corbel"/>
              </a:rPr>
              <a:t>memory.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495" y="1761258"/>
            <a:ext cx="197063" cy="269240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900" spc="9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900">
              <a:latin typeface="Wingdings 2"/>
              <a:cs typeface="Wingdings 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2840" y="3046632"/>
            <a:ext cx="4620398" cy="988646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9513">
              <a:lnSpc>
                <a:spcPts val="2500"/>
              </a:lnSpc>
            </a:pPr>
            <a:r>
              <a:rPr sz="2400" spc="0" dirty="0" smtClean="0">
                <a:latin typeface="Corbel"/>
                <a:cs typeface="Corbel"/>
              </a:rPr>
              <a:t>The associative memory stores both</a:t>
            </a:r>
            <a:endParaRPr sz="2400">
              <a:latin typeface="Corbel"/>
              <a:cs typeface="Corbel"/>
            </a:endParaRPr>
          </a:p>
          <a:p>
            <a:pPr marL="12700">
              <a:lnSpc>
                <a:spcPts val="2590"/>
              </a:lnSpc>
              <a:spcBef>
                <a:spcPts val="4"/>
              </a:spcBef>
            </a:pPr>
            <a:r>
              <a:rPr sz="2400" spc="0" dirty="0" smtClean="0">
                <a:latin typeface="Corbel"/>
                <a:cs typeface="Corbel"/>
              </a:rPr>
              <a:t>the address and data of the memory</a:t>
            </a:r>
            <a:endParaRPr sz="2400">
              <a:latin typeface="Corbel"/>
              <a:cs typeface="Corbel"/>
            </a:endParaRPr>
          </a:p>
          <a:p>
            <a:pPr marL="12700" marR="45720">
              <a:lnSpc>
                <a:spcPts val="2590"/>
              </a:lnSpc>
            </a:pPr>
            <a:r>
              <a:rPr sz="2400" spc="0" dirty="0" smtClean="0">
                <a:latin typeface="Corbel"/>
                <a:cs typeface="Corbel"/>
              </a:rPr>
              <a:t>word.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495" y="3078248"/>
            <a:ext cx="197063" cy="269240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900" spc="9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900">
              <a:latin typeface="Wingdings 2"/>
              <a:cs typeface="Wingdings 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2840" y="4363749"/>
            <a:ext cx="4631041" cy="659384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0" dirty="0" smtClean="0">
                <a:latin typeface="Corbel"/>
                <a:cs typeface="Corbel"/>
              </a:rPr>
              <a:t>This permits any location in cache to</a:t>
            </a:r>
            <a:endParaRPr sz="2400">
              <a:latin typeface="Corbel"/>
              <a:cs typeface="Corbel"/>
            </a:endParaRPr>
          </a:p>
          <a:p>
            <a:pPr marL="12700" marR="45720">
              <a:lnSpc>
                <a:spcPts val="2590"/>
              </a:lnSpc>
              <a:spcBef>
                <a:spcPts val="4"/>
              </a:spcBef>
            </a:pPr>
            <a:r>
              <a:rPr sz="2400" spc="-4" dirty="0" smtClean="0">
                <a:latin typeface="Corbel"/>
                <a:cs typeface="Corbel"/>
              </a:rPr>
              <a:t>store a word from main memory.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495" y="4395365"/>
            <a:ext cx="197063" cy="26923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900" spc="9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900">
              <a:latin typeface="Wingdings 2"/>
              <a:cs typeface="Wingdings 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2840" y="5351049"/>
            <a:ext cx="4865357" cy="1318283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45720">
              <a:lnSpc>
                <a:spcPts val="2500"/>
              </a:lnSpc>
            </a:pPr>
            <a:r>
              <a:rPr sz="2400" spc="-1" dirty="0" smtClean="0">
                <a:latin typeface="Corbel"/>
                <a:cs typeface="Corbel"/>
              </a:rPr>
              <a:t>The address value of 15 bits is shown</a:t>
            </a:r>
            <a:endParaRPr sz="2400">
              <a:latin typeface="Corbel"/>
              <a:cs typeface="Corbel"/>
            </a:endParaRPr>
          </a:p>
          <a:p>
            <a:pPr marL="12700" marR="45720">
              <a:lnSpc>
                <a:spcPts val="2595"/>
              </a:lnSpc>
              <a:spcBef>
                <a:spcPts val="4"/>
              </a:spcBef>
            </a:pPr>
            <a:r>
              <a:rPr sz="2400" spc="0" dirty="0" smtClean="0">
                <a:latin typeface="Corbel"/>
                <a:cs typeface="Corbel"/>
              </a:rPr>
              <a:t>as a five-digit </a:t>
            </a:r>
            <a:r>
              <a:rPr sz="2400" b="1" spc="0" dirty="0" smtClean="0">
                <a:latin typeface="Corbel"/>
                <a:cs typeface="Corbel"/>
              </a:rPr>
              <a:t>octal </a:t>
            </a:r>
            <a:r>
              <a:rPr sz="2400" spc="0" dirty="0" smtClean="0">
                <a:latin typeface="Corbel"/>
                <a:cs typeface="Corbel"/>
              </a:rPr>
              <a:t>number and its</a:t>
            </a:r>
            <a:endParaRPr sz="2400">
              <a:latin typeface="Corbel"/>
              <a:cs typeface="Corbel"/>
            </a:endParaRPr>
          </a:p>
          <a:p>
            <a:pPr marL="12700">
              <a:lnSpc>
                <a:spcPts val="2590"/>
              </a:lnSpc>
            </a:pPr>
            <a:r>
              <a:rPr sz="2400" spc="0" dirty="0" smtClean="0">
                <a:latin typeface="Corbel"/>
                <a:cs typeface="Corbel"/>
              </a:rPr>
              <a:t>corresponding 12-bit word is shown as</a:t>
            </a:r>
            <a:endParaRPr sz="2400">
              <a:latin typeface="Corbel"/>
              <a:cs typeface="Corbel"/>
            </a:endParaRPr>
          </a:p>
          <a:p>
            <a:pPr marL="12700" marR="45720">
              <a:lnSpc>
                <a:spcPts val="2590"/>
              </a:lnSpc>
            </a:pPr>
            <a:r>
              <a:rPr sz="2400" dirty="0" smtClean="0">
                <a:latin typeface="Corbel"/>
                <a:cs typeface="Corbel"/>
              </a:rPr>
              <a:t>a four-digit octal number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12495" y="5382648"/>
            <a:ext cx="197277" cy="269544"/>
          </a:xfrm>
          <a:prstGeom prst="rect">
            <a:avLst/>
          </a:prstGeom>
        </p:spPr>
        <p:txBody>
          <a:bodyPr wrap="square" lIns="0" tIns="4445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900" spc="9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900">
              <a:latin typeface="Wingdings 2"/>
              <a:cs typeface="Wingdings 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45592" y="565404"/>
            <a:ext cx="3788664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931664" y="1557528"/>
            <a:ext cx="4212335" cy="43921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8276" y="1638930"/>
            <a:ext cx="3906962" cy="4264835"/>
          </a:xfrm>
          <a:prstGeom prst="rect">
            <a:avLst/>
          </a:prstGeom>
        </p:spPr>
        <p:txBody>
          <a:bodyPr wrap="square" lIns="0" tIns="41275" rIns="0" bIns="0" rtlCol="0">
            <a:noAutofit/>
          </a:bodyPr>
          <a:lstStyle/>
          <a:p>
            <a:pPr marL="12700" marR="422531">
              <a:lnSpc>
                <a:spcPts val="3381"/>
              </a:lnSpc>
            </a:pPr>
            <a:r>
              <a:rPr sz="2800" spc="1" dirty="0" smtClean="0">
                <a:latin typeface="Corbel"/>
                <a:cs typeface="Corbel"/>
              </a:rPr>
              <a:t>Associative memory is </a:t>
            </a:r>
            <a:endParaRPr sz="2800">
              <a:latin typeface="Corbel"/>
              <a:cs typeface="Corbel"/>
            </a:endParaRPr>
          </a:p>
          <a:p>
            <a:pPr marL="12700" marR="422531">
              <a:lnSpc>
                <a:spcPts val="3381"/>
              </a:lnSpc>
            </a:pPr>
            <a:r>
              <a:rPr sz="2800" spc="1" dirty="0" smtClean="0">
                <a:latin typeface="Corbel"/>
                <a:cs typeface="Corbel"/>
              </a:rPr>
              <a:t>expensive compared to </a:t>
            </a:r>
            <a:endParaRPr sz="2800">
              <a:latin typeface="Corbel"/>
              <a:cs typeface="Corbel"/>
            </a:endParaRPr>
          </a:p>
          <a:p>
            <a:pPr marL="12700" marR="422531">
              <a:lnSpc>
                <a:spcPts val="3381"/>
              </a:lnSpc>
            </a:pPr>
            <a:r>
              <a:rPr sz="2800" dirty="0" smtClean="0">
                <a:latin typeface="Corbel"/>
                <a:cs typeface="Corbel"/>
              </a:rPr>
              <a:t>RAM.</a:t>
            </a:r>
            <a:endParaRPr sz="2800">
              <a:latin typeface="Corbel"/>
              <a:cs typeface="Corbel"/>
            </a:endParaRPr>
          </a:p>
          <a:p>
            <a:pPr marL="12700" marR="64409">
              <a:lnSpc>
                <a:spcPts val="3160"/>
              </a:lnSpc>
              <a:spcBef>
                <a:spcPts val="671"/>
              </a:spcBef>
            </a:pPr>
            <a:r>
              <a:rPr sz="2800" spc="-3" dirty="0" smtClean="0">
                <a:latin typeface="Corbel"/>
                <a:cs typeface="Corbel"/>
              </a:rPr>
              <a:t>In general case, there are</a:t>
            </a:r>
            <a:endParaRPr sz="2800">
              <a:latin typeface="Corbel"/>
              <a:cs typeface="Corbel"/>
            </a:endParaRPr>
          </a:p>
          <a:p>
            <a:pPr marL="12700" marR="25587">
              <a:lnSpc>
                <a:spcPts val="3381"/>
              </a:lnSpc>
            </a:pPr>
            <a:r>
              <a:rPr sz="2800" spc="-3" dirty="0" smtClean="0">
                <a:latin typeface="Corbel"/>
                <a:cs typeface="Corbel"/>
              </a:rPr>
              <a:t>2^k words in cache </a:t>
            </a:r>
            <a:endParaRPr sz="2800">
              <a:latin typeface="Corbel"/>
              <a:cs typeface="Corbel"/>
            </a:endParaRPr>
          </a:p>
          <a:p>
            <a:pPr marL="12700" marR="25587">
              <a:lnSpc>
                <a:spcPts val="3381"/>
              </a:lnSpc>
            </a:pPr>
            <a:r>
              <a:rPr sz="2800" dirty="0" smtClean="0">
                <a:latin typeface="Corbel"/>
                <a:cs typeface="Corbel"/>
              </a:rPr>
              <a:t>memory</a:t>
            </a:r>
            <a:r>
              <a:rPr sz="2800" spc="19" dirty="0" smtClean="0">
                <a:latin typeface="Corbel"/>
                <a:cs typeface="Corbel"/>
              </a:rPr>
              <a:t> </a:t>
            </a:r>
            <a:r>
              <a:rPr sz="2800" spc="0" dirty="0" smtClean="0">
                <a:latin typeface="Corbel"/>
                <a:cs typeface="Corbel"/>
              </a:rPr>
              <a:t>and</a:t>
            </a:r>
            <a:r>
              <a:rPr sz="2800" spc="9" dirty="0" smtClean="0">
                <a:latin typeface="Corbel"/>
                <a:cs typeface="Corbel"/>
              </a:rPr>
              <a:t> </a:t>
            </a:r>
            <a:r>
              <a:rPr sz="2800" spc="0" dirty="0" smtClean="0">
                <a:latin typeface="Corbel"/>
                <a:cs typeface="Corbel"/>
              </a:rPr>
              <a:t>2^n wor</a:t>
            </a:r>
            <a:r>
              <a:rPr sz="2800" spc="4" dirty="0" smtClean="0">
                <a:latin typeface="Corbel"/>
                <a:cs typeface="Corbel"/>
              </a:rPr>
              <a:t>d</a:t>
            </a:r>
            <a:r>
              <a:rPr sz="2800" spc="0" dirty="0" smtClean="0">
                <a:latin typeface="Corbel"/>
                <a:cs typeface="Corbel"/>
              </a:rPr>
              <a:t>s</a:t>
            </a:r>
            <a:r>
              <a:rPr sz="2800" spc="14" dirty="0" smtClean="0">
                <a:latin typeface="Corbel"/>
                <a:cs typeface="Corbel"/>
              </a:rPr>
              <a:t> </a:t>
            </a:r>
            <a:r>
              <a:rPr sz="2800" spc="0" dirty="0" smtClean="0">
                <a:latin typeface="Corbel"/>
                <a:cs typeface="Corbel"/>
              </a:rPr>
              <a:t>in </a:t>
            </a:r>
            <a:endParaRPr sz="2800">
              <a:latin typeface="Corbel"/>
              <a:cs typeface="Corbel"/>
            </a:endParaRPr>
          </a:p>
          <a:p>
            <a:pPr marL="12700" marR="25587">
              <a:lnSpc>
                <a:spcPts val="3381"/>
              </a:lnSpc>
            </a:pPr>
            <a:r>
              <a:rPr sz="2800" spc="-4" dirty="0" smtClean="0">
                <a:latin typeface="Corbel"/>
                <a:cs typeface="Corbel"/>
              </a:rPr>
              <a:t>main memory (in our</a:t>
            </a:r>
            <a:endParaRPr sz="2800">
              <a:latin typeface="Corbel"/>
              <a:cs typeface="Corbel"/>
            </a:endParaRPr>
          </a:p>
          <a:p>
            <a:pPr marL="12700" marR="64409">
              <a:lnSpc>
                <a:spcPts val="2570"/>
              </a:lnSpc>
            </a:pPr>
            <a:r>
              <a:rPr sz="2800" spc="-1" dirty="0" smtClean="0">
                <a:latin typeface="Corbel"/>
                <a:cs typeface="Corbel"/>
              </a:rPr>
              <a:t>case, k=9, n=15).</a:t>
            </a:r>
            <a:endParaRPr sz="2800">
              <a:latin typeface="Corbel"/>
              <a:cs typeface="Corbel"/>
            </a:endParaRPr>
          </a:p>
          <a:p>
            <a:pPr marL="12700">
              <a:lnSpc>
                <a:spcPts val="3160"/>
              </a:lnSpc>
              <a:spcBef>
                <a:spcPts val="1352"/>
              </a:spcBef>
            </a:pPr>
            <a:r>
              <a:rPr sz="2800" spc="-4" dirty="0" smtClean="0">
                <a:latin typeface="Corbel"/>
                <a:cs typeface="Corbel"/>
              </a:rPr>
              <a:t>The n bit memory address</a:t>
            </a:r>
            <a:endParaRPr sz="2800">
              <a:latin typeface="Corbel"/>
              <a:cs typeface="Corbel"/>
            </a:endParaRPr>
          </a:p>
          <a:p>
            <a:pPr marL="12700" marR="64409">
              <a:lnSpc>
                <a:spcPts val="2355"/>
              </a:lnSpc>
            </a:pPr>
            <a:r>
              <a:rPr sz="2800" spc="0" dirty="0" smtClean="0">
                <a:latin typeface="Corbel"/>
                <a:cs typeface="Corbel"/>
              </a:rPr>
              <a:t>is divided into two fields:</a:t>
            </a:r>
            <a:endParaRPr sz="2800">
              <a:latin typeface="Corbel"/>
              <a:cs typeface="Corbel"/>
            </a:endParaRPr>
          </a:p>
          <a:p>
            <a:pPr marL="12700" marR="292881">
              <a:lnSpc>
                <a:spcPts val="3382"/>
              </a:lnSpc>
            </a:pPr>
            <a:r>
              <a:rPr sz="2800" spc="-4" dirty="0" smtClean="0">
                <a:latin typeface="Corbel"/>
                <a:cs typeface="Corbel"/>
              </a:rPr>
              <a:t>k-bits for the </a:t>
            </a:r>
            <a:r>
              <a:rPr sz="2800" b="1" spc="-4" dirty="0" smtClean="0">
                <a:latin typeface="Corbel"/>
                <a:cs typeface="Corbel"/>
              </a:rPr>
              <a:t>index </a:t>
            </a:r>
            <a:r>
              <a:rPr sz="2800" spc="-4" dirty="0" smtClean="0">
                <a:latin typeface="Corbel"/>
                <a:cs typeface="Corbel"/>
              </a:rPr>
              <a:t>and </a:t>
            </a:r>
            <a:endParaRPr sz="2800">
              <a:latin typeface="Corbel"/>
              <a:cs typeface="Corbel"/>
            </a:endParaRPr>
          </a:p>
          <a:p>
            <a:pPr marL="12700" marR="292881">
              <a:lnSpc>
                <a:spcPts val="3382"/>
              </a:lnSpc>
            </a:pPr>
            <a:r>
              <a:rPr sz="2800" spc="-4" dirty="0" smtClean="0">
                <a:latin typeface="Corbel"/>
                <a:cs typeface="Corbel"/>
              </a:rPr>
              <a:t>n-k bits for the </a:t>
            </a:r>
            <a:r>
              <a:rPr sz="2800" b="1" spc="-4" dirty="0" smtClean="0">
                <a:latin typeface="Corbel"/>
                <a:cs typeface="Corbel"/>
              </a:rPr>
              <a:t>tag </a:t>
            </a:r>
            <a:r>
              <a:rPr sz="2800" spc="-4" dirty="0" smtClean="0">
                <a:latin typeface="Corbel"/>
                <a:cs typeface="Corbel"/>
              </a:rPr>
              <a:t>field.</a:t>
            </a:r>
            <a:endParaRPr sz="28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236" y="1675258"/>
            <a:ext cx="226031" cy="310388"/>
          </a:xfrm>
          <a:prstGeom prst="rect">
            <a:avLst/>
          </a:prstGeom>
        </p:spPr>
        <p:txBody>
          <a:bodyPr wrap="square" lIns="0" tIns="15049" rIns="0" bIns="0" rtlCol="0">
            <a:noAutofit/>
          </a:bodyPr>
          <a:lstStyle/>
          <a:p>
            <a:pPr marL="12700">
              <a:lnSpc>
                <a:spcPts val="2370"/>
              </a:lnSpc>
            </a:pPr>
            <a:r>
              <a:rPr sz="22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2250">
              <a:latin typeface="Wingdings 2"/>
              <a:cs typeface="Wingdings 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236" y="2870455"/>
            <a:ext cx="226031" cy="310388"/>
          </a:xfrm>
          <a:prstGeom prst="rect">
            <a:avLst/>
          </a:prstGeom>
        </p:spPr>
        <p:txBody>
          <a:bodyPr wrap="square" lIns="0" tIns="15049" rIns="0" bIns="0" rtlCol="0">
            <a:noAutofit/>
          </a:bodyPr>
          <a:lstStyle/>
          <a:p>
            <a:pPr marL="12700">
              <a:lnSpc>
                <a:spcPts val="2370"/>
              </a:lnSpc>
            </a:pPr>
            <a:r>
              <a:rPr sz="22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2250">
              <a:latin typeface="Wingdings 2"/>
              <a:cs typeface="Wingdings 2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18236" y="4662933"/>
            <a:ext cx="226031" cy="310388"/>
          </a:xfrm>
          <a:prstGeom prst="rect">
            <a:avLst/>
          </a:prstGeom>
        </p:spPr>
        <p:txBody>
          <a:bodyPr wrap="square" lIns="0" tIns="15049" rIns="0" bIns="0" rtlCol="0">
            <a:noAutofit/>
          </a:bodyPr>
          <a:lstStyle/>
          <a:p>
            <a:pPr marL="12700">
              <a:lnSpc>
                <a:spcPts val="2370"/>
              </a:lnSpc>
            </a:pPr>
            <a:r>
              <a:rPr sz="22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2250">
              <a:latin typeface="Wingdings 2"/>
              <a:cs typeface="Wingdings 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4068" y="565404"/>
            <a:ext cx="6422135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85588" y="1629155"/>
            <a:ext cx="4032504" cy="46664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8276" y="1737516"/>
            <a:ext cx="4021542" cy="2159459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 marR="42507">
              <a:lnSpc>
                <a:spcPts val="2500"/>
              </a:lnSpc>
            </a:pPr>
            <a:r>
              <a:rPr sz="2400" spc="2" dirty="0" smtClean="0">
                <a:latin typeface="Corbel"/>
                <a:cs typeface="Corbel"/>
              </a:rPr>
              <a:t>The disadvantage of direct</a:t>
            </a:r>
            <a:endParaRPr sz="2400">
              <a:latin typeface="Corbel"/>
              <a:cs typeface="Corbel"/>
            </a:endParaRPr>
          </a:p>
          <a:p>
            <a:pPr marL="12700">
              <a:lnSpc>
                <a:spcPct val="100022"/>
              </a:lnSpc>
            </a:pPr>
            <a:r>
              <a:rPr sz="2400" dirty="0" smtClean="0">
                <a:latin typeface="Corbel"/>
                <a:cs typeface="Corbel"/>
              </a:rPr>
              <a:t>m</a:t>
            </a:r>
            <a:r>
              <a:rPr sz="2400" spc="4" dirty="0" smtClean="0">
                <a:latin typeface="Corbel"/>
                <a:cs typeface="Corbel"/>
              </a:rPr>
              <a:t>a</a:t>
            </a:r>
            <a:r>
              <a:rPr sz="2400" spc="0" dirty="0" smtClean="0">
                <a:latin typeface="Corbel"/>
                <a:cs typeface="Corbel"/>
              </a:rPr>
              <a:t>pping is</a:t>
            </a:r>
            <a:r>
              <a:rPr sz="2400" spc="1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that two w</a:t>
            </a:r>
            <a:r>
              <a:rPr sz="2400" spc="4" dirty="0" smtClean="0">
                <a:latin typeface="Corbel"/>
                <a:cs typeface="Corbel"/>
              </a:rPr>
              <a:t>o</a:t>
            </a:r>
            <a:r>
              <a:rPr sz="2400" spc="0" dirty="0" smtClean="0">
                <a:latin typeface="Corbel"/>
                <a:cs typeface="Corbel"/>
              </a:rPr>
              <a:t>rds with the</a:t>
            </a:r>
            <a:r>
              <a:rPr sz="2400" spc="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sa</a:t>
            </a:r>
            <a:r>
              <a:rPr sz="2400" spc="9" dirty="0" smtClean="0">
                <a:latin typeface="Corbel"/>
                <a:cs typeface="Corbel"/>
              </a:rPr>
              <a:t>m</a:t>
            </a:r>
            <a:r>
              <a:rPr sz="2400" spc="0" dirty="0" smtClean="0">
                <a:latin typeface="Corbel"/>
                <a:cs typeface="Corbel"/>
              </a:rPr>
              <a:t>e </a:t>
            </a:r>
            <a:r>
              <a:rPr sz="2400" spc="-4" dirty="0" smtClean="0">
                <a:latin typeface="Corbel"/>
                <a:cs typeface="Corbel"/>
              </a:rPr>
              <a:t>i</a:t>
            </a:r>
            <a:r>
              <a:rPr sz="2400" spc="0" dirty="0" smtClean="0">
                <a:latin typeface="Corbel"/>
                <a:cs typeface="Corbel"/>
              </a:rPr>
              <a:t>ndex</a:t>
            </a:r>
            <a:r>
              <a:rPr sz="2400" spc="1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in </a:t>
            </a:r>
            <a:r>
              <a:rPr sz="2400" spc="-9" dirty="0" smtClean="0">
                <a:latin typeface="Corbel"/>
                <a:cs typeface="Corbel"/>
              </a:rPr>
              <a:t>t</a:t>
            </a:r>
            <a:r>
              <a:rPr sz="2400" spc="0" dirty="0" smtClean="0">
                <a:latin typeface="Corbel"/>
                <a:cs typeface="Corbel"/>
              </a:rPr>
              <a:t>heir</a:t>
            </a:r>
            <a:r>
              <a:rPr sz="2400" spc="1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addr</a:t>
            </a:r>
            <a:r>
              <a:rPr sz="2400" spc="14" dirty="0" smtClean="0">
                <a:latin typeface="Corbel"/>
                <a:cs typeface="Corbel"/>
              </a:rPr>
              <a:t>e</a:t>
            </a:r>
            <a:r>
              <a:rPr sz="2400" spc="0" dirty="0" smtClean="0">
                <a:latin typeface="Corbel"/>
                <a:cs typeface="Corbel"/>
              </a:rPr>
              <a:t>ss b</a:t>
            </a:r>
            <a:r>
              <a:rPr sz="2400" spc="4" dirty="0" smtClean="0">
                <a:latin typeface="Corbel"/>
                <a:cs typeface="Corbel"/>
              </a:rPr>
              <a:t>u</a:t>
            </a:r>
            <a:r>
              <a:rPr sz="2400" spc="0" dirty="0" smtClean="0">
                <a:latin typeface="Corbel"/>
                <a:cs typeface="Corbel"/>
              </a:rPr>
              <a:t>t w</a:t>
            </a:r>
            <a:r>
              <a:rPr sz="2400" spc="-4" dirty="0" smtClean="0">
                <a:latin typeface="Corbel"/>
                <a:cs typeface="Corbel"/>
              </a:rPr>
              <a:t>i</a:t>
            </a:r>
            <a:r>
              <a:rPr sz="2400" spc="0" dirty="0" smtClean="0">
                <a:latin typeface="Corbel"/>
                <a:cs typeface="Corbel"/>
              </a:rPr>
              <a:t>th</a:t>
            </a:r>
            <a:r>
              <a:rPr sz="2400" spc="1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dif</a:t>
            </a:r>
            <a:r>
              <a:rPr sz="2400" spc="9" dirty="0" smtClean="0">
                <a:latin typeface="Corbel"/>
                <a:cs typeface="Corbel"/>
              </a:rPr>
              <a:t>f</a:t>
            </a:r>
            <a:r>
              <a:rPr sz="2400" spc="0" dirty="0" smtClean="0">
                <a:latin typeface="Corbel"/>
                <a:cs typeface="Corbel"/>
              </a:rPr>
              <a:t>e</a:t>
            </a:r>
            <a:r>
              <a:rPr sz="2400" spc="9" dirty="0" smtClean="0">
                <a:latin typeface="Corbel"/>
                <a:cs typeface="Corbel"/>
              </a:rPr>
              <a:t>r</a:t>
            </a:r>
            <a:r>
              <a:rPr sz="2400" spc="0" dirty="0" smtClean="0">
                <a:latin typeface="Corbel"/>
                <a:cs typeface="Corbel"/>
              </a:rPr>
              <a:t>ent</a:t>
            </a:r>
            <a:r>
              <a:rPr sz="2400" spc="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tag valu</a:t>
            </a:r>
            <a:r>
              <a:rPr sz="2400" spc="14" dirty="0" smtClean="0">
                <a:latin typeface="Corbel"/>
                <a:cs typeface="Corbel"/>
              </a:rPr>
              <a:t>e</a:t>
            </a:r>
            <a:r>
              <a:rPr sz="2400" spc="0" dirty="0" smtClean="0">
                <a:latin typeface="Corbel"/>
                <a:cs typeface="Corbel"/>
              </a:rPr>
              <a:t>s c</a:t>
            </a:r>
            <a:r>
              <a:rPr sz="2400" spc="4" dirty="0" smtClean="0">
                <a:latin typeface="Corbel"/>
                <a:cs typeface="Corbel"/>
              </a:rPr>
              <a:t>a</a:t>
            </a:r>
            <a:r>
              <a:rPr sz="2400" spc="0" dirty="0" smtClean="0">
                <a:latin typeface="Corbel"/>
                <a:cs typeface="Corbel"/>
              </a:rPr>
              <a:t>nnot</a:t>
            </a:r>
            <a:r>
              <a:rPr sz="2400" spc="-1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r</a:t>
            </a:r>
            <a:r>
              <a:rPr sz="2400" spc="9" dirty="0" smtClean="0">
                <a:latin typeface="Corbel"/>
                <a:cs typeface="Corbel"/>
              </a:rPr>
              <a:t>e</a:t>
            </a:r>
            <a:r>
              <a:rPr sz="2400" spc="0" dirty="0" smtClean="0">
                <a:latin typeface="Corbel"/>
                <a:cs typeface="Corbel"/>
              </a:rPr>
              <a:t>side</a:t>
            </a:r>
            <a:r>
              <a:rPr sz="2400" spc="19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in c</a:t>
            </a:r>
            <a:r>
              <a:rPr sz="2400" spc="4" dirty="0" smtClean="0">
                <a:latin typeface="Corbel"/>
                <a:cs typeface="Corbel"/>
              </a:rPr>
              <a:t>a</a:t>
            </a:r>
            <a:r>
              <a:rPr sz="2400" spc="0" dirty="0" smtClean="0">
                <a:latin typeface="Corbel"/>
                <a:cs typeface="Corbel"/>
              </a:rPr>
              <a:t>che m</a:t>
            </a:r>
            <a:r>
              <a:rPr sz="2400" spc="9" dirty="0" smtClean="0">
                <a:latin typeface="Corbel"/>
                <a:cs typeface="Corbel"/>
              </a:rPr>
              <a:t>e</a:t>
            </a:r>
            <a:r>
              <a:rPr sz="2400" spc="0" dirty="0" smtClean="0">
                <a:latin typeface="Corbel"/>
                <a:cs typeface="Corbel"/>
              </a:rPr>
              <a:t>m</a:t>
            </a:r>
            <a:r>
              <a:rPr sz="2400" spc="9" dirty="0" smtClean="0">
                <a:latin typeface="Corbel"/>
                <a:cs typeface="Corbel"/>
              </a:rPr>
              <a:t>o</a:t>
            </a:r>
            <a:r>
              <a:rPr sz="2400" spc="0" dirty="0" smtClean="0">
                <a:latin typeface="Corbel"/>
                <a:cs typeface="Corbel"/>
              </a:rPr>
              <a:t>ry at t</a:t>
            </a:r>
            <a:r>
              <a:rPr sz="2400" spc="-9" dirty="0" smtClean="0">
                <a:latin typeface="Corbel"/>
                <a:cs typeface="Corbel"/>
              </a:rPr>
              <a:t>h</a:t>
            </a:r>
            <a:r>
              <a:rPr sz="2400" spc="0" dirty="0" smtClean="0">
                <a:latin typeface="Corbel"/>
                <a:cs typeface="Corbel"/>
              </a:rPr>
              <a:t>e</a:t>
            </a:r>
            <a:r>
              <a:rPr sz="2400" spc="14" dirty="0" smtClean="0">
                <a:latin typeface="Corbel"/>
                <a:cs typeface="Corbel"/>
              </a:rPr>
              <a:t> </a:t>
            </a:r>
            <a:r>
              <a:rPr sz="2400" spc="0" dirty="0" smtClean="0">
                <a:latin typeface="Corbel"/>
                <a:cs typeface="Corbel"/>
              </a:rPr>
              <a:t>sa</a:t>
            </a:r>
            <a:r>
              <a:rPr sz="2400" spc="4" dirty="0" smtClean="0">
                <a:latin typeface="Corbel"/>
                <a:cs typeface="Corbel"/>
              </a:rPr>
              <a:t>m</a:t>
            </a:r>
            <a:r>
              <a:rPr sz="2400" spc="0" dirty="0" smtClean="0">
                <a:latin typeface="Corbel"/>
                <a:cs typeface="Corbel"/>
              </a:rPr>
              <a:t>e </a:t>
            </a:r>
            <a:r>
              <a:rPr sz="2400" spc="-9" dirty="0" smtClean="0">
                <a:latin typeface="Corbel"/>
                <a:cs typeface="Corbel"/>
              </a:rPr>
              <a:t>t</a:t>
            </a:r>
            <a:r>
              <a:rPr sz="2400" spc="0" dirty="0" smtClean="0">
                <a:latin typeface="Corbel"/>
                <a:cs typeface="Corbel"/>
              </a:rPr>
              <a:t>ime.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236" y="1769132"/>
            <a:ext cx="197063" cy="269240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900" spc="9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900">
              <a:latin typeface="Wingdings 2"/>
              <a:cs typeface="Wingdings 2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8276" y="4298471"/>
            <a:ext cx="3832023" cy="2159330"/>
          </a:xfrm>
          <a:prstGeom prst="rect">
            <a:avLst/>
          </a:prstGeom>
        </p:spPr>
        <p:txBody>
          <a:bodyPr wrap="square" lIns="0" tIns="15875" rIns="0" bIns="0" rtlCol="0">
            <a:noAutofit/>
          </a:bodyPr>
          <a:lstStyle/>
          <a:p>
            <a:pPr marL="12700">
              <a:lnSpc>
                <a:spcPts val="2500"/>
              </a:lnSpc>
            </a:pPr>
            <a:r>
              <a:rPr sz="2400" spc="1" dirty="0" smtClean="0">
                <a:latin typeface="Corbel"/>
                <a:cs typeface="Corbel"/>
              </a:rPr>
              <a:t>Set-Associative Mapping is an</a:t>
            </a:r>
            <a:endParaRPr sz="2400">
              <a:latin typeface="Corbel"/>
              <a:cs typeface="Corbel"/>
            </a:endParaRPr>
          </a:p>
          <a:p>
            <a:pPr marL="12700" marR="45720">
              <a:lnSpc>
                <a:spcPts val="2880"/>
              </a:lnSpc>
              <a:spcBef>
                <a:spcPts val="19"/>
              </a:spcBef>
            </a:pPr>
            <a:r>
              <a:rPr sz="2400" dirty="0" smtClean="0">
                <a:latin typeface="Corbel"/>
                <a:cs typeface="Corbel"/>
              </a:rPr>
              <a:t>improvement over the direct-</a:t>
            </a:r>
            <a:endParaRPr sz="2400">
              <a:latin typeface="Corbel"/>
              <a:cs typeface="Corbel"/>
            </a:endParaRPr>
          </a:p>
          <a:p>
            <a:pPr marL="12700" marR="45720">
              <a:lnSpc>
                <a:spcPts val="2880"/>
              </a:lnSpc>
            </a:pPr>
            <a:r>
              <a:rPr sz="2400" spc="0" dirty="0" smtClean="0">
                <a:latin typeface="Corbel"/>
                <a:cs typeface="Corbel"/>
              </a:rPr>
              <a:t>mapping in that each word of</a:t>
            </a:r>
            <a:endParaRPr sz="2400">
              <a:latin typeface="Corbel"/>
              <a:cs typeface="Corbel"/>
            </a:endParaRPr>
          </a:p>
          <a:p>
            <a:pPr marL="12700" marR="45720">
              <a:lnSpc>
                <a:spcPts val="2885"/>
              </a:lnSpc>
              <a:spcBef>
                <a:spcPts val="0"/>
              </a:spcBef>
            </a:pPr>
            <a:r>
              <a:rPr sz="2400" spc="0" dirty="0" smtClean="0">
                <a:latin typeface="Corbel"/>
                <a:cs typeface="Corbel"/>
              </a:rPr>
              <a:t>cache can store two or more</a:t>
            </a:r>
            <a:endParaRPr sz="2400">
              <a:latin typeface="Corbel"/>
              <a:cs typeface="Corbel"/>
            </a:endParaRPr>
          </a:p>
          <a:p>
            <a:pPr marL="12700" marR="45720">
              <a:lnSpc>
                <a:spcPts val="2880"/>
              </a:lnSpc>
            </a:pPr>
            <a:r>
              <a:rPr sz="2400" spc="0" dirty="0" smtClean="0">
                <a:latin typeface="Corbel"/>
                <a:cs typeface="Corbel"/>
              </a:rPr>
              <a:t>word of memory under the</a:t>
            </a:r>
            <a:endParaRPr sz="2400">
              <a:latin typeface="Corbel"/>
              <a:cs typeface="Corbel"/>
            </a:endParaRPr>
          </a:p>
          <a:p>
            <a:pPr marL="12700" marR="45720">
              <a:lnSpc>
                <a:spcPts val="2880"/>
              </a:lnSpc>
            </a:pPr>
            <a:r>
              <a:rPr sz="2400" spc="2" dirty="0" smtClean="0">
                <a:latin typeface="Corbel"/>
                <a:cs typeface="Corbel"/>
              </a:rPr>
              <a:t>same index address.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18236" y="4330087"/>
            <a:ext cx="197063" cy="269239"/>
          </a:xfrm>
          <a:prstGeom prst="rect">
            <a:avLst/>
          </a:prstGeom>
        </p:spPr>
        <p:txBody>
          <a:bodyPr wrap="square" lIns="0" tIns="3810" rIns="0" bIns="0" rtlCol="0">
            <a:noAutofit/>
          </a:bodyPr>
          <a:lstStyle/>
          <a:p>
            <a:pPr marL="12700">
              <a:lnSpc>
                <a:spcPct val="87849"/>
              </a:lnSpc>
            </a:pPr>
            <a:r>
              <a:rPr sz="1900" spc="9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1900">
              <a:latin typeface="Wingdings 2"/>
              <a:cs typeface="Wingdings 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45592" y="565404"/>
            <a:ext cx="6230112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8236" y="1932855"/>
            <a:ext cx="7369883" cy="1407668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>
              <a:lnSpc>
                <a:spcPts val="3304"/>
              </a:lnSpc>
            </a:pPr>
            <a:r>
              <a:rPr sz="25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2550" spc="467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3200" spc="-2" dirty="0" smtClean="0">
                <a:latin typeface="Corbel"/>
                <a:cs typeface="Corbel"/>
              </a:rPr>
              <a:t>Optimal replacement algorithm – find the</a:t>
            </a:r>
            <a:endParaRPr sz="3200">
              <a:latin typeface="Corbel"/>
              <a:cs typeface="Corbel"/>
            </a:endParaRPr>
          </a:p>
          <a:p>
            <a:pPr marL="332739" marR="61036">
              <a:lnSpc>
                <a:spcPts val="3840"/>
              </a:lnSpc>
              <a:spcBef>
                <a:spcPts val="26"/>
              </a:spcBef>
            </a:pPr>
            <a:r>
              <a:rPr sz="3200" spc="0" dirty="0" smtClean="0">
                <a:latin typeface="Corbel"/>
                <a:cs typeface="Corbel"/>
              </a:rPr>
              <a:t>block for replacement that has minimum</a:t>
            </a:r>
            <a:endParaRPr sz="3200">
              <a:latin typeface="Corbel"/>
              <a:cs typeface="Corbel"/>
            </a:endParaRPr>
          </a:p>
          <a:p>
            <a:pPr marL="332739" marR="61036">
              <a:lnSpc>
                <a:spcPts val="3840"/>
              </a:lnSpc>
            </a:pPr>
            <a:r>
              <a:rPr sz="3200" spc="0" dirty="0" smtClean="0">
                <a:latin typeface="Corbel"/>
                <a:cs typeface="Corbel"/>
              </a:rPr>
              <a:t>chance to be referenced next time.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18236" y="3883956"/>
            <a:ext cx="7906460" cy="2187968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 marR="42507">
              <a:lnSpc>
                <a:spcPts val="3304"/>
              </a:lnSpc>
            </a:pPr>
            <a:r>
              <a:rPr sz="25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2550" spc="467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3200" spc="-12" dirty="0" smtClean="0">
                <a:latin typeface="Corbel"/>
                <a:cs typeface="Corbel"/>
              </a:rPr>
              <a:t>Two algorithms:</a:t>
            </a:r>
            <a:endParaRPr sz="3200">
              <a:latin typeface="Corbel"/>
              <a:cs typeface="Corbel"/>
            </a:endParaRPr>
          </a:p>
          <a:p>
            <a:pPr marL="351332" marR="42507">
              <a:lnSpc>
                <a:spcPct val="100626"/>
              </a:lnSpc>
              <a:spcBef>
                <a:spcPts val="479"/>
              </a:spcBef>
            </a:pPr>
            <a:r>
              <a:rPr sz="2500" dirty="0" smtClean="0">
                <a:solidFill>
                  <a:srgbClr val="5FB5CC"/>
                </a:solidFill>
                <a:latin typeface="Wingdings"/>
                <a:cs typeface="Wingdings"/>
              </a:rPr>
              <a:t></a:t>
            </a:r>
            <a:r>
              <a:rPr sz="2500" spc="391" dirty="0" smtClean="0">
                <a:solidFill>
                  <a:srgbClr val="5FB5CC"/>
                </a:solidFill>
                <a:latin typeface="Times New Roman"/>
                <a:cs typeface="Times New Roman"/>
              </a:rPr>
              <a:t> </a:t>
            </a:r>
            <a:r>
              <a:rPr sz="2800" spc="0" dirty="0" smtClean="0">
                <a:latin typeface="Corbel"/>
                <a:cs typeface="Corbel"/>
              </a:rPr>
              <a:t>FIFO: </a:t>
            </a:r>
            <a:r>
              <a:rPr sz="2400" spc="0" dirty="0" smtClean="0">
                <a:latin typeface="Corbel"/>
                <a:cs typeface="Corbel"/>
              </a:rPr>
              <a:t>Selects the item which has been in the set the</a:t>
            </a:r>
            <a:endParaRPr sz="2400">
              <a:latin typeface="Corbel"/>
              <a:cs typeface="Corbel"/>
            </a:endParaRPr>
          </a:p>
          <a:p>
            <a:pPr marL="625652" marR="42507">
              <a:lnSpc>
                <a:spcPts val="2885"/>
              </a:lnSpc>
              <a:spcBef>
                <a:spcPts val="144"/>
              </a:spcBef>
            </a:pPr>
            <a:r>
              <a:rPr sz="2400" spc="-1" dirty="0" smtClean="0">
                <a:latin typeface="Corbel"/>
                <a:cs typeface="Corbel"/>
              </a:rPr>
              <a:t>longest.</a:t>
            </a:r>
            <a:endParaRPr sz="2400">
              <a:latin typeface="Corbel"/>
              <a:cs typeface="Corbel"/>
            </a:endParaRPr>
          </a:p>
          <a:p>
            <a:pPr marL="1291589" indent="-940257">
              <a:lnSpc>
                <a:spcPts val="2990"/>
              </a:lnSpc>
              <a:spcBef>
                <a:spcPts val="924"/>
              </a:spcBef>
              <a:tabLst>
                <a:tab pos="622300" algn="l"/>
              </a:tabLst>
            </a:pPr>
            <a:r>
              <a:rPr sz="2500" spc="10" dirty="0" smtClean="0">
                <a:solidFill>
                  <a:srgbClr val="5FB5CC"/>
                </a:solidFill>
                <a:latin typeface="Wingdings"/>
                <a:cs typeface="Wingdings"/>
              </a:rPr>
              <a:t></a:t>
            </a:r>
            <a:r>
              <a:rPr sz="2500" spc="0" dirty="0" smtClean="0">
                <a:solidFill>
                  <a:srgbClr val="5FB5CC"/>
                </a:solidFill>
                <a:latin typeface="Times New Roman"/>
                <a:cs typeface="Times New Roman"/>
              </a:rPr>
              <a:t>	</a:t>
            </a:r>
            <a:r>
              <a:rPr sz="2800" spc="-2" dirty="0" smtClean="0">
                <a:latin typeface="Corbel"/>
                <a:cs typeface="Corbel"/>
              </a:rPr>
              <a:t>LRU: </a:t>
            </a:r>
            <a:r>
              <a:rPr sz="2400" spc="-2" dirty="0" smtClean="0">
                <a:latin typeface="Corbel"/>
                <a:cs typeface="Corbel"/>
              </a:rPr>
              <a:t>Selects the item which has been least recently used by the CPU.</a:t>
            </a:r>
            <a:endParaRPr sz="2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45592" y="565403"/>
            <a:ext cx="3860291" cy="5425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18236" y="1884087"/>
            <a:ext cx="7278508" cy="871220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 marR="61036">
              <a:lnSpc>
                <a:spcPts val="3304"/>
              </a:lnSpc>
            </a:pPr>
            <a:r>
              <a:rPr sz="25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2550" spc="467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3200" spc="0" dirty="0" smtClean="0">
                <a:latin typeface="Corbel"/>
                <a:cs typeface="Corbel"/>
              </a:rPr>
              <a:t>Virtual memory is a common part of</a:t>
            </a:r>
            <a:endParaRPr sz="3200">
              <a:latin typeface="Corbel"/>
              <a:cs typeface="Corbel"/>
            </a:endParaRPr>
          </a:p>
          <a:p>
            <a:pPr marL="332739">
              <a:lnSpc>
                <a:spcPts val="3454"/>
              </a:lnSpc>
              <a:spcBef>
                <a:spcPts val="7"/>
              </a:spcBef>
            </a:pPr>
            <a:r>
              <a:rPr sz="3200" spc="0" dirty="0" smtClean="0">
                <a:latin typeface="Corbel"/>
                <a:cs typeface="Corbel"/>
              </a:rPr>
              <a:t>operating system on desktop computers.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236" y="3200597"/>
            <a:ext cx="8009087" cy="1310739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>
              <a:lnSpc>
                <a:spcPts val="3304"/>
              </a:lnSpc>
            </a:pPr>
            <a:r>
              <a:rPr sz="25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2550" spc="467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3200" spc="-5" dirty="0" smtClean="0">
                <a:latin typeface="Corbel"/>
                <a:cs typeface="Corbel"/>
              </a:rPr>
              <a:t>The term Virtual Memory refers to something</a:t>
            </a:r>
            <a:endParaRPr sz="3200">
              <a:latin typeface="Corbel"/>
              <a:cs typeface="Corbel"/>
            </a:endParaRPr>
          </a:p>
          <a:p>
            <a:pPr marL="332739" marR="61081">
              <a:lnSpc>
                <a:spcPts val="3460"/>
              </a:lnSpc>
              <a:spcBef>
                <a:spcPts val="7"/>
              </a:spcBef>
            </a:pPr>
            <a:r>
              <a:rPr sz="3200" spc="0" dirty="0" smtClean="0">
                <a:latin typeface="Corbel"/>
                <a:cs typeface="Corbel"/>
              </a:rPr>
              <a:t>which appears to be present but actually is</a:t>
            </a:r>
            <a:endParaRPr sz="3200">
              <a:latin typeface="Corbel"/>
              <a:cs typeface="Corbel"/>
            </a:endParaRPr>
          </a:p>
          <a:p>
            <a:pPr marL="332739" marR="61081">
              <a:lnSpc>
                <a:spcPts val="3454"/>
              </a:lnSpc>
            </a:pPr>
            <a:r>
              <a:rPr sz="3200" spc="1" dirty="0" smtClean="0">
                <a:latin typeface="Corbel"/>
                <a:cs typeface="Corbel"/>
              </a:rPr>
              <a:t>not.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18236" y="4957106"/>
            <a:ext cx="7929591" cy="1310157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 marR="61036">
              <a:lnSpc>
                <a:spcPts val="3304"/>
              </a:lnSpc>
            </a:pPr>
            <a:r>
              <a:rPr sz="25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2550" spc="467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3200" spc="0" dirty="0" smtClean="0">
                <a:latin typeface="Corbel"/>
                <a:cs typeface="Corbel"/>
              </a:rPr>
              <a:t>This technique allows users to use more</a:t>
            </a:r>
            <a:endParaRPr sz="3200">
              <a:latin typeface="Corbel"/>
              <a:cs typeface="Corbel"/>
            </a:endParaRPr>
          </a:p>
          <a:p>
            <a:pPr marL="332739">
              <a:lnSpc>
                <a:spcPts val="3454"/>
              </a:lnSpc>
              <a:spcBef>
                <a:spcPts val="7"/>
              </a:spcBef>
            </a:pPr>
            <a:r>
              <a:rPr sz="3200" spc="0" dirty="0" smtClean="0">
                <a:latin typeface="Corbel"/>
                <a:cs typeface="Corbel"/>
              </a:rPr>
              <a:t>memory for a program than the real memory</a:t>
            </a:r>
            <a:endParaRPr sz="3200">
              <a:latin typeface="Corbel"/>
              <a:cs typeface="Corbel"/>
            </a:endParaRPr>
          </a:p>
          <a:p>
            <a:pPr marL="332739" marR="61036">
              <a:lnSpc>
                <a:spcPts val="3454"/>
              </a:lnSpc>
            </a:pPr>
            <a:r>
              <a:rPr sz="3200" spc="-11" dirty="0" smtClean="0">
                <a:latin typeface="Corbel"/>
                <a:cs typeface="Corbel"/>
              </a:rPr>
              <a:t>of a computer.</a:t>
            </a:r>
            <a:endParaRPr sz="3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62208"/>
            <a:ext cx="9144000" cy="7020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5592" y="559308"/>
            <a:ext cx="5963412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439412" y="4221480"/>
            <a:ext cx="4212336" cy="19431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38276" y="1932855"/>
            <a:ext cx="7684131" cy="919988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>
              <a:lnSpc>
                <a:spcPts val="3304"/>
              </a:lnSpc>
            </a:pPr>
            <a:r>
              <a:rPr sz="3200" spc="0" dirty="0" smtClean="0">
                <a:latin typeface="Corbel"/>
                <a:cs typeface="Corbel"/>
              </a:rPr>
              <a:t>Virtual Memory is a imaginary memory which</a:t>
            </a:r>
            <a:endParaRPr sz="3200">
              <a:latin typeface="Corbel"/>
              <a:cs typeface="Corbel"/>
            </a:endParaRPr>
          </a:p>
          <a:p>
            <a:pPr marL="12700" marR="61036">
              <a:lnSpc>
                <a:spcPts val="3840"/>
              </a:lnSpc>
              <a:spcBef>
                <a:spcPts val="26"/>
              </a:spcBef>
            </a:pPr>
            <a:r>
              <a:rPr sz="3200" spc="0" dirty="0" smtClean="0">
                <a:latin typeface="Corbel"/>
                <a:cs typeface="Corbel"/>
              </a:rPr>
              <a:t>we assume or use, when we have a material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8236" y="1975794"/>
            <a:ext cx="253926" cy="350012"/>
          </a:xfrm>
          <a:prstGeom prst="rect">
            <a:avLst/>
          </a:prstGeom>
        </p:spPr>
        <p:txBody>
          <a:bodyPr wrap="square" lIns="0" tIns="17018" rIns="0" bIns="0" rtlCol="0">
            <a:noAutofit/>
          </a:bodyPr>
          <a:lstStyle/>
          <a:p>
            <a:pPr marL="12700">
              <a:lnSpc>
                <a:spcPts val="2680"/>
              </a:lnSpc>
            </a:pPr>
            <a:r>
              <a:rPr sz="25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endParaRPr sz="2550">
              <a:latin typeface="Wingdings 2"/>
              <a:cs typeface="Wingdings 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8276" y="2908215"/>
            <a:ext cx="4371357" cy="432308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>
              <a:lnSpc>
                <a:spcPts val="3304"/>
              </a:lnSpc>
            </a:pPr>
            <a:r>
              <a:rPr sz="3200" dirty="0" smtClean="0">
                <a:latin typeface="Corbel"/>
                <a:cs typeface="Corbel"/>
              </a:rPr>
              <a:t>that exceeds our memory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05212" y="2908215"/>
            <a:ext cx="426983" cy="432308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>
              <a:lnSpc>
                <a:spcPts val="3304"/>
              </a:lnSpc>
            </a:pPr>
            <a:r>
              <a:rPr sz="3200" dirty="0" smtClean="0">
                <a:latin typeface="Corbel"/>
                <a:cs typeface="Corbel"/>
              </a:rPr>
              <a:t>at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27176" y="2908215"/>
            <a:ext cx="785469" cy="432308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>
              <a:lnSpc>
                <a:spcPts val="3304"/>
              </a:lnSpc>
            </a:pPr>
            <a:r>
              <a:rPr sz="3200" spc="1" dirty="0" smtClean="0">
                <a:latin typeface="Corbel"/>
                <a:cs typeface="Corbel"/>
              </a:rPr>
              <a:t>that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05184" y="2908215"/>
            <a:ext cx="969968" cy="432308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>
              <a:lnSpc>
                <a:spcPts val="3304"/>
              </a:lnSpc>
            </a:pPr>
            <a:r>
              <a:rPr sz="3200" spc="0" dirty="0" smtClean="0">
                <a:latin typeface="Corbel"/>
                <a:cs typeface="Corbel"/>
              </a:rPr>
              <a:t>time.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8540" y="3837990"/>
            <a:ext cx="241295" cy="380492"/>
          </a:xfrm>
          <a:prstGeom prst="rect">
            <a:avLst/>
          </a:prstGeom>
        </p:spPr>
        <p:txBody>
          <a:bodyPr wrap="square" lIns="0" tIns="18764" rIns="0" bIns="0" rtlCol="0">
            <a:noAutofit/>
          </a:bodyPr>
          <a:lstStyle/>
          <a:p>
            <a:pPr marL="12700">
              <a:lnSpc>
                <a:spcPts val="2955"/>
              </a:lnSpc>
            </a:pPr>
            <a:r>
              <a:rPr sz="2800" dirty="0" smtClean="0">
                <a:solidFill>
                  <a:srgbClr val="EFAC00"/>
                </a:solidFill>
                <a:latin typeface="Wingdings"/>
                <a:cs typeface="Wingdings"/>
              </a:rPr>
              <a:t></a:t>
            </a:r>
            <a:endParaRPr sz="2800">
              <a:latin typeface="Wingdings"/>
              <a:cs typeface="Wingdings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75740" y="3861530"/>
            <a:ext cx="2949739" cy="2087651"/>
          </a:xfrm>
          <a:prstGeom prst="rect">
            <a:avLst/>
          </a:prstGeom>
        </p:spPr>
        <p:txBody>
          <a:bodyPr wrap="square" lIns="0" tIns="18383" rIns="0" bIns="0" rtlCol="0">
            <a:noAutofit/>
          </a:bodyPr>
          <a:lstStyle/>
          <a:p>
            <a:pPr marL="12700" marR="53263">
              <a:lnSpc>
                <a:spcPts val="2895"/>
              </a:lnSpc>
            </a:pPr>
            <a:r>
              <a:rPr sz="2800" spc="-4" dirty="0" smtClean="0">
                <a:latin typeface="Corbel"/>
                <a:cs typeface="Corbel"/>
              </a:rPr>
              <a:t>Virtual Memory is</a:t>
            </a:r>
            <a:endParaRPr sz="2800">
              <a:latin typeface="Corbel"/>
              <a:cs typeface="Corbel"/>
            </a:endParaRPr>
          </a:p>
          <a:p>
            <a:pPr marL="12700">
              <a:lnSpc>
                <a:spcPts val="3360"/>
              </a:lnSpc>
              <a:spcBef>
                <a:spcPts val="23"/>
              </a:spcBef>
            </a:pPr>
            <a:r>
              <a:rPr sz="2800" spc="-6" dirty="0" smtClean="0">
                <a:latin typeface="Corbel"/>
                <a:cs typeface="Corbel"/>
              </a:rPr>
              <a:t>temporary memory</a:t>
            </a:r>
            <a:endParaRPr sz="2800">
              <a:latin typeface="Corbel"/>
              <a:cs typeface="Corbel"/>
            </a:endParaRPr>
          </a:p>
          <a:p>
            <a:pPr marL="12700" marR="53263">
              <a:lnSpc>
                <a:spcPts val="3360"/>
              </a:lnSpc>
            </a:pPr>
            <a:r>
              <a:rPr sz="2800" spc="0" dirty="0" smtClean="0">
                <a:latin typeface="Corbel"/>
                <a:cs typeface="Corbel"/>
              </a:rPr>
              <a:t>which is used along</a:t>
            </a:r>
            <a:endParaRPr sz="2800">
              <a:latin typeface="Corbel"/>
              <a:cs typeface="Corbel"/>
            </a:endParaRPr>
          </a:p>
          <a:p>
            <a:pPr marL="12700" marR="53263">
              <a:lnSpc>
                <a:spcPts val="3360"/>
              </a:lnSpc>
            </a:pPr>
            <a:r>
              <a:rPr sz="2800" spc="-7" dirty="0" smtClean="0">
                <a:latin typeface="Corbel"/>
                <a:cs typeface="Corbel"/>
              </a:rPr>
              <a:t>with the ram of the</a:t>
            </a:r>
            <a:endParaRPr sz="2800">
              <a:latin typeface="Corbel"/>
              <a:cs typeface="Corbel"/>
            </a:endParaRPr>
          </a:p>
          <a:p>
            <a:pPr marL="12700" marR="53263">
              <a:lnSpc>
                <a:spcPts val="3360"/>
              </a:lnSpc>
            </a:pPr>
            <a:r>
              <a:rPr sz="2800" dirty="0" smtClean="0">
                <a:latin typeface="Corbel"/>
                <a:cs typeface="Corbel"/>
              </a:rPr>
              <a:t>system.</a:t>
            </a:r>
            <a:endParaRPr sz="2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5592" y="569976"/>
            <a:ext cx="2891027" cy="53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object 2"/>
          <p:cNvSpPr txBox="1"/>
          <p:nvPr/>
        </p:nvSpPr>
        <p:spPr>
          <a:xfrm>
            <a:off x="618236" y="1845442"/>
            <a:ext cx="7671133" cy="4064660"/>
          </a:xfrm>
          <a:prstGeom prst="rect">
            <a:avLst/>
          </a:prstGeom>
        </p:spPr>
        <p:txBody>
          <a:bodyPr wrap="square" lIns="0" tIns="7620" rIns="0" bIns="0" rtlCol="0">
            <a:noAutofit/>
          </a:bodyPr>
          <a:lstStyle/>
          <a:p>
            <a:pPr marL="332739" marR="247886" indent="-320039">
              <a:lnSpc>
                <a:spcPts val="3622"/>
              </a:lnSpc>
              <a:tabLst>
                <a:tab pos="330200" algn="l"/>
              </a:tabLst>
            </a:pPr>
            <a:r>
              <a:rPr sz="240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2400" dirty="0" smtClean="0">
                <a:solidFill>
                  <a:srgbClr val="EFAC00"/>
                </a:solidFill>
                <a:latin typeface="Times New Roman"/>
                <a:cs typeface="Times New Roman"/>
              </a:rPr>
              <a:t>	</a:t>
            </a:r>
            <a:r>
              <a:rPr sz="3000" spc="0" dirty="0" smtClean="0">
                <a:latin typeface="Corbel"/>
                <a:cs typeface="Corbel"/>
              </a:rPr>
              <a:t>Allows Processes whose aggregate memory </a:t>
            </a:r>
            <a:endParaRPr sz="3000">
              <a:latin typeface="Corbel"/>
              <a:cs typeface="Corbel"/>
            </a:endParaRPr>
          </a:p>
          <a:p>
            <a:pPr marL="332739" marR="247886">
              <a:lnSpc>
                <a:spcPts val="3622"/>
              </a:lnSpc>
              <a:tabLst>
                <a:tab pos="330200" algn="l"/>
              </a:tabLst>
            </a:pPr>
            <a:r>
              <a:rPr sz="3000" spc="0" dirty="0" smtClean="0">
                <a:latin typeface="Corbel"/>
                <a:cs typeface="Corbel"/>
              </a:rPr>
              <a:t>requirement is greater than the amount of </a:t>
            </a:r>
            <a:endParaRPr sz="3000">
              <a:latin typeface="Corbel"/>
              <a:cs typeface="Corbel"/>
            </a:endParaRPr>
          </a:p>
          <a:p>
            <a:pPr marL="332739" marR="247886">
              <a:lnSpc>
                <a:spcPts val="3622"/>
              </a:lnSpc>
              <a:tabLst>
                <a:tab pos="330200" algn="l"/>
              </a:tabLst>
            </a:pPr>
            <a:r>
              <a:rPr sz="3000" spc="0" dirty="0" smtClean="0">
                <a:latin typeface="Corbel"/>
                <a:cs typeface="Corbel"/>
              </a:rPr>
              <a:t>physical memory, as infrequently used pages </a:t>
            </a:r>
            <a:endParaRPr sz="3000">
              <a:latin typeface="Corbel"/>
              <a:cs typeface="Corbel"/>
            </a:endParaRPr>
          </a:p>
          <a:p>
            <a:pPr marL="332739" marR="247886">
              <a:lnSpc>
                <a:spcPts val="3622"/>
              </a:lnSpc>
              <a:tabLst>
                <a:tab pos="330200" algn="l"/>
              </a:tabLst>
            </a:pPr>
            <a:r>
              <a:rPr sz="3000" spc="1" dirty="0" smtClean="0">
                <a:latin typeface="Corbel"/>
                <a:cs typeface="Corbel"/>
              </a:rPr>
              <a:t>can reside on the disk.</a:t>
            </a:r>
            <a:endParaRPr sz="3000">
              <a:latin typeface="Corbel"/>
              <a:cs typeface="Corbel"/>
            </a:endParaRPr>
          </a:p>
          <a:p>
            <a:pPr marL="332739" indent="-320039">
              <a:lnSpc>
                <a:spcPts val="3622"/>
              </a:lnSpc>
              <a:spcBef>
                <a:spcPts val="2140"/>
              </a:spcBef>
              <a:tabLst>
                <a:tab pos="330200" algn="l"/>
              </a:tabLst>
            </a:pPr>
            <a:r>
              <a:rPr sz="240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2400" dirty="0" smtClean="0">
                <a:solidFill>
                  <a:srgbClr val="EFAC00"/>
                </a:solidFill>
                <a:latin typeface="Times New Roman"/>
                <a:cs typeface="Times New Roman"/>
              </a:rPr>
              <a:t>	</a:t>
            </a:r>
            <a:r>
              <a:rPr sz="3000" spc="2" dirty="0" smtClean="0">
                <a:latin typeface="Corbel"/>
                <a:cs typeface="Corbel"/>
              </a:rPr>
              <a:t>Virtual memory allows speed gain when only a </a:t>
            </a:r>
            <a:endParaRPr sz="3000">
              <a:latin typeface="Corbel"/>
              <a:cs typeface="Corbel"/>
            </a:endParaRPr>
          </a:p>
          <a:p>
            <a:pPr marL="332739">
              <a:lnSpc>
                <a:spcPts val="3622"/>
              </a:lnSpc>
              <a:tabLst>
                <a:tab pos="330200" algn="l"/>
              </a:tabLst>
            </a:pPr>
            <a:r>
              <a:rPr sz="3000" spc="1" dirty="0" smtClean="0">
                <a:latin typeface="Corbel"/>
                <a:cs typeface="Corbel"/>
              </a:rPr>
              <a:t>particular segment of the program is required </a:t>
            </a:r>
            <a:endParaRPr sz="3000">
              <a:latin typeface="Corbel"/>
              <a:cs typeface="Corbel"/>
            </a:endParaRPr>
          </a:p>
          <a:p>
            <a:pPr marL="332739">
              <a:lnSpc>
                <a:spcPts val="3622"/>
              </a:lnSpc>
              <a:tabLst>
                <a:tab pos="330200" algn="l"/>
              </a:tabLst>
            </a:pPr>
            <a:r>
              <a:rPr sz="3000" spc="0" dirty="0" smtClean="0">
                <a:latin typeface="Corbel"/>
                <a:cs typeface="Corbel"/>
              </a:rPr>
              <a:t>for the execution of the program.</a:t>
            </a:r>
            <a:endParaRPr sz="3000">
              <a:latin typeface="Corbel"/>
              <a:cs typeface="Corbel"/>
            </a:endParaRPr>
          </a:p>
          <a:p>
            <a:pPr marL="332739" marR="373755" indent="-320039">
              <a:lnSpc>
                <a:spcPts val="3622"/>
              </a:lnSpc>
              <a:spcBef>
                <a:spcPts val="2139"/>
              </a:spcBef>
              <a:tabLst>
                <a:tab pos="330200" algn="l"/>
              </a:tabLst>
            </a:pPr>
            <a:r>
              <a:rPr sz="240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2400" dirty="0" smtClean="0">
                <a:solidFill>
                  <a:srgbClr val="EFAC00"/>
                </a:solidFill>
                <a:latin typeface="Times New Roman"/>
                <a:cs typeface="Times New Roman"/>
              </a:rPr>
              <a:t>	</a:t>
            </a:r>
            <a:r>
              <a:rPr sz="3000" spc="1" dirty="0" smtClean="0">
                <a:latin typeface="Corbel"/>
                <a:cs typeface="Corbel"/>
              </a:rPr>
              <a:t>This concept is very helpful in implementing </a:t>
            </a:r>
            <a:endParaRPr sz="3000">
              <a:latin typeface="Corbel"/>
              <a:cs typeface="Corbel"/>
            </a:endParaRPr>
          </a:p>
          <a:p>
            <a:pPr marL="332739" marR="373755">
              <a:lnSpc>
                <a:spcPts val="3622"/>
              </a:lnSpc>
              <a:tabLst>
                <a:tab pos="330200" algn="l"/>
              </a:tabLst>
            </a:pPr>
            <a:r>
              <a:rPr sz="3000" spc="1" dirty="0" smtClean="0">
                <a:latin typeface="Corbel"/>
                <a:cs typeface="Corbel"/>
              </a:rPr>
              <a:t>multiprogramming environment.</a:t>
            </a:r>
            <a:endParaRPr sz="30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-32002" y="1412748"/>
            <a:ext cx="9208008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0" y="1458467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6990">
            <a:solidFill>
              <a:srgbClr val="FFFFFF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0" y="0"/>
            <a:ext cx="9144000" cy="1434084"/>
          </a:xfrm>
          <a:custGeom>
            <a:avLst/>
            <a:gdLst/>
            <a:ahLst/>
            <a:cxnLst/>
            <a:rect l="l" t="t" r="r" b="b"/>
            <a:pathLst>
              <a:path w="9144000" h="1434084">
                <a:moveTo>
                  <a:pt x="0" y="1434084"/>
                </a:moveTo>
                <a:lnTo>
                  <a:pt x="9144000" y="1434084"/>
                </a:lnTo>
                <a:lnTo>
                  <a:pt x="9144000" y="0"/>
                </a:lnTo>
                <a:lnTo>
                  <a:pt x="0" y="0"/>
                </a:lnTo>
                <a:lnTo>
                  <a:pt x="0" y="1434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44068" y="605028"/>
            <a:ext cx="3909059" cy="4693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18236" y="1932855"/>
            <a:ext cx="7276892" cy="919988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>
              <a:lnSpc>
                <a:spcPts val="3304"/>
              </a:lnSpc>
            </a:pPr>
            <a:r>
              <a:rPr sz="25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2550" spc="467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3200" spc="0" dirty="0" smtClean="0">
                <a:latin typeface="Corbel"/>
                <a:cs typeface="Corbel"/>
              </a:rPr>
              <a:t>Applications run rather slower when they</a:t>
            </a:r>
            <a:endParaRPr sz="3200">
              <a:latin typeface="Corbel"/>
              <a:cs typeface="Corbel"/>
            </a:endParaRPr>
          </a:p>
          <a:p>
            <a:pPr marL="332739" marR="61036">
              <a:lnSpc>
                <a:spcPts val="3840"/>
              </a:lnSpc>
              <a:spcBef>
                <a:spcPts val="26"/>
              </a:spcBef>
            </a:pPr>
            <a:r>
              <a:rPr sz="3200" spc="-7" dirty="0" smtClean="0">
                <a:latin typeface="Corbel"/>
                <a:cs typeface="Corbel"/>
              </a:rPr>
              <a:t>using virtual memory.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88264" y="1932855"/>
            <a:ext cx="624476" cy="432308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>
              <a:lnSpc>
                <a:spcPts val="3304"/>
              </a:lnSpc>
            </a:pPr>
            <a:r>
              <a:rPr sz="3200" dirty="0" smtClean="0">
                <a:latin typeface="Corbel"/>
                <a:cs typeface="Corbel"/>
              </a:rPr>
              <a:t>are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236" y="3396276"/>
            <a:ext cx="5065858" cy="919988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>
              <a:lnSpc>
                <a:spcPts val="3304"/>
              </a:lnSpc>
            </a:pPr>
            <a:r>
              <a:rPr sz="25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2550" spc="467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3200" spc="-1" dirty="0" smtClean="0">
                <a:latin typeface="Corbel"/>
                <a:cs typeface="Corbel"/>
              </a:rPr>
              <a:t>It takes more time to switch</a:t>
            </a:r>
            <a:endParaRPr sz="3200">
              <a:latin typeface="Corbel"/>
              <a:cs typeface="Corbel"/>
            </a:endParaRPr>
          </a:p>
          <a:p>
            <a:pPr marL="332739" marR="61036">
              <a:lnSpc>
                <a:spcPts val="3840"/>
              </a:lnSpc>
              <a:spcBef>
                <a:spcPts val="26"/>
              </a:spcBef>
            </a:pPr>
            <a:r>
              <a:rPr sz="3200" spc="1" dirty="0" smtClean="0">
                <a:latin typeface="Corbel"/>
                <a:cs typeface="Corbel"/>
              </a:rPr>
              <a:t>applications.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75905" y="3396276"/>
            <a:ext cx="1558375" cy="432308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>
              <a:lnSpc>
                <a:spcPts val="3304"/>
              </a:lnSpc>
            </a:pPr>
            <a:r>
              <a:rPr sz="3200" spc="1" dirty="0" smtClean="0">
                <a:latin typeface="Corbel"/>
                <a:cs typeface="Corbel"/>
              </a:rPr>
              <a:t>between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618236" y="4859090"/>
            <a:ext cx="4619610" cy="432612"/>
          </a:xfrm>
          <a:prstGeom prst="rect">
            <a:avLst/>
          </a:prstGeom>
        </p:spPr>
        <p:txBody>
          <a:bodyPr wrap="square" lIns="0" tIns="20986" rIns="0" bIns="0" rtlCol="0">
            <a:noAutofit/>
          </a:bodyPr>
          <a:lstStyle/>
          <a:p>
            <a:pPr marL="12700">
              <a:lnSpc>
                <a:spcPts val="3304"/>
              </a:lnSpc>
            </a:pPr>
            <a:r>
              <a:rPr sz="2550" dirty="0" smtClean="0">
                <a:solidFill>
                  <a:srgbClr val="EFAC00"/>
                </a:solidFill>
                <a:latin typeface="Wingdings 2"/>
                <a:cs typeface="Wingdings 2"/>
              </a:rPr>
              <a:t></a:t>
            </a:r>
            <a:r>
              <a:rPr sz="2550" spc="467" dirty="0" smtClean="0">
                <a:solidFill>
                  <a:srgbClr val="EFAC00"/>
                </a:solidFill>
                <a:latin typeface="Times New Roman"/>
                <a:cs typeface="Times New Roman"/>
              </a:rPr>
              <a:t> </a:t>
            </a:r>
            <a:r>
              <a:rPr sz="3200" spc="-8" dirty="0" smtClean="0">
                <a:latin typeface="Corbel"/>
                <a:cs typeface="Corbel"/>
              </a:rPr>
              <a:t>Reduces system stability.</a:t>
            </a:r>
            <a:endParaRPr sz="32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2330</Words>
  <Application>Microsoft Office PowerPoint</Application>
  <PresentationFormat>On-screen Show (4:3)</PresentationFormat>
  <Paragraphs>479</Paragraphs>
  <Slides>37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katalihwa Mustapha</dc:creator>
  <cp:lastModifiedBy>MUSTA</cp:lastModifiedBy>
  <cp:revision>3</cp:revision>
  <dcterms:modified xsi:type="dcterms:W3CDTF">2019-02-23T17:04:13Z</dcterms:modified>
</cp:coreProperties>
</file>