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6" d="100"/>
          <a:sy n="86" d="100"/>
        </p:scale>
        <p:origin x="138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779CD4-ECCF-4ED6-AA8C-144AF37A89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E4374-8C07-4015-9D67-6F9783DDAC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EFCE3F4D-628C-4BFA-BD73-3904FC4C3FF2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D08185-9CB7-4D2C-AC5A-292A8FCBBA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35500DC-A82F-41CB-9814-CA7381FC3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EFDC1-DAE0-4954-92B0-37E735C714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0F0A0-D04C-4B44-958B-325F56CCB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628A3BA-F3DB-4E1F-B6EA-4FB67FEFBF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9B343874-E49D-44EB-8391-D95051F3E8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C042020-C7E9-4F16-862B-6F3AC47F2EED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E5B99021-B07E-425A-B797-DF030C0210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32CAA0B6-B0BC-46D7-9746-29C4F27CB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6CB006C1-364B-4580-865A-680D85B63A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53C10B6-5BAA-440F-AB29-9E40D9038F7B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524187C-90B6-4CE9-902A-11CFA663B2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3A4FD824-8F02-481F-84B0-5C06766787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7FFD36E-B162-4DD5-A6B0-292134F128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4CB5E78-FAC7-442D-A15E-7075F8DF4109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2F8BFA28-4EBE-45A1-87FB-BB5502574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5CFCB67-D5DA-4467-93CD-356F4CCC0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4050830-8A0A-4154-B330-B8980C0360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D30E889-FD03-4B92-B41C-ECDF115AF774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6D6EE69-1E29-41A3-AF5B-84FDD8EF43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B47F188E-3E91-45B2-9F43-F17AA540E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0DAD7F04-49FD-44DC-AF8B-FE50881DAF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46645E-0472-4AD5-9F97-B859D992D209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F9A0612-7346-4797-B3F2-FA21FC9AE5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552E70FC-E627-4568-9037-AC025D8F41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CFB0528-B501-47BF-907D-70E90AFD66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C035547-3F89-4B2F-83DB-40207B9BFB74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2954D08-C3F1-4D23-8EEB-E6608B476E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BC23F1F7-F2BD-4C09-8931-F6398EBF5E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8025CA14-075D-44E3-95DA-04FE84365E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422FF1-3AC0-49D6-B5B4-43299C7AD32C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8541A5E-3137-480D-A259-6714820AB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6520D82-42BC-4E5E-9FB4-E45959374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708CEE66-3158-4A8B-94DB-50EE34E481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515D70-FAD4-49E9-A594-6BE80A6DE06D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802053A-AF12-4826-AD37-8C172A5045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965730A-DF61-4907-B748-46410E44B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82F8203-6AE0-4E38-B67D-C1B45D6638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BEDC7CF-D1B0-4226-971F-7D0AB42502DD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ECDB47E-237F-4414-8F10-0A99F85CD8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FDFE6AB-C5AE-439F-805A-5B3217EC3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1403A2D8-5855-431B-8AC3-70856680E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9489332-4F01-4082-8A1E-BB5396ABD57E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B1D9B7D4-E903-42FF-927C-CA87E076FB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B03545D-4BEB-4ABB-A43B-FDC5D5A94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4035BF38-5237-478A-990E-B57D10906A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0D3E63-0EA3-4FCB-86EB-54B9E643D275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26D6B4D-0D82-4183-96D3-627540CE58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5D35016-3EA6-4E66-8B17-E7F96699F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2998F76A-C194-4C79-B482-0693F93A5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F7E3D13-7C1F-4C79-9DC1-051EEEBFABEB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BF2B3D7-FBBC-4FB7-81D4-080F0F9AB0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35C2487B-C478-46B7-A2E9-904586D90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ABBAD6DD-E75B-4DF0-887A-EFA4B013F9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CED0598-6898-4BCF-A677-33DB01F0453B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C7D002C-934A-42D9-8F40-96E95BBE14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8538C2D-1CAC-4E66-9F08-6C5379C15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451EF2A6-7D1D-4AA4-BB24-2457895A5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F2A8A97-84C2-4869-A2D5-89FFB4F1C51B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9BBBB46-C016-459B-9937-D056A4980F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903579F9-01B0-4C9F-B141-759D14B50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C8C5E6D4-B391-4B3A-BF9E-9C72786FD9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527CA0-FAF0-4BF7-8C6E-F6E4D9245D26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C1D69AA-C2C6-4DCC-A84E-1D31A8178C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408EF529-485D-4757-A4A7-794F17BCB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747B196A-642F-4E33-AECF-0F5BDAE34C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350B872-D6E8-4C6E-8642-A0601A8043F6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F5E0B76-4EC4-4ABA-9436-9DA6DA8FC0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C12026A-1B84-4F1A-80E9-F5BEA461E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A68DFD65-2380-4BE7-8943-18E6C2038A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C5F2DF0-218C-4CBE-ACF3-9D906F85CAA3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9148709-0993-4959-AF7A-61DFF6101C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091AB670-A00C-4DCA-BD82-7DCDBF113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78486AD3-4552-4665-BEB9-F508A29F63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8127CF6-FD75-4442-A680-583CA0BA9A48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B5AE4508-0787-4B3F-9477-2248EB39E3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C33DEC15-36F4-47A3-B64E-D5DB0109D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975CB414-C67E-4429-82B7-E5706CB138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C1693AF-2AF7-4B94-9EF3-F63F54D4BABD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2B3DC97-FCEE-4EDA-A052-682DFBD5E8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24DE79F5-3958-482E-ABDC-23B3E3459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7951FFCC-B8C4-44D4-A170-B6127CF31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E1800DB-4FCF-4B3E-9BCD-7420839CB3F5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F994EF82-4E78-4ABB-900C-6D4009964D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2049A4B8-A1F9-4451-B4CA-223515D31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51948D67-4DC3-4CFB-B5FE-63645A7908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212695-F442-4C30-81F8-9DE07B8FC1C7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8688498D-46D3-438A-95E3-7CDB86489C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B599F10-384B-418C-8B31-387FA9B2E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18EE972F-6312-4B11-8FA0-68F2CCCB0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FE7E9C9-36D6-4A94-AAEC-5AC8BEAF0389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AFD0FBAF-509C-461B-82C3-15C7BE22F1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9270E51A-3912-46FE-8D66-19C76F8C5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CEF54508-50A2-4D63-BA58-4514F2CA86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58AC6E-0A23-46C3-9C8F-E33E39A40A82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F442E34-A1D3-4644-85A2-153CD67013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62534447-6A9B-4C99-A445-D72831ADB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A10F5CA3-E0F2-48B9-8942-D01967D358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206D638-C35F-4071-915D-544D6B58CA07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C9D9C0E4-57E5-43CD-8DD9-261DB8C725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709C28A6-82EA-49D6-8D2F-A7C1FE81F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13B5E55-B9B1-4D59-AFFB-20FF5703F0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2449394-1186-4FFD-9AF2-2A351D6D1D1E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E90235DA-9FFA-4A4D-9371-87C7F1C65C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36EE76D-90FB-463C-877A-55EF0F2AC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688B0ED-A717-4E45-9261-AB5B9474A3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12D9D2-ED54-42BF-8AFC-65A69C0E5FD7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DADE07B-A3E5-4BEE-8752-D4521C7DEA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9E2C4FC-1E30-41CA-891B-9EA3B75745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4D34F55F-1BB2-4620-9BEF-2B285AA959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F01129-D3DC-4117-BEF6-E914CD50D2C9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372CB77A-7183-4F77-9AE9-08EEA08400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11937D6-DE36-4A39-A9F2-FF971C9E8B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5182FE0D-BF77-49C0-B874-9CE2FFA571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525592C-3165-49F5-BD7F-EFF71D8E2B7F}" type="slidenum">
              <a:rPr lang="en-US" altLang="en-US" sz="280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A0442624-18FC-4185-A4E7-FC45A072A4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5B804772-DBCD-411C-8587-E6CA0D2BF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2D0CD-B5A6-49C6-B418-F0CE84674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0E22C4-8690-43CD-B4C7-6CD5340EC65E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CCB70-4A7C-4EF3-8247-906B37AB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47CDC-3409-48A7-9706-70F5D8D6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812CC-D0ED-4ACE-B89D-7D443F9D03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26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3EB3B-C93F-40C1-9CCB-589F8E5F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1310E-D8B4-4810-A4A0-A1AB4731C480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538C3-F084-4DBB-AB04-02EA3007D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56024-EB5A-4A2F-ADC7-8FF264DA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2BBDE1-D0E3-440D-B108-7BED5E524B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0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18DEE-5F16-46AA-A578-42D286464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30B54-7CAC-4388-A1E3-2A9727551D3A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FC32B-593A-4386-BD82-2DBB43070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01F7A-50D4-4E1A-B253-6E5B5E75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B1F851-E7C4-494F-873D-2A06AD3AC9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39C1FB7-BF7D-49A5-B0FF-1690328F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FADCC-7A59-4900-9264-3D16DA5AD1A3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B07C5A7-A1D6-4A48-835B-51F466A3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6343F0-103B-4595-BE09-454D27E2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AF295-FBB3-48A6-88FF-8F61694BA6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27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CAA679-EB52-4A40-B07B-3A510A67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6D9E22-F91E-4493-AC17-2CBC5A5AD2CF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4ABC676-5070-48EC-8687-D7B74265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6F35D60-18C0-4067-949C-CE92539AC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B4C92-9F27-4F7F-AD03-8F86C8DEC8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5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CAAA959-559C-49F9-BFE0-90FE0725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CC135-3B37-4B32-8B53-E2F805F553AD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B2D28-84F0-4E8F-A0CB-90232BEF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2264AF-6E18-49FE-BA97-0A8CB90D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D5EEB-03B1-4D18-9F84-DE9A5C2950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B0236ED-14F0-4295-B4BC-CB43414BD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26D4F-F9D2-49F7-B4C3-3A1354EC44D8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F1FEDD4-68F0-428A-9A90-74401B35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F437502-D61C-4C29-A37E-256CBEEBD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169BE-779A-46B7-B681-F51D46F779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30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F9FB20-A942-4993-9FC9-D0EBBDF5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10BD3-9D02-422C-9BFB-D696BF5F354A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3130AB3-7429-4C9F-991F-5F591753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01F8A1-9B38-4AEA-A922-B75ADA07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0DF66-B890-488C-99FD-29353476E0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5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37D39E1-ACD9-4642-934D-7F7687EE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385E7-985B-4D5A-9F91-2204C4E30C6E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A208B5-0B05-417C-A967-625658A5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4137E8C-FA0A-4EFB-8302-E7D58D52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2C25C-9BC9-4BDC-B96C-1E6FAC3C44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67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0AE1-7F0B-4D5E-94EA-F79BEBD93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98135-E8D7-4248-B6B9-D0EF5FE6E720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17A1A-0E55-4300-98BE-5ED7260C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866A5-15F0-4E9B-A386-591986AD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509334-B0D6-4493-8B8E-3F00B56382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69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04BD6-AB76-45B1-ABA0-2DDD4FF39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0E24E-5A17-4B0F-8C9F-4CC207B9B688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78FED-8EBF-4341-8523-E0B68EEA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C1335-5569-4003-BD2A-24C40754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1E712-54A4-4060-9E24-A3142136F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2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894A758-EBDF-4BFB-B42A-CC9958F24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G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ACA3CD4-8CD4-4697-8F67-753D7D842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G"/>
              <a:t>Edit Master text styles</a:t>
            </a:r>
          </a:p>
          <a:p>
            <a:pPr lvl="1"/>
            <a:r>
              <a:rPr lang="en-US" altLang="en-UG"/>
              <a:t>Second level</a:t>
            </a:r>
          </a:p>
          <a:p>
            <a:pPr lvl="2"/>
            <a:r>
              <a:rPr lang="en-US" altLang="en-UG"/>
              <a:t>Third level</a:t>
            </a:r>
          </a:p>
          <a:p>
            <a:pPr lvl="3"/>
            <a:r>
              <a:rPr lang="en-US" altLang="en-UG"/>
              <a:t>Fourth level</a:t>
            </a:r>
          </a:p>
          <a:p>
            <a:pPr lvl="4"/>
            <a:r>
              <a:rPr lang="en-US" altLang="en-UG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FCC7A-D2CC-41A1-9399-206BFD7B5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2CC7122-B428-4B36-8BFC-7BAB388E9401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347AF-D2AA-4A7F-82AC-E864D1EBD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48742-B611-40ED-B330-8CE042AF3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7F5BFA0-81B5-4A2B-AF59-134210A3F4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70AC16D-E4C4-4BE7-953C-0A0A920B2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0638" y="1595438"/>
            <a:ext cx="8229600" cy="1143000"/>
          </a:xfrm>
        </p:spPr>
        <p:txBody>
          <a:bodyPr/>
          <a:lstStyle/>
          <a:p>
            <a:r>
              <a:rPr lang="en-GB" altLang="en-US" i="1">
                <a:solidFill>
                  <a:srgbClr val="FF0000"/>
                </a:solidFill>
              </a:rPr>
              <a:t>COMPUTER ARITHMETIC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3EB94116-2C54-4A27-BAAC-EBD214F19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46075"/>
            <a:ext cx="6858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Introduction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9D980093-D39A-482B-8FE8-B65FA1F65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188" y="1276350"/>
            <a:ext cx="7848600" cy="525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CPU</a:t>
            </a: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consists of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control unit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registers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arithmetic and logic unit (ALU)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instruction execution unit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interconnections among these components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6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Representations of numbers (binary format) and techniques for implementing arithmetic operations (add, subtract, multiply, divide) are </a:t>
            </a:r>
            <a:r>
              <a:rPr lang="en-GB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functions of ALU</a:t>
            </a: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6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These two considerations apply to </a:t>
            </a:r>
            <a:r>
              <a:rPr lang="en-GB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integers and floating-point arithmetic</a:t>
            </a: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0983940B-A74A-4A56-8E22-5E9F4861D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46075"/>
            <a:ext cx="6858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Arithmetic and Logic Unit (ALU)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023B217C-FF19-4163-B1FA-1E7E97EA8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52600"/>
            <a:ext cx="78486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ALU</a:t>
            </a: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is that part of computer that actually performs </a:t>
            </a:r>
            <a:r>
              <a:rPr lang="en-GB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arithmetic and logical operations on data</a:t>
            </a: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6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All of other elements of computer system (control unit, registers, memory, I/O) are there mainly to bring data into ALU for it to process and then to take results back out.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6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An ALU are based on use of simple digital devices that can store binary digits and perform simple Boolean logic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D61EFDF4-DEBC-44A6-8F5A-C573D46F1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46075"/>
            <a:ext cx="6858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Arithmetic and Logic Unit (ALU)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2533AC3C-8033-497F-B307-A8DE3696D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9300" y="1190625"/>
            <a:ext cx="8534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300" b="1">
                <a:solidFill>
                  <a:srgbClr val="333399"/>
                </a:solidFill>
                <a:latin typeface="Times New Roman" panose="02020603050405020304" pitchFamily="18" charset="0"/>
              </a:rPr>
              <a:t>Figure shows </a:t>
            </a:r>
            <a:r>
              <a:rPr lang="en-GB" altLang="en-US" sz="2300" b="1">
                <a:solidFill>
                  <a:srgbClr val="FF0000"/>
                </a:solidFill>
                <a:latin typeface="Times New Roman" panose="02020603050405020304" pitchFamily="18" charset="0"/>
              </a:rPr>
              <a:t>how ALU is interconnected with rest of processor</a:t>
            </a:r>
            <a:r>
              <a:rPr lang="en-GB" altLang="en-US" sz="2300" b="1">
                <a:solidFill>
                  <a:srgbClr val="333399"/>
                </a:solidFill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3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300" b="1">
                <a:solidFill>
                  <a:srgbClr val="FF0000"/>
                </a:solidFill>
                <a:latin typeface="Times New Roman" panose="02020603050405020304" pitchFamily="18" charset="0"/>
              </a:rPr>
              <a:t>Data are presented</a:t>
            </a:r>
            <a:r>
              <a:rPr lang="en-GB" altLang="en-US" sz="2300" b="1">
                <a:solidFill>
                  <a:srgbClr val="333399"/>
                </a:solidFill>
                <a:latin typeface="Times New Roman" panose="02020603050405020304" pitchFamily="18" charset="0"/>
              </a:rPr>
              <a:t> to ALU in registers and results of an operation are stored in registers.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300" b="1">
                <a:solidFill>
                  <a:srgbClr val="333399"/>
                </a:solidFill>
                <a:latin typeface="Times New Roman" panose="02020603050405020304" pitchFamily="18" charset="0"/>
              </a:rPr>
              <a:t> These </a:t>
            </a:r>
            <a:r>
              <a:rPr lang="en-GB" altLang="en-US" sz="2300" b="1">
                <a:solidFill>
                  <a:srgbClr val="FF0000"/>
                </a:solidFill>
                <a:latin typeface="Times New Roman" panose="02020603050405020304" pitchFamily="18" charset="0"/>
              </a:rPr>
              <a:t>registers</a:t>
            </a:r>
            <a:r>
              <a:rPr lang="en-GB" altLang="en-US" sz="2300" b="1">
                <a:solidFill>
                  <a:srgbClr val="333399"/>
                </a:solidFill>
                <a:latin typeface="Times New Roman" panose="02020603050405020304" pitchFamily="18" charset="0"/>
              </a:rPr>
              <a:t> are temporary storage locations within processor that are controlled by signal paths to ALU.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300" b="1">
                <a:solidFill>
                  <a:srgbClr val="333399"/>
                </a:solidFill>
                <a:latin typeface="Times New Roman" panose="02020603050405020304" pitchFamily="18" charset="0"/>
              </a:rPr>
              <a:t> ALU may set</a:t>
            </a:r>
            <a:r>
              <a:rPr lang="en-GB" altLang="en-US" sz="2300" b="1">
                <a:solidFill>
                  <a:srgbClr val="FF0000"/>
                </a:solidFill>
                <a:latin typeface="Times New Roman" panose="02020603050405020304" pitchFamily="18" charset="0"/>
              </a:rPr>
              <a:t> flags</a:t>
            </a:r>
            <a:r>
              <a:rPr lang="en-GB" altLang="en-US" sz="2300" b="1">
                <a:solidFill>
                  <a:srgbClr val="333399"/>
                </a:solidFill>
                <a:latin typeface="Times New Roman" panose="02020603050405020304" pitchFamily="18" charset="0"/>
              </a:rPr>
              <a:t> as result of an operation. (e.g. overflow flag is set to 1, if length of a computation exceeds length of register into which it is to be stored).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3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300" b="1">
                <a:solidFill>
                  <a:srgbClr val="FF0000"/>
                </a:solidFill>
                <a:latin typeface="Times New Roman" panose="02020603050405020304" pitchFamily="18" charset="0"/>
              </a:rPr>
              <a:t>Control unit</a:t>
            </a:r>
            <a:r>
              <a:rPr lang="en-GB" altLang="en-US" sz="2300" b="1">
                <a:solidFill>
                  <a:srgbClr val="333399"/>
                </a:solidFill>
                <a:latin typeface="Times New Roman" panose="02020603050405020304" pitchFamily="18" charset="0"/>
              </a:rPr>
              <a:t> provides signals that control operation of ALU and movement of data into and out of ALU.</a:t>
            </a:r>
          </a:p>
        </p:txBody>
      </p:sp>
      <p:pic>
        <p:nvPicPr>
          <p:cNvPr id="1130500" name="Picture 4">
            <a:extLst>
              <a:ext uri="{FF2B5EF4-FFF2-40B4-BE49-F238E27FC236}">
                <a16:creationId xmlns:a16="http://schemas.microsoft.com/office/drawing/2014/main" id="{DE6B88B9-8B50-48B2-A219-59B9141AA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85"/>
          <a:stretch>
            <a:fillRect/>
          </a:stretch>
        </p:blipFill>
        <p:spPr bwMode="auto">
          <a:xfrm>
            <a:off x="3657600" y="4943475"/>
            <a:ext cx="4953000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DA54AB9D-52F0-4E3F-8B45-37F0C5F8C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0" y="322263"/>
            <a:ext cx="76200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Representation</a:t>
            </a: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9C9D21B1-92EE-4CE0-A64E-B355AFA89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1685925"/>
            <a:ext cx="7848600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In binary number systems,</a:t>
            </a: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 only binary digits</a:t>
            </a: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(0 and 1) may be used to represent numbers.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Positive numbers are stored in binary, representation is straightforward: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00000000 = 0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00000001 = 1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00101001 = 41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10000000 = 128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11111111 = 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CC9D4865-F92B-41D9-B89B-F7080AFB6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0" y="322263"/>
            <a:ext cx="76200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Representation</a:t>
            </a:r>
          </a:p>
        </p:txBody>
      </p:sp>
      <p:sp>
        <p:nvSpPr>
          <p:cNvPr id="1239044" name="Rectangle 4">
            <a:extLst>
              <a:ext uri="{FF2B5EF4-FFF2-40B4-BE49-F238E27FC236}">
                <a16:creationId xmlns:a16="http://schemas.microsoft.com/office/drawing/2014/main" id="{AD6FB44D-41EF-462A-93A7-91A33C613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1066800"/>
            <a:ext cx="7543800" cy="838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00101001 = 41</a:t>
            </a:r>
          </a:p>
        </p:txBody>
      </p:sp>
      <p:graphicFrame>
        <p:nvGraphicFramePr>
          <p:cNvPr id="1239045" name="Group 5">
            <a:extLst>
              <a:ext uri="{FF2B5EF4-FFF2-40B4-BE49-F238E27FC236}">
                <a16:creationId xmlns:a16="http://schemas.microsoft.com/office/drawing/2014/main" id="{2AA2B665-9E53-4AC4-85FA-9596E8F9D4B9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2628900"/>
          <a:ext cx="7239000" cy="1295400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05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39074" name="Text Box 34">
            <a:extLst>
              <a:ext uri="{FF2B5EF4-FFF2-40B4-BE49-F238E27FC236}">
                <a16:creationId xmlns:a16="http://schemas.microsoft.com/office/drawing/2014/main" id="{967F1E16-A3F2-448B-AEB9-30B62A85A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390900"/>
            <a:ext cx="6954838" cy="587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0  0   1   0  </a:t>
            </a:r>
            <a:r>
              <a:rPr lang="en-GB" sz="14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</a:t>
            </a:r>
            <a:r>
              <a:rPr lang="en-GB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1   0   0  1</a:t>
            </a:r>
          </a:p>
        </p:txBody>
      </p:sp>
      <p:sp>
        <p:nvSpPr>
          <p:cNvPr id="1239075" name="Text Box 35">
            <a:extLst>
              <a:ext uri="{FF2B5EF4-FFF2-40B4-BE49-F238E27FC236}">
                <a16:creationId xmlns:a16="http://schemas.microsoft.com/office/drawing/2014/main" id="{21BBA082-F400-4578-9578-D52D755DD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705100"/>
            <a:ext cx="7183438" cy="587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128 64  32 </a:t>
            </a:r>
            <a:r>
              <a:rPr lang="en-GB" sz="1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</a:t>
            </a: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16 </a:t>
            </a:r>
            <a:r>
              <a:rPr lang="en-GB" sz="1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 </a:t>
            </a: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8   4  </a:t>
            </a:r>
            <a:r>
              <a:rPr lang="en-GB" sz="1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</a:t>
            </a: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2  1</a:t>
            </a:r>
          </a:p>
        </p:txBody>
      </p:sp>
      <p:sp>
        <p:nvSpPr>
          <p:cNvPr id="1239076" name="Text Box 36">
            <a:extLst>
              <a:ext uri="{FF2B5EF4-FFF2-40B4-BE49-F238E27FC236}">
                <a16:creationId xmlns:a16="http://schemas.microsoft.com/office/drawing/2014/main" id="{438F3FE9-15FC-4A9B-9D57-C32CBD581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533900"/>
            <a:ext cx="4240213" cy="1990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= 1 + 8 + 32</a:t>
            </a:r>
          </a:p>
          <a:p>
            <a:pPr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= </a:t>
            </a:r>
            <a:r>
              <a:rPr lang="en-GB" sz="4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41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39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39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3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3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23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39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39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4" grpId="0"/>
      <p:bldP spid="1239075" grpId="0"/>
      <p:bldP spid="123907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8387ABFF-9105-4630-9E41-4039E54C8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0" y="322263"/>
            <a:ext cx="76200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Representation</a:t>
            </a:r>
          </a:p>
        </p:txBody>
      </p:sp>
      <p:sp>
        <p:nvSpPr>
          <p:cNvPr id="1241124" name="Rectangle 36">
            <a:extLst>
              <a:ext uri="{FF2B5EF4-FFF2-40B4-BE49-F238E27FC236}">
                <a16:creationId xmlns:a16="http://schemas.microsoft.com/office/drawing/2014/main" id="{5FB8198F-179A-4F32-B34A-4AF54B279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952500"/>
            <a:ext cx="7543800" cy="838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67 = ?</a:t>
            </a:r>
          </a:p>
        </p:txBody>
      </p:sp>
      <p:graphicFrame>
        <p:nvGraphicFramePr>
          <p:cNvPr id="1241125" name="Group 37">
            <a:extLst>
              <a:ext uri="{FF2B5EF4-FFF2-40B4-BE49-F238E27FC236}">
                <a16:creationId xmlns:a16="http://schemas.microsoft.com/office/drawing/2014/main" id="{F19D91B6-F77C-45C9-AEA4-38DE939FF8C0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2514600"/>
          <a:ext cx="7239000" cy="1295400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05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41154" name="Text Box 66">
            <a:extLst>
              <a:ext uri="{FF2B5EF4-FFF2-40B4-BE49-F238E27FC236}">
                <a16:creationId xmlns:a16="http://schemas.microsoft.com/office/drawing/2014/main" id="{AC25FBE1-2D5B-4A42-8FB5-2562449A1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590800"/>
            <a:ext cx="7183438" cy="587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128 64  32 </a:t>
            </a:r>
            <a:r>
              <a:rPr lang="en-GB" sz="1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</a:t>
            </a: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16 </a:t>
            </a:r>
            <a:r>
              <a:rPr lang="en-GB" sz="1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 </a:t>
            </a: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8   4  </a:t>
            </a:r>
            <a:r>
              <a:rPr lang="en-GB" sz="1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</a:t>
            </a: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2  1</a:t>
            </a:r>
          </a:p>
        </p:txBody>
      </p:sp>
      <p:sp>
        <p:nvSpPr>
          <p:cNvPr id="1241155" name="Text Box 67">
            <a:extLst>
              <a:ext uri="{FF2B5EF4-FFF2-40B4-BE49-F238E27FC236}">
                <a16:creationId xmlns:a16="http://schemas.microsoft.com/office/drawing/2014/main" id="{3993C25E-9B12-478E-9C93-F48F06864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276600"/>
            <a:ext cx="4286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rgbClr val="0066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241156" name="Text Box 68">
            <a:extLst>
              <a:ext uri="{FF2B5EF4-FFF2-40B4-BE49-F238E27FC236}">
                <a16:creationId xmlns:a16="http://schemas.microsoft.com/office/drawing/2014/main" id="{18A52654-F7BC-476F-A0AA-A13F97943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00400"/>
            <a:ext cx="4286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241157" name="Text Box 69">
            <a:extLst>
              <a:ext uri="{FF2B5EF4-FFF2-40B4-BE49-F238E27FC236}">
                <a16:creationId xmlns:a16="http://schemas.microsoft.com/office/drawing/2014/main" id="{A3225C58-806A-40D2-ADFC-99E4B1E57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724400"/>
            <a:ext cx="13716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rgbClr val="006600"/>
                </a:solidFill>
                <a:latin typeface="Courier New" panose="02070309020205020404" pitchFamily="49" charset="0"/>
              </a:rPr>
              <a:t>64 + </a:t>
            </a:r>
          </a:p>
        </p:txBody>
      </p:sp>
      <p:sp>
        <p:nvSpPr>
          <p:cNvPr id="1241158" name="Text Box 70">
            <a:extLst>
              <a:ext uri="{FF2B5EF4-FFF2-40B4-BE49-F238E27FC236}">
                <a16:creationId xmlns:a16="http://schemas.microsoft.com/office/drawing/2014/main" id="{4CC6533C-E9F5-4942-8359-24B29AEBA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200400"/>
            <a:ext cx="4286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241159" name="Text Box 71">
            <a:extLst>
              <a:ext uri="{FF2B5EF4-FFF2-40B4-BE49-F238E27FC236}">
                <a16:creationId xmlns:a16="http://schemas.microsoft.com/office/drawing/2014/main" id="{93A77D88-D169-44C1-BC9C-CD9320396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724400"/>
            <a:ext cx="19812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rgbClr val="006600"/>
                </a:solidFill>
                <a:latin typeface="Courier New" panose="02070309020205020404" pitchFamily="49" charset="0"/>
              </a:rPr>
              <a:t>2 = 66 </a:t>
            </a:r>
          </a:p>
        </p:txBody>
      </p:sp>
      <p:sp>
        <p:nvSpPr>
          <p:cNvPr id="1241160" name="Text Box 72">
            <a:extLst>
              <a:ext uri="{FF2B5EF4-FFF2-40B4-BE49-F238E27FC236}">
                <a16:creationId xmlns:a16="http://schemas.microsoft.com/office/drawing/2014/main" id="{87FD222A-A2B2-420E-B27D-D2E456AA2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3200400"/>
            <a:ext cx="4286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241161" name="Text Box 73">
            <a:extLst>
              <a:ext uri="{FF2B5EF4-FFF2-40B4-BE49-F238E27FC236}">
                <a16:creationId xmlns:a16="http://schemas.microsoft.com/office/drawing/2014/main" id="{2456B40D-A850-473D-909E-DB5FC0267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724400"/>
            <a:ext cx="27432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rgbClr val="006600"/>
                </a:solidFill>
                <a:latin typeface="Courier New" panose="02070309020205020404" pitchFamily="49" charset="0"/>
              </a:rPr>
              <a:t>+ 1 = </a:t>
            </a:r>
            <a:r>
              <a:rPr lang="en-GB" altLang="en-US" sz="3200" b="1">
                <a:solidFill>
                  <a:srgbClr val="FF0000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1241162" name="Text Box 74">
            <a:extLst>
              <a:ext uri="{FF2B5EF4-FFF2-40B4-BE49-F238E27FC236}">
                <a16:creationId xmlns:a16="http://schemas.microsoft.com/office/drawing/2014/main" id="{C336063D-FA8E-47D3-ADAC-F7D57C3AC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175" y="3276600"/>
            <a:ext cx="2897188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rgbClr val="006600"/>
                </a:solidFill>
                <a:latin typeface="Courier New" panose="02070309020205020404" pitchFamily="49" charset="0"/>
              </a:rPr>
              <a:t>0   0  0  0</a:t>
            </a:r>
          </a:p>
        </p:txBody>
      </p:sp>
      <p:sp>
        <p:nvSpPr>
          <p:cNvPr id="1241163" name="Text Box 75">
            <a:extLst>
              <a:ext uri="{FF2B5EF4-FFF2-40B4-BE49-F238E27FC236}">
                <a16:creationId xmlns:a16="http://schemas.microsoft.com/office/drawing/2014/main" id="{B5CE1ABE-6B7B-43FB-B786-27CD8D040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943600"/>
            <a:ext cx="41910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4400" b="1">
                <a:solidFill>
                  <a:srgbClr val="FF0000"/>
                </a:solidFill>
                <a:latin typeface="Courier New" panose="02070309020205020404" pitchFamily="49" charset="0"/>
              </a:rPr>
              <a:t>01000011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41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41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4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4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41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41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4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41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41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4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41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41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4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41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41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4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41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41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4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41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41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4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41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41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24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41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41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4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41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41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24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1154" grpId="0"/>
      <p:bldP spid="1241155" grpId="0"/>
      <p:bldP spid="1241156" grpId="0"/>
      <p:bldP spid="1241157" grpId="0"/>
      <p:bldP spid="1241158" grpId="0"/>
      <p:bldP spid="1241159" grpId="0"/>
      <p:bldP spid="1241160" grpId="0"/>
      <p:bldP spid="1241161" grpId="0"/>
      <p:bldP spid="1241162" grpId="0"/>
      <p:bldP spid="12411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32A0C360-BBF2-44DD-83E8-6CCD75100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0" y="322263"/>
            <a:ext cx="76200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Sign-Magnitude Representation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1EDDAD85-2A08-4ED6-A9AD-262A93E31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163" y="1273175"/>
            <a:ext cx="8301037" cy="526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Leftmost bit is sign bit</a:t>
            </a: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0 for positive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1 for negative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 Remaining bits are </a:t>
            </a:r>
            <a:r>
              <a:rPr lang="en-GB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magnitude</a:t>
            </a: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 Example: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+18 = 00010010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 -18 = 10010010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Drawbacks</a:t>
            </a: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Need to consider both sign and magnitude in arithmetic.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There are two representations of 0: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buFontTx/>
              <a:buChar char="o"/>
            </a:pP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 +0</a:t>
            </a:r>
            <a:r>
              <a:rPr lang="en-GB" altLang="en-US" sz="2400" b="1" baseline="-25000">
                <a:solidFill>
                  <a:srgbClr val="333399"/>
                </a:solidFill>
                <a:latin typeface="Times New Roman" panose="02020603050405020304" pitchFamily="18" charset="0"/>
              </a:rPr>
              <a:t>10</a:t>
            </a: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=00000000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buFontTx/>
              <a:buChar char="o"/>
            </a:pP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 -0</a:t>
            </a:r>
            <a:r>
              <a:rPr lang="en-GB" altLang="en-US" sz="2400" b="1" baseline="-25000">
                <a:solidFill>
                  <a:srgbClr val="333399"/>
                </a:solidFill>
                <a:latin typeface="Times New Roman" panose="02020603050405020304" pitchFamily="18" charset="0"/>
              </a:rPr>
              <a:t>10 </a:t>
            </a: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=10000000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Sign-magnitude representation is rarely used in implementing integer portion of ALU.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15EA1036-BA6B-49E7-9175-E9D728C5D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90650"/>
            <a:ext cx="8605838" cy="525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Most common scheme is </a:t>
            </a:r>
            <a:r>
              <a:rPr lang="en-GB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representations</a:t>
            </a: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6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Twos complement representation: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Leftmost bit still indicates sign</a:t>
            </a: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0 for positive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1 for negative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Positive numbers are exactly same as sign-magnitude</a:t>
            </a: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+18 = 00010010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Zero is only all zeros</a:t>
            </a: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(positive).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0 = 00000000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Negative numbers are found by taking twos complement</a:t>
            </a: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Take complement of positive version.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600" b="1">
                <a:solidFill>
                  <a:srgbClr val="333399"/>
                </a:solidFill>
                <a:latin typeface="Times New Roman" panose="02020603050405020304" pitchFamily="18" charset="0"/>
              </a:rPr>
              <a:t> Add 1.</a:t>
            </a: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D00ECC0E-9625-483B-96EB-80B173215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3460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Representation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3">
            <a:extLst>
              <a:ext uri="{FF2B5EF4-FFF2-40B4-BE49-F238E27FC236}">
                <a16:creationId xmlns:a16="http://schemas.microsoft.com/office/drawing/2014/main" id="{036333A0-8C09-4AC4-A085-A96C0006B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3460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Representation</a:t>
            </a:r>
          </a:p>
        </p:txBody>
      </p:sp>
      <p:sp>
        <p:nvSpPr>
          <p:cNvPr id="1243140" name="Text Box 4">
            <a:extLst>
              <a:ext uri="{FF2B5EF4-FFF2-40B4-BE49-F238E27FC236}">
                <a16:creationId xmlns:a16="http://schemas.microsoft.com/office/drawing/2014/main" id="{266F7D3A-FD0E-44B2-A07D-45A0F63C8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09800"/>
            <a:ext cx="35052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GB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Getting </a:t>
            </a:r>
            <a:r>
              <a:rPr lang="en-GB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-55</a:t>
            </a:r>
          </a:p>
          <a:p>
            <a:pPr lvl="1" eaLnBrk="1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Start with </a:t>
            </a: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+55</a:t>
            </a:r>
          </a:p>
        </p:txBody>
      </p:sp>
      <p:sp>
        <p:nvSpPr>
          <p:cNvPr id="21508" name="Text Box 5">
            <a:extLst>
              <a:ext uri="{FF2B5EF4-FFF2-40B4-BE49-F238E27FC236}">
                <a16:creationId xmlns:a16="http://schemas.microsoft.com/office/drawing/2014/main" id="{F9E28BF5-AD76-4D12-9CFC-FE58A60F8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990600"/>
            <a:ext cx="4443413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examples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(with 8 bit numbers)</a:t>
            </a:r>
          </a:p>
        </p:txBody>
      </p:sp>
      <p:graphicFrame>
        <p:nvGraphicFramePr>
          <p:cNvPr id="1243142" name="Group 6">
            <a:extLst>
              <a:ext uri="{FF2B5EF4-FFF2-40B4-BE49-F238E27FC236}">
                <a16:creationId xmlns:a16="http://schemas.microsoft.com/office/drawing/2014/main" id="{4F1E0784-010D-4406-9CBB-D127BA1953F5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4114800"/>
          <a:ext cx="6553200" cy="979488"/>
        </p:xfrm>
        <a:graphic>
          <a:graphicData uri="http://schemas.openxmlformats.org/drawingml/2006/table">
            <a:tbl>
              <a:tblPr/>
              <a:tblGrid>
                <a:gridCol w="827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7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9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-128</a:t>
                      </a:r>
                    </a:p>
                  </a:txBody>
                  <a:tcPr marL="90000" marR="90000" marT="46784" marB="46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64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32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16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8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4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2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43171" name="Text Box 35">
            <a:extLst>
              <a:ext uri="{FF2B5EF4-FFF2-40B4-BE49-F238E27FC236}">
                <a16:creationId xmlns:a16="http://schemas.microsoft.com/office/drawing/2014/main" id="{0AA68815-8E71-4262-B95D-2B8417E78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581400"/>
            <a:ext cx="59197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An eight position twos compliments value box</a:t>
            </a:r>
          </a:p>
        </p:txBody>
      </p:sp>
      <p:sp>
        <p:nvSpPr>
          <p:cNvPr id="1243172" name="Text Box 36">
            <a:extLst>
              <a:ext uri="{FF2B5EF4-FFF2-40B4-BE49-F238E27FC236}">
                <a16:creationId xmlns:a16="http://schemas.microsoft.com/office/drawing/2014/main" id="{73428AA2-5C6C-4ACF-8E0F-BE78353A0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648200"/>
            <a:ext cx="344488" cy="401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1243173" name="Text Box 37">
            <a:extLst>
              <a:ext uri="{FF2B5EF4-FFF2-40B4-BE49-F238E27FC236}">
                <a16:creationId xmlns:a16="http://schemas.microsoft.com/office/drawing/2014/main" id="{6D5A4D77-BD32-4BBB-A6C2-841E8F9D8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648200"/>
            <a:ext cx="344488" cy="401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1243174" name="Text Box 38">
            <a:extLst>
              <a:ext uri="{FF2B5EF4-FFF2-40B4-BE49-F238E27FC236}">
                <a16:creationId xmlns:a16="http://schemas.microsoft.com/office/drawing/2014/main" id="{135545F9-F3E2-4A7A-8F29-16574F408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648200"/>
            <a:ext cx="344488" cy="401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1243175" name="Text Box 39">
            <a:extLst>
              <a:ext uri="{FF2B5EF4-FFF2-40B4-BE49-F238E27FC236}">
                <a16:creationId xmlns:a16="http://schemas.microsoft.com/office/drawing/2014/main" id="{4D3ED11C-3B09-4743-AEB2-C62C1231E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4648200"/>
            <a:ext cx="344488" cy="401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1243176" name="Text Box 40">
            <a:extLst>
              <a:ext uri="{FF2B5EF4-FFF2-40B4-BE49-F238E27FC236}">
                <a16:creationId xmlns:a16="http://schemas.microsoft.com/office/drawing/2014/main" id="{165AAE5E-165D-434B-9A0D-AD9220F2E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362200"/>
            <a:ext cx="5057775" cy="5873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32 + 16 + 4 + 2+1 =55</a:t>
            </a:r>
          </a:p>
        </p:txBody>
      </p:sp>
      <p:sp>
        <p:nvSpPr>
          <p:cNvPr id="1243177" name="Text Box 41">
            <a:extLst>
              <a:ext uri="{FF2B5EF4-FFF2-40B4-BE49-F238E27FC236}">
                <a16:creationId xmlns:a16="http://schemas.microsoft.com/office/drawing/2014/main" id="{6091309E-5437-4A1C-8FE6-9526F089B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648200"/>
            <a:ext cx="4740275" cy="401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0        0                                0              </a:t>
            </a:r>
          </a:p>
        </p:txBody>
      </p:sp>
      <p:sp>
        <p:nvSpPr>
          <p:cNvPr id="1243178" name="Text Box 42">
            <a:extLst>
              <a:ext uri="{FF2B5EF4-FFF2-40B4-BE49-F238E27FC236}">
                <a16:creationId xmlns:a16="http://schemas.microsoft.com/office/drawing/2014/main" id="{333B74CC-626B-4884-99C6-9643883DE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648200"/>
            <a:ext cx="344488" cy="401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1243179" name="Text Box 43">
            <a:extLst>
              <a:ext uri="{FF2B5EF4-FFF2-40B4-BE49-F238E27FC236}">
                <a16:creationId xmlns:a16="http://schemas.microsoft.com/office/drawing/2014/main" id="{8C9B4F88-9A12-4AEA-8C21-31328712A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019800"/>
            <a:ext cx="3371850" cy="5873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55 = 00110111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4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43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43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4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43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43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4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43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3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43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43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43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3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43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43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43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43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43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43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43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43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43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43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3140" grpId="0"/>
      <p:bldP spid="1243171" grpId="0"/>
      <p:bldP spid="1243172" grpId="0"/>
      <p:bldP spid="1243173" grpId="0"/>
      <p:bldP spid="1243174" grpId="0"/>
      <p:bldP spid="1243175" grpId="0"/>
      <p:bldP spid="1243176" grpId="0" animBg="1"/>
      <p:bldP spid="1243177" grpId="0"/>
      <p:bldP spid="1243178" grpId="0"/>
      <p:bldP spid="12431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9DBDB909-C52F-42AF-8DF8-858C3B7D7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3460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Representation</a:t>
            </a:r>
          </a:p>
        </p:txBody>
      </p:sp>
      <p:sp>
        <p:nvSpPr>
          <p:cNvPr id="23555" name="Text Box 43">
            <a:extLst>
              <a:ext uri="{FF2B5EF4-FFF2-40B4-BE49-F238E27FC236}">
                <a16:creationId xmlns:a16="http://schemas.microsoft.com/office/drawing/2014/main" id="{97BAA8B6-AD4B-40FF-A208-C267AA957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0100" y="838200"/>
            <a:ext cx="4443413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examples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Getting </a:t>
            </a: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-55)</a:t>
            </a:r>
          </a:p>
        </p:txBody>
      </p:sp>
      <p:sp>
        <p:nvSpPr>
          <p:cNvPr id="1245228" name="Text Box 44">
            <a:extLst>
              <a:ext uri="{FF2B5EF4-FFF2-40B4-BE49-F238E27FC236}">
                <a16:creationId xmlns:a16="http://schemas.microsoft.com/office/drawing/2014/main" id="{E5C19DF2-F524-4DC8-8476-FE4319D68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146300"/>
            <a:ext cx="3708400" cy="587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+55 = 00110111</a:t>
            </a:r>
          </a:p>
        </p:txBody>
      </p:sp>
      <p:sp>
        <p:nvSpPr>
          <p:cNvPr id="1245229" name="Text Box 45">
            <a:extLst>
              <a:ext uri="{FF2B5EF4-FFF2-40B4-BE49-F238E27FC236}">
                <a16:creationId xmlns:a16="http://schemas.microsoft.com/office/drawing/2014/main" id="{6D4D1563-D076-45DE-BDCC-A37ADE1B0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289300"/>
            <a:ext cx="2422525" cy="371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Compliment that </a:t>
            </a: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sym typeface="Symbol" pitchFamily="18" charset="2"/>
              </a:rPr>
              <a:t></a:t>
            </a:r>
          </a:p>
        </p:txBody>
      </p:sp>
      <p:sp>
        <p:nvSpPr>
          <p:cNvPr id="1245230" name="Rectangle 46">
            <a:extLst>
              <a:ext uri="{FF2B5EF4-FFF2-40B4-BE49-F238E27FC236}">
                <a16:creationId xmlns:a16="http://schemas.microsoft.com/office/drawing/2014/main" id="{4043FA9C-BAFF-4704-8A55-F586C433F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213100"/>
            <a:ext cx="2528888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11001000</a:t>
            </a:r>
          </a:p>
        </p:txBody>
      </p:sp>
      <p:sp>
        <p:nvSpPr>
          <p:cNvPr id="1245231" name="Text Box 47">
            <a:extLst>
              <a:ext uri="{FF2B5EF4-FFF2-40B4-BE49-F238E27FC236}">
                <a16:creationId xmlns:a16="http://schemas.microsoft.com/office/drawing/2014/main" id="{616A9F27-049E-4C3C-8CD6-7D43D69A0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203700"/>
            <a:ext cx="2354263" cy="371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Add 1                   </a:t>
            </a: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sym typeface="Symbol" pitchFamily="18" charset="2"/>
              </a:rPr>
              <a:t></a:t>
            </a:r>
          </a:p>
        </p:txBody>
      </p:sp>
      <p:sp>
        <p:nvSpPr>
          <p:cNvPr id="1245232" name="Rectangle 48">
            <a:extLst>
              <a:ext uri="{FF2B5EF4-FFF2-40B4-BE49-F238E27FC236}">
                <a16:creationId xmlns:a16="http://schemas.microsoft.com/office/drawing/2014/main" id="{70170AE7-A137-4B4A-A601-88F3C765F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27500"/>
            <a:ext cx="2528888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00000001</a:t>
            </a:r>
          </a:p>
        </p:txBody>
      </p:sp>
      <p:sp>
        <p:nvSpPr>
          <p:cNvPr id="1245233" name="Line 49">
            <a:extLst>
              <a:ext uri="{FF2B5EF4-FFF2-40B4-BE49-F238E27FC236}">
                <a16:creationId xmlns:a16="http://schemas.microsoft.com/office/drawing/2014/main" id="{6EB8CE00-0881-44BD-B207-5E458BE513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889500"/>
            <a:ext cx="3429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G"/>
          </a:p>
        </p:txBody>
      </p:sp>
      <p:sp>
        <p:nvSpPr>
          <p:cNvPr id="1245234" name="Text Box 50">
            <a:extLst>
              <a:ext uri="{FF2B5EF4-FFF2-40B4-BE49-F238E27FC236}">
                <a16:creationId xmlns:a16="http://schemas.microsoft.com/office/drawing/2014/main" id="{7EF4DE97-B140-49F7-8285-70295AA43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4203700"/>
            <a:ext cx="519113" cy="587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+</a:t>
            </a:r>
          </a:p>
        </p:txBody>
      </p:sp>
      <p:sp>
        <p:nvSpPr>
          <p:cNvPr id="1245235" name="Rectangle 51">
            <a:extLst>
              <a:ext uri="{FF2B5EF4-FFF2-40B4-BE49-F238E27FC236}">
                <a16:creationId xmlns:a16="http://schemas.microsoft.com/office/drawing/2014/main" id="{ACBA9499-F5FE-43BC-8424-292A1F51E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118100"/>
            <a:ext cx="2528888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11001001</a:t>
            </a:r>
          </a:p>
        </p:txBody>
      </p:sp>
      <p:sp>
        <p:nvSpPr>
          <p:cNvPr id="1245236" name="Text Box 52">
            <a:extLst>
              <a:ext uri="{FF2B5EF4-FFF2-40B4-BE49-F238E27FC236}">
                <a16:creationId xmlns:a16="http://schemas.microsoft.com/office/drawing/2014/main" id="{D783CC3B-D4AA-4503-83DA-CAF6156D9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6184900"/>
            <a:ext cx="2112963" cy="371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Result is  –55  </a:t>
            </a: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sym typeface="Symbol" pitchFamily="18" charset="2"/>
              </a:rPr>
              <a:t></a:t>
            </a:r>
          </a:p>
        </p:txBody>
      </p:sp>
      <p:sp>
        <p:nvSpPr>
          <p:cNvPr id="1245237" name="Rectangle 53">
            <a:extLst>
              <a:ext uri="{FF2B5EF4-FFF2-40B4-BE49-F238E27FC236}">
                <a16:creationId xmlns:a16="http://schemas.microsoft.com/office/drawing/2014/main" id="{661DD746-A891-4383-8819-B430A42CC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6108700"/>
            <a:ext cx="2528888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11001001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5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5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45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45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4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5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45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45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45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4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45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45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4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45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45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4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45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45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4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4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4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45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45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4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5229" grpId="0"/>
      <p:bldP spid="1245230" grpId="0"/>
      <p:bldP spid="1245231" grpId="0"/>
      <p:bldP spid="1245232" grpId="0"/>
      <p:bldP spid="1245234" grpId="0"/>
      <p:bldP spid="1245235" grpId="0"/>
      <p:bldP spid="1245236" grpId="0"/>
      <p:bldP spid="12452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430958F8-1EF3-4050-8195-E4B44E0E9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3460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Representation</a:t>
            </a:r>
          </a:p>
        </p:txBody>
      </p:sp>
      <p:sp>
        <p:nvSpPr>
          <p:cNvPr id="25603" name="Text Box 14">
            <a:extLst>
              <a:ext uri="{FF2B5EF4-FFF2-40B4-BE49-F238E27FC236}">
                <a16:creationId xmlns:a16="http://schemas.microsoft.com/office/drawing/2014/main" id="{7EB21490-4DDA-4C13-BA28-6CD583E1C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0" y="1035050"/>
            <a:ext cx="4443413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examples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(with 8 bit numbers)</a:t>
            </a:r>
          </a:p>
        </p:txBody>
      </p:sp>
      <p:graphicFrame>
        <p:nvGraphicFramePr>
          <p:cNvPr id="1247247" name="Group 15">
            <a:extLst>
              <a:ext uri="{FF2B5EF4-FFF2-40B4-BE49-F238E27FC236}">
                <a16:creationId xmlns:a16="http://schemas.microsoft.com/office/drawing/2014/main" id="{32BCCC1D-5417-4F00-9E5C-451310A34448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3638550"/>
          <a:ext cx="6553200" cy="979488"/>
        </p:xfrm>
        <a:graphic>
          <a:graphicData uri="http://schemas.openxmlformats.org/drawingml/2006/table">
            <a:tbl>
              <a:tblPr/>
              <a:tblGrid>
                <a:gridCol w="827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7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9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-128</a:t>
                      </a:r>
                    </a:p>
                  </a:txBody>
                  <a:tcPr marL="90000" marR="90000" marT="46784" marB="46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64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32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16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8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4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2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784" marB="467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47276" name="Text Box 44">
            <a:extLst>
              <a:ext uri="{FF2B5EF4-FFF2-40B4-BE49-F238E27FC236}">
                <a16:creationId xmlns:a16="http://schemas.microsoft.com/office/drawing/2014/main" id="{8529FF1B-D7C0-4EE5-8C21-66047989A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105150"/>
            <a:ext cx="58007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An eight position twos compliment value box</a:t>
            </a:r>
          </a:p>
        </p:txBody>
      </p:sp>
      <p:sp>
        <p:nvSpPr>
          <p:cNvPr id="1247277" name="Text Box 45">
            <a:extLst>
              <a:ext uri="{FF2B5EF4-FFF2-40B4-BE49-F238E27FC236}">
                <a16:creationId xmlns:a16="http://schemas.microsoft.com/office/drawing/2014/main" id="{4583E588-358F-4EA4-8FFA-84A7ACA44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171950"/>
            <a:ext cx="6311900" cy="401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1          1         0         0        1         0          0        1 </a:t>
            </a:r>
          </a:p>
        </p:txBody>
      </p:sp>
      <p:sp>
        <p:nvSpPr>
          <p:cNvPr id="1247278" name="Text Box 46">
            <a:extLst>
              <a:ext uri="{FF2B5EF4-FFF2-40B4-BE49-F238E27FC236}">
                <a16:creationId xmlns:a16="http://schemas.microsoft.com/office/drawing/2014/main" id="{9054758D-4414-4D2E-B5BE-2F100BEB2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695950"/>
            <a:ext cx="5194300" cy="5873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-128 + 64 + 8 + 1 = -55</a:t>
            </a:r>
          </a:p>
        </p:txBody>
      </p:sp>
      <p:sp>
        <p:nvSpPr>
          <p:cNvPr id="1247279" name="Text Box 47">
            <a:extLst>
              <a:ext uri="{FF2B5EF4-FFF2-40B4-BE49-F238E27FC236}">
                <a16:creationId xmlns:a16="http://schemas.microsoft.com/office/drawing/2014/main" id="{18CAAFD5-5B3F-4F3E-94C3-7C3CD0109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266950"/>
            <a:ext cx="4911725" cy="587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Check -55 = 11001001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47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47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4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47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47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47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7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7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7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7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7276" grpId="0"/>
      <p:bldP spid="1247277" grpId="0"/>
      <p:bldP spid="124727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6AEFA94B-532F-4C08-8596-A0C986988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3460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Representation</a:t>
            </a:r>
          </a:p>
        </p:txBody>
      </p:sp>
      <p:sp>
        <p:nvSpPr>
          <p:cNvPr id="27651" name="Text Box 37">
            <a:extLst>
              <a:ext uri="{FF2B5EF4-FFF2-40B4-BE49-F238E27FC236}">
                <a16:creationId xmlns:a16="http://schemas.microsoft.com/office/drawing/2014/main" id="{8083E4E9-43D3-4FCA-B3BB-3BF373AC5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0" y="971550"/>
            <a:ext cx="4443413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examples</a:t>
            </a:r>
          </a:p>
        </p:txBody>
      </p:sp>
      <p:sp>
        <p:nvSpPr>
          <p:cNvPr id="1249318" name="Text Box 38">
            <a:extLst>
              <a:ext uri="{FF2B5EF4-FFF2-40B4-BE49-F238E27FC236}">
                <a16:creationId xmlns:a16="http://schemas.microsoft.com/office/drawing/2014/main" id="{C0191941-1CAD-466B-B1C3-934043956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612900"/>
            <a:ext cx="2878138" cy="587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Negating -55</a:t>
            </a:r>
          </a:p>
        </p:txBody>
      </p:sp>
      <p:sp>
        <p:nvSpPr>
          <p:cNvPr id="1249319" name="Text Box 39">
            <a:extLst>
              <a:ext uri="{FF2B5EF4-FFF2-40B4-BE49-F238E27FC236}">
                <a16:creationId xmlns:a16="http://schemas.microsoft.com/office/drawing/2014/main" id="{73D1DA09-C104-4B5C-9520-7A9CA5849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289300"/>
            <a:ext cx="2422525" cy="371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Compliment that </a:t>
            </a: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sym typeface="Symbol" pitchFamily="18" charset="2"/>
              </a:rPr>
              <a:t></a:t>
            </a:r>
          </a:p>
        </p:txBody>
      </p:sp>
      <p:sp>
        <p:nvSpPr>
          <p:cNvPr id="1249320" name="Rectangle 40">
            <a:extLst>
              <a:ext uri="{FF2B5EF4-FFF2-40B4-BE49-F238E27FC236}">
                <a16:creationId xmlns:a16="http://schemas.microsoft.com/office/drawing/2014/main" id="{534BB96B-A799-4A57-8958-8CEBD5556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13100"/>
            <a:ext cx="2528888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00110110</a:t>
            </a:r>
          </a:p>
        </p:txBody>
      </p:sp>
      <p:sp>
        <p:nvSpPr>
          <p:cNvPr id="1249321" name="Text Box 41">
            <a:extLst>
              <a:ext uri="{FF2B5EF4-FFF2-40B4-BE49-F238E27FC236}">
                <a16:creationId xmlns:a16="http://schemas.microsoft.com/office/drawing/2014/main" id="{CC16BFD2-0C51-4CC4-B24D-5185C94B0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203700"/>
            <a:ext cx="2354263" cy="371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Add 1                   </a:t>
            </a: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sym typeface="Symbol" pitchFamily="18" charset="2"/>
              </a:rPr>
              <a:t></a:t>
            </a:r>
          </a:p>
        </p:txBody>
      </p:sp>
      <p:sp>
        <p:nvSpPr>
          <p:cNvPr id="1249322" name="Rectangle 42">
            <a:extLst>
              <a:ext uri="{FF2B5EF4-FFF2-40B4-BE49-F238E27FC236}">
                <a16:creationId xmlns:a16="http://schemas.microsoft.com/office/drawing/2014/main" id="{C01FDD07-B5ED-4A7B-ABE4-E86A1BDFB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27500"/>
            <a:ext cx="2528888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00000001</a:t>
            </a:r>
          </a:p>
        </p:txBody>
      </p:sp>
      <p:sp>
        <p:nvSpPr>
          <p:cNvPr id="1249323" name="Line 43">
            <a:extLst>
              <a:ext uri="{FF2B5EF4-FFF2-40B4-BE49-F238E27FC236}">
                <a16:creationId xmlns:a16="http://schemas.microsoft.com/office/drawing/2014/main" id="{6ECA1654-4445-43DE-B3EF-69E07CBA3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889500"/>
            <a:ext cx="3429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G"/>
          </a:p>
        </p:txBody>
      </p:sp>
      <p:sp>
        <p:nvSpPr>
          <p:cNvPr id="1249324" name="Text Box 44">
            <a:extLst>
              <a:ext uri="{FF2B5EF4-FFF2-40B4-BE49-F238E27FC236}">
                <a16:creationId xmlns:a16="http://schemas.microsoft.com/office/drawing/2014/main" id="{5D23DACD-94CA-4C17-B219-27D023C0D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4203700"/>
            <a:ext cx="519113" cy="587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+</a:t>
            </a:r>
          </a:p>
        </p:txBody>
      </p:sp>
      <p:sp>
        <p:nvSpPr>
          <p:cNvPr id="1249325" name="Rectangle 45">
            <a:extLst>
              <a:ext uri="{FF2B5EF4-FFF2-40B4-BE49-F238E27FC236}">
                <a16:creationId xmlns:a16="http://schemas.microsoft.com/office/drawing/2014/main" id="{46B262E1-911D-45B0-B29C-1D2483E64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118100"/>
            <a:ext cx="2528888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00110111</a:t>
            </a:r>
          </a:p>
        </p:txBody>
      </p:sp>
      <p:sp>
        <p:nvSpPr>
          <p:cNvPr id="1249326" name="Text Box 46">
            <a:extLst>
              <a:ext uri="{FF2B5EF4-FFF2-40B4-BE49-F238E27FC236}">
                <a16:creationId xmlns:a16="http://schemas.microsoft.com/office/drawing/2014/main" id="{277F7B12-38E1-4BCC-9C04-9DCC28B85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6184900"/>
            <a:ext cx="2155825" cy="371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Result is  +55  </a:t>
            </a:r>
            <a:r>
              <a:rPr lang="en-GB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sym typeface="Symbol" pitchFamily="18" charset="2"/>
              </a:rPr>
              <a:t></a:t>
            </a:r>
          </a:p>
        </p:txBody>
      </p:sp>
      <p:sp>
        <p:nvSpPr>
          <p:cNvPr id="1249327" name="Rectangle 47">
            <a:extLst>
              <a:ext uri="{FF2B5EF4-FFF2-40B4-BE49-F238E27FC236}">
                <a16:creationId xmlns:a16="http://schemas.microsoft.com/office/drawing/2014/main" id="{784D7BE6-D43F-43CA-B28F-BCD110564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6108700"/>
            <a:ext cx="2528888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00110111</a:t>
            </a:r>
          </a:p>
        </p:txBody>
      </p:sp>
      <p:sp>
        <p:nvSpPr>
          <p:cNvPr id="1249328" name="Text Box 48">
            <a:extLst>
              <a:ext uri="{FF2B5EF4-FFF2-40B4-BE49-F238E27FC236}">
                <a16:creationId xmlns:a16="http://schemas.microsoft.com/office/drawing/2014/main" id="{DCBAAAA4-6407-4129-94CE-8F4A748C9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98700"/>
            <a:ext cx="5853113" cy="587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Start with -55 = 11001001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49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49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9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49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49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4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9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9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49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49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4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49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49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4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49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49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49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49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49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49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49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49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49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49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49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9" grpId="0"/>
      <p:bldP spid="1249320" grpId="0"/>
      <p:bldP spid="1249321" grpId="0"/>
      <p:bldP spid="1249322" grpId="0"/>
      <p:bldP spid="1249324" grpId="0"/>
      <p:bldP spid="1249325" grpId="0"/>
      <p:bldP spid="1249326" grpId="0"/>
      <p:bldP spid="1249327" grpId="0"/>
      <p:bldP spid="12493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E0F1D8D0-0ED2-4594-81DC-E2D7FA9E3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5963" y="1447800"/>
            <a:ext cx="8301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Range of numbers: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8 bit twos compliment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+127 = 01111111 = 2</a:t>
            </a:r>
            <a:r>
              <a:rPr lang="en-GB" altLang="en-US" sz="2800" b="1" baseline="30000">
                <a:solidFill>
                  <a:srgbClr val="333399"/>
                </a:solidFill>
                <a:latin typeface="Times New Roman" panose="02020603050405020304" pitchFamily="18" charset="0"/>
              </a:rPr>
              <a:t>7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-1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 -128 = 10000000 = -2</a:t>
            </a:r>
            <a:r>
              <a:rPr lang="en-GB" altLang="en-US" sz="2800" b="1" baseline="30000">
                <a:solidFill>
                  <a:srgbClr val="333399"/>
                </a:solidFill>
                <a:latin typeface="Times New Roman" panose="02020603050405020304" pitchFamily="18" charset="0"/>
              </a:rPr>
              <a:t>7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b="1" baseline="30000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16 bit twos compliment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+32,767 = 011111111 11111111 = 2</a:t>
            </a:r>
            <a:r>
              <a:rPr lang="en-GB" altLang="en-US" sz="2800" b="1" baseline="30000">
                <a:solidFill>
                  <a:srgbClr val="333399"/>
                </a:solidFill>
                <a:latin typeface="Times New Roman" panose="02020603050405020304" pitchFamily="18" charset="0"/>
              </a:rPr>
              <a:t>15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– 1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 -32,768 = 100000000 00000000 = -2</a:t>
            </a:r>
            <a:r>
              <a:rPr lang="en-GB" altLang="en-US" sz="2800" b="1" baseline="30000">
                <a:solidFill>
                  <a:srgbClr val="333399"/>
                </a:solidFill>
                <a:latin typeface="Times New Roman" panose="02020603050405020304" pitchFamily="18" charset="0"/>
              </a:rPr>
              <a:t>15</a:t>
            </a:r>
            <a:endParaRPr lang="en-GB" altLang="en-US" sz="2800" b="1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D3045958-FBBB-478B-B85E-C34B840AF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3460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Twos Complement Representation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218E6555-2DC8-48FB-B446-9FE2714B8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1390650"/>
            <a:ext cx="8301038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Take an </a:t>
            </a:r>
            <a:r>
              <a:rPr lang="en-GB" altLang="en-US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-bit integer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and 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store it in </a:t>
            </a:r>
            <a:r>
              <a:rPr lang="en-GB" altLang="en-US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bits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, where </a:t>
            </a:r>
            <a:r>
              <a:rPr lang="en-GB" altLang="en-US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&gt;</a:t>
            </a:r>
            <a:r>
              <a:rPr lang="en-GB" altLang="en-US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Char char="•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Move sign bit to new leftmost position.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In sign-magnitude notation, fill in with zeros.</a:t>
            </a:r>
          </a:p>
          <a:p>
            <a:pPr lvl="2" eaLnBrk="1" hangingPunct="1">
              <a:buFontTx/>
              <a:buChar char="o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Examples (8 bit → 16 bit)</a:t>
            </a:r>
          </a:p>
          <a:p>
            <a:pPr lvl="3" eaLnBrk="1" hangingPunct="1">
              <a:buFont typeface="Wingdings" panose="05000000000000000000" pitchFamily="2" charset="2"/>
              <a:buChar char="q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+18: 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0010010 → 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GB" altLang="en-US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00000000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0010010</a:t>
            </a:r>
          </a:p>
          <a:p>
            <a:pPr lvl="3" eaLnBrk="1" hangingPunct="1">
              <a:buFont typeface="Wingdings" panose="05000000000000000000" pitchFamily="2" charset="2"/>
              <a:buChar char="q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 -18: 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1101110 → 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GB" altLang="en-US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00000000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1101110</a:t>
            </a:r>
            <a:endParaRPr lang="en-GB" altLang="en-US" sz="2800" b="1"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In twos complement notation, fill in with copies of sign bit, called sign extension.</a:t>
            </a:r>
          </a:p>
          <a:p>
            <a:pPr lvl="2" eaLnBrk="1" hangingPunct="1">
              <a:buFontTx/>
              <a:buChar char="o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Examples (8 bit 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16 bit)</a:t>
            </a:r>
          </a:p>
          <a:p>
            <a:pPr lvl="3" eaLnBrk="1" hangingPunct="1">
              <a:buFont typeface="Wingdings" panose="05000000000000000000" pitchFamily="2" charset="2"/>
              <a:buChar char="q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+18: 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</a:rPr>
              <a:t>0010010 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GB" altLang="en-US" sz="28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00000000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0010010</a:t>
            </a:r>
          </a:p>
          <a:p>
            <a:pPr lvl="3" eaLnBrk="1" hangingPunct="1">
              <a:buFont typeface="Wingdings" panose="05000000000000000000" pitchFamily="2" charset="2"/>
              <a:buChar char="q"/>
            </a:pP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-18: 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1101110 → </a:t>
            </a:r>
            <a:r>
              <a:rPr lang="en-GB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altLang="en-US" sz="28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11111111</a:t>
            </a:r>
            <a:r>
              <a:rPr lang="en-GB" altLang="en-US" sz="2800" b="1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1101110</a:t>
            </a: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F9DA55E1-0978-4138-A55F-DC2FEA2E7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3460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Converting between Different Bit Lengths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7F20A770-F08E-454F-B8CF-7EDB5ED38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163" y="1458913"/>
            <a:ext cx="8301037" cy="478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On any addition, results may be larger than can be held in word size being used. This condition is called </a:t>
            </a: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overflow</a:t>
            </a: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When overflow occurs, ALU must signal this fact so that no attempt is made to use result.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To detect overflow, following rule is observed: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If two numbers are added and they are both positive or negative then overflow occurs if and only if result has opposite sign</a:t>
            </a: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A13C78E0-94D4-40FA-B214-3E20AAC3E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3460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96AF361E-E570-440C-A21C-899F7D3C1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286000"/>
            <a:ext cx="8153400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Perform normal binary addition.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Monitor sign bit for overflow.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In some instances, there is </a:t>
            </a: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a carry bit</a:t>
            </a:r>
            <a:r>
              <a:rPr lang="en-GB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beyond end of word (indicated as red), which is ignored.</a:t>
            </a:r>
          </a:p>
        </p:txBody>
      </p:sp>
      <p:sp>
        <p:nvSpPr>
          <p:cNvPr id="35843" name="Text Box 18">
            <a:extLst>
              <a:ext uri="{FF2B5EF4-FFF2-40B4-BE49-F238E27FC236}">
                <a16:creationId xmlns:a16="http://schemas.microsoft.com/office/drawing/2014/main" id="{5B66EBD0-DF21-48CF-9A55-856CF037E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Addition in twos complement representation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>
            <a:extLst>
              <a:ext uri="{FF2B5EF4-FFF2-40B4-BE49-F238E27FC236}">
                <a16:creationId xmlns:a16="http://schemas.microsoft.com/office/drawing/2014/main" id="{2F2FED08-BF28-41C6-AE3C-B7A93F2EF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1066800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Addition Examples</a:t>
            </a:r>
          </a:p>
        </p:txBody>
      </p:sp>
      <p:graphicFrame>
        <p:nvGraphicFramePr>
          <p:cNvPr id="1253381" name="Group 5">
            <a:extLst>
              <a:ext uri="{FF2B5EF4-FFF2-40B4-BE49-F238E27FC236}">
                <a16:creationId xmlns:a16="http://schemas.microsoft.com/office/drawing/2014/main" id="{C052892B-6038-4656-89E9-9E1C48CDFE72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1962150"/>
          <a:ext cx="3352800" cy="195897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1001 = -7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+0101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=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1110 = -2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53387" name="Rectangle 11">
            <a:extLst>
              <a:ext uri="{FF2B5EF4-FFF2-40B4-BE49-F238E27FC236}">
                <a16:creationId xmlns:a16="http://schemas.microsoft.com/office/drawing/2014/main" id="{D2E6592B-B4E6-4E59-9673-CF58020F6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038350"/>
            <a:ext cx="2655888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(a) (-7) + (+5)</a:t>
            </a:r>
          </a:p>
        </p:txBody>
      </p:sp>
      <p:graphicFrame>
        <p:nvGraphicFramePr>
          <p:cNvPr id="1253388" name="Group 12">
            <a:extLst>
              <a:ext uri="{FF2B5EF4-FFF2-40B4-BE49-F238E27FC236}">
                <a16:creationId xmlns:a16="http://schemas.microsoft.com/office/drawing/2014/main" id="{8FBDB934-42C9-4BE6-9569-F183D15738DF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4705350"/>
          <a:ext cx="5375275" cy="2081213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-8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4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2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-7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 5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-2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930" name="Text Box 44">
            <a:extLst>
              <a:ext uri="{FF2B5EF4-FFF2-40B4-BE49-F238E27FC236}">
                <a16:creationId xmlns:a16="http://schemas.microsoft.com/office/drawing/2014/main" id="{B453CC00-4C51-463E-A840-0C7000DA9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Addition in twos complement representation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53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53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5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53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53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5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509" name="AutoShape 85">
            <a:extLst>
              <a:ext uri="{FF2B5EF4-FFF2-40B4-BE49-F238E27FC236}">
                <a16:creationId xmlns:a16="http://schemas.microsoft.com/office/drawing/2014/main" id="{FAC9BF9B-0E5F-467E-BD8B-DD7B05CF6FE6}"/>
              </a:ext>
            </a:extLst>
          </p:cNvPr>
          <p:cNvSpPr>
            <a:spLocks noChangeArrowheads="1"/>
          </p:cNvSpPr>
          <p:nvPr/>
        </p:nvSpPr>
        <p:spPr bwMode="auto">
          <a:xfrm rot="10322416">
            <a:off x="2133600" y="3581400"/>
            <a:ext cx="2819400" cy="914400"/>
          </a:xfrm>
          <a:prstGeom prst="wedgeEllipseCallout">
            <a:avLst>
              <a:gd name="adj1" fmla="val -103963"/>
              <a:gd name="adj2" fmla="val 7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39939" name="Text Box 43">
            <a:extLst>
              <a:ext uri="{FF2B5EF4-FFF2-40B4-BE49-F238E27FC236}">
                <a16:creationId xmlns:a16="http://schemas.microsoft.com/office/drawing/2014/main" id="{6C32F7C9-8303-4E97-A5C7-B2DBC5472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105092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Addition Examples</a:t>
            </a:r>
          </a:p>
        </p:txBody>
      </p:sp>
      <p:graphicFrame>
        <p:nvGraphicFramePr>
          <p:cNvPr id="1255468" name="Group 44">
            <a:extLst>
              <a:ext uri="{FF2B5EF4-FFF2-40B4-BE49-F238E27FC236}">
                <a16:creationId xmlns:a16="http://schemas.microsoft.com/office/drawing/2014/main" id="{82E4E0B6-96D0-4293-9DC7-A4A87C17A9D2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1943100"/>
          <a:ext cx="3352800" cy="195897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1100 = -4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+0100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=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0000 =  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55474" name="Rectangle 50">
            <a:extLst>
              <a:ext uri="{FF2B5EF4-FFF2-40B4-BE49-F238E27FC236}">
                <a16:creationId xmlns:a16="http://schemas.microsoft.com/office/drawing/2014/main" id="{113AD736-A309-427C-88CC-78BE1C7EA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019300"/>
            <a:ext cx="2676525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(b) (-4) + (+4)</a:t>
            </a:r>
          </a:p>
        </p:txBody>
      </p:sp>
      <p:graphicFrame>
        <p:nvGraphicFramePr>
          <p:cNvPr id="1255475" name="Group 51">
            <a:extLst>
              <a:ext uri="{FF2B5EF4-FFF2-40B4-BE49-F238E27FC236}">
                <a16:creationId xmlns:a16="http://schemas.microsoft.com/office/drawing/2014/main" id="{129C7CE2-87FE-4CFE-98D2-C3521D113B45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4686300"/>
          <a:ext cx="5549900" cy="2081213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-8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4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2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4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 +4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55507" name="Text Box 83">
            <a:extLst>
              <a:ext uri="{FF2B5EF4-FFF2-40B4-BE49-F238E27FC236}">
                <a16:creationId xmlns:a16="http://schemas.microsoft.com/office/drawing/2014/main" id="{63A2F1EB-9BFD-492A-BA69-1700240B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238500"/>
            <a:ext cx="503238" cy="7715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4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×</a:t>
            </a:r>
          </a:p>
        </p:txBody>
      </p:sp>
      <p:sp>
        <p:nvSpPr>
          <p:cNvPr id="1255508" name="Rectangle 84">
            <a:extLst>
              <a:ext uri="{FF2B5EF4-FFF2-40B4-BE49-F238E27FC236}">
                <a16:creationId xmlns:a16="http://schemas.microsoft.com/office/drawing/2014/main" id="{8D5F0184-F53D-4051-BC76-619D21668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714750"/>
            <a:ext cx="1827213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Carry bit</a:t>
            </a:r>
          </a:p>
        </p:txBody>
      </p:sp>
      <p:sp>
        <p:nvSpPr>
          <p:cNvPr id="39981" name="Text Box 86">
            <a:extLst>
              <a:ext uri="{FF2B5EF4-FFF2-40B4-BE49-F238E27FC236}">
                <a16:creationId xmlns:a16="http://schemas.microsoft.com/office/drawing/2014/main" id="{C721580E-01C8-423E-AAD7-08299BDD0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Addition in twos complement representation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55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55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5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55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55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5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5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5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5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55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55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5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5509" grpId="0" animBg="1"/>
      <p:bldP spid="1255509" grpId="1" animBg="1"/>
      <p:bldP spid="1255507" grpId="0"/>
      <p:bldP spid="125550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46">
            <a:extLst>
              <a:ext uri="{FF2B5EF4-FFF2-40B4-BE49-F238E27FC236}">
                <a16:creationId xmlns:a16="http://schemas.microsoft.com/office/drawing/2014/main" id="{4B6C059F-75EA-432E-8938-8AE6C3BE6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10318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Addition Examples</a:t>
            </a:r>
          </a:p>
        </p:txBody>
      </p:sp>
      <p:graphicFrame>
        <p:nvGraphicFramePr>
          <p:cNvPr id="1257519" name="Group 47">
            <a:extLst>
              <a:ext uri="{FF2B5EF4-FFF2-40B4-BE49-F238E27FC236}">
                <a16:creationId xmlns:a16="http://schemas.microsoft.com/office/drawing/2014/main" id="{5021528B-83A1-4B9B-9D69-1A5EA902B269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1962150"/>
          <a:ext cx="3352800" cy="195897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1100 = -4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+1111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= -1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1011 = -5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57525" name="Rectangle 53">
            <a:extLst>
              <a:ext uri="{FF2B5EF4-FFF2-40B4-BE49-F238E27FC236}">
                <a16:creationId xmlns:a16="http://schemas.microsoft.com/office/drawing/2014/main" id="{25B03420-7B2F-4265-A66A-FA097F789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038350"/>
            <a:ext cx="2663825" cy="13128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(c) (-4) + (-1)</a:t>
            </a: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endParaRPr lang="en-GB" sz="36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graphicFrame>
        <p:nvGraphicFramePr>
          <p:cNvPr id="1257526" name="Group 54">
            <a:extLst>
              <a:ext uri="{FF2B5EF4-FFF2-40B4-BE49-F238E27FC236}">
                <a16:creationId xmlns:a16="http://schemas.microsoft.com/office/drawing/2014/main" id="{AB4F4E95-5CD9-4C94-AF74-F1E0D0DCBD1F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4705350"/>
          <a:ext cx="5549900" cy="2081213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-8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4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2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- </a:t>
                      </a: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4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 </a:t>
                      </a: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- </a:t>
                      </a: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- </a:t>
                      </a: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5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57558" name="Text Box 86">
            <a:extLst>
              <a:ext uri="{FF2B5EF4-FFF2-40B4-BE49-F238E27FC236}">
                <a16:creationId xmlns:a16="http://schemas.microsoft.com/office/drawing/2014/main" id="{9A2A2B8C-F184-406D-B1A6-92ED70A0C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257550"/>
            <a:ext cx="503238" cy="7715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4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×</a:t>
            </a:r>
          </a:p>
        </p:txBody>
      </p:sp>
      <p:sp>
        <p:nvSpPr>
          <p:cNvPr id="1257559" name="AutoShape 87">
            <a:extLst>
              <a:ext uri="{FF2B5EF4-FFF2-40B4-BE49-F238E27FC236}">
                <a16:creationId xmlns:a16="http://schemas.microsoft.com/office/drawing/2014/main" id="{AA827C3C-9D8E-4FB9-BF8B-7126D51C2628}"/>
              </a:ext>
            </a:extLst>
          </p:cNvPr>
          <p:cNvSpPr>
            <a:spLocks noChangeArrowheads="1"/>
          </p:cNvSpPr>
          <p:nvPr/>
        </p:nvSpPr>
        <p:spPr bwMode="auto">
          <a:xfrm rot="10322416">
            <a:off x="2133600" y="3581400"/>
            <a:ext cx="2819400" cy="914400"/>
          </a:xfrm>
          <a:prstGeom prst="wedgeEllipseCallout">
            <a:avLst>
              <a:gd name="adj1" fmla="val -103963"/>
              <a:gd name="adj2" fmla="val 7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257560" name="Rectangle 88">
            <a:extLst>
              <a:ext uri="{FF2B5EF4-FFF2-40B4-BE49-F238E27FC236}">
                <a16:creationId xmlns:a16="http://schemas.microsoft.com/office/drawing/2014/main" id="{CB55904A-D40E-4AC3-B0C4-3F59D260E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714750"/>
            <a:ext cx="1827213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Carry bit</a:t>
            </a:r>
          </a:p>
        </p:txBody>
      </p:sp>
      <p:sp>
        <p:nvSpPr>
          <p:cNvPr id="42029" name="Text Box 89">
            <a:extLst>
              <a:ext uri="{FF2B5EF4-FFF2-40B4-BE49-F238E27FC236}">
                <a16:creationId xmlns:a16="http://schemas.microsoft.com/office/drawing/2014/main" id="{A0125C19-AC59-4F16-95E8-573477B6A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Addition in twos complement representation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57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57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5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57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57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5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57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57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5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5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5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5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7558" grpId="0"/>
      <p:bldP spid="1257559" grpId="0" animBg="1"/>
      <p:bldP spid="1257559" grpId="1" animBg="1"/>
      <p:bldP spid="125756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87">
            <a:extLst>
              <a:ext uri="{FF2B5EF4-FFF2-40B4-BE49-F238E27FC236}">
                <a16:creationId xmlns:a16="http://schemas.microsoft.com/office/drawing/2014/main" id="{081153E7-FF06-442B-BF1D-73CD98A6A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116522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Addition Examples</a:t>
            </a:r>
          </a:p>
        </p:txBody>
      </p:sp>
      <p:graphicFrame>
        <p:nvGraphicFramePr>
          <p:cNvPr id="1259608" name="Group 88">
            <a:extLst>
              <a:ext uri="{FF2B5EF4-FFF2-40B4-BE49-F238E27FC236}">
                <a16:creationId xmlns:a16="http://schemas.microsoft.com/office/drawing/2014/main" id="{ECAB6FA4-5B98-4940-9BD2-EEAEB755B7E1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1962150"/>
          <a:ext cx="3352800" cy="195897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0101 =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+0100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=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001 = 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-7 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59614" name="Rectangle 94">
            <a:extLst>
              <a:ext uri="{FF2B5EF4-FFF2-40B4-BE49-F238E27FC236}">
                <a16:creationId xmlns:a16="http://schemas.microsoft.com/office/drawing/2014/main" id="{EFABC983-BE86-4A6F-8AAD-2323595A2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038350"/>
            <a:ext cx="3352800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(d) (+5) + (+4)</a:t>
            </a:r>
          </a:p>
        </p:txBody>
      </p:sp>
      <p:graphicFrame>
        <p:nvGraphicFramePr>
          <p:cNvPr id="1259615" name="Group 95">
            <a:extLst>
              <a:ext uri="{FF2B5EF4-FFF2-40B4-BE49-F238E27FC236}">
                <a16:creationId xmlns:a16="http://schemas.microsoft.com/office/drawing/2014/main" id="{E6BD7E1E-7831-487D-8DC3-D0B50A701A28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4705350"/>
          <a:ext cx="5549900" cy="2081213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-8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4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2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 </a:t>
                      </a: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7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59647" name="Text Box 127">
            <a:extLst>
              <a:ext uri="{FF2B5EF4-FFF2-40B4-BE49-F238E27FC236}">
                <a16:creationId xmlns:a16="http://schemas.microsoft.com/office/drawing/2014/main" id="{5EE68720-4214-41A0-894C-7ECB79470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187700"/>
            <a:ext cx="3140075" cy="10175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Overflow</a:t>
            </a:r>
          </a:p>
        </p:txBody>
      </p:sp>
      <p:sp>
        <p:nvSpPr>
          <p:cNvPr id="44075" name="Text Box 128">
            <a:extLst>
              <a:ext uri="{FF2B5EF4-FFF2-40B4-BE49-F238E27FC236}">
                <a16:creationId xmlns:a16="http://schemas.microsoft.com/office/drawing/2014/main" id="{877A8D7A-A6EE-4D45-B291-DFA19D394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Addition in twos complement representation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59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59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59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59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59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5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59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59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5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4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4826ED18-254D-48A9-8BBC-A9E492A5F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Addition in twos complement representation</a:t>
            </a:r>
          </a:p>
        </p:txBody>
      </p:sp>
      <p:sp>
        <p:nvSpPr>
          <p:cNvPr id="46083" name="Text Box 44">
            <a:extLst>
              <a:ext uri="{FF2B5EF4-FFF2-40B4-BE49-F238E27FC236}">
                <a16:creationId xmlns:a16="http://schemas.microsoft.com/office/drawing/2014/main" id="{4CF2C70A-F763-43D8-A503-2C3AAFC10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10699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Addition Examples</a:t>
            </a:r>
          </a:p>
        </p:txBody>
      </p:sp>
      <p:graphicFrame>
        <p:nvGraphicFramePr>
          <p:cNvPr id="1261613" name="Group 45">
            <a:extLst>
              <a:ext uri="{FF2B5EF4-FFF2-40B4-BE49-F238E27FC236}">
                <a16:creationId xmlns:a16="http://schemas.microsoft.com/office/drawing/2014/main" id="{4AD37D60-9D9A-4783-A4F6-76D6216B4180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1962150"/>
          <a:ext cx="3352800" cy="195897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1001 = -7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+1010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= -6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0011 =  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3 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1619" name="Rectangle 51">
            <a:extLst>
              <a:ext uri="{FF2B5EF4-FFF2-40B4-BE49-F238E27FC236}">
                <a16:creationId xmlns:a16="http://schemas.microsoft.com/office/drawing/2014/main" id="{2D08B743-866C-498F-A8E8-7131F936B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038350"/>
            <a:ext cx="3352800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(e) (-7) + (-6)</a:t>
            </a:r>
          </a:p>
        </p:txBody>
      </p:sp>
      <p:graphicFrame>
        <p:nvGraphicFramePr>
          <p:cNvPr id="1261620" name="Group 52">
            <a:extLst>
              <a:ext uri="{FF2B5EF4-FFF2-40B4-BE49-F238E27FC236}">
                <a16:creationId xmlns:a16="http://schemas.microsoft.com/office/drawing/2014/main" id="{3817FDBE-CA23-45C8-9406-C514D96E28E1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4705350"/>
          <a:ext cx="5549900" cy="2081213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-8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4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2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-7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 </a:t>
                      </a: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-6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</a:endParaRP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30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3</a:t>
                      </a:r>
                    </a:p>
                  </a:txBody>
                  <a:tcPr marL="90000" marR="90000" marT="46797" marB="467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0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1</a:t>
                      </a:r>
                    </a:p>
                  </a:txBody>
                  <a:tcPr marL="90000" marR="90000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61652" name="Text Box 84">
            <a:extLst>
              <a:ext uri="{FF2B5EF4-FFF2-40B4-BE49-F238E27FC236}">
                <a16:creationId xmlns:a16="http://schemas.microsoft.com/office/drawing/2014/main" id="{4483116F-934A-4BC7-AA49-B6510CC73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0013" y="3717925"/>
            <a:ext cx="3140075" cy="10175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Overflow</a:t>
            </a:r>
          </a:p>
        </p:txBody>
      </p:sp>
      <p:sp>
        <p:nvSpPr>
          <p:cNvPr id="1261653" name="Text Box 85">
            <a:extLst>
              <a:ext uri="{FF2B5EF4-FFF2-40B4-BE49-F238E27FC236}">
                <a16:creationId xmlns:a16="http://schemas.microsoft.com/office/drawing/2014/main" id="{92B1D70F-9189-445C-81C8-0565A4A9A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8100" y="3192463"/>
            <a:ext cx="503238" cy="7715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4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×</a:t>
            </a:r>
          </a:p>
        </p:txBody>
      </p:sp>
      <p:sp>
        <p:nvSpPr>
          <p:cNvPr id="1261654" name="AutoShape 86">
            <a:extLst>
              <a:ext uri="{FF2B5EF4-FFF2-40B4-BE49-F238E27FC236}">
                <a16:creationId xmlns:a16="http://schemas.microsoft.com/office/drawing/2014/main" id="{6C9DEC9B-324E-4EB8-8B00-91498DB77958}"/>
              </a:ext>
            </a:extLst>
          </p:cNvPr>
          <p:cNvSpPr>
            <a:spLocks noChangeArrowheads="1"/>
          </p:cNvSpPr>
          <p:nvPr/>
        </p:nvSpPr>
        <p:spPr bwMode="auto">
          <a:xfrm rot="10322416">
            <a:off x="2133600" y="3581400"/>
            <a:ext cx="2819400" cy="914400"/>
          </a:xfrm>
          <a:prstGeom prst="wedgeEllipseCallout">
            <a:avLst>
              <a:gd name="adj1" fmla="val -103963"/>
              <a:gd name="adj2" fmla="val 7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261655" name="Rectangle 87">
            <a:extLst>
              <a:ext uri="{FF2B5EF4-FFF2-40B4-BE49-F238E27FC236}">
                <a16:creationId xmlns:a16="http://schemas.microsoft.com/office/drawing/2014/main" id="{80618115-1DF5-4820-80A6-FEE4BEAEA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714750"/>
            <a:ext cx="1827213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Carry bit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61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61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6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61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61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6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6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6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6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61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61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6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61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61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6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1652" grpId="0"/>
      <p:bldP spid="1261653" grpId="0"/>
      <p:bldP spid="1261654" grpId="0" animBg="1"/>
      <p:bldP spid="1261654" grpId="1" animBg="1"/>
      <p:bldP spid="126165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7A82B43C-2693-4B34-8E83-A20A4D82B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05000"/>
            <a:ext cx="7848600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b="1" dirty="0">
                <a:solidFill>
                  <a:srgbClr val="333399"/>
                </a:solidFill>
                <a:latin typeface="Times New Roman" panose="02020603050405020304" pitchFamily="18" charset="0"/>
              </a:rPr>
              <a:t> Take two compliment of subtrahend and add to minuend.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 a - b = a + (-b)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b="1" dirty="0">
                <a:solidFill>
                  <a:srgbClr val="333399"/>
                </a:solidFill>
                <a:latin typeface="Times New Roman" panose="02020603050405020304" pitchFamily="18" charset="0"/>
              </a:rPr>
              <a:t> So we only need addition and complement circuits.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b="1" dirty="0">
                <a:solidFill>
                  <a:srgbClr val="333399"/>
                </a:solidFill>
                <a:latin typeface="Times New Roman" panose="02020603050405020304" pitchFamily="18" charset="0"/>
              </a:rPr>
              <a:t> A carry bit beyond end of word is indicated as red, which is ignored.</a:t>
            </a:r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F16CA01F-08A7-49CA-90D7-EAF84EAEE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Subtraction in twos complement representation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3">
            <a:extLst>
              <a:ext uri="{FF2B5EF4-FFF2-40B4-BE49-F238E27FC236}">
                <a16:creationId xmlns:a16="http://schemas.microsoft.com/office/drawing/2014/main" id="{4F754207-9426-41F6-A941-6132A1FCF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Subtraction in twos complement representation</a:t>
            </a: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AC4255AB-A43D-475E-A3A3-B23A10B84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912813"/>
            <a:ext cx="76200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Subtraction Examples</a:t>
            </a:r>
          </a:p>
        </p:txBody>
      </p:sp>
      <p:graphicFrame>
        <p:nvGraphicFramePr>
          <p:cNvPr id="1265669" name="Group 5">
            <a:extLst>
              <a:ext uri="{FF2B5EF4-FFF2-40B4-BE49-F238E27FC236}">
                <a16:creationId xmlns:a16="http://schemas.microsoft.com/office/drawing/2014/main" id="{76537609-B2BF-422F-A20F-90299393AE38}"/>
              </a:ext>
            </a:extLst>
          </p:cNvPr>
          <p:cNvGraphicFramePr>
            <a:graphicFrameLocks noGrp="1"/>
          </p:cNvGraphicFramePr>
          <p:nvPr/>
        </p:nvGraphicFramePr>
        <p:xfrm>
          <a:off x="7010400" y="1862138"/>
          <a:ext cx="3352800" cy="1958976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0010 =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+1001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= -7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1011 = -5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5675" name="Rectangle 11">
            <a:extLst>
              <a:ext uri="{FF2B5EF4-FFF2-40B4-BE49-F238E27FC236}">
                <a16:creationId xmlns:a16="http://schemas.microsoft.com/office/drawing/2014/main" id="{2731E072-4575-4480-B2B2-E9DA46058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862138"/>
            <a:ext cx="3706813" cy="6492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(a) </a:t>
            </a: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2 – 7</a:t>
            </a: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</a:t>
            </a: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sym typeface="Symbol" pitchFamily="18" charset="2"/>
              </a:rPr>
              <a:t> 2 + (-7)</a:t>
            </a:r>
          </a:p>
        </p:txBody>
      </p:sp>
      <p:sp>
        <p:nvSpPr>
          <p:cNvPr id="1265676" name="Rectangle 12">
            <a:extLst>
              <a:ext uri="{FF2B5EF4-FFF2-40B4-BE49-F238E27FC236}">
                <a16:creationId xmlns:a16="http://schemas.microsoft.com/office/drawing/2014/main" id="{BC83AEFF-20C2-4DF9-8E30-38CB2C31A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852738"/>
            <a:ext cx="5715000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2=0010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7=0111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400" b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To obtain -7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complement 7 and add 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   1000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 +0001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   1001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6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65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65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6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567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E90F8AED-0340-47C8-81E5-B14C968F2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Subtraction in twos complement representation</a:t>
            </a:r>
          </a:p>
        </p:txBody>
      </p:sp>
      <p:sp>
        <p:nvSpPr>
          <p:cNvPr id="52227" name="Text Box 12">
            <a:extLst>
              <a:ext uri="{FF2B5EF4-FFF2-40B4-BE49-F238E27FC236}">
                <a16:creationId xmlns:a16="http://schemas.microsoft.com/office/drawing/2014/main" id="{056D7245-11A7-43A8-A40F-2E2E601F2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914400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Subtraction Examples</a:t>
            </a:r>
          </a:p>
        </p:txBody>
      </p:sp>
      <p:graphicFrame>
        <p:nvGraphicFramePr>
          <p:cNvPr id="1267725" name="Group 13">
            <a:extLst>
              <a:ext uri="{FF2B5EF4-FFF2-40B4-BE49-F238E27FC236}">
                <a16:creationId xmlns:a16="http://schemas.microsoft.com/office/drawing/2014/main" id="{F74EF1E1-186C-4B4B-AE82-889DE3663BA8}"/>
              </a:ext>
            </a:extLst>
          </p:cNvPr>
          <p:cNvGraphicFramePr>
            <a:graphicFrameLocks noGrp="1"/>
          </p:cNvGraphicFramePr>
          <p:nvPr/>
        </p:nvGraphicFramePr>
        <p:xfrm>
          <a:off x="7010400" y="1863725"/>
          <a:ext cx="3352800" cy="195897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0101 = 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+1110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= -2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0011 = 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7731" name="Rectangle 19">
            <a:extLst>
              <a:ext uri="{FF2B5EF4-FFF2-40B4-BE49-F238E27FC236}">
                <a16:creationId xmlns:a16="http://schemas.microsoft.com/office/drawing/2014/main" id="{836FF0C5-11C2-44E9-9CDC-9405C5FAF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863725"/>
            <a:ext cx="3727450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(b) </a:t>
            </a: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5 – 2</a:t>
            </a: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</a:t>
            </a: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sym typeface="Symbol" pitchFamily="18" charset="2"/>
              </a:rPr>
              <a:t> 5 + (-2)</a:t>
            </a:r>
          </a:p>
        </p:txBody>
      </p:sp>
      <p:sp>
        <p:nvSpPr>
          <p:cNvPr id="1267732" name="Rectangle 20">
            <a:extLst>
              <a:ext uri="{FF2B5EF4-FFF2-40B4-BE49-F238E27FC236}">
                <a16:creationId xmlns:a16="http://schemas.microsoft.com/office/drawing/2014/main" id="{2D0DA7EB-3151-48FD-A757-2677BE7D6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854325"/>
            <a:ext cx="5715000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5=0101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2=0010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400" b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To obtain -2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complement 2 and add 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   1101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 +0001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   1110</a:t>
            </a:r>
          </a:p>
        </p:txBody>
      </p:sp>
      <p:sp>
        <p:nvSpPr>
          <p:cNvPr id="1267733" name="Text Box 21">
            <a:extLst>
              <a:ext uri="{FF2B5EF4-FFF2-40B4-BE49-F238E27FC236}">
                <a16:creationId xmlns:a16="http://schemas.microsoft.com/office/drawing/2014/main" id="{E588496F-151F-4311-9880-A5C599F60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159125"/>
            <a:ext cx="503238" cy="7715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4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×</a:t>
            </a:r>
          </a:p>
        </p:txBody>
      </p:sp>
      <p:sp>
        <p:nvSpPr>
          <p:cNvPr id="1267734" name="Rectangle 22">
            <a:extLst>
              <a:ext uri="{FF2B5EF4-FFF2-40B4-BE49-F238E27FC236}">
                <a16:creationId xmlns:a16="http://schemas.microsoft.com/office/drawing/2014/main" id="{A475C1C5-02EC-4ECB-93F2-707B5431B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826125"/>
            <a:ext cx="3313113" cy="10175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Ans: 0011</a:t>
            </a:r>
          </a:p>
        </p:txBody>
      </p:sp>
      <p:sp>
        <p:nvSpPr>
          <p:cNvPr id="1267735" name="AutoShape 23">
            <a:extLst>
              <a:ext uri="{FF2B5EF4-FFF2-40B4-BE49-F238E27FC236}">
                <a16:creationId xmlns:a16="http://schemas.microsoft.com/office/drawing/2014/main" id="{649E9BFA-DC99-43D8-834A-F0A23B89734C}"/>
              </a:ext>
            </a:extLst>
          </p:cNvPr>
          <p:cNvSpPr>
            <a:spLocks noChangeArrowheads="1"/>
          </p:cNvSpPr>
          <p:nvPr/>
        </p:nvSpPr>
        <p:spPr bwMode="auto">
          <a:xfrm rot="10250806">
            <a:off x="6858000" y="4933950"/>
            <a:ext cx="2819400" cy="914400"/>
          </a:xfrm>
          <a:prstGeom prst="wedgeEllipseCallout">
            <a:avLst>
              <a:gd name="adj1" fmla="val 22708"/>
              <a:gd name="adj2" fmla="val 193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267736" name="Rectangle 24">
            <a:extLst>
              <a:ext uri="{FF2B5EF4-FFF2-40B4-BE49-F238E27FC236}">
                <a16:creationId xmlns:a16="http://schemas.microsoft.com/office/drawing/2014/main" id="{1BE3E597-18FB-437E-B4E3-257CFE63E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067300"/>
            <a:ext cx="1827213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Carry bit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6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67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67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6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67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67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6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6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6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6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67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67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6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7732" grpId="0"/>
      <p:bldP spid="1267733" grpId="0"/>
      <p:bldP spid="1267734" grpId="0"/>
      <p:bldP spid="1267735" grpId="0" animBg="1"/>
      <p:bldP spid="1267735" grpId="1" animBg="1"/>
      <p:bldP spid="12677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CE1AD898-1888-4221-9D65-710B6EAA2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Subtraction in twos complement representation</a:t>
            </a:r>
          </a:p>
        </p:txBody>
      </p:sp>
      <p:sp>
        <p:nvSpPr>
          <p:cNvPr id="54275" name="Text Box 16">
            <a:extLst>
              <a:ext uri="{FF2B5EF4-FFF2-40B4-BE49-F238E27FC236}">
                <a16:creationId xmlns:a16="http://schemas.microsoft.com/office/drawing/2014/main" id="{A9716B0E-1FE3-46B7-9B85-13EDFF0FA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1130300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Subtraction Examples</a:t>
            </a:r>
          </a:p>
        </p:txBody>
      </p:sp>
      <p:graphicFrame>
        <p:nvGraphicFramePr>
          <p:cNvPr id="1269777" name="Group 17">
            <a:extLst>
              <a:ext uri="{FF2B5EF4-FFF2-40B4-BE49-F238E27FC236}">
                <a16:creationId xmlns:a16="http://schemas.microsoft.com/office/drawing/2014/main" id="{B18C45E7-7C63-410B-B27A-C1B011A19160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518025"/>
          <a:ext cx="3352800" cy="195897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0111 =   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+0111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=  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  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110 = -2 </a:t>
                      </a:r>
                      <a:r>
                        <a:rPr kumimoji="0" lang="en-GB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!!!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9783" name="Rectangle 23">
            <a:extLst>
              <a:ext uri="{FF2B5EF4-FFF2-40B4-BE49-F238E27FC236}">
                <a16:creationId xmlns:a16="http://schemas.microsoft.com/office/drawing/2014/main" id="{5C542ABD-5906-4CBB-9F90-6E0ADCE8D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079625"/>
            <a:ext cx="4000500" cy="649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(e) </a:t>
            </a:r>
            <a:r>
              <a:rPr lang="en-GB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7 – (-7)</a:t>
            </a: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</a:t>
            </a:r>
            <a:r>
              <a:rPr lang="en-GB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sym typeface="Symbol" pitchFamily="18" charset="2"/>
              </a:rPr>
              <a:t> 7 + (7)</a:t>
            </a:r>
          </a:p>
        </p:txBody>
      </p:sp>
      <p:sp>
        <p:nvSpPr>
          <p:cNvPr id="1269784" name="Rectangle 24">
            <a:extLst>
              <a:ext uri="{FF2B5EF4-FFF2-40B4-BE49-F238E27FC236}">
                <a16:creationId xmlns:a16="http://schemas.microsoft.com/office/drawing/2014/main" id="{4F48ABCD-560A-4769-A9A2-0980C23D5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375025"/>
            <a:ext cx="19050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7 = 0111</a:t>
            </a:r>
          </a:p>
        </p:txBody>
      </p:sp>
      <p:sp>
        <p:nvSpPr>
          <p:cNvPr id="1269785" name="Text Box 25">
            <a:extLst>
              <a:ext uri="{FF2B5EF4-FFF2-40B4-BE49-F238E27FC236}">
                <a16:creationId xmlns:a16="http://schemas.microsoft.com/office/drawing/2014/main" id="{5246E714-9D45-4793-AB1E-175769F1E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375025"/>
            <a:ext cx="3140075" cy="10175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Overflow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69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69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69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6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69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69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6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4" grpId="0"/>
      <p:bldP spid="126978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3">
            <a:extLst>
              <a:ext uri="{FF2B5EF4-FFF2-40B4-BE49-F238E27FC236}">
                <a16:creationId xmlns:a16="http://schemas.microsoft.com/office/drawing/2014/main" id="{FFEDEA5A-B10D-4B25-B7AF-838761648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-76200"/>
            <a:ext cx="76200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Subtraction in twos complement representation</a:t>
            </a:r>
          </a:p>
        </p:txBody>
      </p:sp>
      <p:graphicFrame>
        <p:nvGraphicFramePr>
          <p:cNvPr id="1271841" name="Group 33">
            <a:extLst>
              <a:ext uri="{FF2B5EF4-FFF2-40B4-BE49-F238E27FC236}">
                <a16:creationId xmlns:a16="http://schemas.microsoft.com/office/drawing/2014/main" id="{57934E96-E31A-4942-BC38-140DD6C85843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534988"/>
          <a:ext cx="6107113" cy="6042025"/>
        </p:xfrm>
        <a:graphic>
          <a:graphicData uri="http://schemas.openxmlformats.org/drawingml/2006/table">
            <a:tbl>
              <a:tblPr/>
              <a:tblGrid>
                <a:gridCol w="2973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40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0010 =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GB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1001</a:t>
                      </a: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=-7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1011 =-5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(a) M=2=0010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S =7=0111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-S=     1001    </a:t>
                      </a:r>
                    </a:p>
                  </a:txBody>
                  <a:tcPr marL="90003" marR="90003" marT="46808" marB="468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0101 =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GB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1110</a:t>
                      </a: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=-2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10011 =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(b) M=5=0101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S =2=0010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-S=     1110</a:t>
                      </a:r>
                    </a:p>
                  </a:txBody>
                  <a:tcPr marL="90003" marR="90003" marT="46808" marB="46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40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1011 =-5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GB" sz="18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1110</a:t>
                      </a: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=-2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11001 =-7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(c) M=-5=1011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S =2 =0010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-S=      1110    </a:t>
                      </a:r>
                    </a:p>
                  </a:txBody>
                  <a:tcPr marL="90003" marR="90003" marT="46808" marB="468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0101 =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GB" sz="18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0010</a:t>
                      </a: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0111 = 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(d) M=5 =0101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S =-2=1110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-S=      0010</a:t>
                      </a:r>
                    </a:p>
                  </a:txBody>
                  <a:tcPr marL="90003" marR="90003" marT="46808" marB="46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40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0111 = 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GB" sz="18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0111</a:t>
                      </a: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1110 =Overflow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(e) M=7 =0111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S =-7=1001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-S=      0111    </a:t>
                      </a:r>
                    </a:p>
                  </a:txBody>
                  <a:tcPr marL="90003" marR="90003" marT="46808" marB="468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1010 =-6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GB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1100</a:t>
                      </a: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=-4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10110 = Overflow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(f) M=-6=1010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S = 4 =0100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-S=       1100</a:t>
                      </a:r>
                    </a:p>
                  </a:txBody>
                  <a:tcPr marL="90003" marR="90003" marT="46808" marB="46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7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17968160-E307-4DF7-9BF8-FD13C41AC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066800"/>
            <a:ext cx="8301038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Figure suggest data paths and hardware elements needed to accomplish addition and subtraction.</a:t>
            </a:r>
          </a:p>
        </p:txBody>
      </p:sp>
      <p:sp>
        <p:nvSpPr>
          <p:cNvPr id="58371" name="Text Box 4">
            <a:extLst>
              <a:ext uri="{FF2B5EF4-FFF2-40B4-BE49-F238E27FC236}">
                <a16:creationId xmlns:a16="http://schemas.microsoft.com/office/drawing/2014/main" id="{ED6BF5CB-3158-4CA4-88BA-39F4B6F8C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346075"/>
            <a:ext cx="7620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Integer Arithmetic: Addition and Subtraction</a:t>
            </a:r>
          </a:p>
        </p:txBody>
      </p:sp>
      <p:pic>
        <p:nvPicPr>
          <p:cNvPr id="1155078" name="Picture 6">
            <a:extLst>
              <a:ext uri="{FF2B5EF4-FFF2-40B4-BE49-F238E27FC236}">
                <a16:creationId xmlns:a16="http://schemas.microsoft.com/office/drawing/2014/main" id="{04EED073-8C25-4809-86B0-9397D4158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5" y="1971675"/>
            <a:ext cx="4419600" cy="416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Text Box 7">
            <a:extLst>
              <a:ext uri="{FF2B5EF4-FFF2-40B4-BE49-F238E27FC236}">
                <a16:creationId xmlns:a16="http://schemas.microsoft.com/office/drawing/2014/main" id="{533B47F7-E43F-471B-BCFF-08B83D6A1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790700"/>
            <a:ext cx="4343400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Central element is </a:t>
            </a:r>
            <a:r>
              <a:rPr lang="en-GB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binary adder</a:t>
            </a: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, which is presented two numbers for addition and produces a sum and an overflow indication.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For addition</a:t>
            </a: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, two numbers are presented from two registers.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Result may be stored in one of these registers or in a third.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Overflow indication is stored in a 1-bit </a:t>
            </a:r>
            <a:r>
              <a:rPr lang="en-GB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overflow flag</a:t>
            </a: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0 = no overflow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1 = overflow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For subtraction</a:t>
            </a:r>
            <a:r>
              <a:rPr lang="en-GB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, subtrahend (B register) is passed through a twos complementer so that its twos complement is presented to adder.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ithmetic" id="{39EDF044-790F-4146-9E15-02864A71FF07}" vid="{656DBDA7-7B68-4EF5-81E6-D8F14CDEBC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arithmetic</Template>
  <TotalTime>1</TotalTime>
  <Words>1809</Words>
  <Application>Microsoft Office PowerPoint</Application>
  <PresentationFormat>Widescreen</PresentationFormat>
  <Paragraphs>424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Calibri</vt:lpstr>
      <vt:lpstr>Arial</vt:lpstr>
      <vt:lpstr>Calibri Light</vt:lpstr>
      <vt:lpstr>Times New Roman</vt:lpstr>
      <vt:lpstr>Wingdings</vt:lpstr>
      <vt:lpstr>Courier New</vt:lpstr>
      <vt:lpstr>Tahoma</vt:lpstr>
      <vt:lpstr>Symbol</vt:lpstr>
      <vt:lpstr>Office Theme</vt:lpstr>
      <vt:lpstr>COMPUTER ARITHMETIC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ARITHMETIC</dc:title>
  <dc:creator>skurge</dc:creator>
  <cp:lastModifiedBy>skurge</cp:lastModifiedBy>
  <cp:revision>1</cp:revision>
  <dcterms:created xsi:type="dcterms:W3CDTF">2024-01-19T01:48:32Z</dcterms:created>
  <dcterms:modified xsi:type="dcterms:W3CDTF">2024-01-19T01:50:11Z</dcterms:modified>
</cp:coreProperties>
</file>