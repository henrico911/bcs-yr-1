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6" r:id="rId3"/>
    <p:sldId id="257" r:id="rId4"/>
    <p:sldId id="258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 snapToGrid="0">
      <p:cViewPr varScale="1">
        <p:scale>
          <a:sx n="66" d="100"/>
          <a:sy n="66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8A753-0505-4192-86CE-488857240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F4F5D6-AA4B-4E38-97E1-8AD8C3653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94110-6391-40B2-9F2B-1E1C5FB1F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46F2-41EF-494B-8C6C-FDEB81F4A0F9}" type="datetimeFigureOut">
              <a:rPr lang="en-UG" smtClean="0"/>
              <a:t>17/01/2024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DC418-6503-49C2-AF50-3994C5AF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38FBD-B4EB-455E-AA30-519F48426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A358-CA92-45B5-823A-C51D3E79CA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9291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5DDFF-D722-4770-AC91-B405DCBA2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29D4A-2C51-4A9E-B393-3882A7E51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7EF6C-0B63-4852-A767-735FEC36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46F2-41EF-494B-8C6C-FDEB81F4A0F9}" type="datetimeFigureOut">
              <a:rPr lang="en-UG" smtClean="0"/>
              <a:t>17/01/2024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7AD69-AA1D-4C00-8D13-A759260F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35E6E-95E0-4666-84FA-B8631E430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A358-CA92-45B5-823A-C51D3E79CA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526444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398D-A3AA-4E68-A393-467D43B43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B8784-632F-4AEB-9392-6FB419870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BEE3F-8C6C-461B-BD43-8D8375A28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46F2-41EF-494B-8C6C-FDEB81F4A0F9}" type="datetimeFigureOut">
              <a:rPr lang="en-UG" smtClean="0"/>
              <a:t>17/01/2024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FBA3-9392-499F-8910-DD583D0A7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54EE1-A3A8-47B8-9597-2953C37A0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A358-CA92-45B5-823A-C51D3E79CA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254117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4A86D-2156-412F-9FED-AEDE28187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48CD8-7CE5-42DA-BB30-17854803E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B7F993-8D41-40E3-937C-B4BC1E06C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BA833D-589F-488F-B8EE-CE4027EFE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46F2-41EF-494B-8C6C-FDEB81F4A0F9}" type="datetimeFigureOut">
              <a:rPr lang="en-UG" smtClean="0"/>
              <a:t>17/01/2024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62AAB-22C3-45CE-B337-938FF985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BCA7D1-58DD-415A-952C-B8FB3723E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A358-CA92-45B5-823A-C51D3E79CA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3297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4D04-02FB-4FFA-97C8-5F0C914CE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24BE8-C2D1-4E89-99ED-AC7EC078E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C580A-2C97-409B-AEAF-2910D51CB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29ABC2-F400-44DB-94C3-B7D058DDF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BEB199-AEE5-48C2-A9BD-2564168DFF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17CC72-F88C-4C02-8102-D31B3E1F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46F2-41EF-494B-8C6C-FDEB81F4A0F9}" type="datetimeFigureOut">
              <a:rPr lang="en-UG" smtClean="0"/>
              <a:t>17/01/2024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F4DE50-4FD7-41D6-9121-719260B79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2F805A-E3C8-439B-980A-D91537625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A358-CA92-45B5-823A-C51D3E79CA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850878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B4A61-1571-40DA-8B1E-0650DCB1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85CC19-C7F5-4213-805E-54EB582DB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46F2-41EF-494B-8C6C-FDEB81F4A0F9}" type="datetimeFigureOut">
              <a:rPr lang="en-UG" smtClean="0"/>
              <a:t>17/01/2024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5D1E81-82F4-47A8-AD1F-5B0B16CE7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507EA-FD5B-4AA0-A67E-DF16AD7B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A358-CA92-45B5-823A-C51D3E79CA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56140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07F9C-8893-4A11-8531-FBC8F2CD4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46F2-41EF-494B-8C6C-FDEB81F4A0F9}" type="datetimeFigureOut">
              <a:rPr lang="en-UG" smtClean="0"/>
              <a:t>17/01/2024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2B808-E12B-4D67-89D6-3C24B1D98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EE647-ED05-434E-B713-400C65B54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A358-CA92-45B5-823A-C51D3E79CA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1338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8CAC-ABA9-42FF-82BF-D5B209DD2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BB03F-7AD8-4EFF-A1A0-29FA94109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0AEF8-0231-46A8-86C0-095099B61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49A69-3B23-4069-B360-1307D1B8F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46F2-41EF-494B-8C6C-FDEB81F4A0F9}" type="datetimeFigureOut">
              <a:rPr lang="en-UG" smtClean="0"/>
              <a:t>17/01/2024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ED62EE-025B-4B98-B04B-1A3A55E29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BD6C1-F82D-4277-9D86-CCA1C417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A358-CA92-45B5-823A-C51D3E79CA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279099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8814E-6E97-4A01-A18A-AFCB7EBC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56324C-DB4D-4725-A01B-0CD14F2632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C1220-CB18-41CC-96DD-FCA80C97A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C765F-8D68-47B4-8272-F68A28A6A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46F2-41EF-494B-8C6C-FDEB81F4A0F9}" type="datetimeFigureOut">
              <a:rPr lang="en-UG" smtClean="0"/>
              <a:t>17/01/2024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A17C2-2C34-46B8-9B7D-AF9D16632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4F59D-E793-46E6-954B-91BEC2847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A358-CA92-45B5-823A-C51D3E79CA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315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70187-D8C6-4DE3-9B50-4A18E3689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AFAEAA-AD16-4256-BCB5-8F0E38C33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E61C5-9DE0-4FF3-BC16-3B58F0A38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46F2-41EF-494B-8C6C-FDEB81F4A0F9}" type="datetimeFigureOut">
              <a:rPr lang="en-UG" smtClean="0"/>
              <a:t>17/01/2024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F19F1-0537-4E4B-9ABE-31AAB233D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5C1A2-7162-446F-BA1A-EE1775DF5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A358-CA92-45B5-823A-C51D3E79CA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08698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1F2488-4FF6-4865-AD9A-7EA355B64F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EAB05F-E6AE-48A7-AFFC-92A221328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16F50-4A0C-41F3-BD2E-D0AE10A17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446F2-41EF-494B-8C6C-FDEB81F4A0F9}" type="datetimeFigureOut">
              <a:rPr lang="en-UG" smtClean="0"/>
              <a:t>17/01/2024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D3957-4F18-4AE6-9851-97A0121A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F21D9-9D9C-43EF-8FF7-9498D509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A358-CA92-45B5-823A-C51D3E79CA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6764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678A56-FAA1-406A-8B22-3AB86190E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C2782-CCF9-4429-96F2-27D1D0F36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93AE1-DC66-48F1-BE50-EF6F94DF38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446F2-41EF-494B-8C6C-FDEB81F4A0F9}" type="datetimeFigureOut">
              <a:rPr lang="en-UG" smtClean="0"/>
              <a:t>17/01/2024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37F91-9031-4572-8B1B-249B43FDA1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3FEE6-B483-40B2-A043-F1FB3E90E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A358-CA92-45B5-823A-C51D3E79CA17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62986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BCS 1202: STRUCTURED PROGRAMMING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150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D3794-F8F0-4BAB-9044-106B61676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1707"/>
            <a:ext cx="9144000" cy="1311121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Lecturer Details</a:t>
            </a:r>
            <a:endParaRPr lang="en-UG" b="1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65341B-67BE-49D4-B753-C5E79632F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1665" y="1592829"/>
            <a:ext cx="10604089" cy="4983464"/>
          </a:xfrm>
        </p:spPr>
        <p:txBody>
          <a:bodyPr>
            <a:normAutofit fontScale="92500" lnSpcReduction="20000"/>
          </a:bodyPr>
          <a:lstStyle/>
          <a:p>
            <a:endParaRPr lang="en-US" sz="3600" b="1" dirty="0" smtClean="0"/>
          </a:p>
          <a:p>
            <a:r>
              <a:rPr lang="en-US" sz="3600" b="1" dirty="0" smtClean="0"/>
              <a:t>Mr</a:t>
            </a:r>
            <a:r>
              <a:rPr lang="en-US" sz="3600" b="1" dirty="0"/>
              <a:t>. Baranga </a:t>
            </a:r>
            <a:r>
              <a:rPr lang="en-US" sz="3600" b="1" dirty="0" smtClean="0"/>
              <a:t>Peter</a:t>
            </a:r>
          </a:p>
          <a:p>
            <a:endParaRPr lang="en-US" sz="3600" b="1" dirty="0"/>
          </a:p>
          <a:p>
            <a:r>
              <a:rPr lang="en-US" sz="3600" b="1" dirty="0" err="1"/>
              <a:t>Msc</a:t>
            </a:r>
            <a:r>
              <a:rPr lang="en-US" sz="3600" b="1" dirty="0"/>
              <a:t>. Information Systems</a:t>
            </a:r>
          </a:p>
          <a:p>
            <a:r>
              <a:rPr lang="en-US" sz="3600" b="1" dirty="0" err="1"/>
              <a:t>Bsc</a:t>
            </a:r>
            <a:r>
              <a:rPr lang="en-US" sz="3600" b="1" dirty="0"/>
              <a:t>. Computer Science</a:t>
            </a:r>
          </a:p>
          <a:p>
            <a:r>
              <a:rPr lang="en-US" sz="3600" b="1" dirty="0"/>
              <a:t>Advanced. Certificate Network Security</a:t>
            </a:r>
          </a:p>
          <a:p>
            <a:endParaRPr lang="en-US" sz="3600" b="1" dirty="0"/>
          </a:p>
          <a:p>
            <a:r>
              <a:rPr lang="en-US" sz="3600" b="1" dirty="0"/>
              <a:t>0701-310089</a:t>
            </a:r>
          </a:p>
          <a:p>
            <a:r>
              <a:rPr lang="en-US" sz="3600" b="1" dirty="0"/>
              <a:t>0782-310089</a:t>
            </a:r>
          </a:p>
          <a:p>
            <a:r>
              <a:rPr lang="en-US" sz="3600" b="1" dirty="0" smtClean="0"/>
              <a:t>barangaster@gmail.com</a:t>
            </a:r>
            <a:endParaRPr lang="en-US" sz="3600" b="1" dirty="0"/>
          </a:p>
          <a:p>
            <a:endParaRPr lang="en-US" sz="3600" b="1" dirty="0"/>
          </a:p>
          <a:p>
            <a:endParaRPr lang="en-UG" sz="3600" b="1" dirty="0"/>
          </a:p>
        </p:txBody>
      </p:sp>
    </p:spTree>
    <p:extLst>
      <p:ext uri="{BB962C8B-B14F-4D97-AF65-F5344CB8AC3E}">
        <p14:creationId xmlns:p14="http://schemas.microsoft.com/office/powerpoint/2010/main" val="86829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D0F98-1A1B-4141-8B98-39B0B5F73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17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Outline </a:t>
            </a:r>
            <a:endParaRPr lang="en-U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E34B7-C7CE-4F24-8251-F6C9AB1CB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1097"/>
            <a:ext cx="10515600" cy="4775866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Introduction to Programming</a:t>
            </a:r>
          </a:p>
          <a:p>
            <a:r>
              <a:rPr lang="en-US" dirty="0" smtClean="0"/>
              <a:t>Requirements</a:t>
            </a:r>
            <a:endParaRPr lang="en-US" dirty="0"/>
          </a:p>
          <a:p>
            <a:r>
              <a:rPr lang="en-US" dirty="0" smtClean="0"/>
              <a:t>Brief history of C programming language</a:t>
            </a:r>
            <a:endParaRPr lang="en-US" dirty="0"/>
          </a:p>
          <a:p>
            <a:r>
              <a:rPr lang="en-US" dirty="0" smtClean="0"/>
              <a:t>Steps of preparing a program</a:t>
            </a:r>
            <a:endParaRPr lang="en-US" dirty="0"/>
          </a:p>
          <a:p>
            <a:r>
              <a:rPr lang="en-US" dirty="0" smtClean="0"/>
              <a:t>The Program development life cycle</a:t>
            </a:r>
          </a:p>
          <a:p>
            <a:pPr marL="739775" indent="0">
              <a:buFont typeface="Wingdings" panose="05000000000000000000" pitchFamily="2" charset="2"/>
              <a:buChar char="ü"/>
            </a:pPr>
            <a:r>
              <a:rPr lang="en-US" dirty="0" smtClean="0"/>
              <a:t>Creating the source code</a:t>
            </a:r>
          </a:p>
          <a:p>
            <a:pPr marL="739775" indent="0">
              <a:buFont typeface="Wingdings" panose="05000000000000000000" pitchFamily="2" charset="2"/>
              <a:buChar char="ü"/>
            </a:pPr>
            <a:r>
              <a:rPr lang="en-US" dirty="0" smtClean="0"/>
              <a:t>Compiling the source code</a:t>
            </a:r>
          </a:p>
          <a:p>
            <a:pPr marL="739775" indent="0">
              <a:buFont typeface="Wingdings" panose="05000000000000000000" pitchFamily="2" charset="2"/>
              <a:buChar char="ü"/>
            </a:pPr>
            <a:r>
              <a:rPr lang="en-US" dirty="0" smtClean="0"/>
              <a:t>Creating an executable file</a:t>
            </a:r>
          </a:p>
          <a:p>
            <a:pPr marL="739775" indent="0">
              <a:buFont typeface="Wingdings" panose="05000000000000000000" pitchFamily="2" charset="2"/>
              <a:buChar char="ü"/>
            </a:pPr>
            <a:r>
              <a:rPr lang="en-US" dirty="0" smtClean="0"/>
              <a:t>Completing the development cycle</a:t>
            </a:r>
            <a:endParaRPr lang="en-US" dirty="0"/>
          </a:p>
          <a:p>
            <a:r>
              <a:rPr lang="en-US" dirty="0" smtClean="0"/>
              <a:t>Creating our first C program</a:t>
            </a:r>
            <a:endParaRPr lang="en-US" dirty="0"/>
          </a:p>
          <a:p>
            <a:r>
              <a:rPr lang="en-US" dirty="0" smtClean="0"/>
              <a:t>Recap of the lecture</a:t>
            </a:r>
            <a:endParaRPr lang="en-US" dirty="0"/>
          </a:p>
          <a:p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98384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57B-9F7D-40D4-8443-28BD76B9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66" y="136519"/>
            <a:ext cx="10515600" cy="85408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Introduction to programming  </a:t>
            </a: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endParaRPr lang="en-U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FAA1-4139-415D-9180-4E18ECDE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9" y="794657"/>
            <a:ext cx="11533238" cy="569821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What is a computer programming language: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 computer language is a series of words used to give instructions to the computer, telling it what to do, how to do it, and when to do it.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Just </a:t>
            </a:r>
            <a:r>
              <a:rPr lang="en-US" dirty="0"/>
              <a:t>like there are various human languages used to communicate, there are also various computer languages.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One </a:t>
            </a:r>
            <a:r>
              <a:rPr lang="en-US" dirty="0"/>
              <a:t>of these computer languages is called </a:t>
            </a:r>
            <a:r>
              <a:rPr lang="en-US" dirty="0" smtClean="0"/>
              <a:t>C.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 our lessons, we will learn </a:t>
            </a:r>
            <a:r>
              <a:rPr lang="en-US" dirty="0" smtClean="0"/>
              <a:t>C </a:t>
            </a:r>
            <a:r>
              <a:rPr lang="en-US" dirty="0"/>
              <a:t>as a computer language not as a development environment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This means that we will primarily build applications that show how this language functions, not how to create graphical applications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50775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57B-9F7D-40D4-8443-28BD76B9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66" y="136519"/>
            <a:ext cx="10515600" cy="85408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Requirements</a:t>
            </a: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endParaRPr lang="en-U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FAA1-4139-415D-9180-4E18ECDE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9" y="794657"/>
            <a:ext cx="11533238" cy="5698218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What will be needed: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Text editor. </a:t>
            </a:r>
            <a:r>
              <a:rPr lang="en-US" dirty="0" smtClean="0"/>
              <a:t>(Notepad, </a:t>
            </a:r>
            <a:r>
              <a:rPr lang="en-US" dirty="0" err="1" smtClean="0"/>
              <a:t>NotePad</a:t>
            </a:r>
            <a:r>
              <a:rPr lang="en-US" dirty="0" smtClean="0"/>
              <a:t>++….)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Compiler. (Dev-</a:t>
            </a:r>
            <a:r>
              <a:rPr lang="en-US" dirty="0" err="1" smtClean="0"/>
              <a:t>Cpp</a:t>
            </a:r>
            <a:r>
              <a:rPr lang="en-US" dirty="0" smtClean="0"/>
              <a:t>, </a:t>
            </a:r>
            <a:r>
              <a:rPr lang="en-US" dirty="0" err="1" smtClean="0"/>
              <a:t>Gcc</a:t>
            </a:r>
            <a:r>
              <a:rPr lang="en-US" dirty="0" smtClean="0"/>
              <a:t>…..)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solidFill>
                  <a:srgbClr val="FF0000"/>
                </a:solidFill>
              </a:rPr>
              <a:t>Install a compiler on your Laptops!!</a:t>
            </a:r>
          </a:p>
        </p:txBody>
      </p:sp>
    </p:spTree>
    <p:extLst>
      <p:ext uri="{BB962C8B-B14F-4D97-AF65-F5344CB8AC3E}">
        <p14:creationId xmlns:p14="http://schemas.microsoft.com/office/powerpoint/2010/main" val="176294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57B-9F7D-40D4-8443-28BD76B9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66" y="136519"/>
            <a:ext cx="10515600" cy="85408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Brief History of C </a:t>
            </a: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endParaRPr lang="en-U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FAA1-4139-415D-9180-4E18ECDE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9" y="794657"/>
            <a:ext cx="11533238" cy="569821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</a:t>
            </a:r>
            <a:r>
              <a:rPr lang="en-US" dirty="0" smtClean="0"/>
              <a:t>reated by Dennis </a:t>
            </a:r>
            <a:r>
              <a:rPr lang="en-US" dirty="0"/>
              <a:t>Ritchie at the Bell Telephone Laboratories in 1972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Created to help in designing </a:t>
            </a:r>
            <a:r>
              <a:rPr lang="en-US" dirty="0"/>
              <a:t>the UNIX operating system (which is used on many computers</a:t>
            </a:r>
            <a:r>
              <a:rPr lang="en-US" dirty="0" smtClean="0"/>
              <a:t>).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Because C is such a powerful and flexible language, its use quickly spread beyond Bell Labs.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American National </a:t>
            </a:r>
            <a:r>
              <a:rPr lang="en-US" dirty="0" smtClean="0"/>
              <a:t>Standards Institute </a:t>
            </a:r>
            <a:r>
              <a:rPr lang="en-US" dirty="0"/>
              <a:t>(ANSI) formed a committee in 1983 to establish a standard definition of C, which </a:t>
            </a:r>
            <a:r>
              <a:rPr lang="en-US" dirty="0" smtClean="0"/>
              <a:t>became known </a:t>
            </a:r>
            <a:r>
              <a:rPr lang="en-US" dirty="0"/>
              <a:t>as ANSI Standard C.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Every </a:t>
            </a:r>
            <a:r>
              <a:rPr lang="en-US" dirty="0"/>
              <a:t>modern C compiler has the ability to adhere </a:t>
            </a:r>
            <a:r>
              <a:rPr lang="en-US" dirty="0" smtClean="0"/>
              <a:t>to this </a:t>
            </a:r>
            <a:r>
              <a:rPr lang="en-US" dirty="0"/>
              <a:t>standard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rgbClr val="FF0000"/>
                </a:solidFill>
              </a:rPr>
              <a:t>Now, what about the name? </a:t>
            </a:r>
            <a:endParaRPr lang="en-US" b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The </a:t>
            </a:r>
            <a:r>
              <a:rPr lang="en-US" dirty="0"/>
              <a:t>C language is so named because its predecessor was called B.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The B language </a:t>
            </a:r>
            <a:r>
              <a:rPr lang="en-US" dirty="0"/>
              <a:t>was developed by Ken Thompson of Bell Labs. You should be able to guess why it was </a:t>
            </a:r>
            <a:r>
              <a:rPr lang="en-US" dirty="0" smtClean="0"/>
              <a:t>called B</a:t>
            </a:r>
            <a:r>
              <a:rPr lang="en-US" dirty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4299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57B-9F7D-40D4-8443-28BD76B9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66" y="136519"/>
            <a:ext cx="10515600" cy="85408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Steps of preparing a program</a:t>
            </a: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endParaRPr lang="en-U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FAA1-4139-415D-9180-4E18ECDE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794657"/>
            <a:ext cx="11798358" cy="569821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You should take certain steps when you're solving a problem. 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First</a:t>
            </a:r>
            <a:r>
              <a:rPr lang="en-US" dirty="0"/>
              <a:t>, you must define the problem. If </a:t>
            </a:r>
            <a:r>
              <a:rPr lang="en-US" dirty="0" smtClean="0"/>
              <a:t>you don't </a:t>
            </a:r>
            <a:r>
              <a:rPr lang="en-US" dirty="0"/>
              <a:t>know what the problem is, you can't find a solution!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Once </a:t>
            </a:r>
            <a:r>
              <a:rPr lang="en-US" dirty="0"/>
              <a:t>you know what the problem is, you </a:t>
            </a:r>
            <a:r>
              <a:rPr lang="en-US" dirty="0" smtClean="0"/>
              <a:t>can devise </a:t>
            </a:r>
            <a:r>
              <a:rPr lang="en-US" dirty="0"/>
              <a:t>a plan to fix it.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Once </a:t>
            </a:r>
            <a:r>
              <a:rPr lang="en-US" dirty="0"/>
              <a:t>you have a plan, you can usually implement it.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Once </a:t>
            </a:r>
            <a:r>
              <a:rPr lang="en-US" dirty="0"/>
              <a:t>the plan </a:t>
            </a:r>
            <a:r>
              <a:rPr lang="en-US" dirty="0" smtClean="0"/>
              <a:t>is implemented</a:t>
            </a:r>
            <a:r>
              <a:rPr lang="en-US" dirty="0"/>
              <a:t>, you must test the results to see whether the problem is solved.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>
                <a:solidFill>
                  <a:srgbClr val="FF0000"/>
                </a:solidFill>
              </a:rPr>
              <a:t>This </a:t>
            </a:r>
            <a:r>
              <a:rPr lang="en-US" b="1" dirty="0">
                <a:solidFill>
                  <a:srgbClr val="FF0000"/>
                </a:solidFill>
              </a:rPr>
              <a:t>same logic can </a:t>
            </a:r>
            <a:r>
              <a:rPr lang="en-US" b="1" dirty="0" smtClean="0">
                <a:solidFill>
                  <a:srgbClr val="FF0000"/>
                </a:solidFill>
              </a:rPr>
              <a:t>be applied </a:t>
            </a:r>
            <a:r>
              <a:rPr lang="en-US" b="1" dirty="0">
                <a:solidFill>
                  <a:srgbClr val="FF0000"/>
                </a:solidFill>
              </a:rPr>
              <a:t>to many other areas, including programming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When creating a program in C (or for that matter, a computer program in any language), you </a:t>
            </a:r>
            <a:r>
              <a:rPr lang="en-US" dirty="0" smtClean="0"/>
              <a:t>should:</a:t>
            </a:r>
          </a:p>
          <a:p>
            <a:pPr marL="860425" indent="228600">
              <a:buFont typeface="+mj-lt"/>
              <a:buAutoNum type="arabicPeriod"/>
            </a:pPr>
            <a:r>
              <a:rPr lang="en-US" b="1" dirty="0" smtClean="0"/>
              <a:t> Determine the objective(s) of the program.</a:t>
            </a:r>
          </a:p>
          <a:p>
            <a:pPr marL="860425" indent="228600">
              <a:buFont typeface="+mj-lt"/>
              <a:buAutoNum type="arabicPeriod"/>
            </a:pPr>
            <a:r>
              <a:rPr lang="en-US" b="1" dirty="0" smtClean="0"/>
              <a:t>Determine </a:t>
            </a:r>
            <a:r>
              <a:rPr lang="en-US" b="1" dirty="0"/>
              <a:t>the methods you want to use in writing the </a:t>
            </a:r>
            <a:r>
              <a:rPr lang="en-US" b="1" dirty="0" smtClean="0"/>
              <a:t>program.</a:t>
            </a:r>
          </a:p>
          <a:p>
            <a:pPr marL="860425" indent="228600">
              <a:buFont typeface="+mj-lt"/>
              <a:buAutoNum type="arabicPeriod"/>
            </a:pPr>
            <a:r>
              <a:rPr lang="en-US" b="1" dirty="0" smtClean="0"/>
              <a:t>Create </a:t>
            </a:r>
            <a:r>
              <a:rPr lang="en-US" b="1" dirty="0"/>
              <a:t>the program to solve the problem.</a:t>
            </a:r>
          </a:p>
          <a:p>
            <a:pPr marL="860425" indent="228600">
              <a:buFont typeface="+mj-lt"/>
              <a:buAutoNum type="arabicPeriod"/>
            </a:pPr>
            <a:r>
              <a:rPr lang="en-US" b="1" dirty="0" smtClean="0"/>
              <a:t>Run </a:t>
            </a:r>
            <a:r>
              <a:rPr lang="en-US" b="1" dirty="0"/>
              <a:t>the program to see the results.</a:t>
            </a:r>
            <a:endParaRPr lang="en-US" b="1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48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1FAA1-4139-415D-9180-4E18ECDE9A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7714" y="195943"/>
                <a:ext cx="11787473" cy="6487886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 smtClean="0"/>
                  <a:t>As an example, let’s assume that someone asks you to write a program to determine the area of </a:t>
                </a:r>
                <a:r>
                  <a:rPr lang="en-US" dirty="0"/>
                  <a:t>a circle.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b="1" dirty="0"/>
                  <a:t>Step 1 </a:t>
                </a:r>
                <a:r>
                  <a:rPr lang="en-US" dirty="0"/>
                  <a:t>is complete, because you know your objective: </a:t>
                </a:r>
                <a:r>
                  <a:rPr lang="en-US" dirty="0">
                    <a:solidFill>
                      <a:srgbClr val="FF0000"/>
                    </a:solidFill>
                  </a:rPr>
                  <a:t>determine the area </a:t>
                </a:r>
                <a:r>
                  <a:rPr lang="en-US" dirty="0" smtClean="0">
                    <a:solidFill>
                      <a:srgbClr val="FF0000"/>
                    </a:solidFill>
                  </a:rPr>
                  <a:t>of a circle</a:t>
                </a:r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  <a:r>
                  <a:rPr lang="en-US" dirty="0"/>
                  <a:t> </a:t>
                </a:r>
                <a:endParaRPr lang="en-US" dirty="0" smtClean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b="1" dirty="0" smtClean="0"/>
                  <a:t>Step </a:t>
                </a:r>
                <a:r>
                  <a:rPr lang="en-US" b="1" dirty="0"/>
                  <a:t>2 </a:t>
                </a:r>
                <a:r>
                  <a:rPr lang="en-US" dirty="0"/>
                  <a:t>is </a:t>
                </a:r>
                <a:r>
                  <a:rPr lang="en-US" dirty="0" smtClean="0"/>
                  <a:t>to determine </a:t>
                </a:r>
                <a:r>
                  <a:rPr lang="en-US" dirty="0"/>
                  <a:t>what you need to </a:t>
                </a:r>
                <a:r>
                  <a:rPr lang="en-US" dirty="0" smtClean="0"/>
                  <a:t>know in order to compute the </a:t>
                </a:r>
                <a:r>
                  <a:rPr lang="en-US" dirty="0"/>
                  <a:t>area. </a:t>
                </a:r>
                <a:endParaRPr lang="en-US" dirty="0" smtClean="0"/>
              </a:p>
              <a:p>
                <a:pPr marL="968375" indent="4572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i="1" smtClean="0">
                        <a:latin typeface="Cambria Math" panose="02040503050406030204" pitchFamily="18" charset="0"/>
                      </a:rPr>
                      <m:t>𝜋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 smtClean="0"/>
              </a:p>
              <a:p>
                <a:pPr marL="968375" indent="45720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/>
                      <m:t>3.141</m:t>
                    </m:r>
                    <m:r>
                      <m:rPr>
                        <m:nor/>
                      </m:rPr>
                      <a:rPr lang="en-US" b="0" i="0" smtClean="0"/>
                      <m:t>6</m:t>
                    </m:r>
                  </m:oMath>
                </a14:m>
                <a:endParaRPr lang="en-US" dirty="0" smtClean="0"/>
              </a:p>
              <a:p>
                <a:pPr marL="968375" indent="457200">
                  <a:buFont typeface="+mj-lt"/>
                  <a:buAutoNum type="romanLcPeriod"/>
                </a:pPr>
                <a:r>
                  <a:rPr lang="en-US" dirty="0" smtClean="0"/>
                  <a:t>Will the radius of the circle be provided or the user will input the radius he or she wants??</a:t>
                </a:r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 smtClean="0"/>
                  <a:t>Now </a:t>
                </a:r>
                <a:r>
                  <a:rPr lang="en-US" dirty="0"/>
                  <a:t>you have the pieces you need, so you can continue to </a:t>
                </a:r>
                <a:r>
                  <a:rPr lang="en-US" b="1" dirty="0"/>
                  <a:t>steps 3 and </a:t>
                </a:r>
                <a:r>
                  <a:rPr lang="en-US" b="1" dirty="0" smtClean="0"/>
                  <a:t>4</a:t>
                </a:r>
                <a:r>
                  <a:rPr lang="en-US" dirty="0"/>
                  <a:t>.</a:t>
                </a:r>
                <a:endParaRPr lang="en-US" dirty="0" smtClean="0"/>
              </a:p>
              <a:p>
                <a:pPr>
                  <a:buFont typeface="Wingdings" panose="05000000000000000000" pitchFamily="2" charset="2"/>
                  <a:buChar char="ü"/>
                </a:pPr>
                <a:r>
                  <a:rPr lang="en-US" dirty="0" smtClean="0"/>
                  <a:t>The above steps make up what is called the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Program </a:t>
                </a:r>
                <a:r>
                  <a:rPr lang="en-US" b="1" dirty="0">
                    <a:solidFill>
                      <a:srgbClr val="FF0000"/>
                    </a:solidFill>
                  </a:rPr>
                  <a:t>Development Cycle.</a:t>
                </a:r>
                <a:endParaRPr lang="en-US" b="1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1FAA1-4139-415D-9180-4E18ECDE9A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7714" y="195943"/>
                <a:ext cx="11787473" cy="6487886"/>
              </a:xfrm>
              <a:blipFill>
                <a:blip r:embed="rId2"/>
                <a:stretch>
                  <a:fillRect l="-931" t="-1504" r="-8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978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57B-9F7D-40D4-8443-28BD76B9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66" y="136519"/>
            <a:ext cx="10515600" cy="85408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The Program Development Life Cycle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FAA1-4139-415D-9180-4E18ECDE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794657"/>
            <a:ext cx="11907216" cy="587828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Program Development Cycle </a:t>
            </a:r>
            <a:r>
              <a:rPr lang="en-US" dirty="0" smtClean="0"/>
              <a:t>has the following steps</a:t>
            </a:r>
            <a:r>
              <a:rPr lang="en-US" dirty="0"/>
              <a:t>. </a:t>
            </a:r>
            <a:endParaRPr lang="en-US" dirty="0" smtClean="0"/>
          </a:p>
          <a:p>
            <a:pPr marL="1600200" indent="-338138">
              <a:buFont typeface="+mj-lt"/>
              <a:buAutoNum type="arabicPeriod"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first step, you use an editor to create a disk </a:t>
            </a:r>
            <a:r>
              <a:rPr lang="en-US" dirty="0" smtClean="0"/>
              <a:t>file containing </a:t>
            </a:r>
            <a:r>
              <a:rPr lang="en-US" dirty="0"/>
              <a:t>your source code</a:t>
            </a:r>
            <a:r>
              <a:rPr lang="en-US" dirty="0" smtClean="0"/>
              <a:t>.</a:t>
            </a:r>
          </a:p>
          <a:p>
            <a:pPr marL="1600200" indent="-338138">
              <a:buFont typeface="+mj-lt"/>
              <a:buAutoNum type="arabicPeriod"/>
            </a:pPr>
            <a:r>
              <a:rPr lang="en-US" dirty="0" smtClean="0"/>
              <a:t> </a:t>
            </a:r>
            <a:r>
              <a:rPr lang="en-US" dirty="0"/>
              <a:t>In the second step, you compile the source code to create an object file</a:t>
            </a:r>
            <a:r>
              <a:rPr lang="en-US" dirty="0" smtClean="0"/>
              <a:t>.</a:t>
            </a:r>
          </a:p>
          <a:p>
            <a:pPr marL="1600200" indent="-338138">
              <a:buFont typeface="+mj-lt"/>
              <a:buAutoNum type="arabicPeriod"/>
            </a:pPr>
            <a:r>
              <a:rPr lang="en-US" dirty="0" smtClean="0"/>
              <a:t> In the </a:t>
            </a:r>
            <a:r>
              <a:rPr lang="en-US" dirty="0"/>
              <a:t>third step, you link the compiled code to create an executable file. </a:t>
            </a:r>
            <a:endParaRPr lang="en-US" dirty="0" smtClean="0"/>
          </a:p>
          <a:p>
            <a:pPr marL="1600200" indent="-338138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fourth step is to run </a:t>
            </a:r>
            <a:r>
              <a:rPr lang="en-US" dirty="0" smtClean="0"/>
              <a:t>the program </a:t>
            </a:r>
            <a:r>
              <a:rPr lang="en-US" dirty="0"/>
              <a:t>to see whether it works as originally planned.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3386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57B-9F7D-40D4-8443-28BD76B9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66" y="136519"/>
            <a:ext cx="10515600" cy="85408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Creating the Source Code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FAA1-4139-415D-9180-4E18ECDE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794657"/>
            <a:ext cx="11907216" cy="587828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/>
              <a:t>What is a source code??</a:t>
            </a:r>
          </a:p>
          <a:p>
            <a:pPr marL="1089025"/>
            <a:r>
              <a:rPr lang="en-US" i="1" dirty="0" smtClean="0"/>
              <a:t>A Source </a:t>
            </a:r>
            <a:r>
              <a:rPr lang="en-US" i="1" dirty="0"/>
              <a:t>code is a series of statements or commands that are used to instruct the computer to perform </a:t>
            </a:r>
            <a:r>
              <a:rPr lang="en-US" i="1" dirty="0" smtClean="0"/>
              <a:t>your </a:t>
            </a:r>
            <a:r>
              <a:rPr lang="en-US" dirty="0" smtClean="0"/>
              <a:t>desired </a:t>
            </a:r>
            <a:r>
              <a:rPr lang="en-US" dirty="0"/>
              <a:t>tasks</a:t>
            </a:r>
            <a:r>
              <a:rPr lang="en-US" dirty="0" smtClean="0"/>
              <a:t>.</a:t>
            </a:r>
          </a:p>
          <a:p>
            <a:pPr marL="1089025"/>
            <a:r>
              <a:rPr lang="en-US" b="1" dirty="0" err="1" smtClean="0"/>
              <a:t>E.g</a:t>
            </a:r>
            <a:r>
              <a:rPr lang="en-US" b="1" dirty="0" smtClean="0"/>
              <a:t>  </a:t>
            </a:r>
            <a:r>
              <a:rPr lang="en-US" dirty="0" err="1" smtClean="0">
                <a:solidFill>
                  <a:srgbClr val="FF0000"/>
                </a:solidFill>
              </a:rPr>
              <a:t>printf</a:t>
            </a:r>
            <a:r>
              <a:rPr lang="en-US" dirty="0" smtClean="0">
                <a:solidFill>
                  <a:srgbClr val="FF0000"/>
                </a:solidFill>
              </a:rPr>
              <a:t>(“My First C Program!!");</a:t>
            </a:r>
          </a:p>
          <a:p>
            <a:pPr marL="1089025"/>
            <a:r>
              <a:rPr lang="en-US" dirty="0" smtClean="0"/>
              <a:t>The above </a:t>
            </a:r>
            <a:r>
              <a:rPr lang="en-US" dirty="0"/>
              <a:t>statement instructs the computer to </a:t>
            </a:r>
            <a:r>
              <a:rPr lang="en-US" dirty="0">
                <a:solidFill>
                  <a:srgbClr val="FF0000"/>
                </a:solidFill>
              </a:rPr>
              <a:t>display</a:t>
            </a:r>
            <a:r>
              <a:rPr lang="en-US" dirty="0"/>
              <a:t> the message </a:t>
            </a:r>
            <a:r>
              <a:rPr lang="en-US" dirty="0" smtClean="0">
                <a:solidFill>
                  <a:srgbClr val="FF0000"/>
                </a:solidFill>
              </a:rPr>
              <a:t>My First C Program!!</a:t>
            </a:r>
            <a:r>
              <a:rPr lang="en-US" dirty="0" smtClean="0"/>
              <a:t> </a:t>
            </a:r>
            <a:r>
              <a:rPr lang="en-US" dirty="0"/>
              <a:t>on-screen. (For now, </a:t>
            </a:r>
            <a:r>
              <a:rPr lang="en-US" dirty="0" smtClean="0"/>
              <a:t>don't worry </a:t>
            </a:r>
            <a:r>
              <a:rPr lang="en-US" dirty="0"/>
              <a:t>about how this statement works</a:t>
            </a:r>
            <a:r>
              <a:rPr lang="en-US" dirty="0" smtClean="0"/>
              <a:t>.)</a:t>
            </a:r>
            <a:endParaRPr lang="en-US" b="1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The source code is typed in an text editor. This is the area where the source code of any program is typed.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Almost all modern day compilers </a:t>
            </a:r>
            <a:r>
              <a:rPr lang="en-US" dirty="0"/>
              <a:t>come with a built-in editor that can be used to enter source </a:t>
            </a:r>
            <a:r>
              <a:rPr lang="en-US" dirty="0" smtClean="0"/>
              <a:t>code.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When you save a source file, you must give it a name. The name should describe what the program </a:t>
            </a:r>
            <a:r>
              <a:rPr lang="en-US" dirty="0" smtClean="0"/>
              <a:t>does. </a:t>
            </a:r>
            <a:r>
              <a:rPr lang="en-US" dirty="0" err="1" smtClean="0">
                <a:solidFill>
                  <a:srgbClr val="FF0000"/>
                </a:solidFill>
              </a:rPr>
              <a:t>E.g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circleArea</a:t>
            </a:r>
            <a:r>
              <a:rPr lang="en-US" dirty="0" smtClean="0">
                <a:solidFill>
                  <a:srgbClr val="FF0000"/>
                </a:solidFill>
              </a:rPr>
              <a:t> or </a:t>
            </a:r>
            <a:r>
              <a:rPr lang="en-US" dirty="0" err="1" smtClean="0">
                <a:solidFill>
                  <a:srgbClr val="FF0000"/>
                </a:solidFill>
              </a:rPr>
              <a:t>AreaOfCircle</a:t>
            </a:r>
            <a:endParaRPr lang="en-US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W</a:t>
            </a:r>
            <a:r>
              <a:rPr lang="en-US" dirty="0" smtClean="0"/>
              <a:t>hen </a:t>
            </a:r>
            <a:r>
              <a:rPr lang="en-US" dirty="0"/>
              <a:t>you save C program source files, give the file a </a:t>
            </a:r>
            <a:r>
              <a:rPr lang="en-US" dirty="0">
                <a:solidFill>
                  <a:srgbClr val="FF0000"/>
                </a:solidFill>
              </a:rPr>
              <a:t>.C extension</a:t>
            </a:r>
            <a:r>
              <a:rPr lang="en-US" dirty="0"/>
              <a:t>. Although you could </a:t>
            </a:r>
            <a:r>
              <a:rPr lang="en-US" dirty="0" smtClean="0"/>
              <a:t>give your </a:t>
            </a:r>
            <a:r>
              <a:rPr lang="en-US" dirty="0"/>
              <a:t>source file any name and extension, </a:t>
            </a:r>
            <a:r>
              <a:rPr lang="en-US" dirty="0">
                <a:solidFill>
                  <a:srgbClr val="FF0000"/>
                </a:solidFill>
              </a:rPr>
              <a:t>.C </a:t>
            </a:r>
            <a:r>
              <a:rPr lang="en-US" dirty="0"/>
              <a:t>is recognized as the appropriate extension to use</a:t>
            </a:r>
            <a:r>
              <a:rPr lang="en-US" dirty="0" smtClean="0"/>
              <a:t>. </a:t>
            </a:r>
            <a:r>
              <a:rPr lang="en-US" dirty="0" err="1" smtClean="0">
                <a:solidFill>
                  <a:srgbClr val="FF0000"/>
                </a:solidFill>
              </a:rPr>
              <a:t>AreaOfCircle.c</a:t>
            </a:r>
            <a:endParaRPr lang="en-US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b="1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26130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57B-9F7D-40D4-8443-28BD76B9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66" y="136519"/>
            <a:ext cx="10515600" cy="85408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Compiling the Source Code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FAA1-4139-415D-9180-4E18ECDE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794657"/>
            <a:ext cx="11907216" cy="587828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As you may already be aware, A </a:t>
            </a:r>
            <a:r>
              <a:rPr lang="en-US" dirty="0"/>
              <a:t>computer requires digital, or </a:t>
            </a:r>
            <a:r>
              <a:rPr lang="en-US" i="1" dirty="0"/>
              <a:t>binary, instructions in what is </a:t>
            </a:r>
            <a:r>
              <a:rPr lang="en-US" i="1" dirty="0" smtClean="0"/>
              <a:t>called </a:t>
            </a:r>
            <a:r>
              <a:rPr lang="en-US" i="1" dirty="0" smtClean="0">
                <a:solidFill>
                  <a:srgbClr val="FF0000"/>
                </a:solidFill>
              </a:rPr>
              <a:t>machine </a:t>
            </a:r>
            <a:r>
              <a:rPr lang="en-US" i="1" dirty="0">
                <a:solidFill>
                  <a:srgbClr val="FF0000"/>
                </a:solidFill>
              </a:rPr>
              <a:t>language. </a:t>
            </a:r>
            <a:endParaRPr lang="en-US" i="1" dirty="0" smtClean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i="1" dirty="0" smtClean="0"/>
              <a:t>Before </a:t>
            </a:r>
            <a:r>
              <a:rPr lang="en-US" i="1" dirty="0"/>
              <a:t>your C program can run on a computer, it must be translated from source </a:t>
            </a:r>
            <a:r>
              <a:rPr lang="en-US" i="1" dirty="0" smtClean="0"/>
              <a:t>code </a:t>
            </a:r>
            <a:r>
              <a:rPr lang="en-US" dirty="0" smtClean="0"/>
              <a:t>to </a:t>
            </a:r>
            <a:r>
              <a:rPr lang="en-US" dirty="0"/>
              <a:t>machine language.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This </a:t>
            </a:r>
            <a:r>
              <a:rPr lang="en-US" dirty="0"/>
              <a:t>translation, the second step in program development, is performed by 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program called a </a:t>
            </a:r>
            <a:r>
              <a:rPr lang="en-US" i="1" dirty="0"/>
              <a:t>compiler. </a:t>
            </a:r>
            <a:endParaRPr lang="en-US" i="1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i="1" dirty="0" smtClean="0"/>
              <a:t>The </a:t>
            </a:r>
            <a:r>
              <a:rPr lang="en-US" i="1" dirty="0"/>
              <a:t>compiler takes your source code file as input and produces a disk </a:t>
            </a:r>
            <a:r>
              <a:rPr lang="en-US" i="1" dirty="0" smtClean="0"/>
              <a:t>file </a:t>
            </a:r>
            <a:r>
              <a:rPr lang="en-US" dirty="0" smtClean="0"/>
              <a:t>containing </a:t>
            </a:r>
            <a:r>
              <a:rPr lang="en-US" dirty="0"/>
              <a:t>the machine language instructions that correspond to your source code statements.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The machine </a:t>
            </a:r>
            <a:r>
              <a:rPr lang="en-US" dirty="0"/>
              <a:t>language instructions created by the compiler are called </a:t>
            </a:r>
            <a:r>
              <a:rPr lang="en-US" i="1" dirty="0"/>
              <a:t>object code, and the disk file </a:t>
            </a:r>
            <a:r>
              <a:rPr lang="en-US" i="1" dirty="0" smtClean="0"/>
              <a:t>containing </a:t>
            </a:r>
            <a:r>
              <a:rPr lang="en-US" dirty="0" smtClean="0"/>
              <a:t>them </a:t>
            </a:r>
            <a:r>
              <a:rPr lang="en-US" dirty="0"/>
              <a:t>is called an </a:t>
            </a:r>
            <a:r>
              <a:rPr lang="en-US" i="1" dirty="0"/>
              <a:t>object file</a:t>
            </a:r>
            <a:r>
              <a:rPr lang="en-US" i="1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i="1" dirty="0" smtClean="0">
                <a:solidFill>
                  <a:srgbClr val="FF0000"/>
                </a:solidFill>
              </a:rPr>
              <a:t>Note: </a:t>
            </a:r>
            <a:r>
              <a:rPr lang="en-US" i="1" dirty="0" smtClean="0"/>
              <a:t>You compile a program to not only change the </a:t>
            </a:r>
            <a:r>
              <a:rPr lang="en-US" i="1" dirty="0"/>
              <a:t>s</a:t>
            </a:r>
            <a:r>
              <a:rPr lang="en-US" i="1" dirty="0" smtClean="0"/>
              <a:t>ource code into machine language but to also</a:t>
            </a:r>
            <a:r>
              <a:rPr lang="en-US" i="1" dirty="0" smtClean="0">
                <a:solidFill>
                  <a:srgbClr val="FF0000"/>
                </a:solidFill>
              </a:rPr>
              <a:t> look for errors in your source code.</a:t>
            </a:r>
            <a:endParaRPr lang="en-US" i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endParaRPr lang="en-US" b="1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29856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57B-9F7D-40D4-8443-28BD76B9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66" y="136519"/>
            <a:ext cx="10515600" cy="85408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Linking to create an executable file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FAA1-4139-415D-9180-4E18ECDE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794657"/>
            <a:ext cx="11907216" cy="587828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One more step is required before you can run your program.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C contains a </a:t>
            </a:r>
            <a:r>
              <a:rPr lang="en-US" dirty="0"/>
              <a:t>function </a:t>
            </a:r>
            <a:r>
              <a:rPr lang="en-US" dirty="0" smtClean="0"/>
              <a:t>library that </a:t>
            </a:r>
            <a:r>
              <a:rPr lang="en-US" dirty="0"/>
              <a:t>contains </a:t>
            </a:r>
            <a:r>
              <a:rPr lang="en-US" i="1" dirty="0"/>
              <a:t>object code (code that has already been compiled) for predefined functions. </a:t>
            </a:r>
            <a:endParaRPr lang="en-US" i="1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b="1" i="1" dirty="0" smtClean="0"/>
              <a:t>A predefined function </a:t>
            </a:r>
            <a:r>
              <a:rPr lang="en-US" b="1" i="1" dirty="0"/>
              <a:t>contains C code that has already been written and is supplied in a ready-to-use form with </a:t>
            </a:r>
            <a:r>
              <a:rPr lang="en-US" b="1" i="1" dirty="0" smtClean="0"/>
              <a:t>your </a:t>
            </a:r>
            <a:r>
              <a:rPr lang="en-US" b="1" dirty="0" smtClean="0"/>
              <a:t>compiler </a:t>
            </a:r>
            <a:r>
              <a:rPr lang="en-US" b="1" dirty="0"/>
              <a:t>package.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FF0000"/>
                </a:solidFill>
              </a:rPr>
              <a:t>The </a:t>
            </a:r>
            <a:r>
              <a:rPr lang="en-US" dirty="0" err="1">
                <a:solidFill>
                  <a:srgbClr val="FF0000"/>
                </a:solidFill>
              </a:rPr>
              <a:t>printf</a:t>
            </a:r>
            <a:r>
              <a:rPr lang="en-US" dirty="0">
                <a:solidFill>
                  <a:srgbClr val="FF0000"/>
                </a:solidFill>
              </a:rPr>
              <a:t>() </a:t>
            </a:r>
            <a:r>
              <a:rPr lang="en-US" dirty="0"/>
              <a:t>function used in the previous example is a </a:t>
            </a:r>
            <a:r>
              <a:rPr lang="en-US" i="1" dirty="0"/>
              <a:t>library function. </a:t>
            </a:r>
            <a:endParaRPr lang="en-US" i="1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i="1" dirty="0" smtClean="0"/>
              <a:t>These </a:t>
            </a:r>
            <a:r>
              <a:rPr lang="en-US" i="1" dirty="0"/>
              <a:t>library functions </a:t>
            </a:r>
            <a:r>
              <a:rPr lang="en-US" i="1" dirty="0" smtClean="0"/>
              <a:t>perform </a:t>
            </a:r>
            <a:r>
              <a:rPr lang="en-US" dirty="0" smtClean="0"/>
              <a:t>frequently </a:t>
            </a:r>
            <a:r>
              <a:rPr lang="en-US" dirty="0"/>
              <a:t>needed tasks, such as displaying information on-screen and reading data from disk files.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If your </a:t>
            </a:r>
            <a:r>
              <a:rPr lang="en-US" dirty="0"/>
              <a:t>program uses any of these functions (and hardly a program exists that doesn't use at least one), </a:t>
            </a:r>
            <a:r>
              <a:rPr lang="en-US" dirty="0" smtClean="0"/>
              <a:t>the object </a:t>
            </a:r>
            <a:r>
              <a:rPr lang="en-US" dirty="0"/>
              <a:t>file produced when your source code was compiled must be combined with object code from </a:t>
            </a:r>
            <a:r>
              <a:rPr lang="en-US" dirty="0" smtClean="0"/>
              <a:t>the function </a:t>
            </a:r>
            <a:r>
              <a:rPr lang="en-US" dirty="0"/>
              <a:t>library to create the final executable program. (</a:t>
            </a:r>
            <a:r>
              <a:rPr lang="en-US" i="1" dirty="0"/>
              <a:t>Executable means that the program can be </a:t>
            </a:r>
            <a:r>
              <a:rPr lang="en-US" i="1" dirty="0" smtClean="0"/>
              <a:t>run, </a:t>
            </a:r>
            <a:r>
              <a:rPr lang="en-US" dirty="0" smtClean="0"/>
              <a:t>or </a:t>
            </a:r>
            <a:r>
              <a:rPr lang="en-US" dirty="0"/>
              <a:t>executed, on your computer.)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This </a:t>
            </a:r>
            <a:r>
              <a:rPr lang="en-US" dirty="0"/>
              <a:t>process is called </a:t>
            </a:r>
            <a:r>
              <a:rPr lang="en-US" i="1" dirty="0"/>
              <a:t>linking, and it's performed by a program </a:t>
            </a:r>
            <a:r>
              <a:rPr lang="en-US" i="1" dirty="0" smtClean="0"/>
              <a:t>called </a:t>
            </a:r>
            <a:r>
              <a:rPr lang="en-US" dirty="0" smtClean="0">
                <a:solidFill>
                  <a:srgbClr val="FF0000"/>
                </a:solidFill>
              </a:rPr>
              <a:t>a </a:t>
            </a:r>
            <a:r>
              <a:rPr lang="en-US" i="1" dirty="0">
                <a:solidFill>
                  <a:srgbClr val="FF0000"/>
                </a:solidFill>
              </a:rPr>
              <a:t>linker.</a:t>
            </a:r>
            <a:endParaRPr lang="en-US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endParaRPr lang="en-US" b="1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322670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57B-9F7D-40D4-8443-28BD76B9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66" y="136519"/>
            <a:ext cx="10515600" cy="85408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Completing the Development Cycle</a:t>
            </a:r>
            <a:br>
              <a:rPr lang="en-US" b="1" dirty="0" smtClean="0">
                <a:solidFill>
                  <a:srgbClr val="FF0000"/>
                </a:solidFill>
              </a:rPr>
            </a:br>
            <a:endParaRPr lang="en-U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FAA1-4139-415D-9180-4E18ECDE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71" y="794657"/>
            <a:ext cx="11907216" cy="587828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Once your program is compiled and linked to create an executable file, you can run </a:t>
            </a:r>
            <a:r>
              <a:rPr lang="en-US" dirty="0" smtClean="0"/>
              <a:t>it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If you run the program and receive </a:t>
            </a:r>
            <a:r>
              <a:rPr lang="en-US" dirty="0"/>
              <a:t>results different from what you thought you would, you need to go back to the first step.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You must </a:t>
            </a:r>
            <a:r>
              <a:rPr lang="en-US" dirty="0"/>
              <a:t>identify what caused the problem and correct it in the source code.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When </a:t>
            </a:r>
            <a:r>
              <a:rPr lang="en-US" dirty="0"/>
              <a:t>you make a change to </a:t>
            </a:r>
            <a:r>
              <a:rPr lang="en-US" dirty="0" smtClean="0"/>
              <a:t>the source </a:t>
            </a:r>
            <a:r>
              <a:rPr lang="en-US" dirty="0"/>
              <a:t>code, you need to recompile and relink the program to create a corrected version of the </a:t>
            </a:r>
            <a:r>
              <a:rPr lang="en-US" dirty="0" smtClean="0"/>
              <a:t>executable file.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</a:t>
            </a:r>
            <a:r>
              <a:rPr lang="en-US" dirty="0"/>
              <a:t>You keep following this cycle until you get the program to execute exactly as you intended.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One final note on compiling and linking: Although compiling and linking are mentioned as two </a:t>
            </a:r>
            <a:r>
              <a:rPr lang="en-US" dirty="0" smtClean="0"/>
              <a:t>separate steps</a:t>
            </a:r>
            <a:r>
              <a:rPr lang="en-US" dirty="0"/>
              <a:t>, many compilers, </a:t>
            </a:r>
            <a:r>
              <a:rPr lang="en-US" dirty="0" smtClean="0"/>
              <a:t>do </a:t>
            </a:r>
            <a:r>
              <a:rPr lang="en-US" dirty="0"/>
              <a:t>both as one step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</a:t>
            </a:r>
            <a:r>
              <a:rPr lang="en-US" dirty="0"/>
              <a:t>Regardless </a:t>
            </a:r>
            <a:r>
              <a:rPr lang="en-US" dirty="0" smtClean="0"/>
              <a:t>of the </a:t>
            </a:r>
            <a:r>
              <a:rPr lang="en-US" dirty="0"/>
              <a:t>method by which compiling and linking are accomplished, understand that these two processes, </a:t>
            </a:r>
            <a:r>
              <a:rPr lang="en-US" dirty="0" smtClean="0"/>
              <a:t>even when </a:t>
            </a:r>
            <a:r>
              <a:rPr lang="en-US" dirty="0"/>
              <a:t>done with one command, are two separate actions.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b="1" dirty="0" smtClean="0"/>
          </a:p>
          <a:p>
            <a:pPr>
              <a:buFont typeface="Wingdings" panose="05000000000000000000" pitchFamily="2" charset="2"/>
              <a:buChar char="ü"/>
            </a:pP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2474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57B-9F7D-40D4-8443-28BD76B9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66" y="136519"/>
            <a:ext cx="10515600" cy="85408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First C Program</a:t>
            </a: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endParaRPr lang="en-U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FAA1-4139-415D-9180-4E18ECDE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9" y="794657"/>
            <a:ext cx="11533238" cy="569821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#include &lt;</a:t>
            </a:r>
            <a:r>
              <a:rPr lang="en-US" b="1" dirty="0" err="1"/>
              <a:t>stdio.h</a:t>
            </a:r>
            <a:r>
              <a:rPr lang="en-US" b="1" dirty="0"/>
              <a:t>&gt;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main()</a:t>
            </a:r>
          </a:p>
          <a:p>
            <a:pPr marL="0" indent="0">
              <a:buNone/>
            </a:pPr>
            <a:r>
              <a:rPr lang="en-US" b="1" dirty="0" smtClean="0"/>
              <a:t>{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printf</a:t>
            </a:r>
            <a:r>
              <a:rPr lang="en-US" b="1" dirty="0" smtClean="0"/>
              <a:t>(“Programming is an interesting course unit\n");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	 </a:t>
            </a:r>
            <a:r>
              <a:rPr lang="en-US" b="1" dirty="0" err="1"/>
              <a:t>printf</a:t>
            </a:r>
            <a:r>
              <a:rPr lang="en-US" b="1" dirty="0" smtClean="0"/>
              <a:t>(“but it requires a lot of practice in order to master it!!");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	return 0;</a:t>
            </a:r>
          </a:p>
          <a:p>
            <a:pPr marL="0" indent="0">
              <a:buNone/>
            </a:pPr>
            <a:r>
              <a:rPr lang="en-US" b="1" dirty="0"/>
              <a:t>}</a:t>
            </a:r>
            <a:endParaRPr lang="en-US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4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2057B-9F7D-40D4-8443-28BD76B9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166" y="136519"/>
            <a:ext cx="10515600" cy="854081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Errors</a:t>
            </a:r>
            <a:r>
              <a:rPr lang="en-US" b="1" dirty="0">
                <a:solidFill>
                  <a:srgbClr val="FF0000"/>
                </a:solidFill>
              </a:rPr>
              <a:t/>
            </a:r>
            <a:br>
              <a:rPr lang="en-US" b="1" dirty="0">
                <a:solidFill>
                  <a:srgbClr val="FF0000"/>
                </a:solidFill>
              </a:rPr>
            </a:br>
            <a:endParaRPr lang="en-UG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FAA1-4139-415D-9180-4E18ECDE9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9" y="794657"/>
            <a:ext cx="11533238" cy="569821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 smtClean="0"/>
              <a:t>Two main types of errors in programming: </a:t>
            </a:r>
          </a:p>
          <a:p>
            <a:pPr marL="971550" indent="-514350">
              <a:buFont typeface="+mj-lt"/>
              <a:buAutoNum type="arabicPeriod"/>
            </a:pPr>
            <a:r>
              <a:rPr lang="en-US" b="1" dirty="0"/>
              <a:t>Compilation </a:t>
            </a:r>
            <a:r>
              <a:rPr lang="en-US" b="1" dirty="0" smtClean="0"/>
              <a:t>Errors:</a:t>
            </a:r>
            <a:endParaRPr lang="en-US" b="1" dirty="0"/>
          </a:p>
          <a:p>
            <a:pPr marL="1425575">
              <a:buFont typeface="Wingdings" panose="05000000000000000000" pitchFamily="2" charset="2"/>
              <a:buChar char="ü"/>
            </a:pPr>
            <a:r>
              <a:rPr lang="en-US" dirty="0"/>
              <a:t>A compilation error occurs when the compiler finds something in the source code that it can't compile. </a:t>
            </a:r>
            <a:endParaRPr lang="en-US" dirty="0" smtClean="0"/>
          </a:p>
          <a:p>
            <a:pPr marL="1425575">
              <a:buFont typeface="Wingdings" panose="05000000000000000000" pitchFamily="2" charset="2"/>
              <a:buChar char="ü"/>
            </a:pPr>
            <a:r>
              <a:rPr lang="en-US" dirty="0" smtClean="0"/>
              <a:t>A misspelling</a:t>
            </a:r>
            <a:r>
              <a:rPr lang="en-US" dirty="0"/>
              <a:t>, typographical error, or any of a dozen other things can cause the compiler to choke.</a:t>
            </a:r>
          </a:p>
          <a:p>
            <a:pPr marL="1425575">
              <a:buFont typeface="Wingdings" panose="05000000000000000000" pitchFamily="2" charset="2"/>
              <a:buChar char="ü"/>
            </a:pPr>
            <a:r>
              <a:rPr lang="en-US" dirty="0"/>
              <a:t>Fortunately, modern compilers don't just choke; they tell you what they're choking on and where it is!</a:t>
            </a:r>
          </a:p>
          <a:p>
            <a:pPr marL="1425575">
              <a:buFont typeface="Wingdings" panose="05000000000000000000" pitchFamily="2" charset="2"/>
              <a:buChar char="ü"/>
            </a:pPr>
            <a:r>
              <a:rPr lang="en-US" dirty="0"/>
              <a:t>This makes it easier to find and correct errors in your </a:t>
            </a:r>
            <a:r>
              <a:rPr lang="en-US" dirty="0" smtClean="0"/>
              <a:t>source </a:t>
            </a:r>
            <a:r>
              <a:rPr lang="en-US" dirty="0"/>
              <a:t>code</a:t>
            </a:r>
            <a:r>
              <a:rPr lang="en-US" dirty="0" smtClean="0"/>
              <a:t>.</a:t>
            </a:r>
            <a:endParaRPr lang="en-US" dirty="0">
              <a:solidFill>
                <a:srgbClr val="FF0000"/>
              </a:solidFill>
            </a:endParaRPr>
          </a:p>
          <a:p>
            <a:pPr marL="968375" indent="-511175">
              <a:buFont typeface="+mj-lt"/>
              <a:buAutoNum type="arabicPeriod" startAt="2"/>
            </a:pPr>
            <a:r>
              <a:rPr lang="en-US" b="1" dirty="0"/>
              <a:t>Linker Error </a:t>
            </a:r>
            <a:r>
              <a:rPr lang="en-US" b="1" dirty="0" smtClean="0"/>
              <a:t>Messages</a:t>
            </a:r>
          </a:p>
          <a:p>
            <a:pPr marL="1490663" indent="-293688">
              <a:buFont typeface="Wingdings" panose="05000000000000000000" pitchFamily="2" charset="2"/>
              <a:buChar char="ü"/>
            </a:pPr>
            <a:r>
              <a:rPr lang="en-US" dirty="0"/>
              <a:t>Linker errors are relatively rare and usually result from misspelling the name of a C library function. </a:t>
            </a:r>
            <a:r>
              <a:rPr lang="en-US" dirty="0" smtClean="0"/>
              <a:t>In  this </a:t>
            </a:r>
            <a:r>
              <a:rPr lang="en-US" dirty="0"/>
              <a:t>case, you get an Error: undefined symbols: error message, followed by the misspelled </a:t>
            </a:r>
            <a:r>
              <a:rPr lang="en-US" dirty="0" smtClean="0"/>
              <a:t>name (preceded </a:t>
            </a:r>
            <a:r>
              <a:rPr lang="en-US" dirty="0"/>
              <a:t>by an underscore). </a:t>
            </a:r>
            <a:endParaRPr lang="en-US" dirty="0" smtClean="0"/>
          </a:p>
          <a:p>
            <a:pPr marL="1490663" indent="-293688">
              <a:buFont typeface="Wingdings" panose="05000000000000000000" pitchFamily="2" charset="2"/>
              <a:buChar char="ü"/>
            </a:pPr>
            <a:r>
              <a:rPr lang="en-US" dirty="0" smtClean="0"/>
              <a:t>Once </a:t>
            </a:r>
            <a:r>
              <a:rPr lang="en-US" dirty="0"/>
              <a:t>you correct the spelling, the problem should go away.</a:t>
            </a:r>
            <a:endParaRPr lang="en-US" b="1" dirty="0" smtClean="0"/>
          </a:p>
          <a:p>
            <a:pPr marL="968375" indent="-511175">
              <a:buFont typeface="+mj-lt"/>
              <a:buAutoNum type="arabicPeriod" startAt="2"/>
            </a:pPr>
            <a:endParaRPr lang="en-US" b="1" dirty="0"/>
          </a:p>
          <a:p>
            <a:pPr marL="1425575">
              <a:buFont typeface="Wingdings" panose="05000000000000000000" pitchFamily="2" charset="2"/>
              <a:buChar char="ü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2268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1475</Words>
  <Application>Microsoft Office PowerPoint</Application>
  <PresentationFormat>Widescreen</PresentationFormat>
  <Paragraphs>126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Wingdings</vt:lpstr>
      <vt:lpstr>Office Theme</vt:lpstr>
      <vt:lpstr>BCS 1202: STRUCTURED PROGRAMMING</vt:lpstr>
      <vt:lpstr>Lecturer Details</vt:lpstr>
      <vt:lpstr>Outline </vt:lpstr>
      <vt:lpstr>Introduction to programming   </vt:lpstr>
      <vt:lpstr>Requirements </vt:lpstr>
      <vt:lpstr>Brief History of C  </vt:lpstr>
      <vt:lpstr>Steps of preparing a program </vt:lpstr>
      <vt:lpstr>PowerPoint Presentation</vt:lpstr>
      <vt:lpstr>The Program Development Life Cycle </vt:lpstr>
      <vt:lpstr>Creating the Source Code </vt:lpstr>
      <vt:lpstr>Compiling the Source Code </vt:lpstr>
      <vt:lpstr>Linking to create an executable file </vt:lpstr>
      <vt:lpstr>Completing the Development Cycle </vt:lpstr>
      <vt:lpstr>First C Program </vt:lpstr>
      <vt:lpstr>Errors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Practicals</dc:title>
  <dc:creator>Peter</dc:creator>
  <cp:lastModifiedBy>Windows User</cp:lastModifiedBy>
  <cp:revision>59</cp:revision>
  <dcterms:created xsi:type="dcterms:W3CDTF">2021-03-28T21:46:09Z</dcterms:created>
  <dcterms:modified xsi:type="dcterms:W3CDTF">2024-01-17T20:21:45Z</dcterms:modified>
</cp:coreProperties>
</file>