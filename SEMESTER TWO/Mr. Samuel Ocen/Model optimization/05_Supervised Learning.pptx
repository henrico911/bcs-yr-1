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8" r:id="rId9"/>
    <p:sldId id="262" r:id="rId10"/>
    <p:sldId id="263" r:id="rId11"/>
    <p:sldId id="264" r:id="rId12"/>
    <p:sldId id="265" r:id="rId13"/>
    <p:sldId id="266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21F34-1036-4A47-3517-0BAD436487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C9A70-768B-72A3-1203-74F10CE455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E1E65-6E0C-2B4A-3F30-CFE57F1A8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A8A97-2FD8-41E4-9D04-468697E3EBC4}" type="datetimeFigureOut">
              <a:rPr lang="en-UG" smtClean="0"/>
              <a:t>17/02/2024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AE28B-CD96-6992-E716-AF8BA5598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8CBD0-209F-BC45-3D20-27155F38B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B4A98-5C3A-41B5-8565-13E95B3A2D9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03974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98107-87F3-8432-82F9-85F40347D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11661-7824-2B30-06ED-9D5A947FF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729C5-1967-42F8-3B12-8399354C0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A8A97-2FD8-41E4-9D04-468697E3EBC4}" type="datetimeFigureOut">
              <a:rPr lang="en-UG" smtClean="0"/>
              <a:t>17/02/2024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379E2-81F4-946F-FAB7-51BE5256C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F3891-5AB4-D458-F8F4-5119BD3FC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B4A98-5C3A-41B5-8565-13E95B3A2D9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830729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EF1D6-D4B6-4650-EA69-EC8AF9AAE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47DB0-651F-27A2-A20E-85D10C0F2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1D170-018F-8891-0CD2-3705D81A7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A8A97-2FD8-41E4-9D04-468697E3EBC4}" type="datetimeFigureOut">
              <a:rPr lang="en-UG" smtClean="0"/>
              <a:t>17/02/2024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042B8-3391-035C-8EA7-EF87EA80F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6EE6C-C269-F906-A8E9-873EFBC2E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B4A98-5C3A-41B5-8565-13E95B3A2D9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2980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B90B0-A320-25E7-8BB2-D2067AB2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C8B0F-F6A4-F940-258A-A18EF812C7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2523A4-1E86-E958-29F2-90445A8B0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4F9EF8-9566-C7E1-BADF-96549D8F6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A8A97-2FD8-41E4-9D04-468697E3EBC4}" type="datetimeFigureOut">
              <a:rPr lang="en-UG" smtClean="0"/>
              <a:t>17/02/2024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7E2FDC-143D-6EBF-91E2-8A0FE9836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26C19B-3FC5-D5FC-648D-E7AFD1BA9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B4A98-5C3A-41B5-8565-13E95B3A2D9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437529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3EF5B-FD7F-BE5D-CD5F-FC9A736C3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4A1B46-2AEF-B4F9-9958-B8635CC8F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135AB7-09CF-C0A7-C062-E5BCC69CC9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637975-3349-64DE-5837-8156662CE6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66F44B-1428-F145-0738-EB1C3B35B5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1F9587-4808-5888-A8FD-79A40623A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A8A97-2FD8-41E4-9D04-468697E3EBC4}" type="datetimeFigureOut">
              <a:rPr lang="en-UG" smtClean="0"/>
              <a:t>17/02/2024</a:t>
            </a:fld>
            <a:endParaRPr lang="en-U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8C0401-C320-539A-7462-639358A36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EC632F-C0D0-E4A7-48D5-BD3EEC996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B4A98-5C3A-41B5-8565-13E95B3A2D9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712903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908C9-ADF4-027C-BD39-38DE010AF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F1AF32-DBA7-74B1-7DF4-C11FB6E0A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A8A97-2FD8-41E4-9D04-468697E3EBC4}" type="datetimeFigureOut">
              <a:rPr lang="en-UG" smtClean="0"/>
              <a:t>17/02/2024</a:t>
            </a:fld>
            <a:endParaRPr lang="en-U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52EA85-B282-E27F-1E05-456BAF33A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D0BA5C-3AFF-156A-53FD-EFADDC7D8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B4A98-5C3A-41B5-8565-13E95B3A2D9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236847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C4AB22-ABC3-7256-30A6-4EAA7A54B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A8A97-2FD8-41E4-9D04-468697E3EBC4}" type="datetimeFigureOut">
              <a:rPr lang="en-UG" smtClean="0"/>
              <a:t>17/02/2024</a:t>
            </a:fld>
            <a:endParaRPr lang="en-U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E5E770-E5D4-78EA-C00B-341F41760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16F259-194B-736A-38E4-283F1710D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B4A98-5C3A-41B5-8565-13E95B3A2D9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142370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34167-5D7F-AD52-4198-FCBA742F6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A2D1F-9D82-DBBF-82D2-C2091122F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530508-654E-5ECB-101B-CCFE2388BA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F194A-A311-5FD2-E11C-A6B09EE84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A8A97-2FD8-41E4-9D04-468697E3EBC4}" type="datetimeFigureOut">
              <a:rPr lang="en-UG" smtClean="0"/>
              <a:t>17/02/2024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444AA-1B6B-7769-4F07-3B9582986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3E07C-1C63-629A-948D-C5AB8ADCD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B4A98-5C3A-41B5-8565-13E95B3A2D9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447216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E5F95-7A1E-EBC7-3DB2-1A4A9088D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B02860-4A19-8CCE-84BC-ABFC584D37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23F7CD-3E98-F3A1-D578-6CFD50B30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038DC4-0C69-13E2-8D02-34F13EEA1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A8A97-2FD8-41E4-9D04-468697E3EBC4}" type="datetimeFigureOut">
              <a:rPr lang="en-UG" smtClean="0"/>
              <a:t>17/02/2024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5CC22E-CCD5-D16D-5A81-12F1A29CB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DDB354-0E70-C126-BA77-ED63F267E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B4A98-5C3A-41B5-8565-13E95B3A2D9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86767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78447-C06A-CBE0-8B9B-7A7BD41F6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CE25C3-D526-0804-32CF-B9BF0D8A4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ED7F4-76CB-C79B-4041-DCA7F011F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A8A97-2FD8-41E4-9D04-468697E3EBC4}" type="datetimeFigureOut">
              <a:rPr lang="en-UG" smtClean="0"/>
              <a:t>17/02/2024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1A32F-DBC3-9D32-D048-465D633C6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5527B-F328-3ECB-DD20-F572A6A82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B4A98-5C3A-41B5-8565-13E95B3A2D9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370357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FF8361-6587-8FCD-7FFF-ED5481EBB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E82660-7839-D8B5-1E7B-3731BA9774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CC5BE-B387-8F38-D94E-279F2C835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A8A97-2FD8-41E4-9D04-468697E3EBC4}" type="datetimeFigureOut">
              <a:rPr lang="en-UG" smtClean="0"/>
              <a:t>17/02/2024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D8208-A016-B964-D150-68C465F6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A5181-8F6E-DC04-50B7-13D5D4C3D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B4A98-5C3A-41B5-8565-13E95B3A2D9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76840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88403B-B043-9977-F981-BB2C23C53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15F341-8A80-15D7-9B55-A45E1994C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D2660-C355-922F-FAE9-383A234D2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A8A97-2FD8-41E4-9D04-468697E3EBC4}" type="datetimeFigureOut">
              <a:rPr lang="en-UG" smtClean="0"/>
              <a:t>17/02/2024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F51BF-701A-C2D5-7FA5-BE7B711AB6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F3ECF-4588-07F1-CE36-046C1A804E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B4A98-5C3A-41B5-8565-13E95B3A2D9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07005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amuel.ocen@student.uonbi.ac.ke" TargetMode="External"/><Relationship Id="rId2" Type="http://schemas.openxmlformats.org/officeDocument/2006/relationships/hyperlink" Target="mailto:samuel.ocen@mmu.ac.ug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3B937-A374-93C3-2881-33791F9389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Supervised Learning</a:t>
            </a:r>
            <a:endParaRPr lang="en-U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A6A557-FC29-0FCB-ABBC-0C74DEC937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 algn="l"/>
            <a:r>
              <a:rPr lang="en-US" dirty="0"/>
              <a:t>Samuel OCEN</a:t>
            </a:r>
          </a:p>
          <a:p>
            <a:pPr algn="l"/>
            <a:r>
              <a:rPr lang="en-US" dirty="0"/>
              <a:t>E MAIL: -  </a:t>
            </a:r>
            <a:r>
              <a:rPr lang="en-US" dirty="0">
                <a:hlinkClick r:id="rId2"/>
              </a:rPr>
              <a:t>samuel.ocen@mmu.ac.ug</a:t>
            </a:r>
            <a:endParaRPr lang="en-US" dirty="0"/>
          </a:p>
          <a:p>
            <a:pPr algn="l"/>
            <a:r>
              <a:rPr lang="en-US" dirty="0"/>
              <a:t>                  </a:t>
            </a:r>
            <a:r>
              <a:rPr lang="en-US" dirty="0">
                <a:hlinkClick r:id="rId3"/>
              </a:rPr>
              <a:t>samuel.ocen@student.uonbi.ac.ke</a:t>
            </a:r>
            <a:r>
              <a:rPr lang="en-US" dirty="0"/>
              <a:t> </a:t>
            </a:r>
          </a:p>
          <a:p>
            <a:pPr algn="l"/>
            <a:r>
              <a:rPr lang="en-US" dirty="0"/>
              <a:t>MOB:	+256(0)775 679 505</a:t>
            </a:r>
          </a:p>
          <a:p>
            <a:pPr algn="l"/>
            <a:r>
              <a:rPr lang="en-US" dirty="0"/>
              <a:t>	+256(0)706 109 393</a:t>
            </a:r>
            <a:endParaRPr lang="en-UG" dirty="0"/>
          </a:p>
          <a:p>
            <a:endParaRPr lang="en-UG" dirty="0"/>
          </a:p>
          <a:p>
            <a:endParaRPr lang="en-UG" dirty="0"/>
          </a:p>
          <a:p>
            <a:endParaRPr lang="en-UG" dirty="0"/>
          </a:p>
          <a:p>
            <a:endParaRPr lang="en-UG" dirty="0"/>
          </a:p>
          <a:p>
            <a:endParaRPr lang="en-UG" dirty="0"/>
          </a:p>
          <a:p>
            <a:endParaRPr lang="en-UG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F201880-AF76-4AA3-EE26-57690DD7B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2200"/>
            <a:ext cx="32575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4879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C4821-61A5-8268-0F66-75C53B2E1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Theme</a:t>
            </a:r>
            <a:endParaRPr lang="en-U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AA847-5DEC-49BA-1367-C6D981EAA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Söhne"/>
              </a:rPr>
              <a:t>S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upervised learning algorithms for predictive modeling.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We'll explore the </a:t>
            </a:r>
          </a:p>
          <a:p>
            <a:pPr lvl="1"/>
            <a:r>
              <a:rPr lang="en-US" dirty="0">
                <a:solidFill>
                  <a:srgbClr val="0D0D0D"/>
                </a:solidFill>
                <a:latin typeface="Söhne"/>
              </a:rPr>
              <a:t>P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rinciples, </a:t>
            </a:r>
          </a:p>
          <a:p>
            <a:pPr lvl="1"/>
            <a:r>
              <a:rPr lang="en-US" dirty="0">
                <a:solidFill>
                  <a:srgbClr val="0D0D0D"/>
                </a:solidFill>
                <a:latin typeface="Söhne"/>
              </a:rPr>
              <a:t>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pplications</a:t>
            </a:r>
          </a:p>
          <a:p>
            <a:pPr lvl="1"/>
            <a:r>
              <a:rPr lang="en-US" dirty="0">
                <a:solidFill>
                  <a:srgbClr val="0D0D0D"/>
                </a:solidFill>
                <a:latin typeface="Söhne"/>
              </a:rPr>
              <a:t>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dvantages 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D0D0D"/>
                </a:solidFill>
                <a:latin typeface="Söhne"/>
              </a:rPr>
              <a:t>All 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in various domains.</a:t>
            </a:r>
          </a:p>
          <a:p>
            <a:pPr marL="0" indent="0">
              <a:buNone/>
            </a:pPr>
            <a:endParaRPr lang="en-UG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0418134-1C12-E4AE-3AD1-7F10ED56C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2200"/>
            <a:ext cx="32575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4825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2D0B6-5B4A-5B1C-46F0-E40F4D201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What is Supervised Learning?</a:t>
            </a:r>
            <a:endParaRPr lang="en-U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D9512-039D-A81B-41BC-BA5A9EC8C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D0D0D"/>
                </a:solidFill>
                <a:effectLst/>
                <a:latin typeface="Söhne"/>
              </a:rPr>
              <a:t>Supervised learning is a type of machine learning where algorithms learn from labeled 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D0D0D"/>
                </a:solidFill>
                <a:effectLst/>
                <a:latin typeface="Söhne"/>
              </a:rPr>
              <a:t>It involves training a model on input-output pairs, allowing it to make predictions or decisions based on new input 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D0D0D"/>
                </a:solidFill>
                <a:effectLst/>
                <a:latin typeface="Söhne"/>
              </a:rPr>
              <a:t>Two main types: classification (for categorical outcomes) and regression (for continuous outcomes).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E2C124A-E166-C74B-89A6-0F38EDC6C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2200"/>
            <a:ext cx="32575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9912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7F28B-5071-6BF1-D453-E0577BD96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Key Concepts</a:t>
            </a:r>
            <a:endParaRPr lang="en-U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60A78-4F29-AEFB-6341-A4F7986D4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3600" b="1" i="0" dirty="0">
                <a:solidFill>
                  <a:srgbClr val="0D0D0D"/>
                </a:solidFill>
                <a:effectLst/>
                <a:latin typeface="Söhne"/>
              </a:rPr>
              <a:t>Training data: 		</a:t>
            </a:r>
            <a:r>
              <a:rPr lang="en-US" sz="3600" b="0" i="0" dirty="0">
                <a:solidFill>
                  <a:srgbClr val="0D0D0D"/>
                </a:solidFill>
                <a:effectLst/>
                <a:latin typeface="Söhne"/>
              </a:rPr>
              <a:t>Labeled dataset used to train the 					model.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1" i="0" dirty="0">
                <a:solidFill>
                  <a:srgbClr val="0D0D0D"/>
                </a:solidFill>
                <a:effectLst/>
                <a:latin typeface="Söhne"/>
              </a:rPr>
              <a:t>Features: 		</a:t>
            </a:r>
            <a:r>
              <a:rPr lang="en-US" sz="3600" b="0" i="0" dirty="0">
                <a:solidFill>
                  <a:srgbClr val="0D0D0D"/>
                </a:solidFill>
                <a:effectLst/>
                <a:latin typeface="Söhne"/>
              </a:rPr>
              <a:t>Input variables that influence the 					output.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1" i="0" dirty="0">
                <a:solidFill>
                  <a:srgbClr val="0D0D0D"/>
                </a:solidFill>
                <a:effectLst/>
                <a:latin typeface="Söhne"/>
              </a:rPr>
              <a:t>Target variable: 	</a:t>
            </a:r>
            <a:r>
              <a:rPr lang="en-US" sz="3600" b="0" i="0" dirty="0">
                <a:solidFill>
                  <a:srgbClr val="0D0D0D"/>
                </a:solidFill>
                <a:effectLst/>
                <a:latin typeface="Söhne"/>
              </a:rPr>
              <a:t>The output variable to be predicted.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1" i="0" dirty="0">
                <a:solidFill>
                  <a:srgbClr val="0D0D0D"/>
                </a:solidFill>
                <a:effectLst/>
                <a:latin typeface="Söhne"/>
              </a:rPr>
              <a:t>Model: 			</a:t>
            </a:r>
            <a:r>
              <a:rPr lang="en-US" sz="3600" b="0" i="0" dirty="0">
                <a:solidFill>
                  <a:srgbClr val="0D0D0D"/>
                </a:solidFill>
                <a:effectLst/>
                <a:latin typeface="Söhne"/>
              </a:rPr>
              <a:t>Algorithm used to learn patterns from 				the training 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1" i="0" dirty="0">
                <a:solidFill>
                  <a:srgbClr val="0D0D0D"/>
                </a:solidFill>
                <a:effectLst/>
                <a:latin typeface="Söhne"/>
              </a:rPr>
              <a:t>Prediction:</a:t>
            </a:r>
            <a:r>
              <a:rPr lang="en-US" sz="3600" b="0" i="0" dirty="0">
                <a:solidFill>
                  <a:srgbClr val="0D0D0D"/>
                </a:solidFill>
                <a:effectLst/>
                <a:latin typeface="Söhne"/>
              </a:rPr>
              <a:t> 		The outcome produced by the model 				for new input data.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E32E5C4-B331-D327-8688-61BA8ADE1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2200"/>
            <a:ext cx="32575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846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52E5F-6849-EC91-1068-26E82CFD4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Popular Supervised Learning Algorithms</a:t>
            </a:r>
            <a:endParaRPr lang="en-U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379BB-AB2F-FA7A-2D5C-102917465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0D0D0D"/>
                </a:solidFill>
                <a:effectLst/>
                <a:latin typeface="Söhne"/>
              </a:rPr>
              <a:t>Linear Regression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0D0D0D"/>
                </a:solidFill>
                <a:effectLst/>
                <a:latin typeface="Söhne"/>
              </a:rPr>
              <a:t>Logistic Regression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0D0D0D"/>
                </a:solidFill>
                <a:effectLst/>
                <a:latin typeface="Söhne"/>
              </a:rPr>
              <a:t>Decision Trees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0D0D0D"/>
                </a:solidFill>
                <a:effectLst/>
                <a:latin typeface="Söhne"/>
              </a:rPr>
              <a:t>Random Forest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0D0D0D"/>
                </a:solidFill>
                <a:effectLst/>
                <a:latin typeface="Söhne"/>
              </a:rPr>
              <a:t>Support Vector Machines (SVM)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0D0D0D"/>
                </a:solidFill>
                <a:effectLst/>
                <a:latin typeface="Söhne"/>
              </a:rPr>
              <a:t>Neural Networks (Deep Learning)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7B62352-F2C9-9585-75A1-6D2BD779D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2200"/>
            <a:ext cx="32575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892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67B47-F9F3-B617-D5B8-D28CB75F2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Linear Regression</a:t>
            </a:r>
            <a:endParaRPr lang="en-U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23F21-655E-EDB2-0249-61C91AA56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0D0D0D"/>
                </a:solidFill>
                <a:effectLst/>
                <a:latin typeface="Söhne"/>
              </a:rPr>
              <a:t>Simple yet powerful algorithm for regression tasks.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0D0D0D"/>
                </a:solidFill>
                <a:effectLst/>
                <a:latin typeface="Söhne"/>
              </a:rPr>
              <a:t>Fits a straight line to the data, minimizing the difference between actual and predicted values.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0D0D0D"/>
                </a:solidFill>
                <a:effectLst/>
                <a:latin typeface="Söhne"/>
              </a:rPr>
              <a:t>Suitable for predicting continuous outcomes, such as house prices or temperature.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D842F57-B734-A1B2-C7FF-657838263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2200"/>
            <a:ext cx="32575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2992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19CF2-8946-DE5C-014B-4387E7894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Implementation</a:t>
            </a:r>
            <a:endParaRPr lang="en-U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DE23F-A2C0-EF9D-D380-E2E50D79C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dirty="0">
                <a:solidFill>
                  <a:srgbClr val="0D0D0D"/>
                </a:solidFill>
                <a:latin typeface="Söhne"/>
              </a:rPr>
              <a:t>I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mplement linear regression using Python and the popular machine learning library, scikit-learn. 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We'll cover the following steps: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Data preparation: 	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Load and preprocess the dataset.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Model training: 	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Fit a linear regression model to the data.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Model evaluation: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	Assess the performance of the model.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Prediction: 		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Use the trained model to make predictions.</a:t>
            </a:r>
          </a:p>
          <a:p>
            <a:endParaRPr lang="en-UG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7772CD-D75B-AE02-4394-A33385AAE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2200"/>
            <a:ext cx="32575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7509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BDFBC-9AF5-3963-4FFA-3E3294F7A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Data Preparation</a:t>
            </a:r>
            <a:endParaRPr lang="en-U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F17C3-82A6-0D9B-E7D3-38074D912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First, we need a dataset. For this example, let's use a simple dataset from scikit-learn built-in datasets. We'll use the Boston house prices dataset, which contains information about housing prices in Boston and various factors that may influence them.</a:t>
            </a:r>
          </a:p>
          <a:p>
            <a:endParaRPr lang="en-US" dirty="0">
              <a:solidFill>
                <a:srgbClr val="0D0D0D"/>
              </a:solidFill>
              <a:latin typeface="Söhne"/>
            </a:endParaRPr>
          </a:p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PRACTICAL DEMO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E6D0290-FD98-D575-561D-2A5E98ABA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2200"/>
            <a:ext cx="32575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6026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C5AFF-83A6-AF26-8893-927B70E2A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Logistic Regression</a:t>
            </a:r>
            <a:endParaRPr lang="en-U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6ED88-2763-E483-6163-0D084372C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4800" b="0" i="0" dirty="0">
                <a:solidFill>
                  <a:srgbClr val="0D0D0D"/>
                </a:solidFill>
                <a:effectLst/>
                <a:latin typeface="Söhne"/>
              </a:rPr>
              <a:t>Used for binary classification tasks.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800" b="0" i="0" dirty="0">
                <a:solidFill>
                  <a:srgbClr val="0D0D0D"/>
                </a:solidFill>
                <a:effectLst/>
                <a:latin typeface="Söhne"/>
              </a:rPr>
              <a:t>Estimates the probability of a binary outcome based on one or more predictor variables.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800" b="0" i="0" dirty="0">
                <a:solidFill>
                  <a:srgbClr val="0D0D0D"/>
                </a:solidFill>
                <a:effectLst/>
                <a:latin typeface="Söhne"/>
              </a:rPr>
              <a:t>Widely applied in fields like medicine (disease diagnosis) and finance (credit risk assessment).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DAF71C5-F380-7D79-FE56-222100B18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2200"/>
            <a:ext cx="32575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2471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1092D-32B3-CA45-A53F-3283557BD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Decision Trees</a:t>
            </a:r>
            <a:endParaRPr lang="en-U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97D41-987F-7916-1186-2A55C7939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0D0D0D"/>
                </a:solidFill>
                <a:effectLst/>
                <a:latin typeface="Söhne"/>
              </a:rPr>
              <a:t>Non-linear algorithm that partitions the feature space into segments.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0D0D0D"/>
                </a:solidFill>
                <a:effectLst/>
                <a:latin typeface="Söhne"/>
              </a:rPr>
              <a:t>Makes decisions by asking a series of questions about the input features.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0D0D0D"/>
                </a:solidFill>
                <a:effectLst/>
                <a:latin typeface="Söhne"/>
              </a:rPr>
              <a:t>Easy to interpret and visualize, suitable for both classification and regression tasks.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BAD9773-0F07-530B-6580-60CE82676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2200"/>
            <a:ext cx="32575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9831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CAD88-3A96-1E40-D1F8-56CB05AAD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Random Forest</a:t>
            </a:r>
            <a:endParaRPr lang="en-U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A1A16-E592-0A61-3CC6-77C3B0615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0D0D0D"/>
                </a:solidFill>
                <a:effectLst/>
                <a:latin typeface="Söhne"/>
              </a:rPr>
              <a:t>Ensemble learning technique consisting of multiple decision trees.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0D0D0D"/>
                </a:solidFill>
                <a:effectLst/>
                <a:latin typeface="Söhne"/>
              </a:rPr>
              <a:t>Each tree is trained on a random subset of the data and features.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0D0D0D"/>
                </a:solidFill>
                <a:effectLst/>
                <a:latin typeface="Söhne"/>
              </a:rPr>
              <a:t>Combines predictions from individual trees to improve accuracy and robustness.</a:t>
            </a:r>
          </a:p>
          <a:p>
            <a:endParaRPr lang="en-UG" sz="44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9C836E4-7DE6-C0F9-AAE5-F4EEABD15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2200"/>
            <a:ext cx="32575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9928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37A92-62A6-10C9-AC5C-B4F28FCB0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Support Vector Machines (SVM)</a:t>
            </a:r>
            <a:endParaRPr lang="en-U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B98FB-B6CC-34C1-D138-1687289ED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0D0D0D"/>
                </a:solidFill>
                <a:effectLst/>
                <a:latin typeface="Söhne"/>
              </a:rPr>
              <a:t>Versatile algorithm for classification and regression tasks.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0D0D0D"/>
                </a:solidFill>
                <a:effectLst/>
                <a:latin typeface="Söhne"/>
              </a:rPr>
              <a:t>Finds the optimal hyperplane that separates classes in the feature space.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0D0D0D"/>
                </a:solidFill>
                <a:effectLst/>
                <a:latin typeface="Söhne"/>
              </a:rPr>
              <a:t>Effective for high-dimensional data and non-linear decision boundaries through kernel trick.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1FCC753-9EB5-6618-4A6B-4F935EBAB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2200"/>
            <a:ext cx="32575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1455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EE0AD-BCB0-D17B-46D1-61E93DD45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Neural Networks (Deep Learning)</a:t>
            </a:r>
            <a:endParaRPr lang="en-U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1BBCE-9C1B-C730-053B-CFDD25E0C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0D0D0D"/>
                </a:solidFill>
                <a:effectLst/>
                <a:latin typeface="Söhne"/>
              </a:rPr>
              <a:t>Complex algorithms inspired by the structure and function of the human brain.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0D0D0D"/>
                </a:solidFill>
                <a:effectLst/>
                <a:latin typeface="Söhne"/>
              </a:rPr>
              <a:t>Consist of multiple interconnected layers of neurons (nodes).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0D0D0D"/>
                </a:solidFill>
                <a:effectLst/>
                <a:latin typeface="Söhne"/>
              </a:rPr>
              <a:t>Capable of learning intricate patterns from large amounts of data, suitable for diverse tasks.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A5D344B-C236-4BAB-ABDF-266811EAC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2200"/>
            <a:ext cx="32575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8265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783B0-253F-FB2E-5102-6D777BB91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Applications of Supervised Learning</a:t>
            </a:r>
            <a:endParaRPr lang="en-U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AA0B4-8F65-F4C0-3286-4639A56C3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0D0D0D"/>
                </a:solidFill>
                <a:effectLst/>
                <a:latin typeface="Söhne"/>
              </a:rPr>
              <a:t>Predictive analytics: </a:t>
            </a:r>
            <a:r>
              <a:rPr lang="en-US" sz="3200" b="0" i="0" dirty="0">
                <a:solidFill>
                  <a:srgbClr val="0D0D0D"/>
                </a:solidFill>
                <a:effectLst/>
                <a:latin typeface="Söhne"/>
              </a:rPr>
              <a:t>Forecasting sales, demand, or stock prices.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0D0D0D"/>
                </a:solidFill>
                <a:effectLst/>
                <a:latin typeface="Söhne"/>
              </a:rPr>
              <a:t>Healthcare: </a:t>
            </a:r>
            <a:r>
              <a:rPr lang="en-US" sz="3200" b="0" i="0" dirty="0">
                <a:solidFill>
                  <a:srgbClr val="0D0D0D"/>
                </a:solidFill>
                <a:effectLst/>
                <a:latin typeface="Söhne"/>
              </a:rPr>
              <a:t>Diagnosing diseases, predicting patient outcomes.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0D0D0D"/>
                </a:solidFill>
                <a:effectLst/>
                <a:latin typeface="Söhne"/>
              </a:rPr>
              <a:t>Finance: </a:t>
            </a:r>
            <a:r>
              <a:rPr lang="en-US" sz="3200" b="0" i="0" dirty="0">
                <a:solidFill>
                  <a:srgbClr val="0D0D0D"/>
                </a:solidFill>
                <a:effectLst/>
                <a:latin typeface="Söhne"/>
              </a:rPr>
              <a:t>Credit scoring, fraud detection, stock market analysis.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0D0D0D"/>
                </a:solidFill>
                <a:effectLst/>
                <a:latin typeface="Söhne"/>
              </a:rPr>
              <a:t>Marketing: </a:t>
            </a:r>
            <a:r>
              <a:rPr lang="en-US" sz="3200" b="0" i="0" dirty="0">
                <a:solidFill>
                  <a:srgbClr val="0D0D0D"/>
                </a:solidFill>
                <a:effectLst/>
                <a:latin typeface="Söhne"/>
              </a:rPr>
              <a:t>Customer segmentation, personalized recommendations.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0D0D0D"/>
                </a:solidFill>
                <a:effectLst/>
                <a:latin typeface="Söhne"/>
              </a:rPr>
              <a:t>Autonomous vehicles: </a:t>
            </a:r>
            <a:r>
              <a:rPr lang="en-US" sz="3200" b="0" i="0" dirty="0">
                <a:solidFill>
                  <a:srgbClr val="0D0D0D"/>
                </a:solidFill>
                <a:effectLst/>
                <a:latin typeface="Söhne"/>
              </a:rPr>
              <a:t>Object detection, obstacle avoidance.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90567D4-EA57-73CE-80FD-9014058D8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2200"/>
            <a:ext cx="32575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9320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0EAE8-9107-0E8C-BC29-51D082D6D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Advantages of Supervised Learning</a:t>
            </a:r>
            <a:endParaRPr lang="en-U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DAAB1-E7A8-D45B-AD1D-AAEF241EA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D0D0D"/>
                </a:solidFill>
                <a:effectLst/>
                <a:latin typeface="Söhne"/>
              </a:rPr>
              <a:t>Utilizes labeled data for training, enabling accurate predictions.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D0D0D"/>
                </a:solidFill>
                <a:effectLst/>
                <a:latin typeface="Söhne"/>
              </a:rPr>
              <a:t>Can handle a wide range of data types and problem domains.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D0D0D"/>
                </a:solidFill>
                <a:effectLst/>
                <a:latin typeface="Söhne"/>
              </a:rPr>
              <a:t>Offers interpretable models (e.g., decision trees) for insights and transparency.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D0D0D"/>
                </a:solidFill>
                <a:effectLst/>
                <a:latin typeface="Söhne"/>
              </a:rPr>
              <a:t>Scalable to large datasets and computationally efficient with modern algorithms.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7C3EC1B-FF05-C3AC-65AB-5AAB4C9D4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2200"/>
            <a:ext cx="32575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7923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F4897-EF27-3A62-6CED-AD8295DE1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U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CA2FF-D53A-1948-17B4-DFAEB77F2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D0D0D"/>
                </a:solidFill>
                <a:effectLst/>
                <a:latin typeface="Söhne"/>
              </a:rPr>
              <a:t>Supervised learning algorithms play a crucial role in predictive modeling across various industries.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D0D0D"/>
                </a:solidFill>
                <a:effectLst/>
                <a:latin typeface="Söhne"/>
              </a:rPr>
              <a:t>By leveraging labeled data and advanced algorithms, organizations can make informed decisions and gain competitive advantages.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D0D0D"/>
                </a:solidFill>
                <a:effectLst/>
                <a:latin typeface="Söhne"/>
              </a:rPr>
              <a:t>Thank you for attending our presentation. We welcome any questions or discussions.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94ADEBE-BFB4-4CB7-E679-3A4DC071B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2200"/>
            <a:ext cx="32575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2244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737</Words>
  <Application>Microsoft Office PowerPoint</Application>
  <PresentationFormat>Widescreen</PresentationFormat>
  <Paragraphs>84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Söhne</vt:lpstr>
      <vt:lpstr>Office Theme</vt:lpstr>
      <vt:lpstr>Supervised Learning</vt:lpstr>
      <vt:lpstr>Theme</vt:lpstr>
      <vt:lpstr>What is Supervised Learning?</vt:lpstr>
      <vt:lpstr>Key Concepts</vt:lpstr>
      <vt:lpstr>Popular Supervised Learning Algorithms</vt:lpstr>
      <vt:lpstr>Linear Regression</vt:lpstr>
      <vt:lpstr>Implementation</vt:lpstr>
      <vt:lpstr>Data Preparation</vt:lpstr>
      <vt:lpstr>Logistic Regression</vt:lpstr>
      <vt:lpstr>Decision Trees</vt:lpstr>
      <vt:lpstr>Random Forest</vt:lpstr>
      <vt:lpstr>Support Vector Machines (SVM)</vt:lpstr>
      <vt:lpstr>Neural Networks (Deep Learning)</vt:lpstr>
      <vt:lpstr>Applications of Supervised Learning</vt:lpstr>
      <vt:lpstr>Advantages of Supervised Learning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Supervised Learning</dc:title>
  <dc:creator>Ocen Samuel</dc:creator>
  <cp:lastModifiedBy>Ocen Samuel</cp:lastModifiedBy>
  <cp:revision>11</cp:revision>
  <dcterms:created xsi:type="dcterms:W3CDTF">2024-02-17T12:18:23Z</dcterms:created>
  <dcterms:modified xsi:type="dcterms:W3CDTF">2024-02-17T13:35:16Z</dcterms:modified>
</cp:coreProperties>
</file>