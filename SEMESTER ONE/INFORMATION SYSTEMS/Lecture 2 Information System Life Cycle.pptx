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notesMasterIdLst>
    <p:notesMasterId r:id="rId48"/>
  </p:notesMasterIdLst>
  <p:sldIdLst>
    <p:sldId id="321" r:id="rId2"/>
    <p:sldId id="323" r:id="rId3"/>
    <p:sldId id="276" r:id="rId4"/>
    <p:sldId id="266" r:id="rId5"/>
    <p:sldId id="258" r:id="rId6"/>
    <p:sldId id="278" r:id="rId7"/>
    <p:sldId id="262" r:id="rId8"/>
    <p:sldId id="275" r:id="rId9"/>
    <p:sldId id="270" r:id="rId10"/>
    <p:sldId id="271" r:id="rId11"/>
    <p:sldId id="263" r:id="rId12"/>
    <p:sldId id="279" r:id="rId13"/>
    <p:sldId id="325" r:id="rId14"/>
    <p:sldId id="326" r:id="rId15"/>
    <p:sldId id="327" r:id="rId16"/>
    <p:sldId id="328" r:id="rId17"/>
    <p:sldId id="280" r:id="rId18"/>
    <p:sldId id="312" r:id="rId19"/>
    <p:sldId id="313" r:id="rId20"/>
    <p:sldId id="314" r:id="rId21"/>
    <p:sldId id="315" r:id="rId22"/>
    <p:sldId id="285" r:id="rId23"/>
    <p:sldId id="286" r:id="rId24"/>
    <p:sldId id="287" r:id="rId25"/>
    <p:sldId id="289" r:id="rId26"/>
    <p:sldId id="290" r:id="rId27"/>
    <p:sldId id="291" r:id="rId28"/>
    <p:sldId id="293" r:id="rId29"/>
    <p:sldId id="294" r:id="rId30"/>
    <p:sldId id="297" r:id="rId31"/>
    <p:sldId id="298" r:id="rId32"/>
    <p:sldId id="299" r:id="rId33"/>
    <p:sldId id="300" r:id="rId34"/>
    <p:sldId id="301" r:id="rId35"/>
    <p:sldId id="302" r:id="rId36"/>
    <p:sldId id="303" r:id="rId37"/>
    <p:sldId id="310" r:id="rId38"/>
    <p:sldId id="311" r:id="rId39"/>
    <p:sldId id="305" r:id="rId40"/>
    <p:sldId id="284" r:id="rId41"/>
    <p:sldId id="319" r:id="rId42"/>
    <p:sldId id="320" r:id="rId43"/>
    <p:sldId id="316" r:id="rId44"/>
    <p:sldId id="317" r:id="rId45"/>
    <p:sldId id="318" r:id="rId46"/>
    <p:sldId id="324" r:id="rId4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315" autoAdjust="0"/>
    <p:restoredTop sz="94660"/>
  </p:normalViewPr>
  <p:slideViewPr>
    <p:cSldViewPr snapToGrid="0">
      <p:cViewPr varScale="1">
        <p:scale>
          <a:sx n="86" d="100"/>
          <a:sy n="86" d="100"/>
        </p:scale>
        <p:origin x="1661"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CCE01E-BD99-4FBE-A693-D5472246A2BD}" type="datetimeFigureOut">
              <a:rPr lang="en-US" smtClean="0"/>
              <a:t>9/14/2023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FB922E-DA4B-4476-950C-3AE2AE023554}" type="slidenum">
              <a:rPr lang="en-US" smtClean="0"/>
              <a:t>‹#›</a:t>
            </a:fld>
            <a:endParaRPr lang="en-US"/>
          </a:p>
        </p:txBody>
      </p:sp>
    </p:spTree>
    <p:extLst>
      <p:ext uri="{BB962C8B-B14F-4D97-AF65-F5344CB8AC3E}">
        <p14:creationId xmlns:p14="http://schemas.microsoft.com/office/powerpoint/2010/main" val="2684816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C431474-D295-4352-BB46-22D4B5E22581}" type="slidenum">
              <a:rPr lang="en-US" altLang="en-US" smtClean="0">
                <a:latin typeface="Calibri" panose="020F0502020204030204" pitchFamily="34" charset="0"/>
              </a:rPr>
              <a:pPr/>
              <a:t>2</a:t>
            </a:fld>
            <a:endParaRPr lang="en-US" altLang="en-US" smtClean="0">
              <a:latin typeface="Calibri" panose="020F0502020204030204" pitchFamily="34" charset="0"/>
            </a:endParaRPr>
          </a:p>
        </p:txBody>
      </p:sp>
      <p:sp>
        <p:nvSpPr>
          <p:cNvPr id="9219" name="Rectangle 2"/>
          <p:cNvSpPr>
            <a:spLocks noGrp="1" noRot="1" noChangeAspect="1" noChangeArrowheads="1" noTextEdit="1"/>
          </p:cNvSpPr>
          <p:nvPr>
            <p:ph type="sldImg"/>
          </p:nvPr>
        </p:nvSpPr>
        <p:spPr bwMode="auto">
          <a:xfrm>
            <a:off x="1417638" y="839788"/>
            <a:ext cx="4479925" cy="33591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20" name="Rectangle 3"/>
          <p:cNvSpPr>
            <a:spLocks noGrp="1" noChangeArrowheads="1"/>
          </p:cNvSpPr>
          <p:nvPr>
            <p:ph type="body" idx="1"/>
          </p:nvPr>
        </p:nvSpPr>
        <p:spPr bwMode="auto">
          <a:xfrm>
            <a:off x="974725" y="4560888"/>
            <a:ext cx="5365750" cy="43195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30811769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Notes Placeholder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Constraints : schedule, budget, Team composition and make,  software licensing  restrictions/requirement.</a:t>
            </a:r>
          </a:p>
        </p:txBody>
      </p:sp>
      <p:sp>
        <p:nvSpPr>
          <p:cNvPr id="14340"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A60E4C2-F6CA-426F-BCA0-4EDAD27B9A31}" type="slidenum">
              <a:rPr lang="en-US" altLang="en-US" smtClean="0">
                <a:latin typeface="Calibri" panose="020F0502020204030204" pitchFamily="34" charset="0"/>
              </a:rPr>
              <a:pPr/>
              <a:t>16</a:t>
            </a:fld>
            <a:endParaRPr lang="en-US" altLang="en-US" smtClean="0">
              <a:latin typeface="Calibri" panose="020F0502020204030204" pitchFamily="34" charset="0"/>
            </a:endParaRPr>
          </a:p>
        </p:txBody>
      </p:sp>
    </p:spTree>
    <p:extLst>
      <p:ext uri="{BB962C8B-B14F-4D97-AF65-F5344CB8AC3E}">
        <p14:creationId xmlns:p14="http://schemas.microsoft.com/office/powerpoint/2010/main" val="26199267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C3D3910-C81D-4FDB-9A64-5A2A8778E9D8}" type="slidenum">
              <a:rPr lang="en-US" altLang="en-US" smtClean="0">
                <a:latin typeface="Calibri" panose="020F0502020204030204" pitchFamily="34" charset="0"/>
              </a:rPr>
              <a:pPr/>
              <a:t>18</a:t>
            </a:fld>
            <a:endParaRPr lang="en-US" altLang="en-US" smtClean="0">
              <a:latin typeface="Calibri" panose="020F0502020204030204" pitchFamily="34" charset="0"/>
            </a:endParaRPr>
          </a:p>
        </p:txBody>
      </p:sp>
      <p:sp>
        <p:nvSpPr>
          <p:cNvPr id="20483" name="Rectangle 2"/>
          <p:cNvSpPr>
            <a:spLocks noGrp="1" noRot="1" noChangeAspect="1" noChangeArrowheads="1" noTextEdit="1"/>
          </p:cNvSpPr>
          <p:nvPr>
            <p:ph type="sldImg"/>
          </p:nvPr>
        </p:nvSpPr>
        <p:spPr bwMode="auto">
          <a:xfrm>
            <a:off x="1417638" y="839788"/>
            <a:ext cx="4479925" cy="33591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4" name="Rectangle 3"/>
          <p:cNvSpPr>
            <a:spLocks noGrp="1" noChangeArrowheads="1"/>
          </p:cNvSpPr>
          <p:nvPr>
            <p:ph type="body" idx="1"/>
          </p:nvPr>
        </p:nvSpPr>
        <p:spPr bwMode="auto">
          <a:xfrm>
            <a:off x="974725" y="4560888"/>
            <a:ext cx="5365750" cy="43195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42354166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3BDA087-DFEE-47FA-9873-89024CC2AC0B}" type="slidenum">
              <a:rPr lang="en-US" altLang="en-US" smtClean="0">
                <a:latin typeface="Calibri" panose="020F0502020204030204" pitchFamily="34" charset="0"/>
              </a:rPr>
              <a:pPr/>
              <a:t>19</a:t>
            </a:fld>
            <a:endParaRPr lang="en-US" altLang="en-US" smtClean="0">
              <a:latin typeface="Calibri" panose="020F0502020204030204" pitchFamily="34" charset="0"/>
            </a:endParaRPr>
          </a:p>
        </p:txBody>
      </p:sp>
      <p:sp>
        <p:nvSpPr>
          <p:cNvPr id="22531" name="Rectangle 2"/>
          <p:cNvSpPr>
            <a:spLocks noGrp="1" noRot="1" noChangeAspect="1" noChangeArrowheads="1" noTextEdit="1"/>
          </p:cNvSpPr>
          <p:nvPr>
            <p:ph type="sldImg"/>
          </p:nvPr>
        </p:nvSpPr>
        <p:spPr bwMode="auto">
          <a:xfrm>
            <a:off x="1417638" y="839788"/>
            <a:ext cx="4479925" cy="33591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2" name="Rectangle 3"/>
          <p:cNvSpPr>
            <a:spLocks noGrp="1" noChangeArrowheads="1"/>
          </p:cNvSpPr>
          <p:nvPr>
            <p:ph type="body" idx="1"/>
          </p:nvPr>
        </p:nvSpPr>
        <p:spPr bwMode="auto">
          <a:xfrm>
            <a:off x="974725" y="4560888"/>
            <a:ext cx="5365750" cy="43195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6746321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E71C52F-D85B-4FF9-8337-FCBCA0EFE0F2}" type="slidenum">
              <a:rPr lang="en-US" altLang="en-US" smtClean="0">
                <a:latin typeface="Calibri" panose="020F0502020204030204" pitchFamily="34" charset="0"/>
              </a:rPr>
              <a:pPr/>
              <a:t>20</a:t>
            </a:fld>
            <a:endParaRPr lang="en-US" altLang="en-US" smtClean="0">
              <a:latin typeface="Calibri" panose="020F0502020204030204" pitchFamily="34" charset="0"/>
            </a:endParaRPr>
          </a:p>
        </p:txBody>
      </p:sp>
      <p:sp>
        <p:nvSpPr>
          <p:cNvPr id="24579" name="Rectangle 2"/>
          <p:cNvSpPr>
            <a:spLocks noGrp="1" noRot="1" noChangeAspect="1" noChangeArrowheads="1" noTextEdit="1"/>
          </p:cNvSpPr>
          <p:nvPr>
            <p:ph type="sldImg"/>
          </p:nvPr>
        </p:nvSpPr>
        <p:spPr bwMode="auto">
          <a:xfrm>
            <a:off x="1417638" y="839788"/>
            <a:ext cx="4479925" cy="33591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80" name="Rectangle 3"/>
          <p:cNvSpPr>
            <a:spLocks noGrp="1" noChangeArrowheads="1"/>
          </p:cNvSpPr>
          <p:nvPr>
            <p:ph type="body" idx="1"/>
          </p:nvPr>
        </p:nvSpPr>
        <p:spPr bwMode="auto">
          <a:xfrm>
            <a:off x="974725" y="4560888"/>
            <a:ext cx="5365750" cy="43195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17032647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4251CF-9968-4F4B-9B95-3B95E809C305}" type="slidenum">
              <a:rPr lang="en-US" altLang="en-US" smtClean="0">
                <a:latin typeface="Calibri" panose="020F0502020204030204" pitchFamily="34" charset="0"/>
              </a:rPr>
              <a:pPr/>
              <a:t>21</a:t>
            </a:fld>
            <a:endParaRPr lang="en-US" altLang="en-US" smtClean="0">
              <a:latin typeface="Calibri" panose="020F0502020204030204" pitchFamily="34" charset="0"/>
            </a:endParaRPr>
          </a:p>
        </p:txBody>
      </p:sp>
      <p:sp>
        <p:nvSpPr>
          <p:cNvPr id="26627" name="Rectangle 2"/>
          <p:cNvSpPr>
            <a:spLocks noGrp="1" noRot="1" noChangeAspect="1" noChangeArrowheads="1" noTextEdit="1"/>
          </p:cNvSpPr>
          <p:nvPr>
            <p:ph type="sldImg"/>
          </p:nvPr>
        </p:nvSpPr>
        <p:spPr bwMode="auto">
          <a:xfrm>
            <a:off x="1417638" y="839788"/>
            <a:ext cx="4479925" cy="33591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8" name="Rectangle 3"/>
          <p:cNvSpPr>
            <a:spLocks noGrp="1" noChangeArrowheads="1"/>
          </p:cNvSpPr>
          <p:nvPr>
            <p:ph type="body" idx="1"/>
          </p:nvPr>
        </p:nvSpPr>
        <p:spPr bwMode="auto">
          <a:xfrm>
            <a:off x="974725" y="4560888"/>
            <a:ext cx="5365750" cy="43195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30330104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93DB1A-8C88-4D42-9BBA-C6D1A520508D}" type="slidenum">
              <a:rPr lang="en-US" altLang="en-US"/>
              <a:pPr/>
              <a:t>22</a:t>
            </a:fld>
            <a:endParaRPr lang="en-US" altLang="en-US"/>
          </a:p>
        </p:txBody>
      </p:sp>
      <p:sp>
        <p:nvSpPr>
          <p:cNvPr id="83970" name="Rectangle 2"/>
          <p:cNvSpPr>
            <a:spLocks noGrp="1" noRot="1" noChangeAspect="1" noChangeArrowheads="1" noTextEdit="1"/>
          </p:cNvSpPr>
          <p:nvPr>
            <p:ph type="sldImg"/>
          </p:nvPr>
        </p:nvSpPr>
        <p:spPr>
          <a:xfrm>
            <a:off x="1371600" y="1143000"/>
            <a:ext cx="4114800" cy="3086100"/>
          </a:xfrm>
          <a:ln/>
        </p:spPr>
      </p:sp>
      <p:sp>
        <p:nvSpPr>
          <p:cNvPr id="8397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7969570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38CA070-8760-4329-A11D-11934D67543B}" type="slidenum">
              <a:rPr lang="en-US" altLang="en-US"/>
              <a:pPr/>
              <a:t>23</a:t>
            </a:fld>
            <a:endParaRPr lang="en-US" altLang="en-US"/>
          </a:p>
        </p:txBody>
      </p:sp>
      <p:sp>
        <p:nvSpPr>
          <p:cNvPr id="84994" name="Rectangle 2"/>
          <p:cNvSpPr>
            <a:spLocks noGrp="1" noRot="1" noChangeAspect="1" noChangeArrowheads="1" noTextEdit="1"/>
          </p:cNvSpPr>
          <p:nvPr>
            <p:ph type="sldImg"/>
          </p:nvPr>
        </p:nvSpPr>
        <p:spPr>
          <a:xfrm>
            <a:off x="1371600" y="1143000"/>
            <a:ext cx="4114800" cy="3086100"/>
          </a:xfrm>
          <a:ln/>
        </p:spPr>
      </p:sp>
      <p:sp>
        <p:nvSpPr>
          <p:cNvPr id="8499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0038136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C4B6915-E71E-4216-9CE6-EF2E246484F8}" type="slidenum">
              <a:rPr lang="en-US" altLang="en-US"/>
              <a:pPr/>
              <a:t>24</a:t>
            </a:fld>
            <a:endParaRPr lang="en-US" altLang="en-US"/>
          </a:p>
        </p:txBody>
      </p:sp>
      <p:sp>
        <p:nvSpPr>
          <p:cNvPr id="86018" name="Rectangle 2"/>
          <p:cNvSpPr>
            <a:spLocks noGrp="1" noRot="1" noChangeAspect="1" noChangeArrowheads="1" noTextEdit="1"/>
          </p:cNvSpPr>
          <p:nvPr>
            <p:ph type="sldImg"/>
          </p:nvPr>
        </p:nvSpPr>
        <p:spPr>
          <a:xfrm>
            <a:off x="1371600" y="1143000"/>
            <a:ext cx="4114800" cy="3086100"/>
          </a:xfrm>
          <a:ln/>
        </p:spPr>
      </p:sp>
      <p:sp>
        <p:nvSpPr>
          <p:cNvPr id="8601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8529552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BF04A59-B356-4E9F-B042-B99302C31E22}" type="slidenum">
              <a:rPr lang="en-US" altLang="en-US"/>
              <a:pPr/>
              <a:t>25</a:t>
            </a:fld>
            <a:endParaRPr lang="en-US" altLang="en-US"/>
          </a:p>
        </p:txBody>
      </p:sp>
      <p:sp>
        <p:nvSpPr>
          <p:cNvPr id="88066" name="Rectangle 2"/>
          <p:cNvSpPr>
            <a:spLocks noGrp="1" noRot="1" noChangeAspect="1" noChangeArrowheads="1" noTextEdit="1"/>
          </p:cNvSpPr>
          <p:nvPr>
            <p:ph type="sldImg"/>
          </p:nvPr>
        </p:nvSpPr>
        <p:spPr>
          <a:xfrm>
            <a:off x="1371600" y="1143000"/>
            <a:ext cx="4114800" cy="3086100"/>
          </a:xfrm>
          <a:ln/>
        </p:spPr>
      </p:sp>
      <p:sp>
        <p:nvSpPr>
          <p:cNvPr id="8806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0303985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3209594-9993-48F9-8458-E62C3317B9CC}" type="slidenum">
              <a:rPr lang="en-US" altLang="en-US"/>
              <a:pPr/>
              <a:t>26</a:t>
            </a:fld>
            <a:endParaRPr lang="en-US" altLang="en-US"/>
          </a:p>
        </p:txBody>
      </p:sp>
      <p:sp>
        <p:nvSpPr>
          <p:cNvPr id="89090" name="Rectangle 2"/>
          <p:cNvSpPr>
            <a:spLocks noGrp="1" noRot="1" noChangeAspect="1" noChangeArrowheads="1" noTextEdit="1"/>
          </p:cNvSpPr>
          <p:nvPr>
            <p:ph type="sldImg"/>
          </p:nvPr>
        </p:nvSpPr>
        <p:spPr>
          <a:xfrm>
            <a:off x="1371600" y="1143000"/>
            <a:ext cx="4114800" cy="3086100"/>
          </a:xfrm>
          <a:ln/>
        </p:spPr>
      </p:sp>
      <p:sp>
        <p:nvSpPr>
          <p:cNvPr id="8909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8439119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69E1B29-B6A2-4656-B298-DD2F7E343BDB}" type="slidenum">
              <a:rPr lang="en-US" altLang="en-US"/>
              <a:pPr/>
              <a:t>27</a:t>
            </a:fld>
            <a:endParaRPr lang="en-US" altLang="en-US"/>
          </a:p>
        </p:txBody>
      </p:sp>
      <p:sp>
        <p:nvSpPr>
          <p:cNvPr id="90114" name="Rectangle 2"/>
          <p:cNvSpPr>
            <a:spLocks noGrp="1" noRot="1" noChangeAspect="1" noChangeArrowheads="1" noTextEdit="1"/>
          </p:cNvSpPr>
          <p:nvPr>
            <p:ph type="sldImg"/>
          </p:nvPr>
        </p:nvSpPr>
        <p:spPr>
          <a:xfrm>
            <a:off x="1371600" y="1143000"/>
            <a:ext cx="4114800" cy="3086100"/>
          </a:xfrm>
          <a:ln/>
        </p:spPr>
      </p:sp>
      <p:sp>
        <p:nvSpPr>
          <p:cNvPr id="9011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8834769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EC5694F-4C5C-4C31-8BC6-F380926F67F1}" type="slidenum">
              <a:rPr lang="en-US" altLang="en-US"/>
              <a:pPr/>
              <a:t>28</a:t>
            </a:fld>
            <a:endParaRPr lang="en-US" altLang="en-US"/>
          </a:p>
        </p:txBody>
      </p:sp>
      <p:sp>
        <p:nvSpPr>
          <p:cNvPr id="92162" name="Rectangle 2"/>
          <p:cNvSpPr>
            <a:spLocks noGrp="1" noRot="1" noChangeAspect="1" noChangeArrowheads="1" noTextEdit="1"/>
          </p:cNvSpPr>
          <p:nvPr>
            <p:ph type="sldImg"/>
          </p:nvPr>
        </p:nvSpPr>
        <p:spPr>
          <a:xfrm>
            <a:off x="1371600" y="1143000"/>
            <a:ext cx="4114800" cy="3086100"/>
          </a:xfrm>
          <a:ln/>
        </p:spPr>
      </p:sp>
      <p:sp>
        <p:nvSpPr>
          <p:cNvPr id="9216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0872703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E92E61C-6901-44E3-8287-C38EB2E4485E}" type="slidenum">
              <a:rPr lang="en-US" altLang="en-US"/>
              <a:pPr/>
              <a:t>29</a:t>
            </a:fld>
            <a:endParaRPr lang="en-US" altLang="en-US"/>
          </a:p>
        </p:txBody>
      </p:sp>
      <p:sp>
        <p:nvSpPr>
          <p:cNvPr id="93186" name="Rectangle 2"/>
          <p:cNvSpPr>
            <a:spLocks noGrp="1" noRot="1" noChangeAspect="1" noChangeArrowheads="1" noTextEdit="1"/>
          </p:cNvSpPr>
          <p:nvPr>
            <p:ph type="sldImg"/>
          </p:nvPr>
        </p:nvSpPr>
        <p:spPr>
          <a:xfrm>
            <a:off x="1371600" y="1143000"/>
            <a:ext cx="4114800" cy="3086100"/>
          </a:xfrm>
          <a:ln/>
        </p:spPr>
      </p:sp>
      <p:sp>
        <p:nvSpPr>
          <p:cNvPr id="9318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6101095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4700AAF-4F12-40D7-9B44-0DA0D6603900}" type="slidenum">
              <a:rPr lang="en-US" altLang="en-US"/>
              <a:pPr/>
              <a:t>30</a:t>
            </a:fld>
            <a:endParaRPr lang="en-US" altLang="en-US"/>
          </a:p>
        </p:txBody>
      </p:sp>
      <p:sp>
        <p:nvSpPr>
          <p:cNvPr id="96258" name="Rectangle 2"/>
          <p:cNvSpPr>
            <a:spLocks noGrp="1" noRot="1" noChangeAspect="1" noChangeArrowheads="1" noTextEdit="1"/>
          </p:cNvSpPr>
          <p:nvPr>
            <p:ph type="sldImg"/>
          </p:nvPr>
        </p:nvSpPr>
        <p:spPr>
          <a:xfrm>
            <a:off x="1371600" y="1143000"/>
            <a:ext cx="4114800" cy="3086100"/>
          </a:xfrm>
          <a:ln/>
        </p:spPr>
      </p:sp>
      <p:sp>
        <p:nvSpPr>
          <p:cNvPr id="9625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6564475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2AEABDA-567E-423F-ABF1-15FE484BA208}" type="slidenum">
              <a:rPr lang="en-US" altLang="en-US"/>
              <a:pPr/>
              <a:t>31</a:t>
            </a:fld>
            <a:endParaRPr lang="en-US" altLang="en-US"/>
          </a:p>
        </p:txBody>
      </p:sp>
      <p:sp>
        <p:nvSpPr>
          <p:cNvPr id="97282" name="Rectangle 2"/>
          <p:cNvSpPr>
            <a:spLocks noGrp="1" noRot="1" noChangeAspect="1" noChangeArrowheads="1" noTextEdit="1"/>
          </p:cNvSpPr>
          <p:nvPr>
            <p:ph type="sldImg"/>
          </p:nvPr>
        </p:nvSpPr>
        <p:spPr>
          <a:xfrm>
            <a:off x="1371600" y="1143000"/>
            <a:ext cx="4114800" cy="3086100"/>
          </a:xfrm>
          <a:ln/>
        </p:spPr>
      </p:sp>
      <p:sp>
        <p:nvSpPr>
          <p:cNvPr id="9728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850725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BA48305-DD9B-48A1-A638-67157FC8846D}" type="slidenum">
              <a:rPr lang="en-US" altLang="en-US"/>
              <a:pPr/>
              <a:t>32</a:t>
            </a:fld>
            <a:endParaRPr lang="en-US" altLang="en-US"/>
          </a:p>
        </p:txBody>
      </p:sp>
      <p:sp>
        <p:nvSpPr>
          <p:cNvPr id="98306" name="Rectangle 2"/>
          <p:cNvSpPr>
            <a:spLocks noGrp="1" noRot="1" noChangeAspect="1" noChangeArrowheads="1" noTextEdit="1"/>
          </p:cNvSpPr>
          <p:nvPr>
            <p:ph type="sldImg"/>
          </p:nvPr>
        </p:nvSpPr>
        <p:spPr>
          <a:xfrm>
            <a:off x="1371600" y="1143000"/>
            <a:ext cx="4114800" cy="3086100"/>
          </a:xfrm>
          <a:ln/>
        </p:spPr>
      </p:sp>
      <p:sp>
        <p:nvSpPr>
          <p:cNvPr id="9830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5778935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4670E4A-4299-4B82-9341-05EAB587C01D}" type="slidenum">
              <a:rPr lang="en-US" altLang="en-US"/>
              <a:pPr/>
              <a:t>33</a:t>
            </a:fld>
            <a:endParaRPr lang="en-US" altLang="en-US"/>
          </a:p>
        </p:txBody>
      </p:sp>
      <p:sp>
        <p:nvSpPr>
          <p:cNvPr id="99330" name="Rectangle 2"/>
          <p:cNvSpPr>
            <a:spLocks noGrp="1" noRot="1" noChangeAspect="1" noChangeArrowheads="1" noTextEdit="1"/>
          </p:cNvSpPr>
          <p:nvPr>
            <p:ph type="sldImg"/>
          </p:nvPr>
        </p:nvSpPr>
        <p:spPr>
          <a:xfrm>
            <a:off x="1371600" y="1143000"/>
            <a:ext cx="4114800" cy="3086100"/>
          </a:xfrm>
          <a:ln/>
        </p:spPr>
      </p:sp>
      <p:sp>
        <p:nvSpPr>
          <p:cNvPr id="9933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9873420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7C45E6C-62A5-4B79-82A0-053CA00DA8E6}" type="slidenum">
              <a:rPr lang="en-US" altLang="en-US"/>
              <a:pPr/>
              <a:t>34</a:t>
            </a:fld>
            <a:endParaRPr lang="en-US" altLang="en-US"/>
          </a:p>
        </p:txBody>
      </p:sp>
      <p:sp>
        <p:nvSpPr>
          <p:cNvPr id="100354" name="Rectangle 2"/>
          <p:cNvSpPr>
            <a:spLocks noGrp="1" noRot="1" noChangeAspect="1" noChangeArrowheads="1" noTextEdit="1"/>
          </p:cNvSpPr>
          <p:nvPr>
            <p:ph type="sldImg"/>
          </p:nvPr>
        </p:nvSpPr>
        <p:spPr>
          <a:xfrm>
            <a:off x="1371600" y="1143000"/>
            <a:ext cx="4114800" cy="3086100"/>
          </a:xfrm>
          <a:ln/>
        </p:spPr>
      </p:sp>
      <p:sp>
        <p:nvSpPr>
          <p:cNvPr id="10035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355299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EC642A-1878-491D-983B-6EDAAD453705}" type="slidenum">
              <a:rPr lang="en-US" altLang="en-US"/>
              <a:pPr/>
              <a:t>35</a:t>
            </a:fld>
            <a:endParaRPr lang="en-US" altLang="en-US"/>
          </a:p>
        </p:txBody>
      </p:sp>
      <p:sp>
        <p:nvSpPr>
          <p:cNvPr id="101378" name="Rectangle 2"/>
          <p:cNvSpPr>
            <a:spLocks noGrp="1" noRot="1" noChangeAspect="1" noChangeArrowheads="1" noTextEdit="1"/>
          </p:cNvSpPr>
          <p:nvPr>
            <p:ph type="sldImg"/>
          </p:nvPr>
        </p:nvSpPr>
        <p:spPr>
          <a:xfrm>
            <a:off x="1371600" y="1143000"/>
            <a:ext cx="4114800" cy="3086100"/>
          </a:xfrm>
          <a:ln/>
        </p:spPr>
      </p:sp>
      <p:sp>
        <p:nvSpPr>
          <p:cNvPr id="10137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8903269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01D8C1E-DD56-44D3-891C-C5E07B3CD570}" type="slidenum">
              <a:rPr lang="en-US" altLang="en-US"/>
              <a:pPr/>
              <a:t>36</a:t>
            </a:fld>
            <a:endParaRPr lang="en-US" altLang="en-US"/>
          </a:p>
        </p:txBody>
      </p:sp>
      <p:sp>
        <p:nvSpPr>
          <p:cNvPr id="102402" name="Rectangle 2"/>
          <p:cNvSpPr>
            <a:spLocks noGrp="1" noRot="1" noChangeAspect="1" noChangeArrowheads="1" noTextEdit="1"/>
          </p:cNvSpPr>
          <p:nvPr>
            <p:ph type="sldImg"/>
          </p:nvPr>
        </p:nvSpPr>
        <p:spPr>
          <a:xfrm>
            <a:off x="1371600" y="1143000"/>
            <a:ext cx="4114800" cy="3086100"/>
          </a:xfrm>
          <a:ln/>
        </p:spPr>
      </p:sp>
      <p:sp>
        <p:nvSpPr>
          <p:cNvPr id="10240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5255656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D2FE6A5-B6C7-4F91-8708-E9DB99AFD2C3}" type="slidenum">
              <a:rPr lang="en-US" altLang="en-US" smtClean="0">
                <a:latin typeface="Calibri" panose="020F0502020204030204" pitchFamily="34" charset="0"/>
              </a:rPr>
              <a:pPr/>
              <a:t>37</a:t>
            </a:fld>
            <a:endParaRPr lang="en-US" altLang="en-US" smtClean="0">
              <a:latin typeface="Calibri" panose="020F0502020204030204" pitchFamily="34" charset="0"/>
            </a:endParaRPr>
          </a:p>
        </p:txBody>
      </p:sp>
      <p:sp>
        <p:nvSpPr>
          <p:cNvPr id="44035" name="Rectangle 2"/>
          <p:cNvSpPr>
            <a:spLocks noGrp="1" noRot="1" noChangeAspect="1" noChangeArrowheads="1" noTextEdit="1"/>
          </p:cNvSpPr>
          <p:nvPr>
            <p:ph type="sldImg"/>
          </p:nvPr>
        </p:nvSpPr>
        <p:spPr bwMode="auto">
          <a:xfrm>
            <a:off x="1265238" y="725488"/>
            <a:ext cx="4784725" cy="3587750"/>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44036" name="Rectangle 3"/>
          <p:cNvSpPr>
            <a:spLocks noGrp="1" noChangeArrowheads="1"/>
          </p:cNvSpPr>
          <p:nvPr>
            <p:ph type="body" idx="1"/>
          </p:nvPr>
        </p:nvSpPr>
        <p:spPr bwMode="auto">
          <a:xfrm>
            <a:off x="974725" y="4560888"/>
            <a:ext cx="5365750" cy="43195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6809" tIns="48405" rIns="96809" bIns="48405" numCol="1" anchor="t" anchorCtr="0" compatLnSpc="1">
            <a:prstTxWarp prst="textNoShape">
              <a:avLst/>
            </a:prstTxWarp>
          </a:bodyPr>
          <a:lstStyle/>
          <a:p>
            <a:pPr eaLnBrk="1" hangingPunct="1">
              <a:spcBef>
                <a:spcPct val="0"/>
              </a:spcBef>
            </a:pPr>
            <a:r>
              <a:rPr lang="en-US" altLang="en-US" smtClean="0"/>
              <a:t>An organization can only work on only a limited number of projects at a given time due to limited resources so care must be taken when selecting the projects to build.</a:t>
            </a:r>
          </a:p>
          <a:p>
            <a:pPr eaLnBrk="1" hangingPunct="1">
              <a:spcBef>
                <a:spcPct val="0"/>
              </a:spcBef>
            </a:pPr>
            <a:endParaRPr lang="en-US" altLang="en-US" smtClean="0"/>
          </a:p>
          <a:p>
            <a:pPr eaLnBrk="1" hangingPunct="1">
              <a:spcBef>
                <a:spcPct val="0"/>
              </a:spcBef>
            </a:pPr>
            <a:r>
              <a:rPr lang="en-US" altLang="en-US" smtClean="0"/>
              <a:t>After all possible projects are identified, those deemed most likely to yield significant organizational benefits, given available resources, are selected for subsequent development.</a:t>
            </a:r>
          </a:p>
          <a:p>
            <a:pPr eaLnBrk="1" hangingPunct="1">
              <a:spcBef>
                <a:spcPct val="0"/>
              </a:spcBef>
            </a:pPr>
            <a:endParaRPr lang="en-US" altLang="en-US" smtClean="0"/>
          </a:p>
          <a:p>
            <a:pPr eaLnBrk="1" hangingPunct="1">
              <a:spcBef>
                <a:spcPct val="0"/>
              </a:spcBef>
            </a:pPr>
            <a:r>
              <a:rPr lang="en-US" altLang="en-US" smtClean="0"/>
              <a:t>Some possible evaluation criteria for ranking potential projects are: strategic alignment, potential benefits, potential costs and resource availability, project size and duration, and technical difficulty.</a:t>
            </a:r>
          </a:p>
        </p:txBody>
      </p:sp>
    </p:spTree>
    <p:extLst>
      <p:ext uri="{BB962C8B-B14F-4D97-AF65-F5344CB8AC3E}">
        <p14:creationId xmlns:p14="http://schemas.microsoft.com/office/powerpoint/2010/main" val="28625602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5A378D6-66A9-48B0-9A25-DFD646DE15D7}" type="slidenum">
              <a:rPr lang="en-US" altLang="en-US" smtClean="0">
                <a:latin typeface="Calibri" panose="020F0502020204030204" pitchFamily="34" charset="0"/>
              </a:rPr>
              <a:pPr/>
              <a:t>38</a:t>
            </a:fld>
            <a:endParaRPr lang="en-US" altLang="en-US" smtClean="0">
              <a:latin typeface="Calibri" panose="020F0502020204030204" pitchFamily="34" charset="0"/>
            </a:endParaRPr>
          </a:p>
        </p:txBody>
      </p:sp>
      <p:sp>
        <p:nvSpPr>
          <p:cNvPr id="46083" name="Rectangle 2"/>
          <p:cNvSpPr>
            <a:spLocks noGrp="1" noRot="1" noChangeAspect="1" noChangeArrowheads="1" noTextEdit="1"/>
          </p:cNvSpPr>
          <p:nvPr>
            <p:ph type="sldImg"/>
          </p:nvPr>
        </p:nvSpPr>
        <p:spPr bwMode="auto">
          <a:xfrm>
            <a:off x="1417638" y="839788"/>
            <a:ext cx="4479925" cy="33591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4" name="Rectangle 3"/>
          <p:cNvSpPr>
            <a:spLocks noGrp="1" noChangeArrowheads="1"/>
          </p:cNvSpPr>
          <p:nvPr>
            <p:ph type="body" idx="1"/>
          </p:nvPr>
        </p:nvSpPr>
        <p:spPr bwMode="auto">
          <a:xfrm>
            <a:off x="974725" y="4560888"/>
            <a:ext cx="5365750" cy="43195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21701777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8745615-7FA6-4A0F-A3C3-85322587B39D}" type="slidenum">
              <a:rPr lang="en-US" altLang="en-US"/>
              <a:pPr/>
              <a:t>39</a:t>
            </a:fld>
            <a:endParaRPr lang="en-US" altLang="en-US"/>
          </a:p>
        </p:txBody>
      </p:sp>
      <p:sp>
        <p:nvSpPr>
          <p:cNvPr id="104450" name="Rectangle 2"/>
          <p:cNvSpPr>
            <a:spLocks noGrp="1" noRot="1" noChangeAspect="1" noChangeArrowheads="1" noTextEdit="1"/>
          </p:cNvSpPr>
          <p:nvPr>
            <p:ph type="sldImg"/>
          </p:nvPr>
        </p:nvSpPr>
        <p:spPr>
          <a:xfrm>
            <a:off x="1371600" y="1143000"/>
            <a:ext cx="4114800" cy="3086100"/>
          </a:xfrm>
          <a:ln/>
        </p:spPr>
      </p:sp>
      <p:sp>
        <p:nvSpPr>
          <p:cNvPr id="10445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8630173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Notes Placeholder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6758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44E2C55-84A0-4FA2-90B8-1F4DC415B6E5}" type="slidenum">
              <a:rPr lang="en-US" altLang="en-US" smtClean="0">
                <a:latin typeface="Calibri" panose="020F0502020204030204" pitchFamily="34" charset="0"/>
              </a:rPr>
              <a:pPr/>
              <a:t>45</a:t>
            </a:fld>
            <a:endParaRPr lang="en-US" altLang="en-US" smtClean="0">
              <a:latin typeface="Calibri" panose="020F0502020204030204" pitchFamily="34" charset="0"/>
            </a:endParaRPr>
          </a:p>
        </p:txBody>
      </p:sp>
    </p:spTree>
    <p:extLst>
      <p:ext uri="{BB962C8B-B14F-4D97-AF65-F5344CB8AC3E}">
        <p14:creationId xmlns:p14="http://schemas.microsoft.com/office/powerpoint/2010/main" val="21403874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1176DA2-8B60-43BB-8347-73EFA4D0CE84}" type="datetime1">
              <a:rPr lang="en-US" smtClean="0"/>
              <a:t>9/14/2023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3EA004-F8A2-4490-BFAE-85849A2E5323}" type="slidenum">
              <a:rPr lang="en-US" smtClean="0"/>
              <a:t>‹#›</a:t>
            </a:fld>
            <a:endParaRPr lang="en-US"/>
          </a:p>
        </p:txBody>
      </p:sp>
    </p:spTree>
    <p:extLst>
      <p:ext uri="{BB962C8B-B14F-4D97-AF65-F5344CB8AC3E}">
        <p14:creationId xmlns:p14="http://schemas.microsoft.com/office/powerpoint/2010/main" val="309269242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8CD952-F341-4A3F-A1F8-C99F5C4E16CD}" type="datetime1">
              <a:rPr lang="en-US" smtClean="0"/>
              <a:t>9/14/2023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3EA004-F8A2-4490-BFAE-85849A2E5323}" type="slidenum">
              <a:rPr lang="en-US" smtClean="0"/>
              <a:t>‹#›</a:t>
            </a:fld>
            <a:endParaRPr lang="en-US"/>
          </a:p>
        </p:txBody>
      </p:sp>
    </p:spTree>
    <p:extLst>
      <p:ext uri="{BB962C8B-B14F-4D97-AF65-F5344CB8AC3E}">
        <p14:creationId xmlns:p14="http://schemas.microsoft.com/office/powerpoint/2010/main" val="23090478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395AA64-5ED6-4489-9CEC-D94EC52803F2}" type="datetime1">
              <a:rPr lang="en-US" smtClean="0"/>
              <a:t>9/14/2023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3EA004-F8A2-4490-BFAE-85849A2E5323}" type="slidenum">
              <a:rPr lang="en-US" smtClean="0"/>
              <a:t>‹#›</a:t>
            </a:fld>
            <a:endParaRPr lang="en-US"/>
          </a:p>
        </p:txBody>
      </p:sp>
    </p:spTree>
    <p:extLst>
      <p:ext uri="{BB962C8B-B14F-4D97-AF65-F5344CB8AC3E}">
        <p14:creationId xmlns:p14="http://schemas.microsoft.com/office/powerpoint/2010/main" val="26607322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91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428ACC2-FA4B-42D3-8E27-4B9835EFEEA2}" type="datetime1">
              <a:rPr lang="en-US" smtClean="0"/>
              <a:t>9/14/2023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3EA004-F8A2-4490-BFAE-85849A2E5323}" type="slidenum">
              <a:rPr lang="en-US" smtClean="0"/>
              <a:t>‹#›</a:t>
            </a:fld>
            <a:endParaRPr lang="en-US"/>
          </a:p>
        </p:txBody>
      </p:sp>
    </p:spTree>
    <p:extLst>
      <p:ext uri="{BB962C8B-B14F-4D97-AF65-F5344CB8AC3E}">
        <p14:creationId xmlns:p14="http://schemas.microsoft.com/office/powerpoint/2010/main" val="16294971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71FB13B-F70C-4777-B2F0-A409A93F1148}" type="datetime1">
              <a:rPr lang="en-US" smtClean="0"/>
              <a:t>9/14/2023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43EA004-F8A2-4490-BFAE-85849A2E5323}" type="slidenum">
              <a:rPr lang="en-US" smtClean="0"/>
              <a:t>‹#›</a:t>
            </a:fld>
            <a:endParaRPr lang="en-US"/>
          </a:p>
        </p:txBody>
      </p:sp>
    </p:spTree>
    <p:extLst>
      <p:ext uri="{BB962C8B-B14F-4D97-AF65-F5344CB8AC3E}">
        <p14:creationId xmlns:p14="http://schemas.microsoft.com/office/powerpoint/2010/main" val="253267669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054E253-D86B-45CE-A17C-8F6FCA8514B2}" type="datetime1">
              <a:rPr lang="en-US" smtClean="0"/>
              <a:t>9/14/2023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43EA004-F8A2-4490-BFAE-85849A2E5323}" type="slidenum">
              <a:rPr lang="en-US" smtClean="0"/>
              <a:t>‹#›</a:t>
            </a:fld>
            <a:endParaRPr lang="en-US"/>
          </a:p>
        </p:txBody>
      </p:sp>
    </p:spTree>
    <p:extLst>
      <p:ext uri="{BB962C8B-B14F-4D97-AF65-F5344CB8AC3E}">
        <p14:creationId xmlns:p14="http://schemas.microsoft.com/office/powerpoint/2010/main" val="341360119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4A0E3A-B290-4C27-8C2D-85C12CB8B582}" type="datetime1">
              <a:rPr lang="en-US" smtClean="0"/>
              <a:t>9/14/2023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43EA004-F8A2-4490-BFAE-85849A2E5323}" type="slidenum">
              <a:rPr lang="en-US" smtClean="0"/>
              <a:t>‹#›</a:t>
            </a:fld>
            <a:endParaRPr lang="en-US"/>
          </a:p>
        </p:txBody>
      </p:sp>
    </p:spTree>
    <p:extLst>
      <p:ext uri="{BB962C8B-B14F-4D97-AF65-F5344CB8AC3E}">
        <p14:creationId xmlns:p14="http://schemas.microsoft.com/office/powerpoint/2010/main" val="139442069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AEC3E142-ABEB-4FF6-B8FE-47FD3DF882B5}" type="datetime1">
              <a:rPr lang="en-US" smtClean="0"/>
              <a:t>9/14/2023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3EA004-F8A2-4490-BFAE-85849A2E5323}" type="slidenum">
              <a:rPr lang="en-US" smtClean="0"/>
              <a:t>‹#›</a:t>
            </a:fld>
            <a:endParaRPr lang="en-US"/>
          </a:p>
        </p:txBody>
      </p:sp>
    </p:spTree>
    <p:extLst>
      <p:ext uri="{BB962C8B-B14F-4D97-AF65-F5344CB8AC3E}">
        <p14:creationId xmlns:p14="http://schemas.microsoft.com/office/powerpoint/2010/main" val="173515157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extLst>
    <p:ext uri="{DCECCB84-F9BA-43D5-87BE-67443E8EF086}">
      <p15:sldGuideLst xmlns:p15="http://schemas.microsoft.com/office/powerpoint/2012/main">
        <p15:guide id="1" orient="horz" pos="696"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6C8532C4-8E6D-4A08-AC58-0B7AA15BE23A}" type="datetime1">
              <a:rPr lang="en-US" smtClean="0"/>
              <a:t>9/14/2023</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43EA004-F8A2-4490-BFAE-85849A2E5323}" type="slidenum">
              <a:rPr lang="en-US" smtClean="0"/>
              <a:t>‹#›</a:t>
            </a:fld>
            <a:endParaRPr lang="en-US"/>
          </a:p>
        </p:txBody>
      </p:sp>
    </p:spTree>
    <p:extLst>
      <p:ext uri="{BB962C8B-B14F-4D97-AF65-F5344CB8AC3E}">
        <p14:creationId xmlns:p14="http://schemas.microsoft.com/office/powerpoint/2010/main" val="42429410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4CF0EBE-1DA9-4DB9-9FC2-B37AD71E79A3}" type="datetime1">
              <a:rPr lang="en-US" smtClean="0"/>
              <a:t>9/14/2023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3EA004-F8A2-4490-BFAE-85849A2E5323}" type="slidenum">
              <a:rPr lang="en-US" smtClean="0"/>
              <a:t>‹#›</a:t>
            </a:fld>
            <a:endParaRPr lang="en-US"/>
          </a:p>
        </p:txBody>
      </p:sp>
    </p:spTree>
    <p:extLst>
      <p:ext uri="{BB962C8B-B14F-4D97-AF65-F5344CB8AC3E}">
        <p14:creationId xmlns:p14="http://schemas.microsoft.com/office/powerpoint/2010/main" val="31752558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F30A4D8-405D-475A-B4B0-3756A66AF735}" type="datetime1">
              <a:rPr lang="en-US" smtClean="0"/>
              <a:t>9/14/2023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3EA004-F8A2-4490-BFAE-85849A2E5323}" type="slidenum">
              <a:rPr lang="en-US" smtClean="0"/>
              <a:t>‹#›</a:t>
            </a:fld>
            <a:endParaRPr lang="en-US"/>
          </a:p>
        </p:txBody>
      </p:sp>
    </p:spTree>
    <p:extLst>
      <p:ext uri="{BB962C8B-B14F-4D97-AF65-F5344CB8AC3E}">
        <p14:creationId xmlns:p14="http://schemas.microsoft.com/office/powerpoint/2010/main" val="164318438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600202"/>
            <a:ext cx="8229600" cy="4525963"/>
          </a:xfrm>
        </p:spPr>
        <p:txBody>
          <a:bodyPr/>
          <a:lstStyle/>
          <a:p>
            <a:endParaRPr lang="en-US"/>
          </a:p>
        </p:txBody>
      </p:sp>
    </p:spTree>
    <p:extLst>
      <p:ext uri="{BB962C8B-B14F-4D97-AF65-F5344CB8AC3E}">
        <p14:creationId xmlns:p14="http://schemas.microsoft.com/office/powerpoint/2010/main" val="348482555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94E653F-7857-4A48-9501-AFE2F9052175}" type="datetime1">
              <a:rPr lang="en-US" smtClean="0"/>
              <a:t>9/14/2023</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43EA004-F8A2-4490-BFAE-85849A2E5323}" type="slidenum">
              <a:rPr lang="en-US" smtClean="0"/>
              <a:t>‹#›</a:t>
            </a:fld>
            <a:endParaRPr lang="en-US"/>
          </a:p>
        </p:txBody>
      </p:sp>
    </p:spTree>
    <p:extLst>
      <p:ext uri="{BB962C8B-B14F-4D97-AF65-F5344CB8AC3E}">
        <p14:creationId xmlns:p14="http://schemas.microsoft.com/office/powerpoint/2010/main" val="3850794658"/>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Lst>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94" userDrawn="1">
          <p15:clr>
            <a:srgbClr val="F26B43"/>
          </p15:clr>
        </p15:guide>
        <p15:guide id="2" pos="5400" userDrawn="1">
          <p15:clr>
            <a:srgbClr val="F26B43"/>
          </p15:clr>
        </p15:guide>
        <p15:guide id="3" orient="horz" pos="4008" userDrawn="1">
          <p15:clr>
            <a:srgbClr val="F26B43"/>
          </p15:clr>
        </p15:guide>
        <p15:guide id="4" orient="horz" pos="1440" userDrawn="1">
          <p15:clr>
            <a:srgbClr val="F26B43"/>
          </p15:clr>
        </p15:guide>
        <p15:guide id="5" orient="horz" pos="3720" userDrawn="1">
          <p15:clr>
            <a:srgbClr val="F26B43"/>
          </p15:clr>
        </p15:guide>
        <p15:guide id="6" orient="horz" pos="2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4.png"/><Relationship Id="rId4" Type="http://schemas.openxmlformats.org/officeDocument/2006/relationships/oleObject" Target="../embeddings/oleObject1.bin"/></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950976" y="1341438"/>
            <a:ext cx="7132320" cy="1439862"/>
          </a:xfrm>
        </p:spPr>
        <p:txBody>
          <a:bodyPr>
            <a:normAutofit fontScale="90000"/>
          </a:bodyPr>
          <a:lstStyle/>
          <a:p>
            <a:r>
              <a:rPr lang="it-IT" sz="4400" dirty="0" smtClean="0"/>
              <a:t/>
            </a:r>
            <a:br>
              <a:rPr lang="it-IT" sz="4400" dirty="0" smtClean="0"/>
            </a:br>
            <a:r>
              <a:rPr lang="it-IT" sz="4400" dirty="0"/>
              <a:t/>
            </a:r>
            <a:br>
              <a:rPr lang="it-IT" sz="4400" dirty="0"/>
            </a:br>
            <a:r>
              <a:rPr lang="it-IT" sz="4400" dirty="0" smtClean="0"/>
              <a:t/>
            </a:r>
            <a:br>
              <a:rPr lang="it-IT" sz="4400" dirty="0" smtClean="0"/>
            </a:br>
            <a:r>
              <a:rPr lang="en-US" sz="6000" dirty="0"/>
              <a:t/>
            </a:r>
            <a:br>
              <a:rPr lang="en-US" sz="6000" dirty="0"/>
            </a:br>
            <a:r>
              <a:rPr lang="it-IT" sz="6000" dirty="0"/>
              <a:t> </a:t>
            </a:r>
            <a:r>
              <a:rPr lang="en-US" sz="6000" dirty="0"/>
              <a:t/>
            </a:r>
            <a:br>
              <a:rPr lang="en-US" sz="6000" dirty="0"/>
            </a:br>
            <a:r>
              <a:rPr lang="it-IT" sz="6000" dirty="0"/>
              <a:t>BIT 1103</a:t>
            </a:r>
            <a:r>
              <a:rPr lang="en-US" sz="6000" dirty="0"/>
              <a:t> </a:t>
            </a:r>
            <a:r>
              <a:rPr lang="it-IT" sz="6000" dirty="0"/>
              <a:t>Fundamentals of Information Systems</a:t>
            </a:r>
            <a:endParaRPr lang="en-US" sz="6000" dirty="0">
              <a:latin typeface="+mn-lt"/>
            </a:endParaRPr>
          </a:p>
        </p:txBody>
      </p:sp>
      <p:sp>
        <p:nvSpPr>
          <p:cNvPr id="4099" name="Rectangle 3"/>
          <p:cNvSpPr>
            <a:spLocks noGrp="1" noChangeArrowheads="1"/>
          </p:cNvSpPr>
          <p:nvPr>
            <p:ph type="subTitle" idx="1"/>
          </p:nvPr>
        </p:nvSpPr>
        <p:spPr>
          <a:xfrm>
            <a:off x="1979613" y="3213100"/>
            <a:ext cx="5410200" cy="2663825"/>
          </a:xfrm>
        </p:spPr>
        <p:txBody>
          <a:bodyPr rtlCol="0">
            <a:normAutofit/>
          </a:bodyPr>
          <a:lstStyle/>
          <a:p>
            <a:r>
              <a:rPr lang="en-US" sz="4000" dirty="0"/>
              <a:t>Information System cycle</a:t>
            </a:r>
          </a:p>
        </p:txBody>
      </p:sp>
      <p:sp>
        <p:nvSpPr>
          <p:cNvPr id="6148" name="3 Slayt Numarası Yer Tutucusu"/>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defTabSz="4572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fontAlgn="base">
              <a:spcBef>
                <a:spcPct val="0"/>
              </a:spcBef>
              <a:spcAft>
                <a:spcPct val="0"/>
              </a:spcAft>
              <a:buClrTx/>
              <a:buSzTx/>
              <a:buFontTx/>
              <a:buNone/>
            </a:pPr>
            <a:fld id="{8314F9DF-46BD-43E0-9849-B3ECB06107E6}" type="slidenum">
              <a:rPr lang="tr-TR" altLang="en-US" sz="1400" smtClean="0">
                <a:solidFill>
                  <a:schemeClr val="tx1"/>
                </a:solidFill>
                <a:latin typeface="Arial" panose="020B0604020202020204" pitchFamily="34" charset="0"/>
              </a:rPr>
              <a:pPr fontAlgn="base">
                <a:spcBef>
                  <a:spcPct val="0"/>
                </a:spcBef>
                <a:spcAft>
                  <a:spcPct val="0"/>
                </a:spcAft>
                <a:buClrTx/>
                <a:buSzTx/>
                <a:buFontTx/>
                <a:buNone/>
              </a:pPr>
              <a:t>1</a:t>
            </a:fld>
            <a:endParaRPr lang="tr-TR" altLang="en-US" sz="1400" smtClean="0">
              <a:solidFill>
                <a:schemeClr val="tx1"/>
              </a:solidFill>
              <a:latin typeface="Arial" panose="020B0604020202020204" pitchFamily="34" charset="0"/>
            </a:endParaRPr>
          </a:p>
        </p:txBody>
      </p:sp>
    </p:spTree>
    <p:extLst>
      <p:ext uri="{BB962C8B-B14F-4D97-AF65-F5344CB8AC3E}">
        <p14:creationId xmlns:p14="http://schemas.microsoft.com/office/powerpoint/2010/main" val="137217538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p:cNvSpPr>
          <p:nvPr>
            <p:ph type="title"/>
          </p:nvPr>
        </p:nvSpPr>
        <p:spPr/>
        <p:txBody>
          <a:bodyPr anchor="t"/>
          <a:lstStyle/>
          <a:p>
            <a:pPr eaLnBrk="1" hangingPunct="1"/>
            <a:r>
              <a:rPr lang="en-US" altLang="en-US" dirty="0" smtClean="0"/>
              <a:t>  Learning Objectives</a:t>
            </a:r>
          </a:p>
        </p:txBody>
      </p:sp>
      <p:sp>
        <p:nvSpPr>
          <p:cNvPr id="8195" name="Rectangle 3"/>
          <p:cNvSpPr>
            <a:spLocks noGrp="1"/>
          </p:cNvSpPr>
          <p:nvPr>
            <p:ph idx="1"/>
          </p:nvPr>
        </p:nvSpPr>
        <p:spPr/>
        <p:txBody>
          <a:bodyPr/>
          <a:lstStyle/>
          <a:p>
            <a:r>
              <a:rPr lang="en-US" altLang="en-US" dirty="0"/>
              <a:t>Understand </a:t>
            </a:r>
            <a:r>
              <a:rPr lang="en-US" dirty="0" smtClean="0"/>
              <a:t>Information </a:t>
            </a:r>
            <a:r>
              <a:rPr lang="en-US" dirty="0"/>
              <a:t>System </a:t>
            </a:r>
            <a:r>
              <a:rPr lang="en-US" dirty="0" smtClean="0"/>
              <a:t>cycle</a:t>
            </a:r>
          </a:p>
          <a:p>
            <a:r>
              <a:rPr lang="en-US" altLang="en-US" dirty="0"/>
              <a:t>Understand the system development life cycle (SDLC</a:t>
            </a:r>
            <a:r>
              <a:rPr lang="en-US" altLang="en-US" dirty="0" smtClean="0"/>
              <a:t>)</a:t>
            </a:r>
          </a:p>
          <a:p>
            <a:r>
              <a:rPr lang="en-US" altLang="en-US" sz="2400" dirty="0"/>
              <a:t>Understand </a:t>
            </a:r>
            <a:r>
              <a:rPr lang="en-US" altLang="en-US" sz="2400" dirty="0" smtClean="0"/>
              <a:t>Information </a:t>
            </a:r>
            <a:r>
              <a:rPr lang="en-US" altLang="en-US" sz="2400" dirty="0"/>
              <a:t>Processing Cycle-Phases</a:t>
            </a:r>
            <a:endParaRPr lang="en-US" altLang="en-US" dirty="0" smtClean="0"/>
          </a:p>
          <a:p>
            <a:pPr eaLnBrk="1" hangingPunct="1">
              <a:lnSpc>
                <a:spcPct val="90000"/>
              </a:lnSpc>
            </a:pPr>
            <a:r>
              <a:rPr lang="en-US" altLang="en-US" dirty="0" smtClean="0"/>
              <a:t>Understand alternative approaches to system development</a:t>
            </a:r>
            <a:endParaRPr lang="en-US" altLang="en-US" sz="2400" dirty="0" smtClean="0"/>
          </a:p>
          <a:p>
            <a:pPr eaLnBrk="1" hangingPunct="1">
              <a:lnSpc>
                <a:spcPct val="90000"/>
              </a:lnSpc>
              <a:buFontTx/>
              <a:buNone/>
            </a:pPr>
            <a:endParaRPr lang="en-US" altLang="en-US" dirty="0" smtClean="0"/>
          </a:p>
        </p:txBody>
      </p:sp>
    </p:spTree>
    <p:extLst>
      <p:ext uri="{BB962C8B-B14F-4D97-AF65-F5344CB8AC3E}">
        <p14:creationId xmlns:p14="http://schemas.microsoft.com/office/powerpoint/2010/main" val="2413566936"/>
      </p:ext>
    </p:extLst>
  </p:cSld>
  <p:clrMapOvr>
    <a:masterClrMapping/>
  </p:clrMapOvr>
  <p:transition>
    <p:dissolv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 </a:t>
            </a:r>
            <a:r>
              <a:rPr lang="en-US" sz="3600" dirty="0"/>
              <a:t>Information Systems Processing phases</a:t>
            </a:r>
            <a:br>
              <a:rPr lang="en-US" sz="3600" dirty="0"/>
            </a:br>
            <a:endParaRPr lang="en-US" dirty="0"/>
          </a:p>
        </p:txBody>
      </p:sp>
      <p:sp>
        <p:nvSpPr>
          <p:cNvPr id="3" name="Content Placeholder 2"/>
          <p:cNvSpPr>
            <a:spLocks noGrp="1"/>
          </p:cNvSpPr>
          <p:nvPr>
            <p:ph idx="1"/>
          </p:nvPr>
        </p:nvSpPr>
        <p:spPr>
          <a:xfrm>
            <a:off x="938758" y="1921120"/>
            <a:ext cx="7633742" cy="3345825"/>
          </a:xfrm>
        </p:spPr>
        <p:txBody>
          <a:bodyPr>
            <a:noAutofit/>
          </a:bodyPr>
          <a:lstStyle/>
          <a:p>
            <a:pPr marL="0" indent="0">
              <a:buNone/>
            </a:pPr>
            <a:r>
              <a:rPr lang="en-US" sz="2400" dirty="0" smtClean="0"/>
              <a:t>Information Systems Processing phases</a:t>
            </a:r>
          </a:p>
          <a:p>
            <a:pPr marL="514350" indent="-514350">
              <a:buFont typeface="+mj-lt"/>
              <a:buAutoNum type="romanLcPeriod"/>
            </a:pPr>
            <a:r>
              <a:rPr lang="en-US" sz="2400" dirty="0" smtClean="0"/>
              <a:t>Input</a:t>
            </a:r>
          </a:p>
          <a:p>
            <a:pPr lvl="1">
              <a:buFont typeface="Wingdings" panose="05000000000000000000" pitchFamily="2" charset="2"/>
              <a:buChar char="§"/>
            </a:pPr>
            <a:r>
              <a:rPr lang="en-US" sz="2000" dirty="0"/>
              <a:t>Data Acquisition</a:t>
            </a:r>
          </a:p>
          <a:p>
            <a:pPr lvl="1">
              <a:buFont typeface="Wingdings" panose="05000000000000000000" pitchFamily="2" charset="2"/>
              <a:buChar char="§"/>
            </a:pPr>
            <a:r>
              <a:rPr lang="en-US" sz="2000" dirty="0"/>
              <a:t>Data Preparation</a:t>
            </a:r>
          </a:p>
          <a:p>
            <a:pPr marL="514350" indent="-514350">
              <a:buFont typeface="+mj-lt"/>
              <a:buAutoNum type="romanLcPeriod"/>
            </a:pPr>
            <a:r>
              <a:rPr lang="en-US" sz="2400" dirty="0" smtClean="0"/>
              <a:t>Processing</a:t>
            </a:r>
          </a:p>
          <a:p>
            <a:pPr marL="514350" indent="-514350">
              <a:buFont typeface="+mj-lt"/>
              <a:buAutoNum type="romanLcPeriod"/>
            </a:pPr>
            <a:r>
              <a:rPr lang="en-US" sz="2400" dirty="0" smtClean="0"/>
              <a:t>Storage</a:t>
            </a:r>
          </a:p>
          <a:p>
            <a:pPr marL="514350" indent="-514350">
              <a:buFont typeface="+mj-lt"/>
              <a:buAutoNum type="romanLcPeriod"/>
            </a:pPr>
            <a:r>
              <a:rPr lang="en-US" sz="2400" dirty="0" smtClean="0"/>
              <a:t>Output</a:t>
            </a:r>
          </a:p>
          <a:p>
            <a:pPr marL="514350" indent="-514350">
              <a:buFont typeface="+mj-lt"/>
              <a:buAutoNum type="romanLcPeriod"/>
            </a:pPr>
            <a:r>
              <a:rPr lang="en-US" sz="2400" dirty="0" smtClean="0"/>
              <a:t>Distribution /dissemination</a:t>
            </a:r>
          </a:p>
        </p:txBody>
      </p:sp>
      <p:sp>
        <p:nvSpPr>
          <p:cNvPr id="4" name="Slide Number Placeholder 3"/>
          <p:cNvSpPr>
            <a:spLocks noGrp="1"/>
          </p:cNvSpPr>
          <p:nvPr>
            <p:ph type="sldNum" sz="quarter" idx="12"/>
          </p:nvPr>
        </p:nvSpPr>
        <p:spPr/>
        <p:txBody>
          <a:bodyPr/>
          <a:lstStyle/>
          <a:p>
            <a:fld id="{443EA004-F8A2-4490-BFAE-85849A2E5323}" type="slidenum">
              <a:rPr lang="en-US" smtClean="0"/>
              <a:t>3</a:t>
            </a:fld>
            <a:endParaRPr lang="en-US"/>
          </a:p>
        </p:txBody>
      </p:sp>
    </p:spTree>
    <p:extLst>
      <p:ext uri="{BB962C8B-B14F-4D97-AF65-F5344CB8AC3E}">
        <p14:creationId xmlns:p14="http://schemas.microsoft.com/office/powerpoint/2010/main" val="7854996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6073" y="104562"/>
            <a:ext cx="7901999" cy="678942"/>
          </a:xfrm>
        </p:spPr>
        <p:txBody>
          <a:bodyPr>
            <a:noAutofit/>
          </a:bodyPr>
          <a:lstStyle/>
          <a:p>
            <a:r>
              <a:rPr lang="en-US" sz="3000" b="1" dirty="0">
                <a:latin typeface="Rockwell" panose="02060603020205020403" pitchFamily="18" charset="0"/>
              </a:rPr>
              <a:t>Information Processing Cycle </a:t>
            </a:r>
            <a:br>
              <a:rPr lang="en-US" sz="3000" b="1" dirty="0">
                <a:latin typeface="Rockwell" panose="02060603020205020403" pitchFamily="18" charset="0"/>
              </a:rPr>
            </a:br>
            <a:endParaRPr lang="en-US" sz="3000" dirty="0"/>
          </a:p>
        </p:txBody>
      </p:sp>
      <p:sp>
        <p:nvSpPr>
          <p:cNvPr id="3" name="Content Placeholder 2"/>
          <p:cNvSpPr>
            <a:spLocks noGrp="1"/>
          </p:cNvSpPr>
          <p:nvPr>
            <p:ph idx="1"/>
          </p:nvPr>
        </p:nvSpPr>
        <p:spPr>
          <a:xfrm>
            <a:off x="557784" y="703823"/>
            <a:ext cx="8340031" cy="6025604"/>
          </a:xfrm>
        </p:spPr>
        <p:txBody>
          <a:bodyPr>
            <a:noAutofit/>
          </a:bodyPr>
          <a:lstStyle/>
          <a:p>
            <a:pPr algn="just">
              <a:buClr>
                <a:srgbClr val="C00000"/>
              </a:buClr>
              <a:buFont typeface="Wingdings" panose="05000000000000000000" pitchFamily="2" charset="2"/>
              <a:buChar char="Ø"/>
            </a:pPr>
            <a:r>
              <a:rPr lang="en-US" altLang="en-US" sz="2300" dirty="0"/>
              <a:t>These are the steps that are taken to convert raw facts, which is data, into </a:t>
            </a:r>
            <a:r>
              <a:rPr lang="en-US" altLang="en-US" sz="2300" dirty="0" smtClean="0"/>
              <a:t>information. </a:t>
            </a:r>
            <a:r>
              <a:rPr lang="en-US" sz="2300" dirty="0" smtClean="0"/>
              <a:t>Information </a:t>
            </a:r>
            <a:r>
              <a:rPr lang="en-US" sz="2300" dirty="0"/>
              <a:t>processing cycle is a sequence of events consisting of input, processing, storage &amp; output. </a:t>
            </a:r>
            <a:endParaRPr lang="en-US" sz="2300" dirty="0" smtClean="0"/>
          </a:p>
          <a:p>
            <a:pPr algn="just">
              <a:buClr>
                <a:srgbClr val="C00000"/>
              </a:buClr>
              <a:buFont typeface="Wingdings" panose="05000000000000000000" pitchFamily="2" charset="2"/>
              <a:buChar char="Ø"/>
            </a:pPr>
            <a:r>
              <a:rPr lang="en-US" sz="2300" dirty="0" smtClean="0"/>
              <a:t>For </a:t>
            </a:r>
            <a:r>
              <a:rPr lang="en-US" sz="2300" dirty="0"/>
              <a:t>a computer to perform useful work, the computer has to receive instructions and data from the outside world</a:t>
            </a:r>
            <a:r>
              <a:rPr lang="en-US" sz="2300" dirty="0" smtClean="0"/>
              <a:t>.</a:t>
            </a:r>
          </a:p>
          <a:p>
            <a:pPr algn="just">
              <a:buClr>
                <a:srgbClr val="C00000"/>
              </a:buClr>
              <a:buFont typeface="Wingdings" panose="05000000000000000000" pitchFamily="2" charset="2"/>
              <a:buChar char="Ø"/>
            </a:pPr>
            <a:r>
              <a:rPr lang="en-US" sz="2300" dirty="0" smtClean="0"/>
              <a:t>The </a:t>
            </a:r>
            <a:r>
              <a:rPr lang="en-US" sz="2300" dirty="0"/>
              <a:t>computer receives data and instructions during the INPUT stage of the information processing cycle</a:t>
            </a:r>
            <a:r>
              <a:rPr lang="en-US" sz="2300" dirty="0" smtClean="0"/>
              <a:t>.</a:t>
            </a:r>
          </a:p>
          <a:p>
            <a:pPr algn="just">
              <a:buClr>
                <a:srgbClr val="C00000"/>
              </a:buClr>
              <a:buFont typeface="Wingdings" panose="05000000000000000000" pitchFamily="2" charset="2"/>
              <a:buChar char="Ø"/>
            </a:pPr>
            <a:r>
              <a:rPr lang="en-US" sz="2300" dirty="0" smtClean="0"/>
              <a:t> </a:t>
            </a:r>
            <a:r>
              <a:rPr lang="en-US" sz="2300" dirty="0"/>
              <a:t>Useful </a:t>
            </a:r>
            <a:r>
              <a:rPr lang="en-US" sz="2300" dirty="0" smtClean="0"/>
              <a:t>information or results are got </a:t>
            </a:r>
            <a:r>
              <a:rPr lang="en-US" sz="2300" dirty="0"/>
              <a:t>when appropriate instructions are applied to data. Applying instructions to data takes place during the PROCESSING stage of the information processing cycle. </a:t>
            </a:r>
            <a:endParaRPr lang="en-US" sz="2300" dirty="0" smtClean="0"/>
          </a:p>
          <a:p>
            <a:pPr algn="just">
              <a:buClr>
                <a:srgbClr val="C00000"/>
              </a:buClr>
              <a:buFont typeface="Wingdings" panose="05000000000000000000" pitchFamily="2" charset="2"/>
              <a:buChar char="Ø"/>
            </a:pPr>
            <a:r>
              <a:rPr lang="en-US" sz="2300" dirty="0" smtClean="0"/>
              <a:t>To avoid re-entering </a:t>
            </a:r>
            <a:r>
              <a:rPr lang="en-US" sz="2300" dirty="0"/>
              <a:t>data and instructions or reprocess information, computers can save information. </a:t>
            </a:r>
            <a:endParaRPr lang="en-US" sz="2300" dirty="0" smtClean="0"/>
          </a:p>
          <a:p>
            <a:pPr algn="just">
              <a:buClr>
                <a:srgbClr val="C00000"/>
              </a:buClr>
              <a:buFont typeface="Wingdings" panose="05000000000000000000" pitchFamily="2" charset="2"/>
              <a:buChar char="Ø"/>
            </a:pPr>
            <a:r>
              <a:rPr lang="en-US" sz="2300" dirty="0" smtClean="0"/>
              <a:t>Saving </a:t>
            </a:r>
            <a:r>
              <a:rPr lang="en-US" sz="2300" dirty="0"/>
              <a:t>information on a computer occurs during the STORAGE phase of the information processing cycle. </a:t>
            </a:r>
            <a:r>
              <a:rPr lang="en-US" sz="2300" dirty="0" smtClean="0"/>
              <a:t>This </a:t>
            </a:r>
            <a:r>
              <a:rPr lang="en-US" sz="2300" dirty="0"/>
              <a:t>is followed by the result in the OUTPUT stage.</a:t>
            </a:r>
          </a:p>
          <a:p>
            <a:pPr algn="just">
              <a:buClr>
                <a:srgbClr val="C00000"/>
              </a:buClr>
              <a:buFont typeface="Wingdings" panose="05000000000000000000" pitchFamily="2" charset="2"/>
              <a:buChar char="Ø"/>
            </a:pPr>
            <a:endParaRPr lang="en-US" sz="2400" dirty="0"/>
          </a:p>
        </p:txBody>
      </p:sp>
      <p:sp>
        <p:nvSpPr>
          <p:cNvPr id="4" name="Slide Number Placeholder 3"/>
          <p:cNvSpPr>
            <a:spLocks noGrp="1"/>
          </p:cNvSpPr>
          <p:nvPr>
            <p:ph type="sldNum" sz="quarter" idx="12"/>
          </p:nvPr>
        </p:nvSpPr>
        <p:spPr/>
        <p:txBody>
          <a:bodyPr/>
          <a:lstStyle/>
          <a:p>
            <a:fld id="{443EA004-F8A2-4490-BFAE-85849A2E5323}" type="slidenum">
              <a:rPr lang="en-US" smtClean="0"/>
              <a:t>4</a:t>
            </a:fld>
            <a:endParaRPr lang="en-US"/>
          </a:p>
        </p:txBody>
      </p:sp>
    </p:spTree>
    <p:extLst>
      <p:ext uri="{BB962C8B-B14F-4D97-AF65-F5344CB8AC3E}">
        <p14:creationId xmlns:p14="http://schemas.microsoft.com/office/powerpoint/2010/main" val="13781872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8957" y="170522"/>
            <a:ext cx="7886700" cy="898874"/>
          </a:xfrm>
        </p:spPr>
        <p:txBody>
          <a:bodyPr>
            <a:normAutofit/>
          </a:bodyPr>
          <a:lstStyle/>
          <a:p>
            <a:r>
              <a:rPr lang="en-US" b="1" cap="none" dirty="0" smtClean="0"/>
              <a:t>Data Processing</a:t>
            </a:r>
            <a:endParaRPr lang="en-US" cap="none" dirty="0"/>
          </a:p>
        </p:txBody>
      </p:sp>
      <p:sp>
        <p:nvSpPr>
          <p:cNvPr id="3" name="Content Placeholder 2"/>
          <p:cNvSpPr>
            <a:spLocks noGrp="1"/>
          </p:cNvSpPr>
          <p:nvPr>
            <p:ph idx="1"/>
          </p:nvPr>
        </p:nvSpPr>
        <p:spPr>
          <a:xfrm>
            <a:off x="720969" y="1159119"/>
            <a:ext cx="7851531" cy="5426408"/>
          </a:xfrm>
        </p:spPr>
        <p:txBody>
          <a:bodyPr>
            <a:noAutofit/>
          </a:bodyPr>
          <a:lstStyle/>
          <a:p>
            <a:pPr algn="just">
              <a:lnSpc>
                <a:spcPct val="100000"/>
              </a:lnSpc>
              <a:buFont typeface="Wingdings" panose="05000000000000000000" pitchFamily="2" charset="2"/>
              <a:buChar char="Ø"/>
            </a:pPr>
            <a:r>
              <a:rPr lang="en-US" sz="2400" dirty="0"/>
              <a:t>Data processing is simply the conversion of raw data to meaningful information through a process. Data is manipulated to produce results that lead to a resolution of a problem or improvement of an existing situation</a:t>
            </a:r>
            <a:r>
              <a:rPr lang="en-US" sz="2400" dirty="0" smtClean="0"/>
              <a:t>.</a:t>
            </a:r>
          </a:p>
          <a:p>
            <a:pPr algn="just">
              <a:lnSpc>
                <a:spcPct val="100000"/>
              </a:lnSpc>
              <a:buFont typeface="Wingdings" panose="05000000000000000000" pitchFamily="2" charset="2"/>
              <a:buChar char="Ø"/>
            </a:pPr>
            <a:r>
              <a:rPr lang="en-US" sz="2400" dirty="0" smtClean="0"/>
              <a:t> </a:t>
            </a:r>
            <a:r>
              <a:rPr lang="en-US" sz="2400" dirty="0"/>
              <a:t>Similar to a production process, it follows a cycle where inputs (raw data) are fed to a process (computer systems, software, etc.) to produce output (information and insights).</a:t>
            </a:r>
          </a:p>
          <a:p>
            <a:pPr algn="just">
              <a:lnSpc>
                <a:spcPct val="100000"/>
              </a:lnSpc>
              <a:buFont typeface="Wingdings" panose="05000000000000000000" pitchFamily="2" charset="2"/>
              <a:buChar char="Ø"/>
            </a:pPr>
            <a:r>
              <a:rPr lang="en-US" sz="2400" dirty="0"/>
              <a:t>Generally, organizations employ computer systems to carry out a series of operations on the data in order to present, interpret, or obtain information. The process includes activities like data entry, summary, calculation, storage, etc. Useful and informative output is presented in various appropriate forms such as diagrams, reports, graphics, etc.</a:t>
            </a:r>
          </a:p>
        </p:txBody>
      </p:sp>
      <p:sp>
        <p:nvSpPr>
          <p:cNvPr id="4" name="Slide Number Placeholder 3"/>
          <p:cNvSpPr>
            <a:spLocks noGrp="1"/>
          </p:cNvSpPr>
          <p:nvPr>
            <p:ph type="sldNum" sz="quarter" idx="12"/>
          </p:nvPr>
        </p:nvSpPr>
        <p:spPr/>
        <p:txBody>
          <a:bodyPr/>
          <a:lstStyle/>
          <a:p>
            <a:fld id="{443EA004-F8A2-4490-BFAE-85849A2E5323}" type="slidenum">
              <a:rPr lang="en-US" smtClean="0"/>
              <a:t>5</a:t>
            </a:fld>
            <a:endParaRPr lang="en-US"/>
          </a:p>
        </p:txBody>
      </p:sp>
    </p:spTree>
    <p:extLst>
      <p:ext uri="{BB962C8B-B14F-4D97-AF65-F5344CB8AC3E}">
        <p14:creationId xmlns:p14="http://schemas.microsoft.com/office/powerpoint/2010/main" val="22575364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3300" cap="none" dirty="0"/>
              <a:t>Information Processing Cycle-Phases</a:t>
            </a:r>
            <a:endParaRPr lang="en-US" sz="3300" cap="none" dirty="0"/>
          </a:p>
        </p:txBody>
      </p:sp>
      <p:sp>
        <p:nvSpPr>
          <p:cNvPr id="3" name="Slide Number Placeholder 2"/>
          <p:cNvSpPr>
            <a:spLocks noGrp="1"/>
          </p:cNvSpPr>
          <p:nvPr>
            <p:ph type="sldNum" sz="quarter" idx="12"/>
          </p:nvPr>
        </p:nvSpPr>
        <p:spPr/>
        <p:txBody>
          <a:bodyPr/>
          <a:lstStyle/>
          <a:p>
            <a:fld id="{443EA004-F8A2-4490-BFAE-85849A2E5323}" type="slidenum">
              <a:rPr lang="en-US" smtClean="0"/>
              <a:t>6</a:t>
            </a:fld>
            <a:endParaRPr lang="en-US"/>
          </a:p>
        </p:txBody>
      </p:sp>
      <p:pic>
        <p:nvPicPr>
          <p:cNvPr id="5" name="Content Placeholder 3"/>
          <p:cNvPicPr>
            <a:picLocks noChangeAspect="1"/>
          </p:cNvPicPr>
          <p:nvPr/>
        </p:nvPicPr>
        <p:blipFill>
          <a:blip r:embed="rId2"/>
          <a:stretch>
            <a:fillRect/>
          </a:stretch>
        </p:blipFill>
        <p:spPr>
          <a:xfrm>
            <a:off x="2227971" y="2039269"/>
            <a:ext cx="3706485" cy="4317082"/>
          </a:xfrm>
          <a:prstGeom prst="rect">
            <a:avLst/>
          </a:prstGeom>
        </p:spPr>
      </p:pic>
      <p:sp>
        <p:nvSpPr>
          <p:cNvPr id="7" name="Content Placeholder 6"/>
          <p:cNvSpPr>
            <a:spLocks noGrp="1"/>
          </p:cNvSpPr>
          <p:nvPr>
            <p:ph idx="1"/>
          </p:nvPr>
        </p:nvSpPr>
        <p:spPr/>
        <p:txBody>
          <a:bodyPr/>
          <a:lstStyle/>
          <a:p>
            <a:endParaRPr lang="en-US" dirty="0" smtClean="0"/>
          </a:p>
          <a:p>
            <a:pPr marL="0" indent="0">
              <a:buNone/>
            </a:pPr>
            <a:endParaRPr lang="en-US" dirty="0" smtClean="0"/>
          </a:p>
          <a:p>
            <a:pPr marL="0" indent="0">
              <a:buNone/>
            </a:pPr>
            <a:endParaRPr lang="en-US" sz="2000" dirty="0"/>
          </a:p>
          <a:p>
            <a:pPr marL="0" indent="0">
              <a:buNone/>
            </a:pPr>
            <a:endParaRPr lang="en-US" sz="2000" dirty="0" smtClean="0"/>
          </a:p>
          <a:p>
            <a:pPr marL="0" indent="0">
              <a:buNone/>
            </a:pPr>
            <a:r>
              <a:rPr lang="en-US" sz="2000" dirty="0" smtClean="0"/>
              <a:t>Distribution </a:t>
            </a:r>
            <a:r>
              <a:rPr lang="en-US" sz="2000" dirty="0"/>
              <a:t>/dissemination</a:t>
            </a:r>
          </a:p>
          <a:p>
            <a:pPr marL="0" indent="0">
              <a:buNone/>
            </a:pPr>
            <a:endParaRPr lang="en-US" dirty="0"/>
          </a:p>
        </p:txBody>
      </p:sp>
    </p:spTree>
    <p:extLst>
      <p:ext uri="{BB962C8B-B14F-4D97-AF65-F5344CB8AC3E}">
        <p14:creationId xmlns:p14="http://schemas.microsoft.com/office/powerpoint/2010/main" val="103254515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6948" y="89229"/>
            <a:ext cx="7543800" cy="385103"/>
          </a:xfrm>
        </p:spPr>
        <p:txBody>
          <a:bodyPr>
            <a:normAutofit/>
          </a:bodyPr>
          <a:lstStyle/>
          <a:p>
            <a:r>
              <a:rPr lang="en-US" sz="2100" b="1" dirty="0">
                <a:latin typeface="Rockwell" panose="02060603020205020403" pitchFamily="18" charset="0"/>
              </a:rPr>
              <a:t>Input</a:t>
            </a:r>
            <a:endParaRPr lang="en-US" sz="2100" dirty="0"/>
          </a:p>
        </p:txBody>
      </p:sp>
      <p:sp>
        <p:nvSpPr>
          <p:cNvPr id="3" name="Content Placeholder 2"/>
          <p:cNvSpPr>
            <a:spLocks noGrp="1"/>
          </p:cNvSpPr>
          <p:nvPr>
            <p:ph idx="1"/>
          </p:nvPr>
        </p:nvSpPr>
        <p:spPr>
          <a:xfrm>
            <a:off x="633164" y="571324"/>
            <a:ext cx="7799636" cy="6150151"/>
          </a:xfrm>
        </p:spPr>
        <p:txBody>
          <a:bodyPr>
            <a:noAutofit/>
          </a:bodyPr>
          <a:lstStyle/>
          <a:p>
            <a:pPr algn="just">
              <a:lnSpc>
                <a:spcPct val="120000"/>
              </a:lnSpc>
              <a:buClr>
                <a:srgbClr val="C00000"/>
              </a:buClr>
              <a:buSzPct val="110000"/>
              <a:buFont typeface="Wingdings" panose="05000000000000000000" pitchFamily="2" charset="2"/>
              <a:buChar char="Ø"/>
            </a:pPr>
            <a:r>
              <a:rPr lang="en-US" b="1" dirty="0" smtClean="0"/>
              <a:t>Input</a:t>
            </a:r>
            <a:r>
              <a:rPr lang="en-US" dirty="0" smtClean="0"/>
              <a:t> is defined as the entering of  </a:t>
            </a:r>
            <a:r>
              <a:rPr lang="en-US" dirty="0"/>
              <a:t>data into the computer or </a:t>
            </a:r>
            <a:r>
              <a:rPr lang="en-US" dirty="0" smtClean="0"/>
              <a:t>feeding </a:t>
            </a:r>
            <a:r>
              <a:rPr lang="en-US" dirty="0"/>
              <a:t>the collected raw data in the cycle for processing. This is the raw data which is supplied for processing &amp; obtaining information</a:t>
            </a:r>
            <a:r>
              <a:rPr lang="en-US" dirty="0" smtClean="0"/>
              <a:t>.</a:t>
            </a:r>
            <a:r>
              <a:rPr lang="en-US" dirty="0"/>
              <a:t> </a:t>
            </a:r>
            <a:endParaRPr lang="en-US" dirty="0" smtClean="0"/>
          </a:p>
          <a:p>
            <a:pPr algn="just">
              <a:lnSpc>
                <a:spcPct val="120000"/>
              </a:lnSpc>
              <a:spcBef>
                <a:spcPts val="450"/>
              </a:spcBef>
              <a:buClr>
                <a:srgbClr val="C00000"/>
              </a:buClr>
              <a:buSzPct val="110000"/>
              <a:buFont typeface="Wingdings" panose="05000000000000000000" pitchFamily="2" charset="2"/>
              <a:buChar char="Ø"/>
            </a:pPr>
            <a:r>
              <a:rPr lang="en-US" dirty="0" smtClean="0"/>
              <a:t>In </a:t>
            </a:r>
            <a:r>
              <a:rPr lang="en-US" dirty="0"/>
              <a:t>this phase the computer receives data from input source by user or a program. </a:t>
            </a:r>
          </a:p>
          <a:p>
            <a:pPr algn="just">
              <a:lnSpc>
                <a:spcPct val="120000"/>
              </a:lnSpc>
              <a:spcBef>
                <a:spcPts val="450"/>
              </a:spcBef>
              <a:buClr>
                <a:srgbClr val="C00000"/>
              </a:buClr>
              <a:buSzPct val="110000"/>
              <a:buFont typeface="Wingdings" panose="05000000000000000000" pitchFamily="2" charset="2"/>
              <a:buChar char="Ø"/>
            </a:pPr>
            <a:r>
              <a:rPr lang="en-US" dirty="0"/>
              <a:t>Users input data or instruction into the computer system to be </a:t>
            </a:r>
            <a:r>
              <a:rPr lang="en-US" dirty="0" smtClean="0"/>
              <a:t>processed. The Inputs </a:t>
            </a:r>
            <a:r>
              <a:rPr lang="en-US" dirty="0"/>
              <a:t>could be either text, graphic, audio or video. </a:t>
            </a:r>
            <a:r>
              <a:rPr lang="en-US" dirty="0" smtClean="0"/>
              <a:t>Input </a:t>
            </a:r>
            <a:r>
              <a:rPr lang="en-US" dirty="0"/>
              <a:t>devices are any electronic </a:t>
            </a:r>
            <a:r>
              <a:rPr lang="en-US" dirty="0" smtClean="0"/>
              <a:t>device </a:t>
            </a:r>
            <a:r>
              <a:rPr lang="en-US" dirty="0"/>
              <a:t>connected to a computer and produces input signals.</a:t>
            </a:r>
          </a:p>
          <a:p>
            <a:pPr algn="just">
              <a:lnSpc>
                <a:spcPct val="120000"/>
              </a:lnSpc>
              <a:spcBef>
                <a:spcPts val="450"/>
              </a:spcBef>
              <a:buClr>
                <a:srgbClr val="C00000"/>
              </a:buClr>
              <a:buSzPct val="110000"/>
              <a:buFont typeface="Wingdings" panose="05000000000000000000" pitchFamily="2" charset="2"/>
              <a:buChar char="Ø"/>
            </a:pPr>
            <a:r>
              <a:rPr lang="en-US" dirty="0"/>
              <a:t>Input can be done by utilizing various devices such as keyboards, </a:t>
            </a:r>
            <a:r>
              <a:rPr lang="en-US" dirty="0" smtClean="0"/>
              <a:t>mice, scanners</a:t>
            </a:r>
            <a:r>
              <a:rPr lang="en-US" dirty="0"/>
              <a:t>, barcode readers, joysticks, digital data tablets (for graphics drawing), electronic cash registers, </a:t>
            </a:r>
            <a:r>
              <a:rPr lang="en-US" dirty="0" err="1" smtClean="0"/>
              <a:t>e.t.c</a:t>
            </a:r>
            <a:endParaRPr lang="en-US" dirty="0" smtClean="0"/>
          </a:p>
          <a:p>
            <a:pPr algn="just">
              <a:lnSpc>
                <a:spcPct val="120000"/>
              </a:lnSpc>
              <a:spcBef>
                <a:spcPts val="450"/>
              </a:spcBef>
              <a:buClr>
                <a:srgbClr val="C00000"/>
              </a:buClr>
              <a:buSzPct val="110000"/>
              <a:buFont typeface="Wingdings" panose="05000000000000000000" pitchFamily="2" charset="2"/>
              <a:buChar char="Ø"/>
            </a:pPr>
            <a:r>
              <a:rPr lang="en-US" dirty="0"/>
              <a:t>The input stage can be further broken down into acquisition, data entry and validation. </a:t>
            </a:r>
          </a:p>
          <a:p>
            <a:pPr algn="just">
              <a:lnSpc>
                <a:spcPct val="120000"/>
              </a:lnSpc>
              <a:spcBef>
                <a:spcPts val="450"/>
              </a:spcBef>
              <a:buClr>
                <a:srgbClr val="C00000"/>
              </a:buClr>
              <a:buSzPct val="110000"/>
              <a:buFont typeface="Wingdings" panose="05000000000000000000" pitchFamily="2" charset="2"/>
              <a:buChar char="Ø"/>
            </a:pPr>
            <a:endParaRPr lang="en-US" dirty="0"/>
          </a:p>
          <a:p>
            <a:pPr marL="0" algn="just"/>
            <a:endParaRPr lang="en-US" b="1" dirty="0"/>
          </a:p>
          <a:p>
            <a:pPr marL="0" algn="just">
              <a:lnSpc>
                <a:spcPct val="120000"/>
              </a:lnSpc>
            </a:pPr>
            <a:endParaRPr lang="en-US" dirty="0"/>
          </a:p>
        </p:txBody>
      </p:sp>
      <p:sp>
        <p:nvSpPr>
          <p:cNvPr id="4" name="Slide Number Placeholder 3"/>
          <p:cNvSpPr>
            <a:spLocks noGrp="1"/>
          </p:cNvSpPr>
          <p:nvPr>
            <p:ph type="sldNum" sz="quarter" idx="12"/>
          </p:nvPr>
        </p:nvSpPr>
        <p:spPr/>
        <p:txBody>
          <a:bodyPr/>
          <a:lstStyle/>
          <a:p>
            <a:fld id="{443EA004-F8A2-4490-BFAE-85849A2E5323}" type="slidenum">
              <a:rPr lang="en-US" smtClean="0"/>
              <a:t>7</a:t>
            </a:fld>
            <a:endParaRPr lang="en-US"/>
          </a:p>
        </p:txBody>
      </p:sp>
    </p:spTree>
    <p:extLst>
      <p:ext uri="{BB962C8B-B14F-4D97-AF65-F5344CB8AC3E}">
        <p14:creationId xmlns:p14="http://schemas.microsoft.com/office/powerpoint/2010/main" val="39143654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4447" y="261703"/>
            <a:ext cx="7543800" cy="699516"/>
          </a:xfrm>
        </p:spPr>
        <p:txBody>
          <a:bodyPr>
            <a:normAutofit/>
          </a:bodyPr>
          <a:lstStyle/>
          <a:p>
            <a:r>
              <a:rPr lang="en-US" dirty="0" smtClean="0"/>
              <a:t>Input</a:t>
            </a:r>
            <a:endParaRPr lang="en-US" dirty="0"/>
          </a:p>
        </p:txBody>
      </p:sp>
      <p:sp>
        <p:nvSpPr>
          <p:cNvPr id="3" name="Content Placeholder 2"/>
          <p:cNvSpPr>
            <a:spLocks noGrp="1"/>
          </p:cNvSpPr>
          <p:nvPr>
            <p:ph idx="1"/>
          </p:nvPr>
        </p:nvSpPr>
        <p:spPr>
          <a:xfrm>
            <a:off x="728645" y="1230922"/>
            <a:ext cx="7543800" cy="4403259"/>
          </a:xfrm>
        </p:spPr>
        <p:txBody>
          <a:bodyPr>
            <a:noAutofit/>
          </a:bodyPr>
          <a:lstStyle/>
          <a:p>
            <a:pPr lvl="0" algn="just" eaLnBrk="0" fontAlgn="base" hangingPunct="0">
              <a:spcBef>
                <a:spcPct val="0"/>
              </a:spcBef>
              <a:spcAft>
                <a:spcPct val="0"/>
              </a:spcAft>
            </a:pPr>
            <a:r>
              <a:rPr lang="en-US" altLang="en-US" sz="2400" b="1" dirty="0"/>
              <a:t>Data acquisition </a:t>
            </a:r>
            <a:r>
              <a:rPr lang="en-US" altLang="en-US" sz="2400" dirty="0"/>
              <a:t>is defined as the process of collecting and organizing information.</a:t>
            </a:r>
          </a:p>
          <a:p>
            <a:pPr lvl="0" algn="just" eaLnBrk="0" fontAlgn="base" hangingPunct="0">
              <a:spcBef>
                <a:spcPct val="0"/>
              </a:spcBef>
              <a:spcAft>
                <a:spcPct val="0"/>
              </a:spcAft>
            </a:pPr>
            <a:r>
              <a:rPr lang="en-US" altLang="en-US" sz="2400" dirty="0"/>
              <a:t>An example of data acquisition is taking a survey to identify the people's position on an issue, which can then be analyzed.</a:t>
            </a:r>
          </a:p>
          <a:p>
            <a:pPr lvl="0" algn="just" eaLnBrk="0" fontAlgn="base" hangingPunct="0">
              <a:spcBef>
                <a:spcPct val="0"/>
              </a:spcBef>
              <a:spcAft>
                <a:spcPct val="0"/>
              </a:spcAft>
            </a:pPr>
            <a:r>
              <a:rPr lang="en-US" altLang="en-US" sz="2400" b="1" dirty="0"/>
              <a:t>Data entry </a:t>
            </a:r>
            <a:r>
              <a:rPr lang="en-US" sz="2400" dirty="0"/>
              <a:t>is the process of inputting </a:t>
            </a:r>
            <a:r>
              <a:rPr lang="en-US" sz="2400" b="1" dirty="0"/>
              <a:t>data</a:t>
            </a:r>
            <a:r>
              <a:rPr lang="en-US" sz="2400" dirty="0"/>
              <a:t> or information into the computer using devices such as a keyboard, scanner, </a:t>
            </a:r>
          </a:p>
          <a:p>
            <a:pPr lvl="0" algn="just" eaLnBrk="0" fontAlgn="base" hangingPunct="0">
              <a:spcBef>
                <a:spcPct val="0"/>
              </a:spcBef>
              <a:spcAft>
                <a:spcPct val="0"/>
              </a:spcAft>
            </a:pPr>
            <a:r>
              <a:rPr lang="en-US" sz="2400" b="1" dirty="0"/>
              <a:t>Data validation </a:t>
            </a:r>
            <a:r>
              <a:rPr lang="en-US" sz="2400" dirty="0"/>
              <a:t>is the process of ensuring data have undergone data cleansing to ensure they have data quality, that is, that they are both correct and useful</a:t>
            </a:r>
            <a:endParaRPr lang="en-US" altLang="en-US" sz="2400" dirty="0"/>
          </a:p>
          <a:p>
            <a:pPr algn="just"/>
            <a:endParaRPr lang="en-US" sz="2400" dirty="0"/>
          </a:p>
        </p:txBody>
      </p:sp>
      <p:sp>
        <p:nvSpPr>
          <p:cNvPr id="4" name="Slide Number Placeholder 3"/>
          <p:cNvSpPr>
            <a:spLocks noGrp="1"/>
          </p:cNvSpPr>
          <p:nvPr>
            <p:ph type="sldNum" sz="quarter" idx="12"/>
          </p:nvPr>
        </p:nvSpPr>
        <p:spPr/>
        <p:txBody>
          <a:bodyPr/>
          <a:lstStyle/>
          <a:p>
            <a:fld id="{443EA004-F8A2-4490-BFAE-85849A2E5323}" type="slidenum">
              <a:rPr lang="en-US" smtClean="0"/>
              <a:t>8</a:t>
            </a:fld>
            <a:endParaRPr lang="en-US"/>
          </a:p>
        </p:txBody>
      </p:sp>
    </p:spTree>
    <p:extLst>
      <p:ext uri="{BB962C8B-B14F-4D97-AF65-F5344CB8AC3E}">
        <p14:creationId xmlns:p14="http://schemas.microsoft.com/office/powerpoint/2010/main" val="178861095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altLang="en-US" b="1" dirty="0" smtClean="0">
                <a:latin typeface="Rockwell" panose="02060603020205020403" pitchFamily="18" charset="0"/>
              </a:rPr>
              <a:t>Processing</a:t>
            </a:r>
            <a:r>
              <a:rPr lang="en-US" altLang="en-US" b="1" dirty="0">
                <a:latin typeface="Rockwell" panose="02060603020205020403" pitchFamily="18" charset="0"/>
              </a:rPr>
              <a:t/>
            </a:r>
            <a:br>
              <a:rPr lang="en-US" altLang="en-US" b="1" dirty="0">
                <a:latin typeface="Rockwell" panose="02060603020205020403" pitchFamily="18" charset="0"/>
              </a:rPr>
            </a:br>
            <a:endParaRPr lang="en-US" dirty="0"/>
          </a:p>
        </p:txBody>
      </p:sp>
      <p:sp>
        <p:nvSpPr>
          <p:cNvPr id="3" name="Content Placeholder 2"/>
          <p:cNvSpPr>
            <a:spLocks noGrp="1"/>
          </p:cNvSpPr>
          <p:nvPr>
            <p:ph idx="1"/>
          </p:nvPr>
        </p:nvSpPr>
        <p:spPr>
          <a:xfrm>
            <a:off x="660596" y="1345164"/>
            <a:ext cx="7543800" cy="3038094"/>
          </a:xfrm>
        </p:spPr>
        <p:txBody>
          <a:bodyPr>
            <a:noAutofit/>
          </a:bodyPr>
          <a:lstStyle/>
          <a:p>
            <a:pPr algn="just" fontAlgn="base">
              <a:lnSpc>
                <a:spcPct val="120000"/>
              </a:lnSpc>
              <a:spcAft>
                <a:spcPct val="0"/>
              </a:spcAft>
            </a:pPr>
            <a:r>
              <a:rPr lang="en-US" altLang="en-US" sz="2200" dirty="0"/>
              <a:t>Processing refers to performing actions on data entered into an information system. Once the input is provided the raw data is processed by a suitable or selected processing method. This is the most crucial step as it allows for the processed data in the form of output which will be used further.</a:t>
            </a:r>
          </a:p>
          <a:p>
            <a:pPr algn="just" fontAlgn="base">
              <a:lnSpc>
                <a:spcPct val="120000"/>
              </a:lnSpc>
              <a:spcAft>
                <a:spcPct val="0"/>
              </a:spcAft>
            </a:pPr>
            <a:r>
              <a:rPr lang="en-US" altLang="en-US" sz="2200" dirty="0"/>
              <a:t>Data or instruction being input into the computer system is then processed by the CPU which controls all activities within the system. The results of the processed data are then sent to an output device as usable data. A CPU interprets  </a:t>
            </a:r>
            <a:r>
              <a:rPr lang="en-US" altLang="en-US" sz="2200" dirty="0" smtClean="0"/>
              <a:t>and </a:t>
            </a:r>
            <a:r>
              <a:rPr lang="en-US" altLang="en-US" sz="2200" dirty="0"/>
              <a:t>carries out the instructions by processing data and controlling the rest of the computer’s components.</a:t>
            </a:r>
          </a:p>
          <a:p>
            <a:pPr marL="0" indent="0" eaLnBrk="0" fontAlgn="base" hangingPunct="0">
              <a:lnSpc>
                <a:spcPct val="100000"/>
              </a:lnSpc>
              <a:spcBef>
                <a:spcPct val="0"/>
              </a:spcBef>
              <a:spcAft>
                <a:spcPct val="0"/>
              </a:spcAft>
              <a:buNone/>
            </a:pPr>
            <a:endParaRPr lang="en-US" altLang="en-US" sz="2200" dirty="0"/>
          </a:p>
          <a:p>
            <a:pPr lvl="0" algn="just" fontAlgn="base">
              <a:lnSpc>
                <a:spcPct val="120000"/>
              </a:lnSpc>
              <a:spcAft>
                <a:spcPct val="0"/>
              </a:spcAft>
            </a:pPr>
            <a:endParaRPr lang="en-US" altLang="en-US" sz="2200" dirty="0"/>
          </a:p>
          <a:p>
            <a:pPr lvl="0" algn="just" fontAlgn="base">
              <a:lnSpc>
                <a:spcPct val="120000"/>
              </a:lnSpc>
              <a:spcAft>
                <a:spcPct val="0"/>
              </a:spcAft>
            </a:pPr>
            <a:endParaRPr lang="en-US" altLang="en-US" sz="2200" dirty="0"/>
          </a:p>
          <a:p>
            <a:pPr lvl="0" algn="just" fontAlgn="base">
              <a:lnSpc>
                <a:spcPct val="120000"/>
              </a:lnSpc>
              <a:spcAft>
                <a:spcPct val="0"/>
              </a:spcAft>
            </a:pPr>
            <a:endParaRPr lang="en-US" altLang="en-US" sz="2200" dirty="0"/>
          </a:p>
          <a:p>
            <a:endParaRPr lang="en-US" sz="2200" dirty="0"/>
          </a:p>
          <a:p>
            <a:endParaRPr lang="en-US" sz="2200" dirty="0"/>
          </a:p>
          <a:p>
            <a:endParaRPr lang="en-US" sz="2200" dirty="0"/>
          </a:p>
        </p:txBody>
      </p:sp>
      <p:sp>
        <p:nvSpPr>
          <p:cNvPr id="4" name="Slide Number Placeholder 3"/>
          <p:cNvSpPr>
            <a:spLocks noGrp="1"/>
          </p:cNvSpPr>
          <p:nvPr>
            <p:ph type="sldNum" sz="quarter" idx="12"/>
          </p:nvPr>
        </p:nvSpPr>
        <p:spPr/>
        <p:txBody>
          <a:bodyPr/>
          <a:lstStyle/>
          <a:p>
            <a:fld id="{443EA004-F8A2-4490-BFAE-85849A2E5323}" type="slidenum">
              <a:rPr lang="en-US" smtClean="0"/>
              <a:t>9</a:t>
            </a:fld>
            <a:endParaRPr lang="en-US"/>
          </a:p>
        </p:txBody>
      </p:sp>
    </p:spTree>
    <p:extLst>
      <p:ext uri="{BB962C8B-B14F-4D97-AF65-F5344CB8AC3E}">
        <p14:creationId xmlns:p14="http://schemas.microsoft.com/office/powerpoint/2010/main" val="32894726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6171" y="282878"/>
            <a:ext cx="7543800" cy="706374"/>
          </a:xfrm>
        </p:spPr>
        <p:txBody>
          <a:bodyPr>
            <a:normAutofit/>
          </a:bodyPr>
          <a:lstStyle/>
          <a:p>
            <a:r>
              <a:rPr lang="en-US" altLang="en-US" sz="2700" dirty="0">
                <a:latin typeface="Rockwell" panose="02060603020205020403" pitchFamily="18" charset="0"/>
              </a:rPr>
              <a:t>Storage</a:t>
            </a:r>
            <a:endParaRPr lang="en-US" sz="2700" dirty="0"/>
          </a:p>
        </p:txBody>
      </p:sp>
      <p:sp>
        <p:nvSpPr>
          <p:cNvPr id="3" name="Content Placeholder 2"/>
          <p:cNvSpPr>
            <a:spLocks noGrp="1"/>
          </p:cNvSpPr>
          <p:nvPr>
            <p:ph idx="1"/>
          </p:nvPr>
        </p:nvSpPr>
        <p:spPr>
          <a:xfrm>
            <a:off x="720325" y="989252"/>
            <a:ext cx="7543800" cy="4995912"/>
          </a:xfrm>
        </p:spPr>
        <p:txBody>
          <a:bodyPr>
            <a:noAutofit/>
          </a:bodyPr>
          <a:lstStyle/>
          <a:p>
            <a:pPr algn="just" fontAlgn="base">
              <a:lnSpc>
                <a:spcPct val="120000"/>
              </a:lnSpc>
              <a:spcAft>
                <a:spcPct val="0"/>
              </a:spcAft>
            </a:pPr>
            <a:r>
              <a:rPr lang="en-US" altLang="en-US" dirty="0"/>
              <a:t>Storage is the process of Saving data in a soft/physical </a:t>
            </a:r>
            <a:r>
              <a:rPr lang="en-US" altLang="en-US" dirty="0" smtClean="0"/>
              <a:t>form. Computer </a:t>
            </a:r>
            <a:r>
              <a:rPr lang="en-US" altLang="en-US" dirty="0"/>
              <a:t>storage is important to help users store programs and data to be used at a later time. It is also useful to keep current data while being processed by the processor until the information is saved in a storage media such as a hard </a:t>
            </a:r>
            <a:r>
              <a:rPr lang="en-US" altLang="en-US" dirty="0" smtClean="0"/>
              <a:t>disk. </a:t>
            </a:r>
            <a:r>
              <a:rPr lang="en-US" altLang="en-US" dirty="0"/>
              <a:t>Computer storage also stores instructions from a computer program. </a:t>
            </a:r>
            <a:endParaRPr lang="en-US" altLang="en-US" dirty="0" smtClean="0"/>
          </a:p>
          <a:p>
            <a:pPr algn="just" fontAlgn="base">
              <a:lnSpc>
                <a:spcPct val="120000"/>
              </a:lnSpc>
              <a:spcAft>
                <a:spcPct val="0"/>
              </a:spcAft>
            </a:pPr>
            <a:r>
              <a:rPr lang="en-US" altLang="en-US" dirty="0" smtClean="0"/>
              <a:t>There </a:t>
            </a:r>
            <a:r>
              <a:rPr lang="en-US" altLang="en-US" dirty="0"/>
              <a:t>are two type of computer storage; </a:t>
            </a:r>
            <a:r>
              <a:rPr lang="en-US" altLang="en-US" b="1" dirty="0"/>
              <a:t>primary storage </a:t>
            </a:r>
            <a:r>
              <a:rPr lang="en-US" altLang="en-US" dirty="0"/>
              <a:t>and </a:t>
            </a:r>
            <a:r>
              <a:rPr lang="en-US" altLang="en-US" b="1" dirty="0"/>
              <a:t>secondary storage</a:t>
            </a:r>
            <a:r>
              <a:rPr lang="en-US" altLang="en-US" dirty="0"/>
              <a:t>.</a:t>
            </a:r>
          </a:p>
          <a:p>
            <a:pPr algn="just" fontAlgn="base">
              <a:lnSpc>
                <a:spcPct val="120000"/>
              </a:lnSpc>
              <a:spcAft>
                <a:spcPct val="0"/>
              </a:spcAft>
            </a:pPr>
            <a:r>
              <a:rPr lang="en-US" altLang="en-US" dirty="0"/>
              <a:t> </a:t>
            </a:r>
            <a:r>
              <a:rPr lang="en-US" altLang="en-US" b="1" dirty="0"/>
              <a:t>Primary storage </a:t>
            </a:r>
            <a:r>
              <a:rPr lang="en-US" altLang="en-US" dirty="0"/>
              <a:t>is known as the main memory of a computer, including RAM (Random-Access Memory) and ROM (Read-Only Memory). It is an internal memory (inside the </a:t>
            </a:r>
            <a:r>
              <a:rPr lang="en-US" altLang="en-US" dirty="0" smtClean="0"/>
              <a:t>system Unite) </a:t>
            </a:r>
            <a:r>
              <a:rPr lang="en-US" altLang="en-US" dirty="0"/>
              <a:t>that can be accessed directly by the processor</a:t>
            </a:r>
            <a:r>
              <a:rPr lang="en-US" altLang="en-US" dirty="0" smtClean="0"/>
              <a:t>.</a:t>
            </a:r>
          </a:p>
          <a:p>
            <a:pPr algn="just" fontAlgn="base">
              <a:lnSpc>
                <a:spcPct val="120000"/>
              </a:lnSpc>
              <a:spcAft>
                <a:spcPct val="0"/>
              </a:spcAft>
            </a:pPr>
            <a:endParaRPr lang="en-US" altLang="en-US" dirty="0"/>
          </a:p>
          <a:p>
            <a:pPr marL="0" indent="0" eaLnBrk="0" fontAlgn="base" hangingPunct="0">
              <a:lnSpc>
                <a:spcPct val="100000"/>
              </a:lnSpc>
              <a:spcBef>
                <a:spcPct val="0"/>
              </a:spcBef>
              <a:spcAft>
                <a:spcPct val="0"/>
              </a:spcAft>
              <a:buNone/>
            </a:pPr>
            <a:endParaRPr lang="en-US" altLang="en-US" dirty="0"/>
          </a:p>
          <a:p>
            <a:pPr algn="just" fontAlgn="base">
              <a:lnSpc>
                <a:spcPct val="120000"/>
              </a:lnSpc>
              <a:spcAft>
                <a:spcPct val="0"/>
              </a:spcAft>
            </a:pPr>
            <a:endParaRPr lang="en-US" altLang="en-US" dirty="0" smtClean="0"/>
          </a:p>
          <a:p>
            <a:pPr algn="just" fontAlgn="base">
              <a:lnSpc>
                <a:spcPct val="120000"/>
              </a:lnSpc>
              <a:spcAft>
                <a:spcPct val="0"/>
              </a:spcAft>
            </a:pPr>
            <a:endParaRPr lang="en-US" altLang="en-US" dirty="0"/>
          </a:p>
          <a:p>
            <a:endParaRPr lang="en-US" dirty="0"/>
          </a:p>
        </p:txBody>
      </p:sp>
      <p:sp>
        <p:nvSpPr>
          <p:cNvPr id="4" name="Slide Number Placeholder 3"/>
          <p:cNvSpPr>
            <a:spLocks noGrp="1"/>
          </p:cNvSpPr>
          <p:nvPr>
            <p:ph type="sldNum" sz="quarter" idx="12"/>
          </p:nvPr>
        </p:nvSpPr>
        <p:spPr/>
        <p:txBody>
          <a:bodyPr/>
          <a:lstStyle/>
          <a:p>
            <a:fld id="{443EA004-F8A2-4490-BFAE-85849A2E5323}" type="slidenum">
              <a:rPr lang="en-US" smtClean="0"/>
              <a:t>10</a:t>
            </a:fld>
            <a:endParaRPr lang="en-US"/>
          </a:p>
        </p:txBody>
      </p:sp>
    </p:spTree>
    <p:extLst>
      <p:ext uri="{BB962C8B-B14F-4D97-AF65-F5344CB8AC3E}">
        <p14:creationId xmlns:p14="http://schemas.microsoft.com/office/powerpoint/2010/main" val="365323732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Rockwell" panose="02060603020205020403" pitchFamily="18" charset="0"/>
              </a:rPr>
              <a:t>Output</a:t>
            </a:r>
            <a:br>
              <a:rPr lang="en-US" altLang="en-US" dirty="0">
                <a:latin typeface="Rockwell" panose="02060603020205020403" pitchFamily="18" charset="0"/>
              </a:rPr>
            </a:br>
            <a:endParaRPr lang="en-US" dirty="0"/>
          </a:p>
        </p:txBody>
      </p:sp>
      <p:sp>
        <p:nvSpPr>
          <p:cNvPr id="3" name="Content Placeholder 2"/>
          <p:cNvSpPr>
            <a:spLocks noGrp="1"/>
          </p:cNvSpPr>
          <p:nvPr>
            <p:ph idx="1"/>
          </p:nvPr>
        </p:nvSpPr>
        <p:spPr>
          <a:xfrm>
            <a:off x="732046" y="1043353"/>
            <a:ext cx="8001645" cy="5486755"/>
          </a:xfrm>
        </p:spPr>
        <p:txBody>
          <a:bodyPr>
            <a:noAutofit/>
          </a:bodyPr>
          <a:lstStyle/>
          <a:p>
            <a:pPr algn="just" fontAlgn="base">
              <a:lnSpc>
                <a:spcPct val="120000"/>
              </a:lnSpc>
              <a:spcAft>
                <a:spcPct val="0"/>
              </a:spcAft>
            </a:pPr>
            <a:r>
              <a:rPr lang="en-US" sz="2400" b="1" dirty="0"/>
              <a:t>Output </a:t>
            </a:r>
            <a:r>
              <a:rPr lang="en-US" sz="2400" b="1" dirty="0" smtClean="0"/>
              <a:t> </a:t>
            </a:r>
            <a:r>
              <a:rPr lang="en-US" sz="2400" dirty="0"/>
              <a:t>is the stage where processed information is now transmitted to the user. Output is presented to users in various report formats like printed report, audio, video, or on monitor. Output need to be interpreted so that it can provide meaningful information that will guide future decisions of the company.</a:t>
            </a:r>
          </a:p>
          <a:p>
            <a:pPr algn="just" fontAlgn="base">
              <a:lnSpc>
                <a:spcPct val="120000"/>
              </a:lnSpc>
              <a:spcAft>
                <a:spcPct val="0"/>
              </a:spcAft>
            </a:pPr>
            <a:r>
              <a:rPr lang="en-US" altLang="en-US" sz="2400" dirty="0"/>
              <a:t>Output is the result of data processing activity when it is presented </a:t>
            </a:r>
            <a:r>
              <a:rPr lang="en-US" altLang="en-US" sz="2400" dirty="0" smtClean="0"/>
              <a:t>to the  external system</a:t>
            </a:r>
            <a:r>
              <a:rPr lang="en-US" altLang="en-US" sz="2400" dirty="0"/>
              <a:t>. There are four types of output, which are texts, graphics, audio and video</a:t>
            </a:r>
          </a:p>
          <a:p>
            <a:pPr algn="just" fontAlgn="base">
              <a:lnSpc>
                <a:spcPct val="120000"/>
              </a:lnSpc>
              <a:spcAft>
                <a:spcPct val="0"/>
              </a:spcAft>
            </a:pPr>
            <a:r>
              <a:rPr lang="en-US" altLang="en-US" sz="2400" dirty="0"/>
              <a:t>This can be used as it is or used for further processing along with more data.</a:t>
            </a:r>
          </a:p>
          <a:p>
            <a:pPr marL="0" indent="0" algn="just" eaLnBrk="0" fontAlgn="base" hangingPunct="0">
              <a:lnSpc>
                <a:spcPct val="100000"/>
              </a:lnSpc>
              <a:spcBef>
                <a:spcPct val="0"/>
              </a:spcBef>
              <a:spcAft>
                <a:spcPct val="0"/>
              </a:spcAft>
              <a:buNone/>
            </a:pPr>
            <a:endParaRPr lang="en-US" altLang="en-US" sz="2400" dirty="0">
              <a:solidFill>
                <a:srgbClr val="92D050"/>
              </a:solidFill>
            </a:endParaRPr>
          </a:p>
          <a:p>
            <a:pPr algn="just" fontAlgn="base">
              <a:lnSpc>
                <a:spcPct val="120000"/>
              </a:lnSpc>
              <a:spcAft>
                <a:spcPct val="0"/>
              </a:spcAft>
            </a:pPr>
            <a:endParaRPr lang="en-US" altLang="en-US" sz="2400" dirty="0"/>
          </a:p>
          <a:p>
            <a:pPr algn="just" fontAlgn="base">
              <a:lnSpc>
                <a:spcPct val="120000"/>
              </a:lnSpc>
              <a:spcAft>
                <a:spcPct val="0"/>
              </a:spcAft>
            </a:pPr>
            <a:endParaRPr lang="en-US" altLang="en-US" sz="2400" dirty="0"/>
          </a:p>
          <a:p>
            <a:pPr algn="just" fontAlgn="base">
              <a:lnSpc>
                <a:spcPct val="120000"/>
              </a:lnSpc>
              <a:spcAft>
                <a:spcPct val="0"/>
              </a:spcAft>
            </a:pPr>
            <a:endParaRPr lang="en-US" altLang="en-US" sz="2400" dirty="0"/>
          </a:p>
          <a:p>
            <a:pPr marL="0" indent="0" algn="just" eaLnBrk="0" fontAlgn="base" hangingPunct="0">
              <a:lnSpc>
                <a:spcPct val="100000"/>
              </a:lnSpc>
              <a:spcBef>
                <a:spcPct val="0"/>
              </a:spcBef>
              <a:spcAft>
                <a:spcPct val="0"/>
              </a:spcAft>
              <a:buFontTx/>
              <a:buChar char="•"/>
            </a:pPr>
            <a:endParaRPr lang="en-US" altLang="en-US" sz="2400" dirty="0"/>
          </a:p>
          <a:p>
            <a:pPr marL="0" indent="0" algn="just" eaLnBrk="0" fontAlgn="base" hangingPunct="0">
              <a:lnSpc>
                <a:spcPct val="100000"/>
              </a:lnSpc>
              <a:spcBef>
                <a:spcPct val="0"/>
              </a:spcBef>
              <a:spcAft>
                <a:spcPct val="0"/>
              </a:spcAft>
              <a:buNone/>
            </a:pPr>
            <a:endParaRPr lang="en-US" altLang="en-US" sz="2400" dirty="0"/>
          </a:p>
          <a:p>
            <a:pPr algn="just"/>
            <a:endParaRPr lang="en-US" sz="2400" dirty="0"/>
          </a:p>
        </p:txBody>
      </p:sp>
      <p:sp>
        <p:nvSpPr>
          <p:cNvPr id="4" name="Slide Number Placeholder 3"/>
          <p:cNvSpPr>
            <a:spLocks noGrp="1"/>
          </p:cNvSpPr>
          <p:nvPr>
            <p:ph type="sldNum" sz="quarter" idx="12"/>
          </p:nvPr>
        </p:nvSpPr>
        <p:spPr/>
        <p:txBody>
          <a:bodyPr/>
          <a:lstStyle/>
          <a:p>
            <a:fld id="{443EA004-F8A2-4490-BFAE-85849A2E5323}" type="slidenum">
              <a:rPr lang="en-US" smtClean="0"/>
              <a:t>11</a:t>
            </a:fld>
            <a:endParaRPr lang="en-US"/>
          </a:p>
        </p:txBody>
      </p:sp>
      <p:sp>
        <p:nvSpPr>
          <p:cNvPr id="5" name="AutoShape 2" descr="C:\DOCUME~1\GURUIC~1\LOCALS~1\Temp\msohtmlclip1\01\clip_image001.gif"/>
          <p:cNvSpPr>
            <a:spLocks noChangeAspect="1" noChangeArrowheads="1"/>
          </p:cNvSpPr>
          <p:nvPr/>
        </p:nvSpPr>
        <p:spPr bwMode="auto">
          <a:xfrm>
            <a:off x="90487" y="-51198"/>
            <a:ext cx="4243388" cy="1428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350"/>
          </a:p>
        </p:txBody>
      </p:sp>
    </p:spTree>
    <p:extLst>
      <p:ext uri="{BB962C8B-B14F-4D97-AF65-F5344CB8AC3E}">
        <p14:creationId xmlns:p14="http://schemas.microsoft.com/office/powerpoint/2010/main" val="26978382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4109" y="505616"/>
            <a:ext cx="7543800" cy="816102"/>
          </a:xfrm>
        </p:spPr>
        <p:txBody>
          <a:bodyPr>
            <a:normAutofit/>
          </a:bodyPr>
          <a:lstStyle/>
          <a:p>
            <a:r>
              <a:rPr lang="en-US" sz="3600" cap="none" dirty="0" smtClean="0"/>
              <a:t>Information Distribution</a:t>
            </a:r>
            <a:endParaRPr lang="en-US" sz="3600" cap="none" dirty="0"/>
          </a:p>
        </p:txBody>
      </p:sp>
      <p:sp>
        <p:nvSpPr>
          <p:cNvPr id="3" name="Content Placeholder 2"/>
          <p:cNvSpPr>
            <a:spLocks noGrp="1"/>
          </p:cNvSpPr>
          <p:nvPr>
            <p:ph idx="1"/>
          </p:nvPr>
        </p:nvSpPr>
        <p:spPr>
          <a:xfrm>
            <a:off x="938758" y="1321718"/>
            <a:ext cx="7633742" cy="4557875"/>
          </a:xfrm>
        </p:spPr>
        <p:txBody>
          <a:bodyPr>
            <a:normAutofit/>
          </a:bodyPr>
          <a:lstStyle/>
          <a:p>
            <a:pPr algn="just"/>
            <a:r>
              <a:rPr lang="en-US" sz="2800" dirty="0"/>
              <a:t>Information distribution refers to the processes through which individuals, groups, or different units of the organization share data and </a:t>
            </a:r>
            <a:r>
              <a:rPr lang="en-US" sz="2800" b="1" dirty="0"/>
              <a:t>information</a:t>
            </a:r>
            <a:r>
              <a:rPr lang="en-US" sz="2800" dirty="0"/>
              <a:t> among themselves</a:t>
            </a:r>
            <a:r>
              <a:rPr lang="en-US" sz="2800" dirty="0" smtClean="0"/>
              <a:t>. This can be achieved over networked systems.</a:t>
            </a:r>
            <a:endParaRPr lang="en-US" sz="2800" dirty="0"/>
          </a:p>
        </p:txBody>
      </p:sp>
      <p:sp>
        <p:nvSpPr>
          <p:cNvPr id="4" name="Slide Number Placeholder 3"/>
          <p:cNvSpPr>
            <a:spLocks noGrp="1"/>
          </p:cNvSpPr>
          <p:nvPr>
            <p:ph type="sldNum" sz="quarter" idx="12"/>
          </p:nvPr>
        </p:nvSpPr>
        <p:spPr/>
        <p:txBody>
          <a:bodyPr/>
          <a:lstStyle/>
          <a:p>
            <a:fld id="{443EA004-F8A2-4490-BFAE-85849A2E5323}" type="slidenum">
              <a:rPr lang="en-US" smtClean="0"/>
              <a:t>12</a:t>
            </a:fld>
            <a:endParaRPr lang="en-US"/>
          </a:p>
        </p:txBody>
      </p:sp>
    </p:spTree>
    <p:extLst>
      <p:ext uri="{BB962C8B-B14F-4D97-AF65-F5344CB8AC3E}">
        <p14:creationId xmlns:p14="http://schemas.microsoft.com/office/powerpoint/2010/main" val="40648449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p:nvPr>
        </p:nvSpPr>
        <p:spPr>
          <a:xfrm>
            <a:off x="1060704" y="729673"/>
            <a:ext cx="7342632" cy="1348509"/>
          </a:xfrm>
        </p:spPr>
        <p:txBody>
          <a:bodyPr anchor="t">
            <a:normAutofit/>
          </a:bodyPr>
          <a:lstStyle/>
          <a:p>
            <a:pPr eaLnBrk="1" hangingPunct="1"/>
            <a:r>
              <a:rPr lang="en-GB" altLang="en-US" sz="3600" b="1" dirty="0">
                <a:latin typeface="Times New Roman" panose="02020603050405020304" pitchFamily="18" charset="0"/>
                <a:cs typeface="Times New Roman" panose="02020603050405020304" pitchFamily="18" charset="0"/>
              </a:rPr>
              <a:t>I</a:t>
            </a:r>
            <a:r>
              <a:rPr lang="en-GB" altLang="en-US" sz="3600" b="1" dirty="0" smtClean="0">
                <a:latin typeface="Times New Roman" panose="02020603050405020304" pitchFamily="18" charset="0"/>
                <a:cs typeface="Times New Roman" panose="02020603050405020304" pitchFamily="18" charset="0"/>
              </a:rPr>
              <a:t>nformation Systems Projects</a:t>
            </a:r>
            <a:endParaRPr lang="en-US" altLang="en-US" sz="3600" b="1" dirty="0" smtClean="0">
              <a:latin typeface="Times New Roman" panose="02020603050405020304" pitchFamily="18" charset="0"/>
              <a:cs typeface="Times New Roman" panose="02020603050405020304" pitchFamily="18" charset="0"/>
            </a:endParaRPr>
          </a:p>
        </p:txBody>
      </p:sp>
      <p:sp>
        <p:nvSpPr>
          <p:cNvPr id="226307" name="Rectangle 3"/>
          <p:cNvSpPr>
            <a:spLocks noGrp="1" noChangeArrowheads="1"/>
          </p:cNvSpPr>
          <p:nvPr>
            <p:ph idx="1"/>
          </p:nvPr>
        </p:nvSpPr>
        <p:spPr>
          <a:xfrm>
            <a:off x="334817" y="1755648"/>
            <a:ext cx="8686800" cy="4986528"/>
          </a:xfrm>
        </p:spPr>
        <p:txBody>
          <a:bodyPr/>
          <a:lstStyle/>
          <a:p>
            <a:pPr marL="0" indent="0" algn="just">
              <a:buNone/>
              <a:defRPr/>
            </a:pPr>
            <a:r>
              <a:rPr lang="en-GB" altLang="en-US" sz="2800" b="1" dirty="0">
                <a:latin typeface="Times New Roman" panose="02020603050405020304" pitchFamily="18" charset="0"/>
                <a:cs typeface="Times New Roman" panose="02020603050405020304" pitchFamily="18" charset="0"/>
              </a:rPr>
              <a:t>Where do information Systems Projects Originate</a:t>
            </a:r>
            <a:r>
              <a:rPr lang="en-GB" altLang="en-US" sz="2800" b="1" dirty="0" smtClean="0">
                <a:latin typeface="Times New Roman" panose="02020603050405020304" pitchFamily="18" charset="0"/>
                <a:cs typeface="Times New Roman" panose="02020603050405020304" pitchFamily="18" charset="0"/>
              </a:rPr>
              <a:t>?</a:t>
            </a:r>
          </a:p>
          <a:p>
            <a:pPr marL="0" indent="0" algn="just">
              <a:buNone/>
              <a:defRPr/>
            </a:pPr>
            <a:endParaRPr lang="en-GB" sz="2800" dirty="0" smtClean="0">
              <a:solidFill>
                <a:srgbClr val="FF0000"/>
              </a:solidFill>
              <a:latin typeface="Bookman Old Style" pitchFamily="18" charset="0"/>
            </a:endParaRPr>
          </a:p>
          <a:p>
            <a:pPr marL="0" indent="0" algn="just" eaLnBrk="1" hangingPunct="1">
              <a:buFontTx/>
              <a:buNone/>
              <a:defRPr/>
            </a:pPr>
            <a:r>
              <a:rPr lang="en-GB" sz="2800" dirty="0" smtClean="0">
                <a:solidFill>
                  <a:srgbClr val="FF0000"/>
                </a:solidFill>
                <a:latin typeface="Bookman Old Style" pitchFamily="18" charset="0"/>
              </a:rPr>
              <a:t>New</a:t>
            </a:r>
            <a:r>
              <a:rPr lang="en-GB" sz="2800" dirty="0" smtClean="0">
                <a:solidFill>
                  <a:schemeClr val="accent2"/>
                </a:solidFill>
                <a:latin typeface="Bookman Old Style" pitchFamily="18" charset="0"/>
              </a:rPr>
              <a:t> </a:t>
            </a:r>
            <a:r>
              <a:rPr lang="en-GB" sz="2800" dirty="0">
                <a:latin typeface="Bookman Old Style" pitchFamily="18" charset="0"/>
              </a:rPr>
              <a:t>or</a:t>
            </a:r>
            <a:r>
              <a:rPr lang="en-GB" sz="2800" dirty="0">
                <a:solidFill>
                  <a:schemeClr val="accent2"/>
                </a:solidFill>
                <a:latin typeface="Bookman Old Style" pitchFamily="18" charset="0"/>
              </a:rPr>
              <a:t> </a:t>
            </a:r>
            <a:r>
              <a:rPr lang="en-GB" sz="2800" dirty="0">
                <a:solidFill>
                  <a:srgbClr val="FF0000"/>
                </a:solidFill>
                <a:latin typeface="Bookman Old Style" pitchFamily="18" charset="0"/>
              </a:rPr>
              <a:t>changed</a:t>
            </a:r>
            <a:r>
              <a:rPr lang="en-GB" sz="2800" dirty="0">
                <a:latin typeface="Bookman Old Style" pitchFamily="18" charset="0"/>
              </a:rPr>
              <a:t> IS development projects come from </a:t>
            </a:r>
            <a:r>
              <a:rPr lang="en-GB" sz="2800" b="1" dirty="0">
                <a:solidFill>
                  <a:srgbClr val="FF0000"/>
                </a:solidFill>
                <a:latin typeface="Bookman Old Style" pitchFamily="18" charset="0"/>
              </a:rPr>
              <a:t>problems</a:t>
            </a:r>
            <a:r>
              <a:rPr lang="en-GB" sz="2800" b="1" dirty="0">
                <a:solidFill>
                  <a:schemeClr val="accent2"/>
                </a:solidFill>
                <a:latin typeface="Bookman Old Style" pitchFamily="18" charset="0"/>
              </a:rPr>
              <a:t>, </a:t>
            </a:r>
            <a:r>
              <a:rPr lang="en-GB" sz="2800" b="1" dirty="0">
                <a:solidFill>
                  <a:srgbClr val="FF0000"/>
                </a:solidFill>
                <a:latin typeface="Bookman Old Style" pitchFamily="18" charset="0"/>
              </a:rPr>
              <a:t>opportunities</a:t>
            </a:r>
            <a:r>
              <a:rPr lang="en-GB" sz="2800" dirty="0">
                <a:latin typeface="Bookman Old Style" pitchFamily="18" charset="0"/>
              </a:rPr>
              <a:t>, and </a:t>
            </a:r>
            <a:r>
              <a:rPr lang="en-GB" sz="2800" b="1" dirty="0" smtClean="0">
                <a:solidFill>
                  <a:srgbClr val="FF0000"/>
                </a:solidFill>
                <a:latin typeface="Bookman Old Style" pitchFamily="18" charset="0"/>
              </a:rPr>
              <a:t>directives, </a:t>
            </a:r>
            <a:r>
              <a:rPr lang="en-GB" sz="2800" dirty="0" smtClean="0">
                <a:latin typeface="Bookman Old Style" pitchFamily="18" charset="0"/>
              </a:rPr>
              <a:t> </a:t>
            </a:r>
            <a:r>
              <a:rPr lang="en-GB" sz="2800" dirty="0">
                <a:latin typeface="Bookman Old Style" pitchFamily="18" charset="0"/>
              </a:rPr>
              <a:t>and are always subject to one or more </a:t>
            </a:r>
            <a:r>
              <a:rPr lang="en-GB" sz="2800" b="1" i="1" dirty="0">
                <a:solidFill>
                  <a:srgbClr val="FF0000"/>
                </a:solidFill>
                <a:latin typeface="Bookman Old Style" pitchFamily="18" charset="0"/>
              </a:rPr>
              <a:t>constraints</a:t>
            </a:r>
            <a:r>
              <a:rPr lang="en-GB" sz="2800" dirty="0">
                <a:latin typeface="Bookman Old Style" pitchFamily="18" charset="0"/>
              </a:rPr>
              <a:t>. </a:t>
            </a:r>
            <a:endParaRPr lang="en-GB" sz="2800" dirty="0" smtClean="0">
              <a:latin typeface="Bookman Old Style" pitchFamily="18" charset="0"/>
            </a:endParaRPr>
          </a:p>
          <a:p>
            <a:pPr marL="0" indent="0" algn="just" eaLnBrk="1" hangingPunct="1">
              <a:buFontTx/>
              <a:buNone/>
              <a:defRPr/>
            </a:pPr>
            <a:endParaRPr lang="en-GB" sz="2800" dirty="0" smtClean="0">
              <a:latin typeface="Bookman Old Style" pitchFamily="18" charset="0"/>
            </a:endParaRPr>
          </a:p>
          <a:p>
            <a:pPr marL="0" indent="0" algn="just" eaLnBrk="1" hangingPunct="1">
              <a:buFontTx/>
              <a:buNone/>
              <a:defRPr/>
            </a:pPr>
            <a:r>
              <a:rPr lang="en-GB" sz="2800" dirty="0" smtClean="0">
                <a:latin typeface="Bookman Old Style" pitchFamily="18" charset="0"/>
              </a:rPr>
              <a:t>Most </a:t>
            </a:r>
            <a:r>
              <a:rPr lang="en-GB" sz="2800" dirty="0">
                <a:latin typeface="Bookman Old Style" pitchFamily="18" charset="0"/>
              </a:rPr>
              <a:t>maintenance </a:t>
            </a:r>
            <a:r>
              <a:rPr lang="en-GB" sz="2800" dirty="0" smtClean="0">
                <a:latin typeface="Bookman Old Style" pitchFamily="18" charset="0"/>
              </a:rPr>
              <a:t>of existing </a:t>
            </a:r>
            <a:r>
              <a:rPr lang="en-GB" sz="2800" dirty="0">
                <a:latin typeface="Bookman Old Style" pitchFamily="18" charset="0"/>
              </a:rPr>
              <a:t>IS </a:t>
            </a:r>
            <a:r>
              <a:rPr lang="en-GB" sz="2800" dirty="0" smtClean="0">
                <a:latin typeface="Bookman Old Style" pitchFamily="18" charset="0"/>
              </a:rPr>
              <a:t>projects come </a:t>
            </a:r>
            <a:r>
              <a:rPr lang="en-GB" sz="2800" dirty="0">
                <a:latin typeface="Bookman Old Style" pitchFamily="18" charset="0"/>
              </a:rPr>
              <a:t>from users </a:t>
            </a:r>
            <a:r>
              <a:rPr lang="en-GB" sz="2800" dirty="0" smtClean="0">
                <a:latin typeface="Bookman Old Style" pitchFamily="18" charset="0"/>
              </a:rPr>
              <a:t>discovering real problems </a:t>
            </a:r>
            <a:r>
              <a:rPr lang="en-GB" sz="2800" dirty="0">
                <a:latin typeface="Bookman Old Style" pitchFamily="18" charset="0"/>
              </a:rPr>
              <a:t>with existing IS.</a:t>
            </a:r>
          </a:p>
        </p:txBody>
      </p:sp>
    </p:spTree>
    <p:extLst>
      <p:ext uri="{BB962C8B-B14F-4D97-AF65-F5344CB8AC3E}">
        <p14:creationId xmlns:p14="http://schemas.microsoft.com/office/powerpoint/2010/main" val="3011794025"/>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026"/>
          <p:cNvSpPr>
            <a:spLocks noGrp="1"/>
          </p:cNvSpPr>
          <p:nvPr>
            <p:ph type="title"/>
          </p:nvPr>
        </p:nvSpPr>
        <p:spPr>
          <a:xfrm>
            <a:off x="1066800" y="561975"/>
            <a:ext cx="7620000" cy="1072861"/>
          </a:xfrm>
        </p:spPr>
        <p:txBody>
          <a:bodyPr anchor="t">
            <a:normAutofit/>
          </a:bodyPr>
          <a:lstStyle/>
          <a:p>
            <a:pPr eaLnBrk="1" hangingPunct="1"/>
            <a:r>
              <a:rPr lang="en-GB" altLang="en-US" sz="3200" b="1" dirty="0" smtClean="0"/>
              <a:t>Where do information Systems Projects Originate?</a:t>
            </a:r>
            <a:endParaRPr lang="en-US" altLang="en-US" sz="3200" b="1" dirty="0" smtClean="0"/>
          </a:p>
        </p:txBody>
      </p:sp>
      <p:sp>
        <p:nvSpPr>
          <p:cNvPr id="11267" name="Rectangle 1027"/>
          <p:cNvSpPr>
            <a:spLocks noGrp="1"/>
          </p:cNvSpPr>
          <p:nvPr>
            <p:ph idx="1"/>
          </p:nvPr>
        </p:nvSpPr>
        <p:spPr>
          <a:xfrm>
            <a:off x="628649" y="2142837"/>
            <a:ext cx="8238259" cy="4034126"/>
          </a:xfrm>
        </p:spPr>
        <p:txBody>
          <a:bodyPr>
            <a:normAutofit/>
          </a:bodyPr>
          <a:lstStyle/>
          <a:p>
            <a:pPr marL="609600" indent="-609600" algn="just" eaLnBrk="1" hangingPunct="1">
              <a:buFontTx/>
              <a:buAutoNum type="arabicPeriod"/>
            </a:pPr>
            <a:r>
              <a:rPr lang="en-GB" altLang="en-US" sz="2800" b="1" dirty="0" smtClean="0">
                <a:solidFill>
                  <a:srgbClr val="FF0000"/>
                </a:solidFill>
                <a:latin typeface="Bookman Old Style" panose="02050604050505020204" pitchFamily="18" charset="0"/>
              </a:rPr>
              <a:t>Problems</a:t>
            </a:r>
            <a:r>
              <a:rPr lang="en-GB" altLang="en-US" sz="2800" dirty="0" smtClean="0">
                <a:latin typeface="Bookman Old Style" panose="02050604050505020204" pitchFamily="18" charset="0"/>
              </a:rPr>
              <a:t> – may either be current, suspected, or anticipated. </a:t>
            </a:r>
            <a:r>
              <a:rPr lang="en-GB" altLang="en-US" sz="2800" dirty="0" smtClean="0">
                <a:solidFill>
                  <a:srgbClr val="FF0000"/>
                </a:solidFill>
                <a:latin typeface="Bookman Old Style" panose="02050604050505020204" pitchFamily="18" charset="0"/>
              </a:rPr>
              <a:t>Problems</a:t>
            </a:r>
            <a:r>
              <a:rPr lang="en-GB" altLang="en-US" sz="2800" dirty="0" smtClean="0">
                <a:latin typeface="Bookman Old Style" panose="02050604050505020204" pitchFamily="18" charset="0"/>
              </a:rPr>
              <a:t> are undesirable situations that prevent the business from fully achieving its purpose, goals, and objectives.</a:t>
            </a:r>
            <a:endParaRPr lang="en-US" altLang="en-US" sz="2800" dirty="0" smtClean="0">
              <a:latin typeface="Bookman Old Style" panose="02050604050505020204" pitchFamily="18" charset="0"/>
            </a:endParaRPr>
          </a:p>
          <a:p>
            <a:pPr marL="609600" indent="-609600" algn="just" eaLnBrk="1" hangingPunct="1"/>
            <a:endParaRPr lang="en-US" altLang="en-US" sz="2800" dirty="0" smtClean="0">
              <a:latin typeface="Bookman Old Style" panose="02050604050505020204" pitchFamily="18" charset="0"/>
            </a:endParaRPr>
          </a:p>
        </p:txBody>
      </p:sp>
    </p:spTree>
    <p:extLst>
      <p:ext uri="{BB962C8B-B14F-4D97-AF65-F5344CB8AC3E}">
        <p14:creationId xmlns:p14="http://schemas.microsoft.com/office/powerpoint/2010/main" val="3449131018"/>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p:cNvSpPr>
          <p:nvPr>
            <p:ph type="title"/>
          </p:nvPr>
        </p:nvSpPr>
        <p:spPr>
          <a:xfrm>
            <a:off x="981075" y="457200"/>
            <a:ext cx="8162925" cy="822325"/>
          </a:xfrm>
        </p:spPr>
        <p:txBody>
          <a:bodyPr anchor="t">
            <a:noAutofit/>
          </a:bodyPr>
          <a:lstStyle/>
          <a:p>
            <a:pPr algn="l" eaLnBrk="1" hangingPunct="1"/>
            <a:r>
              <a:rPr lang="en-GB" altLang="en-US" sz="3200" b="1" dirty="0" smtClean="0"/>
              <a:t>Where do information Systems Projects Originate?</a:t>
            </a:r>
            <a:endParaRPr lang="en-US" altLang="en-US" sz="3200" b="1" dirty="0" smtClean="0"/>
          </a:p>
        </p:txBody>
      </p:sp>
      <p:sp>
        <p:nvSpPr>
          <p:cNvPr id="12291" name="Rectangle 3"/>
          <p:cNvSpPr>
            <a:spLocks noGrp="1"/>
          </p:cNvSpPr>
          <p:nvPr>
            <p:ph idx="1"/>
          </p:nvPr>
        </p:nvSpPr>
        <p:spPr>
          <a:xfrm>
            <a:off x="457200" y="1676400"/>
            <a:ext cx="8280400" cy="4038600"/>
          </a:xfrm>
        </p:spPr>
        <p:txBody>
          <a:bodyPr/>
          <a:lstStyle/>
          <a:p>
            <a:pPr marL="341313" indent="-341313" algn="just" eaLnBrk="1" hangingPunct="1">
              <a:lnSpc>
                <a:spcPct val="90000"/>
              </a:lnSpc>
              <a:buFontTx/>
              <a:buNone/>
            </a:pPr>
            <a:r>
              <a:rPr lang="en-GB" altLang="en-US" dirty="0" smtClean="0">
                <a:solidFill>
                  <a:srgbClr val="FF0000"/>
                </a:solidFill>
                <a:latin typeface="Bookman Old Style" panose="02050604050505020204" pitchFamily="18" charset="0"/>
              </a:rPr>
              <a:t>2. </a:t>
            </a:r>
            <a:r>
              <a:rPr lang="en-GB" altLang="en-US" sz="2800" dirty="0" smtClean="0">
                <a:solidFill>
                  <a:srgbClr val="FF0000"/>
                </a:solidFill>
                <a:latin typeface="Bookman Old Style" panose="02050604050505020204" pitchFamily="18" charset="0"/>
              </a:rPr>
              <a:t>An </a:t>
            </a:r>
            <a:r>
              <a:rPr lang="en-GB" altLang="en-US" sz="2800" b="1" dirty="0" smtClean="0">
                <a:solidFill>
                  <a:srgbClr val="FF0000"/>
                </a:solidFill>
                <a:latin typeface="Bookman Old Style" panose="02050604050505020204" pitchFamily="18" charset="0"/>
              </a:rPr>
              <a:t>Opportunity</a:t>
            </a:r>
            <a:r>
              <a:rPr lang="en-GB" altLang="en-US" sz="2800" dirty="0" smtClean="0">
                <a:solidFill>
                  <a:srgbClr val="FF0000"/>
                </a:solidFill>
                <a:latin typeface="Bookman Old Style" panose="02050604050505020204" pitchFamily="18" charset="0"/>
              </a:rPr>
              <a:t> </a:t>
            </a:r>
            <a:r>
              <a:rPr lang="en-GB" altLang="en-US" sz="2800" dirty="0" smtClean="0">
                <a:latin typeface="Bookman Old Style" panose="02050604050505020204" pitchFamily="18" charset="0"/>
              </a:rPr>
              <a:t>– is a chance to improve the business even in the absence of specific problems. This means that the business is hoping to create a system that will help it to increase its revenue, profit and services or decrease its cost.</a:t>
            </a:r>
          </a:p>
        </p:txBody>
      </p:sp>
    </p:spTree>
    <p:extLst>
      <p:ext uri="{BB962C8B-B14F-4D97-AF65-F5344CB8AC3E}">
        <p14:creationId xmlns:p14="http://schemas.microsoft.com/office/powerpoint/2010/main" val="655044391"/>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p:cNvSpPr>
          <p:nvPr>
            <p:ph type="title"/>
          </p:nvPr>
        </p:nvSpPr>
        <p:spPr>
          <a:xfrm>
            <a:off x="1066800" y="561975"/>
            <a:ext cx="7620000" cy="989734"/>
          </a:xfrm>
        </p:spPr>
        <p:txBody>
          <a:bodyPr anchor="t">
            <a:noAutofit/>
          </a:bodyPr>
          <a:lstStyle/>
          <a:p>
            <a:pPr eaLnBrk="1" hangingPunct="1"/>
            <a:r>
              <a:rPr lang="en-GB" altLang="en-US" sz="3200" b="1" dirty="0" smtClean="0"/>
              <a:t>Where do information Systems Projects Originate?</a:t>
            </a:r>
            <a:endParaRPr lang="en-US" altLang="en-US" sz="3200" b="1" dirty="0" smtClean="0"/>
          </a:p>
        </p:txBody>
      </p:sp>
      <p:sp>
        <p:nvSpPr>
          <p:cNvPr id="13315" name="Rectangle 3"/>
          <p:cNvSpPr>
            <a:spLocks noGrp="1" noChangeArrowheads="1"/>
          </p:cNvSpPr>
          <p:nvPr>
            <p:ph idx="1"/>
          </p:nvPr>
        </p:nvSpPr>
        <p:spPr>
          <a:xfrm>
            <a:off x="757382" y="1752600"/>
            <a:ext cx="8192654" cy="3657600"/>
          </a:xfrm>
        </p:spPr>
        <p:txBody>
          <a:bodyPr/>
          <a:lstStyle/>
          <a:p>
            <a:pPr marL="461963" indent="-461963" algn="just" eaLnBrk="1" hangingPunct="1">
              <a:lnSpc>
                <a:spcPct val="90000"/>
              </a:lnSpc>
              <a:buFontTx/>
              <a:buNone/>
              <a:tabLst>
                <a:tab pos="396875" algn="l"/>
              </a:tabLst>
            </a:pPr>
            <a:r>
              <a:rPr lang="en-GB" altLang="en-US" sz="2800" dirty="0" smtClean="0">
                <a:latin typeface="Bookman Old Style" panose="02050604050505020204" pitchFamily="18" charset="0"/>
              </a:rPr>
              <a:t>3. A </a:t>
            </a:r>
            <a:r>
              <a:rPr lang="en-GB" altLang="en-US" sz="2800" b="1" dirty="0" smtClean="0">
                <a:solidFill>
                  <a:srgbClr val="FF0000"/>
                </a:solidFill>
                <a:latin typeface="Bookman Old Style" panose="02050604050505020204" pitchFamily="18" charset="0"/>
              </a:rPr>
              <a:t>Directive</a:t>
            </a:r>
            <a:r>
              <a:rPr lang="en-GB" altLang="en-US" sz="2800" b="1" dirty="0" smtClean="0">
                <a:solidFill>
                  <a:schemeClr val="accent2"/>
                </a:solidFill>
                <a:latin typeface="Bookman Old Style" panose="02050604050505020204" pitchFamily="18" charset="0"/>
              </a:rPr>
              <a:t> </a:t>
            </a:r>
            <a:r>
              <a:rPr lang="en-GB" altLang="en-US" sz="2800" dirty="0" smtClean="0">
                <a:latin typeface="Bookman Old Style" panose="02050604050505020204" pitchFamily="18" charset="0"/>
              </a:rPr>
              <a:t>– is a new requirement that is imposed by management, government, or some external influence </a:t>
            </a:r>
          </a:p>
          <a:p>
            <a:pPr marL="609600" indent="-609600" algn="just" eaLnBrk="1" hangingPunct="1">
              <a:lnSpc>
                <a:spcPct val="90000"/>
              </a:lnSpc>
              <a:buFontTx/>
              <a:buNone/>
            </a:pPr>
            <a:endParaRPr lang="en-GB" altLang="en-US" sz="2400" b="1" i="1" dirty="0">
              <a:solidFill>
                <a:schemeClr val="accent2"/>
              </a:solidFill>
              <a:latin typeface="Bookman Old Style" panose="02050604050505020204" pitchFamily="18" charset="0"/>
            </a:endParaRPr>
          </a:p>
          <a:p>
            <a:pPr marL="609600" indent="-609600" algn="just" eaLnBrk="1" hangingPunct="1">
              <a:lnSpc>
                <a:spcPct val="90000"/>
              </a:lnSpc>
              <a:buFontTx/>
              <a:buNone/>
            </a:pPr>
            <a:r>
              <a:rPr lang="en-GB" altLang="en-US" sz="2400" b="1" i="1" dirty="0" smtClean="0">
                <a:solidFill>
                  <a:srgbClr val="FF0000"/>
                </a:solidFill>
                <a:latin typeface="Bookman Old Style" panose="02050604050505020204" pitchFamily="18" charset="0"/>
              </a:rPr>
              <a:t>    Constraints</a:t>
            </a:r>
            <a:r>
              <a:rPr lang="en-GB" altLang="en-US" sz="2400" i="1" dirty="0" smtClean="0">
                <a:latin typeface="Bookman Old Style" panose="02050604050505020204" pitchFamily="18" charset="0"/>
              </a:rPr>
              <a:t> are limitations and compromises </a:t>
            </a:r>
          </a:p>
          <a:p>
            <a:pPr marL="609600" indent="-609600" algn="just" eaLnBrk="1" hangingPunct="1">
              <a:lnSpc>
                <a:spcPct val="90000"/>
              </a:lnSpc>
              <a:buFontTx/>
              <a:buNone/>
            </a:pPr>
            <a:r>
              <a:rPr lang="en-GB" altLang="en-US" sz="2400" i="1" dirty="0" smtClean="0">
                <a:latin typeface="Bookman Old Style" panose="02050604050505020204" pitchFamily="18" charset="0"/>
              </a:rPr>
              <a:t>     that come with the soon to be developed IS.</a:t>
            </a:r>
            <a:endParaRPr lang="en-US" altLang="en-US" sz="2800" dirty="0" smtClean="0">
              <a:latin typeface="Bookman Old Style" panose="02050604050505020204" pitchFamily="18" charset="0"/>
            </a:endParaRPr>
          </a:p>
        </p:txBody>
      </p:sp>
    </p:spTree>
    <p:extLst>
      <p:ext uri="{BB962C8B-B14F-4D97-AF65-F5344CB8AC3E}">
        <p14:creationId xmlns:p14="http://schemas.microsoft.com/office/powerpoint/2010/main" val="4077908862"/>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9278" y="244494"/>
            <a:ext cx="7543800" cy="735281"/>
          </a:xfrm>
        </p:spPr>
        <p:txBody>
          <a:bodyPr>
            <a:noAutofit/>
          </a:bodyPr>
          <a:lstStyle/>
          <a:p>
            <a:r>
              <a:rPr lang="en-US" sz="3600" cap="none" dirty="0" smtClean="0"/>
              <a:t>Information Systems Development</a:t>
            </a:r>
            <a:endParaRPr lang="en-US" sz="3600" cap="none" dirty="0"/>
          </a:p>
        </p:txBody>
      </p:sp>
      <p:sp>
        <p:nvSpPr>
          <p:cNvPr id="3" name="Content Placeholder 2"/>
          <p:cNvSpPr>
            <a:spLocks noGrp="1"/>
          </p:cNvSpPr>
          <p:nvPr>
            <p:ph idx="1"/>
          </p:nvPr>
        </p:nvSpPr>
        <p:spPr>
          <a:xfrm>
            <a:off x="713896" y="1160584"/>
            <a:ext cx="7968286" cy="5560892"/>
          </a:xfrm>
        </p:spPr>
        <p:txBody>
          <a:bodyPr>
            <a:noAutofit/>
          </a:bodyPr>
          <a:lstStyle/>
          <a:p>
            <a:pPr algn="just"/>
            <a:r>
              <a:rPr lang="en-US" sz="2800" dirty="0"/>
              <a:t>In systems </a:t>
            </a:r>
            <a:r>
              <a:rPr lang="en-US" sz="2800" dirty="0" smtClean="0"/>
              <a:t>engineering and information systems,   </a:t>
            </a:r>
            <a:r>
              <a:rPr lang="en-US" sz="2800" dirty="0"/>
              <a:t>the systems development life </a:t>
            </a:r>
            <a:r>
              <a:rPr lang="en-US" sz="2800" dirty="0" smtClean="0"/>
              <a:t>cycle/the </a:t>
            </a:r>
            <a:r>
              <a:rPr lang="en-US" sz="2800" dirty="0"/>
              <a:t>application development </a:t>
            </a:r>
            <a:r>
              <a:rPr lang="en-US" sz="2800" dirty="0" smtClean="0"/>
              <a:t>life-cycle, </a:t>
            </a:r>
            <a:r>
              <a:rPr lang="en-US" sz="2800" dirty="0"/>
              <a:t>is a process for planning, creating, testing, and deploying an information system</a:t>
            </a:r>
            <a:r>
              <a:rPr lang="en-US" sz="2800" dirty="0" smtClean="0"/>
              <a:t>.</a:t>
            </a:r>
            <a:endParaRPr lang="en-US" sz="2800" dirty="0"/>
          </a:p>
          <a:p>
            <a:pPr algn="just">
              <a:defRPr/>
            </a:pPr>
            <a:r>
              <a:rPr lang="en-US" sz="2800" kern="0" dirty="0">
                <a:solidFill>
                  <a:srgbClr val="000000"/>
                </a:solidFill>
              </a:rPr>
              <a:t>The systems development life cycle is a systematic approach to solving business problems</a:t>
            </a:r>
            <a:r>
              <a:rPr lang="en-US" sz="2800" dirty="0"/>
              <a:t>.</a:t>
            </a:r>
          </a:p>
          <a:p>
            <a:pPr algn="just">
              <a:defRPr/>
            </a:pPr>
            <a:r>
              <a:rPr lang="en-US" sz="2800" dirty="0"/>
              <a:t>Describes seven phases required to develop an IT system, from an initial feasibility study through maintenance of the completed application. </a:t>
            </a:r>
          </a:p>
          <a:p>
            <a:pPr algn="just">
              <a:defRPr/>
            </a:pPr>
            <a:r>
              <a:rPr lang="en-US" sz="2800" dirty="0">
                <a:solidFill>
                  <a:schemeClr val="tx2">
                    <a:lumMod val="50000"/>
                  </a:schemeClr>
                </a:solidFill>
              </a:rPr>
              <a:t>It is divided into seven phases.</a:t>
            </a:r>
          </a:p>
          <a:p>
            <a:pPr algn="just">
              <a:defRPr/>
            </a:pPr>
            <a:r>
              <a:rPr lang="en-US" sz="2800" kern="0" dirty="0">
                <a:solidFill>
                  <a:srgbClr val="000000"/>
                </a:solidFill>
              </a:rPr>
              <a:t>Each phase has unique activities.</a:t>
            </a:r>
            <a:endParaRPr lang="en-US" sz="2800" dirty="0"/>
          </a:p>
          <a:p>
            <a:pPr algn="just"/>
            <a:endParaRPr lang="en-US" sz="2800" dirty="0"/>
          </a:p>
        </p:txBody>
      </p:sp>
      <p:sp>
        <p:nvSpPr>
          <p:cNvPr id="4" name="Slide Number Placeholder 3"/>
          <p:cNvSpPr>
            <a:spLocks noGrp="1"/>
          </p:cNvSpPr>
          <p:nvPr>
            <p:ph type="sldNum" sz="quarter" idx="12"/>
          </p:nvPr>
        </p:nvSpPr>
        <p:spPr/>
        <p:txBody>
          <a:bodyPr/>
          <a:lstStyle/>
          <a:p>
            <a:fld id="{443EA004-F8A2-4490-BFAE-85849A2E5323}" type="slidenum">
              <a:rPr lang="en-US" smtClean="0"/>
              <a:t>17</a:t>
            </a:fld>
            <a:endParaRPr lang="en-US"/>
          </a:p>
        </p:txBody>
      </p:sp>
    </p:spTree>
    <p:extLst>
      <p:ext uri="{BB962C8B-B14F-4D97-AF65-F5344CB8AC3E}">
        <p14:creationId xmlns:p14="http://schemas.microsoft.com/office/powerpoint/2010/main" val="36417459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295400" y="381000"/>
            <a:ext cx="7467600" cy="914400"/>
          </a:xfrm>
        </p:spPr>
        <p:txBody>
          <a:bodyPr>
            <a:normAutofit fontScale="90000"/>
          </a:bodyPr>
          <a:lstStyle/>
          <a:p>
            <a:pPr eaLnBrk="1" hangingPunct="1">
              <a:defRPr/>
            </a:pPr>
            <a:r>
              <a:rPr lang="en-US" sz="4000"/>
              <a:t>The Need for Structured Systems Development</a:t>
            </a:r>
          </a:p>
        </p:txBody>
      </p:sp>
      <p:sp>
        <p:nvSpPr>
          <p:cNvPr id="19459" name="Rectangle 3"/>
          <p:cNvSpPr>
            <a:spLocks noGrp="1"/>
          </p:cNvSpPr>
          <p:nvPr>
            <p:ph idx="1"/>
          </p:nvPr>
        </p:nvSpPr>
        <p:spPr>
          <a:xfrm>
            <a:off x="369455" y="1632527"/>
            <a:ext cx="8562109" cy="5105400"/>
          </a:xfrm>
        </p:spPr>
        <p:txBody>
          <a:bodyPr>
            <a:normAutofit/>
          </a:bodyPr>
          <a:lstStyle/>
          <a:p>
            <a:pPr marL="609600" indent="-609600" algn="just" eaLnBrk="1" hangingPunct="1">
              <a:buFontTx/>
              <a:buNone/>
            </a:pPr>
            <a:r>
              <a:rPr lang="en-US" altLang="en-US" sz="2800" dirty="0" smtClean="0"/>
              <a:t>Options for Obtaining Information Systems</a:t>
            </a:r>
          </a:p>
          <a:p>
            <a:pPr marL="687388" lvl="1" indent="-609600" algn="just" eaLnBrk="1" hangingPunct="1">
              <a:buClr>
                <a:schemeClr val="tx2"/>
              </a:buClr>
              <a:buFont typeface="Wingdings" panose="05000000000000000000" pitchFamily="2" charset="2"/>
              <a:buAutoNum type="arabicPeriod"/>
            </a:pPr>
            <a:r>
              <a:rPr lang="en-US" altLang="en-US" sz="2800" dirty="0" smtClean="0"/>
              <a:t>Build your own</a:t>
            </a:r>
          </a:p>
          <a:p>
            <a:pPr marL="687388" lvl="1" indent="-609600" algn="just" eaLnBrk="1" hangingPunct="1">
              <a:buClr>
                <a:schemeClr val="tx2"/>
              </a:buClr>
              <a:buFont typeface="Wingdings" panose="05000000000000000000" pitchFamily="2" charset="2"/>
              <a:buAutoNum type="arabicPeriod"/>
            </a:pPr>
            <a:r>
              <a:rPr lang="en-US" altLang="en-US" sz="2800" dirty="0" smtClean="0"/>
              <a:t>Buy a prepackaged system from a software development company or consulting firm. Example: Payroll system.</a:t>
            </a:r>
          </a:p>
          <a:p>
            <a:pPr marL="687388" lvl="1" indent="-609600" algn="just" eaLnBrk="1" hangingPunct="1">
              <a:buClr>
                <a:schemeClr val="tx2"/>
              </a:buClr>
              <a:buFont typeface="Wingdings" panose="05000000000000000000" pitchFamily="2" charset="2"/>
              <a:buAutoNum type="arabicPeriod"/>
            </a:pPr>
            <a:r>
              <a:rPr lang="en-US" altLang="en-US" sz="2800" dirty="0" smtClean="0"/>
              <a:t>Outsource development to a 3</a:t>
            </a:r>
            <a:r>
              <a:rPr lang="en-US" altLang="en-US" sz="2800" baseline="30000" dirty="0" smtClean="0"/>
              <a:t>rd</a:t>
            </a:r>
            <a:r>
              <a:rPr lang="en-US" altLang="en-US" sz="2800" dirty="0" smtClean="0"/>
              <a:t> party: Good option when an organization does not have adequate resources or expertise.</a:t>
            </a:r>
          </a:p>
          <a:p>
            <a:pPr marL="687388" lvl="1" indent="-609600" algn="just" eaLnBrk="1" hangingPunct="1">
              <a:buClr>
                <a:schemeClr val="tx2"/>
              </a:buClr>
              <a:buFont typeface="Wingdings" panose="05000000000000000000" pitchFamily="2" charset="2"/>
              <a:buAutoNum type="arabicPeriod"/>
            </a:pPr>
            <a:r>
              <a:rPr lang="en-US" altLang="en-US" sz="2800" dirty="0" smtClean="0"/>
              <a:t>End-user	development: Individual users and departments build their own custom systems to support their individuals. </a:t>
            </a:r>
          </a:p>
        </p:txBody>
      </p:sp>
    </p:spTree>
    <p:extLst>
      <p:ext uri="{BB962C8B-B14F-4D97-AF65-F5344CB8AC3E}">
        <p14:creationId xmlns:p14="http://schemas.microsoft.com/office/powerpoint/2010/main" val="664940098"/>
      </p:ext>
    </p:extLst>
  </p:cSld>
  <p:clrMapOvr>
    <a:masterClrMapping/>
  </p:clrMapOvr>
  <p:transition>
    <p:dissolv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295400" y="381000"/>
            <a:ext cx="7467600" cy="1143000"/>
          </a:xfrm>
        </p:spPr>
        <p:txBody>
          <a:bodyPr>
            <a:normAutofit/>
          </a:bodyPr>
          <a:lstStyle/>
          <a:p>
            <a:pPr eaLnBrk="1" hangingPunct="1">
              <a:defRPr/>
            </a:pPr>
            <a:r>
              <a:rPr lang="en-US" dirty="0"/>
              <a:t>The Need for Structured Systems Development</a:t>
            </a:r>
          </a:p>
        </p:txBody>
      </p:sp>
      <p:pic>
        <p:nvPicPr>
          <p:cNvPr id="21507" name="Picture 4" descr="FIG08_0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990600"/>
            <a:ext cx="822960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76422351"/>
      </p:ext>
    </p:extLst>
  </p:cSld>
  <p:clrMapOvr>
    <a:masterClrMapping/>
  </p:clrMapOvr>
  <p:transition>
    <p:dissolv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637309" y="381000"/>
            <a:ext cx="8125691" cy="1143000"/>
          </a:xfrm>
        </p:spPr>
        <p:txBody>
          <a:bodyPr>
            <a:normAutofit/>
          </a:bodyPr>
          <a:lstStyle/>
          <a:p>
            <a:pPr eaLnBrk="1" hangingPunct="1">
              <a:defRPr/>
            </a:pPr>
            <a:r>
              <a:rPr lang="en-US" dirty="0"/>
              <a:t>The Need for Structured Systems Development</a:t>
            </a:r>
          </a:p>
        </p:txBody>
      </p:sp>
      <p:sp>
        <p:nvSpPr>
          <p:cNvPr id="23555" name="Rectangle 3"/>
          <p:cNvSpPr>
            <a:spLocks noGrp="1"/>
          </p:cNvSpPr>
          <p:nvPr>
            <p:ph idx="1"/>
          </p:nvPr>
        </p:nvSpPr>
        <p:spPr>
          <a:xfrm>
            <a:off x="533400" y="1838036"/>
            <a:ext cx="8229600" cy="4895272"/>
          </a:xfrm>
        </p:spPr>
        <p:txBody>
          <a:bodyPr>
            <a:normAutofit/>
          </a:bodyPr>
          <a:lstStyle/>
          <a:p>
            <a:pPr algn="just" eaLnBrk="1" hangingPunct="1"/>
            <a:r>
              <a:rPr lang="en-US" altLang="en-US" sz="2800" dirty="0" smtClean="0"/>
              <a:t>The Role of Users in the Systems Development Process</a:t>
            </a:r>
          </a:p>
          <a:p>
            <a:pPr lvl="1" algn="just" eaLnBrk="1" hangingPunct="1"/>
            <a:r>
              <a:rPr lang="en-US" altLang="en-US" sz="2400" dirty="0" smtClean="0"/>
              <a:t>It is important for all members of the organization to understand what is meant by system development and what activities occur. </a:t>
            </a:r>
          </a:p>
          <a:p>
            <a:pPr lvl="1" algn="just" eaLnBrk="1" hangingPunct="1"/>
            <a:r>
              <a:rPr lang="en-US" altLang="en-US" sz="2400" dirty="0" smtClean="0"/>
              <a:t>Effective partnership: A close and mutually respectful working relationship between analysts and users is a key to project success.</a:t>
            </a:r>
          </a:p>
        </p:txBody>
      </p:sp>
    </p:spTree>
    <p:extLst>
      <p:ext uri="{BB962C8B-B14F-4D97-AF65-F5344CB8AC3E}">
        <p14:creationId xmlns:p14="http://schemas.microsoft.com/office/powerpoint/2010/main" val="2916646072"/>
      </p:ext>
    </p:extLst>
  </p:cSld>
  <p:clrMapOvr>
    <a:masterClrMapping/>
  </p:clrMapOvr>
  <p:transition>
    <p:dissolv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591127" y="152400"/>
            <a:ext cx="8324273" cy="1143000"/>
          </a:xfrm>
        </p:spPr>
        <p:txBody>
          <a:bodyPr>
            <a:normAutofit/>
          </a:bodyPr>
          <a:lstStyle/>
          <a:p>
            <a:pPr eaLnBrk="1" hangingPunct="1">
              <a:defRPr/>
            </a:pPr>
            <a:r>
              <a:rPr lang="en-US" dirty="0"/>
              <a:t>The Need for Structured Systems Development</a:t>
            </a:r>
          </a:p>
        </p:txBody>
      </p:sp>
      <p:sp>
        <p:nvSpPr>
          <p:cNvPr id="25603" name="Rectangle 3"/>
          <p:cNvSpPr>
            <a:spLocks noGrp="1"/>
          </p:cNvSpPr>
          <p:nvPr>
            <p:ph idx="1"/>
          </p:nvPr>
        </p:nvSpPr>
        <p:spPr>
          <a:xfrm>
            <a:off x="683491" y="1676400"/>
            <a:ext cx="7927109" cy="4572000"/>
          </a:xfrm>
        </p:spPr>
        <p:txBody>
          <a:bodyPr/>
          <a:lstStyle/>
          <a:p>
            <a:pPr algn="just" eaLnBrk="1" hangingPunct="1"/>
            <a:r>
              <a:rPr lang="en-US" altLang="en-US" b="1" dirty="0" smtClean="0"/>
              <a:t>Systems analysis and design </a:t>
            </a:r>
            <a:r>
              <a:rPr lang="en-US" altLang="en-US" dirty="0" smtClean="0"/>
              <a:t>– </a:t>
            </a:r>
            <a:r>
              <a:rPr lang="en-US" altLang="en-US" sz="2400" dirty="0" smtClean="0"/>
              <a:t>the process of designing, building, and maintaining information systems</a:t>
            </a:r>
          </a:p>
          <a:p>
            <a:pPr lvl="1" algn="just" eaLnBrk="1" hangingPunct="1"/>
            <a:r>
              <a:rPr lang="en-US" altLang="en-US" sz="2400" dirty="0" smtClean="0"/>
              <a:t>The individual who performs this task is called </a:t>
            </a:r>
            <a:r>
              <a:rPr lang="en-US" altLang="en-US" sz="2400" b="1" dirty="0" smtClean="0"/>
              <a:t>Systems analyst</a:t>
            </a:r>
          </a:p>
          <a:p>
            <a:pPr lvl="1" algn="just" eaLnBrk="1" hangingPunct="1"/>
            <a:r>
              <a:rPr lang="en-US" altLang="en-US" sz="2400" dirty="0" smtClean="0"/>
              <a:t>Organization wants to hire System analyst because they have both technical and managerial expertise.</a:t>
            </a:r>
          </a:p>
        </p:txBody>
      </p:sp>
    </p:spTree>
    <p:extLst>
      <p:ext uri="{BB962C8B-B14F-4D97-AF65-F5344CB8AC3E}">
        <p14:creationId xmlns:p14="http://schemas.microsoft.com/office/powerpoint/2010/main" val="4038094364"/>
      </p:ext>
    </p:extLst>
  </p:cSld>
  <p:clrMapOvr>
    <a:masterClrMapping/>
  </p:clrMapOvr>
  <p:transition>
    <p:dissolv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817134" y="925757"/>
            <a:ext cx="7543800" cy="755261"/>
          </a:xfrm>
        </p:spPr>
        <p:txBody>
          <a:bodyPr/>
          <a:lstStyle/>
          <a:p>
            <a:r>
              <a:rPr lang="en-US" altLang="en-US" sz="3000" dirty="0"/>
              <a:t>SYSTEMS DEVELOPMENT LIFE CYCLE (SDLC)</a:t>
            </a:r>
          </a:p>
        </p:txBody>
      </p:sp>
      <p:sp>
        <p:nvSpPr>
          <p:cNvPr id="25603" name="Rectangle 3"/>
          <p:cNvSpPr>
            <a:spLocks noGrp="1" noChangeArrowheads="1"/>
          </p:cNvSpPr>
          <p:nvPr>
            <p:ph idx="1"/>
          </p:nvPr>
        </p:nvSpPr>
        <p:spPr>
          <a:xfrm>
            <a:off x="706374" y="2057401"/>
            <a:ext cx="8437626" cy="3423469"/>
          </a:xfrm>
        </p:spPr>
        <p:txBody>
          <a:bodyPr>
            <a:normAutofit/>
          </a:bodyPr>
          <a:lstStyle/>
          <a:p>
            <a:pPr marL="0" indent="0" algn="just">
              <a:buNone/>
            </a:pPr>
            <a:r>
              <a:rPr lang="en-US" altLang="en-US" sz="2400" b="1" dirty="0"/>
              <a:t>SDLC </a:t>
            </a:r>
            <a:r>
              <a:rPr lang="en-US" altLang="en-US" sz="2400" dirty="0"/>
              <a:t>-  is defined as a structured step-by-step approach for developing information systems </a:t>
            </a:r>
          </a:p>
          <a:p>
            <a:pPr algn="just"/>
            <a:r>
              <a:rPr lang="en-US" altLang="en-US" sz="2400" dirty="0"/>
              <a:t>Typical activities include:</a:t>
            </a:r>
          </a:p>
          <a:p>
            <a:pPr lvl="2" algn="just"/>
            <a:r>
              <a:rPr lang="en-US" altLang="en-US" sz="2400" dirty="0"/>
              <a:t>Determining budgets</a:t>
            </a:r>
          </a:p>
          <a:p>
            <a:pPr lvl="2" algn="just"/>
            <a:r>
              <a:rPr lang="en-US" altLang="en-US" sz="2400" dirty="0"/>
              <a:t>Gathering business requirements</a:t>
            </a:r>
          </a:p>
          <a:p>
            <a:pPr lvl="2" algn="just"/>
            <a:r>
              <a:rPr lang="en-US" altLang="en-US" sz="2400" dirty="0"/>
              <a:t>Designing models</a:t>
            </a:r>
          </a:p>
          <a:p>
            <a:pPr lvl="2" algn="just"/>
            <a:r>
              <a:rPr lang="en-US" altLang="en-US" sz="2400" dirty="0"/>
              <a:t>Writing user documentation </a:t>
            </a:r>
          </a:p>
        </p:txBody>
      </p:sp>
    </p:spTree>
    <p:extLst>
      <p:ext uri="{BB962C8B-B14F-4D97-AF65-F5344CB8AC3E}">
        <p14:creationId xmlns:p14="http://schemas.microsoft.com/office/powerpoint/2010/main" val="11897803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457200" y="274638"/>
            <a:ext cx="8229600" cy="861435"/>
          </a:xfrm>
        </p:spPr>
        <p:txBody>
          <a:bodyPr/>
          <a:lstStyle/>
          <a:p>
            <a:r>
              <a:rPr lang="en-US" altLang="en-US" sz="3000" dirty="0"/>
              <a:t>SYSTEMS DEVELOPMENT LIFE CYCLE (SDLC)</a:t>
            </a:r>
          </a:p>
        </p:txBody>
      </p:sp>
      <p:graphicFrame>
        <p:nvGraphicFramePr>
          <p:cNvPr id="26656" name="Group 32"/>
          <p:cNvGraphicFramePr>
            <a:graphicFrameLocks noGrp="1"/>
          </p:cNvGraphicFramePr>
          <p:nvPr>
            <p:ph type="tbl" idx="1"/>
            <p:extLst>
              <p:ext uri="{D42A27DB-BD31-4B8C-83A1-F6EECF244321}">
                <p14:modId xmlns:p14="http://schemas.microsoft.com/office/powerpoint/2010/main" val="783562658"/>
              </p:ext>
            </p:extLst>
          </p:nvPr>
        </p:nvGraphicFramePr>
        <p:xfrm>
          <a:off x="692727" y="1450111"/>
          <a:ext cx="7267241" cy="4938965"/>
        </p:xfrm>
        <a:graphic>
          <a:graphicData uri="http://schemas.openxmlformats.org/drawingml/2006/table">
            <a:tbl>
              <a:tblPr/>
              <a:tblGrid>
                <a:gridCol w="2276620">
                  <a:extLst>
                    <a:ext uri="{9D8B030D-6E8A-4147-A177-3AD203B41FA5}">
                      <a16:colId xmlns:a16="http://schemas.microsoft.com/office/drawing/2014/main" val="2162062970"/>
                    </a:ext>
                  </a:extLst>
                </a:gridCol>
                <a:gridCol w="4990621">
                  <a:extLst>
                    <a:ext uri="{9D8B030D-6E8A-4147-A177-3AD203B41FA5}">
                      <a16:colId xmlns:a16="http://schemas.microsoft.com/office/drawing/2014/main" val="172717968"/>
                    </a:ext>
                  </a:extLst>
                </a:gridCol>
              </a:tblGrid>
              <a:tr h="522678">
                <a:tc>
                  <a:txBody>
                    <a:bodyPr/>
                    <a:lstStyle>
                      <a:lvl1pPr defTabSz="809625">
                        <a:spcBef>
                          <a:spcPct val="20000"/>
                        </a:spcBef>
                        <a:defRPr sz="2800">
                          <a:solidFill>
                            <a:schemeClr val="tx1"/>
                          </a:solidFill>
                          <a:effectLst>
                            <a:outerShdw blurRad="38100" dist="38100" dir="2700000" algn="tl">
                              <a:srgbClr val="C0C0C0"/>
                            </a:outerShdw>
                          </a:effectLst>
                          <a:latin typeface="Times New Roman" panose="02020603050405020304" pitchFamily="18" charset="0"/>
                        </a:defRPr>
                      </a:lvl1pPr>
                      <a:lvl2pPr marL="347663" defTabSz="809625">
                        <a:spcBef>
                          <a:spcPct val="20000"/>
                        </a:spcBef>
                        <a:defRPr sz="2400">
                          <a:solidFill>
                            <a:schemeClr val="tx1"/>
                          </a:solidFill>
                          <a:effectLst>
                            <a:outerShdw blurRad="38100" dist="38100" dir="2700000" algn="tl">
                              <a:srgbClr val="C0C0C0"/>
                            </a:outerShdw>
                          </a:effectLst>
                          <a:latin typeface="Times New Roman" panose="02020603050405020304" pitchFamily="18" charset="0"/>
                        </a:defRPr>
                      </a:lvl2pPr>
                      <a:lvl3pPr marL="682625" defTabSz="809625">
                        <a:spcBef>
                          <a:spcPct val="20000"/>
                        </a:spcBef>
                        <a:defRPr sz="2000">
                          <a:solidFill>
                            <a:schemeClr val="tx1"/>
                          </a:solidFill>
                          <a:effectLst>
                            <a:outerShdw blurRad="38100" dist="38100" dir="2700000" algn="tl">
                              <a:srgbClr val="C0C0C0"/>
                            </a:outerShdw>
                          </a:effectLst>
                          <a:latin typeface="Times New Roman" panose="02020603050405020304" pitchFamily="18" charset="0"/>
                        </a:defRPr>
                      </a:lvl3pPr>
                      <a:lvl4pPr marL="1020763" defTabSz="809625">
                        <a:spcBef>
                          <a:spcPct val="20000"/>
                        </a:spcBef>
                        <a:defRPr>
                          <a:solidFill>
                            <a:schemeClr val="tx1"/>
                          </a:solidFill>
                          <a:effectLst>
                            <a:outerShdw blurRad="38100" dist="38100" dir="2700000" algn="tl">
                              <a:srgbClr val="C0C0C0"/>
                            </a:outerShdw>
                          </a:effectLst>
                          <a:latin typeface="Times New Roman" panose="02020603050405020304" pitchFamily="18" charset="0"/>
                        </a:defRPr>
                      </a:lvl4pPr>
                      <a:lvl5pPr marL="1370013" defTabSz="809625">
                        <a:spcBef>
                          <a:spcPct val="20000"/>
                        </a:spcBef>
                        <a:defRPr>
                          <a:solidFill>
                            <a:schemeClr val="tx1"/>
                          </a:solidFill>
                          <a:effectLst>
                            <a:outerShdw blurRad="38100" dist="38100" dir="2700000" algn="tl">
                              <a:srgbClr val="C0C0C0"/>
                            </a:outerShdw>
                          </a:effectLst>
                          <a:latin typeface="Times New Roman" panose="02020603050405020304" pitchFamily="18" charset="0"/>
                        </a:defRPr>
                      </a:lvl5pPr>
                      <a:lvl6pPr marL="1827213"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6pPr>
                      <a:lvl7pPr marL="2284413"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7pPr>
                      <a:lvl8pPr marL="2741613"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8pPr>
                      <a:lvl9pPr marL="3198813"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9pPr>
                    </a:lstStyle>
                    <a:p>
                      <a:pPr marL="0" marR="0" lvl="0" indent="0" algn="ctr" defTabSz="809625" rtl="0" eaLnBrk="1" fontAlgn="base" latinLnBrk="0" hangingPunct="1">
                        <a:lnSpc>
                          <a:spcPct val="100000"/>
                        </a:lnSpc>
                        <a:spcBef>
                          <a:spcPct val="20000"/>
                        </a:spcBef>
                        <a:spcAft>
                          <a:spcPct val="0"/>
                        </a:spcAft>
                        <a:buClrTx/>
                        <a:buSzTx/>
                        <a:buFontTx/>
                        <a:buNone/>
                        <a:tabLst/>
                      </a:pPr>
                      <a:r>
                        <a:rPr kumimoji="0" lang="en-US" altLang="en-US" sz="2100" b="1" i="0" u="none" strike="noStrike" cap="none" normalizeH="0" baseline="0" smtClean="0">
                          <a:ln>
                            <a:noFill/>
                          </a:ln>
                          <a:solidFill>
                            <a:schemeClr val="tx1"/>
                          </a:solidFill>
                          <a:effectLst>
                            <a:outerShdw blurRad="38100" dist="38100" dir="2700000" algn="tl">
                              <a:srgbClr val="C0C0C0"/>
                            </a:outerShdw>
                          </a:effectLst>
                          <a:latin typeface="Times New Roman" panose="02020603050405020304" pitchFamily="18" charset="0"/>
                        </a:rPr>
                        <a:t>SDLC PHASE</a:t>
                      </a:r>
                    </a:p>
                  </a:txBody>
                  <a:tcPr marL="77427" marR="77427" marT="38714" marB="38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809625">
                        <a:spcBef>
                          <a:spcPct val="20000"/>
                        </a:spcBef>
                        <a:defRPr sz="2800">
                          <a:solidFill>
                            <a:schemeClr val="tx1"/>
                          </a:solidFill>
                          <a:effectLst>
                            <a:outerShdw blurRad="38100" dist="38100" dir="2700000" algn="tl">
                              <a:srgbClr val="C0C0C0"/>
                            </a:outerShdw>
                          </a:effectLst>
                          <a:latin typeface="Times New Roman" panose="02020603050405020304" pitchFamily="18" charset="0"/>
                        </a:defRPr>
                      </a:lvl1pPr>
                      <a:lvl2pPr marL="347663" defTabSz="809625">
                        <a:spcBef>
                          <a:spcPct val="20000"/>
                        </a:spcBef>
                        <a:defRPr sz="2400">
                          <a:solidFill>
                            <a:schemeClr val="tx1"/>
                          </a:solidFill>
                          <a:effectLst>
                            <a:outerShdw blurRad="38100" dist="38100" dir="2700000" algn="tl">
                              <a:srgbClr val="C0C0C0"/>
                            </a:outerShdw>
                          </a:effectLst>
                          <a:latin typeface="Times New Roman" panose="02020603050405020304" pitchFamily="18" charset="0"/>
                        </a:defRPr>
                      </a:lvl2pPr>
                      <a:lvl3pPr marL="682625" defTabSz="809625">
                        <a:spcBef>
                          <a:spcPct val="20000"/>
                        </a:spcBef>
                        <a:defRPr sz="2000">
                          <a:solidFill>
                            <a:schemeClr val="tx1"/>
                          </a:solidFill>
                          <a:effectLst>
                            <a:outerShdw blurRad="38100" dist="38100" dir="2700000" algn="tl">
                              <a:srgbClr val="C0C0C0"/>
                            </a:outerShdw>
                          </a:effectLst>
                          <a:latin typeface="Times New Roman" panose="02020603050405020304" pitchFamily="18" charset="0"/>
                        </a:defRPr>
                      </a:lvl3pPr>
                      <a:lvl4pPr marL="1020763" defTabSz="809625">
                        <a:spcBef>
                          <a:spcPct val="20000"/>
                        </a:spcBef>
                        <a:defRPr>
                          <a:solidFill>
                            <a:schemeClr val="tx1"/>
                          </a:solidFill>
                          <a:effectLst>
                            <a:outerShdw blurRad="38100" dist="38100" dir="2700000" algn="tl">
                              <a:srgbClr val="C0C0C0"/>
                            </a:outerShdw>
                          </a:effectLst>
                          <a:latin typeface="Times New Roman" panose="02020603050405020304" pitchFamily="18" charset="0"/>
                        </a:defRPr>
                      </a:lvl4pPr>
                      <a:lvl5pPr marL="1370013" defTabSz="809625">
                        <a:spcBef>
                          <a:spcPct val="20000"/>
                        </a:spcBef>
                        <a:defRPr>
                          <a:solidFill>
                            <a:schemeClr val="tx1"/>
                          </a:solidFill>
                          <a:effectLst>
                            <a:outerShdw blurRad="38100" dist="38100" dir="2700000" algn="tl">
                              <a:srgbClr val="C0C0C0"/>
                            </a:outerShdw>
                          </a:effectLst>
                          <a:latin typeface="Times New Roman" panose="02020603050405020304" pitchFamily="18" charset="0"/>
                        </a:defRPr>
                      </a:lvl5pPr>
                      <a:lvl6pPr marL="1827213"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6pPr>
                      <a:lvl7pPr marL="2284413"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7pPr>
                      <a:lvl8pPr marL="2741613"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8pPr>
                      <a:lvl9pPr marL="3198813"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9pPr>
                    </a:lstStyle>
                    <a:p>
                      <a:pPr marL="0" marR="0" lvl="0" indent="0" algn="ctr" defTabSz="809625" rtl="0" eaLnBrk="1" fontAlgn="base" latinLnBrk="0" hangingPunct="1">
                        <a:lnSpc>
                          <a:spcPct val="100000"/>
                        </a:lnSpc>
                        <a:spcBef>
                          <a:spcPct val="20000"/>
                        </a:spcBef>
                        <a:spcAft>
                          <a:spcPct val="0"/>
                        </a:spcAft>
                        <a:buClrTx/>
                        <a:buSzTx/>
                        <a:buFontTx/>
                        <a:buNone/>
                        <a:tabLst/>
                      </a:pPr>
                      <a:r>
                        <a:rPr kumimoji="0" lang="en-US" altLang="en-US" sz="2100" b="1" i="0" u="none" strike="noStrike" cap="none" normalizeH="0" baseline="0" dirty="0" smtClean="0">
                          <a:ln>
                            <a:noFill/>
                          </a:ln>
                          <a:solidFill>
                            <a:schemeClr val="tx1"/>
                          </a:solidFill>
                          <a:effectLst>
                            <a:outerShdw blurRad="38100" dist="38100" dir="2700000" algn="tl">
                              <a:srgbClr val="C0C0C0"/>
                            </a:outerShdw>
                          </a:effectLst>
                          <a:latin typeface="Times New Roman" panose="02020603050405020304" pitchFamily="18" charset="0"/>
                        </a:rPr>
                        <a:t>ACTIVITIES</a:t>
                      </a:r>
                    </a:p>
                  </a:txBody>
                  <a:tcPr marL="77427" marR="77427" marT="38714" marB="38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68391253"/>
                  </a:ext>
                </a:extLst>
              </a:tr>
              <a:tr h="919487">
                <a:tc>
                  <a:txBody>
                    <a:bodyPr/>
                    <a:lstStyle>
                      <a:lvl1pPr marL="381000" indent="-381000" defTabSz="809625">
                        <a:spcBef>
                          <a:spcPct val="20000"/>
                        </a:spcBef>
                        <a:defRPr sz="2800">
                          <a:solidFill>
                            <a:schemeClr val="tx1"/>
                          </a:solidFill>
                          <a:effectLst>
                            <a:outerShdw blurRad="38100" dist="38100" dir="2700000" algn="tl">
                              <a:srgbClr val="C0C0C0"/>
                            </a:outerShdw>
                          </a:effectLst>
                          <a:latin typeface="Times New Roman" panose="02020603050405020304" pitchFamily="18" charset="0"/>
                        </a:defRPr>
                      </a:lvl1pPr>
                      <a:lvl2pPr marL="728663" indent="-381000" defTabSz="809625">
                        <a:spcBef>
                          <a:spcPct val="20000"/>
                        </a:spcBef>
                        <a:defRPr sz="2400">
                          <a:solidFill>
                            <a:schemeClr val="tx1"/>
                          </a:solidFill>
                          <a:effectLst>
                            <a:outerShdw blurRad="38100" dist="38100" dir="2700000" algn="tl">
                              <a:srgbClr val="C0C0C0"/>
                            </a:outerShdw>
                          </a:effectLst>
                          <a:latin typeface="Times New Roman" panose="02020603050405020304" pitchFamily="18" charset="0"/>
                        </a:defRPr>
                      </a:lvl2pPr>
                      <a:lvl3pPr marL="1025525" indent="-342900" defTabSz="809625">
                        <a:spcBef>
                          <a:spcPct val="20000"/>
                        </a:spcBef>
                        <a:defRPr sz="2000">
                          <a:solidFill>
                            <a:schemeClr val="tx1"/>
                          </a:solidFill>
                          <a:effectLst>
                            <a:outerShdw blurRad="38100" dist="38100" dir="2700000" algn="tl">
                              <a:srgbClr val="C0C0C0"/>
                            </a:outerShdw>
                          </a:effectLst>
                          <a:latin typeface="Times New Roman" panose="02020603050405020304" pitchFamily="18" charset="0"/>
                        </a:defRPr>
                      </a:lvl3pPr>
                      <a:lvl4pPr marL="1325563" indent="-304800" defTabSz="809625">
                        <a:spcBef>
                          <a:spcPct val="20000"/>
                        </a:spcBef>
                        <a:defRPr>
                          <a:solidFill>
                            <a:schemeClr val="tx1"/>
                          </a:solidFill>
                          <a:effectLst>
                            <a:outerShdw blurRad="38100" dist="38100" dir="2700000" algn="tl">
                              <a:srgbClr val="C0C0C0"/>
                            </a:outerShdw>
                          </a:effectLst>
                          <a:latin typeface="Times New Roman" panose="02020603050405020304" pitchFamily="18" charset="0"/>
                        </a:defRPr>
                      </a:lvl4pPr>
                      <a:lvl5pPr marL="1674813" indent="-304800" defTabSz="809625">
                        <a:spcBef>
                          <a:spcPct val="20000"/>
                        </a:spcBef>
                        <a:defRPr>
                          <a:solidFill>
                            <a:schemeClr val="tx1"/>
                          </a:solidFill>
                          <a:effectLst>
                            <a:outerShdw blurRad="38100" dist="38100" dir="2700000" algn="tl">
                              <a:srgbClr val="C0C0C0"/>
                            </a:outerShdw>
                          </a:effectLst>
                          <a:latin typeface="Times New Roman" panose="02020603050405020304" pitchFamily="18" charset="0"/>
                        </a:defRPr>
                      </a:lvl5pPr>
                      <a:lvl6pPr marL="2132013" indent="-304800"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6pPr>
                      <a:lvl7pPr marL="2589213" indent="-304800"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7pPr>
                      <a:lvl8pPr marL="3046413" indent="-304800"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8pPr>
                      <a:lvl9pPr marL="3503613" indent="-304800"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9pPr>
                    </a:lstStyle>
                    <a:p>
                      <a:pPr marL="381000" marR="0" lvl="0" indent="-381000" algn="l" defTabSz="809625" rtl="0" eaLnBrk="1" fontAlgn="base" latinLnBrk="0" hangingPunct="1">
                        <a:lnSpc>
                          <a:spcPct val="100000"/>
                        </a:lnSpc>
                        <a:spcBef>
                          <a:spcPct val="20000"/>
                        </a:spcBef>
                        <a:spcAft>
                          <a:spcPct val="0"/>
                        </a:spcAft>
                        <a:buClrTx/>
                        <a:buSzTx/>
                        <a:buFont typeface="Wingdings" panose="05000000000000000000" pitchFamily="2" charset="2"/>
                        <a:buAutoNum type="arabicPeriod"/>
                        <a:tabLst/>
                      </a:pPr>
                      <a:r>
                        <a:rPr kumimoji="0" lang="en-US" altLang="en-US" sz="1200" b="0" i="0" u="none" strike="noStrike" cap="none" normalizeH="0" baseline="0" smtClean="0">
                          <a:ln>
                            <a:noFill/>
                          </a:ln>
                          <a:solidFill>
                            <a:schemeClr val="tx1"/>
                          </a:solidFill>
                          <a:effectLst>
                            <a:outerShdw blurRad="38100" dist="38100" dir="2700000" algn="tl">
                              <a:srgbClr val="C0C0C0"/>
                            </a:outerShdw>
                          </a:effectLst>
                          <a:latin typeface="Times New Roman" panose="02020603050405020304" pitchFamily="18" charset="0"/>
                        </a:rPr>
                        <a:t>Planning</a:t>
                      </a:r>
                    </a:p>
                  </a:txBody>
                  <a:tcPr marL="77427" marR="77427" marT="38714" marB="38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809625">
                        <a:spcBef>
                          <a:spcPct val="20000"/>
                        </a:spcBef>
                        <a:defRPr sz="2800">
                          <a:solidFill>
                            <a:schemeClr val="tx1"/>
                          </a:solidFill>
                          <a:effectLst>
                            <a:outerShdw blurRad="38100" dist="38100" dir="2700000" algn="tl">
                              <a:srgbClr val="C0C0C0"/>
                            </a:outerShdw>
                          </a:effectLst>
                          <a:latin typeface="Times New Roman" panose="02020603050405020304" pitchFamily="18" charset="0"/>
                        </a:defRPr>
                      </a:lvl1pPr>
                      <a:lvl2pPr marL="347663" defTabSz="809625">
                        <a:spcBef>
                          <a:spcPct val="20000"/>
                        </a:spcBef>
                        <a:defRPr sz="2400">
                          <a:solidFill>
                            <a:schemeClr val="tx1"/>
                          </a:solidFill>
                          <a:effectLst>
                            <a:outerShdw blurRad="38100" dist="38100" dir="2700000" algn="tl">
                              <a:srgbClr val="C0C0C0"/>
                            </a:outerShdw>
                          </a:effectLst>
                          <a:latin typeface="Times New Roman" panose="02020603050405020304" pitchFamily="18" charset="0"/>
                        </a:defRPr>
                      </a:lvl2pPr>
                      <a:lvl3pPr marL="682625" defTabSz="809625">
                        <a:spcBef>
                          <a:spcPct val="20000"/>
                        </a:spcBef>
                        <a:defRPr sz="2000">
                          <a:solidFill>
                            <a:schemeClr val="tx1"/>
                          </a:solidFill>
                          <a:effectLst>
                            <a:outerShdw blurRad="38100" dist="38100" dir="2700000" algn="tl">
                              <a:srgbClr val="C0C0C0"/>
                            </a:outerShdw>
                          </a:effectLst>
                          <a:latin typeface="Times New Roman" panose="02020603050405020304" pitchFamily="18" charset="0"/>
                        </a:defRPr>
                      </a:lvl3pPr>
                      <a:lvl4pPr marL="1020763" defTabSz="809625">
                        <a:spcBef>
                          <a:spcPct val="20000"/>
                        </a:spcBef>
                        <a:defRPr>
                          <a:solidFill>
                            <a:schemeClr val="tx1"/>
                          </a:solidFill>
                          <a:effectLst>
                            <a:outerShdw blurRad="38100" dist="38100" dir="2700000" algn="tl">
                              <a:srgbClr val="C0C0C0"/>
                            </a:outerShdw>
                          </a:effectLst>
                          <a:latin typeface="Times New Roman" panose="02020603050405020304" pitchFamily="18" charset="0"/>
                        </a:defRPr>
                      </a:lvl4pPr>
                      <a:lvl5pPr marL="1370013" defTabSz="809625">
                        <a:spcBef>
                          <a:spcPct val="20000"/>
                        </a:spcBef>
                        <a:defRPr>
                          <a:solidFill>
                            <a:schemeClr val="tx1"/>
                          </a:solidFill>
                          <a:effectLst>
                            <a:outerShdw blurRad="38100" dist="38100" dir="2700000" algn="tl">
                              <a:srgbClr val="C0C0C0"/>
                            </a:outerShdw>
                          </a:effectLst>
                          <a:latin typeface="Times New Roman" panose="02020603050405020304" pitchFamily="18" charset="0"/>
                        </a:defRPr>
                      </a:lvl5pPr>
                      <a:lvl6pPr marL="1827213"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6pPr>
                      <a:lvl7pPr marL="2284413"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7pPr>
                      <a:lvl8pPr marL="2741613"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8pPr>
                      <a:lvl9pPr marL="3198813"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9pPr>
                    </a:lstStyle>
                    <a:p>
                      <a:pPr marL="0" marR="0" lvl="0" indent="0" algn="l" defTabSz="809625" rtl="0" eaLnBrk="1" fontAlgn="base" latinLnBrk="0" hangingPunct="1">
                        <a:lnSpc>
                          <a:spcPct val="100000"/>
                        </a:lnSpc>
                        <a:spcBef>
                          <a:spcPct val="20000"/>
                        </a:spcBef>
                        <a:spcAft>
                          <a:spcPct val="0"/>
                        </a:spcAft>
                        <a:buClrTx/>
                        <a:buSzTx/>
                        <a:buFontTx/>
                        <a:buChar char="•"/>
                        <a:tabLst/>
                      </a:pPr>
                      <a:r>
                        <a:rPr kumimoji="0" lang="en-US" altLang="en-US" sz="1200" b="0" i="0" u="none" strike="noStrike" cap="none" normalizeH="0" baseline="0" dirty="0" smtClean="0">
                          <a:ln>
                            <a:noFill/>
                          </a:ln>
                          <a:solidFill>
                            <a:schemeClr val="tx1"/>
                          </a:solidFill>
                          <a:effectLst>
                            <a:outerShdw blurRad="38100" dist="38100" dir="2700000" algn="tl">
                              <a:srgbClr val="C0C0C0"/>
                            </a:outerShdw>
                          </a:effectLst>
                          <a:latin typeface="Times New Roman" panose="02020603050405020304" pitchFamily="18" charset="0"/>
                        </a:rPr>
                        <a:t>Define the system to be developed</a:t>
                      </a:r>
                    </a:p>
                    <a:p>
                      <a:pPr marL="0" marR="0" lvl="0" indent="0" algn="l" defTabSz="809625" rtl="0" eaLnBrk="1" fontAlgn="base" latinLnBrk="0" hangingPunct="1">
                        <a:lnSpc>
                          <a:spcPct val="100000"/>
                        </a:lnSpc>
                        <a:spcBef>
                          <a:spcPct val="20000"/>
                        </a:spcBef>
                        <a:spcAft>
                          <a:spcPct val="0"/>
                        </a:spcAft>
                        <a:buClrTx/>
                        <a:buSzTx/>
                        <a:buFontTx/>
                        <a:buChar char="•"/>
                        <a:tabLst/>
                      </a:pPr>
                      <a:r>
                        <a:rPr kumimoji="0" lang="en-US" altLang="en-US" sz="1200" b="0" i="0" u="none" strike="noStrike" cap="none" normalizeH="0" baseline="0" dirty="0" smtClean="0">
                          <a:ln>
                            <a:noFill/>
                          </a:ln>
                          <a:solidFill>
                            <a:schemeClr val="tx1"/>
                          </a:solidFill>
                          <a:effectLst>
                            <a:outerShdw blurRad="38100" dist="38100" dir="2700000" algn="tl">
                              <a:srgbClr val="C0C0C0"/>
                            </a:outerShdw>
                          </a:effectLst>
                          <a:latin typeface="Times New Roman" panose="02020603050405020304" pitchFamily="18" charset="0"/>
                        </a:rPr>
                        <a:t>Set the project scope</a:t>
                      </a:r>
                    </a:p>
                    <a:p>
                      <a:pPr marL="0" marR="0" lvl="0" indent="0" algn="l" defTabSz="809625" rtl="0" eaLnBrk="1" fontAlgn="base" latinLnBrk="0" hangingPunct="1">
                        <a:lnSpc>
                          <a:spcPct val="100000"/>
                        </a:lnSpc>
                        <a:spcBef>
                          <a:spcPct val="20000"/>
                        </a:spcBef>
                        <a:spcAft>
                          <a:spcPct val="0"/>
                        </a:spcAft>
                        <a:buClrTx/>
                        <a:buSzTx/>
                        <a:buFontTx/>
                        <a:buChar char="•"/>
                        <a:tabLst/>
                      </a:pPr>
                      <a:r>
                        <a:rPr kumimoji="0" lang="en-US" altLang="en-US" sz="1200" b="0" i="0" u="none" strike="noStrike" cap="none" normalizeH="0" baseline="0" dirty="0" smtClean="0">
                          <a:ln>
                            <a:noFill/>
                          </a:ln>
                          <a:solidFill>
                            <a:schemeClr val="tx1"/>
                          </a:solidFill>
                          <a:effectLst>
                            <a:outerShdw blurRad="38100" dist="38100" dir="2700000" algn="tl">
                              <a:srgbClr val="C0C0C0"/>
                            </a:outerShdw>
                          </a:effectLst>
                          <a:latin typeface="Times New Roman" panose="02020603050405020304" pitchFamily="18" charset="0"/>
                        </a:rPr>
                        <a:t>Develop the project plan</a:t>
                      </a:r>
                    </a:p>
                  </a:txBody>
                  <a:tcPr marL="77427" marR="77427" marT="38714" marB="38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86363780"/>
                  </a:ext>
                </a:extLst>
              </a:tr>
              <a:tr h="342310">
                <a:tc>
                  <a:txBody>
                    <a:bodyPr/>
                    <a:lstStyle>
                      <a:lvl1pPr marL="381000" indent="-381000" defTabSz="809625">
                        <a:spcBef>
                          <a:spcPct val="20000"/>
                        </a:spcBef>
                        <a:defRPr sz="2800">
                          <a:solidFill>
                            <a:schemeClr val="tx1"/>
                          </a:solidFill>
                          <a:effectLst>
                            <a:outerShdw blurRad="38100" dist="38100" dir="2700000" algn="tl">
                              <a:srgbClr val="C0C0C0"/>
                            </a:outerShdw>
                          </a:effectLst>
                          <a:latin typeface="Times New Roman" panose="02020603050405020304" pitchFamily="18" charset="0"/>
                        </a:defRPr>
                      </a:lvl1pPr>
                      <a:lvl2pPr marL="728663" indent="-381000" defTabSz="809625">
                        <a:spcBef>
                          <a:spcPct val="20000"/>
                        </a:spcBef>
                        <a:defRPr sz="2400">
                          <a:solidFill>
                            <a:schemeClr val="tx1"/>
                          </a:solidFill>
                          <a:effectLst>
                            <a:outerShdw blurRad="38100" dist="38100" dir="2700000" algn="tl">
                              <a:srgbClr val="C0C0C0"/>
                            </a:outerShdw>
                          </a:effectLst>
                          <a:latin typeface="Times New Roman" panose="02020603050405020304" pitchFamily="18" charset="0"/>
                        </a:defRPr>
                      </a:lvl2pPr>
                      <a:lvl3pPr marL="1025525" indent="-342900" defTabSz="809625">
                        <a:spcBef>
                          <a:spcPct val="20000"/>
                        </a:spcBef>
                        <a:defRPr sz="2000">
                          <a:solidFill>
                            <a:schemeClr val="tx1"/>
                          </a:solidFill>
                          <a:effectLst>
                            <a:outerShdw blurRad="38100" dist="38100" dir="2700000" algn="tl">
                              <a:srgbClr val="C0C0C0"/>
                            </a:outerShdw>
                          </a:effectLst>
                          <a:latin typeface="Times New Roman" panose="02020603050405020304" pitchFamily="18" charset="0"/>
                        </a:defRPr>
                      </a:lvl3pPr>
                      <a:lvl4pPr marL="1325563" indent="-304800" defTabSz="809625">
                        <a:spcBef>
                          <a:spcPct val="20000"/>
                        </a:spcBef>
                        <a:defRPr>
                          <a:solidFill>
                            <a:schemeClr val="tx1"/>
                          </a:solidFill>
                          <a:effectLst>
                            <a:outerShdw blurRad="38100" dist="38100" dir="2700000" algn="tl">
                              <a:srgbClr val="C0C0C0"/>
                            </a:outerShdw>
                          </a:effectLst>
                          <a:latin typeface="Times New Roman" panose="02020603050405020304" pitchFamily="18" charset="0"/>
                        </a:defRPr>
                      </a:lvl4pPr>
                      <a:lvl5pPr marL="1674813" indent="-304800" defTabSz="809625">
                        <a:spcBef>
                          <a:spcPct val="20000"/>
                        </a:spcBef>
                        <a:defRPr>
                          <a:solidFill>
                            <a:schemeClr val="tx1"/>
                          </a:solidFill>
                          <a:effectLst>
                            <a:outerShdw blurRad="38100" dist="38100" dir="2700000" algn="tl">
                              <a:srgbClr val="C0C0C0"/>
                            </a:outerShdw>
                          </a:effectLst>
                          <a:latin typeface="Times New Roman" panose="02020603050405020304" pitchFamily="18" charset="0"/>
                        </a:defRPr>
                      </a:lvl5pPr>
                      <a:lvl6pPr marL="2132013" indent="-304800"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6pPr>
                      <a:lvl7pPr marL="2589213" indent="-304800"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7pPr>
                      <a:lvl8pPr marL="3046413" indent="-304800"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8pPr>
                      <a:lvl9pPr marL="3503613" indent="-304800"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9pPr>
                    </a:lstStyle>
                    <a:p>
                      <a:pPr marL="381000" marR="0" lvl="0" indent="-381000" algn="l" defTabSz="809625" rtl="0" eaLnBrk="1" fontAlgn="base" latinLnBrk="0" hangingPunct="1">
                        <a:lnSpc>
                          <a:spcPct val="100000"/>
                        </a:lnSpc>
                        <a:spcBef>
                          <a:spcPct val="20000"/>
                        </a:spcBef>
                        <a:spcAft>
                          <a:spcPct val="0"/>
                        </a:spcAft>
                        <a:buClrTx/>
                        <a:buSzTx/>
                        <a:buFont typeface="Wingdings" panose="05000000000000000000" pitchFamily="2" charset="2"/>
                        <a:buAutoNum type="arabicPeriod" startAt="2"/>
                        <a:tabLst/>
                      </a:pPr>
                      <a:r>
                        <a:rPr kumimoji="0" lang="en-US" altLang="en-US" sz="1200" b="0" i="0" u="none" strike="noStrike" cap="none" normalizeH="0" baseline="0" smtClean="0">
                          <a:ln>
                            <a:noFill/>
                          </a:ln>
                          <a:solidFill>
                            <a:schemeClr val="tx1"/>
                          </a:solidFill>
                          <a:effectLst>
                            <a:outerShdw blurRad="38100" dist="38100" dir="2700000" algn="tl">
                              <a:srgbClr val="C0C0C0"/>
                            </a:outerShdw>
                          </a:effectLst>
                          <a:latin typeface="Times New Roman" panose="02020603050405020304" pitchFamily="18" charset="0"/>
                        </a:rPr>
                        <a:t>Analysis</a:t>
                      </a:r>
                    </a:p>
                  </a:txBody>
                  <a:tcPr marL="77427" marR="77427" marT="38714" marB="38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809625">
                        <a:spcBef>
                          <a:spcPct val="20000"/>
                        </a:spcBef>
                        <a:defRPr sz="2800">
                          <a:solidFill>
                            <a:schemeClr val="tx1"/>
                          </a:solidFill>
                          <a:effectLst>
                            <a:outerShdw blurRad="38100" dist="38100" dir="2700000" algn="tl">
                              <a:srgbClr val="C0C0C0"/>
                            </a:outerShdw>
                          </a:effectLst>
                          <a:latin typeface="Times New Roman" panose="02020603050405020304" pitchFamily="18" charset="0"/>
                        </a:defRPr>
                      </a:lvl1pPr>
                      <a:lvl2pPr marL="347663" defTabSz="809625">
                        <a:spcBef>
                          <a:spcPct val="20000"/>
                        </a:spcBef>
                        <a:defRPr sz="2400">
                          <a:solidFill>
                            <a:schemeClr val="tx1"/>
                          </a:solidFill>
                          <a:effectLst>
                            <a:outerShdw blurRad="38100" dist="38100" dir="2700000" algn="tl">
                              <a:srgbClr val="C0C0C0"/>
                            </a:outerShdw>
                          </a:effectLst>
                          <a:latin typeface="Times New Roman" panose="02020603050405020304" pitchFamily="18" charset="0"/>
                        </a:defRPr>
                      </a:lvl2pPr>
                      <a:lvl3pPr marL="682625" defTabSz="809625">
                        <a:spcBef>
                          <a:spcPct val="20000"/>
                        </a:spcBef>
                        <a:defRPr sz="2000">
                          <a:solidFill>
                            <a:schemeClr val="tx1"/>
                          </a:solidFill>
                          <a:effectLst>
                            <a:outerShdw blurRad="38100" dist="38100" dir="2700000" algn="tl">
                              <a:srgbClr val="C0C0C0"/>
                            </a:outerShdw>
                          </a:effectLst>
                          <a:latin typeface="Times New Roman" panose="02020603050405020304" pitchFamily="18" charset="0"/>
                        </a:defRPr>
                      </a:lvl3pPr>
                      <a:lvl4pPr marL="1020763" defTabSz="809625">
                        <a:spcBef>
                          <a:spcPct val="20000"/>
                        </a:spcBef>
                        <a:defRPr>
                          <a:solidFill>
                            <a:schemeClr val="tx1"/>
                          </a:solidFill>
                          <a:effectLst>
                            <a:outerShdw blurRad="38100" dist="38100" dir="2700000" algn="tl">
                              <a:srgbClr val="C0C0C0"/>
                            </a:outerShdw>
                          </a:effectLst>
                          <a:latin typeface="Times New Roman" panose="02020603050405020304" pitchFamily="18" charset="0"/>
                        </a:defRPr>
                      </a:lvl4pPr>
                      <a:lvl5pPr marL="1370013" defTabSz="809625">
                        <a:spcBef>
                          <a:spcPct val="20000"/>
                        </a:spcBef>
                        <a:defRPr>
                          <a:solidFill>
                            <a:schemeClr val="tx1"/>
                          </a:solidFill>
                          <a:effectLst>
                            <a:outerShdw blurRad="38100" dist="38100" dir="2700000" algn="tl">
                              <a:srgbClr val="C0C0C0"/>
                            </a:outerShdw>
                          </a:effectLst>
                          <a:latin typeface="Times New Roman" panose="02020603050405020304" pitchFamily="18" charset="0"/>
                        </a:defRPr>
                      </a:lvl5pPr>
                      <a:lvl6pPr marL="1827213"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6pPr>
                      <a:lvl7pPr marL="2284413"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7pPr>
                      <a:lvl8pPr marL="2741613"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8pPr>
                      <a:lvl9pPr marL="3198813"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9pPr>
                    </a:lstStyle>
                    <a:p>
                      <a:pPr marL="0" marR="0" lvl="0" indent="0" algn="l" defTabSz="809625" rtl="0" eaLnBrk="1" fontAlgn="base" latinLnBrk="0" hangingPunct="1">
                        <a:lnSpc>
                          <a:spcPct val="100000"/>
                        </a:lnSpc>
                        <a:spcBef>
                          <a:spcPct val="20000"/>
                        </a:spcBef>
                        <a:spcAft>
                          <a:spcPct val="0"/>
                        </a:spcAft>
                        <a:buClrTx/>
                        <a:buSzTx/>
                        <a:buFontTx/>
                        <a:buChar char="•"/>
                        <a:tabLst/>
                      </a:pPr>
                      <a:r>
                        <a:rPr kumimoji="0" lang="en-US" altLang="en-US" sz="1200" b="0" i="0" u="none" strike="noStrike" cap="none" normalizeH="0" baseline="0" dirty="0" smtClean="0">
                          <a:ln>
                            <a:noFill/>
                          </a:ln>
                          <a:solidFill>
                            <a:schemeClr val="tx1"/>
                          </a:solidFill>
                          <a:effectLst>
                            <a:outerShdw blurRad="38100" dist="38100" dir="2700000" algn="tl">
                              <a:srgbClr val="C0C0C0"/>
                            </a:outerShdw>
                          </a:effectLst>
                          <a:latin typeface="Times New Roman" panose="02020603050405020304" pitchFamily="18" charset="0"/>
                        </a:rPr>
                        <a:t>Gather business requirements</a:t>
                      </a:r>
                    </a:p>
                  </a:txBody>
                  <a:tcPr marL="77427" marR="77427" marT="38714" marB="38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10725957"/>
                  </a:ext>
                </a:extLst>
              </a:tr>
              <a:tr h="630898">
                <a:tc>
                  <a:txBody>
                    <a:bodyPr/>
                    <a:lstStyle>
                      <a:lvl1pPr marL="381000" indent="-381000" defTabSz="809625">
                        <a:spcBef>
                          <a:spcPct val="20000"/>
                        </a:spcBef>
                        <a:defRPr sz="2800">
                          <a:solidFill>
                            <a:schemeClr val="tx1"/>
                          </a:solidFill>
                          <a:effectLst>
                            <a:outerShdw blurRad="38100" dist="38100" dir="2700000" algn="tl">
                              <a:srgbClr val="C0C0C0"/>
                            </a:outerShdw>
                          </a:effectLst>
                          <a:latin typeface="Times New Roman" panose="02020603050405020304" pitchFamily="18" charset="0"/>
                        </a:defRPr>
                      </a:lvl1pPr>
                      <a:lvl2pPr marL="728663" indent="-381000" defTabSz="809625">
                        <a:spcBef>
                          <a:spcPct val="20000"/>
                        </a:spcBef>
                        <a:defRPr sz="2400">
                          <a:solidFill>
                            <a:schemeClr val="tx1"/>
                          </a:solidFill>
                          <a:effectLst>
                            <a:outerShdw blurRad="38100" dist="38100" dir="2700000" algn="tl">
                              <a:srgbClr val="C0C0C0"/>
                            </a:outerShdw>
                          </a:effectLst>
                          <a:latin typeface="Times New Roman" panose="02020603050405020304" pitchFamily="18" charset="0"/>
                        </a:defRPr>
                      </a:lvl2pPr>
                      <a:lvl3pPr marL="1025525" indent="-342900" defTabSz="809625">
                        <a:spcBef>
                          <a:spcPct val="20000"/>
                        </a:spcBef>
                        <a:defRPr sz="2000">
                          <a:solidFill>
                            <a:schemeClr val="tx1"/>
                          </a:solidFill>
                          <a:effectLst>
                            <a:outerShdw blurRad="38100" dist="38100" dir="2700000" algn="tl">
                              <a:srgbClr val="C0C0C0"/>
                            </a:outerShdw>
                          </a:effectLst>
                          <a:latin typeface="Times New Roman" panose="02020603050405020304" pitchFamily="18" charset="0"/>
                        </a:defRPr>
                      </a:lvl3pPr>
                      <a:lvl4pPr marL="1325563" indent="-304800" defTabSz="809625">
                        <a:spcBef>
                          <a:spcPct val="20000"/>
                        </a:spcBef>
                        <a:defRPr>
                          <a:solidFill>
                            <a:schemeClr val="tx1"/>
                          </a:solidFill>
                          <a:effectLst>
                            <a:outerShdw blurRad="38100" dist="38100" dir="2700000" algn="tl">
                              <a:srgbClr val="C0C0C0"/>
                            </a:outerShdw>
                          </a:effectLst>
                          <a:latin typeface="Times New Roman" panose="02020603050405020304" pitchFamily="18" charset="0"/>
                        </a:defRPr>
                      </a:lvl4pPr>
                      <a:lvl5pPr marL="1674813" indent="-304800" defTabSz="809625">
                        <a:spcBef>
                          <a:spcPct val="20000"/>
                        </a:spcBef>
                        <a:defRPr>
                          <a:solidFill>
                            <a:schemeClr val="tx1"/>
                          </a:solidFill>
                          <a:effectLst>
                            <a:outerShdw blurRad="38100" dist="38100" dir="2700000" algn="tl">
                              <a:srgbClr val="C0C0C0"/>
                            </a:outerShdw>
                          </a:effectLst>
                          <a:latin typeface="Times New Roman" panose="02020603050405020304" pitchFamily="18" charset="0"/>
                        </a:defRPr>
                      </a:lvl5pPr>
                      <a:lvl6pPr marL="2132013" indent="-304800"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6pPr>
                      <a:lvl7pPr marL="2589213" indent="-304800"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7pPr>
                      <a:lvl8pPr marL="3046413" indent="-304800"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8pPr>
                      <a:lvl9pPr marL="3503613" indent="-304800"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9pPr>
                    </a:lstStyle>
                    <a:p>
                      <a:pPr marL="381000" marR="0" lvl="0" indent="-381000" algn="l" defTabSz="809625" rtl="0" eaLnBrk="1" fontAlgn="base" latinLnBrk="0" hangingPunct="1">
                        <a:lnSpc>
                          <a:spcPct val="100000"/>
                        </a:lnSpc>
                        <a:spcBef>
                          <a:spcPct val="20000"/>
                        </a:spcBef>
                        <a:spcAft>
                          <a:spcPct val="0"/>
                        </a:spcAft>
                        <a:buClrTx/>
                        <a:buSzTx/>
                        <a:buFont typeface="Wingdings" panose="05000000000000000000" pitchFamily="2" charset="2"/>
                        <a:buAutoNum type="arabicPeriod" startAt="3"/>
                        <a:tabLst/>
                      </a:pPr>
                      <a:r>
                        <a:rPr kumimoji="0" lang="en-US" altLang="en-US" sz="1200" b="0" i="0" u="none" strike="noStrike" cap="none" normalizeH="0" baseline="0" smtClean="0">
                          <a:ln>
                            <a:noFill/>
                          </a:ln>
                          <a:solidFill>
                            <a:schemeClr val="tx1"/>
                          </a:solidFill>
                          <a:effectLst>
                            <a:outerShdw blurRad="38100" dist="38100" dir="2700000" algn="tl">
                              <a:srgbClr val="C0C0C0"/>
                            </a:outerShdw>
                          </a:effectLst>
                          <a:latin typeface="Times New Roman" panose="02020603050405020304" pitchFamily="18" charset="0"/>
                        </a:rPr>
                        <a:t>Design</a:t>
                      </a:r>
                    </a:p>
                  </a:txBody>
                  <a:tcPr marL="77427" marR="77427" marT="38714" marB="38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809625">
                        <a:spcBef>
                          <a:spcPct val="20000"/>
                        </a:spcBef>
                        <a:defRPr sz="2800">
                          <a:solidFill>
                            <a:schemeClr val="tx1"/>
                          </a:solidFill>
                          <a:effectLst>
                            <a:outerShdw blurRad="38100" dist="38100" dir="2700000" algn="tl">
                              <a:srgbClr val="C0C0C0"/>
                            </a:outerShdw>
                          </a:effectLst>
                          <a:latin typeface="Times New Roman" panose="02020603050405020304" pitchFamily="18" charset="0"/>
                        </a:defRPr>
                      </a:lvl1pPr>
                      <a:lvl2pPr marL="347663" defTabSz="809625">
                        <a:spcBef>
                          <a:spcPct val="20000"/>
                        </a:spcBef>
                        <a:defRPr sz="2400">
                          <a:solidFill>
                            <a:schemeClr val="tx1"/>
                          </a:solidFill>
                          <a:effectLst>
                            <a:outerShdw blurRad="38100" dist="38100" dir="2700000" algn="tl">
                              <a:srgbClr val="C0C0C0"/>
                            </a:outerShdw>
                          </a:effectLst>
                          <a:latin typeface="Times New Roman" panose="02020603050405020304" pitchFamily="18" charset="0"/>
                        </a:defRPr>
                      </a:lvl2pPr>
                      <a:lvl3pPr marL="682625" defTabSz="809625">
                        <a:spcBef>
                          <a:spcPct val="20000"/>
                        </a:spcBef>
                        <a:defRPr sz="2000">
                          <a:solidFill>
                            <a:schemeClr val="tx1"/>
                          </a:solidFill>
                          <a:effectLst>
                            <a:outerShdw blurRad="38100" dist="38100" dir="2700000" algn="tl">
                              <a:srgbClr val="C0C0C0"/>
                            </a:outerShdw>
                          </a:effectLst>
                          <a:latin typeface="Times New Roman" panose="02020603050405020304" pitchFamily="18" charset="0"/>
                        </a:defRPr>
                      </a:lvl3pPr>
                      <a:lvl4pPr marL="1020763" defTabSz="809625">
                        <a:spcBef>
                          <a:spcPct val="20000"/>
                        </a:spcBef>
                        <a:defRPr>
                          <a:solidFill>
                            <a:schemeClr val="tx1"/>
                          </a:solidFill>
                          <a:effectLst>
                            <a:outerShdw blurRad="38100" dist="38100" dir="2700000" algn="tl">
                              <a:srgbClr val="C0C0C0"/>
                            </a:outerShdw>
                          </a:effectLst>
                          <a:latin typeface="Times New Roman" panose="02020603050405020304" pitchFamily="18" charset="0"/>
                        </a:defRPr>
                      </a:lvl4pPr>
                      <a:lvl5pPr marL="1370013" defTabSz="809625">
                        <a:spcBef>
                          <a:spcPct val="20000"/>
                        </a:spcBef>
                        <a:defRPr>
                          <a:solidFill>
                            <a:schemeClr val="tx1"/>
                          </a:solidFill>
                          <a:effectLst>
                            <a:outerShdw blurRad="38100" dist="38100" dir="2700000" algn="tl">
                              <a:srgbClr val="C0C0C0"/>
                            </a:outerShdw>
                          </a:effectLst>
                          <a:latin typeface="Times New Roman" panose="02020603050405020304" pitchFamily="18" charset="0"/>
                        </a:defRPr>
                      </a:lvl5pPr>
                      <a:lvl6pPr marL="1827213"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6pPr>
                      <a:lvl7pPr marL="2284413"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7pPr>
                      <a:lvl8pPr marL="2741613"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8pPr>
                      <a:lvl9pPr marL="3198813"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9pPr>
                    </a:lstStyle>
                    <a:p>
                      <a:pPr marL="0" marR="0" lvl="0" indent="0" algn="l" defTabSz="809625" rtl="0" eaLnBrk="1" fontAlgn="base" latinLnBrk="0" hangingPunct="1">
                        <a:lnSpc>
                          <a:spcPct val="100000"/>
                        </a:lnSpc>
                        <a:spcBef>
                          <a:spcPct val="20000"/>
                        </a:spcBef>
                        <a:spcAft>
                          <a:spcPct val="0"/>
                        </a:spcAft>
                        <a:buClrTx/>
                        <a:buSzTx/>
                        <a:buFontTx/>
                        <a:buChar char="•"/>
                        <a:tabLst/>
                      </a:pPr>
                      <a:r>
                        <a:rPr kumimoji="0" lang="en-US" altLang="en-US" sz="1200" b="0" i="0" u="none" strike="noStrike" cap="none" normalizeH="0" baseline="0" smtClean="0">
                          <a:ln>
                            <a:noFill/>
                          </a:ln>
                          <a:solidFill>
                            <a:schemeClr val="tx1"/>
                          </a:solidFill>
                          <a:effectLst>
                            <a:outerShdw blurRad="38100" dist="38100" dir="2700000" algn="tl">
                              <a:srgbClr val="C0C0C0"/>
                            </a:outerShdw>
                          </a:effectLst>
                          <a:latin typeface="Times New Roman" panose="02020603050405020304" pitchFamily="18" charset="0"/>
                        </a:rPr>
                        <a:t>Design the technical architecture</a:t>
                      </a:r>
                    </a:p>
                    <a:p>
                      <a:pPr marL="0" marR="0" lvl="0" indent="0" algn="l" defTabSz="809625" rtl="0" eaLnBrk="1" fontAlgn="base" latinLnBrk="0" hangingPunct="1">
                        <a:lnSpc>
                          <a:spcPct val="100000"/>
                        </a:lnSpc>
                        <a:spcBef>
                          <a:spcPct val="20000"/>
                        </a:spcBef>
                        <a:spcAft>
                          <a:spcPct val="0"/>
                        </a:spcAft>
                        <a:buClrTx/>
                        <a:buSzTx/>
                        <a:buFontTx/>
                        <a:buChar char="•"/>
                        <a:tabLst/>
                      </a:pPr>
                      <a:r>
                        <a:rPr kumimoji="0" lang="en-US" altLang="en-US" sz="1200" b="0" i="0" u="none" strike="noStrike" cap="none" normalizeH="0" baseline="0" smtClean="0">
                          <a:ln>
                            <a:noFill/>
                          </a:ln>
                          <a:solidFill>
                            <a:schemeClr val="tx1"/>
                          </a:solidFill>
                          <a:effectLst>
                            <a:outerShdw blurRad="38100" dist="38100" dir="2700000" algn="tl">
                              <a:srgbClr val="C0C0C0"/>
                            </a:outerShdw>
                          </a:effectLst>
                          <a:latin typeface="Times New Roman" panose="02020603050405020304" pitchFamily="18" charset="0"/>
                        </a:rPr>
                        <a:t>Design system models</a:t>
                      </a:r>
                    </a:p>
                  </a:txBody>
                  <a:tcPr marL="77427" marR="77427" marT="38714" marB="38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03008070"/>
                  </a:ext>
                </a:extLst>
              </a:tr>
              <a:tr h="630898">
                <a:tc>
                  <a:txBody>
                    <a:bodyPr/>
                    <a:lstStyle>
                      <a:lvl1pPr marL="381000" indent="-381000" defTabSz="809625">
                        <a:spcBef>
                          <a:spcPct val="20000"/>
                        </a:spcBef>
                        <a:defRPr sz="2800">
                          <a:solidFill>
                            <a:schemeClr val="tx1"/>
                          </a:solidFill>
                          <a:effectLst>
                            <a:outerShdw blurRad="38100" dist="38100" dir="2700000" algn="tl">
                              <a:srgbClr val="C0C0C0"/>
                            </a:outerShdw>
                          </a:effectLst>
                          <a:latin typeface="Times New Roman" panose="02020603050405020304" pitchFamily="18" charset="0"/>
                        </a:defRPr>
                      </a:lvl1pPr>
                      <a:lvl2pPr marL="728663" indent="-381000" defTabSz="809625">
                        <a:spcBef>
                          <a:spcPct val="20000"/>
                        </a:spcBef>
                        <a:defRPr sz="2400">
                          <a:solidFill>
                            <a:schemeClr val="tx1"/>
                          </a:solidFill>
                          <a:effectLst>
                            <a:outerShdw blurRad="38100" dist="38100" dir="2700000" algn="tl">
                              <a:srgbClr val="C0C0C0"/>
                            </a:outerShdw>
                          </a:effectLst>
                          <a:latin typeface="Times New Roman" panose="02020603050405020304" pitchFamily="18" charset="0"/>
                        </a:defRPr>
                      </a:lvl2pPr>
                      <a:lvl3pPr marL="1025525" indent="-342900" defTabSz="809625">
                        <a:spcBef>
                          <a:spcPct val="20000"/>
                        </a:spcBef>
                        <a:defRPr sz="2000">
                          <a:solidFill>
                            <a:schemeClr val="tx1"/>
                          </a:solidFill>
                          <a:effectLst>
                            <a:outerShdw blurRad="38100" dist="38100" dir="2700000" algn="tl">
                              <a:srgbClr val="C0C0C0"/>
                            </a:outerShdw>
                          </a:effectLst>
                          <a:latin typeface="Times New Roman" panose="02020603050405020304" pitchFamily="18" charset="0"/>
                        </a:defRPr>
                      </a:lvl3pPr>
                      <a:lvl4pPr marL="1325563" indent="-304800" defTabSz="809625">
                        <a:spcBef>
                          <a:spcPct val="20000"/>
                        </a:spcBef>
                        <a:defRPr>
                          <a:solidFill>
                            <a:schemeClr val="tx1"/>
                          </a:solidFill>
                          <a:effectLst>
                            <a:outerShdw blurRad="38100" dist="38100" dir="2700000" algn="tl">
                              <a:srgbClr val="C0C0C0"/>
                            </a:outerShdw>
                          </a:effectLst>
                          <a:latin typeface="Times New Roman" panose="02020603050405020304" pitchFamily="18" charset="0"/>
                        </a:defRPr>
                      </a:lvl4pPr>
                      <a:lvl5pPr marL="1674813" indent="-304800" defTabSz="809625">
                        <a:spcBef>
                          <a:spcPct val="20000"/>
                        </a:spcBef>
                        <a:defRPr>
                          <a:solidFill>
                            <a:schemeClr val="tx1"/>
                          </a:solidFill>
                          <a:effectLst>
                            <a:outerShdw blurRad="38100" dist="38100" dir="2700000" algn="tl">
                              <a:srgbClr val="C0C0C0"/>
                            </a:outerShdw>
                          </a:effectLst>
                          <a:latin typeface="Times New Roman" panose="02020603050405020304" pitchFamily="18" charset="0"/>
                        </a:defRPr>
                      </a:lvl5pPr>
                      <a:lvl6pPr marL="2132013" indent="-304800"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6pPr>
                      <a:lvl7pPr marL="2589213" indent="-304800"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7pPr>
                      <a:lvl8pPr marL="3046413" indent="-304800"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8pPr>
                      <a:lvl9pPr marL="3503613" indent="-304800"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9pPr>
                    </a:lstStyle>
                    <a:p>
                      <a:pPr marL="381000" marR="0" lvl="0" indent="-381000" algn="l" defTabSz="809625" rtl="0" eaLnBrk="1" fontAlgn="base" latinLnBrk="0" hangingPunct="1">
                        <a:lnSpc>
                          <a:spcPct val="100000"/>
                        </a:lnSpc>
                        <a:spcBef>
                          <a:spcPct val="20000"/>
                        </a:spcBef>
                        <a:spcAft>
                          <a:spcPct val="0"/>
                        </a:spcAft>
                        <a:buClrTx/>
                        <a:buSzTx/>
                        <a:buFont typeface="Wingdings" panose="05000000000000000000" pitchFamily="2" charset="2"/>
                        <a:buAutoNum type="arabicPeriod" startAt="4"/>
                        <a:tabLst/>
                      </a:pPr>
                      <a:r>
                        <a:rPr kumimoji="0" lang="en-US" altLang="en-US" sz="1200" b="0" i="0" u="none" strike="noStrike" cap="none" normalizeH="0" baseline="0" smtClean="0">
                          <a:ln>
                            <a:noFill/>
                          </a:ln>
                          <a:solidFill>
                            <a:schemeClr val="tx1"/>
                          </a:solidFill>
                          <a:effectLst>
                            <a:outerShdw blurRad="38100" dist="38100" dir="2700000" algn="tl">
                              <a:srgbClr val="C0C0C0"/>
                            </a:outerShdw>
                          </a:effectLst>
                          <a:latin typeface="Times New Roman" panose="02020603050405020304" pitchFamily="18" charset="0"/>
                        </a:rPr>
                        <a:t>Development</a:t>
                      </a:r>
                    </a:p>
                  </a:txBody>
                  <a:tcPr marL="77427" marR="77427" marT="38714" marB="38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809625">
                        <a:spcBef>
                          <a:spcPct val="20000"/>
                        </a:spcBef>
                        <a:defRPr sz="2800">
                          <a:solidFill>
                            <a:schemeClr val="tx1"/>
                          </a:solidFill>
                          <a:effectLst>
                            <a:outerShdw blurRad="38100" dist="38100" dir="2700000" algn="tl">
                              <a:srgbClr val="C0C0C0"/>
                            </a:outerShdw>
                          </a:effectLst>
                          <a:latin typeface="Times New Roman" panose="02020603050405020304" pitchFamily="18" charset="0"/>
                        </a:defRPr>
                      </a:lvl1pPr>
                      <a:lvl2pPr marL="347663" defTabSz="809625">
                        <a:spcBef>
                          <a:spcPct val="20000"/>
                        </a:spcBef>
                        <a:defRPr sz="2400">
                          <a:solidFill>
                            <a:schemeClr val="tx1"/>
                          </a:solidFill>
                          <a:effectLst>
                            <a:outerShdw blurRad="38100" dist="38100" dir="2700000" algn="tl">
                              <a:srgbClr val="C0C0C0"/>
                            </a:outerShdw>
                          </a:effectLst>
                          <a:latin typeface="Times New Roman" panose="02020603050405020304" pitchFamily="18" charset="0"/>
                        </a:defRPr>
                      </a:lvl2pPr>
                      <a:lvl3pPr marL="682625" defTabSz="809625">
                        <a:spcBef>
                          <a:spcPct val="20000"/>
                        </a:spcBef>
                        <a:defRPr sz="2000">
                          <a:solidFill>
                            <a:schemeClr val="tx1"/>
                          </a:solidFill>
                          <a:effectLst>
                            <a:outerShdw blurRad="38100" dist="38100" dir="2700000" algn="tl">
                              <a:srgbClr val="C0C0C0"/>
                            </a:outerShdw>
                          </a:effectLst>
                          <a:latin typeface="Times New Roman" panose="02020603050405020304" pitchFamily="18" charset="0"/>
                        </a:defRPr>
                      </a:lvl3pPr>
                      <a:lvl4pPr marL="1020763" defTabSz="809625">
                        <a:spcBef>
                          <a:spcPct val="20000"/>
                        </a:spcBef>
                        <a:defRPr>
                          <a:solidFill>
                            <a:schemeClr val="tx1"/>
                          </a:solidFill>
                          <a:effectLst>
                            <a:outerShdw blurRad="38100" dist="38100" dir="2700000" algn="tl">
                              <a:srgbClr val="C0C0C0"/>
                            </a:outerShdw>
                          </a:effectLst>
                          <a:latin typeface="Times New Roman" panose="02020603050405020304" pitchFamily="18" charset="0"/>
                        </a:defRPr>
                      </a:lvl4pPr>
                      <a:lvl5pPr marL="1370013" defTabSz="809625">
                        <a:spcBef>
                          <a:spcPct val="20000"/>
                        </a:spcBef>
                        <a:defRPr>
                          <a:solidFill>
                            <a:schemeClr val="tx1"/>
                          </a:solidFill>
                          <a:effectLst>
                            <a:outerShdw blurRad="38100" dist="38100" dir="2700000" algn="tl">
                              <a:srgbClr val="C0C0C0"/>
                            </a:outerShdw>
                          </a:effectLst>
                          <a:latin typeface="Times New Roman" panose="02020603050405020304" pitchFamily="18" charset="0"/>
                        </a:defRPr>
                      </a:lvl5pPr>
                      <a:lvl6pPr marL="1827213"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6pPr>
                      <a:lvl7pPr marL="2284413"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7pPr>
                      <a:lvl8pPr marL="2741613"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8pPr>
                      <a:lvl9pPr marL="3198813"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9pPr>
                    </a:lstStyle>
                    <a:p>
                      <a:pPr marL="0" marR="0" lvl="0" indent="0" algn="l" defTabSz="809625" rtl="0" eaLnBrk="1" fontAlgn="base" latinLnBrk="0" hangingPunct="1">
                        <a:lnSpc>
                          <a:spcPct val="100000"/>
                        </a:lnSpc>
                        <a:spcBef>
                          <a:spcPct val="20000"/>
                        </a:spcBef>
                        <a:spcAft>
                          <a:spcPct val="0"/>
                        </a:spcAft>
                        <a:buClrTx/>
                        <a:buSzTx/>
                        <a:buFontTx/>
                        <a:buChar char="•"/>
                        <a:tabLst/>
                      </a:pPr>
                      <a:r>
                        <a:rPr kumimoji="0" lang="en-US" altLang="en-US" sz="1200" b="0" i="0" u="none" strike="noStrike" cap="none" normalizeH="0" baseline="0" smtClean="0">
                          <a:ln>
                            <a:noFill/>
                          </a:ln>
                          <a:solidFill>
                            <a:schemeClr val="tx1"/>
                          </a:solidFill>
                          <a:effectLst>
                            <a:outerShdw blurRad="38100" dist="38100" dir="2700000" algn="tl">
                              <a:srgbClr val="C0C0C0"/>
                            </a:outerShdw>
                          </a:effectLst>
                          <a:latin typeface="Times New Roman" panose="02020603050405020304" pitchFamily="18" charset="0"/>
                        </a:rPr>
                        <a:t>Build technical architecture</a:t>
                      </a:r>
                    </a:p>
                    <a:p>
                      <a:pPr marL="0" marR="0" lvl="0" indent="0" algn="l" defTabSz="809625" rtl="0" eaLnBrk="1" fontAlgn="base" latinLnBrk="0" hangingPunct="1">
                        <a:lnSpc>
                          <a:spcPct val="100000"/>
                        </a:lnSpc>
                        <a:spcBef>
                          <a:spcPct val="20000"/>
                        </a:spcBef>
                        <a:spcAft>
                          <a:spcPct val="0"/>
                        </a:spcAft>
                        <a:buClrTx/>
                        <a:buSzTx/>
                        <a:buFontTx/>
                        <a:buChar char="•"/>
                        <a:tabLst/>
                      </a:pPr>
                      <a:r>
                        <a:rPr kumimoji="0" lang="en-US" altLang="en-US" sz="1200" b="0" i="0" u="none" strike="noStrike" cap="none" normalizeH="0" baseline="0" smtClean="0">
                          <a:ln>
                            <a:noFill/>
                          </a:ln>
                          <a:solidFill>
                            <a:schemeClr val="tx1"/>
                          </a:solidFill>
                          <a:effectLst>
                            <a:outerShdw blurRad="38100" dist="38100" dir="2700000" algn="tl">
                              <a:srgbClr val="C0C0C0"/>
                            </a:outerShdw>
                          </a:effectLst>
                          <a:latin typeface="Times New Roman" panose="02020603050405020304" pitchFamily="18" charset="0"/>
                        </a:rPr>
                        <a:t>Build databases and programs</a:t>
                      </a:r>
                    </a:p>
                  </a:txBody>
                  <a:tcPr marL="77427" marR="77427" marT="38714" marB="38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31279523"/>
                  </a:ext>
                </a:extLst>
              </a:tr>
              <a:tr h="630898">
                <a:tc>
                  <a:txBody>
                    <a:bodyPr/>
                    <a:lstStyle>
                      <a:lvl1pPr marL="381000" indent="-381000" defTabSz="809625">
                        <a:spcBef>
                          <a:spcPct val="20000"/>
                        </a:spcBef>
                        <a:defRPr sz="2800">
                          <a:solidFill>
                            <a:schemeClr val="tx1"/>
                          </a:solidFill>
                          <a:effectLst>
                            <a:outerShdw blurRad="38100" dist="38100" dir="2700000" algn="tl">
                              <a:srgbClr val="C0C0C0"/>
                            </a:outerShdw>
                          </a:effectLst>
                          <a:latin typeface="Times New Roman" panose="02020603050405020304" pitchFamily="18" charset="0"/>
                        </a:defRPr>
                      </a:lvl1pPr>
                      <a:lvl2pPr marL="728663" indent="-381000" defTabSz="809625">
                        <a:spcBef>
                          <a:spcPct val="20000"/>
                        </a:spcBef>
                        <a:defRPr sz="2400">
                          <a:solidFill>
                            <a:schemeClr val="tx1"/>
                          </a:solidFill>
                          <a:effectLst>
                            <a:outerShdw blurRad="38100" dist="38100" dir="2700000" algn="tl">
                              <a:srgbClr val="C0C0C0"/>
                            </a:outerShdw>
                          </a:effectLst>
                          <a:latin typeface="Times New Roman" panose="02020603050405020304" pitchFamily="18" charset="0"/>
                        </a:defRPr>
                      </a:lvl2pPr>
                      <a:lvl3pPr marL="1025525" indent="-342900" defTabSz="809625">
                        <a:spcBef>
                          <a:spcPct val="20000"/>
                        </a:spcBef>
                        <a:defRPr sz="2000">
                          <a:solidFill>
                            <a:schemeClr val="tx1"/>
                          </a:solidFill>
                          <a:effectLst>
                            <a:outerShdw blurRad="38100" dist="38100" dir="2700000" algn="tl">
                              <a:srgbClr val="C0C0C0"/>
                            </a:outerShdw>
                          </a:effectLst>
                          <a:latin typeface="Times New Roman" panose="02020603050405020304" pitchFamily="18" charset="0"/>
                        </a:defRPr>
                      </a:lvl3pPr>
                      <a:lvl4pPr marL="1325563" indent="-304800" defTabSz="809625">
                        <a:spcBef>
                          <a:spcPct val="20000"/>
                        </a:spcBef>
                        <a:defRPr>
                          <a:solidFill>
                            <a:schemeClr val="tx1"/>
                          </a:solidFill>
                          <a:effectLst>
                            <a:outerShdw blurRad="38100" dist="38100" dir="2700000" algn="tl">
                              <a:srgbClr val="C0C0C0"/>
                            </a:outerShdw>
                          </a:effectLst>
                          <a:latin typeface="Times New Roman" panose="02020603050405020304" pitchFamily="18" charset="0"/>
                        </a:defRPr>
                      </a:lvl4pPr>
                      <a:lvl5pPr marL="1674813" indent="-304800" defTabSz="809625">
                        <a:spcBef>
                          <a:spcPct val="20000"/>
                        </a:spcBef>
                        <a:defRPr>
                          <a:solidFill>
                            <a:schemeClr val="tx1"/>
                          </a:solidFill>
                          <a:effectLst>
                            <a:outerShdw blurRad="38100" dist="38100" dir="2700000" algn="tl">
                              <a:srgbClr val="C0C0C0"/>
                            </a:outerShdw>
                          </a:effectLst>
                          <a:latin typeface="Times New Roman" panose="02020603050405020304" pitchFamily="18" charset="0"/>
                        </a:defRPr>
                      </a:lvl5pPr>
                      <a:lvl6pPr marL="2132013" indent="-304800"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6pPr>
                      <a:lvl7pPr marL="2589213" indent="-304800"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7pPr>
                      <a:lvl8pPr marL="3046413" indent="-304800"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8pPr>
                      <a:lvl9pPr marL="3503613" indent="-304800"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9pPr>
                    </a:lstStyle>
                    <a:p>
                      <a:pPr marL="381000" marR="0" lvl="0" indent="-381000" algn="l" defTabSz="809625" rtl="0" eaLnBrk="1" fontAlgn="base" latinLnBrk="0" hangingPunct="1">
                        <a:lnSpc>
                          <a:spcPct val="100000"/>
                        </a:lnSpc>
                        <a:spcBef>
                          <a:spcPct val="20000"/>
                        </a:spcBef>
                        <a:spcAft>
                          <a:spcPct val="0"/>
                        </a:spcAft>
                        <a:buClrTx/>
                        <a:buSzTx/>
                        <a:buFont typeface="Wingdings" panose="05000000000000000000" pitchFamily="2" charset="2"/>
                        <a:buAutoNum type="arabicPeriod" startAt="5"/>
                        <a:tabLst/>
                      </a:pPr>
                      <a:r>
                        <a:rPr kumimoji="0" lang="en-US" altLang="en-US" sz="1200" b="0" i="0" u="none" strike="noStrike" cap="none" normalizeH="0" baseline="0" smtClean="0">
                          <a:ln>
                            <a:noFill/>
                          </a:ln>
                          <a:solidFill>
                            <a:schemeClr val="tx1"/>
                          </a:solidFill>
                          <a:effectLst>
                            <a:outerShdw blurRad="38100" dist="38100" dir="2700000" algn="tl">
                              <a:srgbClr val="C0C0C0"/>
                            </a:outerShdw>
                          </a:effectLst>
                          <a:latin typeface="Times New Roman" panose="02020603050405020304" pitchFamily="18" charset="0"/>
                        </a:rPr>
                        <a:t>Testing</a:t>
                      </a:r>
                    </a:p>
                  </a:txBody>
                  <a:tcPr marL="77427" marR="77427" marT="38714" marB="38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809625">
                        <a:spcBef>
                          <a:spcPct val="20000"/>
                        </a:spcBef>
                        <a:defRPr sz="2800">
                          <a:solidFill>
                            <a:schemeClr val="tx1"/>
                          </a:solidFill>
                          <a:effectLst>
                            <a:outerShdw blurRad="38100" dist="38100" dir="2700000" algn="tl">
                              <a:srgbClr val="C0C0C0"/>
                            </a:outerShdw>
                          </a:effectLst>
                          <a:latin typeface="Times New Roman" panose="02020603050405020304" pitchFamily="18" charset="0"/>
                        </a:defRPr>
                      </a:lvl1pPr>
                      <a:lvl2pPr marL="347663" defTabSz="809625">
                        <a:spcBef>
                          <a:spcPct val="20000"/>
                        </a:spcBef>
                        <a:defRPr sz="2400">
                          <a:solidFill>
                            <a:schemeClr val="tx1"/>
                          </a:solidFill>
                          <a:effectLst>
                            <a:outerShdw blurRad="38100" dist="38100" dir="2700000" algn="tl">
                              <a:srgbClr val="C0C0C0"/>
                            </a:outerShdw>
                          </a:effectLst>
                          <a:latin typeface="Times New Roman" panose="02020603050405020304" pitchFamily="18" charset="0"/>
                        </a:defRPr>
                      </a:lvl2pPr>
                      <a:lvl3pPr marL="682625" defTabSz="809625">
                        <a:spcBef>
                          <a:spcPct val="20000"/>
                        </a:spcBef>
                        <a:defRPr sz="2000">
                          <a:solidFill>
                            <a:schemeClr val="tx1"/>
                          </a:solidFill>
                          <a:effectLst>
                            <a:outerShdw blurRad="38100" dist="38100" dir="2700000" algn="tl">
                              <a:srgbClr val="C0C0C0"/>
                            </a:outerShdw>
                          </a:effectLst>
                          <a:latin typeface="Times New Roman" panose="02020603050405020304" pitchFamily="18" charset="0"/>
                        </a:defRPr>
                      </a:lvl3pPr>
                      <a:lvl4pPr marL="1020763" defTabSz="809625">
                        <a:spcBef>
                          <a:spcPct val="20000"/>
                        </a:spcBef>
                        <a:defRPr>
                          <a:solidFill>
                            <a:schemeClr val="tx1"/>
                          </a:solidFill>
                          <a:effectLst>
                            <a:outerShdw blurRad="38100" dist="38100" dir="2700000" algn="tl">
                              <a:srgbClr val="C0C0C0"/>
                            </a:outerShdw>
                          </a:effectLst>
                          <a:latin typeface="Times New Roman" panose="02020603050405020304" pitchFamily="18" charset="0"/>
                        </a:defRPr>
                      </a:lvl4pPr>
                      <a:lvl5pPr marL="1370013" defTabSz="809625">
                        <a:spcBef>
                          <a:spcPct val="20000"/>
                        </a:spcBef>
                        <a:defRPr>
                          <a:solidFill>
                            <a:schemeClr val="tx1"/>
                          </a:solidFill>
                          <a:effectLst>
                            <a:outerShdw blurRad="38100" dist="38100" dir="2700000" algn="tl">
                              <a:srgbClr val="C0C0C0"/>
                            </a:outerShdw>
                          </a:effectLst>
                          <a:latin typeface="Times New Roman" panose="02020603050405020304" pitchFamily="18" charset="0"/>
                        </a:defRPr>
                      </a:lvl5pPr>
                      <a:lvl6pPr marL="1827213"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6pPr>
                      <a:lvl7pPr marL="2284413"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7pPr>
                      <a:lvl8pPr marL="2741613"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8pPr>
                      <a:lvl9pPr marL="3198813"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9pPr>
                    </a:lstStyle>
                    <a:p>
                      <a:pPr marL="0" marR="0" lvl="0" indent="0" algn="l" defTabSz="809625" rtl="0" eaLnBrk="1" fontAlgn="base" latinLnBrk="0" hangingPunct="1">
                        <a:lnSpc>
                          <a:spcPct val="100000"/>
                        </a:lnSpc>
                        <a:spcBef>
                          <a:spcPct val="20000"/>
                        </a:spcBef>
                        <a:spcAft>
                          <a:spcPct val="0"/>
                        </a:spcAft>
                        <a:buClrTx/>
                        <a:buSzTx/>
                        <a:buFontTx/>
                        <a:buChar char="•"/>
                        <a:tabLst/>
                      </a:pPr>
                      <a:r>
                        <a:rPr kumimoji="0" lang="en-US" altLang="en-US" sz="1200" b="0" i="0" u="none" strike="noStrike" cap="none" normalizeH="0" baseline="0" smtClean="0">
                          <a:ln>
                            <a:noFill/>
                          </a:ln>
                          <a:solidFill>
                            <a:schemeClr val="tx1"/>
                          </a:solidFill>
                          <a:effectLst>
                            <a:outerShdw blurRad="38100" dist="38100" dir="2700000" algn="tl">
                              <a:srgbClr val="C0C0C0"/>
                            </a:outerShdw>
                          </a:effectLst>
                          <a:latin typeface="Times New Roman" panose="02020603050405020304" pitchFamily="18" charset="0"/>
                        </a:rPr>
                        <a:t>Write test conditions</a:t>
                      </a:r>
                    </a:p>
                    <a:p>
                      <a:pPr marL="0" marR="0" lvl="0" indent="0" algn="l" defTabSz="809625" rtl="0" eaLnBrk="1" fontAlgn="base" latinLnBrk="0" hangingPunct="1">
                        <a:lnSpc>
                          <a:spcPct val="100000"/>
                        </a:lnSpc>
                        <a:spcBef>
                          <a:spcPct val="20000"/>
                        </a:spcBef>
                        <a:spcAft>
                          <a:spcPct val="0"/>
                        </a:spcAft>
                        <a:buClrTx/>
                        <a:buSzTx/>
                        <a:buFontTx/>
                        <a:buChar char="•"/>
                        <a:tabLst/>
                      </a:pPr>
                      <a:r>
                        <a:rPr kumimoji="0" lang="en-US" altLang="en-US" sz="1200" b="0" i="0" u="none" strike="noStrike" cap="none" normalizeH="0" baseline="0" smtClean="0">
                          <a:ln>
                            <a:noFill/>
                          </a:ln>
                          <a:solidFill>
                            <a:schemeClr val="tx1"/>
                          </a:solidFill>
                          <a:effectLst>
                            <a:outerShdw blurRad="38100" dist="38100" dir="2700000" algn="tl">
                              <a:srgbClr val="C0C0C0"/>
                            </a:outerShdw>
                          </a:effectLst>
                          <a:latin typeface="Times New Roman" panose="02020603050405020304" pitchFamily="18" charset="0"/>
                        </a:rPr>
                        <a:t>Perform testing</a:t>
                      </a:r>
                    </a:p>
                  </a:txBody>
                  <a:tcPr marL="77427" marR="77427" marT="38714" marB="38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49564551"/>
                  </a:ext>
                </a:extLst>
              </a:tr>
              <a:tr h="630898">
                <a:tc>
                  <a:txBody>
                    <a:bodyPr/>
                    <a:lstStyle>
                      <a:lvl1pPr marL="381000" indent="-381000" defTabSz="809625">
                        <a:spcBef>
                          <a:spcPct val="20000"/>
                        </a:spcBef>
                        <a:defRPr sz="2800">
                          <a:solidFill>
                            <a:schemeClr val="tx1"/>
                          </a:solidFill>
                          <a:effectLst>
                            <a:outerShdw blurRad="38100" dist="38100" dir="2700000" algn="tl">
                              <a:srgbClr val="C0C0C0"/>
                            </a:outerShdw>
                          </a:effectLst>
                          <a:latin typeface="Times New Roman" panose="02020603050405020304" pitchFamily="18" charset="0"/>
                        </a:defRPr>
                      </a:lvl1pPr>
                      <a:lvl2pPr marL="728663" indent="-381000" defTabSz="809625">
                        <a:spcBef>
                          <a:spcPct val="20000"/>
                        </a:spcBef>
                        <a:defRPr sz="2400">
                          <a:solidFill>
                            <a:schemeClr val="tx1"/>
                          </a:solidFill>
                          <a:effectLst>
                            <a:outerShdw blurRad="38100" dist="38100" dir="2700000" algn="tl">
                              <a:srgbClr val="C0C0C0"/>
                            </a:outerShdw>
                          </a:effectLst>
                          <a:latin typeface="Times New Roman" panose="02020603050405020304" pitchFamily="18" charset="0"/>
                        </a:defRPr>
                      </a:lvl2pPr>
                      <a:lvl3pPr marL="1025525" indent="-342900" defTabSz="809625">
                        <a:spcBef>
                          <a:spcPct val="20000"/>
                        </a:spcBef>
                        <a:defRPr sz="2000">
                          <a:solidFill>
                            <a:schemeClr val="tx1"/>
                          </a:solidFill>
                          <a:effectLst>
                            <a:outerShdw blurRad="38100" dist="38100" dir="2700000" algn="tl">
                              <a:srgbClr val="C0C0C0"/>
                            </a:outerShdw>
                          </a:effectLst>
                          <a:latin typeface="Times New Roman" panose="02020603050405020304" pitchFamily="18" charset="0"/>
                        </a:defRPr>
                      </a:lvl3pPr>
                      <a:lvl4pPr marL="1325563" indent="-304800" defTabSz="809625">
                        <a:spcBef>
                          <a:spcPct val="20000"/>
                        </a:spcBef>
                        <a:defRPr>
                          <a:solidFill>
                            <a:schemeClr val="tx1"/>
                          </a:solidFill>
                          <a:effectLst>
                            <a:outerShdw blurRad="38100" dist="38100" dir="2700000" algn="tl">
                              <a:srgbClr val="C0C0C0"/>
                            </a:outerShdw>
                          </a:effectLst>
                          <a:latin typeface="Times New Roman" panose="02020603050405020304" pitchFamily="18" charset="0"/>
                        </a:defRPr>
                      </a:lvl4pPr>
                      <a:lvl5pPr marL="1674813" indent="-304800" defTabSz="809625">
                        <a:spcBef>
                          <a:spcPct val="20000"/>
                        </a:spcBef>
                        <a:defRPr>
                          <a:solidFill>
                            <a:schemeClr val="tx1"/>
                          </a:solidFill>
                          <a:effectLst>
                            <a:outerShdw blurRad="38100" dist="38100" dir="2700000" algn="tl">
                              <a:srgbClr val="C0C0C0"/>
                            </a:outerShdw>
                          </a:effectLst>
                          <a:latin typeface="Times New Roman" panose="02020603050405020304" pitchFamily="18" charset="0"/>
                        </a:defRPr>
                      </a:lvl5pPr>
                      <a:lvl6pPr marL="2132013" indent="-304800"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6pPr>
                      <a:lvl7pPr marL="2589213" indent="-304800"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7pPr>
                      <a:lvl8pPr marL="3046413" indent="-304800"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8pPr>
                      <a:lvl9pPr marL="3503613" indent="-304800"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9pPr>
                    </a:lstStyle>
                    <a:p>
                      <a:pPr marL="381000" marR="0" lvl="0" indent="-381000" algn="l" defTabSz="809625" rtl="0" eaLnBrk="1" fontAlgn="base" latinLnBrk="0" hangingPunct="1">
                        <a:lnSpc>
                          <a:spcPct val="100000"/>
                        </a:lnSpc>
                        <a:spcBef>
                          <a:spcPct val="20000"/>
                        </a:spcBef>
                        <a:spcAft>
                          <a:spcPct val="0"/>
                        </a:spcAft>
                        <a:buClrTx/>
                        <a:buSzTx/>
                        <a:buFont typeface="Wingdings" panose="05000000000000000000" pitchFamily="2" charset="2"/>
                        <a:buAutoNum type="arabicPeriod" startAt="6"/>
                        <a:tabLst/>
                      </a:pPr>
                      <a:r>
                        <a:rPr kumimoji="0" lang="en-US" altLang="en-US" sz="1200" b="0" i="0" u="none" strike="noStrike" cap="none" normalizeH="0" baseline="0" smtClean="0">
                          <a:ln>
                            <a:noFill/>
                          </a:ln>
                          <a:solidFill>
                            <a:schemeClr val="tx1"/>
                          </a:solidFill>
                          <a:effectLst>
                            <a:outerShdw blurRad="38100" dist="38100" dir="2700000" algn="tl">
                              <a:srgbClr val="C0C0C0"/>
                            </a:outerShdw>
                          </a:effectLst>
                          <a:latin typeface="Times New Roman" panose="02020603050405020304" pitchFamily="18" charset="0"/>
                        </a:rPr>
                        <a:t>Implementation</a:t>
                      </a:r>
                    </a:p>
                  </a:txBody>
                  <a:tcPr marL="77427" marR="77427" marT="38714" marB="38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809625">
                        <a:spcBef>
                          <a:spcPct val="20000"/>
                        </a:spcBef>
                        <a:defRPr sz="2800">
                          <a:solidFill>
                            <a:schemeClr val="tx1"/>
                          </a:solidFill>
                          <a:effectLst>
                            <a:outerShdw blurRad="38100" dist="38100" dir="2700000" algn="tl">
                              <a:srgbClr val="C0C0C0"/>
                            </a:outerShdw>
                          </a:effectLst>
                          <a:latin typeface="Times New Roman" panose="02020603050405020304" pitchFamily="18" charset="0"/>
                        </a:defRPr>
                      </a:lvl1pPr>
                      <a:lvl2pPr marL="347663" defTabSz="809625">
                        <a:spcBef>
                          <a:spcPct val="20000"/>
                        </a:spcBef>
                        <a:defRPr sz="2400">
                          <a:solidFill>
                            <a:schemeClr val="tx1"/>
                          </a:solidFill>
                          <a:effectLst>
                            <a:outerShdw blurRad="38100" dist="38100" dir="2700000" algn="tl">
                              <a:srgbClr val="C0C0C0"/>
                            </a:outerShdw>
                          </a:effectLst>
                          <a:latin typeface="Times New Roman" panose="02020603050405020304" pitchFamily="18" charset="0"/>
                        </a:defRPr>
                      </a:lvl2pPr>
                      <a:lvl3pPr marL="682625" defTabSz="809625">
                        <a:spcBef>
                          <a:spcPct val="20000"/>
                        </a:spcBef>
                        <a:defRPr sz="2000">
                          <a:solidFill>
                            <a:schemeClr val="tx1"/>
                          </a:solidFill>
                          <a:effectLst>
                            <a:outerShdw blurRad="38100" dist="38100" dir="2700000" algn="tl">
                              <a:srgbClr val="C0C0C0"/>
                            </a:outerShdw>
                          </a:effectLst>
                          <a:latin typeface="Times New Roman" panose="02020603050405020304" pitchFamily="18" charset="0"/>
                        </a:defRPr>
                      </a:lvl3pPr>
                      <a:lvl4pPr marL="1020763" defTabSz="809625">
                        <a:spcBef>
                          <a:spcPct val="20000"/>
                        </a:spcBef>
                        <a:defRPr>
                          <a:solidFill>
                            <a:schemeClr val="tx1"/>
                          </a:solidFill>
                          <a:effectLst>
                            <a:outerShdw blurRad="38100" dist="38100" dir="2700000" algn="tl">
                              <a:srgbClr val="C0C0C0"/>
                            </a:outerShdw>
                          </a:effectLst>
                          <a:latin typeface="Times New Roman" panose="02020603050405020304" pitchFamily="18" charset="0"/>
                        </a:defRPr>
                      </a:lvl4pPr>
                      <a:lvl5pPr marL="1370013" defTabSz="809625">
                        <a:spcBef>
                          <a:spcPct val="20000"/>
                        </a:spcBef>
                        <a:defRPr>
                          <a:solidFill>
                            <a:schemeClr val="tx1"/>
                          </a:solidFill>
                          <a:effectLst>
                            <a:outerShdw blurRad="38100" dist="38100" dir="2700000" algn="tl">
                              <a:srgbClr val="C0C0C0"/>
                            </a:outerShdw>
                          </a:effectLst>
                          <a:latin typeface="Times New Roman" panose="02020603050405020304" pitchFamily="18" charset="0"/>
                        </a:defRPr>
                      </a:lvl5pPr>
                      <a:lvl6pPr marL="1827213"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6pPr>
                      <a:lvl7pPr marL="2284413"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7pPr>
                      <a:lvl8pPr marL="2741613"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8pPr>
                      <a:lvl9pPr marL="3198813"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9pPr>
                    </a:lstStyle>
                    <a:p>
                      <a:pPr marL="0" marR="0" lvl="0" indent="0" algn="l" defTabSz="809625" rtl="0" eaLnBrk="1" fontAlgn="base" latinLnBrk="0" hangingPunct="1">
                        <a:lnSpc>
                          <a:spcPct val="100000"/>
                        </a:lnSpc>
                        <a:spcBef>
                          <a:spcPct val="20000"/>
                        </a:spcBef>
                        <a:spcAft>
                          <a:spcPct val="0"/>
                        </a:spcAft>
                        <a:buClrTx/>
                        <a:buSzTx/>
                        <a:buFontTx/>
                        <a:buChar char="•"/>
                        <a:tabLst/>
                      </a:pPr>
                      <a:r>
                        <a:rPr kumimoji="0" lang="en-US" altLang="en-US" sz="1200" b="0" i="0" u="none" strike="noStrike" cap="none" normalizeH="0" baseline="0" smtClean="0">
                          <a:ln>
                            <a:noFill/>
                          </a:ln>
                          <a:solidFill>
                            <a:schemeClr val="tx1"/>
                          </a:solidFill>
                          <a:effectLst>
                            <a:outerShdw blurRad="38100" dist="38100" dir="2700000" algn="tl">
                              <a:srgbClr val="C0C0C0"/>
                            </a:outerShdw>
                          </a:effectLst>
                          <a:latin typeface="Times New Roman" panose="02020603050405020304" pitchFamily="18" charset="0"/>
                        </a:rPr>
                        <a:t>Write user documentation</a:t>
                      </a:r>
                    </a:p>
                    <a:p>
                      <a:pPr marL="0" marR="0" lvl="0" indent="0" algn="l" defTabSz="809625" rtl="0" eaLnBrk="1" fontAlgn="base" latinLnBrk="0" hangingPunct="1">
                        <a:lnSpc>
                          <a:spcPct val="100000"/>
                        </a:lnSpc>
                        <a:spcBef>
                          <a:spcPct val="20000"/>
                        </a:spcBef>
                        <a:spcAft>
                          <a:spcPct val="0"/>
                        </a:spcAft>
                        <a:buClrTx/>
                        <a:buSzTx/>
                        <a:buFontTx/>
                        <a:buChar char="•"/>
                        <a:tabLst/>
                      </a:pPr>
                      <a:r>
                        <a:rPr kumimoji="0" lang="en-US" altLang="en-US" sz="1200" b="0" i="0" u="none" strike="noStrike" cap="none" normalizeH="0" baseline="0" smtClean="0">
                          <a:ln>
                            <a:noFill/>
                          </a:ln>
                          <a:solidFill>
                            <a:schemeClr val="tx1"/>
                          </a:solidFill>
                          <a:effectLst>
                            <a:outerShdw blurRad="38100" dist="38100" dir="2700000" algn="tl">
                              <a:srgbClr val="C0C0C0"/>
                            </a:outerShdw>
                          </a:effectLst>
                          <a:latin typeface="Times New Roman" panose="02020603050405020304" pitchFamily="18" charset="0"/>
                        </a:rPr>
                        <a:t>Provide training</a:t>
                      </a:r>
                    </a:p>
                  </a:txBody>
                  <a:tcPr marL="77427" marR="77427" marT="38714" marB="38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20564812"/>
                  </a:ext>
                </a:extLst>
              </a:tr>
              <a:tr h="630898">
                <a:tc>
                  <a:txBody>
                    <a:bodyPr/>
                    <a:lstStyle>
                      <a:lvl1pPr marL="381000" indent="-381000" defTabSz="809625">
                        <a:spcBef>
                          <a:spcPct val="20000"/>
                        </a:spcBef>
                        <a:defRPr sz="2800">
                          <a:solidFill>
                            <a:schemeClr val="tx1"/>
                          </a:solidFill>
                          <a:effectLst>
                            <a:outerShdw blurRad="38100" dist="38100" dir="2700000" algn="tl">
                              <a:srgbClr val="C0C0C0"/>
                            </a:outerShdw>
                          </a:effectLst>
                          <a:latin typeface="Times New Roman" panose="02020603050405020304" pitchFamily="18" charset="0"/>
                        </a:defRPr>
                      </a:lvl1pPr>
                      <a:lvl2pPr marL="728663" indent="-381000" defTabSz="809625">
                        <a:spcBef>
                          <a:spcPct val="20000"/>
                        </a:spcBef>
                        <a:defRPr sz="2400">
                          <a:solidFill>
                            <a:schemeClr val="tx1"/>
                          </a:solidFill>
                          <a:effectLst>
                            <a:outerShdw blurRad="38100" dist="38100" dir="2700000" algn="tl">
                              <a:srgbClr val="C0C0C0"/>
                            </a:outerShdw>
                          </a:effectLst>
                          <a:latin typeface="Times New Roman" panose="02020603050405020304" pitchFamily="18" charset="0"/>
                        </a:defRPr>
                      </a:lvl2pPr>
                      <a:lvl3pPr marL="1025525" indent="-342900" defTabSz="809625">
                        <a:spcBef>
                          <a:spcPct val="20000"/>
                        </a:spcBef>
                        <a:defRPr sz="2000">
                          <a:solidFill>
                            <a:schemeClr val="tx1"/>
                          </a:solidFill>
                          <a:effectLst>
                            <a:outerShdw blurRad="38100" dist="38100" dir="2700000" algn="tl">
                              <a:srgbClr val="C0C0C0"/>
                            </a:outerShdw>
                          </a:effectLst>
                          <a:latin typeface="Times New Roman" panose="02020603050405020304" pitchFamily="18" charset="0"/>
                        </a:defRPr>
                      </a:lvl3pPr>
                      <a:lvl4pPr marL="1325563" indent="-304800" defTabSz="809625">
                        <a:spcBef>
                          <a:spcPct val="20000"/>
                        </a:spcBef>
                        <a:defRPr>
                          <a:solidFill>
                            <a:schemeClr val="tx1"/>
                          </a:solidFill>
                          <a:effectLst>
                            <a:outerShdw blurRad="38100" dist="38100" dir="2700000" algn="tl">
                              <a:srgbClr val="C0C0C0"/>
                            </a:outerShdw>
                          </a:effectLst>
                          <a:latin typeface="Times New Roman" panose="02020603050405020304" pitchFamily="18" charset="0"/>
                        </a:defRPr>
                      </a:lvl4pPr>
                      <a:lvl5pPr marL="1674813" indent="-304800" defTabSz="809625">
                        <a:spcBef>
                          <a:spcPct val="20000"/>
                        </a:spcBef>
                        <a:defRPr>
                          <a:solidFill>
                            <a:schemeClr val="tx1"/>
                          </a:solidFill>
                          <a:effectLst>
                            <a:outerShdw blurRad="38100" dist="38100" dir="2700000" algn="tl">
                              <a:srgbClr val="C0C0C0"/>
                            </a:outerShdw>
                          </a:effectLst>
                          <a:latin typeface="Times New Roman" panose="02020603050405020304" pitchFamily="18" charset="0"/>
                        </a:defRPr>
                      </a:lvl5pPr>
                      <a:lvl6pPr marL="2132013" indent="-304800"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6pPr>
                      <a:lvl7pPr marL="2589213" indent="-304800"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7pPr>
                      <a:lvl8pPr marL="3046413" indent="-304800"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8pPr>
                      <a:lvl9pPr marL="3503613" indent="-304800"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9pPr>
                    </a:lstStyle>
                    <a:p>
                      <a:pPr marL="381000" marR="0" lvl="0" indent="-381000" algn="l" defTabSz="809625" rtl="0" eaLnBrk="1" fontAlgn="base" latinLnBrk="0" hangingPunct="1">
                        <a:lnSpc>
                          <a:spcPct val="100000"/>
                        </a:lnSpc>
                        <a:spcBef>
                          <a:spcPct val="20000"/>
                        </a:spcBef>
                        <a:spcAft>
                          <a:spcPct val="0"/>
                        </a:spcAft>
                        <a:buClrTx/>
                        <a:buSzTx/>
                        <a:buFont typeface="Wingdings" panose="05000000000000000000" pitchFamily="2" charset="2"/>
                        <a:buAutoNum type="arabicPeriod" startAt="7"/>
                        <a:tabLst/>
                      </a:pPr>
                      <a:r>
                        <a:rPr kumimoji="0" lang="en-US" altLang="en-US" sz="1200" b="0" i="0" u="none" strike="noStrike" cap="none" normalizeH="0" baseline="0" smtClean="0">
                          <a:ln>
                            <a:noFill/>
                          </a:ln>
                          <a:solidFill>
                            <a:schemeClr val="tx1"/>
                          </a:solidFill>
                          <a:effectLst>
                            <a:outerShdw blurRad="38100" dist="38100" dir="2700000" algn="tl">
                              <a:srgbClr val="C0C0C0"/>
                            </a:outerShdw>
                          </a:effectLst>
                          <a:latin typeface="Times New Roman" panose="02020603050405020304" pitchFamily="18" charset="0"/>
                        </a:rPr>
                        <a:t>Maintenance</a:t>
                      </a:r>
                    </a:p>
                  </a:txBody>
                  <a:tcPr marL="77427" marR="77427" marT="38714" marB="38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defTabSz="809625">
                        <a:spcBef>
                          <a:spcPct val="20000"/>
                        </a:spcBef>
                        <a:defRPr sz="2800">
                          <a:solidFill>
                            <a:schemeClr val="tx1"/>
                          </a:solidFill>
                          <a:effectLst>
                            <a:outerShdw blurRad="38100" dist="38100" dir="2700000" algn="tl">
                              <a:srgbClr val="C0C0C0"/>
                            </a:outerShdw>
                          </a:effectLst>
                          <a:latin typeface="Times New Roman" panose="02020603050405020304" pitchFamily="18" charset="0"/>
                        </a:defRPr>
                      </a:lvl1pPr>
                      <a:lvl2pPr marL="347663" defTabSz="809625">
                        <a:spcBef>
                          <a:spcPct val="20000"/>
                        </a:spcBef>
                        <a:defRPr sz="2400">
                          <a:solidFill>
                            <a:schemeClr val="tx1"/>
                          </a:solidFill>
                          <a:effectLst>
                            <a:outerShdw blurRad="38100" dist="38100" dir="2700000" algn="tl">
                              <a:srgbClr val="C0C0C0"/>
                            </a:outerShdw>
                          </a:effectLst>
                          <a:latin typeface="Times New Roman" panose="02020603050405020304" pitchFamily="18" charset="0"/>
                        </a:defRPr>
                      </a:lvl2pPr>
                      <a:lvl3pPr marL="682625" defTabSz="809625">
                        <a:spcBef>
                          <a:spcPct val="20000"/>
                        </a:spcBef>
                        <a:defRPr sz="2000">
                          <a:solidFill>
                            <a:schemeClr val="tx1"/>
                          </a:solidFill>
                          <a:effectLst>
                            <a:outerShdw blurRad="38100" dist="38100" dir="2700000" algn="tl">
                              <a:srgbClr val="C0C0C0"/>
                            </a:outerShdw>
                          </a:effectLst>
                          <a:latin typeface="Times New Roman" panose="02020603050405020304" pitchFamily="18" charset="0"/>
                        </a:defRPr>
                      </a:lvl3pPr>
                      <a:lvl4pPr marL="1020763" defTabSz="809625">
                        <a:spcBef>
                          <a:spcPct val="20000"/>
                        </a:spcBef>
                        <a:defRPr>
                          <a:solidFill>
                            <a:schemeClr val="tx1"/>
                          </a:solidFill>
                          <a:effectLst>
                            <a:outerShdw blurRad="38100" dist="38100" dir="2700000" algn="tl">
                              <a:srgbClr val="C0C0C0"/>
                            </a:outerShdw>
                          </a:effectLst>
                          <a:latin typeface="Times New Roman" panose="02020603050405020304" pitchFamily="18" charset="0"/>
                        </a:defRPr>
                      </a:lvl4pPr>
                      <a:lvl5pPr marL="1370013" defTabSz="809625">
                        <a:spcBef>
                          <a:spcPct val="20000"/>
                        </a:spcBef>
                        <a:defRPr>
                          <a:solidFill>
                            <a:schemeClr val="tx1"/>
                          </a:solidFill>
                          <a:effectLst>
                            <a:outerShdw blurRad="38100" dist="38100" dir="2700000" algn="tl">
                              <a:srgbClr val="C0C0C0"/>
                            </a:outerShdw>
                          </a:effectLst>
                          <a:latin typeface="Times New Roman" panose="02020603050405020304" pitchFamily="18" charset="0"/>
                        </a:defRPr>
                      </a:lvl5pPr>
                      <a:lvl6pPr marL="1827213"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6pPr>
                      <a:lvl7pPr marL="2284413"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7pPr>
                      <a:lvl8pPr marL="2741613"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8pPr>
                      <a:lvl9pPr marL="3198813" defTabSz="809625" fontAlgn="base">
                        <a:spcBef>
                          <a:spcPct val="20000"/>
                        </a:spcBef>
                        <a:spcAft>
                          <a:spcPct val="0"/>
                        </a:spcAft>
                        <a:defRPr>
                          <a:solidFill>
                            <a:schemeClr val="tx1"/>
                          </a:solidFill>
                          <a:effectLst>
                            <a:outerShdw blurRad="38100" dist="38100" dir="2700000" algn="tl">
                              <a:srgbClr val="C0C0C0"/>
                            </a:outerShdw>
                          </a:effectLst>
                          <a:latin typeface="Times New Roman" panose="02020603050405020304" pitchFamily="18" charset="0"/>
                        </a:defRPr>
                      </a:lvl9pPr>
                    </a:lstStyle>
                    <a:p>
                      <a:pPr marL="0" marR="0" lvl="0" indent="0" algn="l" defTabSz="809625" rtl="0" eaLnBrk="1" fontAlgn="base" latinLnBrk="0" hangingPunct="1">
                        <a:lnSpc>
                          <a:spcPct val="100000"/>
                        </a:lnSpc>
                        <a:spcBef>
                          <a:spcPct val="20000"/>
                        </a:spcBef>
                        <a:spcAft>
                          <a:spcPct val="0"/>
                        </a:spcAft>
                        <a:buClrTx/>
                        <a:buSzTx/>
                        <a:buFontTx/>
                        <a:buChar char="•"/>
                        <a:tabLst/>
                      </a:pPr>
                      <a:r>
                        <a:rPr kumimoji="0" lang="en-US" altLang="en-US" sz="1200" b="0" i="0" u="none" strike="noStrike" cap="none" normalizeH="0" baseline="0" dirty="0" smtClean="0">
                          <a:ln>
                            <a:noFill/>
                          </a:ln>
                          <a:solidFill>
                            <a:schemeClr val="tx1"/>
                          </a:solidFill>
                          <a:effectLst>
                            <a:outerShdw blurRad="38100" dist="38100" dir="2700000" algn="tl">
                              <a:srgbClr val="C0C0C0"/>
                            </a:outerShdw>
                          </a:effectLst>
                          <a:latin typeface="Times New Roman" panose="02020603050405020304" pitchFamily="18" charset="0"/>
                        </a:rPr>
                        <a:t>Build a help desk</a:t>
                      </a:r>
                    </a:p>
                    <a:p>
                      <a:pPr marL="0" marR="0" lvl="0" indent="0" algn="l" defTabSz="809625" rtl="0" eaLnBrk="1" fontAlgn="base" latinLnBrk="0" hangingPunct="1">
                        <a:lnSpc>
                          <a:spcPct val="100000"/>
                        </a:lnSpc>
                        <a:spcBef>
                          <a:spcPct val="20000"/>
                        </a:spcBef>
                        <a:spcAft>
                          <a:spcPct val="0"/>
                        </a:spcAft>
                        <a:buClrTx/>
                        <a:buSzTx/>
                        <a:buFontTx/>
                        <a:buChar char="•"/>
                        <a:tabLst/>
                      </a:pPr>
                      <a:r>
                        <a:rPr kumimoji="0" lang="en-US" altLang="en-US" sz="1200" b="0" i="0" u="none" strike="noStrike" cap="none" normalizeH="0" baseline="0" dirty="0" smtClean="0">
                          <a:ln>
                            <a:noFill/>
                          </a:ln>
                          <a:solidFill>
                            <a:schemeClr val="tx1"/>
                          </a:solidFill>
                          <a:effectLst>
                            <a:outerShdw blurRad="38100" dist="38100" dir="2700000" algn="tl">
                              <a:srgbClr val="C0C0C0"/>
                            </a:outerShdw>
                          </a:effectLst>
                          <a:latin typeface="Times New Roman" panose="02020603050405020304" pitchFamily="18" charset="0"/>
                        </a:rPr>
                        <a:t>Support system changes</a:t>
                      </a:r>
                    </a:p>
                  </a:txBody>
                  <a:tcPr marL="77427" marR="77427" marT="38714" marB="38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46639573"/>
                  </a:ext>
                </a:extLst>
              </a:tr>
            </a:tbl>
          </a:graphicData>
        </a:graphic>
      </p:graphicFrame>
    </p:spTree>
    <p:extLst>
      <p:ext uri="{BB962C8B-B14F-4D97-AF65-F5344CB8AC3E}">
        <p14:creationId xmlns:p14="http://schemas.microsoft.com/office/powerpoint/2010/main" val="280314451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931340" y="505616"/>
            <a:ext cx="7543800" cy="506681"/>
          </a:xfrm>
        </p:spPr>
        <p:txBody>
          <a:bodyPr/>
          <a:lstStyle/>
          <a:p>
            <a:pPr marL="342900" indent="-342900" defTabSz="607219"/>
            <a:r>
              <a:rPr lang="en-US" altLang="en-US" sz="3000" dirty="0"/>
              <a:t>The SDLC has 7 phases:</a:t>
            </a:r>
          </a:p>
        </p:txBody>
      </p:sp>
      <p:sp>
        <p:nvSpPr>
          <p:cNvPr id="27651" name="Rectangle 3"/>
          <p:cNvSpPr>
            <a:spLocks noGrp="1" noChangeArrowheads="1"/>
          </p:cNvSpPr>
          <p:nvPr>
            <p:ph idx="1"/>
          </p:nvPr>
        </p:nvSpPr>
        <p:spPr>
          <a:xfrm>
            <a:off x="718984" y="1999328"/>
            <a:ext cx="3417939" cy="3393281"/>
          </a:xfrm>
        </p:spPr>
        <p:txBody>
          <a:bodyPr>
            <a:normAutofit/>
          </a:bodyPr>
          <a:lstStyle/>
          <a:p>
            <a:pPr marL="575072" lvl="1" indent="-314325" defTabSz="607219">
              <a:buFont typeface="Wingdings" panose="05000000000000000000" pitchFamily="2" charset="2"/>
              <a:buAutoNum type="arabicPeriod"/>
            </a:pPr>
            <a:r>
              <a:rPr lang="en-US" altLang="en-US" sz="1800" dirty="0"/>
              <a:t>Planning</a:t>
            </a:r>
          </a:p>
          <a:p>
            <a:pPr marL="575072" lvl="1" indent="-314325" defTabSz="607219">
              <a:buFont typeface="Wingdings" panose="05000000000000000000" pitchFamily="2" charset="2"/>
              <a:buAutoNum type="arabicPeriod"/>
            </a:pPr>
            <a:r>
              <a:rPr lang="en-US" altLang="en-US" sz="1800" dirty="0"/>
              <a:t>Analysis</a:t>
            </a:r>
          </a:p>
          <a:p>
            <a:pPr marL="575072" lvl="1" indent="-314325" defTabSz="607219">
              <a:buFont typeface="Wingdings" panose="05000000000000000000" pitchFamily="2" charset="2"/>
              <a:buAutoNum type="arabicPeriod"/>
            </a:pPr>
            <a:r>
              <a:rPr lang="en-US" altLang="en-US" sz="1800" dirty="0"/>
              <a:t>Design</a:t>
            </a:r>
          </a:p>
          <a:p>
            <a:pPr marL="575072" lvl="1" indent="-314325" defTabSz="607219">
              <a:buFont typeface="Wingdings" panose="05000000000000000000" pitchFamily="2" charset="2"/>
              <a:buAutoNum type="arabicPeriod"/>
            </a:pPr>
            <a:r>
              <a:rPr lang="en-US" altLang="en-US" sz="1800" dirty="0"/>
              <a:t>Development</a:t>
            </a:r>
          </a:p>
          <a:p>
            <a:pPr marL="575072" lvl="1" indent="-314325" defTabSz="607219">
              <a:buFont typeface="Wingdings" panose="05000000000000000000" pitchFamily="2" charset="2"/>
              <a:buAutoNum type="arabicPeriod"/>
            </a:pPr>
            <a:r>
              <a:rPr lang="en-US" altLang="en-US" sz="1800" dirty="0"/>
              <a:t>Testing</a:t>
            </a:r>
          </a:p>
          <a:p>
            <a:pPr marL="575072" lvl="1" indent="-314325" defTabSz="607219">
              <a:buFont typeface="Wingdings" panose="05000000000000000000" pitchFamily="2" charset="2"/>
              <a:buAutoNum type="arabicPeriod"/>
            </a:pPr>
            <a:r>
              <a:rPr lang="en-US" altLang="en-US" sz="1800" dirty="0"/>
              <a:t>Implementation</a:t>
            </a:r>
          </a:p>
          <a:p>
            <a:pPr marL="575072" lvl="1" indent="-314325" defTabSz="607219">
              <a:buFont typeface="Wingdings" panose="05000000000000000000" pitchFamily="2" charset="2"/>
              <a:buAutoNum type="arabicPeriod"/>
            </a:pPr>
            <a:r>
              <a:rPr lang="en-US" altLang="en-US" sz="1800" dirty="0"/>
              <a:t>Maintenance </a:t>
            </a:r>
          </a:p>
        </p:txBody>
      </p:sp>
      <p:pic>
        <p:nvPicPr>
          <p:cNvPr id="4" name="Picture 5" descr="haa5223x_060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8677" y="1406768"/>
            <a:ext cx="5103272" cy="41089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85511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altLang="en-US" cap="none" dirty="0" smtClean="0"/>
              <a:t>Phase 1: Planning</a:t>
            </a:r>
            <a:endParaRPr lang="en-US" altLang="en-US" cap="none" dirty="0"/>
          </a:p>
        </p:txBody>
      </p:sp>
      <p:sp>
        <p:nvSpPr>
          <p:cNvPr id="29699" name="Rectangle 3"/>
          <p:cNvSpPr>
            <a:spLocks noGrp="1" noChangeArrowheads="1"/>
          </p:cNvSpPr>
          <p:nvPr>
            <p:ph idx="1"/>
          </p:nvPr>
        </p:nvSpPr>
        <p:spPr>
          <a:xfrm>
            <a:off x="634180" y="1652955"/>
            <a:ext cx="8099512" cy="3797728"/>
          </a:xfrm>
        </p:spPr>
        <p:txBody>
          <a:bodyPr>
            <a:noAutofit/>
          </a:bodyPr>
          <a:lstStyle/>
          <a:p>
            <a:pPr marL="0" indent="0" algn="just" defTabSz="607219">
              <a:buNone/>
            </a:pPr>
            <a:r>
              <a:rPr lang="en-US" altLang="en-US" sz="2400" b="1" i="1" dirty="0"/>
              <a:t>Planning phase</a:t>
            </a:r>
            <a:r>
              <a:rPr lang="en-US" altLang="en-US" sz="2400" dirty="0"/>
              <a:t> - involves determining a solid plan for developing your information system. The planning sometimes referred to as feasibility study involves the following tasks</a:t>
            </a:r>
          </a:p>
          <a:p>
            <a:pPr algn="just"/>
            <a:r>
              <a:rPr lang="en-US" sz="2400" dirty="0"/>
              <a:t>Define the problem and scope of existing system.</a:t>
            </a:r>
          </a:p>
          <a:p>
            <a:pPr algn="just"/>
            <a:r>
              <a:rPr lang="en-US" sz="2400" dirty="0" smtClean="0"/>
              <a:t>Overview of the </a:t>
            </a:r>
            <a:r>
              <a:rPr lang="en-US" sz="2400" dirty="0"/>
              <a:t>new system and determine its objectives.</a:t>
            </a:r>
          </a:p>
          <a:p>
            <a:pPr algn="just"/>
            <a:r>
              <a:rPr lang="en-US" sz="2400" dirty="0"/>
              <a:t>Confirm project feasibility and produce the project Schedule.</a:t>
            </a:r>
          </a:p>
          <a:p>
            <a:pPr algn="just"/>
            <a:r>
              <a:rPr lang="en-US" sz="2400" dirty="0"/>
              <a:t>During this phase, threats, constraints, integration and security of system are also considered.</a:t>
            </a:r>
          </a:p>
          <a:p>
            <a:pPr algn="just"/>
            <a:r>
              <a:rPr lang="en-US" sz="2400" dirty="0"/>
              <a:t>A feasibility report for the entire project is created at the end of this phase.</a:t>
            </a:r>
          </a:p>
          <a:p>
            <a:pPr marL="0" indent="0" algn="just" defTabSz="607219">
              <a:buNone/>
            </a:pPr>
            <a:r>
              <a:rPr lang="en-US" altLang="en-US" sz="2400" dirty="0"/>
              <a:t> </a:t>
            </a:r>
          </a:p>
        </p:txBody>
      </p:sp>
    </p:spTree>
    <p:extLst>
      <p:ext uri="{BB962C8B-B14F-4D97-AF65-F5344CB8AC3E}">
        <p14:creationId xmlns:p14="http://schemas.microsoft.com/office/powerpoint/2010/main" val="143131104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787638" y="999499"/>
            <a:ext cx="7543800" cy="713159"/>
          </a:xfrm>
        </p:spPr>
        <p:txBody>
          <a:bodyPr>
            <a:normAutofit/>
          </a:bodyPr>
          <a:lstStyle/>
          <a:p>
            <a:r>
              <a:rPr lang="en-US" altLang="en-US" cap="none" dirty="0" smtClean="0"/>
              <a:t>Phase 1: Planning</a:t>
            </a:r>
            <a:endParaRPr lang="en-US" altLang="en-US" cap="none" dirty="0"/>
          </a:p>
        </p:txBody>
      </p:sp>
      <p:sp>
        <p:nvSpPr>
          <p:cNvPr id="30723" name="Rectangle 3"/>
          <p:cNvSpPr>
            <a:spLocks noGrp="1" noChangeArrowheads="1"/>
          </p:cNvSpPr>
          <p:nvPr>
            <p:ph idx="1"/>
          </p:nvPr>
        </p:nvSpPr>
        <p:spPr>
          <a:xfrm>
            <a:off x="787638" y="2054821"/>
            <a:ext cx="7543800" cy="3907067"/>
          </a:xfrm>
        </p:spPr>
        <p:txBody>
          <a:bodyPr>
            <a:noAutofit/>
          </a:bodyPr>
          <a:lstStyle/>
          <a:p>
            <a:pPr marL="0" indent="0" algn="just" defTabSz="607219">
              <a:buNone/>
            </a:pPr>
            <a:r>
              <a:rPr lang="en-US" altLang="en-US" dirty="0" smtClean="0"/>
              <a:t>There are three </a:t>
            </a:r>
            <a:r>
              <a:rPr lang="en-US" altLang="en-US" dirty="0"/>
              <a:t>primary planning activities:</a:t>
            </a:r>
          </a:p>
          <a:p>
            <a:pPr marL="575072" lvl="1" indent="-314325" algn="just" defTabSz="607219">
              <a:buFont typeface="Wingdings" panose="05000000000000000000" pitchFamily="2" charset="2"/>
              <a:buAutoNum type="arabicPeriod"/>
            </a:pPr>
            <a:r>
              <a:rPr lang="en-US" altLang="en-US" sz="2000" dirty="0"/>
              <a:t>Define the system to be developed</a:t>
            </a:r>
          </a:p>
          <a:p>
            <a:pPr marL="797719" lvl="2" indent="-285750" algn="just" defTabSz="607219"/>
            <a:r>
              <a:rPr lang="en-US" altLang="en-US" sz="2000" b="1" i="1" dirty="0"/>
              <a:t>Critical success factor (CSF)</a:t>
            </a:r>
            <a:r>
              <a:rPr lang="en-US" altLang="en-US" sz="2000" dirty="0"/>
              <a:t> - a factor simply critical to your organization’s success </a:t>
            </a:r>
          </a:p>
          <a:p>
            <a:pPr marL="575072" lvl="1" indent="-314325" algn="just" defTabSz="607219">
              <a:buFont typeface="Wingdings" panose="05000000000000000000" pitchFamily="2" charset="2"/>
              <a:buAutoNum type="arabicPeriod" startAt="2"/>
            </a:pPr>
            <a:r>
              <a:rPr lang="en-US" altLang="en-US" sz="2400" dirty="0"/>
              <a:t>Set the project scope</a:t>
            </a:r>
            <a:endParaRPr lang="en-US" altLang="en-US" sz="2400" b="1" i="1" dirty="0"/>
          </a:p>
          <a:p>
            <a:pPr marL="797719" lvl="2" indent="-285750" algn="just" defTabSz="607219"/>
            <a:r>
              <a:rPr lang="en-US" altLang="en-US" sz="2000" b="1" i="1" dirty="0"/>
              <a:t>Project scope - </a:t>
            </a:r>
            <a:r>
              <a:rPr lang="en-US" altLang="en-US" sz="2000" dirty="0"/>
              <a:t>clearly defines the high-level system requirements </a:t>
            </a:r>
            <a:endParaRPr lang="en-US" altLang="en-US" sz="2000" b="1" i="1" dirty="0"/>
          </a:p>
          <a:p>
            <a:pPr marL="797719" lvl="2" indent="-285750" algn="just" defTabSz="607219"/>
            <a:r>
              <a:rPr lang="en-US" altLang="en-US" sz="2000" b="1" i="1" dirty="0"/>
              <a:t>Scope creep -</a:t>
            </a:r>
            <a:r>
              <a:rPr lang="en-US" altLang="en-US" sz="2000" dirty="0"/>
              <a:t> occurs when the scope of the project increases</a:t>
            </a:r>
            <a:endParaRPr lang="en-US" altLang="en-US" sz="2000" b="1" i="1" dirty="0"/>
          </a:p>
          <a:p>
            <a:pPr marL="797719" lvl="2" indent="-285750" algn="just" defTabSz="607219"/>
            <a:r>
              <a:rPr lang="en-US" altLang="en-US" sz="2000" b="1" i="1" dirty="0"/>
              <a:t>Feature creep - </a:t>
            </a:r>
            <a:r>
              <a:rPr lang="en-US" altLang="en-US" sz="2000" dirty="0"/>
              <a:t>occurs when developers add extra features that were not part of the initial requirements</a:t>
            </a:r>
            <a:endParaRPr lang="en-US" altLang="en-US" sz="2000" b="1" i="1" dirty="0"/>
          </a:p>
          <a:p>
            <a:pPr marL="797719" lvl="2" indent="-285750" algn="just" defTabSz="607219"/>
            <a:r>
              <a:rPr lang="en-US" altLang="en-US" sz="2000" b="1" i="1" dirty="0"/>
              <a:t>Project scope document - </a:t>
            </a:r>
            <a:r>
              <a:rPr lang="en-US" altLang="en-US" sz="2000" dirty="0"/>
              <a:t>a written definition of the project scope and is usually </a:t>
            </a:r>
            <a:r>
              <a:rPr lang="en-US" altLang="en-US" sz="2000" dirty="0" smtClean="0"/>
              <a:t>not </a:t>
            </a:r>
            <a:r>
              <a:rPr lang="en-US" altLang="en-US" sz="2000" dirty="0"/>
              <a:t>longer than a paragraph </a:t>
            </a:r>
          </a:p>
        </p:txBody>
      </p:sp>
    </p:spTree>
    <p:extLst>
      <p:ext uri="{BB962C8B-B14F-4D97-AF65-F5344CB8AC3E}">
        <p14:creationId xmlns:p14="http://schemas.microsoft.com/office/powerpoint/2010/main" val="371915813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678426" y="962628"/>
            <a:ext cx="7543800" cy="587797"/>
          </a:xfrm>
        </p:spPr>
        <p:txBody>
          <a:bodyPr>
            <a:normAutofit/>
          </a:bodyPr>
          <a:lstStyle/>
          <a:p>
            <a:r>
              <a:rPr lang="en-US" altLang="en-US" dirty="0"/>
              <a:t>Phase 1: Planning</a:t>
            </a:r>
          </a:p>
        </p:txBody>
      </p:sp>
      <p:sp>
        <p:nvSpPr>
          <p:cNvPr id="31747" name="Rectangle 3"/>
          <p:cNvSpPr>
            <a:spLocks noGrp="1" noChangeArrowheads="1"/>
          </p:cNvSpPr>
          <p:nvPr>
            <p:ph idx="1"/>
          </p:nvPr>
        </p:nvSpPr>
        <p:spPr>
          <a:xfrm>
            <a:off x="354575" y="1803401"/>
            <a:ext cx="8152115" cy="4514272"/>
          </a:xfrm>
        </p:spPr>
        <p:txBody>
          <a:bodyPr>
            <a:noAutofit/>
          </a:bodyPr>
          <a:lstStyle/>
          <a:p>
            <a:pPr marL="575072" lvl="1" indent="-314325" algn="just" defTabSz="607219">
              <a:buFont typeface="Wingdings" panose="05000000000000000000" pitchFamily="2" charset="2"/>
              <a:buAutoNum type="arabicPeriod" startAt="3"/>
            </a:pPr>
            <a:r>
              <a:rPr lang="en-US" altLang="en-US" sz="2400" dirty="0"/>
              <a:t>Develop the project plan including tasks, resources, and timeframes</a:t>
            </a:r>
            <a:endParaRPr lang="en-US" altLang="en-US" sz="2400" b="1" i="1" dirty="0"/>
          </a:p>
          <a:p>
            <a:pPr marL="797719" lvl="2" indent="-285750" algn="just" defTabSz="607219"/>
            <a:r>
              <a:rPr lang="en-US" altLang="en-US" sz="2400" b="1" i="1" dirty="0"/>
              <a:t>Project plan</a:t>
            </a:r>
            <a:r>
              <a:rPr lang="en-US" altLang="en-US" sz="2400" dirty="0"/>
              <a:t> - defines the what, when, and </a:t>
            </a:r>
            <a:r>
              <a:rPr lang="en-US" altLang="en-US" sz="2400" dirty="0" smtClean="0"/>
              <a:t>who, </a:t>
            </a:r>
            <a:r>
              <a:rPr lang="en-US" altLang="en-US" sz="2400" dirty="0"/>
              <a:t>questions of system development</a:t>
            </a:r>
            <a:endParaRPr lang="en-US" altLang="en-US" sz="2400" b="1" i="1" dirty="0"/>
          </a:p>
          <a:p>
            <a:pPr marL="797719" lvl="2" indent="-285750" algn="just" defTabSz="607219"/>
            <a:r>
              <a:rPr lang="en-US" altLang="en-US" sz="2400" b="1" i="1" dirty="0"/>
              <a:t>Project manager -</a:t>
            </a:r>
            <a:r>
              <a:rPr lang="en-US" altLang="en-US" sz="2400" dirty="0"/>
              <a:t> an individual who is an expert in project planning and management, defines and develops the project plan and tracks the plan to ensure all key project milestones are completed on time</a:t>
            </a:r>
            <a:endParaRPr lang="en-US" altLang="en-US" sz="2400" b="1" i="1" dirty="0"/>
          </a:p>
          <a:p>
            <a:pPr marL="797719" lvl="2" indent="-285750" algn="just" defTabSz="607219"/>
            <a:r>
              <a:rPr lang="en-US" altLang="en-US" sz="2400" b="1" i="1" dirty="0"/>
              <a:t>Project milestones</a:t>
            </a:r>
            <a:r>
              <a:rPr lang="en-US" altLang="en-US" sz="2400" dirty="0"/>
              <a:t> - represent key dates for which you need a certain group of </a:t>
            </a:r>
            <a:r>
              <a:rPr lang="en-US" altLang="en-US" sz="2400" dirty="0" smtClean="0"/>
              <a:t>activities should be </a:t>
            </a:r>
            <a:r>
              <a:rPr lang="en-US" altLang="en-US" sz="2400" dirty="0"/>
              <a:t>performed </a:t>
            </a:r>
          </a:p>
        </p:txBody>
      </p:sp>
    </p:spTree>
    <p:extLst>
      <p:ext uri="{BB962C8B-B14F-4D97-AF65-F5344CB8AC3E}">
        <p14:creationId xmlns:p14="http://schemas.microsoft.com/office/powerpoint/2010/main" val="39921121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736018" y="232772"/>
            <a:ext cx="7543800" cy="757403"/>
          </a:xfrm>
        </p:spPr>
        <p:txBody>
          <a:bodyPr>
            <a:normAutofit/>
          </a:bodyPr>
          <a:lstStyle/>
          <a:p>
            <a:r>
              <a:rPr lang="en-US" altLang="en-US" dirty="0"/>
              <a:t>Phase 2: Analysis</a:t>
            </a:r>
          </a:p>
        </p:txBody>
      </p:sp>
      <p:sp>
        <p:nvSpPr>
          <p:cNvPr id="33795" name="Rectangle 3"/>
          <p:cNvSpPr>
            <a:spLocks noGrp="1" noChangeArrowheads="1"/>
          </p:cNvSpPr>
          <p:nvPr>
            <p:ph idx="1"/>
          </p:nvPr>
        </p:nvSpPr>
        <p:spPr>
          <a:xfrm>
            <a:off x="736018" y="1216904"/>
            <a:ext cx="7992346" cy="5285496"/>
          </a:xfrm>
        </p:spPr>
        <p:txBody>
          <a:bodyPr>
            <a:noAutofit/>
          </a:bodyPr>
          <a:lstStyle/>
          <a:p>
            <a:pPr algn="just"/>
            <a:r>
              <a:rPr lang="en-US" altLang="en-US" sz="2400" b="1" i="1" dirty="0"/>
              <a:t>Analysis phase - </a:t>
            </a:r>
            <a:r>
              <a:rPr lang="en-US" altLang="en-US" sz="2400" dirty="0"/>
              <a:t>involves end users and IT specialists working together to gather, understand, and document the business requirements for the proposed system </a:t>
            </a:r>
          </a:p>
          <a:p>
            <a:pPr marL="0" indent="0" algn="just">
              <a:buNone/>
            </a:pPr>
            <a:r>
              <a:rPr lang="en-US" sz="2400" b="1" dirty="0"/>
              <a:t>This phase involves the following tasks</a:t>
            </a:r>
          </a:p>
          <a:p>
            <a:pPr algn="just"/>
            <a:r>
              <a:rPr lang="en-US" sz="2400" dirty="0"/>
              <a:t>Gather, analyze, and validate the information.</a:t>
            </a:r>
          </a:p>
          <a:p>
            <a:pPr algn="just"/>
            <a:r>
              <a:rPr lang="en-US" sz="2400" dirty="0"/>
              <a:t>Define the requirements and prototypes for new system.</a:t>
            </a:r>
          </a:p>
          <a:p>
            <a:pPr algn="just"/>
            <a:r>
              <a:rPr lang="en-US" sz="2400" dirty="0"/>
              <a:t>Evaluate the alternatives and prioritize the requirements.</a:t>
            </a:r>
          </a:p>
          <a:p>
            <a:pPr algn="just"/>
            <a:r>
              <a:rPr lang="en-US" sz="2400" dirty="0"/>
              <a:t>Examine the information needs of end-user and enhances the system goal.</a:t>
            </a:r>
          </a:p>
          <a:p>
            <a:pPr algn="just"/>
            <a:r>
              <a:rPr lang="en-US" sz="2400" dirty="0"/>
              <a:t>A Software Requirement Specification (SRS) document, which specifies the software, hardware, functional, and network requirements of the system is prepared at the end of this phase</a:t>
            </a:r>
          </a:p>
          <a:p>
            <a:pPr algn="just"/>
            <a:endParaRPr lang="en-US" altLang="en-US" sz="2400" dirty="0"/>
          </a:p>
        </p:txBody>
      </p:sp>
    </p:spTree>
    <p:extLst>
      <p:ext uri="{BB962C8B-B14F-4D97-AF65-F5344CB8AC3E}">
        <p14:creationId xmlns:p14="http://schemas.microsoft.com/office/powerpoint/2010/main" val="5938493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802386" y="388387"/>
            <a:ext cx="7543800" cy="709676"/>
          </a:xfrm>
        </p:spPr>
        <p:txBody>
          <a:bodyPr>
            <a:normAutofit/>
          </a:bodyPr>
          <a:lstStyle/>
          <a:p>
            <a:r>
              <a:rPr lang="en-US" altLang="en-US" sz="4000" cap="none" dirty="0" smtClean="0"/>
              <a:t>Phase 2: Analysis</a:t>
            </a:r>
            <a:endParaRPr lang="en-US" altLang="en-US" sz="4000" cap="none" dirty="0"/>
          </a:p>
        </p:txBody>
      </p:sp>
      <p:sp>
        <p:nvSpPr>
          <p:cNvPr id="34819" name="Rectangle 3"/>
          <p:cNvSpPr>
            <a:spLocks noGrp="1" noChangeArrowheads="1"/>
          </p:cNvSpPr>
          <p:nvPr>
            <p:ph idx="1"/>
          </p:nvPr>
        </p:nvSpPr>
        <p:spPr>
          <a:xfrm>
            <a:off x="602771" y="1459344"/>
            <a:ext cx="7943030" cy="4932220"/>
          </a:xfrm>
        </p:spPr>
        <p:txBody>
          <a:bodyPr>
            <a:noAutofit/>
          </a:bodyPr>
          <a:lstStyle/>
          <a:p>
            <a:pPr marL="342900" indent="-342900" algn="just" defTabSz="607219"/>
            <a:r>
              <a:rPr lang="en-US" altLang="en-US" sz="2400" dirty="0"/>
              <a:t>Two primary analysis activities:</a:t>
            </a:r>
          </a:p>
          <a:p>
            <a:pPr marL="575072" lvl="1" indent="-314325" algn="just" defTabSz="607219">
              <a:buFont typeface="Wingdings" panose="05000000000000000000" pitchFamily="2" charset="2"/>
              <a:buAutoNum type="arabicPeriod"/>
            </a:pPr>
            <a:r>
              <a:rPr lang="en-US" altLang="en-US" sz="2400" dirty="0"/>
              <a:t>Gather the business requirements</a:t>
            </a:r>
          </a:p>
          <a:p>
            <a:pPr marL="797719" lvl="2" indent="-285750" algn="just" defTabSz="607219"/>
            <a:r>
              <a:rPr lang="en-US" altLang="en-US" sz="2400" b="1" i="1" dirty="0"/>
              <a:t>Business requirements </a:t>
            </a:r>
            <a:r>
              <a:rPr lang="en-US" altLang="en-US" sz="2400" dirty="0"/>
              <a:t>- the detailed set of </a:t>
            </a:r>
            <a:r>
              <a:rPr lang="en-US" altLang="en-US" sz="2400" dirty="0" smtClean="0"/>
              <a:t>knowledge workers requests </a:t>
            </a:r>
            <a:r>
              <a:rPr lang="en-US" altLang="en-US" sz="2400" dirty="0"/>
              <a:t>that the system must meet in order to be successful</a:t>
            </a:r>
            <a:endParaRPr lang="en-US" altLang="en-US" sz="2400" b="1" i="1" dirty="0"/>
          </a:p>
          <a:p>
            <a:pPr marL="797719" lvl="2" indent="-285750" algn="just" defTabSz="607219"/>
            <a:r>
              <a:rPr lang="en-US" altLang="en-US" sz="2400" b="1" i="1" dirty="0"/>
              <a:t>Joint application development</a:t>
            </a:r>
            <a:r>
              <a:rPr lang="en-US" altLang="en-US" sz="2400" dirty="0"/>
              <a:t> (</a:t>
            </a:r>
            <a:r>
              <a:rPr lang="en-US" altLang="en-US" sz="2400" b="1" i="1" dirty="0"/>
              <a:t>JAD</a:t>
            </a:r>
            <a:r>
              <a:rPr lang="en-US" altLang="en-US" sz="2400" dirty="0"/>
              <a:t>) - knowledge workers and IT </a:t>
            </a:r>
            <a:r>
              <a:rPr lang="en-US" altLang="en-US" sz="2400" dirty="0" smtClean="0"/>
              <a:t>specialists, meet </a:t>
            </a:r>
            <a:r>
              <a:rPr lang="en-US" altLang="en-US" sz="2400" dirty="0"/>
              <a:t>sometimes for several days, to define or review the business requirements for the system </a:t>
            </a:r>
          </a:p>
          <a:p>
            <a:pPr marL="575072" lvl="1" indent="-314325" algn="just" defTabSz="607219">
              <a:buFont typeface="Wingdings" panose="05000000000000000000" pitchFamily="2" charset="2"/>
              <a:buAutoNum type="arabicPeriod" startAt="2"/>
            </a:pPr>
            <a:r>
              <a:rPr lang="en-US" altLang="en-US" sz="2400" dirty="0"/>
              <a:t>Prioritize the requirements</a:t>
            </a:r>
          </a:p>
          <a:p>
            <a:pPr marL="797719" lvl="2" indent="-285750" algn="just" defTabSz="607219"/>
            <a:r>
              <a:rPr lang="en-US" altLang="en-US" sz="2400" b="1" i="1" dirty="0"/>
              <a:t>Requirements definition document –</a:t>
            </a:r>
            <a:r>
              <a:rPr lang="en-US" altLang="en-US" sz="2400" dirty="0"/>
              <a:t> prioritizes the business requirements and places them in a formal comprehensive document </a:t>
            </a:r>
          </a:p>
          <a:p>
            <a:pPr marL="511969" lvl="2" indent="0" algn="just" defTabSz="607219">
              <a:buNone/>
            </a:pPr>
            <a:endParaRPr lang="en-US" altLang="en-US" sz="2400" dirty="0"/>
          </a:p>
        </p:txBody>
      </p:sp>
    </p:spTree>
    <p:extLst>
      <p:ext uri="{BB962C8B-B14F-4D97-AF65-F5344CB8AC3E}">
        <p14:creationId xmlns:p14="http://schemas.microsoft.com/office/powerpoint/2010/main" val="3837537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US" altLang="en-US" cap="none" dirty="0" smtClean="0"/>
              <a:t>Phase 3: Design</a:t>
            </a:r>
            <a:endParaRPr lang="en-US" altLang="en-US" cap="none" dirty="0"/>
          </a:p>
        </p:txBody>
      </p:sp>
      <p:sp>
        <p:nvSpPr>
          <p:cNvPr id="37891" name="Rectangle 3"/>
          <p:cNvSpPr>
            <a:spLocks noGrp="1" noChangeArrowheads="1"/>
          </p:cNvSpPr>
          <p:nvPr>
            <p:ph idx="1"/>
          </p:nvPr>
        </p:nvSpPr>
        <p:spPr>
          <a:xfrm>
            <a:off x="785446" y="1266093"/>
            <a:ext cx="7787054" cy="5070052"/>
          </a:xfrm>
        </p:spPr>
        <p:txBody>
          <a:bodyPr>
            <a:noAutofit/>
          </a:bodyPr>
          <a:lstStyle/>
          <a:p>
            <a:pPr marL="0" indent="0" algn="just" defTabSz="607219">
              <a:spcBef>
                <a:spcPts val="0"/>
              </a:spcBef>
              <a:buNone/>
            </a:pPr>
            <a:r>
              <a:rPr lang="en-US" altLang="en-US" sz="2400" b="1" i="1" dirty="0"/>
              <a:t>Design phase</a:t>
            </a:r>
            <a:r>
              <a:rPr lang="en-US" altLang="en-US" sz="2400" dirty="0"/>
              <a:t> - build a technical blueprint of how the proposed system will work </a:t>
            </a:r>
            <a:r>
              <a:rPr lang="en-US" altLang="en-US" sz="2400" dirty="0" smtClean="0"/>
              <a:t>.The following are important during design phase </a:t>
            </a:r>
          </a:p>
          <a:p>
            <a:pPr algn="just" defTabSz="607219">
              <a:spcBef>
                <a:spcPts val="0"/>
              </a:spcBef>
            </a:pPr>
            <a:r>
              <a:rPr lang="en-US" sz="2400" dirty="0" smtClean="0"/>
              <a:t>Includes </a:t>
            </a:r>
            <a:r>
              <a:rPr lang="en-US" sz="2400" dirty="0"/>
              <a:t>the design of application, network, databases, user interfaces, and system interfaces.</a:t>
            </a:r>
          </a:p>
          <a:p>
            <a:pPr algn="just">
              <a:spcBef>
                <a:spcPts val="0"/>
              </a:spcBef>
            </a:pPr>
            <a:r>
              <a:rPr lang="en-US" sz="2400" dirty="0"/>
              <a:t>Transform the SRS document into logical structure, which contains detailed and complete set of specifications that can be implemented in a programming language.</a:t>
            </a:r>
          </a:p>
          <a:p>
            <a:pPr algn="just">
              <a:spcBef>
                <a:spcPts val="0"/>
              </a:spcBef>
            </a:pPr>
            <a:r>
              <a:rPr lang="en-US" sz="2400" dirty="0"/>
              <a:t>Create a </a:t>
            </a:r>
            <a:r>
              <a:rPr lang="en-US" sz="2400" dirty="0" smtClean="0"/>
              <a:t>possibility, training</a:t>
            </a:r>
            <a:r>
              <a:rPr lang="en-US" sz="2400" dirty="0"/>
              <a:t>, maintenance, and operation plan.</a:t>
            </a:r>
          </a:p>
          <a:p>
            <a:pPr algn="just">
              <a:spcBef>
                <a:spcPts val="0"/>
              </a:spcBef>
            </a:pPr>
            <a:r>
              <a:rPr lang="en-US" sz="2400" dirty="0"/>
              <a:t>Review the proposed design. Ensure that the final design must meet the requirements stated in SRS document.</a:t>
            </a:r>
          </a:p>
          <a:p>
            <a:pPr algn="just">
              <a:spcBef>
                <a:spcPts val="0"/>
              </a:spcBef>
            </a:pPr>
            <a:r>
              <a:rPr lang="en-US" sz="2400" dirty="0"/>
              <a:t>Finally, prepare a design document which will be used during next phases.</a:t>
            </a:r>
          </a:p>
          <a:p>
            <a:pPr marL="342900" indent="-342900" algn="just" defTabSz="607219">
              <a:spcBef>
                <a:spcPts val="0"/>
              </a:spcBef>
            </a:pPr>
            <a:endParaRPr lang="en-US" altLang="en-US" sz="2400" dirty="0"/>
          </a:p>
        </p:txBody>
      </p:sp>
    </p:spTree>
    <p:extLst>
      <p:ext uri="{BB962C8B-B14F-4D97-AF65-F5344CB8AC3E}">
        <p14:creationId xmlns:p14="http://schemas.microsoft.com/office/powerpoint/2010/main" val="24704207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742950" y="261874"/>
            <a:ext cx="7543800" cy="836677"/>
          </a:xfrm>
        </p:spPr>
        <p:txBody>
          <a:bodyPr/>
          <a:lstStyle/>
          <a:p>
            <a:r>
              <a:rPr lang="en-US" altLang="en-US" cap="none" dirty="0" smtClean="0"/>
              <a:t>Phase 3: Design</a:t>
            </a:r>
            <a:endParaRPr lang="en-US" altLang="en-US" cap="none" dirty="0"/>
          </a:p>
        </p:txBody>
      </p:sp>
      <p:sp>
        <p:nvSpPr>
          <p:cNvPr id="38915" name="Rectangle 3"/>
          <p:cNvSpPr>
            <a:spLocks noGrp="1" noChangeArrowheads="1"/>
          </p:cNvSpPr>
          <p:nvPr>
            <p:ph idx="1"/>
          </p:nvPr>
        </p:nvSpPr>
        <p:spPr>
          <a:xfrm>
            <a:off x="339969" y="1098551"/>
            <a:ext cx="8639908" cy="3393281"/>
          </a:xfrm>
        </p:spPr>
        <p:txBody>
          <a:bodyPr>
            <a:noAutofit/>
          </a:bodyPr>
          <a:lstStyle/>
          <a:p>
            <a:pPr marL="342900" indent="-342900" algn="just" defTabSz="607219"/>
            <a:r>
              <a:rPr lang="en-US" altLang="en-US" sz="2400" dirty="0"/>
              <a:t>Two primary design activities:</a:t>
            </a:r>
          </a:p>
          <a:p>
            <a:pPr marL="575072" lvl="1" indent="-314325" algn="just" defTabSz="607219">
              <a:buFont typeface="Wingdings" panose="05000000000000000000" pitchFamily="2" charset="2"/>
              <a:buAutoNum type="arabicPeriod"/>
            </a:pPr>
            <a:r>
              <a:rPr lang="en-US" altLang="en-US" sz="2400" dirty="0"/>
              <a:t>Design the technical architecture </a:t>
            </a:r>
            <a:endParaRPr lang="en-US" altLang="en-US" sz="2400" b="1" i="1" dirty="0"/>
          </a:p>
          <a:p>
            <a:pPr marL="797719" lvl="2" indent="-285750" algn="just" defTabSz="607219"/>
            <a:r>
              <a:rPr lang="en-US" altLang="en-US" sz="2400" b="1" i="1" dirty="0"/>
              <a:t>Technical architecture - </a:t>
            </a:r>
            <a:r>
              <a:rPr lang="en-US" altLang="en-US" sz="2400" dirty="0"/>
              <a:t>defines the hardware, software, and telecommunications equipment required to run the system </a:t>
            </a:r>
          </a:p>
          <a:p>
            <a:pPr marL="575072" lvl="1" indent="-314325" algn="just" defTabSz="607219">
              <a:buFont typeface="Wingdings" panose="05000000000000000000" pitchFamily="2" charset="2"/>
              <a:buAutoNum type="arabicPeriod" startAt="2"/>
            </a:pPr>
            <a:r>
              <a:rPr lang="en-US" altLang="en-US" sz="2400" dirty="0" smtClean="0"/>
              <a:t>Design </a:t>
            </a:r>
            <a:r>
              <a:rPr lang="en-US" altLang="en-US" sz="2400" dirty="0"/>
              <a:t>system models</a:t>
            </a:r>
            <a:endParaRPr lang="en-US" altLang="en-US" sz="2400" b="1" i="1" dirty="0"/>
          </a:p>
          <a:p>
            <a:pPr marL="797719" lvl="2" indent="-285750" algn="just" defTabSz="607219"/>
            <a:r>
              <a:rPr lang="en-US" altLang="en-US" sz="2400" b="1" i="1" dirty="0"/>
              <a:t>Modeling </a:t>
            </a:r>
            <a:r>
              <a:rPr lang="en-US" altLang="en-US" sz="2400" dirty="0"/>
              <a:t>- the activity of drawing a graphical representation of a design</a:t>
            </a:r>
            <a:endParaRPr lang="en-US" altLang="en-US" sz="2400" b="1" i="1" dirty="0"/>
          </a:p>
          <a:p>
            <a:pPr marL="797719" lvl="2" indent="-285750" algn="just" defTabSz="607219"/>
            <a:r>
              <a:rPr lang="en-US" altLang="en-US" sz="2400" b="1" i="1" dirty="0"/>
              <a:t>Graphical user interface (GUI) </a:t>
            </a:r>
            <a:r>
              <a:rPr lang="en-US" altLang="en-US" sz="2400" dirty="0"/>
              <a:t>- the interface to an information system  </a:t>
            </a:r>
            <a:endParaRPr lang="en-US" altLang="en-US" sz="2400" b="1" i="1" dirty="0"/>
          </a:p>
          <a:p>
            <a:pPr marL="797719" lvl="2" indent="-285750" algn="just" defTabSz="607219"/>
            <a:r>
              <a:rPr lang="en-US" altLang="en-US" sz="2400" b="1" i="1" dirty="0"/>
              <a:t>GUI screen design</a:t>
            </a:r>
            <a:r>
              <a:rPr lang="en-US" altLang="en-US" sz="2400" dirty="0"/>
              <a:t> - the ability to model the information system screens for an entire system </a:t>
            </a:r>
          </a:p>
        </p:txBody>
      </p:sp>
    </p:spTree>
    <p:extLst>
      <p:ext uri="{BB962C8B-B14F-4D97-AF65-F5344CB8AC3E}">
        <p14:creationId xmlns:p14="http://schemas.microsoft.com/office/powerpoint/2010/main" val="12820430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normAutofit/>
          </a:bodyPr>
          <a:lstStyle/>
          <a:p>
            <a:r>
              <a:rPr lang="en-US" altLang="en-US" sz="4000" cap="none" dirty="0" smtClean="0"/>
              <a:t>Phase 4: Development</a:t>
            </a:r>
            <a:endParaRPr lang="en-US" altLang="en-US" sz="4000" cap="none" dirty="0"/>
          </a:p>
        </p:txBody>
      </p:sp>
      <p:sp>
        <p:nvSpPr>
          <p:cNvPr id="39939" name="Rectangle 3"/>
          <p:cNvSpPr>
            <a:spLocks noGrp="1" noChangeArrowheads="1"/>
          </p:cNvSpPr>
          <p:nvPr>
            <p:ph idx="1"/>
          </p:nvPr>
        </p:nvSpPr>
        <p:spPr>
          <a:xfrm>
            <a:off x="0" y="1512277"/>
            <a:ext cx="8815754" cy="4482123"/>
          </a:xfrm>
        </p:spPr>
        <p:txBody>
          <a:bodyPr>
            <a:noAutofit/>
          </a:bodyPr>
          <a:lstStyle/>
          <a:p>
            <a:pPr marL="342900" indent="-342900" algn="just" defTabSz="607219"/>
            <a:r>
              <a:rPr lang="en-US" altLang="en-US" sz="2800" b="1" i="1" dirty="0"/>
              <a:t>Development phase -</a:t>
            </a:r>
            <a:r>
              <a:rPr lang="en-US" altLang="en-US" sz="2800" dirty="0"/>
              <a:t> take all of your detailed design documents from the design phase and transform them into an actual system </a:t>
            </a:r>
          </a:p>
          <a:p>
            <a:pPr marL="342900" indent="-342900" algn="just" defTabSz="607219"/>
            <a:r>
              <a:rPr lang="en-US" altLang="en-US" sz="2800" dirty="0"/>
              <a:t>Two primary development activities:</a:t>
            </a:r>
          </a:p>
          <a:p>
            <a:pPr marL="575072" lvl="1" indent="-314325" algn="just" defTabSz="607219">
              <a:buFont typeface="Wingdings" panose="05000000000000000000" pitchFamily="2" charset="2"/>
              <a:buAutoNum type="arabicPeriod"/>
            </a:pPr>
            <a:r>
              <a:rPr lang="en-US" altLang="en-US" dirty="0"/>
              <a:t>Build the technical architecture</a:t>
            </a:r>
          </a:p>
          <a:p>
            <a:pPr marL="575072" lvl="1" indent="-314325" algn="just" defTabSz="607219">
              <a:buFont typeface="Wingdings" panose="05000000000000000000" pitchFamily="2" charset="2"/>
              <a:buAutoNum type="arabicPeriod"/>
            </a:pPr>
            <a:r>
              <a:rPr lang="en-US" altLang="en-US" dirty="0"/>
              <a:t>Build the database and programs </a:t>
            </a:r>
          </a:p>
          <a:p>
            <a:pPr marL="797719" lvl="2" indent="-285750" algn="just" defTabSz="607219"/>
            <a:r>
              <a:rPr lang="en-US" altLang="en-US" sz="1800" dirty="0"/>
              <a:t>Both of these activities are mostly performed by IT specialists</a:t>
            </a:r>
          </a:p>
        </p:txBody>
      </p:sp>
    </p:spTree>
    <p:extLst>
      <p:ext uri="{BB962C8B-B14F-4D97-AF65-F5344CB8AC3E}">
        <p14:creationId xmlns:p14="http://schemas.microsoft.com/office/powerpoint/2010/main" val="34861777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normAutofit/>
          </a:bodyPr>
          <a:lstStyle/>
          <a:p>
            <a:r>
              <a:rPr lang="en-US" altLang="en-US" sz="4400" cap="none" dirty="0" smtClean="0"/>
              <a:t>Phase 5: Testing</a:t>
            </a:r>
            <a:endParaRPr lang="en-US" altLang="en-US" sz="4400" cap="none" dirty="0"/>
          </a:p>
        </p:txBody>
      </p:sp>
      <p:sp>
        <p:nvSpPr>
          <p:cNvPr id="40963" name="Rectangle 3"/>
          <p:cNvSpPr>
            <a:spLocks noGrp="1" noChangeArrowheads="1"/>
          </p:cNvSpPr>
          <p:nvPr>
            <p:ph idx="1"/>
          </p:nvPr>
        </p:nvSpPr>
        <p:spPr>
          <a:xfrm>
            <a:off x="938758" y="1348155"/>
            <a:ext cx="7748041" cy="4197778"/>
          </a:xfrm>
        </p:spPr>
        <p:txBody>
          <a:bodyPr>
            <a:noAutofit/>
          </a:bodyPr>
          <a:lstStyle/>
          <a:p>
            <a:pPr marL="342900" indent="-342900" algn="just" defTabSz="607219"/>
            <a:r>
              <a:rPr lang="en-US" altLang="en-US" sz="2800" b="1" i="1" dirty="0"/>
              <a:t>Testing phase</a:t>
            </a:r>
            <a:r>
              <a:rPr lang="en-US" altLang="en-US" sz="2800" dirty="0"/>
              <a:t> - verifies that the system works and meets all of the business requirements defined in the analysis phase </a:t>
            </a:r>
          </a:p>
          <a:p>
            <a:pPr marL="342900" indent="-342900" algn="just" defTabSz="607219"/>
            <a:r>
              <a:rPr lang="en-US" altLang="en-US" sz="2800" dirty="0"/>
              <a:t>Two primary testing activities:</a:t>
            </a:r>
          </a:p>
          <a:p>
            <a:pPr marL="575072" lvl="1" indent="-314325" algn="just" defTabSz="607219">
              <a:buFont typeface="Wingdings" panose="05000000000000000000" pitchFamily="2" charset="2"/>
              <a:buAutoNum type="arabicPeriod"/>
            </a:pPr>
            <a:r>
              <a:rPr lang="en-US" altLang="en-US" sz="2800" dirty="0"/>
              <a:t>Write the test conditions</a:t>
            </a:r>
          </a:p>
          <a:p>
            <a:pPr marL="797719" lvl="2" indent="-285750" algn="just" defTabSz="607219"/>
            <a:r>
              <a:rPr lang="en-US" altLang="en-US" sz="2800" b="1" i="1" dirty="0"/>
              <a:t>Test conditions</a:t>
            </a:r>
            <a:r>
              <a:rPr lang="en-US" altLang="en-US" sz="2800" dirty="0"/>
              <a:t> - the detailed steps the system must perform along with the expected results of each step </a:t>
            </a:r>
          </a:p>
        </p:txBody>
      </p:sp>
    </p:spTree>
    <p:extLst>
      <p:ext uri="{BB962C8B-B14F-4D97-AF65-F5344CB8AC3E}">
        <p14:creationId xmlns:p14="http://schemas.microsoft.com/office/powerpoint/2010/main" val="34789555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US" altLang="en-US" cap="none" dirty="0" smtClean="0"/>
              <a:t>Phase 5: Testing</a:t>
            </a:r>
            <a:endParaRPr lang="en-US" altLang="en-US" cap="none" dirty="0"/>
          </a:p>
        </p:txBody>
      </p:sp>
      <p:sp>
        <p:nvSpPr>
          <p:cNvPr id="41987" name="Rectangle 3"/>
          <p:cNvSpPr>
            <a:spLocks noGrp="1" noChangeArrowheads="1"/>
          </p:cNvSpPr>
          <p:nvPr>
            <p:ph idx="1"/>
          </p:nvPr>
        </p:nvSpPr>
        <p:spPr>
          <a:xfrm>
            <a:off x="634998" y="1324708"/>
            <a:ext cx="7937501" cy="4911969"/>
          </a:xfrm>
        </p:spPr>
        <p:txBody>
          <a:bodyPr>
            <a:normAutofit/>
          </a:bodyPr>
          <a:lstStyle/>
          <a:p>
            <a:pPr marL="575072" lvl="1" indent="-314325" algn="just" defTabSz="607219">
              <a:buFont typeface="Wingdings" panose="05000000000000000000" pitchFamily="2" charset="2"/>
              <a:buAutoNum type="arabicPeriod" startAt="2"/>
            </a:pPr>
            <a:r>
              <a:rPr lang="en-US" altLang="en-US" sz="2400" dirty="0"/>
              <a:t>Perform the testing of the system</a:t>
            </a:r>
          </a:p>
          <a:p>
            <a:pPr marL="797719" lvl="2" indent="-285750" algn="just" defTabSz="607219"/>
            <a:r>
              <a:rPr lang="en-US" altLang="en-US" sz="2400" b="1" i="1" dirty="0"/>
              <a:t>Unit testing</a:t>
            </a:r>
            <a:r>
              <a:rPr lang="en-US" altLang="en-US" sz="2400" dirty="0"/>
              <a:t> – tests individual units of code</a:t>
            </a:r>
            <a:endParaRPr lang="en-US" altLang="en-US" sz="2400" b="1" i="1" dirty="0"/>
          </a:p>
          <a:p>
            <a:pPr marL="797719" lvl="2" indent="-285750" algn="just" defTabSz="607219"/>
            <a:r>
              <a:rPr lang="en-US" altLang="en-US" sz="2400" b="1" i="1" dirty="0"/>
              <a:t>System testing</a:t>
            </a:r>
            <a:r>
              <a:rPr lang="en-US" altLang="en-US" sz="2400" dirty="0"/>
              <a:t> – verifies that the units of code function correctly when integrated</a:t>
            </a:r>
            <a:endParaRPr lang="en-US" altLang="en-US" sz="2400" b="1" i="1" dirty="0"/>
          </a:p>
          <a:p>
            <a:pPr marL="797719" lvl="2" indent="-285750" algn="just" defTabSz="607219"/>
            <a:r>
              <a:rPr lang="en-US" altLang="en-US" sz="2400" b="1" i="1" dirty="0"/>
              <a:t>Integration testing</a:t>
            </a:r>
            <a:r>
              <a:rPr lang="en-US" altLang="en-US" sz="2400" dirty="0"/>
              <a:t> – verifies that separate systems work together</a:t>
            </a:r>
            <a:endParaRPr lang="en-US" altLang="en-US" sz="2400" b="1" i="1" dirty="0"/>
          </a:p>
          <a:p>
            <a:pPr marL="797719" lvl="2" indent="-285750" algn="just" defTabSz="607219"/>
            <a:r>
              <a:rPr lang="en-US" altLang="en-US" sz="2400" b="1" i="1" dirty="0"/>
              <a:t>User acceptance testing (UAT) </a:t>
            </a:r>
            <a:r>
              <a:rPr lang="en-US" altLang="en-US" sz="2400" dirty="0"/>
              <a:t>– determines if the system satisfies the business requirements </a:t>
            </a:r>
          </a:p>
        </p:txBody>
      </p:sp>
    </p:spTree>
    <p:extLst>
      <p:ext uri="{BB962C8B-B14F-4D97-AF65-F5344CB8AC3E}">
        <p14:creationId xmlns:p14="http://schemas.microsoft.com/office/powerpoint/2010/main" val="16419334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632889" y="419160"/>
            <a:ext cx="7543800" cy="633476"/>
          </a:xfrm>
        </p:spPr>
        <p:txBody>
          <a:bodyPr>
            <a:normAutofit/>
          </a:bodyPr>
          <a:lstStyle/>
          <a:p>
            <a:r>
              <a:rPr lang="en-US" altLang="en-US" cap="none" dirty="0" smtClean="0"/>
              <a:t>Phase 6: Implementation</a:t>
            </a:r>
            <a:endParaRPr lang="en-US" altLang="en-US" cap="none" dirty="0"/>
          </a:p>
        </p:txBody>
      </p:sp>
      <p:sp>
        <p:nvSpPr>
          <p:cNvPr id="43011" name="Rectangle 3"/>
          <p:cNvSpPr>
            <a:spLocks noGrp="1" noChangeArrowheads="1"/>
          </p:cNvSpPr>
          <p:nvPr>
            <p:ph idx="1"/>
          </p:nvPr>
        </p:nvSpPr>
        <p:spPr>
          <a:xfrm>
            <a:off x="632889" y="1052636"/>
            <a:ext cx="7999047" cy="5686491"/>
          </a:xfrm>
        </p:spPr>
        <p:txBody>
          <a:bodyPr>
            <a:noAutofit/>
          </a:bodyPr>
          <a:lstStyle/>
          <a:p>
            <a:pPr marL="0" indent="0" algn="just" defTabSz="607219">
              <a:buNone/>
            </a:pPr>
            <a:r>
              <a:rPr lang="en-US" altLang="en-US" sz="2400" b="1" i="1" dirty="0"/>
              <a:t>Implementation phase - </a:t>
            </a:r>
            <a:r>
              <a:rPr lang="en-US" altLang="en-US" sz="2400" dirty="0"/>
              <a:t>distribute the system to all </a:t>
            </a:r>
            <a:r>
              <a:rPr lang="en-US" altLang="en-US" sz="2400" dirty="0" smtClean="0"/>
              <a:t> </a:t>
            </a:r>
            <a:r>
              <a:rPr lang="en-US" altLang="en-US" sz="2400" dirty="0"/>
              <a:t>knowledge workers and they begin using the system to perform their everyday jobs </a:t>
            </a:r>
            <a:r>
              <a:rPr lang="en-US" altLang="en-US" sz="2400" dirty="0" smtClean="0"/>
              <a:t>. In </a:t>
            </a:r>
            <a:r>
              <a:rPr lang="en-US" altLang="en-US" sz="2400" dirty="0"/>
              <a:t>t</a:t>
            </a:r>
            <a:r>
              <a:rPr lang="en-US" altLang="en-US" sz="2400" dirty="0" smtClean="0"/>
              <a:t>his phase the following tasks are done.</a:t>
            </a:r>
          </a:p>
          <a:p>
            <a:pPr marL="0" indent="0" algn="just" eaLnBrk="0" fontAlgn="base" hangingPunct="0">
              <a:lnSpc>
                <a:spcPct val="100000"/>
              </a:lnSpc>
              <a:spcBef>
                <a:spcPct val="0"/>
              </a:spcBef>
              <a:spcAft>
                <a:spcPct val="0"/>
              </a:spcAft>
              <a:buClrTx/>
              <a:buFontTx/>
              <a:buChar char="•"/>
            </a:pPr>
            <a:r>
              <a:rPr lang="en-US" altLang="en-US" sz="2400" dirty="0">
                <a:latin typeface="Arial" panose="020B0604020202020204" pitchFamily="34" charset="0"/>
              </a:rPr>
              <a:t>Implement the design into source code through coding.</a:t>
            </a:r>
          </a:p>
          <a:p>
            <a:pPr marL="0" indent="0" algn="just" eaLnBrk="0" fontAlgn="base" hangingPunct="0">
              <a:lnSpc>
                <a:spcPct val="100000"/>
              </a:lnSpc>
              <a:spcBef>
                <a:spcPct val="0"/>
              </a:spcBef>
              <a:spcAft>
                <a:spcPct val="0"/>
              </a:spcAft>
              <a:buClrTx/>
              <a:buFontTx/>
              <a:buChar char="•"/>
            </a:pPr>
            <a:r>
              <a:rPr lang="en-US" altLang="en-US" sz="2400" dirty="0">
                <a:latin typeface="Arial" panose="020B0604020202020204" pitchFamily="34" charset="0"/>
              </a:rPr>
              <a:t>Combine all the modules together into training environment that detects errors and defects.</a:t>
            </a:r>
          </a:p>
          <a:p>
            <a:pPr marL="0" indent="0" algn="just" eaLnBrk="0" fontAlgn="base" hangingPunct="0">
              <a:lnSpc>
                <a:spcPct val="100000"/>
              </a:lnSpc>
              <a:spcBef>
                <a:spcPct val="0"/>
              </a:spcBef>
              <a:spcAft>
                <a:spcPct val="0"/>
              </a:spcAft>
              <a:buClrTx/>
              <a:buFontTx/>
              <a:buChar char="•"/>
            </a:pPr>
            <a:r>
              <a:rPr lang="en-US" altLang="en-US" sz="2400" dirty="0">
                <a:latin typeface="Arial" panose="020B0604020202020204" pitchFamily="34" charset="0"/>
              </a:rPr>
              <a:t>A test report which contains errors is prepared through test plan that includes test related tasks such as test case generation, testing criteria, and resource allocation for testing.</a:t>
            </a:r>
          </a:p>
          <a:p>
            <a:pPr marL="0" indent="0" algn="just" eaLnBrk="0" fontAlgn="base" hangingPunct="0">
              <a:lnSpc>
                <a:spcPct val="100000"/>
              </a:lnSpc>
              <a:spcBef>
                <a:spcPct val="0"/>
              </a:spcBef>
              <a:spcAft>
                <a:spcPct val="0"/>
              </a:spcAft>
              <a:buClrTx/>
              <a:buFontTx/>
              <a:buChar char="•"/>
            </a:pPr>
            <a:r>
              <a:rPr lang="en-US" altLang="en-US" sz="2400" dirty="0">
                <a:latin typeface="Arial" panose="020B0604020202020204" pitchFamily="34" charset="0"/>
              </a:rPr>
              <a:t>Integrate the information system into its environment and install the new </a:t>
            </a:r>
            <a:r>
              <a:rPr lang="en-US" altLang="en-US" sz="2400" dirty="0" smtClean="0">
                <a:latin typeface="Arial" panose="020B0604020202020204" pitchFamily="34" charset="0"/>
              </a:rPr>
              <a:t>system</a:t>
            </a:r>
            <a:endParaRPr lang="en-US" altLang="en-US" sz="2400" dirty="0">
              <a:latin typeface="Arial" panose="020B0604020202020204" pitchFamily="34" charset="0"/>
            </a:endParaRPr>
          </a:p>
        </p:txBody>
      </p:sp>
    </p:spTree>
    <p:extLst>
      <p:ext uri="{BB962C8B-B14F-4D97-AF65-F5344CB8AC3E}">
        <p14:creationId xmlns:p14="http://schemas.microsoft.com/office/powerpoint/2010/main" val="11191442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895683" y="388387"/>
            <a:ext cx="7543800" cy="709676"/>
          </a:xfrm>
        </p:spPr>
        <p:txBody>
          <a:bodyPr>
            <a:normAutofit/>
          </a:bodyPr>
          <a:lstStyle/>
          <a:p>
            <a:r>
              <a:rPr lang="en-US" altLang="en-US" cap="none" dirty="0" smtClean="0"/>
              <a:t>Phase 6: Implementation</a:t>
            </a:r>
            <a:endParaRPr lang="en-US" altLang="en-US" cap="none" dirty="0"/>
          </a:p>
        </p:txBody>
      </p:sp>
      <p:sp>
        <p:nvSpPr>
          <p:cNvPr id="44035" name="Rectangle 3"/>
          <p:cNvSpPr>
            <a:spLocks noGrp="1" noChangeArrowheads="1"/>
          </p:cNvSpPr>
          <p:nvPr>
            <p:ph idx="1"/>
          </p:nvPr>
        </p:nvSpPr>
        <p:spPr>
          <a:xfrm>
            <a:off x="644769" y="1401397"/>
            <a:ext cx="7794714" cy="3393281"/>
          </a:xfrm>
        </p:spPr>
        <p:txBody>
          <a:bodyPr>
            <a:noAutofit/>
          </a:bodyPr>
          <a:lstStyle/>
          <a:p>
            <a:pPr marL="342900" indent="-342900" algn="just" defTabSz="607219"/>
            <a:r>
              <a:rPr lang="en-US" altLang="en-US" sz="2800" dirty="0"/>
              <a:t>Two primary implementation activities</a:t>
            </a:r>
          </a:p>
          <a:p>
            <a:pPr marL="575072" lvl="1" indent="-314325" algn="just" defTabSz="607219">
              <a:buFont typeface="Wingdings" panose="05000000000000000000" pitchFamily="2" charset="2"/>
              <a:buAutoNum type="arabicPeriod"/>
            </a:pPr>
            <a:r>
              <a:rPr lang="en-US" altLang="en-US" sz="2800" dirty="0"/>
              <a:t>Write detailed user documentation</a:t>
            </a:r>
          </a:p>
          <a:p>
            <a:pPr marL="797719" lvl="2" indent="-285750" algn="just" defTabSz="607219"/>
            <a:r>
              <a:rPr lang="en-US" altLang="en-US" sz="2800" b="1" i="1" dirty="0"/>
              <a:t>User documentation</a:t>
            </a:r>
            <a:r>
              <a:rPr lang="en-US" altLang="en-US" sz="2800" dirty="0"/>
              <a:t> - highlights how to use the system </a:t>
            </a:r>
          </a:p>
          <a:p>
            <a:pPr marL="575072" lvl="1" indent="-314325" algn="just" defTabSz="607219">
              <a:buFont typeface="Wingdings" panose="05000000000000000000" pitchFamily="2" charset="2"/>
              <a:buAutoNum type="arabicPeriod" startAt="2"/>
            </a:pPr>
            <a:r>
              <a:rPr lang="en-US" altLang="en-US" sz="2800" dirty="0"/>
              <a:t>Provide training for the system users</a:t>
            </a:r>
          </a:p>
          <a:p>
            <a:pPr marL="797719" lvl="2" indent="-285750" algn="just" defTabSz="607219"/>
            <a:r>
              <a:rPr lang="en-US" altLang="en-US" sz="2800" b="1" i="1" dirty="0"/>
              <a:t>Online training</a:t>
            </a:r>
            <a:r>
              <a:rPr lang="en-US" altLang="en-US" sz="2800" dirty="0"/>
              <a:t> - runs over the </a:t>
            </a:r>
            <a:r>
              <a:rPr lang="en-US" altLang="en-US" sz="2800" dirty="0" smtClean="0"/>
              <a:t>Internet</a:t>
            </a:r>
            <a:endParaRPr lang="en-US" altLang="en-US" sz="2800" b="1" i="1" dirty="0"/>
          </a:p>
          <a:p>
            <a:pPr marL="797719" lvl="2" indent="-285750" algn="just" defTabSz="607219"/>
            <a:r>
              <a:rPr lang="en-US" altLang="en-US" sz="2800" b="1" i="1" dirty="0"/>
              <a:t>Workshop training - </a:t>
            </a:r>
            <a:r>
              <a:rPr lang="en-US" altLang="en-US" sz="2800" dirty="0"/>
              <a:t>is held in a classroom environment and lead by an instructor </a:t>
            </a:r>
          </a:p>
        </p:txBody>
      </p:sp>
    </p:spTree>
    <p:extLst>
      <p:ext uri="{BB962C8B-B14F-4D97-AF65-F5344CB8AC3E}">
        <p14:creationId xmlns:p14="http://schemas.microsoft.com/office/powerpoint/2010/main" val="15593488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p:cNvSpPr>
          <p:nvPr>
            <p:ph idx="1"/>
          </p:nvPr>
        </p:nvSpPr>
        <p:spPr>
          <a:xfrm>
            <a:off x="406400" y="1600199"/>
            <a:ext cx="8251825" cy="5003801"/>
          </a:xfrm>
        </p:spPr>
        <p:txBody>
          <a:bodyPr lIns="92075" tIns="46038" rIns="92075" bIns="46038">
            <a:normAutofit/>
          </a:bodyPr>
          <a:lstStyle/>
          <a:p>
            <a:pPr lvl="1"/>
            <a:r>
              <a:rPr lang="en-US" altLang="en-US" sz="2000" dirty="0" smtClean="0"/>
              <a:t>Implementation method</a:t>
            </a:r>
          </a:p>
          <a:p>
            <a:pPr lvl="2"/>
            <a:r>
              <a:rPr lang="en-US" altLang="en-US" sz="2000" b="1" dirty="0" smtClean="0"/>
              <a:t>Parallel  </a:t>
            </a:r>
            <a:r>
              <a:rPr lang="en-US" altLang="en-US" sz="2000" dirty="0" smtClean="0"/>
              <a:t>-use </a:t>
            </a:r>
            <a:r>
              <a:rPr lang="en-US" altLang="en-US" sz="2000" dirty="0"/>
              <a:t>both the old and new system simultaneously</a:t>
            </a:r>
            <a:endParaRPr lang="en-US" altLang="en-US" sz="2000" b="1" i="1" dirty="0"/>
          </a:p>
          <a:p>
            <a:pPr lvl="2" eaLnBrk="1" hangingPunct="1">
              <a:lnSpc>
                <a:spcPct val="90000"/>
              </a:lnSpc>
            </a:pPr>
            <a:endParaRPr lang="en-US" altLang="en-US" sz="2000" dirty="0" smtClean="0"/>
          </a:p>
          <a:p>
            <a:pPr lvl="2"/>
            <a:r>
              <a:rPr lang="en-US" altLang="en-US" sz="2000" b="1" dirty="0" smtClean="0"/>
              <a:t>Direct     </a:t>
            </a:r>
            <a:r>
              <a:rPr lang="en-US" altLang="en-US" sz="2000" dirty="0" smtClean="0"/>
              <a:t>-</a:t>
            </a:r>
            <a:r>
              <a:rPr lang="en-US" altLang="en-US" sz="2000" dirty="0"/>
              <a:t>discard the old system completely and use the new </a:t>
            </a:r>
            <a:endParaRPr lang="en-US" altLang="en-US" sz="2000" b="1" i="1" dirty="0"/>
          </a:p>
          <a:p>
            <a:pPr marL="685800" lvl="2" indent="0" eaLnBrk="1" hangingPunct="1">
              <a:lnSpc>
                <a:spcPct val="90000"/>
              </a:lnSpc>
              <a:buNone/>
            </a:pPr>
            <a:endParaRPr lang="en-US" altLang="en-US" sz="2000" dirty="0" smtClean="0"/>
          </a:p>
          <a:p>
            <a:pPr lvl="2"/>
            <a:r>
              <a:rPr lang="en-US" altLang="en-US" sz="2000" b="1" dirty="0" smtClean="0"/>
              <a:t>Phased   </a:t>
            </a:r>
            <a:r>
              <a:rPr lang="en-US" altLang="en-US" sz="2000" dirty="0" smtClean="0"/>
              <a:t>-</a:t>
            </a:r>
            <a:r>
              <a:rPr lang="en-US" altLang="en-US" sz="2000" dirty="0"/>
              <a:t>implement the new system in phases </a:t>
            </a:r>
          </a:p>
          <a:p>
            <a:pPr lvl="2" eaLnBrk="1" hangingPunct="1">
              <a:lnSpc>
                <a:spcPct val="90000"/>
              </a:lnSpc>
            </a:pPr>
            <a:endParaRPr lang="en-US" altLang="en-US" sz="2000" dirty="0" smtClean="0"/>
          </a:p>
          <a:p>
            <a:pPr lvl="2"/>
            <a:r>
              <a:rPr lang="en-US" altLang="en-US" sz="2000" b="1" dirty="0" smtClean="0"/>
              <a:t>Experimental</a:t>
            </a:r>
            <a:r>
              <a:rPr lang="en-US" altLang="en-US" sz="2000" dirty="0" smtClean="0"/>
              <a:t>(</a:t>
            </a:r>
            <a:r>
              <a:rPr lang="en-US" altLang="en-US" sz="2000" b="1" i="1" dirty="0"/>
              <a:t>Pilot</a:t>
            </a:r>
            <a:r>
              <a:rPr lang="en-US" altLang="en-US" sz="2000" dirty="0" smtClean="0"/>
              <a:t>)   - </a:t>
            </a:r>
            <a:r>
              <a:rPr lang="en-US" altLang="en-US" sz="2000" dirty="0"/>
              <a:t>start with small groups of people on the new system and gradually add more users</a:t>
            </a:r>
            <a:endParaRPr lang="en-US" altLang="en-US" sz="2000" b="1" i="1" dirty="0"/>
          </a:p>
          <a:p>
            <a:pPr lvl="2" eaLnBrk="1" hangingPunct="1">
              <a:lnSpc>
                <a:spcPct val="90000"/>
              </a:lnSpc>
            </a:pPr>
            <a:endParaRPr lang="en-US" altLang="en-US" sz="2000" dirty="0" smtClean="0"/>
          </a:p>
          <a:p>
            <a:pPr lvl="1" eaLnBrk="1" hangingPunct="1">
              <a:lnSpc>
                <a:spcPct val="90000"/>
              </a:lnSpc>
            </a:pPr>
            <a:r>
              <a:rPr lang="en-US" altLang="en-US" sz="2000" dirty="0" smtClean="0"/>
              <a:t>System documentation, training, and support</a:t>
            </a:r>
          </a:p>
          <a:p>
            <a:pPr lvl="2" eaLnBrk="1" hangingPunct="1">
              <a:lnSpc>
                <a:spcPct val="90000"/>
              </a:lnSpc>
            </a:pPr>
            <a:r>
              <a:rPr lang="en-US" altLang="en-US" sz="2000" dirty="0" smtClean="0"/>
              <a:t>User and reference guides</a:t>
            </a:r>
          </a:p>
          <a:p>
            <a:pPr lvl="2" eaLnBrk="1" hangingPunct="1">
              <a:lnSpc>
                <a:spcPct val="90000"/>
              </a:lnSpc>
            </a:pPr>
            <a:r>
              <a:rPr lang="en-US" altLang="en-US" sz="2000" dirty="0" smtClean="0"/>
              <a:t>Training and tutorials</a:t>
            </a:r>
          </a:p>
          <a:p>
            <a:pPr lvl="2" eaLnBrk="1" hangingPunct="1">
              <a:lnSpc>
                <a:spcPct val="90000"/>
              </a:lnSpc>
            </a:pPr>
            <a:r>
              <a:rPr lang="en-US" altLang="en-US" sz="2000" dirty="0" smtClean="0"/>
              <a:t>Installation procedures and troubleshooting guides</a:t>
            </a:r>
          </a:p>
          <a:p>
            <a:pPr lvl="1" eaLnBrk="1" hangingPunct="1">
              <a:lnSpc>
                <a:spcPct val="90000"/>
              </a:lnSpc>
            </a:pPr>
            <a:endParaRPr lang="en-US" altLang="en-US" sz="1800" dirty="0" smtClean="0"/>
          </a:p>
        </p:txBody>
      </p:sp>
      <p:sp>
        <p:nvSpPr>
          <p:cNvPr id="43011" name="Rectangle 3"/>
          <p:cNvSpPr>
            <a:spLocks noChangeArrowheads="1"/>
          </p:cNvSpPr>
          <p:nvPr/>
        </p:nvSpPr>
        <p:spPr bwMode="auto">
          <a:xfrm>
            <a:off x="1143000" y="381000"/>
            <a:ext cx="7772400" cy="847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90000"/>
              </a:lnSpc>
              <a:spcBef>
                <a:spcPct val="0"/>
              </a:spcBef>
              <a:buFontTx/>
              <a:buNone/>
            </a:pPr>
            <a:r>
              <a:rPr lang="en-US" altLang="en-US" sz="4400" dirty="0">
                <a:latin typeface="Times New Roman" panose="02020603050405020304" pitchFamily="18" charset="0"/>
              </a:rPr>
              <a:t>System Implementation</a:t>
            </a:r>
          </a:p>
        </p:txBody>
      </p:sp>
    </p:spTree>
    <p:extLst>
      <p:ext uri="{BB962C8B-B14F-4D97-AF65-F5344CB8AC3E}">
        <p14:creationId xmlns:p14="http://schemas.microsoft.com/office/powerpoint/2010/main" val="3830735634"/>
      </p:ext>
    </p:extLst>
  </p:cSld>
  <p:clrMapOvr>
    <a:masterClrMapping/>
  </p:clrMapOvr>
  <p:transition>
    <p:dissolv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5058" name="Object 2"/>
          <p:cNvGraphicFramePr>
            <a:graphicFrameLocks noChangeAspect="1"/>
          </p:cNvGraphicFramePr>
          <p:nvPr/>
        </p:nvGraphicFramePr>
        <p:xfrm>
          <a:off x="0" y="609600"/>
          <a:ext cx="9144000" cy="5416550"/>
        </p:xfrm>
        <a:graphic>
          <a:graphicData uri="http://schemas.openxmlformats.org/presentationml/2006/ole">
            <mc:AlternateContent xmlns:mc="http://schemas.openxmlformats.org/markup-compatibility/2006">
              <mc:Choice xmlns:v="urn:schemas-microsoft-com:vml" Requires="v">
                <p:oleObj spid="_x0000_s1251" name="Photo Editor Photo" r:id="rId4" imgW="7621064" imgH="4514286" progId="">
                  <p:embed/>
                </p:oleObj>
              </mc:Choice>
              <mc:Fallback>
                <p:oleObj name="Photo Editor Photo" r:id="rId4" imgW="7621064" imgH="4514286" progId="">
                  <p:embed/>
                  <p:pic>
                    <p:nvPicPr>
                      <p:cNvPr id="45058"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609600"/>
                        <a:ext cx="9144000" cy="541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869598008"/>
      </p:ext>
    </p:extLst>
  </p:cSld>
  <p:clrMapOvr>
    <a:masterClrMapping/>
  </p:clrMapOvr>
  <p:transition>
    <p:dissolv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628650" y="73152"/>
            <a:ext cx="7886700" cy="804671"/>
          </a:xfrm>
        </p:spPr>
        <p:txBody>
          <a:bodyPr>
            <a:normAutofit/>
          </a:bodyPr>
          <a:lstStyle/>
          <a:p>
            <a:r>
              <a:rPr lang="en-US" altLang="en-US" sz="4000" cap="none" dirty="0" smtClean="0"/>
              <a:t>Phase 7: Maintenance &amp; Support </a:t>
            </a:r>
            <a:endParaRPr lang="en-US" altLang="en-US" sz="4000" cap="none" dirty="0"/>
          </a:p>
        </p:txBody>
      </p:sp>
      <p:sp>
        <p:nvSpPr>
          <p:cNvPr id="46083" name="Rectangle 3"/>
          <p:cNvSpPr>
            <a:spLocks noGrp="1" noChangeArrowheads="1"/>
          </p:cNvSpPr>
          <p:nvPr>
            <p:ph idx="1"/>
          </p:nvPr>
        </p:nvSpPr>
        <p:spPr>
          <a:xfrm>
            <a:off x="842256" y="969264"/>
            <a:ext cx="7771392" cy="5888735"/>
          </a:xfrm>
        </p:spPr>
        <p:txBody>
          <a:bodyPr>
            <a:noAutofit/>
          </a:bodyPr>
          <a:lstStyle/>
          <a:p>
            <a:pPr marL="0" indent="0" defTabSz="607219">
              <a:buNone/>
            </a:pPr>
            <a:r>
              <a:rPr lang="en-US" altLang="en-US" sz="2500" b="1" i="1" dirty="0"/>
              <a:t>Maintenance phase</a:t>
            </a:r>
            <a:r>
              <a:rPr lang="en-US" altLang="en-US" sz="2500" dirty="0"/>
              <a:t> -  monitor and support the new system to ensure it continues to meet the business goals </a:t>
            </a:r>
            <a:r>
              <a:rPr lang="en-US" altLang="en-US" sz="2500" dirty="0" smtClean="0"/>
              <a:t>.</a:t>
            </a:r>
          </a:p>
          <a:p>
            <a:pPr lvl="0" algn="just" eaLnBrk="0" fontAlgn="base" hangingPunct="0">
              <a:lnSpc>
                <a:spcPct val="100000"/>
              </a:lnSpc>
              <a:spcBef>
                <a:spcPct val="0"/>
              </a:spcBef>
              <a:spcAft>
                <a:spcPct val="0"/>
              </a:spcAft>
              <a:buClr>
                <a:schemeClr val="accent2"/>
              </a:buClr>
              <a:buSzPct val="101000"/>
              <a:buFont typeface="Arial" panose="020B0604020202020204" pitchFamily="34" charset="0"/>
              <a:buChar char="•"/>
            </a:pPr>
            <a:r>
              <a:rPr lang="en-US" altLang="en-US" sz="2500" dirty="0"/>
              <a:t>Include all the activities such as phone support or physical on-site support for users that is required once the system is installing.</a:t>
            </a:r>
          </a:p>
          <a:p>
            <a:pPr lvl="0" algn="just" eaLnBrk="0" fontAlgn="base" hangingPunct="0">
              <a:lnSpc>
                <a:spcPct val="100000"/>
              </a:lnSpc>
              <a:spcBef>
                <a:spcPct val="0"/>
              </a:spcBef>
              <a:spcAft>
                <a:spcPct val="0"/>
              </a:spcAft>
              <a:buClr>
                <a:schemeClr val="accent2"/>
              </a:buClr>
              <a:buSzPct val="101000"/>
              <a:buFont typeface="Arial" panose="020B0604020202020204" pitchFamily="34" charset="0"/>
              <a:buChar char="•"/>
            </a:pPr>
            <a:r>
              <a:rPr lang="en-US" altLang="en-US" sz="2500" dirty="0"/>
              <a:t>Implement the changes that software might undergo over a period of time, or implement any new requirements after the software is deployed at the customer location.</a:t>
            </a:r>
          </a:p>
          <a:p>
            <a:pPr lvl="0" algn="just" eaLnBrk="0" fontAlgn="base" hangingPunct="0">
              <a:lnSpc>
                <a:spcPct val="100000"/>
              </a:lnSpc>
              <a:spcBef>
                <a:spcPct val="0"/>
              </a:spcBef>
              <a:spcAft>
                <a:spcPct val="0"/>
              </a:spcAft>
              <a:buClr>
                <a:schemeClr val="accent2"/>
              </a:buClr>
              <a:buSzPct val="101000"/>
              <a:buFont typeface="Arial" panose="020B0604020202020204" pitchFamily="34" charset="0"/>
              <a:buChar char="•"/>
            </a:pPr>
            <a:r>
              <a:rPr lang="en-US" altLang="en-US" sz="2500" dirty="0"/>
              <a:t>It also includes handling the </a:t>
            </a:r>
            <a:r>
              <a:rPr lang="en-US" altLang="en-US" sz="2500" dirty="0" smtClean="0"/>
              <a:t>remaining </a:t>
            </a:r>
            <a:r>
              <a:rPr lang="en-US" altLang="en-US" sz="2500" dirty="0"/>
              <a:t>errors and resolve any issues that may exist in the system even after the testing phase.</a:t>
            </a:r>
          </a:p>
          <a:p>
            <a:pPr lvl="0" algn="just" eaLnBrk="0" fontAlgn="base" hangingPunct="0">
              <a:lnSpc>
                <a:spcPct val="100000"/>
              </a:lnSpc>
              <a:spcBef>
                <a:spcPct val="0"/>
              </a:spcBef>
              <a:spcAft>
                <a:spcPct val="0"/>
              </a:spcAft>
              <a:buClr>
                <a:schemeClr val="accent2"/>
              </a:buClr>
              <a:buSzPct val="101000"/>
              <a:buFont typeface="Arial" panose="020B0604020202020204" pitchFamily="34" charset="0"/>
              <a:buChar char="•"/>
            </a:pPr>
            <a:r>
              <a:rPr lang="en-US" altLang="en-US" sz="2500" dirty="0"/>
              <a:t>Maintenance and support may be needed for a longer time for large systems and for a short time for smaller systems</a:t>
            </a:r>
          </a:p>
          <a:p>
            <a:pPr defTabSz="607219">
              <a:buClr>
                <a:schemeClr val="accent2"/>
              </a:buClr>
              <a:buSzPct val="101000"/>
            </a:pPr>
            <a:endParaRPr lang="en-US" altLang="en-US" sz="2500" dirty="0"/>
          </a:p>
        </p:txBody>
      </p:sp>
    </p:spTree>
    <p:extLst>
      <p:ext uri="{BB962C8B-B14F-4D97-AF65-F5344CB8AC3E}">
        <p14:creationId xmlns:p14="http://schemas.microsoft.com/office/powerpoint/2010/main" val="8688438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4436" y="1031631"/>
            <a:ext cx="7820914" cy="4820529"/>
          </a:xfrm>
        </p:spPr>
        <p:txBody>
          <a:bodyPr>
            <a:normAutofit/>
          </a:bodyPr>
          <a:lstStyle/>
          <a:p>
            <a:pPr marL="342900" indent="-342900" algn="just" defTabSz="607219"/>
            <a:endParaRPr lang="en-US" altLang="en-US" sz="2800" dirty="0" smtClean="0"/>
          </a:p>
          <a:p>
            <a:pPr marL="0" indent="0" algn="just" defTabSz="607219">
              <a:buNone/>
            </a:pPr>
            <a:r>
              <a:rPr lang="en-US" altLang="en-US" sz="2800" b="1" dirty="0" smtClean="0"/>
              <a:t>There two </a:t>
            </a:r>
            <a:r>
              <a:rPr lang="en-US" altLang="en-US" sz="2800" b="1" dirty="0"/>
              <a:t>primary maintenance </a:t>
            </a:r>
            <a:r>
              <a:rPr lang="en-US" altLang="en-US" sz="2800" b="1" dirty="0" smtClean="0"/>
              <a:t>activities under the Phase of  </a:t>
            </a:r>
            <a:r>
              <a:rPr lang="en-US" altLang="en-US" sz="2800" b="1" dirty="0"/>
              <a:t>Maintenance &amp; Support </a:t>
            </a:r>
          </a:p>
          <a:p>
            <a:pPr marL="575072" lvl="1" indent="-314325" algn="just" defTabSz="607219">
              <a:buFont typeface="Wingdings" panose="05000000000000000000" pitchFamily="2" charset="2"/>
              <a:buAutoNum type="arabicPeriod"/>
            </a:pPr>
            <a:r>
              <a:rPr lang="en-US" altLang="en-US" sz="2800" dirty="0"/>
              <a:t>Build a help desk to support the system users </a:t>
            </a:r>
          </a:p>
          <a:p>
            <a:pPr marL="797719" lvl="2" indent="-285750" algn="just" defTabSz="607219"/>
            <a:r>
              <a:rPr lang="en-US" altLang="en-US" sz="2800" b="1" i="1" dirty="0"/>
              <a:t>Help desk</a:t>
            </a:r>
            <a:r>
              <a:rPr lang="en-US" altLang="en-US" sz="2800" dirty="0"/>
              <a:t> - a group of people who responds to knowledge workers’ questions </a:t>
            </a:r>
          </a:p>
          <a:p>
            <a:pPr marL="575072" lvl="1" indent="-314325" algn="just" defTabSz="607219">
              <a:buFont typeface="Wingdings" panose="05000000000000000000" pitchFamily="2" charset="2"/>
              <a:buAutoNum type="arabicPeriod"/>
            </a:pPr>
            <a:r>
              <a:rPr lang="en-US" altLang="en-US" sz="2800" dirty="0"/>
              <a:t>Provide an environment to support system changes </a:t>
            </a:r>
          </a:p>
          <a:p>
            <a:pPr algn="just"/>
            <a:endParaRPr lang="en-US" sz="2800" dirty="0"/>
          </a:p>
        </p:txBody>
      </p:sp>
      <p:sp>
        <p:nvSpPr>
          <p:cNvPr id="4" name="Slide Number Placeholder 3"/>
          <p:cNvSpPr>
            <a:spLocks noGrp="1"/>
          </p:cNvSpPr>
          <p:nvPr>
            <p:ph type="sldNum" sz="quarter" idx="12"/>
          </p:nvPr>
        </p:nvSpPr>
        <p:spPr/>
        <p:txBody>
          <a:bodyPr/>
          <a:lstStyle/>
          <a:p>
            <a:fld id="{443EA004-F8A2-4490-BFAE-85849A2E5323}" type="slidenum">
              <a:rPr lang="en-US" smtClean="0"/>
              <a:t>40</a:t>
            </a:fld>
            <a:endParaRPr lang="en-US"/>
          </a:p>
        </p:txBody>
      </p:sp>
    </p:spTree>
    <p:extLst>
      <p:ext uri="{BB962C8B-B14F-4D97-AF65-F5344CB8AC3E}">
        <p14:creationId xmlns:p14="http://schemas.microsoft.com/office/powerpoint/2010/main" val="332546878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a:xfrm>
            <a:off x="958272" y="76200"/>
            <a:ext cx="6554867" cy="1161473"/>
          </a:xfrm>
        </p:spPr>
        <p:txBody>
          <a:bodyPr anchor="t"/>
          <a:lstStyle/>
          <a:p>
            <a:pPr eaLnBrk="1" hangingPunct="1"/>
            <a:r>
              <a:rPr lang="en-US" altLang="en-US" dirty="0" smtClean="0"/>
              <a:t/>
            </a:r>
            <a:br>
              <a:rPr lang="en-US" altLang="en-US" dirty="0" smtClean="0"/>
            </a:br>
            <a:r>
              <a:rPr lang="en-US" altLang="en-US" sz="2800" b="1" dirty="0" smtClean="0"/>
              <a:t> </a:t>
            </a:r>
            <a:r>
              <a:rPr lang="en-US" altLang="en-US" sz="3200" b="1" dirty="0" smtClean="0"/>
              <a:t>Systems disposition</a:t>
            </a:r>
          </a:p>
        </p:txBody>
      </p:sp>
      <p:sp>
        <p:nvSpPr>
          <p:cNvPr id="3" name="Content Placeholder 2"/>
          <p:cNvSpPr>
            <a:spLocks noGrp="1"/>
          </p:cNvSpPr>
          <p:nvPr>
            <p:ph idx="1"/>
          </p:nvPr>
        </p:nvSpPr>
        <p:spPr>
          <a:xfrm>
            <a:off x="438727" y="1366982"/>
            <a:ext cx="8363528" cy="4987635"/>
          </a:xfrm>
        </p:spPr>
        <p:txBody>
          <a:bodyPr>
            <a:noAutofit/>
          </a:bodyPr>
          <a:lstStyle/>
          <a:p>
            <a:pPr algn="just" eaLnBrk="1" hangingPunct="1">
              <a:defRPr/>
            </a:pPr>
            <a:r>
              <a:rPr lang="en-US" sz="2800" dirty="0">
                <a:latin typeface="Times New Roman" pitchFamily="18" charset="0"/>
                <a:cs typeface="Times New Roman" pitchFamily="18" charset="0"/>
              </a:rPr>
              <a:t>This </a:t>
            </a:r>
            <a:r>
              <a:rPr lang="en-US" sz="2800" dirty="0" smtClean="0">
                <a:latin typeface="Times New Roman" pitchFamily="18" charset="0"/>
                <a:cs typeface="Times New Roman" pitchFamily="18" charset="0"/>
              </a:rPr>
              <a:t>phase represents </a:t>
            </a:r>
            <a:r>
              <a:rPr lang="en-US" sz="2800" dirty="0">
                <a:latin typeface="Times New Roman" pitchFamily="18" charset="0"/>
                <a:cs typeface="Times New Roman" pitchFamily="18" charset="0"/>
              </a:rPr>
              <a:t>the end of the system's life cycle. It provides for the systematic termination of a system to ensure that vital information is preserved for potential future access and/or reactivation. </a:t>
            </a:r>
          </a:p>
          <a:p>
            <a:pPr algn="just" eaLnBrk="1" hangingPunct="1">
              <a:defRPr/>
            </a:pPr>
            <a:r>
              <a:rPr lang="en-US" sz="2800" dirty="0">
                <a:latin typeface="Times New Roman" pitchFamily="18" charset="0"/>
                <a:cs typeface="Times New Roman" pitchFamily="18" charset="0"/>
              </a:rPr>
              <a:t>The system, when placed in the Disposition Phase, </a:t>
            </a:r>
            <a:r>
              <a:rPr lang="en-US" sz="2800" dirty="0" smtClean="0">
                <a:latin typeface="Times New Roman" pitchFamily="18" charset="0"/>
                <a:cs typeface="Times New Roman" pitchFamily="18" charset="0"/>
              </a:rPr>
              <a:t>it means it has </a:t>
            </a:r>
            <a:r>
              <a:rPr lang="en-US" sz="2800" dirty="0">
                <a:latin typeface="Times New Roman" pitchFamily="18" charset="0"/>
                <a:cs typeface="Times New Roman" pitchFamily="18" charset="0"/>
              </a:rPr>
              <a:t>been </a:t>
            </a:r>
            <a:r>
              <a:rPr lang="en-US" sz="2800" dirty="0" smtClean="0">
                <a:latin typeface="Times New Roman" pitchFamily="18" charset="0"/>
                <a:cs typeface="Times New Roman" pitchFamily="18" charset="0"/>
              </a:rPr>
              <a:t>declared obsolete </a:t>
            </a:r>
            <a:r>
              <a:rPr lang="en-US" sz="2800" dirty="0">
                <a:latin typeface="Times New Roman" pitchFamily="18" charset="0"/>
                <a:cs typeface="Times New Roman" pitchFamily="18" charset="0"/>
              </a:rPr>
              <a:t>and has been scheduled for shutdown.</a:t>
            </a:r>
          </a:p>
          <a:p>
            <a:pPr algn="just" eaLnBrk="1" hangingPunct="1">
              <a:defRPr/>
            </a:pPr>
            <a:r>
              <a:rPr lang="en-US" sz="2800" dirty="0">
                <a:latin typeface="Times New Roman" pitchFamily="18" charset="0"/>
                <a:cs typeface="Times New Roman" pitchFamily="18" charset="0"/>
              </a:rPr>
              <a:t> The emphasis of this phase is to ensure that the system </a:t>
            </a:r>
            <a:r>
              <a:rPr lang="en-US" sz="2800" dirty="0" smtClean="0">
                <a:latin typeface="Times New Roman" pitchFamily="18" charset="0"/>
                <a:cs typeface="Times New Roman" pitchFamily="18" charset="0"/>
              </a:rPr>
              <a:t>is </a:t>
            </a:r>
            <a:r>
              <a:rPr lang="en-US" sz="2800" dirty="0">
                <a:latin typeface="Times New Roman" pitchFamily="18" charset="0"/>
                <a:cs typeface="Times New Roman" pitchFamily="18" charset="0"/>
              </a:rPr>
              <a:t>packaged and disposed </a:t>
            </a:r>
            <a:r>
              <a:rPr lang="en-US" sz="2800" dirty="0" smtClean="0">
                <a:latin typeface="Times New Roman" pitchFamily="18" charset="0"/>
                <a:cs typeface="Times New Roman" pitchFamily="18" charset="0"/>
              </a:rPr>
              <a:t>off </a:t>
            </a:r>
            <a:r>
              <a:rPr lang="en-US" sz="2800" dirty="0">
                <a:latin typeface="Times New Roman" pitchFamily="18" charset="0"/>
                <a:cs typeface="Times New Roman" pitchFamily="18" charset="0"/>
              </a:rPr>
              <a:t>in accordance with appropriate regulations and requirements.</a:t>
            </a:r>
          </a:p>
          <a:p>
            <a:pPr eaLnBrk="1" hangingPunct="1">
              <a:buFontTx/>
              <a:buNone/>
              <a:defRPr/>
            </a:pPr>
            <a:endParaRPr lang="en-US" sz="2800" dirty="0"/>
          </a:p>
        </p:txBody>
      </p:sp>
    </p:spTree>
    <p:extLst>
      <p:ext uri="{BB962C8B-B14F-4D97-AF65-F5344CB8AC3E}">
        <p14:creationId xmlns:p14="http://schemas.microsoft.com/office/powerpoint/2010/main" val="3652911690"/>
      </p:ext>
    </p:extLst>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p:cNvSpPr>
          <p:nvPr>
            <p:ph type="title"/>
          </p:nvPr>
        </p:nvSpPr>
        <p:spPr>
          <a:xfrm>
            <a:off x="381000" y="381000"/>
            <a:ext cx="8347364" cy="1143000"/>
          </a:xfrm>
        </p:spPr>
        <p:txBody>
          <a:bodyPr anchor="t">
            <a:normAutofit fontScale="90000"/>
          </a:bodyPr>
          <a:lstStyle/>
          <a:p>
            <a:r>
              <a:rPr lang="en-US" altLang="en-US" sz="4800" dirty="0" smtClean="0"/>
              <a:t> Reasons why software development projects fail</a:t>
            </a:r>
          </a:p>
        </p:txBody>
      </p:sp>
      <p:sp>
        <p:nvSpPr>
          <p:cNvPr id="50179" name="Rectangle 3"/>
          <p:cNvSpPr>
            <a:spLocks noGrp="1"/>
          </p:cNvSpPr>
          <p:nvPr>
            <p:ph idx="1"/>
          </p:nvPr>
        </p:nvSpPr>
        <p:spPr>
          <a:xfrm>
            <a:off x="533400" y="1673352"/>
            <a:ext cx="8007096" cy="4949390"/>
          </a:xfrm>
        </p:spPr>
        <p:txBody>
          <a:bodyPr>
            <a:normAutofit fontScale="92500" lnSpcReduction="20000"/>
          </a:bodyPr>
          <a:lstStyle/>
          <a:p>
            <a:pPr>
              <a:lnSpc>
                <a:spcPct val="90000"/>
              </a:lnSpc>
            </a:pPr>
            <a:r>
              <a:rPr lang="en-US" altLang="en-US" sz="2600" dirty="0" smtClean="0">
                <a:latin typeface="Times New Roman" panose="02020603050405020304" pitchFamily="18" charset="0"/>
                <a:cs typeface="Times New Roman" panose="02020603050405020304" pitchFamily="18" charset="0"/>
              </a:rPr>
              <a:t>Scope being too broad or too narrow</a:t>
            </a:r>
          </a:p>
          <a:p>
            <a:pPr>
              <a:lnSpc>
                <a:spcPct val="90000"/>
              </a:lnSpc>
            </a:pPr>
            <a:r>
              <a:rPr lang="en-US" altLang="en-US" sz="2600" dirty="0" smtClean="0">
                <a:latin typeface="Times New Roman" panose="02020603050405020304" pitchFamily="18" charset="0"/>
                <a:cs typeface="Times New Roman" panose="02020603050405020304" pitchFamily="18" charset="0"/>
              </a:rPr>
              <a:t>Lack of needed skills</a:t>
            </a:r>
          </a:p>
          <a:p>
            <a:r>
              <a:rPr lang="en-US" altLang="en-US" sz="2600" dirty="0" smtClean="0">
                <a:latin typeface="Times New Roman" panose="02020603050405020304" pitchFamily="18" charset="0"/>
                <a:cs typeface="Times New Roman" panose="02020603050405020304" pitchFamily="18" charset="0"/>
              </a:rPr>
              <a:t>Incomplete specifications/</a:t>
            </a:r>
            <a:r>
              <a:rPr lang="en-US" sz="2600" dirty="0"/>
              <a:t> Unclear </a:t>
            </a:r>
            <a:r>
              <a:rPr lang="en-US" sz="2600" dirty="0" smtClean="0"/>
              <a:t>requirements</a:t>
            </a:r>
            <a:endParaRPr lang="en-US" altLang="en-US" sz="2600" dirty="0" smtClean="0">
              <a:latin typeface="Times New Roman" panose="02020603050405020304" pitchFamily="18" charset="0"/>
              <a:cs typeface="Times New Roman" panose="02020603050405020304" pitchFamily="18" charset="0"/>
            </a:endParaRPr>
          </a:p>
          <a:p>
            <a:pPr>
              <a:lnSpc>
                <a:spcPct val="90000"/>
              </a:lnSpc>
            </a:pPr>
            <a:r>
              <a:rPr lang="en-US" altLang="en-US" sz="2600" dirty="0" smtClean="0">
                <a:latin typeface="Times New Roman" panose="02020603050405020304" pitchFamily="18" charset="0"/>
                <a:cs typeface="Times New Roman" panose="02020603050405020304" pitchFamily="18" charset="0"/>
              </a:rPr>
              <a:t>Lack of management/user involvement</a:t>
            </a:r>
            <a:endParaRPr lang="en-US" altLang="en-US" sz="2600" dirty="0">
              <a:latin typeface="Times New Roman" panose="02020603050405020304" pitchFamily="18" charset="0"/>
              <a:cs typeface="Times New Roman" panose="02020603050405020304" pitchFamily="18" charset="0"/>
            </a:endParaRPr>
          </a:p>
          <a:p>
            <a:pPr>
              <a:lnSpc>
                <a:spcPct val="90000"/>
              </a:lnSpc>
            </a:pPr>
            <a:r>
              <a:rPr lang="en-US" sz="2600" dirty="0" smtClean="0"/>
              <a:t>Poor </a:t>
            </a:r>
            <a:r>
              <a:rPr lang="en-US" sz="2600" dirty="0"/>
              <a:t>Communication</a:t>
            </a:r>
          </a:p>
          <a:p>
            <a:r>
              <a:rPr lang="en-US" sz="2600" dirty="0"/>
              <a:t>Resistance to change</a:t>
            </a:r>
          </a:p>
          <a:p>
            <a:r>
              <a:rPr lang="en-US" sz="2600" dirty="0"/>
              <a:t>Not reviewing project progress on a regular </a:t>
            </a:r>
            <a:r>
              <a:rPr lang="en-US" sz="2600" dirty="0" smtClean="0"/>
              <a:t>basis</a:t>
            </a:r>
            <a:endParaRPr lang="en-US" sz="2600" dirty="0"/>
          </a:p>
          <a:p>
            <a:r>
              <a:rPr lang="en-US" sz="2600" dirty="0" smtClean="0"/>
              <a:t>Unrealistic </a:t>
            </a:r>
            <a:r>
              <a:rPr lang="en-US" sz="2600" dirty="0"/>
              <a:t>expectations</a:t>
            </a:r>
          </a:p>
          <a:p>
            <a:r>
              <a:rPr lang="en-US" sz="2600" dirty="0"/>
              <a:t>The absence of a good project manager</a:t>
            </a:r>
          </a:p>
          <a:p>
            <a:r>
              <a:rPr lang="en-US" sz="2600" dirty="0"/>
              <a:t>Working without purpose</a:t>
            </a:r>
          </a:p>
          <a:p>
            <a:r>
              <a:rPr lang="en-US" sz="2600" dirty="0"/>
              <a:t>Moving the goalposts too often</a:t>
            </a:r>
          </a:p>
          <a:p>
            <a:r>
              <a:rPr lang="en-US" sz="2600" dirty="0"/>
              <a:t>Not investing enough time and money in your team</a:t>
            </a:r>
          </a:p>
          <a:p>
            <a:r>
              <a:rPr lang="en-US" sz="2600" dirty="0" smtClean="0"/>
              <a:t>Over-promising </a:t>
            </a:r>
            <a:r>
              <a:rPr lang="en-US" sz="2600" dirty="0"/>
              <a:t>just to close the deal</a:t>
            </a:r>
          </a:p>
          <a:p>
            <a:pPr marL="0" indent="0">
              <a:buNone/>
            </a:pPr>
            <a:endParaRPr lang="en-US" sz="2300" dirty="0"/>
          </a:p>
          <a:p>
            <a:pPr>
              <a:lnSpc>
                <a:spcPct val="90000"/>
              </a:lnSpc>
            </a:pPr>
            <a:endParaRPr lang="en-US" altLang="en-US" sz="3600" dirty="0" smtClean="0">
              <a:latin typeface="Times New Roman" panose="02020603050405020304" pitchFamily="18" charset="0"/>
              <a:cs typeface="Times New Roman" panose="02020603050405020304" pitchFamily="18" charset="0"/>
            </a:endParaRPr>
          </a:p>
          <a:p>
            <a:pPr>
              <a:lnSpc>
                <a:spcPct val="90000"/>
              </a:lnSpc>
              <a:buFont typeface="Monotype Sorts"/>
              <a:buNone/>
            </a:pPr>
            <a:endParaRPr lang="en-US" altLang="en-US" sz="36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8018238"/>
      </p:ext>
    </p:extLst>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4514" name="Title 1"/>
          <p:cNvSpPr>
            <a:spLocks noGrp="1"/>
          </p:cNvSpPr>
          <p:nvPr>
            <p:ph type="title"/>
          </p:nvPr>
        </p:nvSpPr>
        <p:spPr>
          <a:xfrm>
            <a:off x="186431" y="365127"/>
            <a:ext cx="8957569" cy="960754"/>
          </a:xfrm>
          <a:ln>
            <a:miter lim="800000"/>
            <a:headEnd/>
            <a:tailEnd/>
          </a:ln>
        </p:spPr>
        <p:txBody>
          <a:bodyPr anchor="t">
            <a:noAutofit/>
          </a:bodyPr>
          <a:lstStyle/>
          <a:p>
            <a:pPr>
              <a:defRPr/>
            </a:pPr>
            <a:r>
              <a:rPr lang="en-US" sz="3200" dirty="0">
                <a:solidFill>
                  <a:srgbClr val="FF0000"/>
                </a:solidFill>
              </a:rPr>
              <a:t>Read </a:t>
            </a:r>
            <a:r>
              <a:rPr lang="en-US" sz="3200" dirty="0" smtClean="0">
                <a:solidFill>
                  <a:srgbClr val="FF0000"/>
                </a:solidFill>
              </a:rPr>
              <a:t>about software development methodologies  </a:t>
            </a:r>
            <a:r>
              <a:rPr lang="en-US" sz="3600" dirty="0"/>
              <a:t/>
            </a:r>
            <a:br>
              <a:rPr lang="en-US" sz="3600" dirty="0"/>
            </a:br>
            <a:endParaRPr lang="en-US" sz="3600" dirty="0"/>
          </a:p>
        </p:txBody>
      </p:sp>
      <p:sp>
        <p:nvSpPr>
          <p:cNvPr id="64515" name="Content Placeholder 2"/>
          <p:cNvSpPr>
            <a:spLocks noGrp="1"/>
          </p:cNvSpPr>
          <p:nvPr>
            <p:ph idx="1"/>
          </p:nvPr>
        </p:nvSpPr>
        <p:spPr>
          <a:xfrm>
            <a:off x="628650" y="1536192"/>
            <a:ext cx="7886700" cy="5056631"/>
          </a:xfrm>
        </p:spPr>
        <p:txBody>
          <a:bodyPr/>
          <a:lstStyle/>
          <a:p>
            <a:r>
              <a:rPr lang="en-US" altLang="en-US" dirty="0">
                <a:latin typeface="Times New Roman" panose="02020603050405020304" pitchFamily="18" charset="0"/>
                <a:cs typeface="Times New Roman" panose="02020603050405020304" pitchFamily="18" charset="0"/>
              </a:rPr>
              <a:t>Water </a:t>
            </a:r>
            <a:r>
              <a:rPr lang="en-US" altLang="en-US" dirty="0" smtClean="0">
                <a:latin typeface="Times New Roman" panose="02020603050405020304" pitchFamily="18" charset="0"/>
                <a:cs typeface="Times New Roman" panose="02020603050405020304" pitchFamily="18" charset="0"/>
              </a:rPr>
              <a:t>fall</a:t>
            </a:r>
          </a:p>
          <a:p>
            <a:r>
              <a:rPr lang="en-US" altLang="en-US" dirty="0">
                <a:latin typeface="Times New Roman" panose="02020603050405020304" pitchFamily="18" charset="0"/>
                <a:cs typeface="Times New Roman" panose="02020603050405020304" pitchFamily="18" charset="0"/>
              </a:rPr>
              <a:t>Agile</a:t>
            </a:r>
          </a:p>
          <a:p>
            <a:pPr marL="0" indent="0">
              <a:buNone/>
            </a:pPr>
            <a:r>
              <a:rPr lang="en-US" altLang="en-US" dirty="0">
                <a:solidFill>
                  <a:srgbClr val="FF0000"/>
                </a:solidFill>
                <a:latin typeface="Times New Roman" panose="02020603050405020304" pitchFamily="18" charset="0"/>
                <a:cs typeface="Times New Roman" panose="02020603050405020304" pitchFamily="18" charset="0"/>
              </a:rPr>
              <a:t>Iterative</a:t>
            </a:r>
            <a:endParaRPr lang="en-US" altLang="en-US" dirty="0" smtClean="0">
              <a:solidFill>
                <a:srgbClr val="FF0000"/>
              </a:solidFill>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rPr>
              <a:t>Prototyping</a:t>
            </a:r>
          </a:p>
          <a:p>
            <a:r>
              <a:rPr lang="en-US" altLang="en-US" dirty="0" smtClean="0">
                <a:latin typeface="Times New Roman" panose="02020603050405020304" pitchFamily="18" charset="0"/>
                <a:cs typeface="Times New Roman" panose="02020603050405020304" pitchFamily="18" charset="0"/>
              </a:rPr>
              <a:t>Rapid Application Development Approach</a:t>
            </a:r>
          </a:p>
          <a:p>
            <a:pPr marL="0" indent="0">
              <a:buNone/>
            </a:pPr>
            <a:endParaRPr lang="en-US" altLang="en-US" dirty="0" smtClean="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incremental </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rPr>
              <a:t>Spiral Model</a:t>
            </a:r>
          </a:p>
          <a:p>
            <a:pPr marL="0" indent="0">
              <a:buNone/>
            </a:pP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rPr>
              <a:t>Joint Application Development</a:t>
            </a:r>
          </a:p>
          <a:p>
            <a:r>
              <a:rPr lang="en-US" altLang="en-US" dirty="0" smtClean="0">
                <a:latin typeface="Times New Roman" panose="02020603050405020304" pitchFamily="18" charset="0"/>
                <a:cs typeface="Times New Roman" panose="02020603050405020304" pitchFamily="18" charset="0"/>
              </a:rPr>
              <a:t>Phased development methodology </a:t>
            </a:r>
          </a:p>
          <a:p>
            <a:endParaRPr lang="en-US" altLang="en-US"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6929853"/>
      </p:ext>
    </p:extLst>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4"/>
          <p:cNvSpPr>
            <a:spLocks noGrp="1" noChangeArrowheads="1"/>
          </p:cNvSpPr>
          <p:nvPr>
            <p:ph type="title" idx="4294967295"/>
          </p:nvPr>
        </p:nvSpPr>
        <p:spPr>
          <a:xfrm>
            <a:off x="0" y="274638"/>
            <a:ext cx="8229600" cy="1143000"/>
          </a:xfrm>
        </p:spPr>
        <p:txBody>
          <a:bodyPr>
            <a:normAutofit/>
          </a:bodyPr>
          <a:lstStyle/>
          <a:p>
            <a:pPr eaLnBrk="1" hangingPunct="1">
              <a:defRPr/>
            </a:pPr>
            <a:r>
              <a:rPr lang="en-US"/>
              <a:t/>
            </a:r>
            <a:br>
              <a:rPr lang="en-US"/>
            </a:br>
            <a:endParaRPr lang="en-US"/>
          </a:p>
        </p:txBody>
      </p:sp>
      <p:sp>
        <p:nvSpPr>
          <p:cNvPr id="65539" name="Rectangle 2"/>
          <p:cNvSpPr>
            <a:spLocks noChangeArrowheads="1"/>
          </p:cNvSpPr>
          <p:nvPr/>
        </p:nvSpPr>
        <p:spPr bwMode="auto">
          <a:xfrm>
            <a:off x="1143000" y="381000"/>
            <a:ext cx="716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AU" altLang="en-US" sz="3600">
                <a:latin typeface="Times New Roman" panose="02020603050405020304" pitchFamily="18" charset="0"/>
              </a:rPr>
              <a:t>Review Questions</a:t>
            </a:r>
          </a:p>
        </p:txBody>
      </p:sp>
      <p:sp>
        <p:nvSpPr>
          <p:cNvPr id="65540" name="Rectangle 3"/>
          <p:cNvSpPr>
            <a:spLocks noChangeArrowheads="1"/>
          </p:cNvSpPr>
          <p:nvPr/>
        </p:nvSpPr>
        <p:spPr bwMode="auto">
          <a:xfrm>
            <a:off x="526473" y="1524000"/>
            <a:ext cx="8155709"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marL="285750" indent="-2857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en-AU" altLang="en-US" sz="2800" dirty="0">
                <a:latin typeface="Times New Roman" panose="02020603050405020304" pitchFamily="18" charset="0"/>
                <a:cs typeface="Times New Roman" panose="02020603050405020304" pitchFamily="18" charset="0"/>
              </a:rPr>
              <a:t>1. List and describe the major stages of the systems development life cycle.</a:t>
            </a:r>
          </a:p>
          <a:p>
            <a:pPr algn="just">
              <a:spcBef>
                <a:spcPct val="0"/>
              </a:spcBef>
              <a:buFontTx/>
              <a:buNone/>
            </a:pPr>
            <a:r>
              <a:rPr lang="en-AU" altLang="en-US" sz="2800" dirty="0">
                <a:latin typeface="Times New Roman" panose="02020603050405020304" pitchFamily="18" charset="0"/>
                <a:cs typeface="Times New Roman" panose="02020603050405020304" pitchFamily="18" charset="0"/>
              </a:rPr>
              <a:t>2. What is prototyping and what advantages does it offer in the SDLC?</a:t>
            </a:r>
          </a:p>
          <a:p>
            <a:pPr algn="just">
              <a:spcBef>
                <a:spcPct val="0"/>
              </a:spcBef>
              <a:buFontTx/>
              <a:buNone/>
            </a:pPr>
            <a:r>
              <a:rPr lang="en-AU" altLang="en-US" sz="2800" dirty="0">
                <a:latin typeface="Times New Roman" panose="02020603050405020304" pitchFamily="18" charset="0"/>
                <a:cs typeface="Times New Roman" panose="02020603050405020304" pitchFamily="18" charset="0"/>
              </a:rPr>
              <a:t>3. Explain why the investigation </a:t>
            </a:r>
            <a:r>
              <a:rPr lang="en-AU" altLang="en-US" sz="2800" dirty="0" smtClean="0">
                <a:latin typeface="Times New Roman" panose="02020603050405020304" pitchFamily="18" charset="0"/>
                <a:cs typeface="Times New Roman" panose="02020603050405020304" pitchFamily="18" charset="0"/>
              </a:rPr>
              <a:t>phase, </a:t>
            </a:r>
            <a:r>
              <a:rPr lang="en-AU" altLang="en-US" sz="2800" dirty="0">
                <a:latin typeface="Times New Roman" panose="02020603050405020304" pitchFamily="18" charset="0"/>
                <a:cs typeface="Times New Roman" panose="02020603050405020304" pitchFamily="18" charset="0"/>
              </a:rPr>
              <a:t>the initial </a:t>
            </a:r>
            <a:r>
              <a:rPr lang="en-AU" altLang="en-US" sz="2800" dirty="0" smtClean="0">
                <a:latin typeface="Times New Roman" panose="02020603050405020304" pitchFamily="18" charset="0"/>
                <a:cs typeface="Times New Roman" panose="02020603050405020304" pitchFamily="18" charset="0"/>
              </a:rPr>
              <a:t>analysis, </a:t>
            </a:r>
            <a:r>
              <a:rPr lang="en-AU" altLang="en-US" sz="2800" dirty="0">
                <a:latin typeface="Times New Roman" panose="02020603050405020304" pitchFamily="18" charset="0"/>
                <a:cs typeface="Times New Roman" panose="02020603050405020304" pitchFamily="18" charset="0"/>
              </a:rPr>
              <a:t>and </a:t>
            </a:r>
            <a:r>
              <a:rPr lang="en-AU" altLang="en-US" sz="2800" dirty="0" smtClean="0">
                <a:latin typeface="Times New Roman" panose="02020603050405020304" pitchFamily="18" charset="0"/>
                <a:cs typeface="Times New Roman" panose="02020603050405020304" pitchFamily="18" charset="0"/>
              </a:rPr>
              <a:t>the design </a:t>
            </a:r>
            <a:r>
              <a:rPr lang="en-AU" altLang="en-US" sz="2800" dirty="0">
                <a:latin typeface="Times New Roman" panose="02020603050405020304" pitchFamily="18" charset="0"/>
                <a:cs typeface="Times New Roman" panose="02020603050405020304" pitchFamily="18" charset="0"/>
              </a:rPr>
              <a:t>phases </a:t>
            </a:r>
            <a:r>
              <a:rPr lang="en-AU" altLang="en-US" sz="2800" dirty="0" smtClean="0">
                <a:latin typeface="Times New Roman" panose="02020603050405020304" pitchFamily="18" charset="0"/>
                <a:cs typeface="Times New Roman" panose="02020603050405020304" pitchFamily="18" charset="0"/>
              </a:rPr>
              <a:t>are </a:t>
            </a:r>
            <a:r>
              <a:rPr lang="en-AU" altLang="en-US" sz="2800" dirty="0">
                <a:latin typeface="Times New Roman" panose="02020603050405020304" pitchFamily="18" charset="0"/>
                <a:cs typeface="Times New Roman" panose="02020603050405020304" pitchFamily="18" charset="0"/>
              </a:rPr>
              <a:t>the most critical stages of the SDLC.</a:t>
            </a:r>
          </a:p>
          <a:p>
            <a:pPr algn="just">
              <a:spcBef>
                <a:spcPct val="0"/>
              </a:spcBef>
              <a:buFontTx/>
              <a:buNone/>
            </a:pPr>
            <a:r>
              <a:rPr lang="en-AU" altLang="en-US" sz="2800" dirty="0">
                <a:latin typeface="Times New Roman" panose="02020603050405020304" pitchFamily="18" charset="0"/>
                <a:cs typeface="Times New Roman" panose="02020603050405020304" pitchFamily="18" charset="0"/>
              </a:rPr>
              <a:t>4. Explain the systems life cycle and describe why this concept is important to systems developers</a:t>
            </a:r>
            <a:r>
              <a:rPr lang="en-AU" altLang="en-US" sz="2800" dirty="0" smtClean="0">
                <a:latin typeface="Times New Roman" panose="02020603050405020304" pitchFamily="18" charset="0"/>
                <a:cs typeface="Times New Roman" panose="02020603050405020304" pitchFamily="18" charset="0"/>
              </a:rPr>
              <a:t>.</a:t>
            </a:r>
          </a:p>
          <a:p>
            <a:pPr algn="just">
              <a:spcBef>
                <a:spcPct val="0"/>
              </a:spcBef>
              <a:buFontTx/>
              <a:buNone/>
            </a:pPr>
            <a:r>
              <a:rPr lang="en-AU" altLang="en-US" sz="2800" dirty="0" smtClean="0">
                <a:latin typeface="Times New Roman" panose="02020603050405020304" pitchFamily="18" charset="0"/>
                <a:cs typeface="Times New Roman" panose="02020603050405020304" pitchFamily="18" charset="0"/>
              </a:rPr>
              <a:t>5. Explain the system development methodologies </a:t>
            </a:r>
            <a:endParaRPr lang="en-AU"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9443553"/>
      </p:ext>
    </p:extLst>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ChangeArrowheads="1"/>
          </p:cNvSpPr>
          <p:nvPr/>
        </p:nvSpPr>
        <p:spPr bwMode="auto">
          <a:xfrm>
            <a:off x="838200" y="381000"/>
            <a:ext cx="7162800"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mpd="dbl">
                <a:solidFill>
                  <a:srgbClr val="000000"/>
                </a:solidFill>
                <a:miter lim="800000"/>
                <a:headEnd/>
                <a:tailEnd/>
              </a14:hiddenLine>
            </a:ext>
          </a:extLst>
        </p:spPr>
        <p:txBody>
          <a:bodyPr lIns="90488" tIns="44450" rIns="90488" bIns="44450" anchor="b"/>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AU" altLang="en-US" sz="3600">
                <a:latin typeface="Times New Roman" panose="02020603050405020304" pitchFamily="18" charset="0"/>
              </a:rPr>
              <a:t>Review Questions</a:t>
            </a:r>
          </a:p>
        </p:txBody>
      </p:sp>
      <p:sp>
        <p:nvSpPr>
          <p:cNvPr id="475139" name="Rectangle 3"/>
          <p:cNvSpPr>
            <a:spLocks noChangeArrowheads="1"/>
          </p:cNvSpPr>
          <p:nvPr/>
        </p:nvSpPr>
        <p:spPr bwMode="auto">
          <a:xfrm>
            <a:off x="508000" y="1828800"/>
            <a:ext cx="8285018" cy="4114800"/>
          </a:xfrm>
          <a:prstGeom prst="rect">
            <a:avLst/>
          </a:prstGeom>
          <a:noFill/>
          <a:ln w="12700" cmpd="dbl">
            <a:noFill/>
            <a:miter lim="800000"/>
            <a:headEnd/>
            <a:tailEnd/>
          </a:ln>
          <a:effectLst/>
        </p:spPr>
        <p:txBody>
          <a:bodyPr lIns="90488" tIns="44450" rIns="90488" bIns="44450"/>
          <a:lstStyle/>
          <a:p>
            <a:pPr marL="514350" indent="-514350" algn="just" eaLnBrk="1" fontAlgn="auto" hangingPunct="1">
              <a:spcBef>
                <a:spcPts val="0"/>
              </a:spcBef>
              <a:spcAft>
                <a:spcPts val="0"/>
              </a:spcAft>
              <a:buFont typeface="+mj-lt"/>
              <a:buAutoNum type="arabicPeriod"/>
              <a:defRPr/>
            </a:pPr>
            <a:r>
              <a:rPr lang="en-AU" sz="2800" dirty="0">
                <a:latin typeface="+mn-lt"/>
                <a:cs typeface="+mn-cs"/>
              </a:rPr>
              <a:t>Describe the role of a systems analyst in the systems development process.</a:t>
            </a:r>
          </a:p>
          <a:p>
            <a:pPr marL="514350" indent="-514350" algn="just" eaLnBrk="1" fontAlgn="auto" hangingPunct="1">
              <a:spcBef>
                <a:spcPts val="0"/>
              </a:spcBef>
              <a:spcAft>
                <a:spcPts val="0"/>
              </a:spcAft>
              <a:buFont typeface="+mj-lt"/>
              <a:buAutoNum type="arabicPeriod"/>
              <a:defRPr/>
            </a:pPr>
            <a:r>
              <a:rPr lang="en-AU" sz="2800" dirty="0">
                <a:latin typeface="+mn-lt"/>
                <a:cs typeface="+mn-cs"/>
              </a:rPr>
              <a:t>Discuss the importance of recognising   system features and system boundaries as it relates to systems development.</a:t>
            </a:r>
          </a:p>
          <a:p>
            <a:pPr marL="514350" indent="-514350" algn="just" eaLnBrk="1" fontAlgn="auto" hangingPunct="1">
              <a:spcBef>
                <a:spcPts val="0"/>
              </a:spcBef>
              <a:spcAft>
                <a:spcPts val="0"/>
              </a:spcAft>
              <a:buFont typeface="+mj-lt"/>
              <a:buAutoNum type="arabicPeriod"/>
              <a:defRPr/>
            </a:pPr>
            <a:r>
              <a:rPr lang="en-AU" sz="2800" dirty="0">
                <a:latin typeface="+mn-lt"/>
                <a:cs typeface="+mn-cs"/>
              </a:rPr>
              <a:t>Describe and differentiate at least four different system types which fall under the umbrella of ‘information systems’.</a:t>
            </a:r>
          </a:p>
          <a:p>
            <a:pPr marL="285750" indent="-285750" eaLnBrk="1" fontAlgn="auto" hangingPunct="1">
              <a:spcBef>
                <a:spcPts val="0"/>
              </a:spcBef>
              <a:spcAft>
                <a:spcPts val="0"/>
              </a:spcAft>
              <a:defRPr/>
            </a:pPr>
            <a:endParaRPr lang="en-AU" sz="2800" dirty="0">
              <a:latin typeface="+mn-lt"/>
              <a:cs typeface="+mn-cs"/>
            </a:endParaRPr>
          </a:p>
        </p:txBody>
      </p:sp>
    </p:spTree>
    <p:extLst>
      <p:ext uri="{BB962C8B-B14F-4D97-AF65-F5344CB8AC3E}">
        <p14:creationId xmlns:p14="http://schemas.microsoft.com/office/powerpoint/2010/main" val="3434768475"/>
      </p:ext>
    </p:extLst>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43EA004-F8A2-4490-BFAE-85849A2E5323}" type="slidenum">
              <a:rPr lang="en-US" smtClean="0"/>
              <a:t>46</a:t>
            </a:fld>
            <a:endParaRPr lang="en-US"/>
          </a:p>
        </p:txBody>
      </p:sp>
      <p:pic>
        <p:nvPicPr>
          <p:cNvPr id="6" name="Content Placeholder 5"/>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bwMode="auto">
          <a:xfrm>
            <a:off x="3382201" y="3363531"/>
            <a:ext cx="2122487" cy="121443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3740151" y="2647950"/>
            <a:ext cx="2070100" cy="715581"/>
          </a:xfrm>
          <a:prstGeom prst="rect">
            <a:avLst/>
          </a:prstGeom>
          <a:noFill/>
        </p:spPr>
        <p:txBody>
          <a:bodyPr wrap="square" rtlCol="0">
            <a:spAutoFit/>
          </a:bodyPr>
          <a:lstStyle/>
          <a:p>
            <a:r>
              <a:rPr lang="en-US" sz="1350" dirty="0"/>
              <a:t>Thank You</a:t>
            </a:r>
          </a:p>
          <a:p>
            <a:endParaRPr lang="en-US" sz="1350" dirty="0"/>
          </a:p>
          <a:p>
            <a:r>
              <a:rPr lang="en-US" sz="1350" dirty="0"/>
              <a:t>!!!!!!!!!!!</a:t>
            </a:r>
          </a:p>
        </p:txBody>
      </p:sp>
    </p:spTree>
    <p:extLst>
      <p:ext uri="{BB962C8B-B14F-4D97-AF65-F5344CB8AC3E}">
        <p14:creationId xmlns:p14="http://schemas.microsoft.com/office/powerpoint/2010/main" val="201647227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3017</TotalTime>
  <Words>2997</Words>
  <Application>Microsoft Office PowerPoint</Application>
  <PresentationFormat>On-screen Show (4:3)</PresentationFormat>
  <Paragraphs>343</Paragraphs>
  <Slides>46</Slides>
  <Notes>25</Notes>
  <HiddenSlides>1</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46</vt:i4>
      </vt:variant>
    </vt:vector>
  </HeadingPairs>
  <TitlesOfParts>
    <vt:vector size="56" baseType="lpstr">
      <vt:lpstr>Arial</vt:lpstr>
      <vt:lpstr>Bookman Old Style</vt:lpstr>
      <vt:lpstr>Calibri</vt:lpstr>
      <vt:lpstr>Calibri Light</vt:lpstr>
      <vt:lpstr>Monotype Sorts</vt:lpstr>
      <vt:lpstr>Rockwell</vt:lpstr>
      <vt:lpstr>Times New Roman</vt:lpstr>
      <vt:lpstr>Wingdings</vt:lpstr>
      <vt:lpstr>Office Theme</vt:lpstr>
      <vt:lpstr>Photo Editor Photo</vt:lpstr>
      <vt:lpstr>      BIT 1103 Fundamentals of Information Systems</vt:lpstr>
      <vt:lpstr>  Learning Objectives</vt:lpstr>
      <vt:lpstr> Information Systems Processing phases </vt:lpstr>
      <vt:lpstr>Information Processing Cycle  </vt:lpstr>
      <vt:lpstr>Data Processing</vt:lpstr>
      <vt:lpstr>Information Processing Cycle-Phases</vt:lpstr>
      <vt:lpstr>Input</vt:lpstr>
      <vt:lpstr>Input</vt:lpstr>
      <vt:lpstr>Processing </vt:lpstr>
      <vt:lpstr>Storage</vt:lpstr>
      <vt:lpstr>Output </vt:lpstr>
      <vt:lpstr>Information Distribution</vt:lpstr>
      <vt:lpstr>Information Systems Projects</vt:lpstr>
      <vt:lpstr>Where do information Systems Projects Originate?</vt:lpstr>
      <vt:lpstr>Where do information Systems Projects Originate?</vt:lpstr>
      <vt:lpstr>Where do information Systems Projects Originate?</vt:lpstr>
      <vt:lpstr>Information Systems Development</vt:lpstr>
      <vt:lpstr>The Need for Structured Systems Development</vt:lpstr>
      <vt:lpstr>The Need for Structured Systems Development</vt:lpstr>
      <vt:lpstr>The Need for Structured Systems Development</vt:lpstr>
      <vt:lpstr>The Need for Structured Systems Development</vt:lpstr>
      <vt:lpstr>SYSTEMS DEVELOPMENT LIFE CYCLE (SDLC)</vt:lpstr>
      <vt:lpstr>SYSTEMS DEVELOPMENT LIFE CYCLE (SDLC)</vt:lpstr>
      <vt:lpstr>The SDLC has 7 phases:</vt:lpstr>
      <vt:lpstr>Phase 1: Planning</vt:lpstr>
      <vt:lpstr>Phase 1: Planning</vt:lpstr>
      <vt:lpstr>Phase 1: Planning</vt:lpstr>
      <vt:lpstr>Phase 2: Analysis</vt:lpstr>
      <vt:lpstr>Phase 2: Analysis</vt:lpstr>
      <vt:lpstr>Phase 3: Design</vt:lpstr>
      <vt:lpstr>Phase 3: Design</vt:lpstr>
      <vt:lpstr>Phase 4: Development</vt:lpstr>
      <vt:lpstr>Phase 5: Testing</vt:lpstr>
      <vt:lpstr>Phase 5: Testing</vt:lpstr>
      <vt:lpstr>Phase 6: Implementation</vt:lpstr>
      <vt:lpstr>Phase 6: Implementation</vt:lpstr>
      <vt:lpstr>PowerPoint Presentation</vt:lpstr>
      <vt:lpstr>PowerPoint Presentation</vt:lpstr>
      <vt:lpstr>Phase 7: Maintenance &amp; Support </vt:lpstr>
      <vt:lpstr>PowerPoint Presentation</vt:lpstr>
      <vt:lpstr>  Systems disposition</vt:lpstr>
      <vt:lpstr> Reasons why software development projects fail</vt:lpstr>
      <vt:lpstr>Read about software development methodologies   </vt:lpstr>
      <vt:lpstr> </vt:lpstr>
      <vt:lpstr>PowerPoint Presentation</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System L</dc:title>
  <dc:creator>Andrewk</dc:creator>
  <cp:lastModifiedBy>pc</cp:lastModifiedBy>
  <cp:revision>153</cp:revision>
  <dcterms:created xsi:type="dcterms:W3CDTF">2019-08-15T15:50:45Z</dcterms:created>
  <dcterms:modified xsi:type="dcterms:W3CDTF">2023-09-14T04:52:45Z</dcterms:modified>
</cp:coreProperties>
</file>