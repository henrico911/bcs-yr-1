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39"/>
  </p:notesMasterIdLst>
  <p:sldIdLst>
    <p:sldId id="256" r:id="rId2"/>
    <p:sldId id="257" r:id="rId3"/>
    <p:sldId id="264" r:id="rId4"/>
    <p:sldId id="297" r:id="rId5"/>
    <p:sldId id="282" r:id="rId6"/>
    <p:sldId id="283" r:id="rId7"/>
    <p:sldId id="291" r:id="rId8"/>
    <p:sldId id="298" r:id="rId9"/>
    <p:sldId id="292" r:id="rId10"/>
    <p:sldId id="296" r:id="rId11"/>
    <p:sldId id="293" r:id="rId12"/>
    <p:sldId id="294" r:id="rId13"/>
    <p:sldId id="284" r:id="rId14"/>
    <p:sldId id="281" r:id="rId15"/>
    <p:sldId id="261" r:id="rId16"/>
    <p:sldId id="262" r:id="rId17"/>
    <p:sldId id="299" r:id="rId18"/>
    <p:sldId id="300" r:id="rId19"/>
    <p:sldId id="301" r:id="rId20"/>
    <p:sldId id="302" r:id="rId21"/>
    <p:sldId id="263" r:id="rId22"/>
    <p:sldId id="319" r:id="rId23"/>
    <p:sldId id="304" r:id="rId24"/>
    <p:sldId id="305" r:id="rId25"/>
    <p:sldId id="306" r:id="rId26"/>
    <p:sldId id="307" r:id="rId27"/>
    <p:sldId id="308" r:id="rId28"/>
    <p:sldId id="309" r:id="rId29"/>
    <p:sldId id="310" r:id="rId30"/>
    <p:sldId id="311" r:id="rId31"/>
    <p:sldId id="312" r:id="rId32"/>
    <p:sldId id="313" r:id="rId33"/>
    <p:sldId id="314" r:id="rId34"/>
    <p:sldId id="315" r:id="rId35"/>
    <p:sldId id="316" r:id="rId36"/>
    <p:sldId id="317" r:id="rId37"/>
    <p:sldId id="318"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8206" autoAdjust="0"/>
  </p:normalViewPr>
  <p:slideViewPr>
    <p:cSldViewPr snapToGrid="0">
      <p:cViewPr>
        <p:scale>
          <a:sx n="95" d="100"/>
          <a:sy n="95" d="100"/>
        </p:scale>
        <p:origin x="1018" y="-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EBCF40-5070-4C1C-9F07-8F1F1B2B57B7}" type="datetimeFigureOut">
              <a:rPr lang="en-US" smtClean="0"/>
              <a:t>9/27/2023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98A2FD-71CC-4BC1-8CAD-93C25A8B9ED5}" type="slidenum">
              <a:rPr lang="en-US" smtClean="0"/>
              <a:t>‹#›</a:t>
            </a:fld>
            <a:endParaRPr lang="en-US"/>
          </a:p>
        </p:txBody>
      </p:sp>
    </p:spTree>
    <p:extLst>
      <p:ext uri="{BB962C8B-B14F-4D97-AF65-F5344CB8AC3E}">
        <p14:creationId xmlns:p14="http://schemas.microsoft.com/office/powerpoint/2010/main" val="2966187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8A2FD-71CC-4BC1-8CAD-93C25A8B9ED5}" type="slidenum">
              <a:rPr lang="en-US" smtClean="0"/>
              <a:t>17</a:t>
            </a:fld>
            <a:endParaRPr lang="en-US"/>
          </a:p>
        </p:txBody>
      </p:sp>
    </p:spTree>
    <p:extLst>
      <p:ext uri="{BB962C8B-B14F-4D97-AF65-F5344CB8AC3E}">
        <p14:creationId xmlns:p14="http://schemas.microsoft.com/office/powerpoint/2010/main" val="1473996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D8A5DFB-3CCB-40CC-8C67-73207FEDBE46}" type="datetimeFigureOut">
              <a:rPr lang="en-US" smtClean="0"/>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CD9700-FBCE-4B97-B629-902CB25E0AE9}" type="slidenum">
              <a:rPr lang="en-US" smtClean="0"/>
              <a:t>‹#›</a:t>
            </a:fld>
            <a:endParaRPr lang="en-US"/>
          </a:p>
        </p:txBody>
      </p:sp>
    </p:spTree>
    <p:extLst>
      <p:ext uri="{BB962C8B-B14F-4D97-AF65-F5344CB8AC3E}">
        <p14:creationId xmlns:p14="http://schemas.microsoft.com/office/powerpoint/2010/main" val="3710350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8A5DFB-3CCB-40CC-8C67-73207FEDBE46}" type="datetimeFigureOut">
              <a:rPr lang="en-US" smtClean="0"/>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CD9700-FBCE-4B97-B629-902CB25E0AE9}" type="slidenum">
              <a:rPr lang="en-US" smtClean="0"/>
              <a:t>‹#›</a:t>
            </a:fld>
            <a:endParaRPr lang="en-US"/>
          </a:p>
        </p:txBody>
      </p:sp>
    </p:spTree>
    <p:extLst>
      <p:ext uri="{BB962C8B-B14F-4D97-AF65-F5344CB8AC3E}">
        <p14:creationId xmlns:p14="http://schemas.microsoft.com/office/powerpoint/2010/main" val="4017394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D8A5DFB-3CCB-40CC-8C67-73207FEDBE46}" type="datetimeFigureOut">
              <a:rPr lang="en-US" smtClean="0"/>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CD9700-FBCE-4B97-B629-902CB25E0AE9}" type="slidenum">
              <a:rPr lang="en-US" smtClean="0"/>
              <a:t>‹#›</a:t>
            </a:fld>
            <a:endParaRPr lang="en-US"/>
          </a:p>
        </p:txBody>
      </p:sp>
    </p:spTree>
    <p:extLst>
      <p:ext uri="{BB962C8B-B14F-4D97-AF65-F5344CB8AC3E}">
        <p14:creationId xmlns:p14="http://schemas.microsoft.com/office/powerpoint/2010/main" val="3730291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D8A5DFB-3CCB-40CC-8C67-73207FEDBE46}" type="datetimeFigureOut">
              <a:rPr lang="en-US" smtClean="0"/>
              <a:t>9/27/2023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CD9700-FBCE-4B97-B629-902CB25E0AE9}" type="slidenum">
              <a:rPr lang="en-US" smtClean="0"/>
              <a:t>‹#›</a:t>
            </a:fld>
            <a:endParaRPr lang="en-US"/>
          </a:p>
        </p:txBody>
      </p:sp>
    </p:spTree>
    <p:extLst>
      <p:ext uri="{BB962C8B-B14F-4D97-AF65-F5344CB8AC3E}">
        <p14:creationId xmlns:p14="http://schemas.microsoft.com/office/powerpoint/2010/main" val="3000252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D8A5DFB-3CCB-40CC-8C67-73207FEDBE46}" type="datetimeFigureOut">
              <a:rPr lang="en-US" smtClean="0"/>
              <a:t>9/27/2023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CD9700-FBCE-4B97-B629-902CB25E0AE9}" type="slidenum">
              <a:rPr lang="en-US" smtClean="0"/>
              <a:t>‹#›</a:t>
            </a:fld>
            <a:endParaRPr lang="en-US"/>
          </a:p>
        </p:txBody>
      </p:sp>
    </p:spTree>
    <p:extLst>
      <p:ext uri="{BB962C8B-B14F-4D97-AF65-F5344CB8AC3E}">
        <p14:creationId xmlns:p14="http://schemas.microsoft.com/office/powerpoint/2010/main" val="3420739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D8A5DFB-3CCB-40CC-8C67-73207FEDBE46}" type="datetimeFigureOut">
              <a:rPr lang="en-US" smtClean="0"/>
              <a:t>9/27/2023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CD9700-FBCE-4B97-B629-902CB25E0AE9}" type="slidenum">
              <a:rPr lang="en-US" smtClean="0"/>
              <a:t>‹#›</a:t>
            </a:fld>
            <a:endParaRPr lang="en-US"/>
          </a:p>
        </p:txBody>
      </p:sp>
    </p:spTree>
    <p:extLst>
      <p:ext uri="{BB962C8B-B14F-4D97-AF65-F5344CB8AC3E}">
        <p14:creationId xmlns:p14="http://schemas.microsoft.com/office/powerpoint/2010/main" val="1022364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8A5DFB-3CCB-40CC-8C67-73207FEDBE46}" type="datetimeFigureOut">
              <a:rPr lang="en-US" smtClean="0"/>
              <a:t>9/27/2023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CD9700-FBCE-4B97-B629-902CB25E0AE9}" type="slidenum">
              <a:rPr lang="en-US" smtClean="0"/>
              <a:t>‹#›</a:t>
            </a:fld>
            <a:endParaRPr lang="en-US"/>
          </a:p>
        </p:txBody>
      </p:sp>
    </p:spTree>
    <p:extLst>
      <p:ext uri="{BB962C8B-B14F-4D97-AF65-F5344CB8AC3E}">
        <p14:creationId xmlns:p14="http://schemas.microsoft.com/office/powerpoint/2010/main" val="1083868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3D8A5DFB-3CCB-40CC-8C67-73207FEDBE46}" type="datetimeFigureOut">
              <a:rPr lang="en-US" smtClean="0"/>
              <a:t>9/27/2023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CD9700-FBCE-4B97-B629-902CB25E0AE9}" type="slidenum">
              <a:rPr lang="en-US" smtClean="0"/>
              <a:t>‹#›</a:t>
            </a:fld>
            <a:endParaRPr lang="en-US"/>
          </a:p>
        </p:txBody>
      </p:sp>
    </p:spTree>
    <p:extLst>
      <p:ext uri="{BB962C8B-B14F-4D97-AF65-F5344CB8AC3E}">
        <p14:creationId xmlns:p14="http://schemas.microsoft.com/office/powerpoint/2010/main" val="1159534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3D8A5DFB-3CCB-40CC-8C67-73207FEDBE46}" type="datetimeFigureOut">
              <a:rPr lang="en-US" smtClean="0"/>
              <a:t>9/27/2023</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3CD9700-FBCE-4B97-B629-902CB25E0AE9}" type="slidenum">
              <a:rPr lang="en-US" smtClean="0"/>
              <a:t>‹#›</a:t>
            </a:fld>
            <a:endParaRPr lang="en-US"/>
          </a:p>
        </p:txBody>
      </p:sp>
    </p:spTree>
    <p:extLst>
      <p:ext uri="{BB962C8B-B14F-4D97-AF65-F5344CB8AC3E}">
        <p14:creationId xmlns:p14="http://schemas.microsoft.com/office/powerpoint/2010/main" val="347235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8A5DFB-3CCB-40CC-8C67-73207FEDBE46}" type="datetimeFigureOut">
              <a:rPr lang="en-US" smtClean="0"/>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CD9700-FBCE-4B97-B629-902CB25E0AE9}" type="slidenum">
              <a:rPr lang="en-US" smtClean="0"/>
              <a:t>‹#›</a:t>
            </a:fld>
            <a:endParaRPr lang="en-US"/>
          </a:p>
        </p:txBody>
      </p:sp>
    </p:spTree>
    <p:extLst>
      <p:ext uri="{BB962C8B-B14F-4D97-AF65-F5344CB8AC3E}">
        <p14:creationId xmlns:p14="http://schemas.microsoft.com/office/powerpoint/2010/main" val="428499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8A5DFB-3CCB-40CC-8C67-73207FEDBE46}" type="datetimeFigureOut">
              <a:rPr lang="en-US" smtClean="0"/>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CD9700-FBCE-4B97-B629-902CB25E0AE9}" type="slidenum">
              <a:rPr lang="en-US" smtClean="0"/>
              <a:t>‹#›</a:t>
            </a:fld>
            <a:endParaRPr lang="en-US"/>
          </a:p>
        </p:txBody>
      </p:sp>
    </p:spTree>
    <p:extLst>
      <p:ext uri="{BB962C8B-B14F-4D97-AF65-F5344CB8AC3E}">
        <p14:creationId xmlns:p14="http://schemas.microsoft.com/office/powerpoint/2010/main" val="3862202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D8A5DFB-3CCB-40CC-8C67-73207FEDBE46}" type="datetimeFigureOut">
              <a:rPr lang="en-US" smtClean="0"/>
              <a:t>9/27/2023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3CD9700-FBCE-4B97-B629-902CB25E0AE9}" type="slidenum">
              <a:rPr lang="en-US" smtClean="0"/>
              <a:t>‹#›</a:t>
            </a:fld>
            <a:endParaRPr lang="en-US"/>
          </a:p>
        </p:txBody>
      </p:sp>
    </p:spTree>
    <p:extLst>
      <p:ext uri="{BB962C8B-B14F-4D97-AF65-F5344CB8AC3E}">
        <p14:creationId xmlns:p14="http://schemas.microsoft.com/office/powerpoint/2010/main" val="2389276524"/>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127953"/>
            <a:ext cx="8496299" cy="1598807"/>
          </a:xfrm>
        </p:spPr>
        <p:txBody>
          <a:bodyPr>
            <a:normAutofit/>
          </a:bodyPr>
          <a:lstStyle/>
          <a:p>
            <a:pPr algn="ctr"/>
            <a:r>
              <a:rPr lang="en-US" dirty="0" smtClean="0"/>
              <a:t> Information Systems in Decision Making</a:t>
            </a:r>
            <a:endParaRPr lang="en-US" dirty="0"/>
          </a:p>
        </p:txBody>
      </p:sp>
      <p:sp>
        <p:nvSpPr>
          <p:cNvPr id="3" name="Subtitle 2"/>
          <p:cNvSpPr>
            <a:spLocks noGrp="1"/>
          </p:cNvSpPr>
          <p:nvPr>
            <p:ph type="subTitle" idx="1"/>
          </p:nvPr>
        </p:nvSpPr>
        <p:spPr>
          <a:xfrm>
            <a:off x="2895599" y="3080620"/>
            <a:ext cx="3038476" cy="2120030"/>
          </a:xfrm>
        </p:spPr>
        <p:txBody>
          <a:bodyPr>
            <a:normAutofit/>
          </a:bodyPr>
          <a:lstStyle/>
          <a:p>
            <a:pPr algn="l">
              <a:spcAft>
                <a:spcPts val="94"/>
              </a:spcAft>
            </a:pPr>
            <a:r>
              <a:rPr lang="it-IT" sz="2100" cap="none" dirty="0">
                <a:latin typeface="Arial Narrow" panose="020B0606020202030204" pitchFamily="34" charset="0"/>
                <a:ea typeface="Times New Roman" panose="02020603050405020304" pitchFamily="18" charset="0"/>
              </a:rPr>
              <a:t>This topic will cover</a:t>
            </a:r>
          </a:p>
          <a:p>
            <a:pPr marL="257175" indent="-257175" algn="l">
              <a:spcAft>
                <a:spcPts val="94"/>
              </a:spcAft>
              <a:buFont typeface="Symbol" panose="05050102010706020507" pitchFamily="18" charset="2"/>
              <a:buChar char=""/>
            </a:pPr>
            <a:r>
              <a:rPr lang="it-IT" sz="2100" cap="none" dirty="0">
                <a:latin typeface="Arial Narrow" panose="020B0606020202030204" pitchFamily="34" charset="0"/>
                <a:ea typeface="Times New Roman" panose="02020603050405020304" pitchFamily="18" charset="0"/>
              </a:rPr>
              <a:t>Levels of decision making,</a:t>
            </a:r>
            <a:endParaRPr lang="en-US" sz="2100" cap="none" dirty="0">
              <a:latin typeface="Times New Roman" panose="02020603050405020304" pitchFamily="18" charset="0"/>
              <a:ea typeface="Times New Roman" panose="02020603050405020304" pitchFamily="18" charset="0"/>
            </a:endParaRPr>
          </a:p>
          <a:p>
            <a:pPr marL="257175" indent="-257175" algn="l">
              <a:spcAft>
                <a:spcPts val="94"/>
              </a:spcAft>
              <a:buFont typeface="Symbol" panose="05050102010706020507" pitchFamily="18" charset="2"/>
              <a:buChar char=""/>
            </a:pPr>
            <a:r>
              <a:rPr lang="it-IT" sz="2100" cap="none" dirty="0">
                <a:latin typeface="Arial Narrow" panose="020B0606020202030204" pitchFamily="34" charset="0"/>
                <a:ea typeface="Times New Roman" panose="02020603050405020304" pitchFamily="18" charset="0"/>
              </a:rPr>
              <a:t>Types, </a:t>
            </a:r>
            <a:endParaRPr lang="en-US" sz="2100" cap="none" dirty="0">
              <a:latin typeface="Times New Roman" panose="02020603050405020304" pitchFamily="18" charset="0"/>
              <a:ea typeface="Times New Roman" panose="02020603050405020304" pitchFamily="18" charset="0"/>
            </a:endParaRPr>
          </a:p>
          <a:p>
            <a:pPr marL="257175" indent="-257175" algn="l">
              <a:spcAft>
                <a:spcPts val="94"/>
              </a:spcAft>
              <a:buFont typeface="Symbol" panose="05050102010706020507" pitchFamily="18" charset="2"/>
              <a:buChar char=""/>
            </a:pPr>
            <a:r>
              <a:rPr lang="it-IT" sz="2100" cap="none" dirty="0">
                <a:latin typeface="Arial Narrow" panose="020B0606020202030204" pitchFamily="34" charset="0"/>
                <a:ea typeface="Times New Roman" panose="02020603050405020304" pitchFamily="18" charset="0"/>
              </a:rPr>
              <a:t>Stages, </a:t>
            </a:r>
            <a:endParaRPr lang="en-US" sz="2100" cap="none" dirty="0">
              <a:latin typeface="Times New Roman" panose="02020603050405020304" pitchFamily="18" charset="0"/>
              <a:ea typeface="Times New Roman" panose="02020603050405020304" pitchFamily="18" charset="0"/>
            </a:endParaRPr>
          </a:p>
          <a:p>
            <a:pPr marL="257175" indent="-257175" algn="l">
              <a:spcAft>
                <a:spcPts val="94"/>
              </a:spcAft>
              <a:buFont typeface="Symbol" panose="05050102010706020507" pitchFamily="18" charset="2"/>
              <a:buChar char=""/>
            </a:pPr>
            <a:r>
              <a:rPr lang="it-IT" sz="2100" cap="none" dirty="0">
                <a:latin typeface="Arial Narrow" panose="020B0606020202030204" pitchFamily="34" charset="0"/>
                <a:ea typeface="Times New Roman" panose="02020603050405020304" pitchFamily="18" charset="0"/>
              </a:rPr>
              <a:t>People and their roles</a:t>
            </a:r>
            <a:endParaRPr lang="en-US" sz="2100" cap="none" dirty="0">
              <a:latin typeface="Times New Roman" panose="02020603050405020304" pitchFamily="18" charset="0"/>
              <a:ea typeface="Times New Roman" panose="02020603050405020304" pitchFamily="18" charset="0"/>
            </a:endParaRPr>
          </a:p>
          <a:p>
            <a:pPr algn="l"/>
            <a:endParaRPr lang="en-US" sz="2100" cap="none" dirty="0"/>
          </a:p>
        </p:txBody>
      </p:sp>
    </p:spTree>
    <p:extLst>
      <p:ext uri="{BB962C8B-B14F-4D97-AF65-F5344CB8AC3E}">
        <p14:creationId xmlns:p14="http://schemas.microsoft.com/office/powerpoint/2010/main" val="42402681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288" y="581896"/>
            <a:ext cx="7543800" cy="604162"/>
          </a:xfrm>
        </p:spPr>
        <p:txBody>
          <a:bodyPr>
            <a:normAutofit/>
          </a:bodyPr>
          <a:lstStyle/>
          <a:p>
            <a:r>
              <a:rPr lang="en-US" cap="none" dirty="0" smtClean="0"/>
              <a:t>Introduction</a:t>
            </a:r>
            <a:endParaRPr lang="en-US" cap="none" dirty="0"/>
          </a:p>
        </p:txBody>
      </p:sp>
      <p:sp>
        <p:nvSpPr>
          <p:cNvPr id="3" name="Content Placeholder 2"/>
          <p:cNvSpPr>
            <a:spLocks noGrp="1"/>
          </p:cNvSpPr>
          <p:nvPr>
            <p:ph idx="1"/>
          </p:nvPr>
        </p:nvSpPr>
        <p:spPr>
          <a:xfrm>
            <a:off x="514288" y="1288473"/>
            <a:ext cx="8382062" cy="5274253"/>
          </a:xfrm>
        </p:spPr>
        <p:txBody>
          <a:bodyPr>
            <a:noAutofit/>
          </a:bodyPr>
          <a:lstStyle/>
          <a:p>
            <a:pPr marL="0" indent="0" algn="just">
              <a:spcBef>
                <a:spcPts val="0"/>
              </a:spcBef>
              <a:buNone/>
            </a:pPr>
            <a:endParaRPr lang="en-US" sz="2800" dirty="0"/>
          </a:p>
          <a:p>
            <a:pPr algn="just">
              <a:spcBef>
                <a:spcPts val="0"/>
              </a:spcBef>
            </a:pPr>
            <a:r>
              <a:rPr lang="en-US" sz="2800" dirty="0"/>
              <a:t>A decision </a:t>
            </a:r>
            <a:r>
              <a:rPr lang="en-US" sz="2800" dirty="0" smtClean="0"/>
              <a:t>involves </a:t>
            </a:r>
            <a:r>
              <a:rPr lang="en-US" sz="2800" dirty="0"/>
              <a:t>a cut of </a:t>
            </a:r>
            <a:r>
              <a:rPr lang="en-US" sz="2800" dirty="0" smtClean="0"/>
              <a:t>alternatives </a:t>
            </a:r>
            <a:r>
              <a:rPr lang="en-US" sz="2800" dirty="0"/>
              <a:t>between those that are desirable and those are non desirable</a:t>
            </a:r>
            <a:r>
              <a:rPr lang="en-US" sz="2800" dirty="0" smtClean="0"/>
              <a:t>.</a:t>
            </a:r>
          </a:p>
          <a:p>
            <a:pPr marL="0" indent="0" algn="just">
              <a:spcBef>
                <a:spcPts val="0"/>
              </a:spcBef>
              <a:buNone/>
            </a:pPr>
            <a:endParaRPr lang="en-US" sz="2800" dirty="0"/>
          </a:p>
          <a:p>
            <a:pPr algn="just">
              <a:spcBef>
                <a:spcPts val="0"/>
              </a:spcBef>
            </a:pPr>
            <a:r>
              <a:rPr lang="en-US" sz="2800" b="1" dirty="0" smtClean="0"/>
              <a:t>Decision-making </a:t>
            </a:r>
            <a:r>
              <a:rPr lang="en-US" sz="2800" dirty="0"/>
              <a:t>is </a:t>
            </a:r>
            <a:r>
              <a:rPr lang="en-US" sz="2800" dirty="0" smtClean="0"/>
              <a:t>developing concepts leading to the selection </a:t>
            </a:r>
            <a:r>
              <a:rPr lang="en-US" sz="2800" dirty="0"/>
              <a:t>of a course of action among variations. Every decision making process produces a final </a:t>
            </a:r>
            <a:r>
              <a:rPr lang="en-US" sz="2800" dirty="0" smtClean="0"/>
              <a:t>choice</a:t>
            </a:r>
          </a:p>
          <a:p>
            <a:pPr marL="0" indent="0" algn="just">
              <a:spcBef>
                <a:spcPts val="0"/>
              </a:spcBef>
              <a:buNone/>
            </a:pPr>
            <a:r>
              <a:rPr lang="en-US" sz="2800" dirty="0" smtClean="0"/>
              <a:t> </a:t>
            </a:r>
            <a:endParaRPr lang="en-US" sz="2800" dirty="0"/>
          </a:p>
          <a:p>
            <a:pPr algn="just">
              <a:spcBef>
                <a:spcPts val="0"/>
              </a:spcBef>
            </a:pPr>
            <a:r>
              <a:rPr lang="en-US" sz="2800" dirty="0"/>
              <a:t> It can be an action or an opinion. </a:t>
            </a:r>
            <a:endParaRPr lang="en-US" sz="2800" dirty="0" smtClean="0"/>
          </a:p>
          <a:p>
            <a:pPr marL="0" indent="0" algn="just">
              <a:spcBef>
                <a:spcPts val="0"/>
              </a:spcBef>
              <a:buNone/>
            </a:pPr>
            <a:endParaRPr lang="en-US" sz="2800" dirty="0" smtClean="0"/>
          </a:p>
          <a:p>
            <a:pPr algn="just">
              <a:spcBef>
                <a:spcPts val="0"/>
              </a:spcBef>
            </a:pPr>
            <a:r>
              <a:rPr lang="en-US" sz="2800" dirty="0" smtClean="0"/>
              <a:t>It </a:t>
            </a:r>
            <a:r>
              <a:rPr lang="en-US" sz="2800" dirty="0"/>
              <a:t>begins when we need to do something but we do not know </a:t>
            </a:r>
            <a:r>
              <a:rPr lang="en-US" sz="2800" dirty="0" smtClean="0"/>
              <a:t>what </a:t>
            </a:r>
            <a:r>
              <a:rPr lang="en-US" sz="2800" dirty="0"/>
              <a:t>e.g. Decision to raise a Purchase Order</a:t>
            </a:r>
          </a:p>
          <a:p>
            <a:pPr algn="just">
              <a:spcBef>
                <a:spcPts val="0"/>
              </a:spcBef>
            </a:pPr>
            <a:endParaRPr lang="en-US" sz="2800" dirty="0"/>
          </a:p>
        </p:txBody>
      </p:sp>
    </p:spTree>
    <p:extLst>
      <p:ext uri="{BB962C8B-B14F-4D97-AF65-F5344CB8AC3E}">
        <p14:creationId xmlns:p14="http://schemas.microsoft.com/office/powerpoint/2010/main" val="18980435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915" y="256001"/>
            <a:ext cx="7543800" cy="463244"/>
          </a:xfrm>
        </p:spPr>
        <p:txBody>
          <a:bodyPr>
            <a:noAutofit/>
          </a:bodyPr>
          <a:lstStyle/>
          <a:p>
            <a:r>
              <a:rPr lang="en-US" sz="3300" b="1" cap="none" dirty="0"/>
              <a:t>Concept of Decision-making</a:t>
            </a:r>
            <a:endParaRPr lang="en-US" sz="3300" cap="none" dirty="0"/>
          </a:p>
        </p:txBody>
      </p:sp>
      <p:sp>
        <p:nvSpPr>
          <p:cNvPr id="3" name="Content Placeholder 2"/>
          <p:cNvSpPr>
            <a:spLocks noGrp="1"/>
          </p:cNvSpPr>
          <p:nvPr>
            <p:ph idx="1"/>
          </p:nvPr>
        </p:nvSpPr>
        <p:spPr>
          <a:xfrm>
            <a:off x="584385" y="904874"/>
            <a:ext cx="8221411" cy="5953125"/>
          </a:xfrm>
        </p:spPr>
        <p:txBody>
          <a:bodyPr>
            <a:noAutofit/>
          </a:bodyPr>
          <a:lstStyle/>
          <a:p>
            <a:pPr algn="just">
              <a:lnSpc>
                <a:spcPct val="150000"/>
              </a:lnSpc>
              <a:spcBef>
                <a:spcPts val="0"/>
              </a:spcBef>
            </a:pPr>
            <a:r>
              <a:rPr lang="en-US" sz="2400" b="1" dirty="0"/>
              <a:t>Decision-making</a:t>
            </a:r>
            <a:r>
              <a:rPr lang="en-US" sz="2400" dirty="0"/>
              <a:t> is a cognitive process that results in the selection of a course of action among several alternative scenarios.</a:t>
            </a:r>
          </a:p>
          <a:p>
            <a:pPr algn="just">
              <a:lnSpc>
                <a:spcPct val="150000"/>
              </a:lnSpc>
              <a:spcBef>
                <a:spcPts val="0"/>
              </a:spcBef>
            </a:pPr>
            <a:r>
              <a:rPr lang="en-US" sz="2400" b="1" dirty="0"/>
              <a:t>Decision-making</a:t>
            </a:r>
            <a:r>
              <a:rPr lang="en-US" sz="2400" dirty="0"/>
              <a:t> is a daily activity for any human being. There is no exception about that. When it comes to business organizations, decision-making is a habit and a process as well.</a:t>
            </a:r>
          </a:p>
          <a:p>
            <a:pPr algn="just">
              <a:lnSpc>
                <a:spcPct val="150000"/>
              </a:lnSpc>
              <a:spcBef>
                <a:spcPts val="0"/>
              </a:spcBef>
            </a:pPr>
            <a:r>
              <a:rPr lang="en-US" sz="2400" dirty="0"/>
              <a:t>Effective and successful decisions result in profits, while unsuccessful ones cause losses. Therefore, corporate decision-making is the most critical process in any organization</a:t>
            </a:r>
            <a:r>
              <a:rPr lang="en-US" sz="2400" dirty="0" smtClean="0"/>
              <a:t>.</a:t>
            </a:r>
            <a:endParaRPr lang="en-US" sz="2400" dirty="0"/>
          </a:p>
        </p:txBody>
      </p:sp>
    </p:spTree>
    <p:extLst>
      <p:ext uri="{BB962C8B-B14F-4D97-AF65-F5344CB8AC3E}">
        <p14:creationId xmlns:p14="http://schemas.microsoft.com/office/powerpoint/2010/main" val="33477456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0525" y="514350"/>
            <a:ext cx="8515349" cy="5662613"/>
          </a:xfrm>
        </p:spPr>
        <p:txBody>
          <a:bodyPr>
            <a:noAutofit/>
          </a:bodyPr>
          <a:lstStyle/>
          <a:p>
            <a:pPr algn="just">
              <a:lnSpc>
                <a:spcPct val="150000"/>
              </a:lnSpc>
              <a:spcBef>
                <a:spcPts val="0"/>
              </a:spcBef>
            </a:pPr>
            <a:r>
              <a:rPr lang="en-US" sz="2800" dirty="0"/>
              <a:t>In a decision-making process, we choose one course of action from a few possible alternatives. In the process of decision-making, we may use many tools, techniques, and perceptions.</a:t>
            </a:r>
          </a:p>
          <a:p>
            <a:pPr algn="just">
              <a:lnSpc>
                <a:spcPct val="150000"/>
              </a:lnSpc>
              <a:spcBef>
                <a:spcPts val="0"/>
              </a:spcBef>
            </a:pPr>
            <a:r>
              <a:rPr lang="en-US" sz="2800" dirty="0"/>
              <a:t>In addition, we may make our own private decisions or may prefer a collective decision.</a:t>
            </a:r>
          </a:p>
          <a:p>
            <a:pPr algn="just">
              <a:lnSpc>
                <a:spcPct val="150000"/>
              </a:lnSpc>
              <a:spcBef>
                <a:spcPts val="0"/>
              </a:spcBef>
            </a:pPr>
            <a:r>
              <a:rPr lang="en-US" sz="2800" dirty="0"/>
              <a:t>Usually, decision-making is hard. Majority of corporate decisions involve some level of dissatisfaction or conflict with another party.</a:t>
            </a:r>
          </a:p>
          <a:p>
            <a:pPr algn="just">
              <a:lnSpc>
                <a:spcPct val="150000"/>
              </a:lnSpc>
              <a:spcBef>
                <a:spcPts val="0"/>
              </a:spcBef>
            </a:pPr>
            <a:endParaRPr lang="en-US" sz="2800" dirty="0"/>
          </a:p>
          <a:p>
            <a:endParaRPr lang="en-US" sz="2800" dirty="0"/>
          </a:p>
        </p:txBody>
      </p:sp>
    </p:spTree>
    <p:extLst>
      <p:ext uri="{BB962C8B-B14F-4D97-AF65-F5344CB8AC3E}">
        <p14:creationId xmlns:p14="http://schemas.microsoft.com/office/powerpoint/2010/main" val="4126110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754" y="104775"/>
            <a:ext cx="7543800" cy="542925"/>
          </a:xfrm>
        </p:spPr>
        <p:txBody>
          <a:bodyPr>
            <a:normAutofit fontScale="90000"/>
          </a:bodyPr>
          <a:lstStyle/>
          <a:p>
            <a:pPr algn="ctr"/>
            <a:r>
              <a:rPr lang="en-US" dirty="0" smtClean="0">
                <a:solidFill>
                  <a:srgbClr val="0070C0"/>
                </a:solidFill>
                <a:effectLst>
                  <a:outerShdw blurRad="38100" dist="38100" dir="2700000" algn="tl">
                    <a:srgbClr val="000000">
                      <a:alpha val="43137"/>
                    </a:srgbClr>
                  </a:outerShdw>
                </a:effectLst>
              </a:rPr>
              <a:t>Decision making classification</a:t>
            </a:r>
            <a:endParaRPr lang="en-US" dirty="0">
              <a:solidFill>
                <a:srgbClr val="0070C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61950" y="647700"/>
            <a:ext cx="8515350" cy="6210300"/>
          </a:xfrm>
        </p:spPr>
        <p:txBody>
          <a:bodyPr>
            <a:noAutofit/>
          </a:bodyPr>
          <a:lstStyle/>
          <a:p>
            <a:pPr marL="0" indent="0" algn="just">
              <a:lnSpc>
                <a:spcPct val="150000"/>
              </a:lnSpc>
              <a:buNone/>
            </a:pPr>
            <a:r>
              <a:rPr lang="en-US" dirty="0"/>
              <a:t>Decision making can be classified by organizational level, as</a:t>
            </a:r>
          </a:p>
          <a:p>
            <a:pPr algn="just">
              <a:lnSpc>
                <a:spcPct val="150000"/>
              </a:lnSpc>
            </a:pPr>
            <a:r>
              <a:rPr lang="en-US" b="1" dirty="0"/>
              <a:t>Strategic decision making </a:t>
            </a:r>
            <a:r>
              <a:rPr lang="en-US" dirty="0"/>
              <a:t>determines the objectives, resources, and policies of the organization.</a:t>
            </a:r>
          </a:p>
          <a:p>
            <a:pPr algn="just">
              <a:lnSpc>
                <a:spcPct val="150000"/>
              </a:lnSpc>
            </a:pPr>
            <a:r>
              <a:rPr lang="en-US" b="1" dirty="0"/>
              <a:t>Decision making for management control </a:t>
            </a:r>
            <a:r>
              <a:rPr lang="en-US" dirty="0"/>
              <a:t>is </a:t>
            </a:r>
            <a:r>
              <a:rPr lang="en-US" dirty="0" smtClean="0"/>
              <a:t>mainly </a:t>
            </a:r>
            <a:r>
              <a:rPr lang="en-US" dirty="0"/>
              <a:t>concerned with how efficiently and effectively resources are used and how well operational units are performing.</a:t>
            </a:r>
          </a:p>
          <a:p>
            <a:pPr algn="just">
              <a:lnSpc>
                <a:spcPct val="150000"/>
              </a:lnSpc>
            </a:pPr>
            <a:r>
              <a:rPr lang="en-US" b="1" dirty="0"/>
              <a:t>Operational control decision making </a:t>
            </a:r>
            <a:r>
              <a:rPr lang="en-US" dirty="0"/>
              <a:t>determines how to carry out the specific tasks set </a:t>
            </a:r>
            <a:r>
              <a:rPr lang="en-US" dirty="0" smtClean="0"/>
              <a:t>out </a:t>
            </a:r>
            <a:r>
              <a:rPr lang="en-US" dirty="0"/>
              <a:t>by strategic and middle management decision makers.</a:t>
            </a:r>
          </a:p>
          <a:p>
            <a:pPr algn="just">
              <a:lnSpc>
                <a:spcPct val="150000"/>
              </a:lnSpc>
            </a:pPr>
            <a:r>
              <a:rPr lang="en-US" b="1" dirty="0"/>
              <a:t>Knowledge-level decision making </a:t>
            </a:r>
            <a:r>
              <a:rPr lang="en-US" dirty="0"/>
              <a:t>deals with evaluating new ideas for products and services, ways to communicate new knowledge, and ways to distribute information throughout the organization.</a:t>
            </a:r>
          </a:p>
        </p:txBody>
      </p:sp>
    </p:spTree>
    <p:extLst>
      <p:ext uri="{BB962C8B-B14F-4D97-AF65-F5344CB8AC3E}">
        <p14:creationId xmlns:p14="http://schemas.microsoft.com/office/powerpoint/2010/main" val="32726280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93104" y="1420922"/>
            <a:ext cx="6811028" cy="4215791"/>
          </a:xfrm>
          <a:prstGeom prst="rect">
            <a:avLst/>
          </a:prstGeom>
        </p:spPr>
      </p:pic>
    </p:spTree>
    <p:extLst>
      <p:ext uri="{BB962C8B-B14F-4D97-AF65-F5344CB8AC3E}">
        <p14:creationId xmlns:p14="http://schemas.microsoft.com/office/powerpoint/2010/main" val="1468021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775" y="190500"/>
            <a:ext cx="8943975" cy="6515099"/>
          </a:xfrm>
        </p:spPr>
        <p:txBody>
          <a:bodyPr>
            <a:noAutofit/>
          </a:bodyPr>
          <a:lstStyle/>
          <a:p>
            <a:pPr marL="0" indent="0" algn="ctr">
              <a:spcBef>
                <a:spcPts val="0"/>
              </a:spcBef>
              <a:buNone/>
            </a:pPr>
            <a:r>
              <a:rPr lang="en-US" sz="3600" b="1" i="1" dirty="0">
                <a:solidFill>
                  <a:srgbClr val="0070C0"/>
                </a:solidFill>
                <a:effectLst>
                  <a:outerShdw blurRad="38100" dist="38100" dir="2700000" algn="tl">
                    <a:srgbClr val="000000">
                      <a:alpha val="43137"/>
                    </a:srgbClr>
                  </a:outerShdw>
                </a:effectLst>
              </a:rPr>
              <a:t>Operational </a:t>
            </a:r>
            <a:r>
              <a:rPr lang="en-US" sz="3600" b="1" i="1" dirty="0" smtClean="0">
                <a:solidFill>
                  <a:srgbClr val="0070C0"/>
                </a:solidFill>
                <a:effectLst>
                  <a:outerShdw blurRad="38100" dist="38100" dir="2700000" algn="tl">
                    <a:srgbClr val="000000">
                      <a:alpha val="43137"/>
                    </a:srgbClr>
                  </a:outerShdw>
                </a:effectLst>
              </a:rPr>
              <a:t>Decisions</a:t>
            </a:r>
            <a:endParaRPr lang="en-US" sz="3600" b="1" i="1" dirty="0">
              <a:solidFill>
                <a:srgbClr val="0070C0"/>
              </a:solidFill>
              <a:effectLst>
                <a:outerShdw blurRad="38100" dist="38100" dir="2700000" algn="tl">
                  <a:srgbClr val="000000">
                    <a:alpha val="43137"/>
                  </a:srgbClr>
                </a:outerShdw>
              </a:effectLst>
            </a:endParaRPr>
          </a:p>
          <a:p>
            <a:pPr algn="just">
              <a:lnSpc>
                <a:spcPct val="150000"/>
              </a:lnSpc>
              <a:spcBef>
                <a:spcPts val="0"/>
              </a:spcBef>
            </a:pPr>
            <a:r>
              <a:rPr lang="en-US" sz="2400" dirty="0"/>
              <a:t>Operational managers and other employees make </a:t>
            </a:r>
            <a:r>
              <a:rPr lang="en-US" sz="2400" i="1" dirty="0"/>
              <a:t>operational decisions</a:t>
            </a:r>
            <a:r>
              <a:rPr lang="en-US" sz="2400" dirty="0"/>
              <a:t> for the company. Operational managers include mid-level, supervisory and lower-level management. Operational decisions are the day-to-day decisions that have only a short-term impact on a company. </a:t>
            </a:r>
            <a:endParaRPr lang="en-US" sz="2400" dirty="0" smtClean="0"/>
          </a:p>
          <a:p>
            <a:pPr algn="just">
              <a:lnSpc>
                <a:spcPct val="150000"/>
              </a:lnSpc>
              <a:spcBef>
                <a:spcPts val="0"/>
              </a:spcBef>
            </a:pPr>
            <a:r>
              <a:rPr lang="en-US" sz="2400" b="1" dirty="0" smtClean="0"/>
              <a:t>These </a:t>
            </a:r>
            <a:r>
              <a:rPr lang="en-US" sz="2400" b="1" dirty="0"/>
              <a:t>include, but are not limited to, decisions regarding:</a:t>
            </a:r>
            <a:r>
              <a:rPr lang="en-US" sz="2400" dirty="0"/>
              <a:t> </a:t>
            </a:r>
          </a:p>
          <a:p>
            <a:pPr marL="914400" indent="-685800" algn="just">
              <a:lnSpc>
                <a:spcPct val="150000"/>
              </a:lnSpc>
              <a:spcBef>
                <a:spcPts val="0"/>
              </a:spcBef>
              <a:buFont typeface="Wingdings" panose="05000000000000000000" pitchFamily="2" charset="2"/>
              <a:buChar char="ü"/>
            </a:pPr>
            <a:r>
              <a:rPr lang="en-US" sz="2400" dirty="0"/>
              <a:t>Scheduling employees</a:t>
            </a:r>
          </a:p>
          <a:p>
            <a:pPr marL="914400" indent="-685800" algn="just">
              <a:lnSpc>
                <a:spcPct val="150000"/>
              </a:lnSpc>
              <a:spcBef>
                <a:spcPts val="0"/>
              </a:spcBef>
              <a:buFont typeface="Wingdings" panose="05000000000000000000" pitchFamily="2" charset="2"/>
              <a:buChar char="ü"/>
            </a:pPr>
            <a:r>
              <a:rPr lang="en-US" sz="2400" dirty="0"/>
              <a:t>Training on specific tasks in a company (</a:t>
            </a:r>
            <a:r>
              <a:rPr lang="en-US" sz="2400" i="1" dirty="0"/>
              <a:t>e.g.</a:t>
            </a:r>
            <a:r>
              <a:rPr lang="en-US" sz="2400" dirty="0"/>
              <a:t>, sales techniques, computer training, etc.)</a:t>
            </a:r>
          </a:p>
          <a:p>
            <a:pPr marL="914400" indent="-685800" algn="just">
              <a:lnSpc>
                <a:spcPct val="150000"/>
              </a:lnSpc>
              <a:spcBef>
                <a:spcPts val="0"/>
              </a:spcBef>
              <a:buFont typeface="Wingdings" panose="05000000000000000000" pitchFamily="2" charset="2"/>
              <a:buChar char="ü"/>
            </a:pPr>
            <a:r>
              <a:rPr lang="en-US" sz="2400" dirty="0"/>
              <a:t>Purchasing office supplies</a:t>
            </a:r>
          </a:p>
          <a:p>
            <a:pPr marL="914400" indent="-685800" algn="just">
              <a:lnSpc>
                <a:spcPct val="150000"/>
              </a:lnSpc>
              <a:spcBef>
                <a:spcPts val="0"/>
              </a:spcBef>
              <a:buFont typeface="Wingdings" panose="05000000000000000000" pitchFamily="2" charset="2"/>
              <a:buChar char="ü"/>
            </a:pPr>
            <a:r>
              <a:rPr lang="en-US" sz="2400" dirty="0"/>
              <a:t>Assigning work to specific employees</a:t>
            </a:r>
          </a:p>
          <a:p>
            <a:pPr algn="just">
              <a:lnSpc>
                <a:spcPct val="150000"/>
              </a:lnSpc>
              <a:spcBef>
                <a:spcPts val="0"/>
              </a:spcBef>
            </a:pPr>
            <a:endParaRPr lang="en-US" sz="2400" dirty="0"/>
          </a:p>
        </p:txBody>
      </p:sp>
    </p:spTree>
    <p:extLst>
      <p:ext uri="{BB962C8B-B14F-4D97-AF65-F5344CB8AC3E}">
        <p14:creationId xmlns:p14="http://schemas.microsoft.com/office/powerpoint/2010/main" val="2160322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39773"/>
          </a:xfrm>
        </p:spPr>
        <p:txBody>
          <a:bodyPr>
            <a:normAutofit fontScale="90000"/>
          </a:bodyPr>
          <a:lstStyle/>
          <a:p>
            <a:pPr algn="ctr"/>
            <a:r>
              <a:rPr lang="en-US" b="1" i="1" dirty="0">
                <a:solidFill>
                  <a:srgbClr val="0070C0"/>
                </a:solidFill>
                <a:effectLst>
                  <a:outerShdw blurRad="38100" dist="38100" dir="2700000" algn="tl">
                    <a:srgbClr val="000000">
                      <a:alpha val="43137"/>
                    </a:srgbClr>
                  </a:outerShdw>
                </a:effectLst>
              </a:rPr>
              <a:t>Operational </a:t>
            </a:r>
            <a:r>
              <a:rPr lang="en-US" b="1" i="1" dirty="0" smtClean="0">
                <a:solidFill>
                  <a:srgbClr val="0070C0"/>
                </a:solidFill>
                <a:effectLst>
                  <a:outerShdw blurRad="38100" dist="38100" dir="2700000" algn="tl">
                    <a:srgbClr val="000000">
                      <a:alpha val="43137"/>
                    </a:srgbClr>
                  </a:outerShdw>
                </a:effectLst>
              </a:rPr>
              <a:t>Decisions cont’d</a:t>
            </a:r>
            <a:r>
              <a:rPr lang="en-US" b="1" i="1" dirty="0">
                <a:solidFill>
                  <a:srgbClr val="0070C0"/>
                </a:solidFill>
                <a:effectLst>
                  <a:outerShdw blurRad="38100" dist="38100" dir="2700000" algn="tl">
                    <a:srgbClr val="000000">
                      <a:alpha val="43137"/>
                    </a:srgbClr>
                  </a:outerShdw>
                </a:effectLst>
              </a:rPr>
              <a:t/>
            </a:r>
            <a:br>
              <a:rPr lang="en-US" b="1" i="1" dirty="0">
                <a:solidFill>
                  <a:srgbClr val="0070C0"/>
                </a:solidFill>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409575" y="1038226"/>
            <a:ext cx="8639175" cy="5419724"/>
          </a:xfrm>
        </p:spPr>
        <p:txBody>
          <a:bodyPr>
            <a:normAutofit/>
          </a:bodyPr>
          <a:lstStyle/>
          <a:p>
            <a:pPr marL="0" indent="0" algn="just">
              <a:lnSpc>
                <a:spcPct val="150000"/>
              </a:lnSpc>
              <a:buNone/>
            </a:pPr>
            <a:r>
              <a:rPr lang="en-US" sz="2800" dirty="0"/>
              <a:t>Operational decisions generally are very specific and have a high degree of certainty. Although operational decisions alone do not have long-term or material impacts on the company, these decisions guide the implementation of strategic and tactical plans. </a:t>
            </a:r>
            <a:endParaRPr lang="en-US" sz="2800" dirty="0" smtClean="0"/>
          </a:p>
          <a:p>
            <a:pPr marL="0" indent="0" algn="just">
              <a:lnSpc>
                <a:spcPct val="150000"/>
              </a:lnSpc>
              <a:buNone/>
            </a:pPr>
            <a:r>
              <a:rPr lang="en-US" sz="2800" dirty="0" smtClean="0"/>
              <a:t>Operational </a:t>
            </a:r>
            <a:r>
              <a:rPr lang="en-US" sz="2800" dirty="0"/>
              <a:t>managers must answer to a company’s officers regarding the operational decisions that operational managers make.</a:t>
            </a:r>
          </a:p>
          <a:p>
            <a:pPr algn="just">
              <a:lnSpc>
                <a:spcPct val="150000"/>
              </a:lnSpc>
            </a:pPr>
            <a:endParaRPr lang="en-US" sz="2800" dirty="0"/>
          </a:p>
        </p:txBody>
      </p:sp>
    </p:spTree>
    <p:extLst>
      <p:ext uri="{BB962C8B-B14F-4D97-AF65-F5344CB8AC3E}">
        <p14:creationId xmlns:p14="http://schemas.microsoft.com/office/powerpoint/2010/main" val="3234206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425" y="333375"/>
            <a:ext cx="8553450" cy="6524625"/>
          </a:xfrm>
        </p:spPr>
        <p:txBody>
          <a:bodyPr>
            <a:noAutofit/>
          </a:bodyPr>
          <a:lstStyle/>
          <a:p>
            <a:pPr marL="0" indent="0" algn="ctr">
              <a:spcBef>
                <a:spcPts val="0"/>
              </a:spcBef>
              <a:buNone/>
            </a:pPr>
            <a:r>
              <a:rPr lang="en-US" sz="3200" b="1" i="1" dirty="0">
                <a:solidFill>
                  <a:srgbClr val="0070C0"/>
                </a:solidFill>
                <a:effectLst>
                  <a:outerShdw blurRad="38100" dist="38100" dir="2700000" algn="tl">
                    <a:srgbClr val="000000">
                      <a:alpha val="43137"/>
                    </a:srgbClr>
                  </a:outerShdw>
                </a:effectLst>
              </a:rPr>
              <a:t>Strategic Decisions and Plans </a:t>
            </a:r>
          </a:p>
          <a:p>
            <a:pPr algn="just">
              <a:lnSpc>
                <a:spcPct val="150000"/>
              </a:lnSpc>
              <a:spcBef>
                <a:spcPts val="0"/>
              </a:spcBef>
            </a:pPr>
            <a:r>
              <a:rPr lang="en-US" sz="2400" dirty="0" smtClean="0"/>
              <a:t>Strategic </a:t>
            </a:r>
            <a:r>
              <a:rPr lang="en-US" sz="2400" dirty="0"/>
              <a:t>decisions are decisions and plans that have long-term or material impact on a company. </a:t>
            </a:r>
            <a:endParaRPr lang="en-US" sz="2400" dirty="0" smtClean="0"/>
          </a:p>
          <a:p>
            <a:pPr marL="0" indent="0" algn="just">
              <a:lnSpc>
                <a:spcPct val="150000"/>
              </a:lnSpc>
              <a:spcBef>
                <a:spcPts val="0"/>
              </a:spcBef>
              <a:buNone/>
            </a:pPr>
            <a:r>
              <a:rPr lang="en-US" sz="2400" b="1" i="1" dirty="0" smtClean="0"/>
              <a:t>These </a:t>
            </a:r>
            <a:r>
              <a:rPr lang="en-US" sz="2400" b="1" i="1" dirty="0"/>
              <a:t>often include, but are not limited to, decisions regarding</a:t>
            </a:r>
            <a:r>
              <a:rPr lang="en-US" sz="2400" dirty="0"/>
              <a:t>:</a:t>
            </a:r>
          </a:p>
          <a:p>
            <a:pPr marL="914400" indent="-457200" algn="just">
              <a:lnSpc>
                <a:spcPct val="150000"/>
              </a:lnSpc>
              <a:spcBef>
                <a:spcPts val="0"/>
              </a:spcBef>
              <a:buFont typeface="Wingdings" panose="05000000000000000000" pitchFamily="2" charset="2"/>
              <a:buChar char="ü"/>
            </a:pPr>
            <a:r>
              <a:rPr lang="en-US" sz="2400" dirty="0"/>
              <a:t>The election of officers and executives</a:t>
            </a:r>
          </a:p>
          <a:p>
            <a:pPr marL="914400" indent="-457200" algn="just">
              <a:lnSpc>
                <a:spcPct val="150000"/>
              </a:lnSpc>
              <a:spcBef>
                <a:spcPts val="0"/>
              </a:spcBef>
              <a:buFont typeface="Wingdings" panose="05000000000000000000" pitchFamily="2" charset="2"/>
              <a:buChar char="ü"/>
            </a:pPr>
            <a:r>
              <a:rPr lang="en-US" sz="2400" dirty="0"/>
              <a:t>Equity grants or transfers (including compensation packages for officers and executives)</a:t>
            </a:r>
          </a:p>
          <a:p>
            <a:pPr marL="914400" indent="-457200" algn="just">
              <a:lnSpc>
                <a:spcPct val="150000"/>
              </a:lnSpc>
              <a:spcBef>
                <a:spcPts val="0"/>
              </a:spcBef>
              <a:buFont typeface="Wingdings" panose="05000000000000000000" pitchFamily="2" charset="2"/>
              <a:buChar char="ü"/>
            </a:pPr>
            <a:r>
              <a:rPr lang="en-US" sz="2400" dirty="0"/>
              <a:t>Annual budgets and audits</a:t>
            </a:r>
          </a:p>
          <a:p>
            <a:pPr marL="914400" indent="-457200" algn="just">
              <a:lnSpc>
                <a:spcPct val="150000"/>
              </a:lnSpc>
              <a:spcBef>
                <a:spcPts val="0"/>
              </a:spcBef>
              <a:buFont typeface="Wingdings" panose="05000000000000000000" pitchFamily="2" charset="2"/>
              <a:buChar char="ü"/>
            </a:pPr>
            <a:r>
              <a:rPr lang="en-US" sz="2400" dirty="0"/>
              <a:t>Amendments to the certificate of incorporation or bylaws</a:t>
            </a:r>
          </a:p>
          <a:p>
            <a:pPr marL="914400" indent="-457200" algn="just">
              <a:lnSpc>
                <a:spcPct val="150000"/>
              </a:lnSpc>
              <a:spcBef>
                <a:spcPts val="0"/>
              </a:spcBef>
              <a:buFont typeface="Wingdings" panose="05000000000000000000" pitchFamily="2" charset="2"/>
              <a:buChar char="ü"/>
              <a:tabLst>
                <a:tab pos="976313" algn="l"/>
              </a:tabLst>
            </a:pPr>
            <a:r>
              <a:rPr lang="en-US" sz="2400" dirty="0"/>
              <a:t>Shareholder distributions</a:t>
            </a:r>
          </a:p>
          <a:p>
            <a:pPr marL="914400" indent="-457200" algn="just">
              <a:lnSpc>
                <a:spcPct val="150000"/>
              </a:lnSpc>
              <a:spcBef>
                <a:spcPts val="0"/>
              </a:spcBef>
              <a:buFont typeface="Wingdings" panose="05000000000000000000" pitchFamily="2" charset="2"/>
              <a:buChar char="ü"/>
            </a:pPr>
            <a:r>
              <a:rPr lang="en-US" sz="2400" dirty="0"/>
              <a:t>Sale of </a:t>
            </a:r>
            <a:r>
              <a:rPr lang="en-US" sz="2400" dirty="0" smtClean="0"/>
              <a:t>all  </a:t>
            </a:r>
            <a:r>
              <a:rPr lang="en-US" sz="2400" dirty="0"/>
              <a:t>company’s </a:t>
            </a:r>
            <a:r>
              <a:rPr lang="en-US" sz="2400" dirty="0" smtClean="0"/>
              <a:t>assets</a:t>
            </a:r>
            <a:endParaRPr lang="en-US" sz="2400" dirty="0"/>
          </a:p>
        </p:txBody>
      </p:sp>
    </p:spTree>
    <p:extLst>
      <p:ext uri="{BB962C8B-B14F-4D97-AF65-F5344CB8AC3E}">
        <p14:creationId xmlns:p14="http://schemas.microsoft.com/office/powerpoint/2010/main" val="27270842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425" y="685800"/>
            <a:ext cx="8515349" cy="5491163"/>
          </a:xfrm>
        </p:spPr>
        <p:txBody>
          <a:bodyPr>
            <a:normAutofit fontScale="92500"/>
          </a:bodyPr>
          <a:lstStyle/>
          <a:p>
            <a:pPr marL="633413" indent="-342900" algn="just">
              <a:lnSpc>
                <a:spcPct val="150000"/>
              </a:lnSpc>
              <a:spcBef>
                <a:spcPts val="0"/>
              </a:spcBef>
              <a:buFont typeface="Wingdings" panose="05000000000000000000" pitchFamily="2" charset="2"/>
              <a:buChar char="ü"/>
            </a:pPr>
            <a:r>
              <a:rPr lang="en-US" sz="2400" dirty="0" smtClean="0"/>
              <a:t>Termination </a:t>
            </a:r>
            <a:r>
              <a:rPr lang="en-US" sz="2400" dirty="0"/>
              <a:t>or sale of a company</a:t>
            </a:r>
          </a:p>
          <a:p>
            <a:pPr marL="633413" indent="-342900" algn="just">
              <a:lnSpc>
                <a:spcPct val="150000"/>
              </a:lnSpc>
              <a:spcBef>
                <a:spcPts val="0"/>
              </a:spcBef>
              <a:buFont typeface="Wingdings" panose="05000000000000000000" pitchFamily="2" charset="2"/>
              <a:buChar char="ü"/>
            </a:pPr>
            <a:r>
              <a:rPr lang="en-US" sz="2400" dirty="0"/>
              <a:t>Adoption of employee benefit plans</a:t>
            </a:r>
          </a:p>
          <a:p>
            <a:pPr marL="633413" indent="-342900" algn="just">
              <a:lnSpc>
                <a:spcPct val="150000"/>
              </a:lnSpc>
              <a:spcBef>
                <a:spcPts val="0"/>
              </a:spcBef>
              <a:buFont typeface="Wingdings" panose="05000000000000000000" pitchFamily="2" charset="2"/>
              <a:buChar char="ü"/>
            </a:pPr>
            <a:r>
              <a:rPr lang="en-US" sz="2400" dirty="0" smtClean="0"/>
              <a:t>Other </a:t>
            </a:r>
            <a:r>
              <a:rPr lang="en-US" sz="2400" dirty="0"/>
              <a:t>important agreements or long-term </a:t>
            </a:r>
            <a:r>
              <a:rPr lang="en-US" sz="2400" dirty="0" smtClean="0"/>
              <a:t>strategies</a:t>
            </a:r>
          </a:p>
          <a:p>
            <a:pPr marL="0" indent="0" algn="just">
              <a:lnSpc>
                <a:spcPct val="150000"/>
              </a:lnSpc>
              <a:spcBef>
                <a:spcPts val="0"/>
              </a:spcBef>
              <a:buNone/>
            </a:pPr>
            <a:endParaRPr lang="en-US" sz="2400" dirty="0"/>
          </a:p>
          <a:p>
            <a:pPr marL="0" indent="0" algn="just">
              <a:lnSpc>
                <a:spcPct val="150000"/>
              </a:lnSpc>
              <a:spcBef>
                <a:spcPts val="0"/>
              </a:spcBef>
              <a:buNone/>
            </a:pPr>
            <a:r>
              <a:rPr lang="en-US" sz="2400" dirty="0"/>
              <a:t>The </a:t>
            </a:r>
            <a:r>
              <a:rPr lang="en-US" sz="2400" dirty="0" smtClean="0"/>
              <a:t>guidance, </a:t>
            </a:r>
            <a:r>
              <a:rPr lang="en-US" sz="2400" dirty="0"/>
              <a:t>directors provide to company management regarding strategy and operations is vital to a company’s long-term success. </a:t>
            </a:r>
            <a:endParaRPr lang="en-US" sz="2400" dirty="0" smtClean="0"/>
          </a:p>
          <a:p>
            <a:pPr marL="0" indent="0" algn="just">
              <a:lnSpc>
                <a:spcPct val="150000"/>
              </a:lnSpc>
              <a:spcBef>
                <a:spcPts val="0"/>
              </a:spcBef>
              <a:buNone/>
            </a:pPr>
            <a:endParaRPr lang="en-US" sz="2400" dirty="0"/>
          </a:p>
          <a:p>
            <a:pPr marL="0" indent="0" algn="just">
              <a:lnSpc>
                <a:spcPct val="150000"/>
              </a:lnSpc>
              <a:spcBef>
                <a:spcPts val="0"/>
              </a:spcBef>
              <a:buNone/>
            </a:pPr>
            <a:r>
              <a:rPr lang="en-US" sz="2400" dirty="0" smtClean="0"/>
              <a:t>A </a:t>
            </a:r>
            <a:r>
              <a:rPr lang="en-US" sz="2400" dirty="0"/>
              <a:t>board of directors has important duties, so it generally must act and make decisions in the best interests of a company and its shareholders.</a:t>
            </a:r>
          </a:p>
          <a:p>
            <a:pPr algn="just">
              <a:lnSpc>
                <a:spcPct val="150000"/>
              </a:lnSpc>
              <a:spcBef>
                <a:spcPts val="0"/>
              </a:spcBef>
            </a:pPr>
            <a:endParaRPr lang="en-US" sz="2400" dirty="0"/>
          </a:p>
          <a:p>
            <a:pPr>
              <a:lnSpc>
                <a:spcPct val="150000"/>
              </a:lnSpc>
            </a:pPr>
            <a:endParaRPr lang="en-US" sz="2400" dirty="0"/>
          </a:p>
        </p:txBody>
      </p:sp>
    </p:spTree>
    <p:extLst>
      <p:ext uri="{BB962C8B-B14F-4D97-AF65-F5344CB8AC3E}">
        <p14:creationId xmlns:p14="http://schemas.microsoft.com/office/powerpoint/2010/main" val="3560358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1975" y="438410"/>
            <a:ext cx="8229600" cy="6162415"/>
          </a:xfrm>
        </p:spPr>
        <p:txBody>
          <a:bodyPr>
            <a:normAutofit/>
          </a:bodyPr>
          <a:lstStyle/>
          <a:p>
            <a:pPr marL="0" indent="0" algn="ctr">
              <a:lnSpc>
                <a:spcPct val="200000"/>
              </a:lnSpc>
              <a:buNone/>
            </a:pPr>
            <a:r>
              <a:rPr lang="en-US" sz="3200" b="1" i="1" dirty="0">
                <a:solidFill>
                  <a:srgbClr val="0070C0"/>
                </a:solidFill>
                <a:effectLst>
                  <a:outerShdw blurRad="38100" dist="38100" dir="2700000" algn="tl">
                    <a:srgbClr val="000000">
                      <a:alpha val="43137"/>
                    </a:srgbClr>
                  </a:outerShdw>
                </a:effectLst>
              </a:rPr>
              <a:t>Knowledge-based </a:t>
            </a:r>
            <a:r>
              <a:rPr lang="en-US" sz="3200" b="1" i="1" dirty="0" smtClean="0">
                <a:solidFill>
                  <a:srgbClr val="0070C0"/>
                </a:solidFill>
                <a:effectLst>
                  <a:outerShdw blurRad="38100" dist="38100" dir="2700000" algn="tl">
                    <a:srgbClr val="000000">
                      <a:alpha val="43137"/>
                    </a:srgbClr>
                  </a:outerShdw>
                </a:effectLst>
              </a:rPr>
              <a:t>decision-making </a:t>
            </a:r>
          </a:p>
          <a:p>
            <a:pPr algn="just">
              <a:lnSpc>
                <a:spcPct val="200000"/>
              </a:lnSpc>
            </a:pPr>
            <a:r>
              <a:rPr lang="en-US" sz="2400" b="1" dirty="0">
                <a:effectLst>
                  <a:outerShdw blurRad="38100" dist="38100" dir="2700000" algn="tl">
                    <a:srgbClr val="000000">
                      <a:alpha val="43137"/>
                    </a:srgbClr>
                  </a:outerShdw>
                </a:effectLst>
              </a:rPr>
              <a:t>Knowledge-based decision-making </a:t>
            </a:r>
            <a:r>
              <a:rPr lang="en-US" sz="2400" dirty="0" smtClean="0"/>
              <a:t>in </a:t>
            </a:r>
            <a:r>
              <a:rPr lang="en-US" sz="2400" dirty="0"/>
              <a:t>management is a decision-making process </a:t>
            </a:r>
            <a:r>
              <a:rPr lang="en-US" sz="2400" dirty="0" smtClean="0"/>
              <a:t>that </a:t>
            </a:r>
            <a:r>
              <a:rPr lang="en-US" sz="2400" dirty="0"/>
              <a:t>involves an agreed </a:t>
            </a:r>
            <a:r>
              <a:rPr lang="en-US" sz="2400" dirty="0" smtClean="0"/>
              <a:t>standard, </a:t>
            </a:r>
            <a:r>
              <a:rPr lang="en-US" sz="2400" dirty="0"/>
              <a:t>which is used to measure and ensure that the most suitable outcome can be generated for a specific topic. </a:t>
            </a:r>
            <a:endParaRPr lang="en-US" sz="2400" dirty="0" smtClean="0"/>
          </a:p>
          <a:p>
            <a:pPr algn="just">
              <a:lnSpc>
                <a:spcPct val="200000"/>
              </a:lnSpc>
            </a:pPr>
            <a:r>
              <a:rPr lang="en-US" sz="2400" dirty="0" smtClean="0"/>
              <a:t>This </a:t>
            </a:r>
            <a:r>
              <a:rPr lang="en-US" sz="2400" dirty="0"/>
              <a:t>process is used as a guideline to make the most effective and strategic </a:t>
            </a:r>
            <a:r>
              <a:rPr lang="en-US" sz="2400" dirty="0" smtClean="0"/>
              <a:t>decision</a:t>
            </a:r>
            <a:endParaRPr lang="en-US" sz="2400" dirty="0"/>
          </a:p>
        </p:txBody>
      </p:sp>
    </p:spTree>
    <p:extLst>
      <p:ext uri="{BB962C8B-B14F-4D97-AF65-F5344CB8AC3E}">
        <p14:creationId xmlns:p14="http://schemas.microsoft.com/office/powerpoint/2010/main" val="27558109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marL="0" indent="0" algn="ctr">
              <a:buNone/>
            </a:pPr>
            <a:r>
              <a:rPr lang="en-US" sz="2400" b="1" i="1" dirty="0" smtClean="0">
                <a:solidFill>
                  <a:srgbClr val="0070C0"/>
                </a:solidFill>
                <a:effectLst>
                  <a:outerShdw blurRad="38100" dist="38100" dir="2700000" algn="tl">
                    <a:srgbClr val="000000">
                      <a:alpha val="43137"/>
                    </a:srgbClr>
                  </a:outerShdw>
                </a:effectLst>
              </a:rPr>
              <a:t>Tactical </a:t>
            </a:r>
            <a:r>
              <a:rPr lang="en-US" sz="2400" b="1" i="1" dirty="0">
                <a:solidFill>
                  <a:srgbClr val="0070C0"/>
                </a:solidFill>
                <a:effectLst>
                  <a:outerShdw blurRad="38100" dist="38100" dir="2700000" algn="tl">
                    <a:srgbClr val="000000">
                      <a:alpha val="43137"/>
                    </a:srgbClr>
                  </a:outerShdw>
                </a:effectLst>
              </a:rPr>
              <a:t>Decisions and Plans</a:t>
            </a:r>
            <a:endParaRPr lang="en-US" sz="2400" b="1" dirty="0">
              <a:solidFill>
                <a:srgbClr val="0070C0"/>
              </a:solidFill>
              <a:effectLst>
                <a:outerShdw blurRad="38100" dist="38100" dir="2700000" algn="tl">
                  <a:srgbClr val="000000">
                    <a:alpha val="43137"/>
                  </a:srgbClr>
                </a:outerShdw>
              </a:effectLst>
            </a:endParaRPr>
          </a:p>
          <a:p>
            <a:pPr algn="just">
              <a:lnSpc>
                <a:spcPct val="150000"/>
              </a:lnSpc>
            </a:pPr>
            <a:r>
              <a:rPr lang="en-US" sz="2400" dirty="0"/>
              <a:t>Officers and executives make </a:t>
            </a:r>
            <a:r>
              <a:rPr lang="en-US" sz="2400" i="1" dirty="0"/>
              <a:t>tactical decisions</a:t>
            </a:r>
            <a:r>
              <a:rPr lang="en-US" sz="2400" dirty="0"/>
              <a:t> for </a:t>
            </a:r>
            <a:r>
              <a:rPr lang="en-US" sz="2400" dirty="0" smtClean="0"/>
              <a:t>the company</a:t>
            </a:r>
            <a:r>
              <a:rPr lang="en-US" sz="2400" dirty="0"/>
              <a:t>. Officers and executives include the CEO, COO, CFO and other top-level management in a company. Tactical decisions are decisions and plans that concern the more detailed implementation of the directors’ general strategy, usually with a medium-term impact on a company. </a:t>
            </a:r>
            <a:endParaRPr lang="en-US" sz="2400" dirty="0" smtClean="0"/>
          </a:p>
          <a:p>
            <a:pPr marL="0" indent="0" algn="just">
              <a:lnSpc>
                <a:spcPct val="100000"/>
              </a:lnSpc>
              <a:buNone/>
            </a:pPr>
            <a:r>
              <a:rPr lang="en-US" sz="2400" b="1" dirty="0" smtClean="0"/>
              <a:t>Tactical points requiring decisions include, but are not limited to</a:t>
            </a:r>
            <a:r>
              <a:rPr lang="en-US" sz="2400" dirty="0" smtClean="0"/>
              <a:t>:</a:t>
            </a:r>
            <a:endParaRPr lang="en-US" sz="2400" dirty="0"/>
          </a:p>
          <a:p>
            <a:pPr marL="800100" indent="-290513" algn="just">
              <a:lnSpc>
                <a:spcPct val="100000"/>
              </a:lnSpc>
              <a:buFont typeface="Wingdings" panose="05000000000000000000" pitchFamily="2" charset="2"/>
              <a:buChar char="ü"/>
            </a:pPr>
            <a:r>
              <a:rPr lang="en-US" sz="2400" dirty="0"/>
              <a:t>Size and structure of a work force</a:t>
            </a:r>
          </a:p>
          <a:p>
            <a:pPr marL="800100" indent="-290513" algn="just">
              <a:lnSpc>
                <a:spcPct val="100000"/>
              </a:lnSpc>
              <a:buFont typeface="Wingdings" panose="05000000000000000000" pitchFamily="2" charset="2"/>
              <a:buChar char="ü"/>
            </a:pPr>
            <a:r>
              <a:rPr lang="en-US" sz="2400" dirty="0"/>
              <a:t>Sales and marketing strategy</a:t>
            </a:r>
          </a:p>
          <a:p>
            <a:pPr marL="800100" indent="-290513" algn="just">
              <a:lnSpc>
                <a:spcPct val="100000"/>
              </a:lnSpc>
              <a:buFont typeface="Wingdings" panose="05000000000000000000" pitchFamily="2" charset="2"/>
              <a:buChar char="ü"/>
            </a:pPr>
            <a:r>
              <a:rPr lang="en-US" sz="2400" dirty="0"/>
              <a:t>Signing non-disclosure agreements</a:t>
            </a:r>
          </a:p>
          <a:p>
            <a:pPr marL="800100" indent="-290513" algn="just">
              <a:lnSpc>
                <a:spcPct val="100000"/>
              </a:lnSpc>
              <a:buFont typeface="Wingdings" panose="05000000000000000000" pitchFamily="2" charset="2"/>
              <a:buChar char="ü"/>
            </a:pPr>
            <a:r>
              <a:rPr lang="en-US" sz="2400" dirty="0"/>
              <a:t>Work assignments allocated to particular groups and people</a:t>
            </a:r>
          </a:p>
          <a:p>
            <a:pPr marL="800100" indent="-290513" algn="just">
              <a:lnSpc>
                <a:spcPct val="100000"/>
              </a:lnSpc>
              <a:buFont typeface="Wingdings" panose="05000000000000000000" pitchFamily="2" charset="2"/>
              <a:buChar char="ü"/>
            </a:pPr>
            <a:r>
              <a:rPr lang="en-US" sz="2400" dirty="0"/>
              <a:t>Large purchases within a previously approved budget</a:t>
            </a:r>
          </a:p>
          <a:p>
            <a:pPr marL="800100" indent="-290513" algn="just">
              <a:lnSpc>
                <a:spcPct val="100000"/>
              </a:lnSpc>
              <a:buFont typeface="Wingdings" panose="05000000000000000000" pitchFamily="2" charset="2"/>
              <a:buChar char="ü"/>
            </a:pPr>
            <a:r>
              <a:rPr lang="en-US" sz="2400" dirty="0" smtClean="0"/>
              <a:t>Most </a:t>
            </a:r>
            <a:r>
              <a:rPr lang="en-US" sz="2400" dirty="0"/>
              <a:t>tactical decisions and plans are more </a:t>
            </a:r>
            <a:r>
              <a:rPr lang="en-US" sz="2400" dirty="0" smtClean="0"/>
              <a:t>detailed than </a:t>
            </a:r>
            <a:r>
              <a:rPr lang="en-US" sz="2400" dirty="0"/>
              <a:t>strategic decisions and plans. </a:t>
            </a:r>
          </a:p>
          <a:p>
            <a:pPr algn="just"/>
            <a:endParaRPr lang="en-US" sz="2300" dirty="0"/>
          </a:p>
        </p:txBody>
      </p:sp>
    </p:spTree>
    <p:extLst>
      <p:ext uri="{BB962C8B-B14F-4D97-AF65-F5344CB8AC3E}">
        <p14:creationId xmlns:p14="http://schemas.microsoft.com/office/powerpoint/2010/main" val="40374209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4691" y="652564"/>
            <a:ext cx="9019308" cy="6080745"/>
          </a:xfrm>
        </p:spPr>
        <p:txBody>
          <a:bodyPr>
            <a:noAutofit/>
          </a:bodyPr>
          <a:lstStyle/>
          <a:p>
            <a:pPr marL="0" indent="0">
              <a:lnSpc>
                <a:spcPct val="150000"/>
              </a:lnSpc>
              <a:buNone/>
            </a:pPr>
            <a:r>
              <a:rPr lang="en-US" sz="2400" dirty="0"/>
              <a:t>Within each of these levels of decision making, decisions are </a:t>
            </a:r>
            <a:r>
              <a:rPr lang="en-US" sz="2400" dirty="0" smtClean="0"/>
              <a:t>classified as:</a:t>
            </a:r>
            <a:endParaRPr lang="en-US" sz="2400" dirty="0"/>
          </a:p>
          <a:p>
            <a:pPr>
              <a:lnSpc>
                <a:spcPct val="150000"/>
              </a:lnSpc>
            </a:pPr>
            <a:r>
              <a:rPr lang="en-US" sz="2400" dirty="0"/>
              <a:t> Structured and</a:t>
            </a:r>
          </a:p>
          <a:p>
            <a:pPr>
              <a:lnSpc>
                <a:spcPct val="150000"/>
              </a:lnSpc>
            </a:pPr>
            <a:r>
              <a:rPr lang="en-US" sz="2400" dirty="0"/>
              <a:t>Unstructured</a:t>
            </a:r>
          </a:p>
          <a:p>
            <a:pPr marL="0" indent="0" algn="just">
              <a:lnSpc>
                <a:spcPct val="150000"/>
              </a:lnSpc>
              <a:buNone/>
            </a:pPr>
            <a:r>
              <a:rPr lang="en-US" sz="2400" b="1" dirty="0"/>
              <a:t>Unstructured decisions:</a:t>
            </a:r>
          </a:p>
          <a:p>
            <a:pPr algn="just">
              <a:lnSpc>
                <a:spcPct val="150000"/>
              </a:lnSpc>
            </a:pPr>
            <a:r>
              <a:rPr lang="en-US" sz="2400" dirty="0"/>
              <a:t>Decision maker must provide judgment, evaluation, and insights into the problem definition.</a:t>
            </a:r>
          </a:p>
          <a:p>
            <a:pPr algn="just">
              <a:lnSpc>
                <a:spcPct val="150000"/>
              </a:lnSpc>
            </a:pPr>
            <a:r>
              <a:rPr lang="en-US" sz="2400" dirty="0"/>
              <a:t>Each of these decisions are </a:t>
            </a:r>
            <a:r>
              <a:rPr lang="en-US" sz="2400" dirty="0" smtClean="0"/>
              <a:t>different, </a:t>
            </a:r>
            <a:r>
              <a:rPr lang="en-US" sz="2400" dirty="0"/>
              <a:t>important, and non-routine, and there is no well-understood or agreed-on procedure for making them.</a:t>
            </a:r>
          </a:p>
          <a:p>
            <a:endParaRPr lang="en-US" sz="2400" dirty="0"/>
          </a:p>
        </p:txBody>
      </p:sp>
      <p:sp>
        <p:nvSpPr>
          <p:cNvPr id="4" name="Rectangle 3"/>
          <p:cNvSpPr/>
          <p:nvPr/>
        </p:nvSpPr>
        <p:spPr>
          <a:xfrm>
            <a:off x="2019994" y="190899"/>
            <a:ext cx="4181302" cy="461665"/>
          </a:xfrm>
          <a:prstGeom prst="rect">
            <a:avLst/>
          </a:prstGeom>
        </p:spPr>
        <p:txBody>
          <a:bodyPr wrap="square">
            <a:spAutoFit/>
          </a:bodyPr>
          <a:lstStyle/>
          <a:p>
            <a:pPr algn="ctr"/>
            <a:r>
              <a:rPr lang="en-US" sz="2400" b="1" dirty="0" smtClean="0">
                <a:solidFill>
                  <a:srgbClr val="0070C0"/>
                </a:solidFill>
                <a:effectLst>
                  <a:outerShdw blurRad="38100" dist="38100" dir="2700000" algn="tl">
                    <a:srgbClr val="000000">
                      <a:alpha val="43137"/>
                    </a:srgbClr>
                  </a:outerShdw>
                </a:effectLst>
              </a:rPr>
              <a:t>      Types </a:t>
            </a:r>
            <a:r>
              <a:rPr lang="en-US" sz="2400" b="1" dirty="0">
                <a:solidFill>
                  <a:srgbClr val="0070C0"/>
                </a:solidFill>
                <a:effectLst>
                  <a:outerShdw blurRad="38100" dist="38100" dir="2700000" algn="tl">
                    <a:srgbClr val="000000">
                      <a:alpha val="43137"/>
                    </a:srgbClr>
                  </a:outerShdw>
                </a:effectLst>
              </a:rPr>
              <a:t>Of Decisions</a:t>
            </a:r>
          </a:p>
        </p:txBody>
      </p:sp>
    </p:spTree>
    <p:extLst>
      <p:ext uri="{BB962C8B-B14F-4D97-AF65-F5344CB8AC3E}">
        <p14:creationId xmlns:p14="http://schemas.microsoft.com/office/powerpoint/2010/main" val="1715994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432" y="124691"/>
            <a:ext cx="9051567" cy="3057251"/>
          </a:xfrm>
        </p:spPr>
        <p:txBody>
          <a:bodyPr>
            <a:noAutofit/>
          </a:bodyPr>
          <a:lstStyle/>
          <a:p>
            <a:pPr algn="just">
              <a:lnSpc>
                <a:spcPct val="150000"/>
              </a:lnSpc>
            </a:pPr>
            <a:r>
              <a:rPr lang="en-US" b="1" dirty="0"/>
              <a:t>Structured decisions</a:t>
            </a:r>
            <a:r>
              <a:rPr lang="en-US" dirty="0"/>
              <a:t>, Structured decisions refer to decisions that can be made using a well-defined and systematic approach based on clear criteria and available data. These decisions are typically routine and repetitive in nature and can often be automated or guided by established procedures or </a:t>
            </a:r>
            <a:r>
              <a:rPr lang="en-US" dirty="0" smtClean="0"/>
              <a:t>rule.</a:t>
            </a:r>
            <a:endParaRPr lang="en-US" dirty="0"/>
          </a:p>
          <a:p>
            <a:pPr algn="just">
              <a:lnSpc>
                <a:spcPct val="150000"/>
              </a:lnSpc>
            </a:pPr>
            <a:r>
              <a:rPr lang="en-US" dirty="0"/>
              <a:t>Some decisions are </a:t>
            </a:r>
            <a:r>
              <a:rPr lang="en-US" b="1" dirty="0"/>
              <a:t>semi-structured</a:t>
            </a:r>
            <a:r>
              <a:rPr lang="en-US" dirty="0"/>
              <a:t>; in such cases, only part of the problem has a clear-cut answer provided by an accepted procedure.</a:t>
            </a:r>
          </a:p>
        </p:txBody>
      </p:sp>
      <p:sp>
        <p:nvSpPr>
          <p:cNvPr id="4" name="Content Placeholder 2"/>
          <p:cNvSpPr txBox="1">
            <a:spLocks/>
          </p:cNvSpPr>
          <p:nvPr/>
        </p:nvSpPr>
        <p:spPr>
          <a:xfrm>
            <a:off x="386268" y="3824609"/>
            <a:ext cx="2016379" cy="1580340"/>
          </a:xfrm>
          <a:prstGeom prst="rect">
            <a:avLst/>
          </a:prstGeom>
        </p:spPr>
        <p:txBody>
          <a:bodyPr vert="horz" lIns="91440" tIns="45720" rIns="91440" bIns="45720" rtlCol="0" anchor="ctr">
            <a:normAutofit fontScale="62500" lnSpcReduction="200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US" dirty="0" smtClean="0"/>
              <a:t> </a:t>
            </a:r>
            <a:r>
              <a:rPr lang="en-US" b="1" dirty="0" smtClean="0"/>
              <a:t>Unstructured/ Non programmed</a:t>
            </a:r>
          </a:p>
          <a:p>
            <a:r>
              <a:rPr lang="en-US" dirty="0" smtClean="0"/>
              <a:t> </a:t>
            </a:r>
            <a:r>
              <a:rPr lang="en-US" b="1" dirty="0" smtClean="0"/>
              <a:t>Structured/ Programmed</a:t>
            </a:r>
          </a:p>
          <a:p>
            <a:r>
              <a:rPr lang="en-US" dirty="0" smtClean="0"/>
              <a:t> </a:t>
            </a:r>
            <a:r>
              <a:rPr lang="en-US" b="1" dirty="0" smtClean="0"/>
              <a:t>Semi-structured</a:t>
            </a:r>
            <a:endParaRPr lang="en-US" dirty="0"/>
          </a:p>
        </p:txBody>
      </p:sp>
      <p:pic>
        <p:nvPicPr>
          <p:cNvPr id="5" name="Picture 4"/>
          <p:cNvPicPr>
            <a:picLocks noChangeAspect="1"/>
          </p:cNvPicPr>
          <p:nvPr/>
        </p:nvPicPr>
        <p:blipFill>
          <a:blip r:embed="rId2"/>
          <a:stretch>
            <a:fillRect/>
          </a:stretch>
        </p:blipFill>
        <p:spPr>
          <a:xfrm>
            <a:off x="3962400" y="3323304"/>
            <a:ext cx="4798142" cy="3038168"/>
          </a:xfrm>
          <a:prstGeom prst="rect">
            <a:avLst/>
          </a:prstGeom>
        </p:spPr>
      </p:pic>
      <p:sp>
        <p:nvSpPr>
          <p:cNvPr id="6" name="Rectangle 5"/>
          <p:cNvSpPr/>
          <p:nvPr/>
        </p:nvSpPr>
        <p:spPr>
          <a:xfrm>
            <a:off x="92432" y="5730489"/>
            <a:ext cx="3596342" cy="715581"/>
          </a:xfrm>
          <a:prstGeom prst="rect">
            <a:avLst/>
          </a:prstGeom>
        </p:spPr>
        <p:txBody>
          <a:bodyPr wrap="square">
            <a:spAutoFit/>
          </a:bodyPr>
          <a:lstStyle/>
          <a:p>
            <a:r>
              <a:rPr lang="en-US" sz="1350" b="1" i="1" dirty="0">
                <a:solidFill>
                  <a:srgbClr val="0000CD"/>
                </a:solidFill>
                <a:latin typeface="Arial" panose="020B0604020202020204" pitchFamily="34" charset="0"/>
              </a:rPr>
              <a:t>Different kinds of information systems at </a:t>
            </a:r>
            <a:r>
              <a:rPr lang="en-US" sz="1350" b="1" i="1">
                <a:solidFill>
                  <a:srgbClr val="0000CD"/>
                </a:solidFill>
                <a:latin typeface="Arial" panose="020B0604020202020204" pitchFamily="34" charset="0"/>
              </a:rPr>
              <a:t>the </a:t>
            </a:r>
            <a:r>
              <a:rPr lang="en-US" sz="1350" b="1" i="1" smtClean="0">
                <a:solidFill>
                  <a:srgbClr val="0000CD"/>
                </a:solidFill>
                <a:latin typeface="Arial" panose="020B0604020202020204" pitchFamily="34" charset="0"/>
              </a:rPr>
              <a:t>various organization </a:t>
            </a:r>
            <a:r>
              <a:rPr lang="en-US" sz="1350" b="1" i="1" dirty="0">
                <a:solidFill>
                  <a:srgbClr val="0000CD"/>
                </a:solidFill>
                <a:latin typeface="Arial" panose="020B0604020202020204" pitchFamily="34" charset="0"/>
              </a:rPr>
              <a:t>levels support different types of decisions</a:t>
            </a:r>
            <a:endParaRPr lang="en-US" sz="1350" dirty="0"/>
          </a:p>
        </p:txBody>
      </p:sp>
    </p:spTree>
    <p:extLst>
      <p:ext uri="{BB962C8B-B14F-4D97-AF65-F5344CB8AC3E}">
        <p14:creationId xmlns:p14="http://schemas.microsoft.com/office/powerpoint/2010/main" val="28334617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207" y="173320"/>
            <a:ext cx="7543800" cy="529006"/>
          </a:xfrm>
        </p:spPr>
        <p:txBody>
          <a:bodyPr>
            <a:normAutofit/>
          </a:bodyPr>
          <a:lstStyle/>
          <a:p>
            <a:r>
              <a:rPr lang="en-US" sz="2100" dirty="0"/>
              <a:t>Information Requirement for Key Decision Making Groups in A Firm</a:t>
            </a:r>
          </a:p>
        </p:txBody>
      </p:sp>
      <p:pic>
        <p:nvPicPr>
          <p:cNvPr id="4" name="Content Placeholder 3"/>
          <p:cNvPicPr>
            <a:picLocks noGrp="1" noChangeAspect="1"/>
          </p:cNvPicPr>
          <p:nvPr>
            <p:ph idx="1"/>
          </p:nvPr>
        </p:nvPicPr>
        <p:blipFill>
          <a:blip r:embed="rId2"/>
          <a:stretch>
            <a:fillRect/>
          </a:stretch>
        </p:blipFill>
        <p:spPr>
          <a:xfrm>
            <a:off x="290945" y="945574"/>
            <a:ext cx="8759537" cy="5798126"/>
          </a:xfrm>
          <a:prstGeom prst="rect">
            <a:avLst/>
          </a:prstGeom>
        </p:spPr>
      </p:pic>
    </p:spTree>
    <p:extLst>
      <p:ext uri="{BB962C8B-B14F-4D97-AF65-F5344CB8AC3E}">
        <p14:creationId xmlns:p14="http://schemas.microsoft.com/office/powerpoint/2010/main" val="4583548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153" y="506740"/>
            <a:ext cx="7543800" cy="634843"/>
          </a:xfrm>
        </p:spPr>
        <p:txBody>
          <a:bodyPr>
            <a:normAutofit/>
          </a:bodyPr>
          <a:lstStyle/>
          <a:p>
            <a:pPr algn="ctr"/>
            <a:r>
              <a:rPr lang="en-US" b="1" cap="none" dirty="0" smtClean="0">
                <a:solidFill>
                  <a:srgbClr val="0070C0"/>
                </a:solidFill>
                <a:effectLst>
                  <a:outerShdw blurRad="38100" dist="38100" dir="2700000" algn="tl">
                    <a:srgbClr val="000000">
                      <a:alpha val="43137"/>
                    </a:srgbClr>
                  </a:outerShdw>
                </a:effectLst>
              </a:rPr>
              <a:t>Decision Making Process</a:t>
            </a:r>
            <a:endParaRPr lang="en-US" b="1" cap="none" dirty="0">
              <a:solidFill>
                <a:srgbClr val="0070C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81644" y="1305099"/>
            <a:ext cx="7863095" cy="4073236"/>
          </a:xfrm>
        </p:spPr>
        <p:txBody>
          <a:bodyPr>
            <a:normAutofit/>
          </a:bodyPr>
          <a:lstStyle/>
          <a:p>
            <a:pPr marL="0" indent="0">
              <a:buNone/>
            </a:pPr>
            <a:r>
              <a:rPr lang="en-US" sz="2800" dirty="0"/>
              <a:t>There are four different stages in decision making</a:t>
            </a:r>
            <a:r>
              <a:rPr lang="en-US" sz="2800" dirty="0" smtClean="0"/>
              <a:t>:</a:t>
            </a:r>
          </a:p>
          <a:p>
            <a:pPr>
              <a:buFont typeface="Wingdings" panose="05000000000000000000" pitchFamily="2" charset="2"/>
              <a:buChar char="§"/>
            </a:pPr>
            <a:r>
              <a:rPr lang="en-US" sz="2800" dirty="0"/>
              <a:t> Intelligence,</a:t>
            </a:r>
          </a:p>
          <a:p>
            <a:pPr>
              <a:buFont typeface="Wingdings" panose="05000000000000000000" pitchFamily="2" charset="2"/>
              <a:buChar char="§"/>
            </a:pPr>
            <a:r>
              <a:rPr lang="en-US" sz="2800" dirty="0" smtClean="0"/>
              <a:t> </a:t>
            </a:r>
            <a:r>
              <a:rPr lang="en-US" sz="2800" dirty="0"/>
              <a:t>Design,</a:t>
            </a:r>
          </a:p>
          <a:p>
            <a:pPr>
              <a:buFont typeface="Wingdings" panose="05000000000000000000" pitchFamily="2" charset="2"/>
              <a:buChar char="§"/>
            </a:pPr>
            <a:r>
              <a:rPr lang="en-US" sz="2800" dirty="0"/>
              <a:t>Choice, and</a:t>
            </a:r>
          </a:p>
          <a:p>
            <a:pPr>
              <a:buFont typeface="Wingdings" panose="05000000000000000000" pitchFamily="2" charset="2"/>
              <a:buChar char="§"/>
            </a:pPr>
            <a:r>
              <a:rPr lang="en-US" sz="2800" dirty="0"/>
              <a:t> Implementation.</a:t>
            </a:r>
          </a:p>
        </p:txBody>
      </p:sp>
    </p:spTree>
    <p:extLst>
      <p:ext uri="{BB962C8B-B14F-4D97-AF65-F5344CB8AC3E}">
        <p14:creationId xmlns:p14="http://schemas.microsoft.com/office/powerpoint/2010/main" val="35934438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2010"/>
          </a:xfrm>
        </p:spPr>
        <p:txBody>
          <a:bodyPr/>
          <a:lstStyle/>
          <a:p>
            <a:pPr algn="ctr"/>
            <a:r>
              <a:rPr lang="en-US" b="1" dirty="0">
                <a:solidFill>
                  <a:srgbClr val="0070C0"/>
                </a:solidFill>
                <a:effectLst>
                  <a:outerShdw blurRad="38100" dist="38100" dir="2700000" algn="tl">
                    <a:srgbClr val="000000">
                      <a:alpha val="43137"/>
                    </a:srgbClr>
                  </a:outerShdw>
                </a:effectLst>
              </a:rPr>
              <a:t>Decision Making </a:t>
            </a:r>
            <a:r>
              <a:rPr lang="en-US" b="1" dirty="0" smtClean="0">
                <a:solidFill>
                  <a:srgbClr val="0070C0"/>
                </a:solidFill>
                <a:effectLst>
                  <a:outerShdw blurRad="38100" dist="38100" dir="2700000" algn="tl">
                    <a:srgbClr val="000000">
                      <a:alpha val="43137"/>
                    </a:srgbClr>
                  </a:outerShdw>
                </a:effectLst>
              </a:rPr>
              <a:t>Process </a:t>
            </a:r>
            <a:endParaRPr lang="en-US" dirty="0"/>
          </a:p>
        </p:txBody>
      </p:sp>
      <p:sp>
        <p:nvSpPr>
          <p:cNvPr id="3" name="Content Placeholder 2"/>
          <p:cNvSpPr>
            <a:spLocks noGrp="1"/>
          </p:cNvSpPr>
          <p:nvPr>
            <p:ph idx="1"/>
          </p:nvPr>
        </p:nvSpPr>
        <p:spPr>
          <a:xfrm>
            <a:off x="124691" y="1132609"/>
            <a:ext cx="8666018" cy="5486400"/>
          </a:xfrm>
        </p:spPr>
        <p:txBody>
          <a:bodyPr>
            <a:normAutofit/>
          </a:bodyPr>
          <a:lstStyle/>
          <a:p>
            <a:pPr marL="0" indent="0" algn="just">
              <a:lnSpc>
                <a:spcPct val="150000"/>
              </a:lnSpc>
              <a:buNone/>
            </a:pPr>
            <a:r>
              <a:rPr lang="en-US" sz="2800" b="1" dirty="0"/>
              <a:t>Intelligence</a:t>
            </a:r>
          </a:p>
          <a:p>
            <a:pPr algn="just">
              <a:lnSpc>
                <a:spcPct val="150000"/>
              </a:lnSpc>
            </a:pPr>
            <a:r>
              <a:rPr lang="en-US" sz="2800" dirty="0"/>
              <a:t>It consists of identifying and understanding the problems occurring in the organization—why the problem, where, and with what effects.</a:t>
            </a:r>
          </a:p>
          <a:p>
            <a:pPr algn="just">
              <a:lnSpc>
                <a:spcPct val="150000"/>
              </a:lnSpc>
            </a:pPr>
            <a:r>
              <a:rPr lang="en-US" sz="2800" dirty="0"/>
              <a:t>Traditional </a:t>
            </a:r>
            <a:r>
              <a:rPr lang="en-US" sz="2800" dirty="0" smtClean="0"/>
              <a:t>MIS deliver </a:t>
            </a:r>
            <a:r>
              <a:rPr lang="en-US" sz="2800" dirty="0"/>
              <a:t>a wide variety of detailed information </a:t>
            </a:r>
            <a:r>
              <a:rPr lang="en-US" sz="2800" dirty="0" smtClean="0"/>
              <a:t>that can </a:t>
            </a:r>
            <a:r>
              <a:rPr lang="en-US" sz="2800" dirty="0"/>
              <a:t>help identify problems, especially if the systems report exceptions.</a:t>
            </a:r>
          </a:p>
          <a:p>
            <a:endParaRPr lang="en-US" sz="2800" dirty="0"/>
          </a:p>
        </p:txBody>
      </p:sp>
    </p:spTree>
    <p:extLst>
      <p:ext uri="{BB962C8B-B14F-4D97-AF65-F5344CB8AC3E}">
        <p14:creationId xmlns:p14="http://schemas.microsoft.com/office/powerpoint/2010/main" val="586337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76645"/>
            <a:ext cx="7886700" cy="862446"/>
          </a:xfrm>
        </p:spPr>
        <p:txBody>
          <a:bodyPr/>
          <a:lstStyle/>
          <a:p>
            <a:pPr algn="ctr"/>
            <a:r>
              <a:rPr lang="en-US" b="1" dirty="0">
                <a:solidFill>
                  <a:srgbClr val="0070C0"/>
                </a:solidFill>
                <a:effectLst>
                  <a:outerShdw blurRad="38100" dist="38100" dir="2700000" algn="tl">
                    <a:srgbClr val="000000">
                      <a:alpha val="43137"/>
                    </a:srgbClr>
                  </a:outerShdw>
                </a:effectLst>
              </a:rPr>
              <a:t>Decision Making Process </a:t>
            </a:r>
            <a:endParaRPr lang="en-US" dirty="0"/>
          </a:p>
        </p:txBody>
      </p:sp>
      <p:sp>
        <p:nvSpPr>
          <p:cNvPr id="3" name="Content Placeholder 2"/>
          <p:cNvSpPr>
            <a:spLocks noGrp="1"/>
          </p:cNvSpPr>
          <p:nvPr>
            <p:ph idx="1"/>
          </p:nvPr>
        </p:nvSpPr>
        <p:spPr>
          <a:xfrm>
            <a:off x="249382" y="1184564"/>
            <a:ext cx="8780318" cy="5392881"/>
          </a:xfrm>
        </p:spPr>
        <p:txBody>
          <a:bodyPr>
            <a:noAutofit/>
          </a:bodyPr>
          <a:lstStyle/>
          <a:p>
            <a:pPr marL="0" indent="0" algn="just">
              <a:lnSpc>
                <a:spcPct val="150000"/>
              </a:lnSpc>
              <a:buNone/>
            </a:pPr>
            <a:r>
              <a:rPr lang="en-US" sz="3200" b="1" dirty="0"/>
              <a:t>solution design</a:t>
            </a:r>
          </a:p>
          <a:p>
            <a:pPr algn="just">
              <a:lnSpc>
                <a:spcPct val="150000"/>
              </a:lnSpc>
            </a:pPr>
            <a:r>
              <a:rPr lang="en-US" sz="3200" dirty="0"/>
              <a:t>During solution design, the individual designs possible solutions to the problems.</a:t>
            </a:r>
          </a:p>
          <a:p>
            <a:pPr algn="just">
              <a:lnSpc>
                <a:spcPct val="150000"/>
              </a:lnSpc>
            </a:pPr>
            <a:r>
              <a:rPr lang="en-US" sz="3200" dirty="0"/>
              <a:t>Smaller DSS systems are ideal in this stage of decision making, because they operate on simple models, can be developed quickly, and can be operated with limited data.</a:t>
            </a:r>
          </a:p>
          <a:p>
            <a:pPr algn="just">
              <a:lnSpc>
                <a:spcPct val="150000"/>
              </a:lnSpc>
            </a:pPr>
            <a:endParaRPr lang="en-US" sz="3200" dirty="0"/>
          </a:p>
          <a:p>
            <a:endParaRPr lang="en-US" sz="3200" dirty="0"/>
          </a:p>
        </p:txBody>
      </p:sp>
    </p:spTree>
    <p:extLst>
      <p:ext uri="{BB962C8B-B14F-4D97-AF65-F5344CB8AC3E}">
        <p14:creationId xmlns:p14="http://schemas.microsoft.com/office/powerpoint/2010/main" val="3007345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8209"/>
            <a:ext cx="7886700" cy="800100"/>
          </a:xfrm>
        </p:spPr>
        <p:txBody>
          <a:bodyPr/>
          <a:lstStyle/>
          <a:p>
            <a:pPr algn="ctr"/>
            <a:r>
              <a:rPr lang="en-US" b="1" dirty="0">
                <a:solidFill>
                  <a:srgbClr val="0070C0"/>
                </a:solidFill>
                <a:effectLst>
                  <a:outerShdw blurRad="38100" dist="38100" dir="2700000" algn="tl">
                    <a:srgbClr val="000000">
                      <a:alpha val="43137"/>
                    </a:srgbClr>
                  </a:outerShdw>
                </a:effectLst>
              </a:rPr>
              <a:t>Decision Making Process </a:t>
            </a:r>
            <a:endParaRPr lang="en-US" dirty="0"/>
          </a:p>
        </p:txBody>
      </p:sp>
      <p:sp>
        <p:nvSpPr>
          <p:cNvPr id="3" name="Content Placeholder 2"/>
          <p:cNvSpPr>
            <a:spLocks noGrp="1"/>
          </p:cNvSpPr>
          <p:nvPr>
            <p:ph idx="1"/>
          </p:nvPr>
        </p:nvSpPr>
        <p:spPr>
          <a:xfrm>
            <a:off x="0" y="1018308"/>
            <a:ext cx="9071264" cy="5839691"/>
          </a:xfrm>
        </p:spPr>
        <p:txBody>
          <a:bodyPr>
            <a:noAutofit/>
          </a:bodyPr>
          <a:lstStyle/>
          <a:p>
            <a:pPr marL="0" indent="0" algn="just">
              <a:lnSpc>
                <a:spcPct val="150000"/>
              </a:lnSpc>
              <a:buNone/>
            </a:pPr>
            <a:r>
              <a:rPr lang="en-US" sz="3200" b="1" dirty="0"/>
              <a:t>Choice</a:t>
            </a:r>
          </a:p>
          <a:p>
            <a:pPr algn="just">
              <a:lnSpc>
                <a:spcPct val="150000"/>
              </a:lnSpc>
            </a:pPr>
            <a:r>
              <a:rPr lang="en-US" sz="3200" dirty="0"/>
              <a:t>Consists of choosing among solution alternatives.</a:t>
            </a:r>
          </a:p>
          <a:p>
            <a:pPr algn="just">
              <a:lnSpc>
                <a:spcPct val="150000"/>
              </a:lnSpc>
            </a:pPr>
            <a:r>
              <a:rPr lang="en-US" sz="3200" dirty="0"/>
              <a:t>The decision maker might need a larger DSS system to develop more extensive data on a variety of alternatives and complex models or data analysis tools to account for all </a:t>
            </a:r>
            <a:r>
              <a:rPr lang="en-US" sz="3200" dirty="0" smtClean="0"/>
              <a:t>the </a:t>
            </a:r>
            <a:r>
              <a:rPr lang="en-US" sz="3200" dirty="0"/>
              <a:t>costs, consequences, and opportunities</a:t>
            </a:r>
          </a:p>
          <a:p>
            <a:endParaRPr lang="en-US" sz="3200" dirty="0"/>
          </a:p>
        </p:txBody>
      </p:sp>
    </p:spTree>
    <p:extLst>
      <p:ext uri="{BB962C8B-B14F-4D97-AF65-F5344CB8AC3E}">
        <p14:creationId xmlns:p14="http://schemas.microsoft.com/office/powerpoint/2010/main" val="259878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964" y="0"/>
            <a:ext cx="7559386" cy="716973"/>
          </a:xfrm>
        </p:spPr>
        <p:txBody>
          <a:bodyPr/>
          <a:lstStyle/>
          <a:p>
            <a:pPr algn="ctr"/>
            <a:r>
              <a:rPr lang="en-US" b="1" dirty="0">
                <a:solidFill>
                  <a:srgbClr val="0070C0"/>
                </a:solidFill>
                <a:effectLst>
                  <a:outerShdw blurRad="38100" dist="38100" dir="2700000" algn="tl">
                    <a:srgbClr val="000000">
                      <a:alpha val="43137"/>
                    </a:srgbClr>
                  </a:outerShdw>
                </a:effectLst>
              </a:rPr>
              <a:t>Decision Making Process </a:t>
            </a:r>
            <a:endParaRPr lang="en-US" dirty="0"/>
          </a:p>
        </p:txBody>
      </p:sp>
      <p:sp>
        <p:nvSpPr>
          <p:cNvPr id="3" name="Content Placeholder 2"/>
          <p:cNvSpPr>
            <a:spLocks noGrp="1"/>
          </p:cNvSpPr>
          <p:nvPr>
            <p:ph idx="1"/>
          </p:nvPr>
        </p:nvSpPr>
        <p:spPr>
          <a:xfrm>
            <a:off x="0" y="716973"/>
            <a:ext cx="9143999" cy="6141027"/>
          </a:xfrm>
        </p:spPr>
        <p:txBody>
          <a:bodyPr>
            <a:normAutofit fontScale="77500" lnSpcReduction="20000"/>
          </a:bodyPr>
          <a:lstStyle/>
          <a:p>
            <a:pPr marL="0" indent="0" algn="just">
              <a:lnSpc>
                <a:spcPct val="150000"/>
              </a:lnSpc>
              <a:buNone/>
            </a:pPr>
            <a:r>
              <a:rPr lang="en-US" sz="3100" b="1" dirty="0"/>
              <a:t>Solution Implementation</a:t>
            </a:r>
          </a:p>
          <a:p>
            <a:pPr algn="just">
              <a:lnSpc>
                <a:spcPct val="150000"/>
              </a:lnSpc>
            </a:pPr>
            <a:r>
              <a:rPr lang="en-US" sz="3100" dirty="0"/>
              <a:t>When the decision is put into effect, managers can use a reporting system that delivers routine reports on the progress of a specific solution.</a:t>
            </a:r>
          </a:p>
          <a:p>
            <a:pPr algn="just">
              <a:lnSpc>
                <a:spcPct val="150000"/>
              </a:lnSpc>
            </a:pPr>
            <a:r>
              <a:rPr lang="en-US" sz="3100" dirty="0"/>
              <a:t> Support systems can range from full-blown MIS systems to much smaller systems, as well as project-planning software operating on personal computers</a:t>
            </a:r>
            <a:r>
              <a:rPr lang="en-US" sz="3100" dirty="0" smtClean="0"/>
              <a:t>.</a:t>
            </a:r>
          </a:p>
          <a:p>
            <a:pPr marL="0" indent="0" algn="just">
              <a:lnSpc>
                <a:spcPct val="150000"/>
              </a:lnSpc>
              <a:spcBef>
                <a:spcPts val="0"/>
              </a:spcBef>
              <a:buNone/>
            </a:pPr>
            <a:r>
              <a:rPr lang="en-US" sz="3100" b="1" i="1" dirty="0">
                <a:solidFill>
                  <a:schemeClr val="tx2"/>
                </a:solidFill>
                <a:latin typeface="Times New Roman" panose="02020603050405020304" pitchFamily="18" charset="0"/>
                <a:cs typeface="Times New Roman" panose="02020603050405020304" pitchFamily="18" charset="0"/>
              </a:rPr>
              <a:t>In general, the stages of decision making do not necessarily follow a linear </a:t>
            </a:r>
            <a:r>
              <a:rPr lang="en-US" sz="3100" b="1" i="1" dirty="0" smtClean="0">
                <a:solidFill>
                  <a:schemeClr val="tx2"/>
                </a:solidFill>
                <a:latin typeface="Times New Roman" panose="02020603050405020304" pitchFamily="18" charset="0"/>
                <a:cs typeface="Times New Roman" panose="02020603050405020304" pitchFamily="18" charset="0"/>
              </a:rPr>
              <a:t>path. Decisions </a:t>
            </a:r>
            <a:r>
              <a:rPr lang="en-US" sz="3100" b="1" i="1" dirty="0">
                <a:solidFill>
                  <a:schemeClr val="tx2"/>
                </a:solidFill>
                <a:latin typeface="Times New Roman" panose="02020603050405020304" pitchFamily="18" charset="0"/>
                <a:cs typeface="Times New Roman" panose="02020603050405020304" pitchFamily="18" charset="0"/>
              </a:rPr>
              <a:t>are often arrived at after a series of iterations and evaluations at each stage in the </a:t>
            </a:r>
            <a:r>
              <a:rPr lang="en-US" sz="3100" b="1" i="1" dirty="0" smtClean="0">
                <a:solidFill>
                  <a:schemeClr val="tx2"/>
                </a:solidFill>
                <a:latin typeface="Times New Roman" panose="02020603050405020304" pitchFamily="18" charset="0"/>
                <a:cs typeface="Times New Roman" panose="02020603050405020304" pitchFamily="18" charset="0"/>
              </a:rPr>
              <a:t>process. The </a:t>
            </a:r>
            <a:r>
              <a:rPr lang="en-US" sz="3100" b="1" i="1" dirty="0">
                <a:solidFill>
                  <a:schemeClr val="tx2"/>
                </a:solidFill>
                <a:latin typeface="Times New Roman" panose="02020603050405020304" pitchFamily="18" charset="0"/>
                <a:cs typeface="Times New Roman" panose="02020603050405020304" pitchFamily="18" charset="0"/>
              </a:rPr>
              <a:t>decision maker often must loop back through one or more of the stages before completing the process</a:t>
            </a:r>
          </a:p>
          <a:p>
            <a:pPr algn="just">
              <a:lnSpc>
                <a:spcPct val="150000"/>
              </a:lnSpc>
            </a:pPr>
            <a:endParaRPr lang="en-US" sz="2400" dirty="0"/>
          </a:p>
          <a:p>
            <a:endParaRPr lang="en-US" dirty="0"/>
          </a:p>
        </p:txBody>
      </p:sp>
    </p:spTree>
    <p:extLst>
      <p:ext uri="{BB962C8B-B14F-4D97-AF65-F5344CB8AC3E}">
        <p14:creationId xmlns:p14="http://schemas.microsoft.com/office/powerpoint/2010/main" val="1408864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7945" y="302181"/>
            <a:ext cx="7543800" cy="547795"/>
          </a:xfrm>
        </p:spPr>
        <p:txBody>
          <a:bodyPr>
            <a:normAutofit/>
          </a:bodyPr>
          <a:lstStyle/>
          <a:p>
            <a:r>
              <a:rPr lang="en-US" dirty="0" smtClean="0"/>
              <a:t>            Stages in Decision making</a:t>
            </a:r>
            <a:endParaRPr lang="en-US" dirty="0"/>
          </a:p>
        </p:txBody>
      </p:sp>
      <p:pic>
        <p:nvPicPr>
          <p:cNvPr id="4" name="Content Placeholder 3"/>
          <p:cNvPicPr>
            <a:picLocks noGrp="1" noChangeAspect="1"/>
          </p:cNvPicPr>
          <p:nvPr>
            <p:ph idx="1"/>
          </p:nvPr>
        </p:nvPicPr>
        <p:blipFill>
          <a:blip r:embed="rId2"/>
          <a:stretch>
            <a:fillRect/>
          </a:stretch>
        </p:blipFill>
        <p:spPr>
          <a:xfrm>
            <a:off x="1704110" y="1215736"/>
            <a:ext cx="6302871" cy="5372100"/>
          </a:xfrm>
          <a:prstGeom prst="rect">
            <a:avLst/>
          </a:prstGeom>
        </p:spPr>
      </p:pic>
    </p:spTree>
    <p:extLst>
      <p:ext uri="{BB962C8B-B14F-4D97-AF65-F5344CB8AC3E}">
        <p14:creationId xmlns:p14="http://schemas.microsoft.com/office/powerpoint/2010/main" val="26977278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7854" y="114300"/>
            <a:ext cx="5683827" cy="561109"/>
          </a:xfrm>
        </p:spPr>
        <p:txBody>
          <a:bodyPr>
            <a:normAutofit fontScale="90000"/>
          </a:bodyPr>
          <a:lstStyle/>
          <a:p>
            <a:r>
              <a:rPr lang="en-US" sz="3600" b="1" dirty="0"/>
              <a:t>Steps of Decision-Making Process</a:t>
            </a:r>
            <a:endParaRPr lang="en-US" dirty="0"/>
          </a:p>
        </p:txBody>
      </p:sp>
      <p:sp>
        <p:nvSpPr>
          <p:cNvPr id="3" name="Content Placeholder 2"/>
          <p:cNvSpPr>
            <a:spLocks noGrp="1"/>
          </p:cNvSpPr>
          <p:nvPr>
            <p:ph idx="1"/>
          </p:nvPr>
        </p:nvSpPr>
        <p:spPr>
          <a:xfrm>
            <a:off x="124691" y="841664"/>
            <a:ext cx="9019309" cy="5881254"/>
          </a:xfrm>
        </p:spPr>
        <p:txBody>
          <a:bodyPr>
            <a:normAutofit fontScale="92500" lnSpcReduction="10000"/>
          </a:bodyPr>
          <a:lstStyle/>
          <a:p>
            <a:pPr>
              <a:lnSpc>
                <a:spcPct val="150000"/>
              </a:lnSpc>
            </a:pPr>
            <a:r>
              <a:rPr lang="en-US" sz="2400" dirty="0"/>
              <a:t>Following are the important steps of the decision-making </a:t>
            </a:r>
            <a:r>
              <a:rPr lang="en-US" sz="2400" dirty="0" smtClean="0"/>
              <a:t>process.</a:t>
            </a:r>
          </a:p>
          <a:p>
            <a:pPr>
              <a:lnSpc>
                <a:spcPct val="150000"/>
              </a:lnSpc>
            </a:pPr>
            <a:r>
              <a:rPr lang="en-US" sz="2400" dirty="0" smtClean="0"/>
              <a:t>Each </a:t>
            </a:r>
            <a:r>
              <a:rPr lang="en-US" sz="2400" dirty="0"/>
              <a:t>step may be supported by different tools and techniques</a:t>
            </a:r>
            <a:r>
              <a:rPr lang="en-US" sz="2400" dirty="0" smtClean="0"/>
              <a:t>.</a:t>
            </a:r>
          </a:p>
          <a:p>
            <a:pPr marL="2233613" indent="-747713">
              <a:lnSpc>
                <a:spcPct val="150000"/>
              </a:lnSpc>
              <a:buFont typeface="+mj-lt"/>
              <a:buAutoNum type="arabicPeriod"/>
            </a:pPr>
            <a:r>
              <a:rPr lang="en-US" sz="2400" b="1" dirty="0" smtClean="0"/>
              <a:t>Identification of the purpose of the decision </a:t>
            </a:r>
          </a:p>
          <a:p>
            <a:pPr marL="2233613" indent="-747713">
              <a:lnSpc>
                <a:spcPct val="150000"/>
              </a:lnSpc>
              <a:buFont typeface="+mj-lt"/>
              <a:buAutoNum type="arabicPeriod"/>
            </a:pPr>
            <a:r>
              <a:rPr lang="en-US" sz="2400" b="1" dirty="0" smtClean="0"/>
              <a:t>Information gathering </a:t>
            </a:r>
          </a:p>
          <a:p>
            <a:pPr marL="2233613" indent="-747713">
              <a:lnSpc>
                <a:spcPct val="150000"/>
              </a:lnSpc>
              <a:buFont typeface="+mj-lt"/>
              <a:buAutoNum type="arabicPeriod"/>
            </a:pPr>
            <a:r>
              <a:rPr lang="en-US" sz="2400" b="1" dirty="0" smtClean="0"/>
              <a:t>Principles for Judging the alternatives </a:t>
            </a:r>
          </a:p>
          <a:p>
            <a:pPr marL="2233613" indent="-747713">
              <a:lnSpc>
                <a:spcPct val="150000"/>
              </a:lnSpc>
              <a:buFont typeface="+mj-lt"/>
              <a:buAutoNum type="arabicPeriod"/>
            </a:pPr>
            <a:r>
              <a:rPr lang="en-US" sz="2400" b="1" dirty="0" smtClean="0"/>
              <a:t>Brainstorm and analyze the different choices </a:t>
            </a:r>
          </a:p>
          <a:p>
            <a:pPr marL="2233613" indent="-747713">
              <a:lnSpc>
                <a:spcPct val="150000"/>
              </a:lnSpc>
              <a:buFont typeface="+mj-lt"/>
              <a:buAutoNum type="arabicPeriod"/>
            </a:pPr>
            <a:r>
              <a:rPr lang="en-US" sz="2400" b="1" dirty="0" smtClean="0"/>
              <a:t>Evaluation of alternatives</a:t>
            </a:r>
          </a:p>
          <a:p>
            <a:pPr marL="2233613" indent="-747713">
              <a:lnSpc>
                <a:spcPct val="150000"/>
              </a:lnSpc>
              <a:buFont typeface="+mj-lt"/>
              <a:buAutoNum type="arabicPeriod"/>
            </a:pPr>
            <a:r>
              <a:rPr lang="en-US" sz="2400" b="1" dirty="0" smtClean="0"/>
              <a:t>Select the best alternative </a:t>
            </a:r>
          </a:p>
          <a:p>
            <a:pPr marL="2233613" indent="-747713">
              <a:lnSpc>
                <a:spcPct val="150000"/>
              </a:lnSpc>
              <a:buFont typeface="+mj-lt"/>
              <a:buAutoNum type="arabicPeriod"/>
            </a:pPr>
            <a:r>
              <a:rPr lang="en-US" sz="2400" b="1" dirty="0" smtClean="0"/>
              <a:t>Execute the decision</a:t>
            </a:r>
          </a:p>
          <a:p>
            <a:pPr marL="2233613" indent="-747713">
              <a:lnSpc>
                <a:spcPct val="150000"/>
              </a:lnSpc>
              <a:buFont typeface="+mj-lt"/>
              <a:buAutoNum type="arabicPeriod"/>
            </a:pPr>
            <a:r>
              <a:rPr lang="en-US" sz="2400" b="1" dirty="0" smtClean="0"/>
              <a:t>Evaluate the Results   </a:t>
            </a:r>
          </a:p>
          <a:p>
            <a:pPr marL="800100" indent="228600">
              <a:buFont typeface="+mj-lt"/>
              <a:buAutoNum type="arabicPeriod"/>
            </a:pPr>
            <a:endParaRPr lang="en-US" dirty="0"/>
          </a:p>
        </p:txBody>
      </p:sp>
    </p:spTree>
    <p:extLst>
      <p:ext uri="{BB962C8B-B14F-4D97-AF65-F5344CB8AC3E}">
        <p14:creationId xmlns:p14="http://schemas.microsoft.com/office/powerpoint/2010/main" val="2850450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30045"/>
            <a:ext cx="7886700" cy="746700"/>
          </a:xfrm>
        </p:spPr>
        <p:txBody>
          <a:bodyPr>
            <a:normAutofit/>
          </a:bodyPr>
          <a:lstStyle/>
          <a:p>
            <a:r>
              <a:rPr lang="en-US" sz="3600" b="1" dirty="0"/>
              <a:t>Steps of Decision-Making </a:t>
            </a:r>
            <a:r>
              <a:rPr lang="en-US" sz="3600" b="1" dirty="0" smtClean="0"/>
              <a:t>Process cont’d </a:t>
            </a:r>
            <a:endParaRPr lang="en-US" b="1" dirty="0"/>
          </a:p>
        </p:txBody>
      </p:sp>
      <p:sp>
        <p:nvSpPr>
          <p:cNvPr id="3" name="Content Placeholder 2"/>
          <p:cNvSpPr>
            <a:spLocks noGrp="1"/>
          </p:cNvSpPr>
          <p:nvPr>
            <p:ph idx="1"/>
          </p:nvPr>
        </p:nvSpPr>
        <p:spPr>
          <a:xfrm>
            <a:off x="145473" y="1059873"/>
            <a:ext cx="8873836" cy="5663045"/>
          </a:xfrm>
        </p:spPr>
        <p:txBody>
          <a:bodyPr>
            <a:normAutofit/>
          </a:bodyPr>
          <a:lstStyle/>
          <a:p>
            <a:pPr marL="0" indent="0" algn="just">
              <a:lnSpc>
                <a:spcPct val="150000"/>
              </a:lnSpc>
              <a:spcBef>
                <a:spcPts val="450"/>
              </a:spcBef>
              <a:buNone/>
            </a:pPr>
            <a:r>
              <a:rPr lang="en-US" sz="2800" b="1" dirty="0"/>
              <a:t>Step 1 − Identification of the Purpose of the Decision</a:t>
            </a:r>
          </a:p>
          <a:p>
            <a:pPr>
              <a:lnSpc>
                <a:spcPct val="150000"/>
              </a:lnSpc>
              <a:spcBef>
                <a:spcPts val="450"/>
              </a:spcBef>
            </a:pPr>
            <a:r>
              <a:rPr lang="en-US" sz="2800" b="1" dirty="0"/>
              <a:t> </a:t>
            </a:r>
            <a:r>
              <a:rPr lang="en-US" sz="2800" dirty="0"/>
              <a:t>In this step, the problem is thoroughly analyzed. There are a couple of questions one should ask when it comes to identifying the purpose of the decision.</a:t>
            </a:r>
          </a:p>
          <a:p>
            <a:pPr>
              <a:lnSpc>
                <a:spcPct val="150000"/>
              </a:lnSpc>
              <a:spcBef>
                <a:spcPts val="450"/>
              </a:spcBef>
            </a:pPr>
            <a:r>
              <a:rPr lang="en-US" sz="2800" dirty="0"/>
              <a:t>What exactly is the problem?</a:t>
            </a:r>
          </a:p>
          <a:p>
            <a:pPr>
              <a:lnSpc>
                <a:spcPct val="150000"/>
              </a:lnSpc>
              <a:spcBef>
                <a:spcPts val="450"/>
              </a:spcBef>
            </a:pPr>
            <a:r>
              <a:rPr lang="en-US" sz="2800" dirty="0"/>
              <a:t>Why the problem should be solved?</a:t>
            </a:r>
          </a:p>
          <a:p>
            <a:pPr>
              <a:lnSpc>
                <a:spcPct val="150000"/>
              </a:lnSpc>
              <a:spcBef>
                <a:spcPts val="450"/>
              </a:spcBef>
            </a:pPr>
            <a:r>
              <a:rPr lang="en-US" sz="2800" dirty="0"/>
              <a:t>Who are the affected parties of the problem?</a:t>
            </a:r>
          </a:p>
          <a:p>
            <a:pPr>
              <a:lnSpc>
                <a:spcPct val="150000"/>
              </a:lnSpc>
              <a:spcBef>
                <a:spcPts val="450"/>
              </a:spcBef>
            </a:pPr>
            <a:r>
              <a:rPr lang="en-US" sz="2800" dirty="0"/>
              <a:t>Does the problem have a deadline or a specific time-line?</a:t>
            </a:r>
          </a:p>
          <a:p>
            <a:pPr>
              <a:lnSpc>
                <a:spcPct val="150000"/>
              </a:lnSpc>
            </a:pPr>
            <a:endParaRPr lang="en-US" sz="2800" dirty="0"/>
          </a:p>
        </p:txBody>
      </p:sp>
    </p:spTree>
    <p:extLst>
      <p:ext uri="{BB962C8B-B14F-4D97-AF65-F5344CB8AC3E}">
        <p14:creationId xmlns:p14="http://schemas.microsoft.com/office/powerpoint/2010/main" val="2116786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9431" y="146917"/>
            <a:ext cx="7886700" cy="912955"/>
          </a:xfrm>
        </p:spPr>
        <p:txBody>
          <a:bodyPr/>
          <a:lstStyle/>
          <a:p>
            <a:r>
              <a:rPr lang="en-US" sz="3200" b="1" dirty="0"/>
              <a:t>Steps of Decision-Making Process cont’d </a:t>
            </a:r>
            <a:endParaRPr lang="en-US" dirty="0"/>
          </a:p>
        </p:txBody>
      </p:sp>
      <p:sp>
        <p:nvSpPr>
          <p:cNvPr id="3" name="Content Placeholder 2"/>
          <p:cNvSpPr>
            <a:spLocks noGrp="1"/>
          </p:cNvSpPr>
          <p:nvPr>
            <p:ph idx="1"/>
          </p:nvPr>
        </p:nvSpPr>
        <p:spPr>
          <a:xfrm>
            <a:off x="176645" y="924792"/>
            <a:ext cx="8832273" cy="5829299"/>
          </a:xfrm>
        </p:spPr>
        <p:txBody>
          <a:bodyPr>
            <a:normAutofit lnSpcReduction="10000"/>
          </a:bodyPr>
          <a:lstStyle/>
          <a:p>
            <a:pPr marL="0" indent="0" algn="just">
              <a:lnSpc>
                <a:spcPct val="150000"/>
              </a:lnSpc>
              <a:spcBef>
                <a:spcPts val="450"/>
              </a:spcBef>
              <a:buNone/>
            </a:pPr>
            <a:r>
              <a:rPr lang="en-US" sz="2800" b="1" dirty="0"/>
              <a:t>Step 2 − Information Gathering</a:t>
            </a:r>
          </a:p>
          <a:p>
            <a:pPr algn="just">
              <a:lnSpc>
                <a:spcPct val="150000"/>
              </a:lnSpc>
              <a:spcBef>
                <a:spcPts val="450"/>
              </a:spcBef>
            </a:pPr>
            <a:r>
              <a:rPr lang="en-US" sz="2800" dirty="0"/>
              <a:t>A problem of an organization will have many stakeholders. In addition, there can be dozens of factors involved and affected by the problem.</a:t>
            </a:r>
          </a:p>
          <a:p>
            <a:pPr algn="just">
              <a:lnSpc>
                <a:spcPct val="150000"/>
              </a:lnSpc>
              <a:spcBef>
                <a:spcPts val="450"/>
              </a:spcBef>
            </a:pPr>
            <a:r>
              <a:rPr lang="en-US" sz="2800" dirty="0"/>
              <a:t>In the process of solving the problem, you will have to gather as much as information related to the factors and stakeholders involved in the problem. For the process of information gathering, tools such as 'Check Sheets' can be effectively used.</a:t>
            </a:r>
          </a:p>
          <a:p>
            <a:pPr>
              <a:lnSpc>
                <a:spcPct val="150000"/>
              </a:lnSpc>
              <a:spcBef>
                <a:spcPts val="450"/>
              </a:spcBef>
            </a:pPr>
            <a:endParaRPr lang="en-US" sz="2400" dirty="0"/>
          </a:p>
          <a:p>
            <a:pPr>
              <a:spcBef>
                <a:spcPts val="450"/>
              </a:spcBef>
            </a:pPr>
            <a:endParaRPr lang="en-US" sz="2400" dirty="0"/>
          </a:p>
          <a:p>
            <a:endParaRPr lang="en-US" dirty="0"/>
          </a:p>
        </p:txBody>
      </p:sp>
    </p:spTree>
    <p:extLst>
      <p:ext uri="{BB962C8B-B14F-4D97-AF65-F5344CB8AC3E}">
        <p14:creationId xmlns:p14="http://schemas.microsoft.com/office/powerpoint/2010/main" val="3073605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93519"/>
            <a:ext cx="7886700" cy="519545"/>
          </a:xfrm>
        </p:spPr>
        <p:txBody>
          <a:bodyPr>
            <a:normAutofit fontScale="90000"/>
          </a:bodyPr>
          <a:lstStyle/>
          <a:p>
            <a:r>
              <a:rPr lang="en-US" sz="3200" b="1" dirty="0"/>
              <a:t>Steps of Decision-Making Process cont’d </a:t>
            </a:r>
            <a:endParaRPr lang="en-US" dirty="0"/>
          </a:p>
        </p:txBody>
      </p:sp>
      <p:sp>
        <p:nvSpPr>
          <p:cNvPr id="3" name="Content Placeholder 2"/>
          <p:cNvSpPr>
            <a:spLocks noGrp="1"/>
          </p:cNvSpPr>
          <p:nvPr>
            <p:ph idx="1"/>
          </p:nvPr>
        </p:nvSpPr>
        <p:spPr>
          <a:xfrm>
            <a:off x="135082" y="613064"/>
            <a:ext cx="9008918" cy="6172200"/>
          </a:xfrm>
        </p:spPr>
        <p:txBody>
          <a:bodyPr>
            <a:noAutofit/>
          </a:bodyPr>
          <a:lstStyle/>
          <a:p>
            <a:pPr marL="0" algn="just">
              <a:lnSpc>
                <a:spcPct val="150000"/>
              </a:lnSpc>
            </a:pPr>
            <a:r>
              <a:rPr lang="en-US" sz="2600" b="1" dirty="0"/>
              <a:t>Step 3 − Principles for Judging the Alternatives</a:t>
            </a:r>
          </a:p>
          <a:p>
            <a:pPr marL="0" algn="just">
              <a:lnSpc>
                <a:spcPct val="150000"/>
              </a:lnSpc>
            </a:pPr>
            <a:r>
              <a:rPr lang="en-US" sz="2600" dirty="0"/>
              <a:t>In this step, the baseline criteria for judging the alternatives should be set up. When it comes to defining the criteria, organizational goals as well as the corporate culture should be taken into consideration.</a:t>
            </a:r>
          </a:p>
          <a:p>
            <a:pPr marL="0" algn="just">
              <a:lnSpc>
                <a:spcPct val="150000"/>
              </a:lnSpc>
            </a:pPr>
            <a:r>
              <a:rPr lang="en-US" sz="2600" dirty="0"/>
              <a:t>As an example, profit is one of the main concerns in every decision making process. Companies usually do not make decisions that reduce profits, unless it is an exceptional case. Likewise, baseline principles should be identified related to the problem in hand.</a:t>
            </a:r>
          </a:p>
          <a:p>
            <a:pPr>
              <a:lnSpc>
                <a:spcPct val="150000"/>
              </a:lnSpc>
            </a:pPr>
            <a:endParaRPr lang="en-US" sz="2600" dirty="0"/>
          </a:p>
        </p:txBody>
      </p:sp>
    </p:spTree>
    <p:extLst>
      <p:ext uri="{BB962C8B-B14F-4D97-AF65-F5344CB8AC3E}">
        <p14:creationId xmlns:p14="http://schemas.microsoft.com/office/powerpoint/2010/main" val="4171059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387" y="157309"/>
            <a:ext cx="7886700" cy="549274"/>
          </a:xfrm>
        </p:spPr>
        <p:txBody>
          <a:bodyPr/>
          <a:lstStyle/>
          <a:p>
            <a:r>
              <a:rPr lang="en-US" sz="3200" b="1" dirty="0"/>
              <a:t>Steps of Decision-Making Process cont’d </a:t>
            </a:r>
            <a:endParaRPr lang="en-US" dirty="0"/>
          </a:p>
        </p:txBody>
      </p:sp>
      <p:sp>
        <p:nvSpPr>
          <p:cNvPr id="3" name="Content Placeholder 2"/>
          <p:cNvSpPr>
            <a:spLocks noGrp="1"/>
          </p:cNvSpPr>
          <p:nvPr>
            <p:ph idx="1"/>
          </p:nvPr>
        </p:nvSpPr>
        <p:spPr>
          <a:xfrm>
            <a:off x="93517" y="706583"/>
            <a:ext cx="8905009" cy="6037117"/>
          </a:xfrm>
        </p:spPr>
        <p:txBody>
          <a:bodyPr>
            <a:normAutofit fontScale="92500" lnSpcReduction="10000"/>
          </a:bodyPr>
          <a:lstStyle/>
          <a:p>
            <a:pPr marL="0" algn="just">
              <a:lnSpc>
                <a:spcPct val="160000"/>
              </a:lnSpc>
            </a:pPr>
            <a:r>
              <a:rPr lang="en-US" sz="2600" b="1" dirty="0"/>
              <a:t>Step 4 − Brainstorm and Analyze the Choices</a:t>
            </a:r>
          </a:p>
          <a:p>
            <a:pPr marL="0" algn="just">
              <a:lnSpc>
                <a:spcPct val="160000"/>
              </a:lnSpc>
            </a:pPr>
            <a:r>
              <a:rPr lang="en-US" sz="2600" dirty="0"/>
              <a:t>For this step, brainstorming to list down all the ideas is the best option. Before the idea generation step, it is vital to understand the causes of the problem and </a:t>
            </a:r>
            <a:r>
              <a:rPr lang="en-US" sz="2600" dirty="0" smtClean="0"/>
              <a:t>prioritize </a:t>
            </a:r>
            <a:r>
              <a:rPr lang="en-US" sz="2600" dirty="0"/>
              <a:t>causes.</a:t>
            </a:r>
          </a:p>
          <a:p>
            <a:pPr marL="0" algn="just">
              <a:lnSpc>
                <a:spcPct val="160000"/>
              </a:lnSpc>
              <a:spcBef>
                <a:spcPts val="0"/>
              </a:spcBef>
            </a:pPr>
            <a:r>
              <a:rPr lang="en-US" sz="2600" dirty="0"/>
              <a:t>For this, you can make use of Cause-and-Effect diagrams and Pareto Chart tool. Cause-and-Effect diagram helps you to identify all possible causes of the problem and Pareto chart helps you to prioritize and identify the causes with the highest effect.</a:t>
            </a:r>
          </a:p>
          <a:p>
            <a:pPr marL="0" algn="just">
              <a:lnSpc>
                <a:spcPct val="160000"/>
              </a:lnSpc>
            </a:pPr>
            <a:r>
              <a:rPr lang="en-US" sz="2600" dirty="0"/>
              <a:t>Then, you can move on generating all possible solutions (alternatives) for the problem </a:t>
            </a:r>
            <a:r>
              <a:rPr lang="en-US" sz="2600" dirty="0" smtClean="0"/>
              <a:t>at</a:t>
            </a:r>
            <a:r>
              <a:rPr lang="en-US" sz="2600" dirty="0" smtClean="0"/>
              <a:t> </a:t>
            </a:r>
            <a:r>
              <a:rPr lang="en-US" sz="2600" dirty="0"/>
              <a:t>hand.</a:t>
            </a:r>
          </a:p>
          <a:p>
            <a:pPr marL="0" algn="just">
              <a:lnSpc>
                <a:spcPct val="160000"/>
              </a:lnSpc>
            </a:pPr>
            <a:endParaRPr lang="en-US" sz="2400" dirty="0"/>
          </a:p>
          <a:p>
            <a:pPr marL="0" algn="just">
              <a:lnSpc>
                <a:spcPct val="160000"/>
              </a:lnSpc>
            </a:pPr>
            <a:endParaRPr lang="en-US" sz="2400" dirty="0"/>
          </a:p>
          <a:p>
            <a:pPr>
              <a:lnSpc>
                <a:spcPct val="160000"/>
              </a:lnSpc>
            </a:pPr>
            <a:endParaRPr lang="en-US" dirty="0"/>
          </a:p>
        </p:txBody>
      </p:sp>
    </p:spTree>
    <p:extLst>
      <p:ext uri="{BB962C8B-B14F-4D97-AF65-F5344CB8AC3E}">
        <p14:creationId xmlns:p14="http://schemas.microsoft.com/office/powerpoint/2010/main" val="3688284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062" y="126137"/>
            <a:ext cx="7886700" cy="559664"/>
          </a:xfrm>
        </p:spPr>
        <p:txBody>
          <a:bodyPr/>
          <a:lstStyle/>
          <a:p>
            <a:r>
              <a:rPr lang="en-US" sz="3200" b="1" dirty="0"/>
              <a:t>Steps of Decision-Making Process cont’d </a:t>
            </a:r>
            <a:endParaRPr lang="en-US" dirty="0"/>
          </a:p>
        </p:txBody>
      </p:sp>
      <p:sp>
        <p:nvSpPr>
          <p:cNvPr id="3" name="Content Placeholder 2"/>
          <p:cNvSpPr>
            <a:spLocks noGrp="1"/>
          </p:cNvSpPr>
          <p:nvPr>
            <p:ph idx="1"/>
          </p:nvPr>
        </p:nvSpPr>
        <p:spPr>
          <a:xfrm>
            <a:off x="135081" y="685801"/>
            <a:ext cx="8842663" cy="6089072"/>
          </a:xfrm>
        </p:spPr>
        <p:txBody>
          <a:bodyPr>
            <a:normAutofit/>
          </a:bodyPr>
          <a:lstStyle/>
          <a:p>
            <a:pPr marL="0" indent="0" algn="just">
              <a:lnSpc>
                <a:spcPct val="150000"/>
              </a:lnSpc>
              <a:spcBef>
                <a:spcPts val="0"/>
              </a:spcBef>
              <a:buNone/>
            </a:pPr>
            <a:r>
              <a:rPr lang="en-US" sz="3200" b="1" dirty="0"/>
              <a:t>Step 5 − Evaluation of Alternatives</a:t>
            </a:r>
          </a:p>
          <a:p>
            <a:pPr algn="just">
              <a:lnSpc>
                <a:spcPct val="150000"/>
              </a:lnSpc>
              <a:spcBef>
                <a:spcPts val="0"/>
              </a:spcBef>
            </a:pPr>
            <a:r>
              <a:rPr lang="en-US" sz="3200" dirty="0"/>
              <a:t>Use your judgment principles and decision-making criteria to evaluate each alternative. In this step, experience and effectiveness of the judgment principles come into play. You need to compare each alternative for their positives and negatives.</a:t>
            </a:r>
          </a:p>
          <a:p>
            <a:pPr>
              <a:lnSpc>
                <a:spcPct val="150000"/>
              </a:lnSpc>
            </a:pPr>
            <a:endParaRPr lang="en-US" sz="3200" dirty="0"/>
          </a:p>
        </p:txBody>
      </p:sp>
    </p:spTree>
    <p:extLst>
      <p:ext uri="{BB962C8B-B14F-4D97-AF65-F5344CB8AC3E}">
        <p14:creationId xmlns:p14="http://schemas.microsoft.com/office/powerpoint/2010/main" val="2393732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45474"/>
            <a:ext cx="7886700" cy="581890"/>
          </a:xfrm>
        </p:spPr>
        <p:txBody>
          <a:bodyPr/>
          <a:lstStyle/>
          <a:p>
            <a:r>
              <a:rPr lang="en-US" sz="3200" b="1" dirty="0"/>
              <a:t>Steps of Decision-Making Process cont’d </a:t>
            </a:r>
            <a:endParaRPr lang="en-US" dirty="0"/>
          </a:p>
        </p:txBody>
      </p:sp>
      <p:sp>
        <p:nvSpPr>
          <p:cNvPr id="3" name="Content Placeholder 2"/>
          <p:cNvSpPr>
            <a:spLocks noGrp="1"/>
          </p:cNvSpPr>
          <p:nvPr>
            <p:ph idx="1"/>
          </p:nvPr>
        </p:nvSpPr>
        <p:spPr>
          <a:xfrm>
            <a:off x="103909" y="1049482"/>
            <a:ext cx="8811491" cy="5652654"/>
          </a:xfrm>
        </p:spPr>
        <p:txBody>
          <a:bodyPr>
            <a:normAutofit/>
          </a:bodyPr>
          <a:lstStyle/>
          <a:p>
            <a:pPr marL="0" indent="0" algn="just">
              <a:lnSpc>
                <a:spcPct val="150000"/>
              </a:lnSpc>
              <a:spcBef>
                <a:spcPts val="0"/>
              </a:spcBef>
              <a:buNone/>
            </a:pPr>
            <a:r>
              <a:rPr lang="en-US" sz="3200" b="1" dirty="0"/>
              <a:t>Step 6 − Select the Best Alternative</a:t>
            </a:r>
          </a:p>
          <a:p>
            <a:pPr algn="just">
              <a:lnSpc>
                <a:spcPct val="150000"/>
              </a:lnSpc>
              <a:spcBef>
                <a:spcPts val="0"/>
              </a:spcBef>
            </a:pPr>
            <a:r>
              <a:rPr lang="en-US" sz="3200" dirty="0"/>
              <a:t>Once you go through from Step 1 to Step 5, this step is easy. In addition, the selection of the best alternative is an informed decision since you have already followed a methodology to derive and select the best alternative.</a:t>
            </a:r>
          </a:p>
          <a:p>
            <a:pPr>
              <a:lnSpc>
                <a:spcPct val="150000"/>
              </a:lnSpc>
            </a:pPr>
            <a:endParaRPr lang="en-US" sz="3200" dirty="0"/>
          </a:p>
        </p:txBody>
      </p:sp>
    </p:spTree>
    <p:extLst>
      <p:ext uri="{BB962C8B-B14F-4D97-AF65-F5344CB8AC3E}">
        <p14:creationId xmlns:p14="http://schemas.microsoft.com/office/powerpoint/2010/main" val="2873427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168" y="167700"/>
            <a:ext cx="7886700" cy="611618"/>
          </a:xfrm>
        </p:spPr>
        <p:txBody>
          <a:bodyPr/>
          <a:lstStyle/>
          <a:p>
            <a:r>
              <a:rPr lang="en-US" sz="3600" b="1" dirty="0"/>
              <a:t>Steps of Decision-Making Process cont’d </a:t>
            </a:r>
            <a:endParaRPr lang="en-US" dirty="0"/>
          </a:p>
        </p:txBody>
      </p:sp>
      <p:sp>
        <p:nvSpPr>
          <p:cNvPr id="3" name="Content Placeholder 2"/>
          <p:cNvSpPr>
            <a:spLocks noGrp="1"/>
          </p:cNvSpPr>
          <p:nvPr>
            <p:ph idx="1"/>
          </p:nvPr>
        </p:nvSpPr>
        <p:spPr>
          <a:xfrm>
            <a:off x="405245" y="1091045"/>
            <a:ext cx="8110105" cy="5085918"/>
          </a:xfrm>
        </p:spPr>
        <p:txBody>
          <a:bodyPr>
            <a:normAutofit/>
          </a:bodyPr>
          <a:lstStyle/>
          <a:p>
            <a:pPr marL="0" indent="0" algn="just">
              <a:lnSpc>
                <a:spcPct val="200000"/>
              </a:lnSpc>
              <a:spcBef>
                <a:spcPts val="0"/>
              </a:spcBef>
              <a:buNone/>
            </a:pPr>
            <a:r>
              <a:rPr lang="en-US" sz="3200" b="1" dirty="0"/>
              <a:t>Step 7 − Execute the decision</a:t>
            </a:r>
          </a:p>
          <a:p>
            <a:pPr algn="just">
              <a:lnSpc>
                <a:spcPct val="200000"/>
              </a:lnSpc>
              <a:spcBef>
                <a:spcPts val="0"/>
              </a:spcBef>
            </a:pPr>
            <a:r>
              <a:rPr lang="en-US" sz="3200" dirty="0"/>
              <a:t>Convert your decision into a plan or a sequence of activities. Execute your plan by yourself or with the help of subordinates.</a:t>
            </a:r>
          </a:p>
          <a:p>
            <a:pPr>
              <a:lnSpc>
                <a:spcPct val="200000"/>
              </a:lnSpc>
            </a:pPr>
            <a:endParaRPr lang="en-US" sz="3200" dirty="0"/>
          </a:p>
        </p:txBody>
      </p:sp>
    </p:spTree>
    <p:extLst>
      <p:ext uri="{BB962C8B-B14F-4D97-AF65-F5344CB8AC3E}">
        <p14:creationId xmlns:p14="http://schemas.microsoft.com/office/powerpoint/2010/main" val="36615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30044"/>
            <a:ext cx="7886700" cy="580447"/>
          </a:xfrm>
        </p:spPr>
        <p:txBody>
          <a:bodyPr>
            <a:normAutofit fontScale="90000"/>
          </a:bodyPr>
          <a:lstStyle/>
          <a:p>
            <a:r>
              <a:rPr lang="en-US" sz="3600" b="1" dirty="0"/>
              <a:t>Steps of Decision-Making Process cont’d </a:t>
            </a:r>
            <a:endParaRPr lang="en-US" dirty="0"/>
          </a:p>
        </p:txBody>
      </p:sp>
      <p:sp>
        <p:nvSpPr>
          <p:cNvPr id="3" name="Content Placeholder 2"/>
          <p:cNvSpPr>
            <a:spLocks noGrp="1"/>
          </p:cNvSpPr>
          <p:nvPr>
            <p:ph idx="1"/>
          </p:nvPr>
        </p:nvSpPr>
        <p:spPr>
          <a:xfrm>
            <a:off x="145473" y="1091045"/>
            <a:ext cx="8832272" cy="5486400"/>
          </a:xfrm>
        </p:spPr>
        <p:txBody>
          <a:bodyPr>
            <a:normAutofit/>
          </a:bodyPr>
          <a:lstStyle/>
          <a:p>
            <a:pPr algn="just">
              <a:lnSpc>
                <a:spcPct val="150000"/>
              </a:lnSpc>
              <a:spcBef>
                <a:spcPts val="0"/>
              </a:spcBef>
            </a:pPr>
            <a:r>
              <a:rPr lang="en-US" sz="3200" b="1" dirty="0"/>
              <a:t>Step 8 − Evaluate the Results</a:t>
            </a:r>
          </a:p>
          <a:p>
            <a:pPr algn="just">
              <a:lnSpc>
                <a:spcPct val="150000"/>
              </a:lnSpc>
              <a:spcBef>
                <a:spcPts val="0"/>
              </a:spcBef>
            </a:pPr>
            <a:r>
              <a:rPr lang="en-US" sz="3200" dirty="0"/>
              <a:t>Evaluate the outcome of your decision. See whether there is anything you should learn and then correct in future decision making. This is one of the best practices that will improve your decision-making skills.</a:t>
            </a:r>
          </a:p>
          <a:p>
            <a:pPr algn="just">
              <a:lnSpc>
                <a:spcPct val="150000"/>
              </a:lnSpc>
              <a:spcBef>
                <a:spcPts val="0"/>
              </a:spcBef>
            </a:pPr>
            <a:endParaRPr lang="en-US" sz="3200" dirty="0"/>
          </a:p>
          <a:p>
            <a:pPr algn="just">
              <a:lnSpc>
                <a:spcPct val="150000"/>
              </a:lnSpc>
              <a:spcBef>
                <a:spcPts val="0"/>
              </a:spcBef>
            </a:pPr>
            <a:endParaRPr lang="en-US" sz="3200" dirty="0"/>
          </a:p>
          <a:p>
            <a:pPr algn="just">
              <a:lnSpc>
                <a:spcPct val="150000"/>
              </a:lnSpc>
              <a:spcBef>
                <a:spcPts val="0"/>
              </a:spcBef>
            </a:pPr>
            <a:endParaRPr lang="en-US" sz="3200" dirty="0"/>
          </a:p>
          <a:p>
            <a:pPr>
              <a:lnSpc>
                <a:spcPct val="150000"/>
              </a:lnSpc>
            </a:pPr>
            <a:endParaRPr lang="en-US" sz="3200" dirty="0"/>
          </a:p>
        </p:txBody>
      </p:sp>
    </p:spTree>
    <p:extLst>
      <p:ext uri="{BB962C8B-B14F-4D97-AF65-F5344CB8AC3E}">
        <p14:creationId xmlns:p14="http://schemas.microsoft.com/office/powerpoint/2010/main" val="3540104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218" y="365126"/>
            <a:ext cx="7393132" cy="973223"/>
          </a:xfrm>
        </p:spPr>
        <p:txBody>
          <a:bodyPr>
            <a:noAutofit/>
          </a:bodyPr>
          <a:lstStyle/>
          <a:p>
            <a:r>
              <a:rPr lang="en-US" sz="3200" b="1" dirty="0">
                <a:latin typeface="+mn-lt"/>
              </a:rPr>
              <a:t>Process and Modeling in Decision-Making</a:t>
            </a:r>
          </a:p>
        </p:txBody>
      </p:sp>
      <p:sp>
        <p:nvSpPr>
          <p:cNvPr id="3" name="Content Placeholder 2"/>
          <p:cNvSpPr>
            <a:spLocks noGrp="1"/>
          </p:cNvSpPr>
          <p:nvPr>
            <p:ph idx="1"/>
          </p:nvPr>
        </p:nvSpPr>
        <p:spPr>
          <a:xfrm>
            <a:off x="1007918" y="1587731"/>
            <a:ext cx="7678881" cy="2610195"/>
          </a:xfrm>
        </p:spPr>
        <p:txBody>
          <a:bodyPr>
            <a:noAutofit/>
          </a:bodyPr>
          <a:lstStyle/>
          <a:p>
            <a:pPr marL="0" indent="0" algn="just">
              <a:lnSpc>
                <a:spcPct val="150000"/>
              </a:lnSpc>
              <a:buNone/>
            </a:pPr>
            <a:r>
              <a:rPr lang="en-US" sz="2800" dirty="0"/>
              <a:t>There are two basic models in decision-making −</a:t>
            </a:r>
          </a:p>
          <a:p>
            <a:pPr algn="just">
              <a:lnSpc>
                <a:spcPct val="150000"/>
              </a:lnSpc>
            </a:pPr>
            <a:r>
              <a:rPr lang="en-US" sz="2800" dirty="0"/>
              <a:t>Rational models</a:t>
            </a:r>
          </a:p>
          <a:p>
            <a:pPr algn="just">
              <a:lnSpc>
                <a:spcPct val="150000"/>
              </a:lnSpc>
            </a:pPr>
            <a:r>
              <a:rPr lang="en-US" sz="2800" dirty="0"/>
              <a:t>Normative model</a:t>
            </a:r>
          </a:p>
        </p:txBody>
      </p:sp>
    </p:spTree>
    <p:extLst>
      <p:ext uri="{BB962C8B-B14F-4D97-AF65-F5344CB8AC3E}">
        <p14:creationId xmlns:p14="http://schemas.microsoft.com/office/powerpoint/2010/main" val="18350642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082" y="581476"/>
            <a:ext cx="8873835" cy="6276523"/>
          </a:xfrm>
        </p:spPr>
        <p:txBody>
          <a:bodyPr>
            <a:noAutofit/>
          </a:bodyPr>
          <a:lstStyle/>
          <a:p>
            <a:pPr marL="0" indent="0" algn="just">
              <a:lnSpc>
                <a:spcPct val="150000"/>
              </a:lnSpc>
              <a:buNone/>
            </a:pPr>
            <a:r>
              <a:rPr lang="en-US" sz="2200" dirty="0"/>
              <a:t>The </a:t>
            </a:r>
            <a:r>
              <a:rPr lang="en-US" sz="2200" b="1" dirty="0"/>
              <a:t>rational models </a:t>
            </a:r>
            <a:r>
              <a:rPr lang="en-US" sz="2200" dirty="0"/>
              <a:t>are based on cognitive judgments and help in selecting the most logical and sensible alternative. </a:t>
            </a:r>
          </a:p>
          <a:p>
            <a:pPr algn="just">
              <a:lnSpc>
                <a:spcPct val="150000"/>
              </a:lnSpc>
            </a:pPr>
            <a:r>
              <a:rPr lang="en-US" sz="2200" dirty="0"/>
              <a:t>Examples of such models include - decision matrix analysis</a:t>
            </a:r>
            <a:r>
              <a:rPr lang="en-US" sz="2200" dirty="0" smtClean="0"/>
              <a:t>, </a:t>
            </a:r>
            <a:r>
              <a:rPr lang="en-US" sz="2200" dirty="0"/>
              <a:t>SWOT analysis, Pareto analysis and decision trees, selection matrix, etc.</a:t>
            </a:r>
          </a:p>
          <a:p>
            <a:pPr marL="0" indent="0" algn="just">
              <a:lnSpc>
                <a:spcPct val="150000"/>
              </a:lnSpc>
              <a:buNone/>
            </a:pPr>
            <a:r>
              <a:rPr lang="en-US" sz="2200" b="1" dirty="0"/>
              <a:t>A rational decision making model takes the following steps </a:t>
            </a:r>
            <a:r>
              <a:rPr lang="en-US" sz="2200" dirty="0"/>
              <a:t>−</a:t>
            </a:r>
          </a:p>
          <a:p>
            <a:pPr marL="633413" algn="just">
              <a:lnSpc>
                <a:spcPct val="150000"/>
              </a:lnSpc>
            </a:pPr>
            <a:r>
              <a:rPr lang="en-US" sz="2200" dirty="0"/>
              <a:t>Identifying the problem,</a:t>
            </a:r>
          </a:p>
          <a:p>
            <a:pPr marL="633413" algn="just">
              <a:lnSpc>
                <a:spcPct val="150000"/>
              </a:lnSpc>
            </a:pPr>
            <a:r>
              <a:rPr lang="en-US" sz="2200" dirty="0"/>
              <a:t>Identifying the important criteria for the process and the result,</a:t>
            </a:r>
          </a:p>
          <a:p>
            <a:pPr marL="633413" algn="just">
              <a:lnSpc>
                <a:spcPct val="150000"/>
              </a:lnSpc>
            </a:pPr>
            <a:r>
              <a:rPr lang="en-US" sz="2200" dirty="0"/>
              <a:t>Considering all possible solutions,</a:t>
            </a:r>
          </a:p>
          <a:p>
            <a:pPr marL="633413" algn="just">
              <a:lnSpc>
                <a:spcPct val="150000"/>
              </a:lnSpc>
            </a:pPr>
            <a:r>
              <a:rPr lang="en-US" sz="2200" dirty="0"/>
              <a:t>Calculating the consequences of all solutions and comparing the probability of satisfying the criteria,</a:t>
            </a:r>
          </a:p>
          <a:p>
            <a:pPr marL="633413" algn="just">
              <a:lnSpc>
                <a:spcPct val="150000"/>
              </a:lnSpc>
            </a:pPr>
            <a:r>
              <a:rPr lang="en-US" sz="2200" dirty="0"/>
              <a:t>Selecting the best option</a:t>
            </a:r>
            <a:r>
              <a:rPr lang="en-US" sz="2400" dirty="0"/>
              <a:t>.</a:t>
            </a:r>
          </a:p>
        </p:txBody>
      </p:sp>
      <p:sp>
        <p:nvSpPr>
          <p:cNvPr id="2" name="Rectangle 1"/>
          <p:cNvSpPr/>
          <p:nvPr/>
        </p:nvSpPr>
        <p:spPr>
          <a:xfrm>
            <a:off x="2181283" y="73646"/>
            <a:ext cx="2677336" cy="507831"/>
          </a:xfrm>
          <a:prstGeom prst="rect">
            <a:avLst/>
          </a:prstGeom>
        </p:spPr>
        <p:txBody>
          <a:bodyPr wrap="none">
            <a:spAutoFit/>
          </a:bodyPr>
          <a:lstStyle/>
          <a:p>
            <a:r>
              <a:rPr lang="en-US" sz="2700" b="1" dirty="0">
                <a:solidFill>
                  <a:srgbClr val="0070C0"/>
                </a:solidFill>
                <a:effectLst>
                  <a:outerShdw blurRad="38100" dist="38100" dir="2700000" algn="tl">
                    <a:srgbClr val="000000">
                      <a:alpha val="43137"/>
                    </a:srgbClr>
                  </a:outerShdw>
                </a:effectLst>
              </a:rPr>
              <a:t>Rational Models </a:t>
            </a:r>
            <a:endParaRPr lang="en-US" sz="2700"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764797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 y="931026"/>
            <a:ext cx="8884227" cy="5843847"/>
          </a:xfrm>
        </p:spPr>
        <p:txBody>
          <a:bodyPr>
            <a:noAutofit/>
          </a:bodyPr>
          <a:lstStyle/>
          <a:p>
            <a:pPr algn="just">
              <a:lnSpc>
                <a:spcPct val="150000"/>
              </a:lnSpc>
            </a:pPr>
            <a:r>
              <a:rPr lang="en-US" sz="2400" dirty="0"/>
              <a:t>The normative model of decision-making considers constraints that may arise in making decisions, such as time, complexity, uncertainty, and inadequacy of resources.</a:t>
            </a:r>
          </a:p>
          <a:p>
            <a:pPr algn="just">
              <a:lnSpc>
                <a:spcPct val="150000"/>
              </a:lnSpc>
            </a:pPr>
            <a:r>
              <a:rPr lang="en-US" sz="2400" b="1" dirty="0"/>
              <a:t>According to this model, decision-making is characterized by −</a:t>
            </a:r>
          </a:p>
          <a:p>
            <a:pPr algn="just">
              <a:lnSpc>
                <a:spcPct val="150000"/>
              </a:lnSpc>
              <a:buFont typeface="Wingdings" panose="05000000000000000000" pitchFamily="2" charset="2"/>
              <a:buChar char="ü"/>
            </a:pPr>
            <a:r>
              <a:rPr lang="en-US" sz="2400" dirty="0">
                <a:solidFill>
                  <a:srgbClr val="FF0000"/>
                </a:solidFill>
              </a:rPr>
              <a:t>Limited information processing </a:t>
            </a:r>
            <a:r>
              <a:rPr lang="en-US" sz="2400" dirty="0"/>
              <a:t>- A person can manage only a limited amount of information.</a:t>
            </a:r>
          </a:p>
          <a:p>
            <a:pPr algn="just">
              <a:lnSpc>
                <a:spcPct val="150000"/>
              </a:lnSpc>
              <a:buFont typeface="Wingdings" panose="05000000000000000000" pitchFamily="2" charset="2"/>
              <a:buChar char="ü"/>
            </a:pPr>
            <a:r>
              <a:rPr lang="en-US" sz="2400" dirty="0">
                <a:solidFill>
                  <a:srgbClr val="FF0000"/>
                </a:solidFill>
              </a:rPr>
              <a:t>Judgmental heuristics </a:t>
            </a:r>
            <a:r>
              <a:rPr lang="en-US" sz="2400" dirty="0"/>
              <a:t>- A person may use shortcuts to simplify the decision making process.</a:t>
            </a:r>
          </a:p>
          <a:p>
            <a:pPr algn="just">
              <a:lnSpc>
                <a:spcPct val="150000"/>
              </a:lnSpc>
              <a:buFont typeface="Wingdings" panose="05000000000000000000" pitchFamily="2" charset="2"/>
              <a:buChar char="ü"/>
            </a:pPr>
            <a:r>
              <a:rPr lang="en-US" sz="2400" dirty="0">
                <a:solidFill>
                  <a:srgbClr val="FF0000"/>
                </a:solidFill>
              </a:rPr>
              <a:t>Satisfying</a:t>
            </a:r>
            <a:r>
              <a:rPr lang="en-US" sz="2400" dirty="0"/>
              <a:t> - A person may choose a solution that is just "good enough".</a:t>
            </a:r>
          </a:p>
          <a:p>
            <a:pPr algn="just">
              <a:lnSpc>
                <a:spcPct val="150000"/>
              </a:lnSpc>
            </a:pPr>
            <a:endParaRPr lang="en-US" sz="2400" dirty="0"/>
          </a:p>
          <a:p>
            <a:pPr>
              <a:lnSpc>
                <a:spcPct val="150000"/>
              </a:lnSpc>
            </a:pPr>
            <a:endParaRPr lang="en-US" sz="2400" dirty="0"/>
          </a:p>
        </p:txBody>
      </p:sp>
      <p:sp>
        <p:nvSpPr>
          <p:cNvPr id="2" name="Rectangle 1"/>
          <p:cNvSpPr/>
          <p:nvPr/>
        </p:nvSpPr>
        <p:spPr>
          <a:xfrm>
            <a:off x="2244436" y="103909"/>
            <a:ext cx="3667991" cy="584775"/>
          </a:xfrm>
          <a:prstGeom prst="rect">
            <a:avLst/>
          </a:prstGeom>
        </p:spPr>
        <p:txBody>
          <a:bodyPr wrap="square">
            <a:spAutoFit/>
          </a:bodyPr>
          <a:lstStyle/>
          <a:p>
            <a:r>
              <a:rPr lang="en-US" sz="3200" b="1" dirty="0">
                <a:solidFill>
                  <a:srgbClr val="0070C0"/>
                </a:solidFill>
                <a:effectLst>
                  <a:outerShdw blurRad="38100" dist="38100" dir="2700000" algn="tl">
                    <a:srgbClr val="000000">
                      <a:alpha val="43137"/>
                    </a:srgbClr>
                  </a:outerShdw>
                </a:effectLst>
              </a:rPr>
              <a:t>Normative Model </a:t>
            </a:r>
          </a:p>
        </p:txBody>
      </p:sp>
    </p:spTree>
    <p:extLst>
      <p:ext uri="{BB962C8B-B14F-4D97-AF65-F5344CB8AC3E}">
        <p14:creationId xmlns:p14="http://schemas.microsoft.com/office/powerpoint/2010/main" val="106313674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
            <a:ext cx="8968636" cy="6858000"/>
          </a:xfrm>
        </p:spPr>
        <p:txBody>
          <a:bodyPr>
            <a:noAutofit/>
          </a:bodyPr>
          <a:lstStyle/>
          <a:p>
            <a:pPr algn="just">
              <a:lnSpc>
                <a:spcPct val="150000"/>
              </a:lnSpc>
            </a:pPr>
            <a:r>
              <a:rPr lang="en-US" b="1" dirty="0"/>
              <a:t>Dynamic Decision-Making</a:t>
            </a:r>
          </a:p>
          <a:p>
            <a:pPr algn="just">
              <a:lnSpc>
                <a:spcPct val="150000"/>
              </a:lnSpc>
            </a:pPr>
            <a:r>
              <a:rPr lang="en-US" dirty="0"/>
              <a:t>Dynamic decision-making (DDM) is </a:t>
            </a:r>
            <a:r>
              <a:rPr lang="en-US" dirty="0" smtClean="0"/>
              <a:t>synergetic, </a:t>
            </a:r>
            <a:r>
              <a:rPr lang="en-US" dirty="0"/>
              <a:t>decision-making involving interdependent systems, in an environment that changes over time either due to the previous actions of the decision-maker or due to events that are outside of the control of the decision-maker.</a:t>
            </a:r>
          </a:p>
          <a:p>
            <a:pPr algn="just">
              <a:lnSpc>
                <a:spcPct val="150000"/>
              </a:lnSpc>
            </a:pPr>
            <a:r>
              <a:rPr lang="en-US" b="1" dirty="0"/>
              <a:t>These decision-makings are more complex and real-time.</a:t>
            </a:r>
          </a:p>
          <a:p>
            <a:pPr algn="just">
              <a:lnSpc>
                <a:spcPct val="150000"/>
              </a:lnSpc>
            </a:pPr>
            <a:r>
              <a:rPr lang="en-US" dirty="0"/>
              <a:t>Dynamic decision-making involves observing how people used their experience to control the system's dynamics and noting down the best decisions taken thereon.</a:t>
            </a:r>
          </a:p>
          <a:p>
            <a:pPr algn="just">
              <a:lnSpc>
                <a:spcPct val="150000"/>
              </a:lnSpc>
            </a:pPr>
            <a:r>
              <a:rPr lang="en-US" b="1" dirty="0"/>
              <a:t>Sensitivity Analysis</a:t>
            </a:r>
          </a:p>
          <a:p>
            <a:pPr algn="just">
              <a:lnSpc>
                <a:spcPct val="150000"/>
              </a:lnSpc>
            </a:pPr>
            <a:r>
              <a:rPr lang="en-US" dirty="0"/>
              <a:t>Sensitivity analysis is a technique used for distributing the uncertainty in the output of a mathematical model or a system to different sources of uncertainty in its inputs.</a:t>
            </a:r>
          </a:p>
        </p:txBody>
      </p:sp>
    </p:spTree>
    <p:extLst>
      <p:ext uri="{BB962C8B-B14F-4D97-AF65-F5344CB8AC3E}">
        <p14:creationId xmlns:p14="http://schemas.microsoft.com/office/powerpoint/2010/main" val="284473683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7999"/>
          </a:xfrm>
        </p:spPr>
        <p:txBody>
          <a:bodyPr>
            <a:noAutofit/>
          </a:bodyPr>
          <a:lstStyle/>
          <a:p>
            <a:pPr algn="just">
              <a:lnSpc>
                <a:spcPct val="150000"/>
              </a:lnSpc>
            </a:pPr>
            <a:r>
              <a:rPr lang="en-US" sz="2600" dirty="0"/>
              <a:t>From business decision perspective, the sensitivity analysis helps an analyst to identify cost drivers as well as other quantities to make an informed decision. If a particular quantity has no bearing on a decision or prediction, then the conditions relating to quantity could be eliminated, thus simplifying the decision making </a:t>
            </a:r>
            <a:r>
              <a:rPr lang="en-US" sz="2600" dirty="0" smtClean="0"/>
              <a:t>process. Sensitivity </a:t>
            </a:r>
            <a:r>
              <a:rPr lang="en-US" sz="2600" dirty="0"/>
              <a:t>analysis also helps in some other situations, like </a:t>
            </a:r>
          </a:p>
          <a:p>
            <a:pPr indent="347663" algn="just">
              <a:lnSpc>
                <a:spcPct val="150000"/>
              </a:lnSpc>
              <a:buFont typeface="Wingdings" panose="05000000000000000000" pitchFamily="2" charset="2"/>
              <a:buChar char="ü"/>
            </a:pPr>
            <a:r>
              <a:rPr lang="en-US" sz="2600" dirty="0"/>
              <a:t>Resource optimization</a:t>
            </a:r>
          </a:p>
          <a:p>
            <a:pPr indent="347663" algn="just">
              <a:lnSpc>
                <a:spcPct val="150000"/>
              </a:lnSpc>
              <a:buFont typeface="Wingdings" panose="05000000000000000000" pitchFamily="2" charset="2"/>
              <a:buChar char="ü"/>
            </a:pPr>
            <a:r>
              <a:rPr lang="en-US" sz="2600" dirty="0"/>
              <a:t>Future data collections</a:t>
            </a:r>
          </a:p>
          <a:p>
            <a:pPr indent="347663" algn="just">
              <a:lnSpc>
                <a:spcPct val="150000"/>
              </a:lnSpc>
              <a:buFont typeface="Wingdings" panose="05000000000000000000" pitchFamily="2" charset="2"/>
              <a:buChar char="ü"/>
            </a:pPr>
            <a:r>
              <a:rPr lang="en-US" sz="2600" dirty="0"/>
              <a:t>Identifying critical assumptions</a:t>
            </a:r>
          </a:p>
          <a:p>
            <a:pPr indent="347663" algn="just">
              <a:lnSpc>
                <a:spcPct val="150000"/>
              </a:lnSpc>
              <a:buFont typeface="Wingdings" panose="05000000000000000000" pitchFamily="2" charset="2"/>
              <a:buChar char="ü"/>
            </a:pPr>
            <a:r>
              <a:rPr lang="en-US" sz="2600" dirty="0"/>
              <a:t>To optimize the tolerance of manufactured parts</a:t>
            </a:r>
          </a:p>
          <a:p>
            <a:pPr algn="just">
              <a:lnSpc>
                <a:spcPct val="150000"/>
              </a:lnSpc>
            </a:pPr>
            <a:endParaRPr lang="en-US" sz="2600" dirty="0"/>
          </a:p>
          <a:p>
            <a:pPr algn="just">
              <a:lnSpc>
                <a:spcPct val="150000"/>
              </a:lnSpc>
            </a:pPr>
            <a:endParaRPr lang="en-US" sz="2600" dirty="0"/>
          </a:p>
        </p:txBody>
      </p:sp>
    </p:spTree>
    <p:extLst>
      <p:ext uri="{BB962C8B-B14F-4D97-AF65-F5344CB8AC3E}">
        <p14:creationId xmlns:p14="http://schemas.microsoft.com/office/powerpoint/2010/main" val="203037473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519" y="155864"/>
            <a:ext cx="9050482" cy="6702136"/>
          </a:xfrm>
        </p:spPr>
        <p:txBody>
          <a:bodyPr>
            <a:normAutofit/>
          </a:bodyPr>
          <a:lstStyle/>
          <a:p>
            <a:pPr marL="0" indent="0" algn="ctr">
              <a:buNone/>
            </a:pPr>
            <a:r>
              <a:rPr lang="en-US" sz="3600" b="1" dirty="0" smtClean="0">
                <a:solidFill>
                  <a:srgbClr val="0070C0"/>
                </a:solidFill>
                <a:effectLst>
                  <a:outerShdw blurRad="38100" dist="38100" dir="2700000" algn="tl">
                    <a:srgbClr val="000000">
                      <a:alpha val="43137"/>
                    </a:srgbClr>
                  </a:outerShdw>
                </a:effectLst>
              </a:rPr>
              <a:t>Static and Dynamic Models</a:t>
            </a:r>
          </a:p>
          <a:p>
            <a:pPr marL="0" indent="0" algn="just">
              <a:lnSpc>
                <a:spcPct val="150000"/>
              </a:lnSpc>
              <a:buNone/>
            </a:pPr>
            <a:r>
              <a:rPr lang="en-US" sz="2200" b="1" dirty="0" smtClean="0"/>
              <a:t>Static models:</a:t>
            </a:r>
          </a:p>
          <a:p>
            <a:pPr algn="just">
              <a:lnSpc>
                <a:spcPct val="150000"/>
              </a:lnSpc>
            </a:pPr>
            <a:r>
              <a:rPr lang="en-US" sz="2200" dirty="0" smtClean="0"/>
              <a:t>Show the value of various attributes in a balanced system.</a:t>
            </a:r>
          </a:p>
          <a:p>
            <a:pPr algn="just">
              <a:lnSpc>
                <a:spcPct val="150000"/>
              </a:lnSpc>
            </a:pPr>
            <a:r>
              <a:rPr lang="en-US" sz="2200" dirty="0" smtClean="0"/>
              <a:t>Work best in static systems.</a:t>
            </a:r>
          </a:p>
          <a:p>
            <a:pPr algn="just">
              <a:lnSpc>
                <a:spcPct val="150000"/>
              </a:lnSpc>
            </a:pPr>
            <a:r>
              <a:rPr lang="en-US" sz="2200" dirty="0" smtClean="0"/>
              <a:t>Do not take into consideration the time-based modifications.</a:t>
            </a:r>
          </a:p>
          <a:p>
            <a:pPr algn="just">
              <a:lnSpc>
                <a:spcPct val="150000"/>
              </a:lnSpc>
            </a:pPr>
            <a:r>
              <a:rPr lang="en-US" sz="2200" dirty="0" smtClean="0"/>
              <a:t>Do not work well in real-time systems however, it may work in a dynamic system being in equilibrium</a:t>
            </a:r>
          </a:p>
          <a:p>
            <a:pPr algn="just">
              <a:lnSpc>
                <a:spcPct val="150000"/>
              </a:lnSpc>
            </a:pPr>
            <a:r>
              <a:rPr lang="en-US" sz="2200" dirty="0" smtClean="0"/>
              <a:t>Involve less data.</a:t>
            </a:r>
          </a:p>
          <a:p>
            <a:pPr algn="just">
              <a:lnSpc>
                <a:spcPct val="150000"/>
              </a:lnSpc>
            </a:pPr>
            <a:r>
              <a:rPr lang="en-US" sz="2200" dirty="0" smtClean="0"/>
              <a:t>Are easy to analyze.</a:t>
            </a:r>
          </a:p>
          <a:p>
            <a:pPr algn="just">
              <a:lnSpc>
                <a:spcPct val="150000"/>
              </a:lnSpc>
            </a:pPr>
            <a:r>
              <a:rPr lang="en-US" sz="2200" dirty="0" smtClean="0"/>
              <a:t>Produce faster results.</a:t>
            </a:r>
          </a:p>
        </p:txBody>
      </p:sp>
    </p:spTree>
    <p:extLst>
      <p:ext uri="{BB962C8B-B14F-4D97-AF65-F5344CB8AC3E}">
        <p14:creationId xmlns:p14="http://schemas.microsoft.com/office/powerpoint/2010/main" val="129865503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5864" y="388307"/>
            <a:ext cx="8988136" cy="6376175"/>
          </a:xfrm>
        </p:spPr>
        <p:txBody>
          <a:bodyPr>
            <a:normAutofit/>
          </a:bodyPr>
          <a:lstStyle/>
          <a:p>
            <a:pPr marL="0" indent="0">
              <a:buNone/>
            </a:pPr>
            <a:r>
              <a:rPr lang="en-US" sz="3200" dirty="0">
                <a:solidFill>
                  <a:srgbClr val="0070C0"/>
                </a:solidFill>
                <a:effectLst>
                  <a:outerShdw blurRad="38100" dist="38100" dir="2700000" algn="tl">
                    <a:srgbClr val="000000">
                      <a:alpha val="43137"/>
                    </a:srgbClr>
                  </a:outerShdw>
                </a:effectLst>
              </a:rPr>
              <a:t>Dynamic models </a:t>
            </a:r>
          </a:p>
          <a:p>
            <a:pPr algn="just">
              <a:lnSpc>
                <a:spcPct val="150000"/>
              </a:lnSpc>
            </a:pPr>
            <a:r>
              <a:rPr lang="en-US" sz="2800" dirty="0"/>
              <a:t>Consider the change in data values over time.</a:t>
            </a:r>
          </a:p>
          <a:p>
            <a:pPr algn="just">
              <a:lnSpc>
                <a:spcPct val="150000"/>
              </a:lnSpc>
            </a:pPr>
            <a:r>
              <a:rPr lang="en-US" sz="2800" dirty="0"/>
              <a:t>Consider effect of system behavior over time.</a:t>
            </a:r>
          </a:p>
          <a:p>
            <a:pPr algn="just">
              <a:lnSpc>
                <a:spcPct val="150000"/>
              </a:lnSpc>
            </a:pPr>
            <a:r>
              <a:rPr lang="en-US" sz="2800" dirty="0"/>
              <a:t>Re-calculate equations as time changes.</a:t>
            </a:r>
          </a:p>
          <a:p>
            <a:pPr algn="just">
              <a:lnSpc>
                <a:spcPct val="150000"/>
              </a:lnSpc>
            </a:pPr>
            <a:r>
              <a:rPr lang="en-US" sz="2800" dirty="0"/>
              <a:t>Can be applied only in dynamic systems.</a:t>
            </a:r>
          </a:p>
          <a:p>
            <a:pPr algn="just">
              <a:lnSpc>
                <a:spcPct val="150000"/>
              </a:lnSpc>
            </a:pPr>
            <a:endParaRPr lang="en-US" sz="2800" dirty="0"/>
          </a:p>
          <a:p>
            <a:pPr>
              <a:lnSpc>
                <a:spcPct val="150000"/>
              </a:lnSpc>
            </a:pPr>
            <a:endParaRPr lang="en-US" sz="2800" dirty="0"/>
          </a:p>
        </p:txBody>
      </p:sp>
    </p:spTree>
    <p:extLst>
      <p:ext uri="{BB962C8B-B14F-4D97-AF65-F5344CB8AC3E}">
        <p14:creationId xmlns:p14="http://schemas.microsoft.com/office/powerpoint/2010/main" val="2555791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5034</TotalTime>
  <Words>2326</Words>
  <Application>Microsoft Office PowerPoint</Application>
  <PresentationFormat>On-screen Show (4:3)</PresentationFormat>
  <Paragraphs>196</Paragraphs>
  <Slides>37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Arial Narrow</vt:lpstr>
      <vt:lpstr>Calibri</vt:lpstr>
      <vt:lpstr>Calibri Light</vt:lpstr>
      <vt:lpstr>Symbol</vt:lpstr>
      <vt:lpstr>Times New Roman</vt:lpstr>
      <vt:lpstr>Wingdings</vt:lpstr>
      <vt:lpstr>Office Theme</vt:lpstr>
      <vt:lpstr> Information Systems in Decision Making</vt:lpstr>
      <vt:lpstr>Introduction</vt:lpstr>
      <vt:lpstr>Concept of Decision-making</vt:lpstr>
      <vt:lpstr>PowerPoint Presentation</vt:lpstr>
      <vt:lpstr>Decision making classification</vt:lpstr>
      <vt:lpstr>PowerPoint Presentation</vt:lpstr>
      <vt:lpstr>PowerPoint Presentation</vt:lpstr>
      <vt:lpstr>Operational Decisions cont’d </vt:lpstr>
      <vt:lpstr>PowerPoint Presentation</vt:lpstr>
      <vt:lpstr>PowerPoint Presentation</vt:lpstr>
      <vt:lpstr>PowerPoint Presentation</vt:lpstr>
      <vt:lpstr>PowerPoint Presentation</vt:lpstr>
      <vt:lpstr>PowerPoint Presentation</vt:lpstr>
      <vt:lpstr>PowerPoint Presentation</vt:lpstr>
      <vt:lpstr>Information Requirement for Key Decision Making Groups in A Firm</vt:lpstr>
      <vt:lpstr>Decision Making Process</vt:lpstr>
      <vt:lpstr>Decision Making Process </vt:lpstr>
      <vt:lpstr>Decision Making Process </vt:lpstr>
      <vt:lpstr>Decision Making Process </vt:lpstr>
      <vt:lpstr>Decision Making Process </vt:lpstr>
      <vt:lpstr>            Stages in Decision making</vt:lpstr>
      <vt:lpstr>Steps of Decision-Making Process</vt:lpstr>
      <vt:lpstr>Steps of Decision-Making Process cont’d </vt:lpstr>
      <vt:lpstr>Steps of Decision-Making Process cont’d </vt:lpstr>
      <vt:lpstr>Steps of Decision-Making Process cont’d </vt:lpstr>
      <vt:lpstr>Steps of Decision-Making Process cont’d </vt:lpstr>
      <vt:lpstr>Steps of Decision-Making Process cont’d </vt:lpstr>
      <vt:lpstr>Steps of Decision-Making Process cont’d </vt:lpstr>
      <vt:lpstr>Steps of Decision-Making Process cont’d </vt:lpstr>
      <vt:lpstr>Steps of Decision-Making Process cont’d </vt:lpstr>
      <vt:lpstr>Process and Modeling in Decision-Making</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Andrewk</dc:creator>
  <cp:lastModifiedBy>pc</cp:lastModifiedBy>
  <cp:revision>165</cp:revision>
  <dcterms:created xsi:type="dcterms:W3CDTF">2019-09-19T12:19:44Z</dcterms:created>
  <dcterms:modified xsi:type="dcterms:W3CDTF">2023-09-27T15:20:36Z</dcterms:modified>
</cp:coreProperties>
</file>