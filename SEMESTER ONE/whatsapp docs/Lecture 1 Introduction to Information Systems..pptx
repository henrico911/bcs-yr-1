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1" r:id="rId1"/>
  </p:sldMasterIdLst>
  <p:notesMasterIdLst>
    <p:notesMasterId r:id="rId38"/>
  </p:notesMasterIdLst>
  <p:sldIdLst>
    <p:sldId id="256" r:id="rId2"/>
    <p:sldId id="266" r:id="rId3"/>
    <p:sldId id="258" r:id="rId4"/>
    <p:sldId id="320" r:id="rId5"/>
    <p:sldId id="284" r:id="rId6"/>
    <p:sldId id="285" r:id="rId7"/>
    <p:sldId id="291" r:id="rId8"/>
    <p:sldId id="286" r:id="rId9"/>
    <p:sldId id="287" r:id="rId10"/>
    <p:sldId id="293" r:id="rId11"/>
    <p:sldId id="294" r:id="rId12"/>
    <p:sldId id="292" r:id="rId13"/>
    <p:sldId id="259" r:id="rId14"/>
    <p:sldId id="319" r:id="rId15"/>
    <p:sldId id="315" r:id="rId16"/>
    <p:sldId id="316" r:id="rId17"/>
    <p:sldId id="317" r:id="rId18"/>
    <p:sldId id="318" r:id="rId19"/>
    <p:sldId id="304" r:id="rId20"/>
    <p:sldId id="306" r:id="rId21"/>
    <p:sldId id="308" r:id="rId22"/>
    <p:sldId id="309" r:id="rId23"/>
    <p:sldId id="310" r:id="rId24"/>
    <p:sldId id="311" r:id="rId25"/>
    <p:sldId id="312" r:id="rId26"/>
    <p:sldId id="313" r:id="rId27"/>
    <p:sldId id="314" r:id="rId28"/>
    <p:sldId id="264" r:id="rId29"/>
    <p:sldId id="265" r:id="rId30"/>
    <p:sldId id="268" r:id="rId31"/>
    <p:sldId id="296" r:id="rId32"/>
    <p:sldId id="297" r:id="rId33"/>
    <p:sldId id="298" r:id="rId34"/>
    <p:sldId id="299" r:id="rId35"/>
    <p:sldId id="300" r:id="rId36"/>
    <p:sldId id="301"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016" autoAdjust="0"/>
    <p:restoredTop sz="94660"/>
  </p:normalViewPr>
  <p:slideViewPr>
    <p:cSldViewPr snapToGrid="0">
      <p:cViewPr varScale="1">
        <p:scale>
          <a:sx n="80" d="100"/>
          <a:sy n="80" d="100"/>
        </p:scale>
        <p:origin x="193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3AF177-522C-4139-9F94-2A65959D8018}" type="datetimeFigureOut">
              <a:rPr lang="en-US" smtClean="0"/>
              <a:t>8/31/2023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2949E4-0D42-4923-9A4F-2215C85D76DF}" type="slidenum">
              <a:rPr lang="en-US" smtClean="0"/>
              <a:t>‹#›</a:t>
            </a:fld>
            <a:endParaRPr lang="en-US"/>
          </a:p>
        </p:txBody>
      </p:sp>
    </p:spTree>
    <p:extLst>
      <p:ext uri="{BB962C8B-B14F-4D97-AF65-F5344CB8AC3E}">
        <p14:creationId xmlns:p14="http://schemas.microsoft.com/office/powerpoint/2010/main" val="3775514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52949E4-0D42-4923-9A4F-2215C85D76DF}" type="slidenum">
              <a:rPr lang="en-US" smtClean="0"/>
              <a:t>13</a:t>
            </a:fld>
            <a:endParaRPr lang="en-US"/>
          </a:p>
        </p:txBody>
      </p:sp>
    </p:spTree>
    <p:extLst>
      <p:ext uri="{BB962C8B-B14F-4D97-AF65-F5344CB8AC3E}">
        <p14:creationId xmlns:p14="http://schemas.microsoft.com/office/powerpoint/2010/main" val="591971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52949E4-0D42-4923-9A4F-2215C85D76DF}" type="slidenum">
              <a:rPr lang="en-US" smtClean="0"/>
              <a:t>35</a:t>
            </a:fld>
            <a:endParaRPr lang="en-US"/>
          </a:p>
        </p:txBody>
      </p:sp>
    </p:spTree>
    <p:extLst>
      <p:ext uri="{BB962C8B-B14F-4D97-AF65-F5344CB8AC3E}">
        <p14:creationId xmlns:p14="http://schemas.microsoft.com/office/powerpoint/2010/main" val="4129038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84C3CB6-3FAC-4082-927D-75F5C456FF24}" type="datetimeFigureOut">
              <a:rPr lang="en-US" smtClean="0"/>
              <a:t>8/31/2023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38AAF7-6C6C-4DDF-91E0-76878E9CDF8C}" type="slidenum">
              <a:rPr lang="en-US" smtClean="0"/>
              <a:t>‹#›</a:t>
            </a:fld>
            <a:endParaRPr lang="en-US"/>
          </a:p>
        </p:txBody>
      </p:sp>
    </p:spTree>
    <p:extLst>
      <p:ext uri="{BB962C8B-B14F-4D97-AF65-F5344CB8AC3E}">
        <p14:creationId xmlns:p14="http://schemas.microsoft.com/office/powerpoint/2010/main" val="3371916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4C3CB6-3FAC-4082-927D-75F5C456FF24}" type="datetimeFigureOut">
              <a:rPr lang="en-US" smtClean="0"/>
              <a:t>8/31/2023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38AAF7-6C6C-4DDF-91E0-76878E9CDF8C}" type="slidenum">
              <a:rPr lang="en-US" smtClean="0"/>
              <a:t>‹#›</a:t>
            </a:fld>
            <a:endParaRPr lang="en-US"/>
          </a:p>
        </p:txBody>
      </p:sp>
    </p:spTree>
    <p:extLst>
      <p:ext uri="{BB962C8B-B14F-4D97-AF65-F5344CB8AC3E}">
        <p14:creationId xmlns:p14="http://schemas.microsoft.com/office/powerpoint/2010/main" val="1371008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84C3CB6-3FAC-4082-927D-75F5C456FF24}" type="datetimeFigureOut">
              <a:rPr lang="en-US" smtClean="0"/>
              <a:t>8/31/2023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38AAF7-6C6C-4DDF-91E0-76878E9CDF8C}" type="slidenum">
              <a:rPr lang="en-US" smtClean="0"/>
              <a:t>‹#›</a:t>
            </a:fld>
            <a:endParaRPr lang="en-US"/>
          </a:p>
        </p:txBody>
      </p:sp>
    </p:spTree>
    <p:extLst>
      <p:ext uri="{BB962C8B-B14F-4D97-AF65-F5344CB8AC3E}">
        <p14:creationId xmlns:p14="http://schemas.microsoft.com/office/powerpoint/2010/main" val="1405008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84C3CB6-3FAC-4082-927D-75F5C456FF24}" type="datetimeFigureOut">
              <a:rPr lang="en-US" smtClean="0"/>
              <a:t>8/31/2023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38AAF7-6C6C-4DDF-91E0-76878E9CDF8C}" type="slidenum">
              <a:rPr lang="en-US" smtClean="0"/>
              <a:t>‹#›</a:t>
            </a:fld>
            <a:endParaRPr lang="en-US"/>
          </a:p>
        </p:txBody>
      </p:sp>
    </p:spTree>
    <p:extLst>
      <p:ext uri="{BB962C8B-B14F-4D97-AF65-F5344CB8AC3E}">
        <p14:creationId xmlns:p14="http://schemas.microsoft.com/office/powerpoint/2010/main" val="245288849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84C3CB6-3FAC-4082-927D-75F5C456FF24}" type="datetimeFigureOut">
              <a:rPr lang="en-US" smtClean="0"/>
              <a:t>8/31/2023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38AAF7-6C6C-4DDF-91E0-76878E9CDF8C}" type="slidenum">
              <a:rPr lang="en-US" smtClean="0"/>
              <a:t>‹#›</a:t>
            </a:fld>
            <a:endParaRPr lang="en-US"/>
          </a:p>
        </p:txBody>
      </p:sp>
    </p:spTree>
    <p:extLst>
      <p:ext uri="{BB962C8B-B14F-4D97-AF65-F5344CB8AC3E}">
        <p14:creationId xmlns:p14="http://schemas.microsoft.com/office/powerpoint/2010/main" val="212516978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84C3CB6-3FAC-4082-927D-75F5C456FF24}" type="datetimeFigureOut">
              <a:rPr lang="en-US" smtClean="0"/>
              <a:t>8/31/2023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38AAF7-6C6C-4DDF-91E0-76878E9CDF8C}" type="slidenum">
              <a:rPr lang="en-US" smtClean="0"/>
              <a:t>‹#›</a:t>
            </a:fld>
            <a:endParaRPr lang="en-US"/>
          </a:p>
        </p:txBody>
      </p:sp>
    </p:spTree>
    <p:extLst>
      <p:ext uri="{BB962C8B-B14F-4D97-AF65-F5344CB8AC3E}">
        <p14:creationId xmlns:p14="http://schemas.microsoft.com/office/powerpoint/2010/main" val="2689962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4C3CB6-3FAC-4082-927D-75F5C456FF24}" type="datetimeFigureOut">
              <a:rPr lang="en-US" smtClean="0"/>
              <a:t>8/31/2023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38AAF7-6C6C-4DDF-91E0-76878E9CDF8C}" type="slidenum">
              <a:rPr lang="en-US" smtClean="0"/>
              <a:t>‹#›</a:t>
            </a:fld>
            <a:endParaRPr lang="en-US"/>
          </a:p>
        </p:txBody>
      </p:sp>
    </p:spTree>
    <p:extLst>
      <p:ext uri="{BB962C8B-B14F-4D97-AF65-F5344CB8AC3E}">
        <p14:creationId xmlns:p14="http://schemas.microsoft.com/office/powerpoint/2010/main" val="1985419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084C3CB6-3FAC-4082-927D-75F5C456FF24}" type="datetimeFigureOut">
              <a:rPr lang="en-US" smtClean="0"/>
              <a:t>8/31/2023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38AAF7-6C6C-4DDF-91E0-76878E9CDF8C}" type="slidenum">
              <a:rPr lang="en-US" smtClean="0"/>
              <a:t>‹#›</a:t>
            </a:fld>
            <a:endParaRPr lang="en-US"/>
          </a:p>
        </p:txBody>
      </p:sp>
    </p:spTree>
    <p:extLst>
      <p:ext uri="{BB962C8B-B14F-4D97-AF65-F5344CB8AC3E}">
        <p14:creationId xmlns:p14="http://schemas.microsoft.com/office/powerpoint/2010/main" val="103237080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084C3CB6-3FAC-4082-927D-75F5C456FF24}" type="datetimeFigureOut">
              <a:rPr lang="en-US" smtClean="0"/>
              <a:t>8/31/2023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38AAF7-6C6C-4DDF-91E0-76878E9CDF8C}" type="slidenum">
              <a:rPr lang="en-US" smtClean="0"/>
              <a:t>‹#›</a:t>
            </a:fld>
            <a:endParaRPr lang="en-US"/>
          </a:p>
        </p:txBody>
      </p:sp>
    </p:spTree>
    <p:extLst>
      <p:ext uri="{BB962C8B-B14F-4D97-AF65-F5344CB8AC3E}">
        <p14:creationId xmlns:p14="http://schemas.microsoft.com/office/powerpoint/2010/main" val="841711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4C3CB6-3FAC-4082-927D-75F5C456FF24}" type="datetimeFigureOut">
              <a:rPr lang="en-US" smtClean="0"/>
              <a:t>8/31/2023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38AAF7-6C6C-4DDF-91E0-76878E9CDF8C}" type="slidenum">
              <a:rPr lang="en-US" smtClean="0"/>
              <a:t>‹#›</a:t>
            </a:fld>
            <a:endParaRPr lang="en-US"/>
          </a:p>
        </p:txBody>
      </p:sp>
    </p:spTree>
    <p:extLst>
      <p:ext uri="{BB962C8B-B14F-4D97-AF65-F5344CB8AC3E}">
        <p14:creationId xmlns:p14="http://schemas.microsoft.com/office/powerpoint/2010/main" val="1145262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4C3CB6-3FAC-4082-927D-75F5C456FF24}" type="datetimeFigureOut">
              <a:rPr lang="en-US" smtClean="0"/>
              <a:t>8/31/2023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38AAF7-6C6C-4DDF-91E0-76878E9CDF8C}" type="slidenum">
              <a:rPr lang="en-US" smtClean="0"/>
              <a:t>‹#›</a:t>
            </a:fld>
            <a:endParaRPr lang="en-US"/>
          </a:p>
        </p:txBody>
      </p:sp>
    </p:spTree>
    <p:extLst>
      <p:ext uri="{BB962C8B-B14F-4D97-AF65-F5344CB8AC3E}">
        <p14:creationId xmlns:p14="http://schemas.microsoft.com/office/powerpoint/2010/main" val="4228911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84C3CB6-3FAC-4082-927D-75F5C456FF24}" type="datetimeFigureOut">
              <a:rPr lang="en-US" smtClean="0"/>
              <a:t>8/31/2023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438AAF7-6C6C-4DDF-91E0-76878E9CDF8C}" type="slidenum">
              <a:rPr lang="en-US" smtClean="0"/>
              <a:t>‹#›</a:t>
            </a:fld>
            <a:endParaRPr lang="en-US"/>
          </a:p>
        </p:txBody>
      </p:sp>
    </p:spTree>
    <p:extLst>
      <p:ext uri="{BB962C8B-B14F-4D97-AF65-F5344CB8AC3E}">
        <p14:creationId xmlns:p14="http://schemas.microsoft.com/office/powerpoint/2010/main" val="2971344495"/>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bus206.pressbooks.com/wp-content/uploads/sites/10536/2012/07/hwswappuser.png"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1" y="1240403"/>
            <a:ext cx="8332966" cy="1288113"/>
          </a:xfrm>
        </p:spPr>
        <p:txBody>
          <a:bodyPr>
            <a:noAutofit/>
          </a:bodyPr>
          <a:lstStyle/>
          <a:p>
            <a:r>
              <a:rPr lang="it-IT" sz="4000" dirty="0" smtClean="0"/>
              <a:t>Introduction to Information Systems       </a:t>
            </a:r>
            <a:r>
              <a:rPr lang="en-US" sz="4000" dirty="0" smtClean="0"/>
              <a:t/>
            </a:r>
            <a:br>
              <a:rPr lang="en-US" sz="4000" dirty="0" smtClean="0"/>
            </a:br>
            <a:endParaRPr lang="en-US" sz="4000" dirty="0"/>
          </a:p>
        </p:txBody>
      </p:sp>
      <p:sp>
        <p:nvSpPr>
          <p:cNvPr id="3" name="Subtitle 2"/>
          <p:cNvSpPr>
            <a:spLocks noGrp="1"/>
          </p:cNvSpPr>
          <p:nvPr>
            <p:ph type="subTitle" idx="1"/>
          </p:nvPr>
        </p:nvSpPr>
        <p:spPr>
          <a:xfrm>
            <a:off x="576197" y="3031300"/>
            <a:ext cx="7424803" cy="3654468"/>
          </a:xfrm>
        </p:spPr>
        <p:txBody>
          <a:bodyPr>
            <a:normAutofit/>
          </a:bodyPr>
          <a:lstStyle/>
          <a:p>
            <a:pPr algn="l"/>
            <a:r>
              <a:rPr lang="it-IT" sz="2000" cap="none" dirty="0" smtClean="0"/>
              <a:t>What will be covered in this Topic</a:t>
            </a:r>
          </a:p>
          <a:p>
            <a:pPr marL="257179" indent="-257179" algn="l">
              <a:buFont typeface="Arial" panose="020B0604020202020204" pitchFamily="34" charset="0"/>
              <a:buChar char="•"/>
            </a:pPr>
            <a:r>
              <a:rPr lang="it-IT" sz="2000" cap="none" dirty="0" smtClean="0"/>
              <a:t>Definitions and concepts of sytems,information systems.</a:t>
            </a:r>
            <a:endParaRPr lang="en-US" sz="2000" cap="none" dirty="0" smtClean="0"/>
          </a:p>
          <a:p>
            <a:pPr marL="257179" indent="-257179" algn="l">
              <a:buFont typeface="Arial" panose="020B0604020202020204" pitchFamily="34" charset="0"/>
              <a:buChar char="•"/>
            </a:pPr>
            <a:r>
              <a:rPr lang="it-IT" sz="2000" cap="none" dirty="0"/>
              <a:t>Components of information systems</a:t>
            </a:r>
            <a:endParaRPr lang="en-US" sz="2000" cap="none" dirty="0"/>
          </a:p>
          <a:p>
            <a:pPr marL="257179" indent="-257179" algn="l">
              <a:buFont typeface="Arial" panose="020B0604020202020204" pitchFamily="34" charset="0"/>
              <a:buChar char="•"/>
            </a:pPr>
            <a:r>
              <a:rPr lang="it-IT" sz="2000" cap="none" dirty="0" smtClean="0"/>
              <a:t>Functions of information systems</a:t>
            </a:r>
          </a:p>
          <a:p>
            <a:pPr marL="257179" indent="-257179" algn="l">
              <a:buFont typeface="Arial" panose="020B0604020202020204" pitchFamily="34" charset="0"/>
              <a:buChar char="•"/>
            </a:pPr>
            <a:r>
              <a:rPr lang="it-IT" sz="2000" cap="none" dirty="0" smtClean="0"/>
              <a:t>Role of informations systems in organisations</a:t>
            </a:r>
            <a:endParaRPr lang="en-US" sz="2000" cap="none" dirty="0" smtClean="0"/>
          </a:p>
        </p:txBody>
      </p:sp>
    </p:spTree>
    <p:extLst>
      <p:ext uri="{BB962C8B-B14F-4D97-AF65-F5344CB8AC3E}">
        <p14:creationId xmlns:p14="http://schemas.microsoft.com/office/powerpoint/2010/main" val="1015519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58" y="382385"/>
            <a:ext cx="7633742" cy="669801"/>
          </a:xfrm>
        </p:spPr>
        <p:txBody>
          <a:bodyPr>
            <a:normAutofit/>
          </a:bodyPr>
          <a:lstStyle/>
          <a:p>
            <a:r>
              <a:rPr lang="en-US" sz="4000" dirty="0" smtClean="0"/>
              <a:t>Objectives</a:t>
            </a:r>
            <a:endParaRPr lang="en-US" sz="4000" dirty="0"/>
          </a:p>
        </p:txBody>
      </p:sp>
      <p:sp>
        <p:nvSpPr>
          <p:cNvPr id="3" name="Content Placeholder 2"/>
          <p:cNvSpPr>
            <a:spLocks noGrp="1"/>
          </p:cNvSpPr>
          <p:nvPr>
            <p:ph idx="1"/>
          </p:nvPr>
        </p:nvSpPr>
        <p:spPr>
          <a:xfrm>
            <a:off x="563671" y="1052187"/>
            <a:ext cx="8329808" cy="4372492"/>
          </a:xfrm>
        </p:spPr>
        <p:txBody>
          <a:bodyPr>
            <a:noAutofit/>
          </a:bodyPr>
          <a:lstStyle/>
          <a:p>
            <a:pPr algn="just">
              <a:buClr>
                <a:srgbClr val="00B0F0"/>
              </a:buClr>
              <a:buFont typeface="Wingdings" panose="05000000000000000000" pitchFamily="2" charset="2"/>
              <a:buChar char="v"/>
            </a:pPr>
            <a:r>
              <a:rPr lang="en-US" sz="1800" dirty="0" smtClean="0">
                <a:latin typeface="Arial" panose="020B0604020202020204" pitchFamily="34" charset="0"/>
                <a:cs typeface="Arial" panose="020B0604020202020204" pitchFamily="34" charset="0"/>
              </a:rPr>
              <a:t>Understand the concept of a system and how it relates to information systems.</a:t>
            </a:r>
          </a:p>
          <a:p>
            <a:pPr algn="just">
              <a:buClr>
                <a:srgbClr val="00B0F0"/>
              </a:buClr>
              <a:buFont typeface="Wingdings" panose="05000000000000000000" pitchFamily="2" charset="2"/>
              <a:buChar char="v"/>
            </a:pPr>
            <a:r>
              <a:rPr lang="en-US" sz="1800" dirty="0" smtClean="0">
                <a:latin typeface="Arial" panose="020B0604020202020204" pitchFamily="34" charset="0"/>
                <a:cs typeface="Arial" panose="020B0604020202020204" pitchFamily="34" charset="0"/>
              </a:rPr>
              <a:t>Explain why knowledge of information systems is important for business professionals, and identify five areas of information systems knowledge they need.</a:t>
            </a:r>
          </a:p>
          <a:p>
            <a:pPr algn="just">
              <a:buClr>
                <a:srgbClr val="00B0F0"/>
              </a:buClr>
              <a:buFont typeface="Wingdings" panose="05000000000000000000" pitchFamily="2" charset="2"/>
              <a:buChar char="v"/>
            </a:pPr>
            <a:r>
              <a:rPr lang="en-US" sz="1800" dirty="0" smtClean="0">
                <a:latin typeface="Arial" panose="020B0604020202020204" pitchFamily="34" charset="0"/>
                <a:cs typeface="Arial" panose="020B0604020202020204" pitchFamily="34" charset="0"/>
              </a:rPr>
              <a:t>Give examples to illustrate how the business applications of IS can support a firm’s business processes, managerial decision making, and strategies for competitive advantage</a:t>
            </a:r>
          </a:p>
          <a:p>
            <a:pPr algn="just">
              <a:buClr>
                <a:srgbClr val="00B0F0"/>
              </a:buClr>
              <a:buFont typeface="Wingdings" panose="05000000000000000000" pitchFamily="2" charset="2"/>
              <a:buChar char="v"/>
            </a:pPr>
            <a:r>
              <a:rPr lang="en-US" altLang="en-US" sz="1800" dirty="0">
                <a:latin typeface="Arial" panose="020B0604020202020204" pitchFamily="34" charset="0"/>
                <a:cs typeface="Arial" panose="020B0604020202020204" pitchFamily="34" charset="0"/>
              </a:rPr>
              <a:t>The value of information </a:t>
            </a:r>
            <a:r>
              <a:rPr lang="en-US" altLang="en-US" sz="1800" dirty="0" smtClean="0">
                <a:latin typeface="Arial" panose="020B0604020202020204" pitchFamily="34" charset="0"/>
                <a:cs typeface="Arial" panose="020B0604020202020204" pitchFamily="34" charset="0"/>
              </a:rPr>
              <a:t>and </a:t>
            </a:r>
            <a:r>
              <a:rPr lang="en-US" altLang="en-US" sz="1800" dirty="0">
                <a:latin typeface="Arial" panose="020B0604020202020204" pitchFamily="34" charset="0"/>
                <a:cs typeface="Arial" panose="020B0604020202020204" pitchFamily="34" charset="0"/>
              </a:rPr>
              <a:t>how it helps decision makers achieve the organization’s </a:t>
            </a:r>
            <a:r>
              <a:rPr lang="en-US" altLang="en-US" sz="1800" dirty="0" smtClean="0">
                <a:latin typeface="Arial" panose="020B0604020202020204" pitchFamily="34" charset="0"/>
                <a:cs typeface="Arial" panose="020B0604020202020204" pitchFamily="34" charset="0"/>
              </a:rPr>
              <a:t>goals.</a:t>
            </a:r>
          </a:p>
          <a:p>
            <a:pPr algn="just">
              <a:buClr>
                <a:srgbClr val="00B0F0"/>
              </a:buClr>
              <a:buFont typeface="Wingdings" panose="05000000000000000000" pitchFamily="2" charset="2"/>
              <a:buChar char="v"/>
            </a:pPr>
            <a:r>
              <a:rPr lang="en-US" altLang="en-US" sz="1800" dirty="0" smtClean="0">
                <a:latin typeface="Arial" panose="020B0604020202020204" pitchFamily="34" charset="0"/>
                <a:cs typeface="Arial" panose="020B0604020202020204" pitchFamily="34" charset="0"/>
              </a:rPr>
              <a:t>Distinguish </a:t>
            </a:r>
            <a:r>
              <a:rPr lang="en-US" altLang="en-US" sz="1800" dirty="0">
                <a:latin typeface="Arial" panose="020B0604020202020204" pitchFamily="34" charset="0"/>
                <a:cs typeface="Arial" panose="020B0604020202020204" pitchFamily="34" charset="0"/>
              </a:rPr>
              <a:t>data from information and describe the characteristics used to evaluate the quality of data </a:t>
            </a:r>
          </a:p>
          <a:p>
            <a:pPr algn="just">
              <a:buClr>
                <a:srgbClr val="00B0F0"/>
              </a:buClr>
              <a:buFont typeface="Wingdings" panose="05000000000000000000" pitchFamily="2" charset="2"/>
              <a:buChar char="v"/>
            </a:pPr>
            <a:r>
              <a:rPr lang="en-US" altLang="en-US" sz="1800" dirty="0">
                <a:latin typeface="Arial" panose="020B0604020202020204" pitchFamily="34" charset="0"/>
                <a:cs typeface="Arial" panose="020B0604020202020204" pitchFamily="34" charset="0"/>
              </a:rPr>
              <a:t>Knowing the potential impact of information systems </a:t>
            </a:r>
            <a:r>
              <a:rPr lang="en-US" altLang="en-US" sz="1800" dirty="0" smtClean="0">
                <a:latin typeface="Arial" panose="020B0604020202020204" pitchFamily="34" charset="0"/>
                <a:cs typeface="Arial" panose="020B0604020202020204" pitchFamily="34" charset="0"/>
              </a:rPr>
              <a:t>in organizations</a:t>
            </a:r>
          </a:p>
          <a:p>
            <a:pPr algn="just">
              <a:buClr>
                <a:srgbClr val="00B0F0"/>
              </a:buClr>
              <a:buFont typeface="Wingdings" panose="05000000000000000000" pitchFamily="2" charset="2"/>
              <a:buChar char="v"/>
            </a:pPr>
            <a:r>
              <a:rPr lang="en-US" altLang="en-US" sz="1800" dirty="0" smtClean="0">
                <a:latin typeface="Arial" panose="020B0604020202020204" pitchFamily="34" charset="0"/>
                <a:cs typeface="Arial" panose="020B0604020202020204" pitchFamily="34" charset="0"/>
              </a:rPr>
              <a:t>Identify </a:t>
            </a:r>
            <a:r>
              <a:rPr lang="en-US" altLang="en-US" sz="1800" dirty="0">
                <a:latin typeface="Arial" panose="020B0604020202020204" pitchFamily="34" charset="0"/>
                <a:cs typeface="Arial" panose="020B0604020202020204" pitchFamily="34" charset="0"/>
              </a:rPr>
              <a:t>the basic types of business information </a:t>
            </a:r>
            <a:r>
              <a:rPr lang="en-US" altLang="en-US" sz="1800" dirty="0" smtClean="0">
                <a:latin typeface="Arial" panose="020B0604020202020204" pitchFamily="34" charset="0"/>
                <a:cs typeface="Arial" panose="020B0604020202020204" pitchFamily="34" charset="0"/>
              </a:rPr>
              <a:t>systems</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789851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325" y="244495"/>
            <a:ext cx="7492329" cy="850880"/>
          </a:xfrm>
        </p:spPr>
        <p:txBody>
          <a:bodyPr/>
          <a:lstStyle/>
          <a:p>
            <a:r>
              <a:rPr lang="en-US" cap="none" dirty="0" smtClean="0"/>
              <a:t>System-Definition</a:t>
            </a:r>
            <a:endParaRPr lang="en-US" cap="none" dirty="0"/>
          </a:p>
        </p:txBody>
      </p:sp>
      <p:sp>
        <p:nvSpPr>
          <p:cNvPr id="3" name="Content Placeholder 2"/>
          <p:cNvSpPr>
            <a:spLocks noGrp="1"/>
          </p:cNvSpPr>
          <p:nvPr>
            <p:ph idx="1"/>
          </p:nvPr>
        </p:nvSpPr>
        <p:spPr>
          <a:xfrm>
            <a:off x="814192" y="1095375"/>
            <a:ext cx="7964012" cy="4994529"/>
          </a:xfrm>
        </p:spPr>
        <p:txBody>
          <a:bodyPr>
            <a:noAutofit/>
          </a:bodyPr>
          <a:lstStyle/>
          <a:p>
            <a:pPr marL="0" indent="0" algn="just">
              <a:buNone/>
            </a:pPr>
            <a:r>
              <a:rPr lang="en-US" altLang="en-US" sz="2400" b="1" dirty="0" smtClean="0">
                <a:solidFill>
                  <a:schemeClr val="tx1"/>
                </a:solidFill>
                <a:latin typeface="Arial" panose="020B0604020202020204" pitchFamily="34" charset="0"/>
                <a:cs typeface="Arial" panose="020B0604020202020204" pitchFamily="34" charset="0"/>
              </a:rPr>
              <a:t>Definitions:</a:t>
            </a:r>
          </a:p>
          <a:p>
            <a:pPr marL="514350" indent="-514350" algn="just">
              <a:buFont typeface="+mj-lt"/>
              <a:buAutoNum type="romanLcPeriod"/>
            </a:pPr>
            <a:r>
              <a:rPr lang="en-US" altLang="en-US" sz="2400" dirty="0" smtClean="0">
                <a:latin typeface="Arial" panose="020B0604020202020204" pitchFamily="34" charset="0"/>
                <a:cs typeface="Arial" panose="020B0604020202020204" pitchFamily="34" charset="0"/>
              </a:rPr>
              <a:t>A system is a set of </a:t>
            </a:r>
            <a:r>
              <a:rPr lang="en-US" altLang="en-US" sz="2400" b="1" dirty="0" smtClean="0">
                <a:latin typeface="Arial" panose="020B0604020202020204" pitchFamily="34" charset="0"/>
                <a:cs typeface="Arial" panose="020B0604020202020204" pitchFamily="34" charset="0"/>
              </a:rPr>
              <a:t>interrelated components </a:t>
            </a:r>
            <a:r>
              <a:rPr lang="en-US" altLang="en-US" sz="2400" dirty="0" smtClean="0">
                <a:latin typeface="Arial" panose="020B0604020202020204" pitchFamily="34" charset="0"/>
                <a:cs typeface="Arial" panose="020B0604020202020204" pitchFamily="34" charset="0"/>
              </a:rPr>
              <a:t>With a </a:t>
            </a:r>
            <a:r>
              <a:rPr lang="en-US" altLang="en-US" sz="2400" b="1" dirty="0" smtClean="0">
                <a:latin typeface="Arial" panose="020B0604020202020204" pitchFamily="34" charset="0"/>
                <a:cs typeface="Arial" panose="020B0604020202020204" pitchFamily="34" charset="0"/>
              </a:rPr>
              <a:t>clearly defined </a:t>
            </a:r>
            <a:r>
              <a:rPr lang="en-US" altLang="en-US" sz="2400" dirty="0" smtClean="0">
                <a:latin typeface="Arial" panose="020B0604020202020204" pitchFamily="34" charset="0"/>
                <a:cs typeface="Arial" panose="020B0604020202020204" pitchFamily="34" charset="0"/>
              </a:rPr>
              <a:t>boundary </a:t>
            </a:r>
            <a:r>
              <a:rPr lang="en-US" altLang="en-US" sz="2400" b="1" dirty="0" smtClean="0">
                <a:latin typeface="Arial" panose="020B0604020202020204" pitchFamily="34" charset="0"/>
                <a:cs typeface="Arial" panose="020B0604020202020204" pitchFamily="34" charset="0"/>
              </a:rPr>
              <a:t>Working together </a:t>
            </a:r>
            <a:r>
              <a:rPr lang="en-US" altLang="en-US" sz="2400" dirty="0" smtClean="0">
                <a:latin typeface="Arial" panose="020B0604020202020204" pitchFamily="34" charset="0"/>
                <a:cs typeface="Arial" panose="020B0604020202020204" pitchFamily="34" charset="0"/>
              </a:rPr>
              <a:t>to </a:t>
            </a:r>
            <a:r>
              <a:rPr lang="en-US" altLang="en-US" sz="2400" b="1" dirty="0" smtClean="0">
                <a:latin typeface="Arial" panose="020B0604020202020204" pitchFamily="34" charset="0"/>
                <a:cs typeface="Arial" panose="020B0604020202020204" pitchFamily="34" charset="0"/>
              </a:rPr>
              <a:t>achieve</a:t>
            </a:r>
            <a:r>
              <a:rPr lang="en-US" altLang="en-US" sz="2400" dirty="0" smtClean="0">
                <a:latin typeface="Arial" panose="020B0604020202020204" pitchFamily="34" charset="0"/>
                <a:cs typeface="Arial" panose="020B0604020202020204" pitchFamily="34" charset="0"/>
              </a:rPr>
              <a:t> a common set of </a:t>
            </a:r>
            <a:r>
              <a:rPr lang="en-US" altLang="en-US" sz="2400" b="1" dirty="0" smtClean="0">
                <a:latin typeface="Arial" panose="020B0604020202020204" pitchFamily="34" charset="0"/>
                <a:cs typeface="Arial" panose="020B0604020202020204" pitchFamily="34" charset="0"/>
              </a:rPr>
              <a:t>objectives.</a:t>
            </a:r>
          </a:p>
          <a:p>
            <a:pPr marL="514350" indent="-514350" algn="just">
              <a:buFont typeface="+mj-lt"/>
              <a:buAutoNum type="romanLcPeriod"/>
            </a:pPr>
            <a:r>
              <a:rPr lang="en-US" sz="2400" dirty="0">
                <a:latin typeface="Arial" panose="020B0604020202020204" pitchFamily="34" charset="0"/>
                <a:cs typeface="Arial" panose="020B0604020202020204" pitchFamily="34" charset="0"/>
              </a:rPr>
              <a:t>A system is an orderly grouping of interdependent components linked together according to a plan to achieve a specific objective. </a:t>
            </a:r>
            <a:endParaRPr lang="en-US" sz="2400" dirty="0" smtClean="0">
              <a:latin typeface="Arial" panose="020B0604020202020204" pitchFamily="34" charset="0"/>
              <a:cs typeface="Arial" panose="020B0604020202020204" pitchFamily="34" charset="0"/>
            </a:endParaRPr>
          </a:p>
          <a:p>
            <a:pPr marL="514350" indent="-514350" algn="just">
              <a:buFont typeface="+mj-lt"/>
              <a:buAutoNum type="romanLcPeriod"/>
            </a:pPr>
            <a:r>
              <a:rPr lang="en-US" sz="2400" dirty="0" smtClean="0">
                <a:latin typeface="Arial" panose="020B0604020202020204" pitchFamily="34" charset="0"/>
                <a:cs typeface="Arial" panose="020B0604020202020204" pitchFamily="34" charset="0"/>
              </a:rPr>
              <a:t>A system </a:t>
            </a:r>
            <a:r>
              <a:rPr lang="en-US" sz="2400" dirty="0">
                <a:latin typeface="Arial" panose="020B0604020202020204" pitchFamily="34" charset="0"/>
                <a:cs typeface="Arial" panose="020B0604020202020204" pitchFamily="34" charset="0"/>
              </a:rPr>
              <a:t>is an </a:t>
            </a:r>
            <a:r>
              <a:rPr lang="en-US" sz="2400" b="1" dirty="0">
                <a:latin typeface="Arial" panose="020B0604020202020204" pitchFamily="34" charset="0"/>
                <a:cs typeface="Arial" panose="020B0604020202020204" pitchFamily="34" charset="0"/>
              </a:rPr>
              <a:t>interrelated</a:t>
            </a:r>
            <a:r>
              <a:rPr lang="en-US" sz="2400" dirty="0">
                <a:latin typeface="Arial" panose="020B0604020202020204" pitchFamily="34" charset="0"/>
                <a:cs typeface="Arial" panose="020B0604020202020204" pitchFamily="34" charset="0"/>
              </a:rPr>
              <a:t> set of business procedures (or components) used within one business unit, working together for some purpose</a:t>
            </a:r>
            <a:r>
              <a:rPr lang="en-US" sz="2400" dirty="0" smtClean="0">
                <a:latin typeface="Arial" panose="020B0604020202020204" pitchFamily="34" charset="0"/>
                <a:cs typeface="Arial" panose="020B0604020202020204" pitchFamily="34" charset="0"/>
              </a:rPr>
              <a:t>.</a:t>
            </a:r>
          </a:p>
          <a:p>
            <a:pPr marL="0" indent="0" algn="just">
              <a:buNone/>
            </a:pPr>
            <a:r>
              <a:rPr lang="en-US" sz="2400" dirty="0" smtClean="0">
                <a:latin typeface="Arial" panose="020B0604020202020204" pitchFamily="34" charset="0"/>
                <a:cs typeface="Arial" panose="020B0604020202020204" pitchFamily="34" charset="0"/>
              </a:rPr>
              <a:t>For </a:t>
            </a:r>
            <a:r>
              <a:rPr lang="en-US" sz="2400" dirty="0">
                <a:latin typeface="Arial" panose="020B0604020202020204" pitchFamily="34" charset="0"/>
                <a:cs typeface="Arial" panose="020B0604020202020204" pitchFamily="34" charset="0"/>
              </a:rPr>
              <a:t>example, a system in the payroll department keeps track of </a:t>
            </a:r>
            <a:r>
              <a:rPr lang="en-US" sz="2400" dirty="0" smtClean="0">
                <a:latin typeface="Arial" panose="020B0604020202020204" pitchFamily="34" charset="0"/>
                <a:cs typeface="Arial" panose="020B0604020202020204" pitchFamily="34" charset="0"/>
              </a:rPr>
              <a:t>pay roll transitions, </a:t>
            </a:r>
            <a:r>
              <a:rPr lang="en-US" sz="2400" dirty="0">
                <a:latin typeface="Arial" panose="020B0604020202020204" pitchFamily="34" charset="0"/>
                <a:cs typeface="Arial" panose="020B0604020202020204" pitchFamily="34" charset="0"/>
              </a:rPr>
              <a:t>whereas an inventory system keeps track of supplies. The two systems are </a:t>
            </a:r>
            <a:r>
              <a:rPr lang="en-US" sz="2400" dirty="0" smtClean="0">
                <a:latin typeface="Arial" panose="020B0604020202020204" pitchFamily="34" charset="0"/>
                <a:cs typeface="Arial" panose="020B0604020202020204" pitchFamily="34" charset="0"/>
              </a:rPr>
              <a:t>separate.</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2051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58" y="382385"/>
            <a:ext cx="7633742" cy="669801"/>
          </a:xfrm>
        </p:spPr>
        <p:txBody>
          <a:bodyPr>
            <a:normAutofit/>
          </a:bodyPr>
          <a:lstStyle/>
          <a:p>
            <a:r>
              <a:rPr lang="en-US" cap="none" dirty="0" smtClean="0"/>
              <a:t>System -Definition</a:t>
            </a:r>
            <a:endParaRPr lang="en-US" cap="none" dirty="0"/>
          </a:p>
        </p:txBody>
      </p:sp>
      <p:sp>
        <p:nvSpPr>
          <p:cNvPr id="3" name="Content Placeholder 2"/>
          <p:cNvSpPr>
            <a:spLocks noGrp="1"/>
          </p:cNvSpPr>
          <p:nvPr>
            <p:ph idx="1"/>
          </p:nvPr>
        </p:nvSpPr>
        <p:spPr>
          <a:xfrm>
            <a:off x="726510" y="1052186"/>
            <a:ext cx="7845990" cy="4727199"/>
          </a:xfrm>
        </p:spPr>
        <p:txBody>
          <a:bodyPr>
            <a:noAutofit/>
          </a:bodyPr>
          <a:lstStyle/>
          <a:p>
            <a:pPr marL="0" indent="0" algn="just">
              <a:buNone/>
            </a:pPr>
            <a:r>
              <a:rPr lang="en-US" sz="2800" dirty="0" smtClean="0">
                <a:latin typeface="Arial" panose="020B0604020202020204" pitchFamily="34" charset="0"/>
                <a:cs typeface="Arial" panose="020B0604020202020204" pitchFamily="34" charset="0"/>
              </a:rPr>
              <a:t>The </a:t>
            </a:r>
            <a:r>
              <a:rPr lang="en-US" sz="2800" dirty="0">
                <a:latin typeface="Arial" panose="020B0604020202020204" pitchFamily="34" charset="0"/>
                <a:cs typeface="Arial" panose="020B0604020202020204" pitchFamily="34" charset="0"/>
              </a:rPr>
              <a:t>study of system concepts has three basic implications: </a:t>
            </a:r>
          </a:p>
          <a:p>
            <a:pPr lvl="0" algn="just">
              <a:buClr>
                <a:srgbClr val="002060"/>
              </a:buClr>
              <a:buSzPct val="104000"/>
              <a:buFont typeface="Wingdings" panose="05000000000000000000" pitchFamily="2" charset="2"/>
              <a:buChar char="Ø"/>
            </a:pPr>
            <a:r>
              <a:rPr lang="en-US" sz="2800" dirty="0">
                <a:latin typeface="Arial" panose="020B0604020202020204" pitchFamily="34" charset="0"/>
                <a:cs typeface="Arial" panose="020B0604020202020204" pitchFamily="34" charset="0"/>
              </a:rPr>
              <a:t>A system must be designed to achieve a predetermined objective.</a:t>
            </a:r>
          </a:p>
          <a:p>
            <a:pPr lvl="0" algn="just">
              <a:buClr>
                <a:srgbClr val="002060"/>
              </a:buClr>
              <a:buSzPct val="104000"/>
              <a:buFont typeface="Wingdings" panose="05000000000000000000" pitchFamily="2" charset="2"/>
              <a:buChar char="Ø"/>
            </a:pPr>
            <a:r>
              <a:rPr lang="en-US" sz="2800" dirty="0">
                <a:latin typeface="Arial" panose="020B0604020202020204" pitchFamily="34" charset="0"/>
                <a:cs typeface="Arial" panose="020B0604020202020204" pitchFamily="34" charset="0"/>
              </a:rPr>
              <a:t>Interrelationships and interdependence must exist among the components. </a:t>
            </a:r>
          </a:p>
          <a:p>
            <a:pPr lvl="0" algn="just">
              <a:buClr>
                <a:srgbClr val="002060"/>
              </a:buClr>
              <a:buSzPct val="104000"/>
              <a:buFont typeface="Wingdings" panose="05000000000000000000" pitchFamily="2" charset="2"/>
              <a:buChar char="Ø"/>
            </a:pPr>
            <a:r>
              <a:rPr lang="en-US" sz="2800" dirty="0">
                <a:latin typeface="Arial" panose="020B0604020202020204" pitchFamily="34" charset="0"/>
                <a:cs typeface="Arial" panose="020B0604020202020204" pitchFamily="34" charset="0"/>
              </a:rPr>
              <a:t>The objectives of the organization as a whole have a higher priority than the objectives of its subsystems. </a:t>
            </a:r>
          </a:p>
          <a:p>
            <a:pPr marL="0" indent="0" algn="just">
              <a:buNone/>
            </a:pPr>
            <a:endParaRPr lang="en-US" altLang="en-US" sz="2800" b="1" dirty="0">
              <a:latin typeface="Arial" panose="020B0604020202020204" pitchFamily="34" charset="0"/>
              <a:cs typeface="Arial" panose="020B0604020202020204" pitchFamily="34" charset="0"/>
            </a:endParaRPr>
          </a:p>
          <a:p>
            <a:pPr algn="just"/>
            <a:endParaRPr lang="en-US" sz="2800" dirty="0"/>
          </a:p>
        </p:txBody>
      </p:sp>
    </p:spTree>
    <p:extLst>
      <p:ext uri="{BB962C8B-B14F-4D97-AF65-F5344CB8AC3E}">
        <p14:creationId xmlns:p14="http://schemas.microsoft.com/office/powerpoint/2010/main" val="1278588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of a system</a:t>
            </a:r>
            <a:endParaRPr lang="en-US" dirty="0"/>
          </a:p>
        </p:txBody>
      </p:sp>
      <p:pic>
        <p:nvPicPr>
          <p:cNvPr id="4" name="Content Placeholder 3" descr="System definition and concepts | characteristics and types of system"/>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9765" y="1389974"/>
            <a:ext cx="6994264" cy="4166883"/>
          </a:xfrm>
          <a:prstGeom prst="rect">
            <a:avLst/>
          </a:prstGeom>
          <a:noFill/>
          <a:ln>
            <a:noFill/>
          </a:ln>
        </p:spPr>
      </p:pic>
    </p:spTree>
    <p:extLst>
      <p:ext uri="{BB962C8B-B14F-4D97-AF65-F5344CB8AC3E}">
        <p14:creationId xmlns:p14="http://schemas.microsoft.com/office/powerpoint/2010/main" val="39806803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8830" y="225445"/>
            <a:ext cx="6673174" cy="384155"/>
          </a:xfrm>
        </p:spPr>
        <p:txBody>
          <a:bodyPr>
            <a:normAutofit fontScale="90000"/>
          </a:bodyPr>
          <a:lstStyle/>
          <a:p>
            <a:r>
              <a:rPr lang="en-US" dirty="0" smtClean="0">
                <a:solidFill>
                  <a:srgbClr val="0070C0"/>
                </a:solidFill>
              </a:rPr>
              <a:t>Elements of a system</a:t>
            </a:r>
            <a:endParaRPr lang="en-US" dirty="0">
              <a:solidFill>
                <a:srgbClr val="0070C0"/>
              </a:solidFill>
            </a:endParaRPr>
          </a:p>
        </p:txBody>
      </p:sp>
      <p:sp>
        <p:nvSpPr>
          <p:cNvPr id="3" name="Content Placeholder 2"/>
          <p:cNvSpPr>
            <a:spLocks noGrp="1"/>
          </p:cNvSpPr>
          <p:nvPr>
            <p:ph idx="1"/>
          </p:nvPr>
        </p:nvSpPr>
        <p:spPr>
          <a:xfrm>
            <a:off x="951977" y="926926"/>
            <a:ext cx="7925323" cy="5645324"/>
          </a:xfrm>
        </p:spPr>
        <p:txBody>
          <a:bodyPr>
            <a:noAutofit/>
          </a:bodyPr>
          <a:lstStyle/>
          <a:p>
            <a:pPr marL="0" lvl="0" indent="0" algn="just">
              <a:lnSpc>
                <a:spcPct val="100000"/>
              </a:lnSpc>
              <a:buNone/>
            </a:pPr>
            <a:r>
              <a:rPr lang="en-US" sz="2600" dirty="0">
                <a:latin typeface="Arial" panose="020B0604020202020204" pitchFamily="34" charset="0"/>
                <a:cs typeface="Arial" panose="020B0604020202020204" pitchFamily="34" charset="0"/>
              </a:rPr>
              <a:t>A system has three basic elements input, processing and output. The other elements include control, feedback, boundaries, environment and interfaces.</a:t>
            </a:r>
          </a:p>
          <a:p>
            <a:pPr marL="0" lvl="0" indent="0" algn="just">
              <a:lnSpc>
                <a:spcPct val="100000"/>
              </a:lnSpc>
              <a:buNone/>
            </a:pPr>
            <a:r>
              <a:rPr lang="en-US" sz="2600" b="1" dirty="0" smtClean="0">
                <a:latin typeface="Arial" panose="020B0604020202020204" pitchFamily="34" charset="0"/>
                <a:cs typeface="Arial" panose="020B0604020202020204" pitchFamily="34" charset="0"/>
              </a:rPr>
              <a:t>Input</a:t>
            </a:r>
            <a:r>
              <a:rPr lang="en-US" sz="2600" b="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Input is </a:t>
            </a:r>
            <a:r>
              <a:rPr lang="en-US" sz="2600" dirty="0" smtClean="0">
                <a:latin typeface="Arial" panose="020B0604020202020204" pitchFamily="34" charset="0"/>
                <a:cs typeface="Arial" panose="020B0604020202020204" pitchFamily="34" charset="0"/>
              </a:rPr>
              <a:t>the </a:t>
            </a:r>
            <a:r>
              <a:rPr lang="en-US" sz="2600" dirty="0">
                <a:latin typeface="Arial" panose="020B0604020202020204" pitchFamily="34" charset="0"/>
                <a:cs typeface="Arial" panose="020B0604020202020204" pitchFamily="34" charset="0"/>
              </a:rPr>
              <a:t>data the system receives to produce a certain output.</a:t>
            </a:r>
          </a:p>
          <a:p>
            <a:pPr marL="0" lvl="0" indent="0" algn="just">
              <a:lnSpc>
                <a:spcPct val="100000"/>
              </a:lnSpc>
              <a:buNone/>
            </a:pPr>
            <a:r>
              <a:rPr lang="en-US" sz="2600" b="1" dirty="0" smtClean="0">
                <a:latin typeface="Arial" panose="020B0604020202020204" pitchFamily="34" charset="0"/>
                <a:cs typeface="Arial" panose="020B0604020202020204" pitchFamily="34" charset="0"/>
              </a:rPr>
              <a:t>Output</a:t>
            </a:r>
            <a:r>
              <a:rPr lang="en-US" sz="2600" b="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What goes out from the system after being processed is known as Output.</a:t>
            </a:r>
          </a:p>
          <a:p>
            <a:pPr marL="0" lvl="0" indent="0" algn="just">
              <a:lnSpc>
                <a:spcPct val="100000"/>
              </a:lnSpc>
              <a:buNone/>
            </a:pPr>
            <a:r>
              <a:rPr lang="en-US" sz="2600" b="1" dirty="0" smtClean="0">
                <a:latin typeface="Arial" panose="020B0604020202020204" pitchFamily="34" charset="0"/>
                <a:cs typeface="Arial" panose="020B0604020202020204" pitchFamily="34" charset="0"/>
              </a:rPr>
              <a:t>Processing</a:t>
            </a:r>
            <a:r>
              <a:rPr lang="en-US" sz="2600" b="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The process involved to transform input into output is known as Processing.</a:t>
            </a:r>
          </a:p>
          <a:p>
            <a:pPr marL="0" lvl="0" indent="0" algn="just">
              <a:lnSpc>
                <a:spcPct val="100000"/>
              </a:lnSpc>
              <a:buNone/>
            </a:pPr>
            <a:r>
              <a:rPr lang="en-US" sz="2600" b="1" dirty="0" smtClean="0">
                <a:latin typeface="Arial" panose="020B0604020202020204" pitchFamily="34" charset="0"/>
                <a:cs typeface="Arial" panose="020B0604020202020204" pitchFamily="34" charset="0"/>
              </a:rPr>
              <a:t>Control</a:t>
            </a:r>
            <a:r>
              <a:rPr lang="en-US" sz="2600" b="1"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In order to get the desired results it is essential to monitor and control the input, Processing and the output of the system. This job is done by the control.</a:t>
            </a:r>
          </a:p>
          <a:p>
            <a:pPr lvl="0" algn="just">
              <a:lnSpc>
                <a:spcPct val="100000"/>
              </a:lnSpc>
            </a:pPr>
            <a:endParaRPr lang="en-US" sz="2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34594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025" y="350729"/>
            <a:ext cx="8267700" cy="6135796"/>
          </a:xfrm>
        </p:spPr>
        <p:txBody>
          <a:bodyPr>
            <a:noAutofit/>
          </a:bodyPr>
          <a:lstStyle/>
          <a:p>
            <a:pPr marL="0" indent="0" algn="ctr">
              <a:lnSpc>
                <a:spcPct val="100000"/>
              </a:lnSpc>
              <a:buNone/>
            </a:pPr>
            <a:r>
              <a:rPr lang="en-US" sz="2400" dirty="0">
                <a:solidFill>
                  <a:srgbClr val="0070C0"/>
                </a:solidFill>
              </a:rPr>
              <a:t>Elements of a </a:t>
            </a:r>
            <a:r>
              <a:rPr lang="en-US" sz="2400" dirty="0" smtClean="0">
                <a:solidFill>
                  <a:srgbClr val="0070C0"/>
                </a:solidFill>
              </a:rPr>
              <a:t>system </a:t>
            </a:r>
            <a:r>
              <a:rPr lang="en-US" sz="2400" b="1" dirty="0">
                <a:solidFill>
                  <a:srgbClr val="0070C0"/>
                </a:solidFill>
              </a:rPr>
              <a:t>cont’d</a:t>
            </a:r>
            <a:endParaRPr lang="en-US" altLang="en-US" sz="2400" b="1" dirty="0">
              <a:solidFill>
                <a:srgbClr val="0070C0"/>
              </a:solidFill>
              <a:latin typeface="Arial" panose="020B0604020202020204" pitchFamily="34" charset="0"/>
              <a:ea typeface="Times New Roman" panose="02020603050405020304" pitchFamily="18" charset="0"/>
              <a:cs typeface="Arial" panose="020B0604020202020204" pitchFamily="34" charset="0"/>
            </a:endParaRPr>
          </a:p>
          <a:p>
            <a:pPr marL="0" lvl="0" indent="0" algn="just">
              <a:lnSpc>
                <a:spcPct val="100000"/>
              </a:lnSpc>
              <a:buNone/>
            </a:pPr>
            <a:r>
              <a:rPr lang="en-US" sz="2400" b="1" dirty="0" smtClean="0">
                <a:latin typeface="Arial" panose="020B0604020202020204" pitchFamily="34" charset="0"/>
                <a:cs typeface="Arial" panose="020B0604020202020204" pitchFamily="34" charset="0"/>
              </a:rPr>
              <a:t>Feedback</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The Output is checked with the desired standards of the output set and the necessary steps are taken for achieving the output as per the standards, this process is called as Feedback. It helps to achieve a much better control in the system.</a:t>
            </a:r>
          </a:p>
          <a:p>
            <a:pPr marL="0" lvl="0" indent="0" algn="just">
              <a:lnSpc>
                <a:spcPct val="100000"/>
              </a:lnSpc>
              <a:buNone/>
            </a:pPr>
            <a:r>
              <a:rPr lang="en-US" sz="2400" b="1" dirty="0" smtClean="0">
                <a:latin typeface="Arial" panose="020B0604020202020204" pitchFamily="34" charset="0"/>
                <a:cs typeface="Arial" panose="020B0604020202020204" pitchFamily="34" charset="0"/>
              </a:rPr>
              <a:t>Boundaries</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The boundaries are nothing but the limit of the system. Setting up boundaries helps for better concentration of the </a:t>
            </a:r>
            <a:r>
              <a:rPr lang="en-US" sz="2400" dirty="0" smtClean="0">
                <a:latin typeface="Arial" panose="020B0604020202020204" pitchFamily="34" charset="0"/>
                <a:cs typeface="Arial" panose="020B0604020202020204" pitchFamily="34" charset="0"/>
              </a:rPr>
              <a:t>activities </a:t>
            </a:r>
            <a:r>
              <a:rPr lang="en-US" sz="2400" dirty="0">
                <a:latin typeface="Arial" panose="020B0604020202020204" pitchFamily="34" charset="0"/>
                <a:cs typeface="Arial" panose="020B0604020202020204" pitchFamily="34" charset="0"/>
              </a:rPr>
              <a:t>carried </a:t>
            </a:r>
            <a:r>
              <a:rPr lang="en-US" sz="2400" dirty="0" smtClean="0">
                <a:latin typeface="Arial" panose="020B0604020202020204" pitchFamily="34" charset="0"/>
                <a:cs typeface="Arial" panose="020B0604020202020204" pitchFamily="34" charset="0"/>
              </a:rPr>
              <a:t>out in </a:t>
            </a:r>
            <a:r>
              <a:rPr lang="en-US" sz="2400" dirty="0">
                <a:latin typeface="Arial" panose="020B0604020202020204" pitchFamily="34" charset="0"/>
                <a:cs typeface="Arial" panose="020B0604020202020204" pitchFamily="34" charset="0"/>
              </a:rPr>
              <a:t>the system.</a:t>
            </a:r>
          </a:p>
          <a:p>
            <a:pPr marL="0" lvl="0" indent="0" algn="just">
              <a:lnSpc>
                <a:spcPct val="100000"/>
              </a:lnSpc>
              <a:buNone/>
            </a:pPr>
            <a:r>
              <a:rPr lang="en-US" sz="2400" b="1" dirty="0" smtClean="0">
                <a:latin typeface="Arial" panose="020B0604020202020204" pitchFamily="34" charset="0"/>
                <a:cs typeface="Arial" panose="020B0604020202020204" pitchFamily="34" charset="0"/>
              </a:rPr>
              <a:t>Environment</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The things outside the boundary of the system are known as environment. Change in the environment affects the working of the system.</a:t>
            </a:r>
          </a:p>
          <a:p>
            <a:pPr marL="0" lvl="0" indent="0" algn="just">
              <a:lnSpc>
                <a:spcPct val="100000"/>
              </a:lnSpc>
              <a:buNone/>
            </a:pPr>
            <a:r>
              <a:rPr lang="en-US" sz="2400" b="1" dirty="0" smtClean="0">
                <a:latin typeface="Arial" panose="020B0604020202020204" pitchFamily="34" charset="0"/>
                <a:cs typeface="Arial" panose="020B0604020202020204" pitchFamily="34" charset="0"/>
              </a:rPr>
              <a:t>Interfaces</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The interconnections and the interactions between the sub-systems is known as the Interfaces. They may be inputs and outputs of the systems</a:t>
            </a:r>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p>
            <a:endParaRPr lang="en-US" sz="2400" dirty="0"/>
          </a:p>
        </p:txBody>
      </p:sp>
    </p:spTree>
    <p:extLst>
      <p:ext uri="{BB962C8B-B14F-4D97-AF65-F5344CB8AC3E}">
        <p14:creationId xmlns:p14="http://schemas.microsoft.com/office/powerpoint/2010/main" val="10154278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1978" y="142460"/>
            <a:ext cx="7826226" cy="755630"/>
          </a:xfrm>
        </p:spPr>
        <p:txBody>
          <a:bodyPr>
            <a:noAutofit/>
          </a:bodyPr>
          <a:lstStyle/>
          <a:p>
            <a:r>
              <a:rPr lang="en-US" sz="4000" b="1" cap="none" dirty="0" smtClean="0">
                <a:solidFill>
                  <a:srgbClr val="0070C0"/>
                </a:solidFill>
              </a:rPr>
              <a:t>Characteristics Of A System:</a:t>
            </a:r>
            <a:r>
              <a:rPr lang="en-US" sz="4000" cap="none" dirty="0" smtClean="0">
                <a:solidFill>
                  <a:srgbClr val="0070C0"/>
                </a:solidFill>
              </a:rPr>
              <a:t> </a:t>
            </a:r>
            <a:br>
              <a:rPr lang="en-US" sz="4000" cap="none" dirty="0" smtClean="0">
                <a:solidFill>
                  <a:srgbClr val="0070C0"/>
                </a:solidFill>
              </a:rPr>
            </a:br>
            <a:endParaRPr lang="en-US" sz="4000" cap="none" dirty="0">
              <a:solidFill>
                <a:srgbClr val="0070C0"/>
              </a:solidFill>
            </a:endParaRPr>
          </a:p>
        </p:txBody>
      </p:sp>
      <p:sp>
        <p:nvSpPr>
          <p:cNvPr id="3" name="Content Placeholder 2"/>
          <p:cNvSpPr>
            <a:spLocks noGrp="1"/>
          </p:cNvSpPr>
          <p:nvPr>
            <p:ph idx="1"/>
          </p:nvPr>
        </p:nvSpPr>
        <p:spPr>
          <a:xfrm>
            <a:off x="764087" y="761478"/>
            <a:ext cx="7663779" cy="5563122"/>
          </a:xfrm>
        </p:spPr>
        <p:txBody>
          <a:bodyPr>
            <a:noAutofit/>
          </a:bodyPr>
          <a:lstStyle/>
          <a:p>
            <a:pPr algn="just"/>
            <a:r>
              <a:rPr lang="en-US" b="1" dirty="0" smtClean="0"/>
              <a:t>Organization: </a:t>
            </a:r>
            <a:r>
              <a:rPr lang="en-US" dirty="0" smtClean="0"/>
              <a:t>implies </a:t>
            </a:r>
            <a:r>
              <a:rPr lang="en-US" dirty="0"/>
              <a:t>structure and order. It is the arrangement of components that helps to achieve objectives. </a:t>
            </a:r>
          </a:p>
          <a:p>
            <a:pPr lvl="0" algn="just"/>
            <a:r>
              <a:rPr lang="en-US" b="1" dirty="0"/>
              <a:t>Interaction:</a:t>
            </a:r>
            <a:r>
              <a:rPr lang="en-US" dirty="0"/>
              <a:t> </a:t>
            </a:r>
            <a:r>
              <a:rPr lang="en-US" dirty="0" smtClean="0"/>
              <a:t>refers </a:t>
            </a:r>
            <a:r>
              <a:rPr lang="en-US" dirty="0"/>
              <a:t>to the manner in which each component functions with other components of the system. </a:t>
            </a:r>
          </a:p>
          <a:p>
            <a:pPr lvl="0" algn="just"/>
            <a:r>
              <a:rPr lang="en-US" b="1" dirty="0" smtClean="0"/>
              <a:t>Interdependence: </a:t>
            </a:r>
            <a:r>
              <a:rPr lang="en-US" dirty="0" smtClean="0"/>
              <a:t>means </a:t>
            </a:r>
            <a:r>
              <a:rPr lang="en-US" dirty="0"/>
              <a:t>that parts of the organization or computer system depend on one another. They are coordinated and linked together according to a plan. One subsystem depends on the output of another subsystem for proper functioning.</a:t>
            </a:r>
          </a:p>
          <a:p>
            <a:pPr lvl="0" algn="just"/>
            <a:r>
              <a:rPr lang="en-US" b="1" dirty="0"/>
              <a:t>Integration:</a:t>
            </a:r>
            <a:r>
              <a:rPr lang="en-US" dirty="0"/>
              <a:t> </a:t>
            </a:r>
            <a:r>
              <a:rPr lang="en-US" dirty="0" smtClean="0"/>
              <a:t>refers </a:t>
            </a:r>
            <a:r>
              <a:rPr lang="en-US" dirty="0"/>
              <a:t>to the holism of systems. It is concerned with how a system is tied together.</a:t>
            </a:r>
          </a:p>
          <a:p>
            <a:pPr lvl="0" algn="just"/>
            <a:r>
              <a:rPr lang="en-US" b="1" dirty="0"/>
              <a:t>Central Objective:</a:t>
            </a:r>
            <a:r>
              <a:rPr lang="en-US" dirty="0"/>
              <a:t> </a:t>
            </a:r>
            <a:r>
              <a:rPr lang="en-US" dirty="0" smtClean="0"/>
              <a:t>A </a:t>
            </a:r>
            <a:r>
              <a:rPr lang="en-US" dirty="0"/>
              <a:t>system should have a central objective. Objectives may be real or stated. Although a stated objective may be the real objective, it is not uncommon for an organization to state one objective and operate to achieve another. </a:t>
            </a:r>
          </a:p>
        </p:txBody>
      </p:sp>
    </p:spTree>
    <p:extLst>
      <p:ext uri="{BB962C8B-B14F-4D97-AF65-F5344CB8AC3E}">
        <p14:creationId xmlns:p14="http://schemas.microsoft.com/office/powerpoint/2010/main" val="36132566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74457"/>
            <a:ext cx="7886700" cy="1325563"/>
          </a:xfrm>
        </p:spPr>
        <p:txBody>
          <a:bodyPr/>
          <a:lstStyle/>
          <a:p>
            <a:r>
              <a:rPr lang="en-US" altLang="en-US" sz="4000" b="1" dirty="0">
                <a:solidFill>
                  <a:schemeClr val="tx1"/>
                </a:solidFill>
                <a:latin typeface="Arial" panose="020B0604020202020204" pitchFamily="34" charset="0"/>
                <a:ea typeface="Times New Roman" panose="02020603050405020304" pitchFamily="18" charset="0"/>
                <a:cs typeface="Arial" panose="020B0604020202020204" pitchFamily="34" charset="0"/>
              </a:rPr>
              <a:t>Types of System </a:t>
            </a:r>
            <a:endParaRPr lang="en-US" dirty="0"/>
          </a:p>
        </p:txBody>
      </p:sp>
      <p:sp>
        <p:nvSpPr>
          <p:cNvPr id="4" name="Rectangle 1"/>
          <p:cNvSpPr>
            <a:spLocks noGrp="1" noChangeArrowheads="1"/>
          </p:cNvSpPr>
          <p:nvPr>
            <p:ph idx="1"/>
          </p:nvPr>
        </p:nvSpPr>
        <p:spPr bwMode="auto">
          <a:xfrm>
            <a:off x="739688" y="1646597"/>
            <a:ext cx="7587579"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00000"/>
              </a:lnSpc>
              <a:spcBef>
                <a:spcPct val="0"/>
              </a:spcBef>
              <a:spcAft>
                <a:spcPct val="0"/>
              </a:spcAft>
              <a:buFont typeface="Wingdings" panose="05000000000000000000" pitchFamily="2" charset="2"/>
              <a:buChar char="§"/>
            </a:pPr>
            <a:r>
              <a:rPr lang="en-US" altLang="en-US" dirty="0"/>
              <a:t> </a:t>
            </a:r>
            <a:r>
              <a:rPr lang="en-US" altLang="en-US" sz="3200" dirty="0"/>
              <a:t>Abstract and Conceptual systems</a:t>
            </a:r>
          </a:p>
          <a:p>
            <a:pPr algn="just" defTabSz="914400" eaLnBrk="0" fontAlgn="base" hangingPunct="0">
              <a:lnSpc>
                <a:spcPct val="100000"/>
              </a:lnSpc>
              <a:spcBef>
                <a:spcPct val="0"/>
              </a:spcBef>
              <a:spcAft>
                <a:spcPct val="0"/>
              </a:spcAft>
              <a:buFont typeface="Wingdings" panose="05000000000000000000" pitchFamily="2" charset="2"/>
              <a:buChar char="§"/>
            </a:pPr>
            <a:r>
              <a:rPr lang="en-US" altLang="en-US" sz="3200" dirty="0"/>
              <a:t>Physical systems</a:t>
            </a:r>
          </a:p>
          <a:p>
            <a:pPr algn="just" defTabSz="914400" eaLnBrk="0" fontAlgn="base" hangingPunct="0">
              <a:lnSpc>
                <a:spcPct val="100000"/>
              </a:lnSpc>
              <a:spcBef>
                <a:spcPct val="0"/>
              </a:spcBef>
              <a:spcAft>
                <a:spcPct val="0"/>
              </a:spcAft>
              <a:buFont typeface="Wingdings" panose="05000000000000000000" pitchFamily="2" charset="2"/>
              <a:buChar char="§"/>
            </a:pPr>
            <a:r>
              <a:rPr lang="en-US" altLang="en-US" sz="3200" dirty="0"/>
              <a:t>Open and Closed systems</a:t>
            </a:r>
          </a:p>
          <a:p>
            <a:pPr algn="just" defTabSz="914400" eaLnBrk="0" fontAlgn="base" hangingPunct="0">
              <a:lnSpc>
                <a:spcPct val="100000"/>
              </a:lnSpc>
              <a:spcBef>
                <a:spcPct val="0"/>
              </a:spcBef>
              <a:spcAft>
                <a:spcPct val="0"/>
              </a:spcAft>
              <a:buFont typeface="Wingdings" panose="05000000000000000000" pitchFamily="2" charset="2"/>
              <a:buChar char="§"/>
            </a:pPr>
            <a:r>
              <a:rPr lang="en-US" altLang="en-US" sz="3200" dirty="0"/>
              <a:t>Deterministic or probabilistic systems</a:t>
            </a:r>
          </a:p>
          <a:p>
            <a:pPr algn="just" defTabSz="914400" eaLnBrk="0" fontAlgn="base" hangingPunct="0">
              <a:lnSpc>
                <a:spcPct val="100000"/>
              </a:lnSpc>
              <a:spcBef>
                <a:spcPct val="0"/>
              </a:spcBef>
              <a:spcAft>
                <a:spcPct val="0"/>
              </a:spcAft>
              <a:buFont typeface="Wingdings" panose="05000000000000000000" pitchFamily="2" charset="2"/>
              <a:buChar char="§"/>
            </a:pPr>
            <a:r>
              <a:rPr lang="en-US" altLang="en-US" sz="3200" dirty="0"/>
              <a:t>Man –made information </a:t>
            </a:r>
            <a:r>
              <a:rPr lang="en-US" altLang="en-US" sz="3200" dirty="0" smtClean="0"/>
              <a:t>systems</a:t>
            </a:r>
            <a:endParaRPr lang="en-US" altLang="en-US" sz="3200" dirty="0"/>
          </a:p>
        </p:txBody>
      </p:sp>
    </p:spTree>
    <p:extLst>
      <p:ext uri="{BB962C8B-B14F-4D97-AF65-F5344CB8AC3E}">
        <p14:creationId xmlns:p14="http://schemas.microsoft.com/office/powerpoint/2010/main" val="9102896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3425" y="266243"/>
            <a:ext cx="7949529" cy="5214256"/>
          </a:xfrm>
        </p:spPr>
        <p:txBody>
          <a:bodyPr>
            <a:noAutofit/>
          </a:bodyPr>
          <a:lstStyle/>
          <a:p>
            <a:pPr marL="0" lvl="0" indent="0" algn="just" defTabSz="914400" eaLnBrk="0" fontAlgn="base" hangingPunct="0">
              <a:lnSpc>
                <a:spcPct val="100000"/>
              </a:lnSpc>
              <a:spcBef>
                <a:spcPct val="0"/>
              </a:spcBef>
              <a:spcAft>
                <a:spcPct val="0"/>
              </a:spcAft>
              <a:buNone/>
            </a:pPr>
            <a:r>
              <a:rPr lang="en-US" altLang="en-US" sz="2400" dirty="0" smtClean="0"/>
              <a:t>                                   </a:t>
            </a:r>
            <a:r>
              <a:rPr lang="en-US" altLang="en-US" sz="2400" b="1" dirty="0" smtClean="0">
                <a:latin typeface="Arial" panose="020B0604020202020204" pitchFamily="34" charset="0"/>
                <a:ea typeface="Times New Roman" panose="02020603050405020304" pitchFamily="18" charset="0"/>
                <a:cs typeface="Arial" panose="020B0604020202020204" pitchFamily="34" charset="0"/>
              </a:rPr>
              <a:t>Types </a:t>
            </a:r>
            <a:r>
              <a:rPr lang="en-US" altLang="en-US" sz="2400" b="1" dirty="0">
                <a:latin typeface="Arial" panose="020B0604020202020204" pitchFamily="34" charset="0"/>
                <a:ea typeface="Times New Roman" panose="02020603050405020304" pitchFamily="18" charset="0"/>
                <a:cs typeface="Arial" panose="020B0604020202020204" pitchFamily="34" charset="0"/>
              </a:rPr>
              <a:t>of </a:t>
            </a:r>
            <a:r>
              <a:rPr lang="en-US" altLang="en-US" sz="2400" b="1" dirty="0" smtClean="0">
                <a:latin typeface="Arial" panose="020B0604020202020204" pitchFamily="34" charset="0"/>
                <a:ea typeface="Times New Roman" panose="02020603050405020304" pitchFamily="18" charset="0"/>
                <a:cs typeface="Arial" panose="020B0604020202020204" pitchFamily="34" charset="0"/>
              </a:rPr>
              <a:t>System</a:t>
            </a:r>
            <a:endParaRPr lang="en-US" altLang="en-US" sz="2400" dirty="0" smtClean="0"/>
          </a:p>
          <a:p>
            <a:pPr marL="0" lvl="0" indent="0" algn="just" defTabSz="914400" eaLnBrk="0" fontAlgn="base" hangingPunct="0">
              <a:lnSpc>
                <a:spcPct val="100000"/>
              </a:lnSpc>
              <a:spcBef>
                <a:spcPct val="0"/>
              </a:spcBef>
              <a:spcAft>
                <a:spcPct val="0"/>
              </a:spcAft>
              <a:buNone/>
            </a:pPr>
            <a:r>
              <a:rPr lang="en-US" altLang="en-US" sz="2400" b="1" dirty="0" smtClean="0"/>
              <a:t>Abstract </a:t>
            </a:r>
            <a:r>
              <a:rPr lang="en-US" altLang="en-US" sz="2400" b="1" dirty="0"/>
              <a:t>or conceptual </a:t>
            </a:r>
            <a:r>
              <a:rPr lang="en-US" altLang="en-US" sz="2400" dirty="0"/>
              <a:t>:</a:t>
            </a:r>
            <a:r>
              <a:rPr lang="en-US" sz="2400" dirty="0"/>
              <a:t>An abstract or conceptual system is an orderly arrangement of interdependent ideas or </a:t>
            </a:r>
            <a:r>
              <a:rPr lang="en-US" sz="2400" dirty="0" smtClean="0"/>
              <a:t>concepts, </a:t>
            </a:r>
            <a:r>
              <a:rPr lang="en-US" sz="2400" dirty="0"/>
              <a:t>which may or may not have any counterpart in the real world</a:t>
            </a:r>
            <a:r>
              <a:rPr lang="en-US" sz="2400" dirty="0" smtClean="0"/>
              <a:t>.</a:t>
            </a:r>
          </a:p>
          <a:p>
            <a:pPr marL="0" lvl="0" indent="0" algn="just" defTabSz="914400" eaLnBrk="0" fontAlgn="base" hangingPunct="0">
              <a:lnSpc>
                <a:spcPct val="100000"/>
              </a:lnSpc>
              <a:spcBef>
                <a:spcPct val="0"/>
              </a:spcBef>
              <a:spcAft>
                <a:spcPct val="0"/>
              </a:spcAft>
              <a:buNone/>
            </a:pPr>
            <a:endParaRPr lang="en-US" sz="2400" dirty="0"/>
          </a:p>
          <a:p>
            <a:pPr marL="0" lvl="0" indent="0" algn="just" defTabSz="914400" eaLnBrk="0" fontAlgn="base" hangingPunct="0">
              <a:lnSpc>
                <a:spcPct val="100000"/>
              </a:lnSpc>
              <a:spcBef>
                <a:spcPct val="0"/>
              </a:spcBef>
              <a:spcAft>
                <a:spcPct val="0"/>
              </a:spcAft>
              <a:buNone/>
            </a:pPr>
            <a:r>
              <a:rPr lang="en-US" altLang="en-US" sz="2400" b="1" dirty="0" smtClean="0"/>
              <a:t>Physical </a:t>
            </a:r>
            <a:r>
              <a:rPr lang="en-US" altLang="en-US" sz="2400" b="1" dirty="0"/>
              <a:t>system </a:t>
            </a:r>
            <a:r>
              <a:rPr lang="en-US" altLang="en-US" sz="2400" dirty="0"/>
              <a:t>is tangible entities that may be static or dynamic in nature. </a:t>
            </a:r>
            <a:r>
              <a:rPr lang="en-US" sz="2400" dirty="0"/>
              <a:t>physical systems are generally </a:t>
            </a:r>
            <a:r>
              <a:rPr lang="en-US" sz="2400" dirty="0" smtClean="0"/>
              <a:t>actual </a:t>
            </a:r>
            <a:r>
              <a:rPr lang="en-US" sz="2400" dirty="0"/>
              <a:t>operational systems made up of people, materials, machines, energy and other physical things; Physical systems are more than conceptual </a:t>
            </a:r>
            <a:r>
              <a:rPr lang="en-US" sz="2400" dirty="0" smtClean="0"/>
              <a:t>ideas. </a:t>
            </a:r>
            <a:endParaRPr lang="en-US" sz="2400" dirty="0"/>
          </a:p>
          <a:p>
            <a:pPr marL="0" lvl="0" indent="0" algn="just" defTabSz="914400" eaLnBrk="0" fontAlgn="base" hangingPunct="0">
              <a:lnSpc>
                <a:spcPct val="100000"/>
              </a:lnSpc>
              <a:spcBef>
                <a:spcPct val="0"/>
              </a:spcBef>
              <a:spcAft>
                <a:spcPct val="0"/>
              </a:spcAft>
              <a:buNone/>
            </a:pPr>
            <a:r>
              <a:rPr lang="en-US" altLang="en-US" sz="2400" dirty="0" smtClean="0"/>
              <a:t> </a:t>
            </a:r>
            <a:endParaRPr lang="en-US" altLang="en-US" sz="2400" dirty="0"/>
          </a:p>
        </p:txBody>
      </p:sp>
    </p:spTree>
    <p:extLst>
      <p:ext uri="{BB962C8B-B14F-4D97-AF65-F5344CB8AC3E}">
        <p14:creationId xmlns:p14="http://schemas.microsoft.com/office/powerpoint/2010/main" val="35409925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7" y="363894"/>
            <a:ext cx="8546841" cy="6148873"/>
          </a:xfrm>
        </p:spPr>
        <p:txBody>
          <a:bodyPr>
            <a:noAutofit/>
          </a:bodyPr>
          <a:lstStyle/>
          <a:p>
            <a:pPr marL="0" indent="0" algn="ctr">
              <a:buNone/>
            </a:pPr>
            <a:r>
              <a:rPr lang="en-US" altLang="en-US" sz="2400" b="1" dirty="0">
                <a:latin typeface="Arial" panose="020B0604020202020204" pitchFamily="34" charset="0"/>
                <a:ea typeface="Times New Roman" panose="02020603050405020304" pitchFamily="18" charset="0"/>
                <a:cs typeface="Arial" panose="020B0604020202020204" pitchFamily="34" charset="0"/>
              </a:rPr>
              <a:t>Types of </a:t>
            </a:r>
            <a:r>
              <a:rPr lang="en-US" altLang="en-US" sz="2400" b="1" dirty="0" smtClean="0">
                <a:latin typeface="Arial" panose="020B0604020202020204" pitchFamily="34" charset="0"/>
                <a:ea typeface="Times New Roman" panose="02020603050405020304" pitchFamily="18" charset="0"/>
                <a:cs typeface="Arial" panose="020B0604020202020204" pitchFamily="34" charset="0"/>
              </a:rPr>
              <a:t>System </a:t>
            </a:r>
            <a:r>
              <a:rPr lang="en-US" sz="2400" b="1" dirty="0"/>
              <a:t>cont’d</a:t>
            </a:r>
            <a:endParaRPr lang="en-US" altLang="en-US" sz="2400" b="1" dirty="0" smtClean="0">
              <a:latin typeface="Arial" panose="020B0604020202020204" pitchFamily="34" charset="0"/>
              <a:ea typeface="Times New Roman" panose="02020603050405020304" pitchFamily="18" charset="0"/>
              <a:cs typeface="Arial" panose="020B0604020202020204" pitchFamily="34" charset="0"/>
            </a:endParaRPr>
          </a:p>
          <a:p>
            <a:pPr marL="0" indent="0" algn="ctr">
              <a:buNone/>
            </a:pPr>
            <a:endParaRPr lang="en-US" altLang="en-US" sz="2400" b="1" dirty="0" smtClean="0"/>
          </a:p>
          <a:p>
            <a:pPr marL="0" indent="0" algn="just">
              <a:buNone/>
            </a:pPr>
            <a:r>
              <a:rPr lang="en-US" altLang="en-US" sz="2400" b="1" dirty="0" smtClean="0"/>
              <a:t>An </a:t>
            </a:r>
            <a:r>
              <a:rPr lang="en-US" altLang="en-US" sz="2400" b="1" dirty="0"/>
              <a:t>open system </a:t>
            </a:r>
            <a:r>
              <a:rPr lang="en-US" altLang="en-US" sz="2400" dirty="0"/>
              <a:t>continually interacts with its environment. It receives input from the outside and delivers output to outside</a:t>
            </a:r>
            <a:r>
              <a:rPr lang="en-US" altLang="en-US" sz="2400" dirty="0" smtClean="0"/>
              <a:t>.</a:t>
            </a:r>
          </a:p>
          <a:p>
            <a:pPr marL="0" indent="0" algn="just">
              <a:buNone/>
            </a:pPr>
            <a:r>
              <a:rPr lang="en-US" altLang="en-US" sz="2400" dirty="0" smtClean="0"/>
              <a:t> </a:t>
            </a:r>
            <a:r>
              <a:rPr lang="en-US" altLang="en-US" sz="2400" dirty="0"/>
              <a:t>T</a:t>
            </a:r>
            <a:r>
              <a:rPr lang="en-US" sz="2400" dirty="0" smtClean="0"/>
              <a:t>hus </a:t>
            </a:r>
            <a:r>
              <a:rPr lang="en-US" sz="2400" dirty="0"/>
              <a:t>exchanges information, material, or energy with the environment, including random and undefined inputs. Open </a:t>
            </a:r>
            <a:r>
              <a:rPr lang="en-US" sz="2400" dirty="0">
                <a:solidFill>
                  <a:srgbClr val="0070C0"/>
                </a:solidFill>
              </a:rPr>
              <a:t>systems are adaptive in nature</a:t>
            </a:r>
            <a:r>
              <a:rPr lang="en-US" sz="2400" dirty="0"/>
              <a:t>, as they tend to react with the environment in such a way, so as to favor their continued existence. Such systems are ‘self organizing’, in the sense that they change their organization in response to changing conditions</a:t>
            </a:r>
            <a:endParaRPr lang="en-US" altLang="en-US" sz="2400" dirty="0"/>
          </a:p>
          <a:p>
            <a:pPr marL="0" lvl="0" indent="0" algn="just">
              <a:buNone/>
            </a:pPr>
            <a:r>
              <a:rPr lang="en-US" altLang="en-US" sz="2400" b="1" dirty="0" smtClean="0"/>
              <a:t>A </a:t>
            </a:r>
            <a:r>
              <a:rPr lang="en-US" altLang="en-US" sz="2400" b="1" dirty="0"/>
              <a:t>closed system </a:t>
            </a:r>
            <a:r>
              <a:rPr lang="en-US" altLang="en-US" sz="2400" dirty="0"/>
              <a:t>is isolated from environment influences. </a:t>
            </a:r>
            <a:r>
              <a:rPr lang="en-US" sz="2400" dirty="0"/>
              <a:t>A closed system is one, which does not interact with its environment. </a:t>
            </a:r>
            <a:endParaRPr lang="en-US" sz="2400" dirty="0" smtClean="0"/>
          </a:p>
          <a:p>
            <a:pPr marL="0" lvl="0" indent="0" algn="just">
              <a:buNone/>
            </a:pPr>
            <a:r>
              <a:rPr lang="en-US" sz="2400" dirty="0" smtClean="0"/>
              <a:t>Such </a:t>
            </a:r>
            <a:r>
              <a:rPr lang="en-US" sz="2400" dirty="0"/>
              <a:t>systems in business world, are </a:t>
            </a:r>
            <a:r>
              <a:rPr lang="en-US" sz="2400" dirty="0" smtClean="0"/>
              <a:t>uncommon, </a:t>
            </a:r>
            <a:r>
              <a:rPr lang="en-US" sz="2400" dirty="0"/>
              <a:t>but relatively closed systems are common. Thus, the systems that are relatively isolated from the environment but not completely closed, are termed closed system.</a:t>
            </a:r>
            <a:endParaRPr lang="en-US" altLang="en-US" sz="2400" dirty="0"/>
          </a:p>
          <a:p>
            <a:pPr algn="just"/>
            <a:endParaRPr lang="en-US" sz="2400" dirty="0"/>
          </a:p>
          <a:p>
            <a:endParaRPr lang="en-US" sz="2400" dirty="0"/>
          </a:p>
        </p:txBody>
      </p:sp>
    </p:spTree>
    <p:extLst>
      <p:ext uri="{BB962C8B-B14F-4D97-AF65-F5344CB8AC3E}">
        <p14:creationId xmlns:p14="http://schemas.microsoft.com/office/powerpoint/2010/main" val="40294559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3894" y="1"/>
            <a:ext cx="8414310" cy="6774024"/>
          </a:xfrm>
        </p:spPr>
        <p:txBody>
          <a:bodyPr>
            <a:noAutofit/>
          </a:bodyPr>
          <a:lstStyle/>
          <a:p>
            <a:pPr marL="0" indent="0" algn="ctr" defTabSz="914400" eaLnBrk="0" fontAlgn="base" hangingPunct="0">
              <a:lnSpc>
                <a:spcPct val="100000"/>
              </a:lnSpc>
              <a:spcBef>
                <a:spcPct val="0"/>
              </a:spcBef>
              <a:spcAft>
                <a:spcPct val="0"/>
              </a:spcAft>
              <a:buNone/>
            </a:pPr>
            <a:r>
              <a:rPr lang="en-US" altLang="en-US" sz="2400" b="1" dirty="0">
                <a:latin typeface="Arial" panose="020B0604020202020204" pitchFamily="34" charset="0"/>
                <a:ea typeface="Times New Roman" panose="02020603050405020304" pitchFamily="18" charset="0"/>
                <a:cs typeface="Arial" panose="020B0604020202020204" pitchFamily="34" charset="0"/>
              </a:rPr>
              <a:t>Types of </a:t>
            </a:r>
            <a:r>
              <a:rPr lang="en-US" altLang="en-US" sz="2400" b="1" dirty="0" smtClean="0">
                <a:latin typeface="Arial" panose="020B0604020202020204" pitchFamily="34" charset="0"/>
                <a:ea typeface="Times New Roman" panose="02020603050405020304" pitchFamily="18" charset="0"/>
                <a:cs typeface="Arial" panose="020B0604020202020204" pitchFamily="34" charset="0"/>
              </a:rPr>
              <a:t>System </a:t>
            </a:r>
            <a:r>
              <a:rPr lang="en-US" sz="2400" b="1" dirty="0"/>
              <a:t>cont’d</a:t>
            </a:r>
            <a:r>
              <a:rPr lang="en-US" altLang="en-US" sz="2400" b="1" dirty="0" smtClean="0">
                <a:latin typeface="Arial" panose="020B0604020202020204" pitchFamily="34" charset="0"/>
                <a:ea typeface="Times New Roman" panose="02020603050405020304" pitchFamily="18" charset="0"/>
                <a:cs typeface="Arial" panose="020B0604020202020204" pitchFamily="34" charset="0"/>
              </a:rPr>
              <a:t> </a:t>
            </a:r>
            <a:endParaRPr lang="en-US" altLang="en-US" sz="2400" dirty="0"/>
          </a:p>
          <a:p>
            <a:pPr marL="0" lvl="0" indent="0" algn="just" defTabSz="914400" eaLnBrk="0" fontAlgn="base" hangingPunct="0">
              <a:lnSpc>
                <a:spcPct val="100000"/>
              </a:lnSpc>
              <a:spcBef>
                <a:spcPct val="0"/>
              </a:spcBef>
              <a:spcAft>
                <a:spcPct val="0"/>
              </a:spcAft>
              <a:buNone/>
            </a:pPr>
            <a:endParaRPr lang="en-US" altLang="en-US" sz="2400" b="1" dirty="0" smtClean="0"/>
          </a:p>
          <a:p>
            <a:pPr marL="0" lvl="0" indent="0" algn="just" defTabSz="914400" eaLnBrk="0" fontAlgn="base" hangingPunct="0">
              <a:lnSpc>
                <a:spcPct val="100000"/>
              </a:lnSpc>
              <a:spcBef>
                <a:spcPct val="0"/>
              </a:spcBef>
              <a:spcAft>
                <a:spcPct val="0"/>
              </a:spcAft>
              <a:buNone/>
            </a:pPr>
            <a:r>
              <a:rPr lang="en-US" altLang="en-US" sz="2400" b="1" dirty="0" smtClean="0"/>
              <a:t>Deterministic </a:t>
            </a:r>
            <a:r>
              <a:rPr lang="en-US" altLang="en-US" sz="2400" b="1" dirty="0"/>
              <a:t>and </a:t>
            </a:r>
            <a:r>
              <a:rPr lang="en-US" altLang="en-US" sz="2400" b="1" dirty="0" smtClean="0"/>
              <a:t>Probabilistic: </a:t>
            </a:r>
            <a:r>
              <a:rPr lang="en-US" altLang="en-US" sz="2400" dirty="0"/>
              <a:t>A Deterministic system is one in which the occurrence of all events </a:t>
            </a:r>
            <a:r>
              <a:rPr lang="en-US" altLang="en-US" sz="2400" dirty="0" smtClean="0"/>
              <a:t>is </a:t>
            </a:r>
            <a:r>
              <a:rPr lang="en-US" altLang="en-US" sz="2400" dirty="0"/>
              <a:t>perfectly predictable. If we get the description of the system state at a particular time, the next state can be easily predicted. </a:t>
            </a:r>
            <a:r>
              <a:rPr lang="en-US" altLang="en-US" sz="2400" b="1" dirty="0" smtClean="0"/>
              <a:t>A probabilistic </a:t>
            </a:r>
            <a:r>
              <a:rPr lang="en-US" altLang="en-US" sz="2400" b="1" dirty="0"/>
              <a:t>system </a:t>
            </a:r>
            <a:r>
              <a:rPr lang="en-US" altLang="en-US" sz="2400" dirty="0"/>
              <a:t>is one in which the occurrence of events cannot be perfectly predicted. </a:t>
            </a:r>
            <a:endParaRPr lang="en-US" altLang="en-US" sz="2400" dirty="0" smtClean="0"/>
          </a:p>
          <a:p>
            <a:pPr marL="0" lvl="0" indent="0" algn="just" defTabSz="914400" eaLnBrk="0" fontAlgn="base" hangingPunct="0">
              <a:lnSpc>
                <a:spcPct val="100000"/>
              </a:lnSpc>
              <a:spcBef>
                <a:spcPct val="0"/>
              </a:spcBef>
              <a:spcAft>
                <a:spcPct val="0"/>
              </a:spcAft>
              <a:buNone/>
            </a:pPr>
            <a:endParaRPr lang="en-US" altLang="en-US" sz="2400" dirty="0"/>
          </a:p>
          <a:p>
            <a:pPr marL="0" lvl="0" indent="0" algn="just" defTabSz="914400" eaLnBrk="0" fontAlgn="base" hangingPunct="0">
              <a:lnSpc>
                <a:spcPct val="100000"/>
              </a:lnSpc>
              <a:spcBef>
                <a:spcPct val="0"/>
              </a:spcBef>
              <a:spcAft>
                <a:spcPct val="0"/>
              </a:spcAft>
              <a:buNone/>
            </a:pPr>
            <a:r>
              <a:rPr lang="en-US" altLang="en-US" sz="2400" b="1" dirty="0"/>
              <a:t>Man-made Information </a:t>
            </a:r>
            <a:r>
              <a:rPr lang="en-US" altLang="en-US" sz="2400" b="1" dirty="0" smtClean="0"/>
              <a:t>System</a:t>
            </a:r>
            <a:r>
              <a:rPr lang="en-US" altLang="en-US" sz="2400" dirty="0" smtClean="0"/>
              <a:t>: </a:t>
            </a:r>
            <a:r>
              <a:rPr lang="en-US" altLang="en-US" sz="2400" dirty="0"/>
              <a:t>It is generally believed that the information reduces uncertainty about a state or event. An information system is the basis for interaction between the user and the analyst. It determines the nature of relationship among </a:t>
            </a:r>
            <a:r>
              <a:rPr lang="en-US" altLang="en-US" sz="2400" dirty="0" smtClean="0"/>
              <a:t>decision-makers. </a:t>
            </a:r>
            <a:endParaRPr lang="en-US" altLang="en-US" sz="2400" dirty="0"/>
          </a:p>
          <a:p>
            <a:pPr marL="0" lvl="0" indent="0" algn="just" defTabSz="914400" eaLnBrk="0" fontAlgn="base" hangingPunct="0">
              <a:lnSpc>
                <a:spcPct val="100000"/>
              </a:lnSpc>
              <a:spcBef>
                <a:spcPct val="0"/>
              </a:spcBef>
              <a:spcAft>
                <a:spcPct val="0"/>
              </a:spcAft>
              <a:buNone/>
            </a:pPr>
            <a:r>
              <a:rPr lang="en-US" altLang="en-US" sz="2400" dirty="0"/>
              <a:t>An information system may be defined as a set of devices, </a:t>
            </a:r>
            <a:r>
              <a:rPr lang="en-US" altLang="en-US" sz="2400" dirty="0" smtClean="0"/>
              <a:t>procedures, </a:t>
            </a:r>
            <a:r>
              <a:rPr lang="en-US" altLang="en-US" sz="2400" dirty="0"/>
              <a:t>and operating </a:t>
            </a:r>
            <a:r>
              <a:rPr lang="en-US" altLang="en-US" sz="2400" dirty="0" smtClean="0"/>
              <a:t>systems </a:t>
            </a:r>
            <a:r>
              <a:rPr lang="en-US" altLang="en-US" sz="2400" dirty="0"/>
              <a:t>designed around user-base criteria to produce information and </a:t>
            </a:r>
            <a:r>
              <a:rPr lang="en-US" altLang="en-US" sz="2400" dirty="0" smtClean="0"/>
              <a:t>communicate </a:t>
            </a:r>
            <a:r>
              <a:rPr lang="en-US" altLang="en-US" sz="2400" dirty="0"/>
              <a:t>it to the user for </a:t>
            </a:r>
            <a:r>
              <a:rPr lang="en-US" altLang="en-US" sz="2400" dirty="0" smtClean="0"/>
              <a:t>planning, control, </a:t>
            </a:r>
            <a:r>
              <a:rPr lang="en-US" altLang="en-US" sz="2400" dirty="0"/>
              <a:t>and performance </a:t>
            </a:r>
          </a:p>
          <a:p>
            <a:endParaRPr lang="en-US" sz="2400" dirty="0"/>
          </a:p>
        </p:txBody>
      </p:sp>
    </p:spTree>
    <p:extLst>
      <p:ext uri="{BB962C8B-B14F-4D97-AF65-F5344CB8AC3E}">
        <p14:creationId xmlns:p14="http://schemas.microsoft.com/office/powerpoint/2010/main" val="40003296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324" y="0"/>
            <a:ext cx="7715251" cy="752475"/>
          </a:xfrm>
        </p:spPr>
        <p:txBody>
          <a:bodyPr>
            <a:noAutofit/>
          </a:bodyPr>
          <a:lstStyle/>
          <a:p>
            <a:r>
              <a:rPr lang="en-US" sz="4000" cap="none" dirty="0" smtClean="0">
                <a:solidFill>
                  <a:srgbClr val="0070C0"/>
                </a:solidFill>
              </a:rPr>
              <a:t>Definition of An Information System</a:t>
            </a:r>
            <a:endParaRPr lang="en-US" sz="4000" cap="none" dirty="0">
              <a:solidFill>
                <a:srgbClr val="0070C0"/>
              </a:solidFill>
            </a:endParaRPr>
          </a:p>
        </p:txBody>
      </p:sp>
      <p:sp>
        <p:nvSpPr>
          <p:cNvPr id="3" name="Content Placeholder 2"/>
          <p:cNvSpPr>
            <a:spLocks noGrp="1"/>
          </p:cNvSpPr>
          <p:nvPr>
            <p:ph idx="1"/>
          </p:nvPr>
        </p:nvSpPr>
        <p:spPr>
          <a:xfrm>
            <a:off x="76200" y="1096419"/>
            <a:ext cx="9067799" cy="5656805"/>
          </a:xfrm>
        </p:spPr>
        <p:txBody>
          <a:bodyPr>
            <a:noAutofit/>
          </a:bodyPr>
          <a:lstStyle/>
          <a:p>
            <a:pPr marL="217172" lvl="1" indent="-285750" algn="just">
              <a:spcBef>
                <a:spcPts val="750"/>
              </a:spcBef>
              <a:buFont typeface="Wingdings" panose="05000000000000000000" pitchFamily="2" charset="2"/>
              <a:buChar char="Ø"/>
            </a:pPr>
            <a:r>
              <a:rPr lang="en-US" altLang="en-US" sz="2200" dirty="0" smtClean="0">
                <a:latin typeface="Times New Roman" panose="02020603050405020304" pitchFamily="18" charset="0"/>
                <a:cs typeface="Times New Roman" panose="02020603050405020304" pitchFamily="18" charset="0"/>
              </a:rPr>
              <a:t>A set of interrelated components that collect, manipulate, and disseminate data and information and provide feedback to meet an objective.</a:t>
            </a:r>
          </a:p>
          <a:p>
            <a:pPr algn="just">
              <a:buFont typeface="Wingdings" panose="05000000000000000000" pitchFamily="2" charset="2"/>
              <a:buChar char="Ø"/>
            </a:pPr>
            <a:r>
              <a:rPr lang="en-US" altLang="en-US" sz="2200" dirty="0">
                <a:latin typeface="Times New Roman" panose="02020603050405020304" pitchFamily="18" charset="0"/>
                <a:cs typeface="Times New Roman" panose="02020603050405020304" pitchFamily="18" charset="0"/>
              </a:rPr>
              <a:t>An organized combination of People, Hardware, Software, </a:t>
            </a:r>
            <a:r>
              <a:rPr lang="en-US" altLang="en-US" sz="2200" dirty="0" smtClean="0">
                <a:latin typeface="Times New Roman" panose="02020603050405020304" pitchFamily="18" charset="0"/>
                <a:cs typeface="Times New Roman" panose="02020603050405020304" pitchFamily="18" charset="0"/>
              </a:rPr>
              <a:t>Communication </a:t>
            </a:r>
            <a:r>
              <a:rPr lang="en-US" altLang="en-US" sz="2200" dirty="0">
                <a:latin typeface="Times New Roman" panose="02020603050405020304" pitchFamily="18" charset="0"/>
                <a:cs typeface="Times New Roman" panose="02020603050405020304" pitchFamily="18" charset="0"/>
              </a:rPr>
              <a:t>networks, </a:t>
            </a:r>
            <a:r>
              <a:rPr lang="en-US" altLang="en-US" sz="2200" dirty="0" smtClean="0">
                <a:latin typeface="Times New Roman" panose="02020603050405020304" pitchFamily="18" charset="0"/>
                <a:cs typeface="Times New Roman" panose="02020603050405020304" pitchFamily="18" charset="0"/>
              </a:rPr>
              <a:t>data resources, Policies, </a:t>
            </a:r>
            <a:r>
              <a:rPr lang="en-US" altLang="en-US" sz="2200" dirty="0">
                <a:latin typeface="Times New Roman" panose="02020603050405020304" pitchFamily="18" charset="0"/>
                <a:cs typeface="Times New Roman" panose="02020603050405020304" pitchFamily="18" charset="0"/>
              </a:rPr>
              <a:t>and </a:t>
            </a:r>
            <a:r>
              <a:rPr lang="en-US" altLang="en-US" sz="2200" dirty="0" smtClean="0">
                <a:latin typeface="Times New Roman" panose="02020603050405020304" pitchFamily="18" charset="0"/>
                <a:cs typeface="Times New Roman" panose="02020603050405020304" pitchFamily="18" charset="0"/>
              </a:rPr>
              <a:t>procedures that </a:t>
            </a:r>
            <a:r>
              <a:rPr lang="en-US" altLang="en-US" sz="2200" dirty="0">
                <a:latin typeface="Times New Roman" panose="02020603050405020304" pitchFamily="18" charset="0"/>
                <a:cs typeface="Times New Roman" panose="02020603050405020304" pitchFamily="18" charset="0"/>
              </a:rPr>
              <a:t>stores, retrieves, transforms, and disseminates information in an organization</a:t>
            </a:r>
          </a:p>
          <a:p>
            <a:pPr marL="342900" lvl="1" indent="-342900" algn="just">
              <a:spcBef>
                <a:spcPts val="750"/>
              </a:spcBef>
              <a:buFont typeface="Wingdings" panose="05000000000000000000" pitchFamily="2" charset="2"/>
              <a:buChar char="ü"/>
            </a:pPr>
            <a:r>
              <a:rPr lang="en-US" sz="2200" dirty="0" smtClean="0">
                <a:latin typeface="Times New Roman" panose="02020603050405020304" pitchFamily="18" charset="0"/>
                <a:cs typeface="Times New Roman" panose="02020603050405020304" pitchFamily="18" charset="0"/>
              </a:rPr>
              <a:t>People depend on modern IS to communicate with each other using a variety of physical devices (hardware), information processing instructions &amp; procedures (software), communication channels (networks) &amp; stored data (data resources). </a:t>
            </a:r>
          </a:p>
          <a:p>
            <a:pPr>
              <a:lnSpc>
                <a:spcPct val="100000"/>
              </a:lnSpc>
            </a:pPr>
            <a:r>
              <a:rPr lang="en-US" altLang="en-US" sz="2200" dirty="0" smtClean="0">
                <a:latin typeface="Times New Roman" panose="02020603050405020304" pitchFamily="18" charset="0"/>
                <a:cs typeface="Times New Roman" panose="02020603050405020304" pitchFamily="18" charset="0"/>
              </a:rPr>
              <a:t>An information </a:t>
            </a:r>
            <a:r>
              <a:rPr lang="en-US" altLang="en-US" sz="2200" dirty="0">
                <a:latin typeface="Times New Roman" panose="02020603050405020304" pitchFamily="18" charset="0"/>
                <a:cs typeface="Times New Roman" panose="02020603050405020304" pitchFamily="18" charset="0"/>
              </a:rPr>
              <a:t>system (IS) is a set of interrelated elements that: </a:t>
            </a:r>
          </a:p>
          <a:p>
            <a:pPr lvl="1">
              <a:lnSpc>
                <a:spcPct val="100000"/>
              </a:lnSpc>
            </a:pPr>
            <a:r>
              <a:rPr lang="en-US" altLang="en-US" sz="2200" dirty="0">
                <a:latin typeface="Times New Roman" panose="02020603050405020304" pitchFamily="18" charset="0"/>
                <a:cs typeface="Times New Roman" panose="02020603050405020304" pitchFamily="18" charset="0"/>
              </a:rPr>
              <a:t>Collect (input)</a:t>
            </a:r>
          </a:p>
          <a:p>
            <a:pPr lvl="1">
              <a:lnSpc>
                <a:spcPct val="100000"/>
              </a:lnSpc>
            </a:pPr>
            <a:r>
              <a:rPr lang="en-US" altLang="en-US" sz="2200" dirty="0">
                <a:latin typeface="Times New Roman" panose="02020603050405020304" pitchFamily="18" charset="0"/>
                <a:cs typeface="Times New Roman" panose="02020603050405020304" pitchFamily="18" charset="0"/>
              </a:rPr>
              <a:t>Manipulate (process)</a:t>
            </a:r>
          </a:p>
          <a:p>
            <a:pPr lvl="1">
              <a:lnSpc>
                <a:spcPct val="100000"/>
              </a:lnSpc>
            </a:pPr>
            <a:r>
              <a:rPr lang="en-US" altLang="en-US" sz="2200" dirty="0">
                <a:latin typeface="Times New Roman" panose="02020603050405020304" pitchFamily="18" charset="0"/>
                <a:cs typeface="Times New Roman" panose="02020603050405020304" pitchFamily="18" charset="0"/>
              </a:rPr>
              <a:t>Store</a:t>
            </a:r>
          </a:p>
          <a:p>
            <a:pPr lvl="1">
              <a:lnSpc>
                <a:spcPct val="100000"/>
              </a:lnSpc>
            </a:pPr>
            <a:r>
              <a:rPr lang="en-US" altLang="en-US" sz="2200" dirty="0">
                <a:latin typeface="Times New Roman" panose="02020603050405020304" pitchFamily="18" charset="0"/>
                <a:cs typeface="Times New Roman" panose="02020603050405020304" pitchFamily="18" charset="0"/>
              </a:rPr>
              <a:t>Disseminate (output) data and information</a:t>
            </a:r>
          </a:p>
          <a:p>
            <a:pPr lvl="1">
              <a:lnSpc>
                <a:spcPct val="100000"/>
              </a:lnSpc>
            </a:pPr>
            <a:r>
              <a:rPr lang="en-US" altLang="en-US" sz="2200" dirty="0">
                <a:latin typeface="Times New Roman" panose="02020603050405020304" pitchFamily="18" charset="0"/>
                <a:cs typeface="Times New Roman" panose="02020603050405020304" pitchFamily="18" charset="0"/>
              </a:rPr>
              <a:t>Provide a corrective reaction (feedback mechanism) to meet an </a:t>
            </a:r>
            <a:r>
              <a:rPr lang="en-US" altLang="en-US" sz="2200" dirty="0" smtClean="0">
                <a:latin typeface="Times New Roman" panose="02020603050405020304" pitchFamily="18" charset="0"/>
                <a:cs typeface="Times New Roman" panose="02020603050405020304" pitchFamily="18" charset="0"/>
              </a:rPr>
              <a:t>objective</a:t>
            </a:r>
            <a:endParaRPr lang="en-US" alt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11227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3874" y="300625"/>
            <a:ext cx="7991476" cy="5789279"/>
          </a:xfrm>
        </p:spPr>
        <p:txBody>
          <a:bodyPr>
            <a:normAutofit/>
          </a:bodyPr>
          <a:lstStyle/>
          <a:p>
            <a:pPr algn="just"/>
            <a:endParaRPr lang="en-US" sz="2800" b="1" dirty="0" smtClean="0"/>
          </a:p>
          <a:p>
            <a:pPr algn="just"/>
            <a:r>
              <a:rPr lang="en-US" sz="2800" b="1" dirty="0" smtClean="0"/>
              <a:t>Information systems</a:t>
            </a:r>
            <a:r>
              <a:rPr lang="en-US" sz="2800" dirty="0" smtClean="0"/>
              <a:t> are combinations of hardware, software, and telecommunications networks that people build and use to collect, create, and distribute useful data, typically in organizational settings. </a:t>
            </a:r>
          </a:p>
          <a:p>
            <a:pPr algn="just"/>
            <a:r>
              <a:rPr lang="en-US" sz="2800" dirty="0" smtClean="0"/>
              <a:t>In our modern life information system is necessary. We can’t pass a day without this. Technology can be thought of as the application of scientific knowledge for practical purposes. </a:t>
            </a:r>
            <a:endParaRPr lang="en-US" sz="2800" dirty="0"/>
          </a:p>
        </p:txBody>
      </p:sp>
    </p:spTree>
    <p:extLst>
      <p:ext uri="{BB962C8B-B14F-4D97-AF65-F5344CB8AC3E}">
        <p14:creationId xmlns:p14="http://schemas.microsoft.com/office/powerpoint/2010/main" val="26076386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912" y="90517"/>
            <a:ext cx="7854279" cy="955655"/>
          </a:xfrm>
        </p:spPr>
        <p:txBody>
          <a:bodyPr>
            <a:noAutofit/>
          </a:bodyPr>
          <a:lstStyle/>
          <a:p>
            <a:r>
              <a:rPr lang="en-US" sz="4000" cap="none" dirty="0" smtClean="0"/>
              <a:t>Data, Information and Knowledge</a:t>
            </a:r>
            <a:endParaRPr lang="en-US" sz="4000" cap="none" dirty="0"/>
          </a:p>
        </p:txBody>
      </p:sp>
      <p:sp>
        <p:nvSpPr>
          <p:cNvPr id="3" name="Content Placeholder 2"/>
          <p:cNvSpPr>
            <a:spLocks noGrp="1"/>
          </p:cNvSpPr>
          <p:nvPr>
            <p:ph idx="1"/>
          </p:nvPr>
        </p:nvSpPr>
        <p:spPr>
          <a:xfrm>
            <a:off x="823911" y="1524000"/>
            <a:ext cx="8158164" cy="4552950"/>
          </a:xfrm>
        </p:spPr>
        <p:txBody>
          <a:bodyPr>
            <a:noAutofit/>
          </a:bodyPr>
          <a:lstStyle/>
          <a:p>
            <a:pPr marL="0" indent="0" algn="just">
              <a:buClr>
                <a:schemeClr val="tx1"/>
              </a:buClr>
              <a:buNone/>
            </a:pPr>
            <a:r>
              <a:rPr lang="en-US" altLang="en-US" sz="2200" b="1" dirty="0" smtClean="0">
                <a:latin typeface="Times New Roman" panose="02020603050405020304" pitchFamily="18" charset="0"/>
                <a:cs typeface="Times New Roman" panose="02020603050405020304" pitchFamily="18" charset="0"/>
              </a:rPr>
              <a:t>Data: </a:t>
            </a:r>
            <a:r>
              <a:rPr lang="en-US" sz="2200" dirty="0" smtClean="0">
                <a:latin typeface="Times New Roman" panose="02020603050405020304" pitchFamily="18" charset="0"/>
                <a:cs typeface="Times New Roman" panose="02020603050405020304" pitchFamily="18" charset="0"/>
              </a:rPr>
              <a:t>Data are raw facts about physical phenomena or business transactions. Data can be represented in numerous forms. Alphanumeric data e.g. Numbers, Letters &amp; other characters. Image data  e.g. graphic images &amp; Pictures Audio, Sound, Voice, Video data</a:t>
            </a:r>
          </a:p>
          <a:p>
            <a:pPr marL="0" indent="0" algn="just">
              <a:buClr>
                <a:schemeClr val="tx1"/>
              </a:buClr>
              <a:buNone/>
            </a:pPr>
            <a:r>
              <a:rPr lang="en-US" altLang="en-US" sz="2200" b="1" dirty="0" smtClean="0">
                <a:latin typeface="Times New Roman" panose="02020603050405020304" pitchFamily="18" charset="0"/>
                <a:cs typeface="Times New Roman" panose="02020603050405020304" pitchFamily="18" charset="0"/>
              </a:rPr>
              <a:t>Information: </a:t>
            </a:r>
            <a:r>
              <a:rPr lang="en-US" sz="2200" dirty="0" smtClean="0">
                <a:latin typeface="Times New Roman" panose="02020603050405020304" pitchFamily="18" charset="0"/>
                <a:cs typeface="Times New Roman" panose="02020603050405020304" pitchFamily="18" charset="0"/>
              </a:rPr>
              <a:t> is data that has been converted into meaningful and useful context for end users. </a:t>
            </a:r>
            <a:r>
              <a:rPr lang="en-US" altLang="en-US" sz="2200" dirty="0" smtClean="0">
                <a:latin typeface="Times New Roman" panose="02020603050405020304" pitchFamily="18" charset="0"/>
                <a:cs typeface="Times New Roman" panose="02020603050405020304" pitchFamily="18" charset="0"/>
              </a:rPr>
              <a:t>Or Collection of facts organized in such a way that they have value beyond the facts themselves</a:t>
            </a:r>
          </a:p>
          <a:p>
            <a:pPr marL="61724" indent="0" algn="just">
              <a:buNone/>
              <a:defRPr/>
            </a:pPr>
            <a:r>
              <a:rPr lang="en-US" sz="2200" dirty="0">
                <a:latin typeface="Times New Roman" panose="02020603050405020304" pitchFamily="18" charset="0"/>
                <a:cs typeface="Times New Roman" panose="02020603050405020304" pitchFamily="18" charset="0"/>
              </a:rPr>
              <a:t>Examples:</a:t>
            </a:r>
          </a:p>
          <a:p>
            <a:pPr lvl="1" indent="-178310" algn="just">
              <a:buFont typeface="Verdana"/>
              <a:buChar char="◦"/>
              <a:defRPr/>
            </a:pPr>
            <a:r>
              <a:rPr lang="en-US" sz="2200" dirty="0">
                <a:latin typeface="Times New Roman" panose="02020603050405020304" pitchFamily="18" charset="0"/>
                <a:cs typeface="Times New Roman" panose="02020603050405020304" pitchFamily="18" charset="0"/>
              </a:rPr>
              <a:t>Sales </a:t>
            </a:r>
            <a:r>
              <a:rPr lang="en-US" sz="2200" dirty="0" smtClean="0">
                <a:latin typeface="Times New Roman" panose="02020603050405020304" pitchFamily="18" charset="0"/>
                <a:cs typeface="Times New Roman" panose="02020603050405020304" pitchFamily="18" charset="0"/>
              </a:rPr>
              <a:t>data are </a:t>
            </a:r>
            <a:r>
              <a:rPr lang="en-US" sz="2200" dirty="0" smtClean="0">
                <a:latin typeface="Times New Roman" panose="02020603050405020304" pitchFamily="18" charset="0"/>
                <a:cs typeface="Times New Roman" panose="02020603050405020304" pitchFamily="18" charset="0"/>
              </a:rPr>
              <a:t>the names</a:t>
            </a:r>
            <a:r>
              <a:rPr lang="en-US" sz="2200" dirty="0">
                <a:latin typeface="Times New Roman" panose="02020603050405020304" pitchFamily="18" charset="0"/>
                <a:cs typeface="Times New Roman" panose="02020603050405020304" pitchFamily="18" charset="0"/>
              </a:rPr>
              <a:t>, quantities, and dollar amounts</a:t>
            </a:r>
          </a:p>
          <a:p>
            <a:pPr lvl="1" indent="-178310" algn="just">
              <a:buFont typeface="Verdana"/>
              <a:buChar char="◦"/>
              <a:defRPr/>
            </a:pPr>
            <a:r>
              <a:rPr lang="en-US" sz="2200" dirty="0">
                <a:latin typeface="Times New Roman" panose="02020603050405020304" pitchFamily="18" charset="0"/>
                <a:cs typeface="Times New Roman" panose="02020603050405020304" pitchFamily="18" charset="0"/>
              </a:rPr>
              <a:t>Sales information </a:t>
            </a:r>
            <a:r>
              <a:rPr lang="en-US" sz="2200" dirty="0" smtClean="0">
                <a:latin typeface="Times New Roman" panose="02020603050405020304" pitchFamily="18" charset="0"/>
                <a:cs typeface="Times New Roman" panose="02020603050405020304" pitchFamily="18" charset="0"/>
              </a:rPr>
              <a:t>are</a:t>
            </a:r>
            <a:r>
              <a:rPr lang="en-US" sz="2200" dirty="0" smtClean="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the a mount </a:t>
            </a:r>
            <a:r>
              <a:rPr lang="en-US" sz="2200" dirty="0">
                <a:latin typeface="Times New Roman" panose="02020603050405020304" pitchFamily="18" charset="0"/>
                <a:cs typeface="Times New Roman" panose="02020603050405020304" pitchFamily="18" charset="0"/>
              </a:rPr>
              <a:t>of sales by product type, sales territory, or salesperson</a:t>
            </a:r>
          </a:p>
          <a:p>
            <a:pPr marL="0" indent="0" algn="just">
              <a:buNone/>
            </a:pPr>
            <a:r>
              <a:rPr lang="en-US" altLang="en-US" sz="2200" dirty="0" smtClean="0">
                <a:latin typeface="Times New Roman" panose="02020603050405020304" pitchFamily="18" charset="0"/>
                <a:cs typeface="Times New Roman" panose="02020603050405020304" pitchFamily="18" charset="0"/>
              </a:rPr>
              <a:t>Knowledge: M</a:t>
            </a:r>
            <a:r>
              <a:rPr lang="en-US" altLang="en-US" sz="2200" dirty="0" smtClean="0">
                <a:latin typeface="Times New Roman" panose="02020603050405020304" pitchFamily="18" charset="0"/>
                <a:cs typeface="Times New Roman" panose="02020603050405020304" pitchFamily="18" charset="0"/>
              </a:rPr>
              <a:t>eans</a:t>
            </a:r>
            <a:r>
              <a:rPr lang="en-US" altLang="en-US" sz="2200" dirty="0" smtClean="0">
                <a:latin typeface="Times New Roman" panose="02020603050405020304" pitchFamily="18" charset="0"/>
                <a:cs typeface="Times New Roman" panose="02020603050405020304" pitchFamily="18" charset="0"/>
              </a:rPr>
              <a:t> awareness </a:t>
            </a:r>
            <a:r>
              <a:rPr lang="en-US" altLang="en-US" sz="2200" dirty="0" smtClean="0">
                <a:latin typeface="Times New Roman" panose="02020603050405020304" pitchFamily="18" charset="0"/>
                <a:cs typeface="Times New Roman" panose="02020603050405020304" pitchFamily="18" charset="0"/>
              </a:rPr>
              <a:t>and understanding of a set of information</a:t>
            </a:r>
          </a:p>
          <a:p>
            <a:pPr algn="just"/>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34021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875" y="66675"/>
            <a:ext cx="7873329" cy="581025"/>
          </a:xfrm>
        </p:spPr>
        <p:txBody>
          <a:bodyPr>
            <a:normAutofit/>
          </a:bodyPr>
          <a:lstStyle/>
          <a:p>
            <a:pPr lvl="0"/>
            <a:r>
              <a:rPr lang="en-US" altLang="en-US" sz="2400" b="1" cap="none" dirty="0" smtClean="0">
                <a:latin typeface="Arial" panose="020B0604020202020204" pitchFamily="34" charset="0"/>
              </a:rPr>
              <a:t>Characteristics Of Good Information</a:t>
            </a:r>
            <a:endParaRPr lang="en-US" sz="2400" cap="none" dirty="0"/>
          </a:p>
        </p:txBody>
      </p:sp>
      <p:sp>
        <p:nvSpPr>
          <p:cNvPr id="3" name="Content Placeholder 2"/>
          <p:cNvSpPr>
            <a:spLocks noGrp="1"/>
          </p:cNvSpPr>
          <p:nvPr>
            <p:ph idx="1"/>
          </p:nvPr>
        </p:nvSpPr>
        <p:spPr>
          <a:xfrm>
            <a:off x="685800" y="1067605"/>
            <a:ext cx="8092404" cy="5590370"/>
          </a:xfrm>
        </p:spPr>
        <p:txBody>
          <a:bodyPr>
            <a:noAutofit/>
          </a:bodyPr>
          <a:lstStyle/>
          <a:p>
            <a:pPr marL="0" indent="0" algn="just" eaLnBrk="0" fontAlgn="base" hangingPunct="0">
              <a:lnSpc>
                <a:spcPct val="100000"/>
              </a:lnSpc>
              <a:spcBef>
                <a:spcPct val="0"/>
              </a:spcBef>
              <a:spcAft>
                <a:spcPct val="0"/>
              </a:spcAft>
              <a:buNone/>
            </a:pPr>
            <a:r>
              <a:rPr lang="en-US" altLang="en-US" sz="2400" b="1" dirty="0"/>
              <a:t>Completeness</a:t>
            </a:r>
            <a:r>
              <a:rPr lang="en-US" altLang="en-US" sz="2400" dirty="0"/>
              <a:t>: E</a:t>
            </a:r>
            <a:r>
              <a:rPr lang="en-US" altLang="en-US" sz="2400" dirty="0" smtClean="0"/>
              <a:t>ffective Information must </a:t>
            </a:r>
            <a:r>
              <a:rPr lang="en-US" altLang="en-US" sz="2400" dirty="0"/>
              <a:t>present all the most relevant and useful information for a particular decision. It should contain all the facts that are necessary for the </a:t>
            </a:r>
            <a:r>
              <a:rPr lang="en-US" altLang="en-US" sz="2400" dirty="0" smtClean="0"/>
              <a:t>decision-makers </a:t>
            </a:r>
            <a:r>
              <a:rPr lang="en-US" altLang="en-US" sz="2400" dirty="0"/>
              <a:t>to satisfactorily solve the problem at hand using such information. Nothing important should be left out. Although information cannot always be complete, every reasonable effort should be made to obtain it</a:t>
            </a:r>
            <a:r>
              <a:rPr lang="en-US" altLang="en-US" sz="2400" dirty="0" smtClean="0"/>
              <a:t>.</a:t>
            </a:r>
          </a:p>
          <a:p>
            <a:pPr marL="0" indent="0" algn="just" eaLnBrk="0" fontAlgn="base" hangingPunct="0">
              <a:lnSpc>
                <a:spcPct val="100000"/>
              </a:lnSpc>
              <a:spcBef>
                <a:spcPct val="0"/>
              </a:spcBef>
              <a:spcAft>
                <a:spcPct val="0"/>
              </a:spcAft>
              <a:buNone/>
            </a:pPr>
            <a:endParaRPr lang="en-US" altLang="en-US" sz="2400" dirty="0"/>
          </a:p>
          <a:p>
            <a:pPr marL="0" indent="0" algn="just" eaLnBrk="0" fontAlgn="base" hangingPunct="0">
              <a:lnSpc>
                <a:spcPct val="100000"/>
              </a:lnSpc>
              <a:spcBef>
                <a:spcPct val="0"/>
              </a:spcBef>
              <a:spcAft>
                <a:spcPct val="0"/>
              </a:spcAft>
              <a:buNone/>
            </a:pPr>
            <a:r>
              <a:rPr lang="en-US" altLang="en-US" sz="2400" b="1" dirty="0"/>
              <a:t>Timeliness:</a:t>
            </a:r>
            <a:r>
              <a:rPr lang="en-US" altLang="en-US" sz="2400" dirty="0"/>
              <a:t> Information must be delivered at the right time and the right place to the right person. Premature information can become obsolete or be forgotten by the time it is actually needed. Similarly, some crucial decisions can be delayed because proper and necessary information is not available in time, resulting in missed opportunities</a:t>
            </a:r>
            <a:r>
              <a:rPr lang="en-US" altLang="en-US" sz="2400" dirty="0" smtClean="0"/>
              <a:t>.</a:t>
            </a:r>
            <a:endParaRPr lang="en-US" altLang="en-US" sz="2400" dirty="0"/>
          </a:p>
        </p:txBody>
      </p:sp>
      <p:sp>
        <p:nvSpPr>
          <p:cNvPr id="5" name="Rectangle 2"/>
          <p:cNvSpPr>
            <a:spLocks noChangeArrowheads="1"/>
          </p:cNvSpPr>
          <p:nvPr/>
        </p:nvSpPr>
        <p:spPr bwMode="auto">
          <a:xfrm>
            <a:off x="1" y="1067604"/>
            <a:ext cx="138564" cy="27699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Tree>
    <p:extLst>
      <p:ext uri="{BB962C8B-B14F-4D97-AF65-F5344CB8AC3E}">
        <p14:creationId xmlns:p14="http://schemas.microsoft.com/office/powerpoint/2010/main" val="18556633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04875" y="117408"/>
            <a:ext cx="7873329" cy="499259"/>
          </a:xfrm>
        </p:spPr>
        <p:txBody>
          <a:bodyPr>
            <a:normAutofit/>
          </a:bodyPr>
          <a:lstStyle/>
          <a:p>
            <a:pPr lvl="0"/>
            <a:r>
              <a:rPr lang="en-US" altLang="en-US" sz="2400" b="1" cap="none" dirty="0" smtClean="0">
                <a:latin typeface="Arial" panose="020B0604020202020204" pitchFamily="34" charset="0"/>
              </a:rPr>
              <a:t>Characteristics Of Good Information</a:t>
            </a:r>
            <a:endParaRPr lang="en-US" sz="2400" cap="none" dirty="0"/>
          </a:p>
        </p:txBody>
      </p:sp>
      <p:sp>
        <p:nvSpPr>
          <p:cNvPr id="3" name="Content Placeholder 2"/>
          <p:cNvSpPr>
            <a:spLocks noGrp="1"/>
          </p:cNvSpPr>
          <p:nvPr>
            <p:ph idx="1"/>
          </p:nvPr>
        </p:nvSpPr>
        <p:spPr>
          <a:xfrm>
            <a:off x="304800" y="817974"/>
            <a:ext cx="8473404" cy="5725701"/>
          </a:xfrm>
        </p:spPr>
        <p:txBody>
          <a:bodyPr>
            <a:noAutofit/>
          </a:bodyPr>
          <a:lstStyle/>
          <a:p>
            <a:pPr marL="0" indent="0" algn="just">
              <a:buNone/>
            </a:pPr>
            <a:r>
              <a:rPr lang="en-US" altLang="en-US" b="1" dirty="0"/>
              <a:t>Accuracy:</a:t>
            </a:r>
            <a:r>
              <a:rPr lang="en-US" altLang="en-US" dirty="0"/>
              <a:t> A key measure of the effectiveness of an I.S. is the accuracy of its information. Accurate information helps businesses make the correct decisions. If a sales department sent inaccurate sales figures to the finance department this might result in incorrect profit and/or tax calculations for the company that would put them in danger</a:t>
            </a:r>
            <a:r>
              <a:rPr lang="en-US" altLang="en-US" dirty="0" smtClean="0"/>
              <a:t>.</a:t>
            </a:r>
          </a:p>
          <a:p>
            <a:pPr marL="0" indent="0" algn="just">
              <a:buNone/>
            </a:pPr>
            <a:r>
              <a:rPr lang="en-US" altLang="en-US" b="1" dirty="0"/>
              <a:t>Clarity and concise:</a:t>
            </a:r>
            <a:r>
              <a:rPr lang="en-US" altLang="en-US" dirty="0"/>
              <a:t> Information should be to the point and just enough. It must be understood by the receiver so that he will interpret it correctly. Information that is used for a business purpose needs to be understandable by the end user. He must be able to decode any abbreviations, shorthand notations or any other acronyms contained in the </a:t>
            </a:r>
            <a:r>
              <a:rPr lang="en-US" altLang="en-US" dirty="0" smtClean="0"/>
              <a:t>information.</a:t>
            </a:r>
          </a:p>
          <a:p>
            <a:pPr marL="0" indent="0" algn="just">
              <a:buNone/>
            </a:pPr>
            <a:r>
              <a:rPr lang="en-US" altLang="en-US" b="1" dirty="0"/>
              <a:t>Relevance:</a:t>
            </a:r>
            <a:r>
              <a:rPr lang="en-US" altLang="en-US" dirty="0"/>
              <a:t> Relevant information is information that is directly related to your business need. The information a manager receives from an MIS has to relate to the decisions the manager has to make. For example, if a manager wants a summary </a:t>
            </a:r>
            <a:r>
              <a:rPr lang="en-US" altLang="en-US" dirty="0" smtClean="0"/>
              <a:t>of the </a:t>
            </a:r>
            <a:r>
              <a:rPr lang="en-US" altLang="en-US" dirty="0"/>
              <a:t>sales figures for the last 6 months, then the information that has the right level of detail might show the overall sales figures for each month and the grand total added together.</a:t>
            </a:r>
          </a:p>
          <a:p>
            <a:pPr marL="0" indent="0" algn="just">
              <a:buNone/>
            </a:pPr>
            <a:endParaRPr lang="en-US" altLang="en-US" dirty="0"/>
          </a:p>
          <a:p>
            <a:pPr algn="just"/>
            <a:endParaRPr lang="en-US" dirty="0"/>
          </a:p>
        </p:txBody>
      </p:sp>
    </p:spTree>
    <p:extLst>
      <p:ext uri="{BB962C8B-B14F-4D97-AF65-F5344CB8AC3E}">
        <p14:creationId xmlns:p14="http://schemas.microsoft.com/office/powerpoint/2010/main" val="24906014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14399" y="314041"/>
            <a:ext cx="7873329" cy="499259"/>
          </a:xfrm>
        </p:spPr>
        <p:txBody>
          <a:bodyPr>
            <a:normAutofit/>
          </a:bodyPr>
          <a:lstStyle/>
          <a:p>
            <a:pPr lvl="0"/>
            <a:r>
              <a:rPr lang="en-US" altLang="en-US" sz="2400" b="1" cap="none" dirty="0" smtClean="0">
                <a:latin typeface="Arial" panose="020B0604020202020204" pitchFamily="34" charset="0"/>
              </a:rPr>
              <a:t>Characteristics Of Good Information</a:t>
            </a:r>
            <a:endParaRPr lang="en-US" sz="2400" cap="none" dirty="0"/>
          </a:p>
        </p:txBody>
      </p:sp>
      <p:sp>
        <p:nvSpPr>
          <p:cNvPr id="3" name="Content Placeholder 2"/>
          <p:cNvSpPr>
            <a:spLocks noGrp="1"/>
          </p:cNvSpPr>
          <p:nvPr>
            <p:ph idx="1"/>
          </p:nvPr>
        </p:nvSpPr>
        <p:spPr>
          <a:xfrm>
            <a:off x="914399" y="563671"/>
            <a:ext cx="7536431" cy="5937504"/>
          </a:xfrm>
        </p:spPr>
        <p:txBody>
          <a:bodyPr>
            <a:noAutofit/>
          </a:bodyPr>
          <a:lstStyle/>
          <a:p>
            <a:pPr marL="0" indent="0" algn="just" eaLnBrk="0" fontAlgn="base" hangingPunct="0">
              <a:lnSpc>
                <a:spcPct val="100000"/>
              </a:lnSpc>
              <a:spcBef>
                <a:spcPct val="0"/>
              </a:spcBef>
              <a:spcAft>
                <a:spcPct val="0"/>
              </a:spcAft>
              <a:buNone/>
            </a:pPr>
            <a:r>
              <a:rPr lang="en-US" altLang="en-US" sz="2400" dirty="0" smtClean="0"/>
              <a:t>.</a:t>
            </a:r>
            <a:endParaRPr lang="en-US" altLang="en-US" sz="2400" dirty="0"/>
          </a:p>
          <a:p>
            <a:pPr marL="0" indent="0" algn="just" eaLnBrk="0" fontAlgn="base" hangingPunct="0">
              <a:lnSpc>
                <a:spcPct val="100000"/>
              </a:lnSpc>
              <a:spcBef>
                <a:spcPct val="0"/>
              </a:spcBef>
              <a:spcAft>
                <a:spcPct val="0"/>
              </a:spcAft>
              <a:buNone/>
            </a:pPr>
            <a:r>
              <a:rPr lang="en-US" altLang="en-US" sz="2400" b="1" dirty="0" smtClean="0"/>
              <a:t>Trustworthiness</a:t>
            </a:r>
            <a:r>
              <a:rPr lang="en-US" altLang="en-US" sz="2400" b="1" dirty="0"/>
              <a:t>:</a:t>
            </a:r>
            <a:r>
              <a:rPr lang="en-US" altLang="en-US" sz="2400" dirty="0"/>
              <a:t> The information should be counted on to be trustworthy. Obtaining information for a business purpose means that you must obtain it from a reliable and </a:t>
            </a:r>
            <a:r>
              <a:rPr lang="en-US" altLang="en-US" sz="2400" dirty="0" smtClean="0"/>
              <a:t>trusted </a:t>
            </a:r>
            <a:r>
              <a:rPr lang="en-US" altLang="en-US" sz="2400" dirty="0"/>
              <a:t>source.</a:t>
            </a:r>
          </a:p>
          <a:p>
            <a:pPr marL="0" indent="0" algn="just" eaLnBrk="0" fontAlgn="base" hangingPunct="0">
              <a:lnSpc>
                <a:spcPct val="100000"/>
              </a:lnSpc>
              <a:spcBef>
                <a:spcPct val="0"/>
              </a:spcBef>
              <a:spcAft>
                <a:spcPct val="0"/>
              </a:spcAft>
              <a:buNone/>
            </a:pPr>
            <a:r>
              <a:rPr lang="en-US" altLang="en-US" sz="2400" b="1" dirty="0"/>
              <a:t>Cost-effective:</a:t>
            </a:r>
            <a:r>
              <a:rPr lang="en-US" altLang="en-US" sz="2400" dirty="0"/>
              <a:t> The information is not desirable if the solution costs more than the problem. The cost of gathering data and processing it into information must be weighed against the benefits derived from using such information.</a:t>
            </a:r>
          </a:p>
          <a:p>
            <a:pPr marL="0" indent="0" algn="just" eaLnBrk="0" fontAlgn="base" hangingPunct="0">
              <a:lnSpc>
                <a:spcPct val="100000"/>
              </a:lnSpc>
              <a:spcBef>
                <a:spcPct val="0"/>
              </a:spcBef>
              <a:spcAft>
                <a:spcPct val="0"/>
              </a:spcAft>
              <a:buNone/>
            </a:pPr>
            <a:r>
              <a:rPr lang="en-US" altLang="en-US" sz="2400" b="1" dirty="0"/>
              <a:t>Accessibility:</a:t>
            </a:r>
            <a:r>
              <a:rPr lang="en-US" altLang="en-US" sz="2400" dirty="0"/>
              <a:t> Accessible information is information that is stored in a way that it can be easily accessed at any time. Information may be useless if it is not readily accessible in the desired form, when it is needed.</a:t>
            </a:r>
          </a:p>
          <a:p>
            <a:pPr algn="just"/>
            <a:endParaRPr lang="en-US" sz="2400" dirty="0"/>
          </a:p>
          <a:p>
            <a:pPr algn="just"/>
            <a:endParaRPr lang="en-US" sz="2400" dirty="0"/>
          </a:p>
        </p:txBody>
      </p:sp>
    </p:spTree>
    <p:extLst>
      <p:ext uri="{BB962C8B-B14F-4D97-AF65-F5344CB8AC3E}">
        <p14:creationId xmlns:p14="http://schemas.microsoft.com/office/powerpoint/2010/main" val="12938538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7725" y="162839"/>
            <a:ext cx="7930479" cy="434320"/>
          </a:xfrm>
        </p:spPr>
        <p:txBody>
          <a:bodyPr>
            <a:normAutofit fontScale="90000"/>
          </a:bodyPr>
          <a:lstStyle/>
          <a:p>
            <a:r>
              <a:rPr lang="en-US" sz="3600" cap="none" dirty="0" smtClean="0"/>
              <a:t>Components Of An Information System</a:t>
            </a:r>
            <a:endParaRPr lang="en-US" sz="3600" cap="none" dirty="0"/>
          </a:p>
        </p:txBody>
      </p:sp>
      <p:sp>
        <p:nvSpPr>
          <p:cNvPr id="4" name="Content Placeholder 2"/>
          <p:cNvSpPr>
            <a:spLocks noGrp="1"/>
          </p:cNvSpPr>
          <p:nvPr>
            <p:ph idx="1"/>
          </p:nvPr>
        </p:nvSpPr>
        <p:spPr>
          <a:xfrm>
            <a:off x="685800" y="751563"/>
            <a:ext cx="8092404" cy="5344438"/>
          </a:xfrm>
        </p:spPr>
        <p:txBody>
          <a:bodyPr>
            <a:normAutofit/>
          </a:bodyPr>
          <a:lstStyle/>
          <a:p>
            <a:pPr marL="0" indent="0" algn="just">
              <a:buNone/>
            </a:pPr>
            <a:r>
              <a:rPr lang="en-US" sz="2400" dirty="0" smtClean="0"/>
              <a:t>The components of an information system work together to provide quality information by</a:t>
            </a:r>
          </a:p>
          <a:p>
            <a:pPr algn="just"/>
            <a:r>
              <a:rPr lang="en-US" sz="2400" dirty="0" smtClean="0"/>
              <a:t>Collecting the Information</a:t>
            </a:r>
          </a:p>
          <a:p>
            <a:pPr algn="just"/>
            <a:r>
              <a:rPr lang="en-US" sz="2400" dirty="0" smtClean="0"/>
              <a:t>Processing the Information</a:t>
            </a:r>
          </a:p>
          <a:p>
            <a:pPr algn="just"/>
            <a:r>
              <a:rPr lang="en-US" sz="2400" dirty="0" smtClean="0"/>
              <a:t>Storing the Information</a:t>
            </a:r>
          </a:p>
          <a:p>
            <a:pPr algn="just"/>
            <a:r>
              <a:rPr lang="en-US" sz="2400" dirty="0" smtClean="0"/>
              <a:t>Retrieving the Information</a:t>
            </a:r>
          </a:p>
          <a:p>
            <a:pPr algn="just"/>
            <a:r>
              <a:rPr lang="en-US" sz="2400" dirty="0" smtClean="0"/>
              <a:t>Disseminating or Sharing the Information</a:t>
            </a:r>
          </a:p>
          <a:p>
            <a:pPr marL="0" indent="0" algn="just">
              <a:buNone/>
            </a:pPr>
            <a:endParaRPr lang="en-US" sz="2400" dirty="0" smtClean="0"/>
          </a:p>
          <a:p>
            <a:pPr algn="just">
              <a:buFont typeface="Wingdings" panose="05000000000000000000" pitchFamily="2" charset="2"/>
              <a:buChar char="v"/>
            </a:pPr>
            <a:r>
              <a:rPr lang="en-US" sz="2400" dirty="0" smtClean="0"/>
              <a:t>Institutions such as the banks, hospitals, schools, health insurance schemes, Insurance Companies, Airlines, Telecommunication companies, shopping malls, restaurants etc., need this quality information to plan and make decisions.</a:t>
            </a:r>
          </a:p>
          <a:p>
            <a:pPr algn="just"/>
            <a:endParaRPr lang="en-US" sz="2400" dirty="0"/>
          </a:p>
        </p:txBody>
      </p:sp>
    </p:spTree>
    <p:extLst>
      <p:ext uri="{BB962C8B-B14F-4D97-AF65-F5344CB8AC3E}">
        <p14:creationId xmlns:p14="http://schemas.microsoft.com/office/powerpoint/2010/main" val="36690218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530349"/>
          </a:xfrm>
        </p:spPr>
        <p:txBody>
          <a:bodyPr>
            <a:normAutofit/>
          </a:bodyPr>
          <a:lstStyle/>
          <a:p>
            <a:r>
              <a:rPr lang="en-US" sz="3600" cap="none" dirty="0" smtClean="0"/>
              <a:t>Components Of Information System</a:t>
            </a:r>
            <a:br>
              <a:rPr lang="en-US" sz="3600" cap="none" dirty="0" smtClean="0"/>
            </a:br>
            <a:endParaRPr lang="en-US" sz="3600" cap="none"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6990" y="2410745"/>
            <a:ext cx="3571875" cy="2950369"/>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6125" y="2325832"/>
            <a:ext cx="3837275" cy="2743200"/>
          </a:xfrm>
          <a:prstGeom prst="rect">
            <a:avLst/>
          </a:prstGeom>
        </p:spPr>
      </p:pic>
      <p:sp>
        <p:nvSpPr>
          <p:cNvPr id="3" name="Rectangle 2"/>
          <p:cNvSpPr/>
          <p:nvPr/>
        </p:nvSpPr>
        <p:spPr>
          <a:xfrm>
            <a:off x="1005995" y="1299901"/>
            <a:ext cx="7509355" cy="923330"/>
          </a:xfrm>
          <a:prstGeom prst="rect">
            <a:avLst/>
          </a:prstGeom>
        </p:spPr>
        <p:txBody>
          <a:bodyPr wrap="square">
            <a:spAutoFit/>
          </a:bodyPr>
          <a:lstStyle/>
          <a:p>
            <a:r>
              <a:rPr lang="en-US" dirty="0" smtClean="0"/>
              <a:t>These are Hardware,</a:t>
            </a:r>
            <a:r>
              <a:rPr lang="en-US" dirty="0"/>
              <a:t> Software </a:t>
            </a:r>
            <a:r>
              <a:rPr lang="en-US" dirty="0" smtClean="0"/>
              <a:t>, Data, Procedures</a:t>
            </a:r>
            <a:r>
              <a:rPr lang="en-US" dirty="0"/>
              <a:t> </a:t>
            </a:r>
            <a:r>
              <a:rPr lang="en-US" dirty="0" smtClean="0"/>
              <a:t>, People, Networks, Databases</a:t>
            </a:r>
            <a:endParaRPr lang="en-US" dirty="0"/>
          </a:p>
          <a:p>
            <a:endParaRPr lang="en-US" dirty="0"/>
          </a:p>
        </p:txBody>
      </p:sp>
    </p:spTree>
    <p:extLst>
      <p:ext uri="{BB962C8B-B14F-4D97-AF65-F5344CB8AC3E}">
        <p14:creationId xmlns:p14="http://schemas.microsoft.com/office/powerpoint/2010/main" val="3870362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225" y="117408"/>
            <a:ext cx="8225681" cy="736580"/>
          </a:xfrm>
        </p:spPr>
        <p:txBody>
          <a:bodyPr>
            <a:normAutofit fontScale="90000"/>
          </a:bodyPr>
          <a:lstStyle/>
          <a:p>
            <a:r>
              <a:rPr lang="en-US" sz="3200" dirty="0" smtClean="0"/>
              <a:t/>
            </a:r>
            <a:br>
              <a:rPr lang="en-US" sz="3200" dirty="0" smtClean="0"/>
            </a:br>
            <a:r>
              <a:rPr lang="en-US" sz="3200" dirty="0"/>
              <a:t/>
            </a:r>
            <a:br>
              <a:rPr lang="en-US" sz="3200" dirty="0"/>
            </a:br>
            <a:r>
              <a:rPr lang="en-US" sz="3200" dirty="0" smtClean="0"/>
              <a:t>Components </a:t>
            </a:r>
            <a:r>
              <a:rPr lang="en-US" sz="3200" dirty="0"/>
              <a:t>Of Information </a:t>
            </a:r>
            <a:r>
              <a:rPr lang="en-US" sz="3200" dirty="0" smtClean="0"/>
              <a:t>System </a:t>
            </a:r>
            <a:r>
              <a:rPr lang="en-US" sz="3200" b="1" dirty="0"/>
              <a:t>cont’d</a:t>
            </a:r>
            <a:r>
              <a:rPr lang="en-US" altLang="en-US" sz="3200" b="1" dirty="0">
                <a:latin typeface="Arial" panose="020B0604020202020204" pitchFamily="34" charset="0"/>
                <a:ea typeface="Times New Roman" panose="02020603050405020304" pitchFamily="18" charset="0"/>
                <a:cs typeface="Arial" panose="020B0604020202020204" pitchFamily="34" charset="0"/>
              </a:rPr>
              <a:t/>
            </a:r>
            <a:br>
              <a:rPr lang="en-US" altLang="en-US" sz="3200" b="1" dirty="0">
                <a:latin typeface="Arial" panose="020B0604020202020204" pitchFamily="34" charset="0"/>
                <a:ea typeface="Times New Roman" panose="02020603050405020304" pitchFamily="18" charset="0"/>
                <a:cs typeface="Arial" panose="020B0604020202020204" pitchFamily="34" charset="0"/>
              </a:rPr>
            </a:br>
            <a:r>
              <a:rPr lang="en-US" sz="3200" dirty="0"/>
              <a:t/>
            </a:r>
            <a:br>
              <a:rPr lang="en-US" sz="3200" dirty="0"/>
            </a:br>
            <a:endParaRPr lang="en-US" cap="none" dirty="0"/>
          </a:p>
        </p:txBody>
      </p:sp>
      <p:sp>
        <p:nvSpPr>
          <p:cNvPr id="3" name="Content Placeholder 2"/>
          <p:cNvSpPr>
            <a:spLocks noGrp="1"/>
          </p:cNvSpPr>
          <p:nvPr>
            <p:ph idx="1"/>
          </p:nvPr>
        </p:nvSpPr>
        <p:spPr>
          <a:xfrm>
            <a:off x="660226" y="941670"/>
            <a:ext cx="8130504" cy="5916330"/>
          </a:xfrm>
        </p:spPr>
        <p:txBody>
          <a:bodyPr>
            <a:normAutofit/>
          </a:bodyPr>
          <a:lstStyle/>
          <a:p>
            <a:pPr marL="0" indent="0" algn="just">
              <a:buNone/>
            </a:pPr>
            <a:r>
              <a:rPr lang="en-US" sz="2400" b="1" dirty="0" smtClean="0"/>
              <a:t>Hardware: </a:t>
            </a:r>
            <a:r>
              <a:rPr lang="en-US" sz="2400" dirty="0" smtClean="0"/>
              <a:t>These are equipment </a:t>
            </a:r>
            <a:r>
              <a:rPr lang="en-US" sz="2400" dirty="0"/>
              <a:t>that </a:t>
            </a:r>
            <a:r>
              <a:rPr lang="en-US" sz="2400" dirty="0" smtClean="0"/>
              <a:t>are used to collect/input data into system, provide storage and process, </a:t>
            </a:r>
            <a:r>
              <a:rPr lang="en-US" sz="2400" dirty="0"/>
              <a:t>the data to create </a:t>
            </a:r>
            <a:r>
              <a:rPr lang="en-US" sz="2400" dirty="0" smtClean="0"/>
              <a:t>information. </a:t>
            </a:r>
            <a:r>
              <a:rPr lang="en-US" sz="2400" dirty="0"/>
              <a:t>Information </a:t>
            </a:r>
            <a:r>
              <a:rPr lang="en-US" sz="2400" dirty="0" smtClean="0"/>
              <a:t>systems hardware is the part of an information system that can be touched – the physical components of the technology. These are Computers and their components such as, keyboards, disk drives, iPads, and flash drives are all examples of information systems hardware.</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1099" y="4162425"/>
            <a:ext cx="3894808" cy="2590800"/>
          </a:xfrm>
          <a:prstGeom prst="rect">
            <a:avLst/>
          </a:prstGeom>
        </p:spPr>
      </p:pic>
    </p:spTree>
    <p:extLst>
      <p:ext uri="{BB962C8B-B14F-4D97-AF65-F5344CB8AC3E}">
        <p14:creationId xmlns:p14="http://schemas.microsoft.com/office/powerpoint/2010/main" val="2132056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58" y="382385"/>
            <a:ext cx="7633742" cy="770010"/>
          </a:xfrm>
        </p:spPr>
        <p:txBody>
          <a:bodyPr>
            <a:normAutofit fontScale="90000"/>
          </a:bodyPr>
          <a:lstStyle/>
          <a:p>
            <a:r>
              <a:rPr lang="en-US" sz="3600" dirty="0" smtClean="0"/>
              <a:t>Components </a:t>
            </a:r>
            <a:r>
              <a:rPr lang="en-US" sz="3600" dirty="0"/>
              <a:t>Of Information System </a:t>
            </a:r>
            <a:r>
              <a:rPr lang="en-US" sz="3600" b="1" dirty="0"/>
              <a:t>cont’d </a:t>
            </a:r>
            <a:r>
              <a:rPr lang="en-US" altLang="en-US" b="1" cap="none" dirty="0" smtClean="0">
                <a:latin typeface="Arial" panose="020B0604020202020204" pitchFamily="34" charset="0"/>
              </a:rPr>
              <a:t>  </a:t>
            </a:r>
            <a:endParaRPr lang="en-US" cap="none" dirty="0"/>
          </a:p>
        </p:txBody>
      </p:sp>
      <p:sp>
        <p:nvSpPr>
          <p:cNvPr id="3" name="Content Placeholder 2"/>
          <p:cNvSpPr>
            <a:spLocks noGrp="1"/>
          </p:cNvSpPr>
          <p:nvPr>
            <p:ph idx="1"/>
          </p:nvPr>
        </p:nvSpPr>
        <p:spPr>
          <a:xfrm>
            <a:off x="800100" y="1152395"/>
            <a:ext cx="7978104" cy="4624359"/>
          </a:xfrm>
        </p:spPr>
        <p:txBody>
          <a:bodyPr>
            <a:normAutofit/>
          </a:bodyPr>
          <a:lstStyle/>
          <a:p>
            <a:pPr marL="0" lvl="0" indent="0" algn="just">
              <a:buNone/>
            </a:pPr>
            <a:r>
              <a:rPr lang="en-US" dirty="0" smtClean="0"/>
              <a:t> </a:t>
            </a:r>
            <a:r>
              <a:rPr lang="en-US" altLang="en-US" b="1" dirty="0" smtClean="0">
                <a:latin typeface="Arial" panose="020B0604020202020204" pitchFamily="34" charset="0"/>
              </a:rPr>
              <a:t>Software</a:t>
            </a:r>
            <a:endParaRPr lang="en-US" dirty="0" smtClean="0"/>
          </a:p>
          <a:p>
            <a:pPr marL="0" lvl="0" indent="0" algn="just">
              <a:buNone/>
            </a:pPr>
            <a:r>
              <a:rPr lang="en-US" dirty="0" smtClean="0"/>
              <a:t>These are Step-by-step set of instructions </a:t>
            </a:r>
            <a:r>
              <a:rPr lang="en-US" dirty="0"/>
              <a:t>that convert data into </a:t>
            </a:r>
            <a:r>
              <a:rPr lang="en-US" dirty="0" smtClean="0"/>
              <a:t>information. Or software </a:t>
            </a:r>
            <a:r>
              <a:rPr lang="en-US" altLang="en-US" dirty="0" smtClean="0">
                <a:latin typeface="Arial" panose="020B0604020202020204" pitchFamily="34" charset="0"/>
              </a:rPr>
              <a:t> </a:t>
            </a:r>
            <a:r>
              <a:rPr lang="en-US" altLang="en-US" dirty="0">
                <a:latin typeface="Arial" panose="020B0604020202020204" pitchFamily="34" charset="0"/>
              </a:rPr>
              <a:t>is a set of instructions that tells the hardware what to do. Software is not tangible – it cannot be touched. When programmers create software programs, what they are really doing is simply typing out lists of instructions that tell the hardware what to do. There are several categories of software, with the two main categories being operating-system software, which makes the hardware usable, and application software, which does something useful. Examples of operating systems include Microsoft Windows on a personal computer and Google’s Android on a mobile phone. Examples of application software are Microsoft </a:t>
            </a:r>
            <a:r>
              <a:rPr lang="en-US" altLang="en-US" dirty="0" smtClean="0">
                <a:latin typeface="Arial" panose="020B0604020202020204" pitchFamily="34" charset="0"/>
              </a:rPr>
              <a:t>office . </a:t>
            </a:r>
            <a:endParaRPr lang="en-US" altLang="en-US" b="1" dirty="0">
              <a:latin typeface="Arial" panose="020B0604020202020204" pitchFamily="34" charset="0"/>
            </a:endParaRPr>
          </a:p>
          <a:p>
            <a:pPr algn="just"/>
            <a:endParaRPr lang="en-US" dirty="0"/>
          </a:p>
        </p:txBody>
      </p:sp>
      <p:pic>
        <p:nvPicPr>
          <p:cNvPr id="6" name="Picture 2" descr="https://bus206.pressbooks.com/wp-content/uploads/sites/10536/2012/07/hwswappuser-300x255.pn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3744" y="5506641"/>
            <a:ext cx="1459706" cy="1235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9697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58" y="382385"/>
            <a:ext cx="7633742" cy="782536"/>
          </a:xfrm>
        </p:spPr>
        <p:txBody>
          <a:bodyPr>
            <a:normAutofit/>
          </a:bodyPr>
          <a:lstStyle/>
          <a:p>
            <a:r>
              <a:rPr lang="en-US" sz="3200" dirty="0" smtClean="0"/>
              <a:t>Components </a:t>
            </a:r>
            <a:r>
              <a:rPr lang="en-US" sz="3200" dirty="0"/>
              <a:t>Of Information System </a:t>
            </a:r>
            <a:r>
              <a:rPr lang="en-US" sz="3200" b="1" dirty="0"/>
              <a:t>cont’d </a:t>
            </a:r>
            <a:r>
              <a:rPr lang="en-US" b="1" cap="none" dirty="0" smtClean="0"/>
              <a:t> </a:t>
            </a:r>
            <a:endParaRPr lang="en-US" cap="none" dirty="0"/>
          </a:p>
        </p:txBody>
      </p:sp>
      <p:sp>
        <p:nvSpPr>
          <p:cNvPr id="3" name="Content Placeholder 2"/>
          <p:cNvSpPr>
            <a:spLocks noGrp="1"/>
          </p:cNvSpPr>
          <p:nvPr>
            <p:ph idx="1"/>
          </p:nvPr>
        </p:nvSpPr>
        <p:spPr>
          <a:xfrm>
            <a:off x="752475" y="1478071"/>
            <a:ext cx="8025729" cy="4611833"/>
          </a:xfrm>
        </p:spPr>
        <p:txBody>
          <a:bodyPr>
            <a:noAutofit/>
          </a:bodyPr>
          <a:lstStyle/>
          <a:p>
            <a:pPr marL="0" indent="0" algn="just">
              <a:buNone/>
            </a:pPr>
            <a:r>
              <a:rPr lang="en-US" sz="2400" b="1" dirty="0"/>
              <a:t>Data</a:t>
            </a:r>
            <a:endParaRPr lang="en-US" sz="2400" dirty="0" smtClean="0"/>
          </a:p>
          <a:p>
            <a:pPr algn="just"/>
            <a:r>
              <a:rPr lang="en-US" sz="2400" dirty="0" smtClean="0"/>
              <a:t>The third component is data. We can think of data as a collection of facts. For example, the street address, the city we live in, and our phone number are all pieces of data. Like software, data is also intangible. By themselves, pieces of data are not really very useful. But aggregated, indexed, and organized together into a database, data can become a powerful tool for businesses. In fact, all of the definitions presented at the beginning of this chapter focused on how information systems manage data. Organizations collect all kinds of data and use it to make decisions. These decisions can then be analyzed as to their effectiveness and the organization can be improved.</a:t>
            </a:r>
            <a:endParaRPr lang="en-US" sz="2400" dirty="0"/>
          </a:p>
        </p:txBody>
      </p:sp>
    </p:spTree>
    <p:extLst>
      <p:ext uri="{BB962C8B-B14F-4D97-AF65-F5344CB8AC3E}">
        <p14:creationId xmlns:p14="http://schemas.microsoft.com/office/powerpoint/2010/main" val="23715067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6275" y="276225"/>
            <a:ext cx="7886700" cy="1462089"/>
          </a:xfrm>
        </p:spPr>
        <p:txBody>
          <a:bodyPr>
            <a:normAutofit fontScale="90000"/>
          </a:bodyPr>
          <a:lstStyle/>
          <a:p>
            <a:pPr lvl="0"/>
            <a:r>
              <a:rPr lang="en-US" sz="3600" dirty="0" smtClean="0"/>
              <a:t>Components </a:t>
            </a:r>
            <a:r>
              <a:rPr lang="en-US" sz="3600" dirty="0"/>
              <a:t>Of Information System </a:t>
            </a:r>
            <a:r>
              <a:rPr lang="en-US" sz="3600" b="1" dirty="0"/>
              <a:t>cont’d </a:t>
            </a:r>
            <a:r>
              <a:rPr lang="en-US" altLang="en-US" dirty="0">
                <a:latin typeface="Arial" panose="020B0604020202020204" pitchFamily="34" charset="0"/>
              </a:rPr>
              <a:t/>
            </a:r>
            <a:br>
              <a:rPr lang="en-US" altLang="en-US" dirty="0">
                <a:latin typeface="Arial" panose="020B0604020202020204" pitchFamily="34" charset="0"/>
              </a:rPr>
            </a:br>
            <a:r>
              <a:rPr lang="en-US" altLang="en-US" dirty="0">
                <a:latin typeface="Arial" panose="020B0604020202020204" pitchFamily="34" charset="0"/>
              </a:rPr>
              <a:t>  </a:t>
            </a:r>
            <a:br>
              <a:rPr lang="en-US" altLang="en-US" dirty="0">
                <a:latin typeface="Arial" panose="020B0604020202020204" pitchFamily="34" charset="0"/>
              </a:rPr>
            </a:br>
            <a:endParaRPr lang="en-US" dirty="0"/>
          </a:p>
        </p:txBody>
      </p:sp>
      <p:sp>
        <p:nvSpPr>
          <p:cNvPr id="3" name="Content Placeholder 2"/>
          <p:cNvSpPr>
            <a:spLocks noGrp="1"/>
          </p:cNvSpPr>
          <p:nvPr>
            <p:ph idx="1"/>
          </p:nvPr>
        </p:nvSpPr>
        <p:spPr>
          <a:xfrm>
            <a:off x="981075" y="1327760"/>
            <a:ext cx="7797129" cy="4762144"/>
          </a:xfrm>
        </p:spPr>
        <p:txBody>
          <a:bodyPr>
            <a:normAutofit/>
          </a:bodyPr>
          <a:lstStyle/>
          <a:p>
            <a:pPr marL="0" lvl="0" indent="0" algn="just">
              <a:buNone/>
            </a:pPr>
            <a:r>
              <a:rPr lang="en-US" altLang="en-US" b="1" dirty="0">
                <a:latin typeface="Arial" panose="020B0604020202020204" pitchFamily="34" charset="0"/>
              </a:rPr>
              <a:t>Databases </a:t>
            </a:r>
          </a:p>
          <a:p>
            <a:pPr marL="0" lvl="0" indent="0" algn="just">
              <a:buNone/>
            </a:pPr>
            <a:r>
              <a:rPr lang="en-US" altLang="en-US" dirty="0" err="1" smtClean="0">
                <a:solidFill>
                  <a:schemeClr val="tx1"/>
                </a:solidFill>
                <a:latin typeface="Arial" panose="020B0604020202020204" pitchFamily="34" charset="0"/>
              </a:rPr>
              <a:t>S</a:t>
            </a:r>
            <a:r>
              <a:rPr lang="en-US" altLang="en-US" sz="2400" dirty="0" err="1" smtClean="0">
                <a:latin typeface="Arial" panose="020B0604020202020204" pitchFamily="34" charset="0"/>
              </a:rPr>
              <a:t>oftwares</a:t>
            </a:r>
            <a:r>
              <a:rPr lang="en-US" altLang="en-US" sz="2400" dirty="0" smtClean="0">
                <a:latin typeface="Arial" panose="020B0604020202020204" pitchFamily="34" charset="0"/>
              </a:rPr>
              <a:t> </a:t>
            </a:r>
            <a:r>
              <a:rPr lang="en-US" altLang="en-US" sz="2400" dirty="0">
                <a:latin typeface="Arial" panose="020B0604020202020204" pitchFamily="34" charset="0"/>
              </a:rPr>
              <a:t>that </a:t>
            </a:r>
            <a:r>
              <a:rPr lang="en-US" altLang="en-US" sz="2400" dirty="0" smtClean="0">
                <a:latin typeface="Arial" panose="020B0604020202020204" pitchFamily="34" charset="0"/>
              </a:rPr>
              <a:t>enable </a:t>
            </a:r>
            <a:r>
              <a:rPr lang="en-US" altLang="en-US" sz="2400" dirty="0">
                <a:latin typeface="Arial" panose="020B0604020202020204" pitchFamily="34" charset="0"/>
              </a:rPr>
              <a:t>storage and retrieval of related information about entities or objects. The software is typically not designed to work with a specific organization or a specific type of analysis rather it is a </a:t>
            </a:r>
            <a:r>
              <a:rPr lang="en-US" altLang="en-US" sz="2400" dirty="0" smtClean="0">
                <a:latin typeface="Arial" panose="020B0604020202020204" pitchFamily="34" charset="0"/>
              </a:rPr>
              <a:t>general-purpose </a:t>
            </a:r>
            <a:r>
              <a:rPr lang="en-US" altLang="en-US" sz="2400" dirty="0">
                <a:latin typeface="Arial" panose="020B0604020202020204" pitchFamily="34" charset="0"/>
              </a:rPr>
              <a:t>information system. </a:t>
            </a:r>
          </a:p>
          <a:p>
            <a:pPr algn="just"/>
            <a:endParaRPr lang="en-US" sz="2400" dirty="0"/>
          </a:p>
        </p:txBody>
      </p:sp>
      <p:pic>
        <p:nvPicPr>
          <p:cNvPr id="5122" name="Picture 2" descr="Datab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4241" y="3935187"/>
            <a:ext cx="3560824" cy="1922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28696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Components </a:t>
            </a:r>
            <a:r>
              <a:rPr lang="en-US" sz="3200" dirty="0"/>
              <a:t>Of Information System </a:t>
            </a:r>
            <a:r>
              <a:rPr lang="en-US" sz="3200" b="1" dirty="0"/>
              <a:t>cont’d </a:t>
            </a:r>
            <a:r>
              <a:rPr lang="en-US" altLang="en-US" dirty="0">
                <a:latin typeface="Arial" panose="020B0604020202020204" pitchFamily="34" charset="0"/>
              </a:rPr>
              <a:t/>
            </a:r>
            <a:br>
              <a:rPr lang="en-US" altLang="en-US" dirty="0">
                <a:latin typeface="Arial" panose="020B0604020202020204" pitchFamily="34" charset="0"/>
              </a:rPr>
            </a:br>
            <a:endParaRPr lang="en-US" cap="none" dirty="0"/>
          </a:p>
        </p:txBody>
      </p:sp>
      <p:sp>
        <p:nvSpPr>
          <p:cNvPr id="3" name="Content Placeholder 2"/>
          <p:cNvSpPr>
            <a:spLocks noGrp="1"/>
          </p:cNvSpPr>
          <p:nvPr>
            <p:ph idx="1"/>
          </p:nvPr>
        </p:nvSpPr>
        <p:spPr>
          <a:xfrm>
            <a:off x="514350" y="1371600"/>
            <a:ext cx="8266395" cy="3350442"/>
          </a:xfrm>
        </p:spPr>
        <p:txBody>
          <a:bodyPr>
            <a:normAutofit/>
          </a:bodyPr>
          <a:lstStyle/>
          <a:p>
            <a:pPr algn="just"/>
            <a:r>
              <a:rPr lang="en-US" sz="2800" dirty="0"/>
              <a:t>Network</a:t>
            </a:r>
            <a:endParaRPr lang="en-US" sz="2800" dirty="0" smtClean="0"/>
          </a:p>
          <a:p>
            <a:pPr algn="just"/>
            <a:r>
              <a:rPr lang="en-US" sz="2800" dirty="0" smtClean="0"/>
              <a:t>These are computing devices that communicate with each other and enable sharing of information and resources with in information systems </a:t>
            </a:r>
            <a:endParaRPr lang="en-US" sz="2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5166" y="3350442"/>
            <a:ext cx="2857500" cy="1828800"/>
          </a:xfrm>
          <a:prstGeom prst="rect">
            <a:avLst/>
          </a:prstGeom>
        </p:spPr>
      </p:pic>
    </p:spTree>
    <p:extLst>
      <p:ext uri="{BB962C8B-B14F-4D97-AF65-F5344CB8AC3E}">
        <p14:creationId xmlns:p14="http://schemas.microsoft.com/office/powerpoint/2010/main" val="4168052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49" y="365126"/>
            <a:ext cx="8439151" cy="1325563"/>
          </a:xfrm>
        </p:spPr>
        <p:txBody>
          <a:bodyPr/>
          <a:lstStyle/>
          <a:p>
            <a:r>
              <a:rPr lang="en-US" sz="3600" dirty="0" smtClean="0"/>
              <a:t>Components </a:t>
            </a:r>
            <a:r>
              <a:rPr lang="en-US" sz="3600" dirty="0"/>
              <a:t>Of Information System </a:t>
            </a:r>
            <a:r>
              <a:rPr lang="en-US" sz="3600" b="1" dirty="0"/>
              <a:t>cont’d </a:t>
            </a:r>
            <a:endParaRPr lang="en-US" cap="none" dirty="0"/>
          </a:p>
        </p:txBody>
      </p:sp>
      <p:sp>
        <p:nvSpPr>
          <p:cNvPr id="3" name="Content Placeholder 2"/>
          <p:cNvSpPr>
            <a:spLocks noGrp="1"/>
          </p:cNvSpPr>
          <p:nvPr>
            <p:ph idx="1"/>
          </p:nvPr>
        </p:nvSpPr>
        <p:spPr>
          <a:xfrm>
            <a:off x="962024" y="1876424"/>
            <a:ext cx="7610475" cy="4003169"/>
          </a:xfrm>
        </p:spPr>
        <p:txBody>
          <a:bodyPr>
            <a:normAutofit/>
          </a:bodyPr>
          <a:lstStyle/>
          <a:p>
            <a:pPr marL="0" indent="0" algn="just">
              <a:buNone/>
            </a:pPr>
            <a:r>
              <a:rPr lang="en-US" sz="2400" b="1" dirty="0"/>
              <a:t>Procedures</a:t>
            </a:r>
            <a:r>
              <a:rPr lang="en-US" sz="2400" b="1" dirty="0" smtClean="0"/>
              <a:t>:</a:t>
            </a:r>
            <a:endParaRPr lang="en-US" sz="2400" dirty="0" smtClean="0"/>
          </a:p>
          <a:p>
            <a:pPr algn="just"/>
            <a:r>
              <a:rPr lang="en-US" sz="2400" dirty="0" smtClean="0"/>
              <a:t>These </a:t>
            </a:r>
            <a:r>
              <a:rPr lang="en-US" sz="2400" dirty="0" smtClean="0"/>
              <a:t>are rules </a:t>
            </a:r>
            <a:r>
              <a:rPr lang="en-US" sz="2400" dirty="0"/>
              <a:t>or guidelines to follow when using Hardware and </a:t>
            </a:r>
            <a:r>
              <a:rPr lang="en-US" sz="2400" dirty="0" smtClean="0"/>
              <a:t>software.</a:t>
            </a:r>
            <a:endParaRPr lang="en-US" sz="2400" dirty="0"/>
          </a:p>
          <a:p>
            <a:pPr algn="just"/>
            <a:r>
              <a:rPr lang="en-US" sz="2400" dirty="0" smtClean="0"/>
              <a:t>Procedures are the policies that govern the operation of a computer system. “Procedures are to people while software is to hardware” is a common </a:t>
            </a:r>
            <a:r>
              <a:rPr lang="en-US" sz="2400" dirty="0" smtClean="0"/>
              <a:t>similarity </a:t>
            </a:r>
            <a:r>
              <a:rPr lang="en-US" sz="2400" dirty="0" smtClean="0"/>
              <a:t>that is used to illustrate the role of procedures </a:t>
            </a:r>
          </a:p>
          <a:p>
            <a:pPr algn="just"/>
            <a:r>
              <a:rPr lang="en-US" sz="2400" b="1" dirty="0" smtClean="0"/>
              <a:t>Procedures </a:t>
            </a:r>
            <a:r>
              <a:rPr lang="en-US" sz="2400" dirty="0" smtClean="0"/>
              <a:t>are the strategies, policies, methods and rules for using computer based information systems.</a:t>
            </a:r>
          </a:p>
          <a:p>
            <a:pPr marL="0" indent="0" algn="just">
              <a:buNone/>
            </a:pPr>
            <a:r>
              <a:rPr lang="en-US" sz="2400" dirty="0" smtClean="0"/>
              <a:t>.</a:t>
            </a:r>
            <a:endParaRPr lang="en-US" sz="2400" dirty="0"/>
          </a:p>
        </p:txBody>
      </p:sp>
    </p:spTree>
    <p:extLst>
      <p:ext uri="{BB962C8B-B14F-4D97-AF65-F5344CB8AC3E}">
        <p14:creationId xmlns:p14="http://schemas.microsoft.com/office/powerpoint/2010/main" val="8318101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95250"/>
            <a:ext cx="7886700" cy="542925"/>
          </a:xfrm>
        </p:spPr>
        <p:txBody>
          <a:bodyPr>
            <a:normAutofit fontScale="90000"/>
          </a:bodyPr>
          <a:lstStyle/>
          <a:p>
            <a:r>
              <a:rPr lang="en-US" sz="3200" dirty="0" smtClean="0"/>
              <a:t/>
            </a:r>
            <a:br>
              <a:rPr lang="en-US" sz="3200" dirty="0" smtClean="0"/>
            </a:br>
            <a:r>
              <a:rPr lang="en-US" sz="3200" dirty="0" smtClean="0"/>
              <a:t>Components </a:t>
            </a:r>
            <a:r>
              <a:rPr lang="en-US" sz="3200" dirty="0"/>
              <a:t>Of Information System </a:t>
            </a:r>
            <a:r>
              <a:rPr lang="en-US" sz="3200" b="1" dirty="0"/>
              <a:t>cont’d </a:t>
            </a:r>
            <a:r>
              <a:rPr lang="en-US" b="1" cap="none" dirty="0" smtClean="0"/>
              <a:t/>
            </a:r>
            <a:br>
              <a:rPr lang="en-US" b="1" cap="none" dirty="0" smtClean="0"/>
            </a:br>
            <a:endParaRPr lang="en-US" cap="none" dirty="0"/>
          </a:p>
        </p:txBody>
      </p:sp>
      <p:sp>
        <p:nvSpPr>
          <p:cNvPr id="3" name="Content Placeholder 2"/>
          <p:cNvSpPr>
            <a:spLocks noGrp="1"/>
          </p:cNvSpPr>
          <p:nvPr>
            <p:ph idx="1"/>
          </p:nvPr>
        </p:nvSpPr>
        <p:spPr>
          <a:xfrm>
            <a:off x="171451" y="800100"/>
            <a:ext cx="8606754" cy="5981699"/>
          </a:xfrm>
        </p:spPr>
        <p:txBody>
          <a:bodyPr>
            <a:noAutofit/>
          </a:bodyPr>
          <a:lstStyle/>
          <a:p>
            <a:pPr marL="0" indent="0" algn="just">
              <a:buNone/>
            </a:pPr>
            <a:r>
              <a:rPr lang="en-US" sz="2400" b="1" dirty="0" smtClean="0"/>
              <a:t>People</a:t>
            </a:r>
            <a:endParaRPr lang="en-US" sz="2400" dirty="0" smtClean="0"/>
          </a:p>
          <a:p>
            <a:pPr algn="just"/>
            <a:r>
              <a:rPr lang="en-US" sz="2400" dirty="0" smtClean="0"/>
              <a:t>These are end users </a:t>
            </a:r>
            <a:r>
              <a:rPr lang="en-US" sz="2400" dirty="0"/>
              <a:t>who </a:t>
            </a:r>
            <a:r>
              <a:rPr lang="en-US" sz="2400" dirty="0" smtClean="0"/>
              <a:t>are </a:t>
            </a:r>
            <a:r>
              <a:rPr lang="en-US" sz="2400" dirty="0"/>
              <a:t>the most important part of </a:t>
            </a:r>
            <a:r>
              <a:rPr lang="en-US" sz="2400" dirty="0" smtClean="0"/>
              <a:t>IS</a:t>
            </a:r>
          </a:p>
          <a:p>
            <a:pPr algn="just"/>
            <a:r>
              <a:rPr lang="en-US" sz="2400" dirty="0" smtClean="0"/>
              <a:t>People </a:t>
            </a:r>
            <a:r>
              <a:rPr lang="en-US" sz="2400" dirty="0"/>
              <a:t>are the most important component in most computer based information systems. These are users who combine the </a:t>
            </a:r>
            <a:r>
              <a:rPr lang="en-US" sz="2400" b="1" i="1" dirty="0"/>
              <a:t>hardware</a:t>
            </a:r>
            <a:r>
              <a:rPr lang="en-US" sz="2400" dirty="0"/>
              <a:t>, </a:t>
            </a:r>
            <a:r>
              <a:rPr lang="en-US" sz="2400" b="1" i="1" dirty="0"/>
              <a:t>software</a:t>
            </a:r>
            <a:r>
              <a:rPr lang="en-US" sz="2400" dirty="0"/>
              <a:t>, </a:t>
            </a:r>
            <a:r>
              <a:rPr lang="en-US" sz="2400" b="1" i="1" dirty="0"/>
              <a:t>data</a:t>
            </a:r>
            <a:r>
              <a:rPr lang="en-US" sz="2400" dirty="0"/>
              <a:t>, and </a:t>
            </a:r>
            <a:r>
              <a:rPr lang="en-US" sz="2400" b="1" i="1" dirty="0"/>
              <a:t>networks</a:t>
            </a:r>
            <a:r>
              <a:rPr lang="en-US" sz="2400" dirty="0"/>
              <a:t> with </a:t>
            </a:r>
            <a:r>
              <a:rPr lang="en-US" sz="2400" b="1" dirty="0"/>
              <a:t>procedures</a:t>
            </a:r>
            <a:r>
              <a:rPr lang="en-US" sz="2400" dirty="0"/>
              <a:t> to produce quality information.</a:t>
            </a:r>
          </a:p>
          <a:p>
            <a:pPr algn="just"/>
            <a:r>
              <a:rPr lang="en-US" sz="2400" b="1" dirty="0"/>
              <a:t> </a:t>
            </a:r>
            <a:r>
              <a:rPr lang="en-US" sz="2400" dirty="0"/>
              <a:t>When thinking about information systems, it is easy to get focused on the technology components and forget that we must look beyond these tools to fully understand how they integrate into an organization. </a:t>
            </a:r>
            <a:endParaRPr lang="en-US" sz="2400" dirty="0" smtClean="0"/>
          </a:p>
          <a:p>
            <a:pPr algn="just"/>
            <a:r>
              <a:rPr lang="en-US" sz="2400" dirty="0" smtClean="0"/>
              <a:t>A </a:t>
            </a:r>
            <a:r>
              <a:rPr lang="en-US" sz="2400" dirty="0"/>
              <a:t>focus on the people involved in information systems is the next step. From the front-line help-desk workers, to systems analysts, to programmers, all the way up to the chief information officer (CIO), the people involved with information systems are an essential element that must not be overlooked</a:t>
            </a:r>
          </a:p>
        </p:txBody>
      </p:sp>
    </p:spTree>
    <p:extLst>
      <p:ext uri="{BB962C8B-B14F-4D97-AF65-F5344CB8AC3E}">
        <p14:creationId xmlns:p14="http://schemas.microsoft.com/office/powerpoint/2010/main" val="39228188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2475" y="568345"/>
            <a:ext cx="8025729" cy="1560716"/>
          </a:xfrm>
        </p:spPr>
        <p:txBody>
          <a:bodyPr/>
          <a:lstStyle/>
          <a:p>
            <a:r>
              <a:rPr lang="en-US" cap="none" dirty="0" smtClean="0"/>
              <a:t>Functions Of Information System</a:t>
            </a:r>
            <a:endParaRPr lang="en-US" cap="none" dirty="0"/>
          </a:p>
        </p:txBody>
      </p:sp>
      <p:pic>
        <p:nvPicPr>
          <p:cNvPr id="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5030" y="2900139"/>
            <a:ext cx="5855494" cy="1783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p:cNvPicPr>
            <a:picLocks noChangeAspect="1" noChangeArrowheads="1"/>
          </p:cNvPicPr>
          <p:nvPr/>
        </p:nvPicPr>
        <p:blipFill rotWithShape="1">
          <a:blip r:embed="rId3">
            <a:extLst>
              <a:ext uri="{28A0092B-C50C-407E-A947-70E740481C1C}">
                <a14:useLocalDpi xmlns:a14="http://schemas.microsoft.com/office/drawing/2010/main" val="0"/>
              </a:ext>
            </a:extLst>
          </a:blip>
          <a:srcRect t="59327" b="6494"/>
          <a:stretch/>
        </p:blipFill>
        <p:spPr bwMode="auto">
          <a:xfrm>
            <a:off x="4214817" y="2139562"/>
            <a:ext cx="2421879" cy="45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4214817" y="4848225"/>
            <a:ext cx="1628775" cy="809625"/>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70C0"/>
                </a:solidFill>
              </a:rPr>
              <a:t>Storage</a:t>
            </a:r>
            <a:endParaRPr lang="en-US" dirty="0">
              <a:solidFill>
                <a:srgbClr val="0070C0"/>
              </a:solidFill>
            </a:endParaRPr>
          </a:p>
        </p:txBody>
      </p:sp>
    </p:spTree>
    <p:extLst>
      <p:ext uri="{BB962C8B-B14F-4D97-AF65-F5344CB8AC3E}">
        <p14:creationId xmlns:p14="http://schemas.microsoft.com/office/powerpoint/2010/main" val="15586692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5" y="101620"/>
            <a:ext cx="6673174" cy="603230"/>
          </a:xfrm>
        </p:spPr>
        <p:txBody>
          <a:bodyPr>
            <a:normAutofit/>
          </a:bodyPr>
          <a:lstStyle/>
          <a:p>
            <a:r>
              <a:rPr lang="en-US" dirty="0" smtClean="0">
                <a:solidFill>
                  <a:srgbClr val="0070C0"/>
                </a:solidFill>
              </a:rPr>
              <a:t>Functions of syste</a:t>
            </a:r>
            <a:r>
              <a:rPr lang="en-US" dirty="0">
                <a:solidFill>
                  <a:srgbClr val="0070C0"/>
                </a:solidFill>
              </a:rPr>
              <a:t>m</a:t>
            </a:r>
          </a:p>
        </p:txBody>
      </p:sp>
      <p:sp>
        <p:nvSpPr>
          <p:cNvPr id="3" name="Content Placeholder 2"/>
          <p:cNvSpPr>
            <a:spLocks noGrp="1"/>
          </p:cNvSpPr>
          <p:nvPr>
            <p:ph idx="1"/>
          </p:nvPr>
        </p:nvSpPr>
        <p:spPr>
          <a:xfrm>
            <a:off x="789139" y="704850"/>
            <a:ext cx="8183411" cy="5819775"/>
          </a:xfrm>
        </p:spPr>
        <p:txBody>
          <a:bodyPr>
            <a:noAutofit/>
          </a:bodyPr>
          <a:lstStyle/>
          <a:p>
            <a:pPr marL="1541463" indent="-1541463" algn="just">
              <a:spcBef>
                <a:spcPts val="0"/>
              </a:spcBef>
              <a:buNone/>
              <a:tabLst>
                <a:tab pos="1541463" algn="l"/>
              </a:tabLst>
            </a:pPr>
            <a:r>
              <a:rPr lang="en-US" altLang="en-US" b="1" dirty="0" smtClean="0">
                <a:latin typeface="Arial" panose="020B0604020202020204" pitchFamily="34" charset="0"/>
                <a:cs typeface="Arial" panose="020B0604020202020204" pitchFamily="34" charset="0"/>
              </a:rPr>
              <a:t>Input:           </a:t>
            </a:r>
            <a:r>
              <a:rPr lang="en-US" altLang="en-US" sz="2400" dirty="0" smtClean="0">
                <a:latin typeface="Arial" panose="020B0604020202020204" pitchFamily="34" charset="0"/>
                <a:cs typeface="Arial" panose="020B0604020202020204" pitchFamily="34" charset="0"/>
              </a:rPr>
              <a:t>Activity of gathering and capturing raw data </a:t>
            </a:r>
            <a:r>
              <a:rPr lang="en-US" altLang="en-US" sz="2400" dirty="0" err="1" smtClean="0">
                <a:latin typeface="Arial" panose="020B0604020202020204" pitchFamily="34" charset="0"/>
                <a:cs typeface="Arial" panose="020B0604020202020204" pitchFamily="34" charset="0"/>
              </a:rPr>
              <a:t>e.g</a:t>
            </a:r>
            <a:r>
              <a:rPr lang="en-US" altLang="en-US" sz="2400" b="1"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Optical </a:t>
            </a:r>
            <a:r>
              <a:rPr lang="en-US" sz="2400" dirty="0">
                <a:latin typeface="Arial" panose="020B0604020202020204" pitchFamily="34" charset="0"/>
                <a:cs typeface="Arial" panose="020B0604020202020204" pitchFamily="34" charset="0"/>
              </a:rPr>
              <a:t>scanning of bar-coded tags on merchandise.</a:t>
            </a:r>
          </a:p>
          <a:p>
            <a:pPr marL="1541463" indent="-1541463" algn="just">
              <a:spcBef>
                <a:spcPts val="0"/>
              </a:spcBef>
              <a:buNone/>
            </a:pPr>
            <a:r>
              <a:rPr lang="en-US" altLang="en-US" b="1" dirty="0" smtClean="0">
                <a:latin typeface="Arial" panose="020B0604020202020204" pitchFamily="34" charset="0"/>
                <a:cs typeface="Arial" panose="020B0604020202020204" pitchFamily="34" charset="0"/>
              </a:rPr>
              <a:t>Processing: </a:t>
            </a:r>
            <a:r>
              <a:rPr lang="en-US" altLang="en-US" sz="2400" dirty="0" smtClean="0">
                <a:latin typeface="Arial" panose="020B0604020202020204" pitchFamily="34" charset="0"/>
                <a:cs typeface="Arial" panose="020B0604020202020204" pitchFamily="34" charset="0"/>
              </a:rPr>
              <a:t>Converting data into useful outputs for example</a:t>
            </a:r>
            <a:r>
              <a:rPr lang="en-US" sz="2400" b="1" dirty="0" smtClean="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Calculating </a:t>
            </a:r>
            <a:r>
              <a:rPr lang="en-US" sz="2400" dirty="0">
                <a:latin typeface="Arial" panose="020B0604020202020204" pitchFamily="34" charset="0"/>
                <a:cs typeface="Arial" panose="020B0604020202020204" pitchFamily="34" charset="0"/>
              </a:rPr>
              <a:t>employee pay, taxes, and other payroll deductions</a:t>
            </a:r>
            <a:r>
              <a:rPr lang="en-US" sz="2400" dirty="0" smtClean="0">
                <a:latin typeface="Arial" panose="020B0604020202020204" pitchFamily="34" charset="0"/>
                <a:cs typeface="Arial" panose="020B0604020202020204" pitchFamily="34" charset="0"/>
              </a:rPr>
              <a:t>.</a:t>
            </a:r>
          </a:p>
          <a:p>
            <a:pPr marL="1541463" indent="-1541463" algn="just">
              <a:spcBef>
                <a:spcPts val="0"/>
              </a:spcBef>
              <a:buNone/>
            </a:pPr>
            <a:endParaRPr lang="en-US" sz="2400" dirty="0">
              <a:latin typeface="Arial" panose="020B0604020202020204" pitchFamily="34" charset="0"/>
              <a:cs typeface="Arial" panose="020B0604020202020204" pitchFamily="34" charset="0"/>
            </a:endParaRPr>
          </a:p>
          <a:p>
            <a:pPr marL="1541463" indent="-1541463" algn="just">
              <a:spcBef>
                <a:spcPts val="0"/>
              </a:spcBef>
              <a:buNone/>
            </a:pPr>
            <a:r>
              <a:rPr lang="en-US" altLang="en-US" b="1" dirty="0" smtClean="0">
                <a:latin typeface="Arial" panose="020B0604020202020204" pitchFamily="34" charset="0"/>
                <a:cs typeface="Arial" panose="020B0604020202020204" pitchFamily="34" charset="0"/>
              </a:rPr>
              <a:t>Output:        </a:t>
            </a:r>
            <a:r>
              <a:rPr lang="en-US" altLang="en-US" sz="2400" dirty="0" smtClean="0">
                <a:latin typeface="Arial" panose="020B0604020202020204" pitchFamily="34" charset="0"/>
                <a:cs typeface="Arial" panose="020B0604020202020204" pitchFamily="34" charset="0"/>
              </a:rPr>
              <a:t>Production of useful information, usually in the form of documents and </a:t>
            </a:r>
            <a:r>
              <a:rPr lang="en-US" altLang="en-US" sz="2400" dirty="0" smtClean="0">
                <a:latin typeface="Arial" panose="020B0604020202020204" pitchFamily="34" charset="0"/>
                <a:cs typeface="Arial" panose="020B0604020202020204" pitchFamily="34" charset="0"/>
              </a:rPr>
              <a:t>reports or</a:t>
            </a:r>
            <a:r>
              <a:rPr lang="en-US" sz="2400" b="1"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Producing reports </a:t>
            </a:r>
            <a:r>
              <a:rPr lang="en-US" sz="2400" dirty="0" smtClean="0">
                <a:latin typeface="Arial" panose="020B0604020202020204" pitchFamily="34" charset="0"/>
                <a:cs typeface="Arial" panose="020B0604020202020204" pitchFamily="34" charset="0"/>
              </a:rPr>
              <a:t>and displays </a:t>
            </a:r>
            <a:r>
              <a:rPr lang="en-US" sz="2400" dirty="0">
                <a:latin typeface="Arial" panose="020B0604020202020204" pitchFamily="34" charset="0"/>
                <a:cs typeface="Arial" panose="020B0604020202020204" pitchFamily="34" charset="0"/>
              </a:rPr>
              <a:t>about sales </a:t>
            </a:r>
            <a:r>
              <a:rPr lang="en-US" sz="2400" dirty="0" smtClean="0">
                <a:latin typeface="Arial" panose="020B0604020202020204" pitchFamily="34" charset="0"/>
                <a:cs typeface="Arial" panose="020B0604020202020204" pitchFamily="34" charset="0"/>
              </a:rPr>
              <a:t>performance</a:t>
            </a:r>
          </a:p>
          <a:p>
            <a:pPr marL="1541463" indent="-1541463" algn="just">
              <a:spcBef>
                <a:spcPts val="0"/>
              </a:spcBef>
              <a:buNone/>
            </a:pPr>
            <a:endParaRPr lang="en-US" altLang="en-US" sz="2400" dirty="0" smtClean="0">
              <a:latin typeface="Arial" panose="020B0604020202020204" pitchFamily="34" charset="0"/>
              <a:cs typeface="Arial" panose="020B0604020202020204" pitchFamily="34" charset="0"/>
            </a:endParaRPr>
          </a:p>
          <a:p>
            <a:pPr marL="1541463" indent="-1541463" algn="just">
              <a:spcBef>
                <a:spcPts val="0"/>
              </a:spcBef>
              <a:buNone/>
            </a:pPr>
            <a:r>
              <a:rPr lang="en-US" altLang="en-US" b="1" dirty="0" smtClean="0">
                <a:latin typeface="Arial" panose="020B0604020202020204" pitchFamily="34" charset="0"/>
                <a:cs typeface="Arial" panose="020B0604020202020204" pitchFamily="34" charset="0"/>
              </a:rPr>
              <a:t>Feedback or </a:t>
            </a:r>
            <a:r>
              <a:rPr lang="en-US" b="1" dirty="0" smtClean="0">
                <a:latin typeface="Arial" panose="020B0604020202020204" pitchFamily="34" charset="0"/>
                <a:cs typeface="Arial" panose="020B0604020202020204" pitchFamily="34" charset="0"/>
              </a:rPr>
              <a:t>Control</a:t>
            </a:r>
            <a:r>
              <a:rPr lang="en-US" b="1" dirty="0">
                <a:latin typeface="Arial" panose="020B0604020202020204" pitchFamily="34" charset="0"/>
                <a:cs typeface="Arial" panose="020B0604020202020204" pitchFamily="34" charset="0"/>
              </a:rPr>
              <a:t>: </a:t>
            </a:r>
            <a:r>
              <a:rPr lang="en-US" altLang="en-US" dirty="0" smtClean="0">
                <a:latin typeface="Arial" panose="020B0604020202020204" pitchFamily="34" charset="0"/>
                <a:cs typeface="Arial" panose="020B0604020202020204" pitchFamily="34" charset="0"/>
              </a:rPr>
              <a:t>Information from the system that is used to make changes to input or processing activities.  </a:t>
            </a:r>
            <a:r>
              <a:rPr lang="en-US" dirty="0" smtClean="0">
                <a:latin typeface="Arial" panose="020B0604020202020204" pitchFamily="34" charset="0"/>
                <a:cs typeface="Arial" panose="020B0604020202020204" pitchFamily="34" charset="0"/>
              </a:rPr>
              <a:t>Generating </a:t>
            </a:r>
            <a:r>
              <a:rPr lang="en-US" dirty="0" smtClean="0">
                <a:latin typeface="Arial" panose="020B0604020202020204" pitchFamily="34" charset="0"/>
                <a:cs typeface="Arial" panose="020B0604020202020204" pitchFamily="34" charset="0"/>
              </a:rPr>
              <a:t>clear </a:t>
            </a:r>
            <a:r>
              <a:rPr lang="en-US" dirty="0">
                <a:latin typeface="Arial" panose="020B0604020202020204" pitchFamily="34" charset="0"/>
                <a:cs typeface="Arial" panose="020B0604020202020204" pitchFamily="34" charset="0"/>
              </a:rPr>
              <a:t>signals to indicate proper entry of sales </a:t>
            </a:r>
            <a:r>
              <a:rPr lang="en-US" dirty="0" smtClean="0">
                <a:latin typeface="Arial" panose="020B0604020202020204" pitchFamily="34" charset="0"/>
                <a:cs typeface="Arial" panose="020B0604020202020204" pitchFamily="34" charset="0"/>
              </a:rPr>
              <a:t>data</a:t>
            </a:r>
          </a:p>
          <a:p>
            <a:pPr marL="1541463" indent="-1541463" algn="just">
              <a:spcBef>
                <a:spcPts val="0"/>
              </a:spcBef>
              <a:buNone/>
            </a:pPr>
            <a:r>
              <a:rPr lang="en-US" sz="2400" b="1" dirty="0" smtClean="0">
                <a:latin typeface="Arial" panose="020B0604020202020204" pitchFamily="34" charset="0"/>
                <a:cs typeface="Arial" panose="020B0604020202020204" pitchFamily="34" charset="0"/>
              </a:rPr>
              <a:t>Storage</a:t>
            </a:r>
            <a:r>
              <a:rPr lang="en-US" sz="2400" b="1" dirty="0">
                <a:latin typeface="Arial" panose="020B0604020202020204" pitchFamily="34" charset="0"/>
                <a:cs typeface="Arial" panose="020B0604020202020204" pitchFamily="34" charset="0"/>
              </a:rPr>
              <a:t>: </a:t>
            </a:r>
            <a:r>
              <a:rPr lang="en-US" sz="2400" b="1" dirty="0" smtClean="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Maintaining </a:t>
            </a:r>
            <a:r>
              <a:rPr lang="en-US" sz="2400" dirty="0">
                <a:latin typeface="Arial" panose="020B0604020202020204" pitchFamily="34" charset="0"/>
                <a:cs typeface="Arial" panose="020B0604020202020204" pitchFamily="34" charset="0"/>
              </a:rPr>
              <a:t>records on customers, employees, and products.</a:t>
            </a:r>
          </a:p>
          <a:p>
            <a:pPr marL="240030" lvl="1" indent="0" algn="just">
              <a:spcBef>
                <a:spcPts val="0"/>
              </a:spcBef>
              <a:buNone/>
            </a:pPr>
            <a:endParaRPr lang="en-US" altLang="en-US" sz="2000" dirty="0" smtClean="0">
              <a:latin typeface="Arial" panose="020B0604020202020204" pitchFamily="34" charset="0"/>
              <a:cs typeface="Arial" panose="020B0604020202020204" pitchFamily="34" charset="0"/>
            </a:endParaRPr>
          </a:p>
          <a:p>
            <a:pPr algn="just">
              <a:spcBef>
                <a:spcPts val="0"/>
              </a:spcBef>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87651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58" y="382385"/>
            <a:ext cx="8368080" cy="1492132"/>
          </a:xfrm>
        </p:spPr>
        <p:txBody>
          <a:bodyPr/>
          <a:lstStyle/>
          <a:p>
            <a:r>
              <a:rPr lang="en-US" cap="none" dirty="0" smtClean="0"/>
              <a:t>Role Of Information Systems </a:t>
            </a:r>
            <a:endParaRPr lang="en-US" cap="none" dirty="0"/>
          </a:p>
        </p:txBody>
      </p:sp>
      <p:sp>
        <p:nvSpPr>
          <p:cNvPr id="3" name="Content Placeholder 2"/>
          <p:cNvSpPr>
            <a:spLocks noGrp="1"/>
          </p:cNvSpPr>
          <p:nvPr>
            <p:ph idx="1"/>
          </p:nvPr>
        </p:nvSpPr>
        <p:spPr>
          <a:xfrm>
            <a:off x="707329" y="1561578"/>
            <a:ext cx="8120979" cy="3651504"/>
          </a:xfrm>
        </p:spPr>
        <p:txBody>
          <a:bodyPr>
            <a:noAutofit/>
          </a:bodyPr>
          <a:lstStyle/>
          <a:p>
            <a:pPr marL="0" indent="0">
              <a:buNone/>
            </a:pPr>
            <a:r>
              <a:rPr lang="en-US" sz="2400" dirty="0" smtClean="0"/>
              <a:t>The vital </a:t>
            </a:r>
            <a:r>
              <a:rPr lang="en-US" sz="2400" dirty="0"/>
              <a:t>roles that information systems can perform for a business enterprise. </a:t>
            </a:r>
          </a:p>
          <a:p>
            <a:pPr marL="914400" lvl="1" indent="-457200">
              <a:spcBef>
                <a:spcPct val="0"/>
              </a:spcBef>
              <a:spcAft>
                <a:spcPts val="200"/>
              </a:spcAft>
              <a:buFont typeface="Cambria" panose="02040503050406030204" pitchFamily="18" charset="0"/>
              <a:buAutoNum type="arabicPeriod"/>
            </a:pPr>
            <a:r>
              <a:rPr lang="en-US" altLang="en-US" sz="2400" dirty="0" smtClean="0">
                <a:ea typeface="ＭＳ Ｐゴシック" panose="020B0600070205080204" pitchFamily="34" charset="-128"/>
              </a:rPr>
              <a:t>Operational excellence (</a:t>
            </a:r>
            <a:r>
              <a:rPr lang="en-US" sz="2400" dirty="0"/>
              <a:t>Support of its business processes and operations</a:t>
            </a:r>
            <a:r>
              <a:rPr lang="en-US" sz="2400" dirty="0" smtClean="0"/>
              <a:t>.)</a:t>
            </a:r>
            <a:endParaRPr lang="en-US" altLang="en-US" sz="2400" dirty="0">
              <a:ea typeface="ＭＳ Ｐゴシック" panose="020B0600070205080204" pitchFamily="34" charset="-128"/>
            </a:endParaRPr>
          </a:p>
          <a:p>
            <a:pPr marL="914400" lvl="1" indent="-457200">
              <a:spcBef>
                <a:spcPct val="0"/>
              </a:spcBef>
              <a:spcAft>
                <a:spcPts val="200"/>
              </a:spcAft>
              <a:buFont typeface="Cambria" panose="02040503050406030204" pitchFamily="18" charset="0"/>
              <a:buAutoNum type="arabicPeriod"/>
            </a:pPr>
            <a:r>
              <a:rPr lang="en-US" altLang="en-US" sz="2400" dirty="0">
                <a:ea typeface="ＭＳ Ｐゴシック" panose="020B0600070205080204" pitchFamily="34" charset="-128"/>
              </a:rPr>
              <a:t>New products, services, and business models</a:t>
            </a:r>
          </a:p>
          <a:p>
            <a:pPr marL="914400" lvl="1" indent="-457200">
              <a:spcBef>
                <a:spcPct val="0"/>
              </a:spcBef>
              <a:spcAft>
                <a:spcPts val="200"/>
              </a:spcAft>
              <a:buFont typeface="Cambria" panose="02040503050406030204" pitchFamily="18" charset="0"/>
              <a:buAutoNum type="arabicPeriod"/>
            </a:pPr>
            <a:r>
              <a:rPr lang="en-US" altLang="en-US" sz="2400" dirty="0">
                <a:ea typeface="ＭＳ Ｐゴシック" panose="020B0600070205080204" pitchFamily="34" charset="-128"/>
              </a:rPr>
              <a:t>Customer and supplier intimacy</a:t>
            </a:r>
          </a:p>
          <a:p>
            <a:pPr marL="914400" lvl="1" indent="-457200">
              <a:spcBef>
                <a:spcPct val="0"/>
              </a:spcBef>
              <a:spcAft>
                <a:spcPts val="200"/>
              </a:spcAft>
              <a:buFont typeface="Cambria" panose="02040503050406030204" pitchFamily="18" charset="0"/>
              <a:buAutoNum type="arabicPeriod"/>
            </a:pPr>
            <a:r>
              <a:rPr lang="en-US" altLang="en-US" sz="2400" dirty="0">
                <a:ea typeface="ＭＳ Ｐゴシック" panose="020B0600070205080204" pitchFamily="34" charset="-128"/>
              </a:rPr>
              <a:t>Improved decision making</a:t>
            </a:r>
          </a:p>
          <a:p>
            <a:pPr marL="914400" lvl="1" indent="-457200">
              <a:spcBef>
                <a:spcPct val="0"/>
              </a:spcBef>
              <a:spcAft>
                <a:spcPts val="200"/>
              </a:spcAft>
              <a:buFont typeface="Cambria" panose="02040503050406030204" pitchFamily="18" charset="0"/>
              <a:buAutoNum type="arabicPeriod"/>
            </a:pPr>
            <a:r>
              <a:rPr lang="en-US" altLang="en-US" sz="2400" dirty="0">
                <a:ea typeface="ＭＳ Ｐゴシック" panose="020B0600070205080204" pitchFamily="34" charset="-128"/>
              </a:rPr>
              <a:t>Competitive </a:t>
            </a:r>
            <a:r>
              <a:rPr lang="en-US" altLang="en-US" sz="2400" dirty="0" smtClean="0">
                <a:ea typeface="ＭＳ Ｐゴシック" panose="020B0600070205080204" pitchFamily="34" charset="-128"/>
              </a:rPr>
              <a:t>advantage</a:t>
            </a:r>
          </a:p>
          <a:p>
            <a:pPr marL="914400" lvl="1" indent="-457200">
              <a:spcBef>
                <a:spcPct val="0"/>
              </a:spcBef>
              <a:spcAft>
                <a:spcPts val="200"/>
              </a:spcAft>
              <a:buFont typeface="Cambria" panose="02040503050406030204" pitchFamily="18" charset="0"/>
              <a:buAutoNum type="arabicPeriod"/>
            </a:pPr>
            <a:r>
              <a:rPr lang="en-US" altLang="en-US" sz="2400" dirty="0">
                <a:ea typeface="ＭＳ Ｐゴシック" panose="020B0600070205080204" pitchFamily="34" charset="-128"/>
              </a:rPr>
              <a:t>Survival</a:t>
            </a:r>
            <a:endParaRPr lang="en-US" sz="2400" dirty="0">
              <a:latin typeface="Times New Roman" panose="02020603050405020304" pitchFamily="18" charset="0"/>
              <a:cs typeface="Times New Roman" panose="02020603050405020304" pitchFamily="18" charset="0"/>
            </a:endParaRPr>
          </a:p>
          <a:p>
            <a:pPr marL="914400" lvl="1" indent="-457200">
              <a:spcBef>
                <a:spcPct val="0"/>
              </a:spcBef>
              <a:spcAft>
                <a:spcPts val="200"/>
              </a:spcAft>
              <a:buFont typeface="Cambria" panose="02040503050406030204" pitchFamily="18" charset="0"/>
              <a:buAutoNum type="arabicPeriod"/>
            </a:pPr>
            <a:endParaRPr lang="en-US" altLang="en-US" sz="2400" dirty="0" smtClean="0">
              <a:ea typeface="ＭＳ Ｐゴシック" panose="020B0600070205080204" pitchFamily="34" charset="-128"/>
            </a:endParaRPr>
          </a:p>
          <a:p>
            <a:pPr marL="0" indent="0">
              <a:buNone/>
            </a:pPr>
            <a:endParaRPr lang="en-US" sz="2400" dirty="0"/>
          </a:p>
          <a:p>
            <a:pPr>
              <a:buFont typeface="Wingdings" panose="05000000000000000000" pitchFamily="2" charset="2"/>
              <a:buChar char="Ø"/>
            </a:pPr>
            <a:endParaRPr lang="en-US" sz="2400" dirty="0"/>
          </a:p>
        </p:txBody>
      </p:sp>
    </p:spTree>
    <p:extLst>
      <p:ext uri="{BB962C8B-B14F-4D97-AF65-F5344CB8AC3E}">
        <p14:creationId xmlns:p14="http://schemas.microsoft.com/office/powerpoint/2010/main" val="8508225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670" y="247650"/>
            <a:ext cx="7951680" cy="854641"/>
          </a:xfrm>
        </p:spPr>
        <p:txBody>
          <a:bodyPr>
            <a:normAutofit fontScale="90000"/>
          </a:bodyPr>
          <a:lstStyle/>
          <a:p>
            <a:pPr algn="ctr"/>
            <a:r>
              <a:rPr lang="en-US" sz="3600" dirty="0" smtClean="0">
                <a:solidFill>
                  <a:srgbClr val="00B0F0"/>
                </a:solidFill>
              </a:rPr>
              <a:t/>
            </a:r>
            <a:br>
              <a:rPr lang="en-US" sz="3600" dirty="0" smtClean="0">
                <a:solidFill>
                  <a:srgbClr val="00B0F0"/>
                </a:solidFill>
              </a:rPr>
            </a:br>
            <a:r>
              <a:rPr lang="en-US" sz="3600" dirty="0" smtClean="0">
                <a:solidFill>
                  <a:srgbClr val="00B0F0"/>
                </a:solidFill>
              </a:rPr>
              <a:t>The </a:t>
            </a:r>
            <a:r>
              <a:rPr lang="en-US" sz="3600" dirty="0">
                <a:solidFill>
                  <a:srgbClr val="00B0F0"/>
                </a:solidFill>
              </a:rPr>
              <a:t>vital roles that information systems can perform for a business enterprise</a:t>
            </a:r>
            <a:r>
              <a:rPr lang="en-US" altLang="en-US" sz="4000" cap="none" dirty="0" smtClean="0">
                <a:solidFill>
                  <a:srgbClr val="0D0D0D"/>
                </a:solidFill>
                <a:ea typeface="ＭＳ Ｐゴシック" panose="020B0600070205080204" pitchFamily="34" charset="-128"/>
              </a:rPr>
              <a:t/>
            </a:r>
            <a:br>
              <a:rPr lang="en-US" altLang="en-US" sz="4000" cap="none" dirty="0" smtClean="0">
                <a:solidFill>
                  <a:srgbClr val="0D0D0D"/>
                </a:solidFill>
                <a:ea typeface="ＭＳ Ｐゴシック" panose="020B0600070205080204" pitchFamily="34" charset="-128"/>
              </a:rPr>
            </a:br>
            <a:endParaRPr lang="en-US" cap="none" dirty="0"/>
          </a:p>
        </p:txBody>
      </p:sp>
      <p:sp>
        <p:nvSpPr>
          <p:cNvPr id="3" name="Content Placeholder 2"/>
          <p:cNvSpPr>
            <a:spLocks noGrp="1"/>
          </p:cNvSpPr>
          <p:nvPr>
            <p:ph idx="1"/>
          </p:nvPr>
        </p:nvSpPr>
        <p:spPr>
          <a:xfrm>
            <a:off x="563670" y="1102291"/>
            <a:ext cx="8214533" cy="4987614"/>
          </a:xfrm>
        </p:spPr>
        <p:txBody>
          <a:bodyPr>
            <a:noAutofit/>
          </a:bodyPr>
          <a:lstStyle/>
          <a:p>
            <a:pPr marL="0" indent="0" algn="just">
              <a:buNone/>
            </a:pPr>
            <a:r>
              <a:rPr lang="en-US" altLang="en-US" sz="2400" b="1" dirty="0">
                <a:solidFill>
                  <a:srgbClr val="0D0D0D"/>
                </a:solidFill>
                <a:ea typeface="ＭＳ Ｐゴシック" panose="020B0600070205080204" pitchFamily="34" charset="-128"/>
              </a:rPr>
              <a:t>Operational Excellence:</a:t>
            </a:r>
            <a:endParaRPr lang="en-US" sz="2400" b="1" dirty="0" smtClean="0"/>
          </a:p>
          <a:p>
            <a:pPr algn="just"/>
            <a:r>
              <a:rPr lang="en-US" sz="2400" dirty="0" smtClean="0"/>
              <a:t>Businesses </a:t>
            </a:r>
            <a:r>
              <a:rPr lang="en-US" sz="2400" dirty="0"/>
              <a:t>continuously seek to improve the efficiency of their operations in order to achieve higher profitability. Information systems and technologies are some of the most important tools available to managers for achieving higher levels of efficiency and productivity in business operations, especially when coupled with changes in business practices and management </a:t>
            </a:r>
            <a:r>
              <a:rPr lang="en-US" sz="2400" dirty="0" smtClean="0"/>
              <a:t>behavior. </a:t>
            </a:r>
          </a:p>
          <a:p>
            <a:pPr algn="just"/>
            <a:r>
              <a:rPr lang="en-US" sz="2400" dirty="0" smtClean="0"/>
              <a:t>For example Customers can press orders, pay online, Information systems can  help organization’s </a:t>
            </a:r>
            <a:r>
              <a:rPr lang="en-US" sz="2400" dirty="0"/>
              <a:t>employees </a:t>
            </a:r>
            <a:r>
              <a:rPr lang="en-US" sz="2400" dirty="0" smtClean="0"/>
              <a:t>to record </a:t>
            </a:r>
            <a:r>
              <a:rPr lang="en-US" sz="2400" dirty="0"/>
              <a:t>customer purchases, keep track of inventory, pay employees, buy new merchandise, and evaluate sales trends.</a:t>
            </a:r>
          </a:p>
          <a:p>
            <a:pPr lvl="1" algn="just"/>
            <a:r>
              <a:rPr lang="en-US" altLang="en-US" sz="2400" dirty="0" smtClean="0">
                <a:ea typeface="ＭＳ Ｐゴシック" panose="020B0600070205080204" pitchFamily="34" charset="-128"/>
              </a:rPr>
              <a:t>In Uganda, with </a:t>
            </a:r>
            <a:r>
              <a:rPr lang="en-US" altLang="en-US" sz="2400" dirty="0" err="1" smtClean="0">
                <a:ea typeface="ＭＳ Ｐゴシック" panose="020B0600070205080204" pitchFamily="34" charset="-128"/>
              </a:rPr>
              <a:t>jumia</a:t>
            </a:r>
            <a:r>
              <a:rPr lang="en-US" altLang="en-US" sz="2400" dirty="0" smtClean="0">
                <a:ea typeface="ＭＳ Ｐゴシック" panose="020B0600070205080204" pitchFamily="34" charset="-128"/>
              </a:rPr>
              <a:t> one can buy items via online.</a:t>
            </a:r>
            <a:endParaRPr lang="en-US" sz="2400" dirty="0"/>
          </a:p>
        </p:txBody>
      </p:sp>
    </p:spTree>
    <p:extLst>
      <p:ext uri="{BB962C8B-B14F-4D97-AF65-F5344CB8AC3E}">
        <p14:creationId xmlns:p14="http://schemas.microsoft.com/office/powerpoint/2010/main" val="23524725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3600" dirty="0" smtClean="0">
                <a:solidFill>
                  <a:srgbClr val="00B0F0"/>
                </a:solidFill>
              </a:rPr>
              <a:t>The </a:t>
            </a:r>
            <a:r>
              <a:rPr lang="en-US" sz="3600" dirty="0">
                <a:solidFill>
                  <a:srgbClr val="00B0F0"/>
                </a:solidFill>
              </a:rPr>
              <a:t>vital roles that information systems can perform for a business enterprise</a:t>
            </a:r>
            <a:r>
              <a:rPr lang="en-US" altLang="en-US" sz="4000" cap="none" dirty="0" smtClean="0">
                <a:solidFill>
                  <a:srgbClr val="0D0D0D"/>
                </a:solidFill>
                <a:ea typeface="ＭＳ Ｐゴシック" panose="020B0600070205080204" pitchFamily="34" charset="-128"/>
              </a:rPr>
              <a:t/>
            </a:r>
            <a:br>
              <a:rPr lang="en-US" altLang="en-US" sz="4000" cap="none" dirty="0" smtClean="0">
                <a:solidFill>
                  <a:srgbClr val="0D0D0D"/>
                </a:solidFill>
                <a:ea typeface="ＭＳ Ｐゴシック" panose="020B0600070205080204" pitchFamily="34" charset="-128"/>
              </a:rPr>
            </a:br>
            <a:endParaRPr lang="en-US" cap="none" dirty="0"/>
          </a:p>
        </p:txBody>
      </p:sp>
      <p:sp>
        <p:nvSpPr>
          <p:cNvPr id="3" name="Content Placeholder 2"/>
          <p:cNvSpPr>
            <a:spLocks noGrp="1"/>
          </p:cNvSpPr>
          <p:nvPr>
            <p:ph idx="1"/>
          </p:nvPr>
        </p:nvSpPr>
        <p:spPr>
          <a:xfrm>
            <a:off x="588723" y="1690689"/>
            <a:ext cx="8189481" cy="4786311"/>
          </a:xfrm>
        </p:spPr>
        <p:txBody>
          <a:bodyPr>
            <a:noAutofit/>
          </a:bodyPr>
          <a:lstStyle/>
          <a:p>
            <a:pPr marL="0" indent="0" algn="just">
              <a:buNone/>
            </a:pPr>
            <a:r>
              <a:rPr lang="en-US" altLang="en-US" sz="2400" b="1" dirty="0">
                <a:solidFill>
                  <a:srgbClr val="0D0D0D"/>
                </a:solidFill>
                <a:ea typeface="ＭＳ Ｐゴシック" panose="020B0600070205080204" pitchFamily="34" charset="-128"/>
              </a:rPr>
              <a:t>New Products, Services, And Business Models:</a:t>
            </a:r>
            <a:endParaRPr lang="en-US" sz="2400" b="1" dirty="0" smtClean="0"/>
          </a:p>
          <a:p>
            <a:pPr algn="just"/>
            <a:r>
              <a:rPr lang="en-US" sz="2400" dirty="0" smtClean="0"/>
              <a:t>Information </a:t>
            </a:r>
            <a:r>
              <a:rPr lang="en-US" sz="2400" dirty="0"/>
              <a:t>systems and technologies are a major enabling tool for firms to create new products and services, as well as entirely new business models. </a:t>
            </a:r>
          </a:p>
          <a:p>
            <a:pPr algn="just"/>
            <a:r>
              <a:rPr lang="en-US" sz="2400" dirty="0" smtClean="0"/>
              <a:t>A </a:t>
            </a:r>
            <a:r>
              <a:rPr lang="en-US" sz="2400" dirty="0"/>
              <a:t>business model describes how a company produces, delivers, and sells a product or service to create wealth. As successful as </a:t>
            </a:r>
            <a:r>
              <a:rPr lang="en-US" sz="2400" dirty="0" smtClean="0"/>
              <a:t>Apple, and </a:t>
            </a:r>
            <a:r>
              <a:rPr lang="en-US" sz="2400" dirty="0"/>
              <a:t>Wal-Mart were in their traditional brick-and-mortar existence, they have all introduced new products, services, and business models that have made them both competitive and profitable.</a:t>
            </a:r>
          </a:p>
          <a:p>
            <a:pPr lvl="2" algn="just"/>
            <a:r>
              <a:rPr lang="en-US" altLang="en-US" sz="3200" dirty="0" smtClean="0">
                <a:ea typeface="ＭＳ Ｐゴシック" panose="020B0600070205080204" pitchFamily="34" charset="-128"/>
              </a:rPr>
              <a:t>Examples</a:t>
            </a:r>
            <a:r>
              <a:rPr lang="en-US" altLang="en-US" sz="3200" dirty="0">
                <a:ea typeface="ＭＳ Ｐゴシック" panose="020B0600070205080204" pitchFamily="34" charset="-128"/>
              </a:rPr>
              <a:t>: Apple’s </a:t>
            </a:r>
            <a:r>
              <a:rPr lang="en-US" altLang="en-US" sz="3200" dirty="0" smtClean="0">
                <a:ea typeface="ＭＳ Ｐゴシック" panose="020B0600070205080204" pitchFamily="34" charset="-128"/>
              </a:rPr>
              <a:t>iPod,</a:t>
            </a:r>
            <a:r>
              <a:rPr lang="en-US" altLang="en-US" sz="3200" dirty="0">
                <a:ea typeface="ＭＳ Ｐゴシック" panose="020B0600070205080204" pitchFamily="34" charset="-128"/>
              </a:rPr>
              <a:t> </a:t>
            </a:r>
            <a:r>
              <a:rPr lang="en-US" altLang="en-US" sz="3200" dirty="0" smtClean="0">
                <a:ea typeface="ＭＳ Ｐゴシック" panose="020B0600070205080204" pitchFamily="34" charset="-128"/>
              </a:rPr>
              <a:t>iPhone</a:t>
            </a:r>
            <a:r>
              <a:rPr lang="en-US" altLang="en-US" sz="3200" dirty="0">
                <a:ea typeface="ＭＳ Ｐゴシック" panose="020B0600070205080204" pitchFamily="34" charset="-128"/>
              </a:rPr>
              <a:t>, iPad, Google’s Android OS, and Netflix</a:t>
            </a:r>
          </a:p>
          <a:p>
            <a:pPr algn="just"/>
            <a:endParaRPr lang="en-US" sz="2400" dirty="0"/>
          </a:p>
        </p:txBody>
      </p:sp>
    </p:spTree>
    <p:extLst>
      <p:ext uri="{BB962C8B-B14F-4D97-AF65-F5344CB8AC3E}">
        <p14:creationId xmlns:p14="http://schemas.microsoft.com/office/powerpoint/2010/main" val="35351181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 y="0"/>
            <a:ext cx="8858249" cy="923925"/>
          </a:xfrm>
        </p:spPr>
        <p:txBody>
          <a:bodyPr>
            <a:normAutofit fontScale="90000"/>
          </a:bodyPr>
          <a:lstStyle/>
          <a:p>
            <a:r>
              <a:rPr lang="en-US" altLang="en-US" sz="3200" cap="none" dirty="0" smtClean="0">
                <a:solidFill>
                  <a:srgbClr val="0D0D0D"/>
                </a:solidFill>
                <a:ea typeface="ＭＳ Ｐゴシック" panose="020B0600070205080204" pitchFamily="34" charset="-128"/>
              </a:rPr>
              <a:t/>
            </a:r>
            <a:br>
              <a:rPr lang="en-US" altLang="en-US" sz="3200" cap="none" dirty="0" smtClean="0">
                <a:solidFill>
                  <a:srgbClr val="0D0D0D"/>
                </a:solidFill>
                <a:ea typeface="ＭＳ Ｐゴシック" panose="020B0600070205080204" pitchFamily="34" charset="-128"/>
              </a:rPr>
            </a:br>
            <a:r>
              <a:rPr lang="en-US" sz="3200" dirty="0" smtClean="0">
                <a:solidFill>
                  <a:srgbClr val="00B0F0"/>
                </a:solidFill>
              </a:rPr>
              <a:t>The </a:t>
            </a:r>
            <a:r>
              <a:rPr lang="en-US" sz="3200" dirty="0">
                <a:solidFill>
                  <a:srgbClr val="00B0F0"/>
                </a:solidFill>
              </a:rPr>
              <a:t>vital roles that information systems can perform for a business enterprise</a:t>
            </a:r>
            <a:r>
              <a:rPr lang="en-US" altLang="en-US" sz="3200" cap="none" dirty="0" smtClean="0">
                <a:solidFill>
                  <a:srgbClr val="0D0D0D"/>
                </a:solidFill>
                <a:ea typeface="ＭＳ Ｐゴシック" panose="020B0600070205080204" pitchFamily="34" charset="-128"/>
              </a:rPr>
              <a:t/>
            </a:r>
            <a:br>
              <a:rPr lang="en-US" altLang="en-US" sz="3200" cap="none" dirty="0" smtClean="0">
                <a:solidFill>
                  <a:srgbClr val="0D0D0D"/>
                </a:solidFill>
                <a:ea typeface="ＭＳ Ｐゴシック" panose="020B0600070205080204" pitchFamily="34" charset="-128"/>
              </a:rPr>
            </a:br>
            <a:endParaRPr lang="en-US" sz="4400" cap="none" dirty="0"/>
          </a:p>
        </p:txBody>
      </p:sp>
      <p:sp>
        <p:nvSpPr>
          <p:cNvPr id="3" name="Content Placeholder 2"/>
          <p:cNvSpPr>
            <a:spLocks noGrp="1"/>
          </p:cNvSpPr>
          <p:nvPr>
            <p:ph idx="1"/>
          </p:nvPr>
        </p:nvSpPr>
        <p:spPr>
          <a:xfrm>
            <a:off x="238125" y="923925"/>
            <a:ext cx="8696325" cy="5867400"/>
          </a:xfrm>
        </p:spPr>
        <p:txBody>
          <a:bodyPr>
            <a:noAutofit/>
          </a:bodyPr>
          <a:lstStyle/>
          <a:p>
            <a:pPr marL="0" indent="0" algn="just">
              <a:lnSpc>
                <a:spcPct val="100000"/>
              </a:lnSpc>
              <a:spcBef>
                <a:spcPts val="0"/>
              </a:spcBef>
              <a:buNone/>
            </a:pPr>
            <a:r>
              <a:rPr lang="en-US" altLang="en-US" sz="2400" b="1" dirty="0">
                <a:solidFill>
                  <a:srgbClr val="0D0D0D"/>
                </a:solidFill>
                <a:ea typeface="ＭＳ Ｐゴシック" panose="020B0600070205080204" pitchFamily="34" charset="-128"/>
              </a:rPr>
              <a:t>Customer And Supplier </a:t>
            </a:r>
            <a:r>
              <a:rPr lang="en-US" altLang="en-US" sz="2400" b="1" dirty="0" smtClean="0">
                <a:solidFill>
                  <a:srgbClr val="0D0D0D"/>
                </a:solidFill>
                <a:ea typeface="ＭＳ Ｐゴシック" panose="020B0600070205080204" pitchFamily="34" charset="-128"/>
              </a:rPr>
              <a:t>Intimacy</a:t>
            </a:r>
            <a:endParaRPr lang="en-US" b="1" dirty="0" smtClean="0"/>
          </a:p>
          <a:p>
            <a:pPr algn="just">
              <a:lnSpc>
                <a:spcPct val="100000"/>
              </a:lnSpc>
              <a:spcBef>
                <a:spcPts val="0"/>
              </a:spcBef>
            </a:pPr>
            <a:r>
              <a:rPr lang="en-US" sz="2200" dirty="0" smtClean="0"/>
              <a:t>When a business really knows its customers, and serves them well, the way they want to be served, the customers generally respond by returning and purchasing more. This raises revenues and profits. Likewise with suppliers: </a:t>
            </a:r>
          </a:p>
          <a:p>
            <a:pPr algn="just">
              <a:lnSpc>
                <a:spcPct val="100000"/>
              </a:lnSpc>
              <a:spcBef>
                <a:spcPts val="0"/>
              </a:spcBef>
            </a:pPr>
            <a:r>
              <a:rPr lang="en-US" sz="2200" dirty="0" smtClean="0"/>
              <a:t>The more a business engages its suppliers, the better the suppliers can provide vital inputs. </a:t>
            </a:r>
            <a:r>
              <a:rPr lang="en-US" sz="2200" dirty="0" err="1" smtClean="0"/>
              <a:t>Wal-mart</a:t>
            </a:r>
            <a:r>
              <a:rPr lang="en-US" sz="2200" dirty="0" smtClean="0"/>
              <a:t> is an excellent example of how the use of information systems and technologies are extensively used to better serve their suppliers and retail customers. </a:t>
            </a:r>
          </a:p>
          <a:p>
            <a:pPr algn="just">
              <a:lnSpc>
                <a:spcPct val="100000"/>
              </a:lnSpc>
              <a:spcBef>
                <a:spcPts val="0"/>
              </a:spcBef>
            </a:pPr>
            <a:r>
              <a:rPr lang="en-US" sz="2200" dirty="0" smtClean="0"/>
              <a:t>The real link system that they use digitally links their suppliers to every one of </a:t>
            </a:r>
            <a:r>
              <a:rPr lang="en-US" sz="2200" dirty="0" err="1" smtClean="0"/>
              <a:t>wal-mart’s</a:t>
            </a:r>
            <a:r>
              <a:rPr lang="en-US" sz="2200" dirty="0" smtClean="0"/>
              <a:t> 5,289 stores worldwide. Suppliers are able to ensure the continuous flow of products to the stores in order to satisfy customer demands.</a:t>
            </a:r>
          </a:p>
          <a:p>
            <a:pPr algn="just"/>
            <a:r>
              <a:rPr lang="en-US" altLang="en-US" sz="2200" i="1" dirty="0">
                <a:solidFill>
                  <a:srgbClr val="0070C0"/>
                </a:solidFill>
                <a:ea typeface="ＭＳ Ｐゴシック" panose="020B0600070205080204" pitchFamily="34" charset="-128"/>
              </a:rPr>
              <a:t>Example: High-end hotels that use computers to track customer preferences and use to monitor and customize </a:t>
            </a:r>
            <a:r>
              <a:rPr lang="en-US" altLang="en-US" sz="2200" i="1" dirty="0" smtClean="0">
                <a:solidFill>
                  <a:srgbClr val="0070C0"/>
                </a:solidFill>
                <a:ea typeface="ＭＳ Ｐゴシック" panose="020B0600070205080204" pitchFamily="34" charset="-128"/>
              </a:rPr>
              <a:t>environment.</a:t>
            </a:r>
            <a:endParaRPr lang="en-US" altLang="en-US" sz="2200" i="1" dirty="0">
              <a:solidFill>
                <a:srgbClr val="0070C0"/>
              </a:solidFill>
              <a:ea typeface="ＭＳ Ｐゴシック" panose="020B0600070205080204" pitchFamily="34" charset="-128"/>
            </a:endParaRPr>
          </a:p>
          <a:p>
            <a:pPr algn="just"/>
            <a:r>
              <a:rPr lang="en-US" altLang="en-US" sz="2200" i="1" dirty="0">
                <a:solidFill>
                  <a:srgbClr val="0070C0"/>
                </a:solidFill>
                <a:ea typeface="ＭＳ Ｐゴシック" panose="020B0600070205080204" pitchFamily="34" charset="-128"/>
              </a:rPr>
              <a:t>Intimacy with suppliers allows them to provide vital inputs, which lowers </a:t>
            </a:r>
            <a:r>
              <a:rPr lang="en-US" altLang="en-US" sz="2200" i="1" dirty="0" smtClean="0">
                <a:solidFill>
                  <a:srgbClr val="0070C0"/>
                </a:solidFill>
                <a:ea typeface="ＭＳ Ｐゴシック" panose="020B0600070205080204" pitchFamily="34" charset="-128"/>
              </a:rPr>
              <a:t>costs</a:t>
            </a:r>
            <a:endParaRPr lang="en-US" altLang="en-US" sz="2200" i="1" dirty="0">
              <a:solidFill>
                <a:srgbClr val="0070C0"/>
              </a:solidFill>
              <a:ea typeface="ＭＳ Ｐゴシック" panose="020B0600070205080204" pitchFamily="34" charset="-128"/>
            </a:endParaRPr>
          </a:p>
        </p:txBody>
      </p:sp>
    </p:spTree>
    <p:extLst>
      <p:ext uri="{BB962C8B-B14F-4D97-AF65-F5344CB8AC3E}">
        <p14:creationId xmlns:p14="http://schemas.microsoft.com/office/powerpoint/2010/main" val="25410974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 y="104775"/>
            <a:ext cx="9229725" cy="723900"/>
          </a:xfrm>
        </p:spPr>
        <p:txBody>
          <a:bodyPr>
            <a:normAutofit fontScale="90000"/>
          </a:bodyPr>
          <a:lstStyle/>
          <a:p>
            <a:pPr algn="ctr"/>
            <a:r>
              <a:rPr lang="en-US" sz="3600" dirty="0" smtClean="0"/>
              <a:t/>
            </a:r>
            <a:br>
              <a:rPr lang="en-US" sz="3600" dirty="0" smtClean="0"/>
            </a:br>
            <a:r>
              <a:rPr lang="en-US" sz="3600" dirty="0" smtClean="0">
                <a:solidFill>
                  <a:srgbClr val="00B0F0"/>
                </a:solidFill>
              </a:rPr>
              <a:t>The </a:t>
            </a:r>
            <a:r>
              <a:rPr lang="en-US" sz="3600" dirty="0">
                <a:solidFill>
                  <a:srgbClr val="00B0F0"/>
                </a:solidFill>
              </a:rPr>
              <a:t>vital roles that information systems can perform for a business enterprise</a:t>
            </a:r>
            <a:r>
              <a:rPr lang="en-US" altLang="en-US" cap="none" dirty="0" smtClean="0">
                <a:solidFill>
                  <a:srgbClr val="0D0D0D"/>
                </a:solidFill>
                <a:ea typeface="ＭＳ Ｐゴシック" panose="020B0600070205080204" pitchFamily="34" charset="-128"/>
              </a:rPr>
              <a:t/>
            </a:r>
            <a:br>
              <a:rPr lang="en-US" altLang="en-US" cap="none" dirty="0" smtClean="0">
                <a:solidFill>
                  <a:srgbClr val="0D0D0D"/>
                </a:solidFill>
                <a:ea typeface="ＭＳ Ｐゴシック" panose="020B0600070205080204" pitchFamily="34" charset="-128"/>
              </a:rPr>
            </a:br>
            <a:endParaRPr lang="en-US" cap="none" dirty="0"/>
          </a:p>
        </p:txBody>
      </p:sp>
      <p:sp>
        <p:nvSpPr>
          <p:cNvPr id="3" name="Content Placeholder 2"/>
          <p:cNvSpPr>
            <a:spLocks noGrp="1"/>
          </p:cNvSpPr>
          <p:nvPr>
            <p:ph idx="1"/>
          </p:nvPr>
        </p:nvSpPr>
        <p:spPr>
          <a:xfrm>
            <a:off x="0" y="923925"/>
            <a:ext cx="9048750" cy="5934075"/>
          </a:xfrm>
        </p:spPr>
        <p:txBody>
          <a:bodyPr>
            <a:noAutofit/>
          </a:bodyPr>
          <a:lstStyle/>
          <a:p>
            <a:pPr algn="just">
              <a:lnSpc>
                <a:spcPct val="150000"/>
              </a:lnSpc>
              <a:spcBef>
                <a:spcPts val="0"/>
              </a:spcBef>
            </a:pPr>
            <a:r>
              <a:rPr lang="en-US" altLang="en-US" sz="2000" b="1" dirty="0">
                <a:solidFill>
                  <a:srgbClr val="0D0D0D"/>
                </a:solidFill>
                <a:ea typeface="ＭＳ Ｐゴシック" panose="020B0600070205080204" pitchFamily="34" charset="-128"/>
              </a:rPr>
              <a:t>Improved Decision Making</a:t>
            </a:r>
            <a:endParaRPr lang="en-US" sz="2000" b="1" dirty="0" smtClean="0"/>
          </a:p>
          <a:p>
            <a:pPr algn="just">
              <a:lnSpc>
                <a:spcPct val="150000"/>
              </a:lnSpc>
              <a:spcBef>
                <a:spcPts val="0"/>
              </a:spcBef>
            </a:pPr>
            <a:r>
              <a:rPr lang="en-US" sz="2000" dirty="0" smtClean="0"/>
              <a:t>Information </a:t>
            </a:r>
            <a:r>
              <a:rPr lang="en-US" sz="2000" dirty="0"/>
              <a:t>systems and technologies have made it possible for managers to use real-time data from the marketplace when making decisions. </a:t>
            </a:r>
            <a:endParaRPr lang="en-US" sz="2000" dirty="0" smtClean="0"/>
          </a:p>
          <a:p>
            <a:pPr algn="just">
              <a:lnSpc>
                <a:spcPct val="150000"/>
              </a:lnSpc>
              <a:spcBef>
                <a:spcPts val="0"/>
              </a:spcBef>
            </a:pPr>
            <a:endParaRPr lang="en-US" sz="2000" dirty="0"/>
          </a:p>
          <a:p>
            <a:pPr algn="just">
              <a:lnSpc>
                <a:spcPct val="150000"/>
              </a:lnSpc>
              <a:spcBef>
                <a:spcPts val="0"/>
              </a:spcBef>
            </a:pPr>
            <a:r>
              <a:rPr lang="en-US" sz="2000" dirty="0" smtClean="0"/>
              <a:t>Information </a:t>
            </a:r>
            <a:r>
              <a:rPr lang="en-US" sz="2000" dirty="0"/>
              <a:t>systems also help </a:t>
            </a:r>
            <a:r>
              <a:rPr lang="en-US" sz="2000" dirty="0" smtClean="0"/>
              <a:t>managers </a:t>
            </a:r>
            <a:r>
              <a:rPr lang="en-US" sz="2000" dirty="0"/>
              <a:t>and other business professionals make better decisions. For example, decisions about what lines of merchandise need to be added or discontinued and what kind of investments they require. </a:t>
            </a:r>
            <a:endParaRPr lang="en-US" sz="2000" dirty="0" smtClean="0"/>
          </a:p>
          <a:p>
            <a:pPr algn="just">
              <a:lnSpc>
                <a:spcPct val="150000"/>
              </a:lnSpc>
              <a:spcBef>
                <a:spcPts val="0"/>
              </a:spcBef>
            </a:pPr>
            <a:r>
              <a:rPr lang="en-US" sz="2000" dirty="0" smtClean="0"/>
              <a:t>Previously</a:t>
            </a:r>
            <a:r>
              <a:rPr lang="en-US" sz="2000" dirty="0"/>
              <a:t>, managers did not have access to accurate and current data and as such relied on forecasts, best guesses, and luck. </a:t>
            </a:r>
            <a:endParaRPr lang="en-US" sz="2000" dirty="0" smtClean="0"/>
          </a:p>
          <a:p>
            <a:pPr algn="just">
              <a:lnSpc>
                <a:spcPct val="150000"/>
              </a:lnSpc>
              <a:spcBef>
                <a:spcPts val="0"/>
              </a:spcBef>
            </a:pPr>
            <a:endParaRPr lang="en-US" sz="2000" dirty="0"/>
          </a:p>
          <a:p>
            <a:pPr algn="just">
              <a:lnSpc>
                <a:spcPct val="150000"/>
              </a:lnSpc>
              <a:spcBef>
                <a:spcPts val="0"/>
              </a:spcBef>
            </a:pPr>
            <a:r>
              <a:rPr lang="en-US" sz="2000" dirty="0" smtClean="0"/>
              <a:t>The </a:t>
            </a:r>
            <a:r>
              <a:rPr lang="en-US" sz="2000" dirty="0"/>
              <a:t>inability to make informed decision resulted in raising costs </a:t>
            </a:r>
            <a:r>
              <a:rPr lang="en-US" sz="2000" dirty="0" smtClean="0"/>
              <a:t>,</a:t>
            </a:r>
            <a:r>
              <a:rPr lang="en-US" altLang="en-US" sz="2000" dirty="0">
                <a:ea typeface="ＭＳ Ｐゴシック" panose="020B0600070205080204" pitchFamily="34" charset="-128"/>
              </a:rPr>
              <a:t> Overproduction, underproduction of goods and services, Misallocation of resources, Poor response times, </a:t>
            </a:r>
            <a:r>
              <a:rPr lang="en-US" altLang="en-US" sz="2000" dirty="0"/>
              <a:t>Poor outcomes raise </a:t>
            </a:r>
            <a:r>
              <a:rPr lang="en-US" altLang="en-US" sz="2000" dirty="0" smtClean="0"/>
              <a:t>costs and </a:t>
            </a:r>
            <a:r>
              <a:rPr lang="en-US" altLang="en-US" sz="2000" dirty="0"/>
              <a:t>lose customers </a:t>
            </a:r>
            <a:endParaRPr lang="en-US" sz="2000" dirty="0"/>
          </a:p>
          <a:p>
            <a:pPr marL="0" indent="0" algn="just">
              <a:lnSpc>
                <a:spcPct val="150000"/>
              </a:lnSpc>
              <a:spcBef>
                <a:spcPts val="0"/>
              </a:spcBef>
              <a:buNone/>
            </a:pPr>
            <a:r>
              <a:rPr lang="en-US" altLang="en-US" sz="1800" dirty="0" smtClean="0">
                <a:ea typeface="ＭＳ Ｐゴシック" panose="020B0600070205080204" pitchFamily="34" charset="-128"/>
              </a:rPr>
              <a:t> </a:t>
            </a:r>
            <a:endParaRPr lang="en-US" sz="1800" dirty="0"/>
          </a:p>
        </p:txBody>
      </p:sp>
    </p:spTree>
    <p:extLst>
      <p:ext uri="{BB962C8B-B14F-4D97-AF65-F5344CB8AC3E}">
        <p14:creationId xmlns:p14="http://schemas.microsoft.com/office/powerpoint/2010/main" val="29390546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758" y="114301"/>
            <a:ext cx="7633742" cy="1181100"/>
          </a:xfrm>
        </p:spPr>
        <p:txBody>
          <a:bodyPr>
            <a:normAutofit fontScale="90000"/>
          </a:bodyPr>
          <a:lstStyle/>
          <a:p>
            <a:r>
              <a:rPr lang="en-US" sz="4000" dirty="0" smtClean="0">
                <a:solidFill>
                  <a:srgbClr val="00B0F0"/>
                </a:solidFill>
              </a:rPr>
              <a:t>The </a:t>
            </a:r>
            <a:r>
              <a:rPr lang="en-US" sz="4000" dirty="0">
                <a:solidFill>
                  <a:srgbClr val="00B0F0"/>
                </a:solidFill>
              </a:rPr>
              <a:t>vital roles that information systems can perform for a business enterprise</a:t>
            </a:r>
            <a:r>
              <a:rPr lang="en-US" sz="4000" b="1" cap="none" dirty="0" smtClean="0">
                <a:solidFill>
                  <a:srgbClr val="00B0F0"/>
                </a:solidFill>
              </a:rPr>
              <a:t> </a:t>
            </a:r>
            <a:endParaRPr lang="en-US" cap="none" dirty="0">
              <a:solidFill>
                <a:srgbClr val="00B0F0"/>
              </a:solidFill>
            </a:endParaRPr>
          </a:p>
        </p:txBody>
      </p:sp>
      <p:sp>
        <p:nvSpPr>
          <p:cNvPr id="3" name="Content Placeholder 2"/>
          <p:cNvSpPr>
            <a:spLocks noGrp="1"/>
          </p:cNvSpPr>
          <p:nvPr>
            <p:ph idx="1"/>
          </p:nvPr>
        </p:nvSpPr>
        <p:spPr>
          <a:xfrm>
            <a:off x="238125" y="1485899"/>
            <a:ext cx="8591550" cy="5000625"/>
          </a:xfrm>
        </p:spPr>
        <p:txBody>
          <a:bodyPr>
            <a:noAutofit/>
          </a:bodyPr>
          <a:lstStyle/>
          <a:p>
            <a:pPr algn="just"/>
            <a:r>
              <a:rPr lang="en-US" altLang="en-US" sz="2400" b="1" dirty="0">
                <a:solidFill>
                  <a:srgbClr val="0D0D0D"/>
                </a:solidFill>
                <a:ea typeface="ＭＳ Ｐゴシック" panose="020B0600070205080204" pitchFamily="34" charset="-128"/>
              </a:rPr>
              <a:t>Competitive Advantage</a:t>
            </a:r>
            <a:endParaRPr lang="en-US" altLang="en-US" b="1" dirty="0" smtClean="0">
              <a:ea typeface="ＭＳ Ｐゴシック" panose="020B0600070205080204" pitchFamily="34" charset="-128"/>
            </a:endParaRPr>
          </a:p>
          <a:p>
            <a:pPr algn="just"/>
            <a:r>
              <a:rPr lang="en-US" altLang="en-US" dirty="0" smtClean="0">
                <a:ea typeface="ＭＳ Ｐゴシック" panose="020B0600070205080204" pitchFamily="34" charset="-128"/>
              </a:rPr>
              <a:t>Delivering </a:t>
            </a:r>
            <a:r>
              <a:rPr lang="en-US" altLang="en-US" dirty="0">
                <a:ea typeface="ＭＳ Ｐゴシック" panose="020B0600070205080204" pitchFamily="34" charset="-128"/>
              </a:rPr>
              <a:t>better </a:t>
            </a:r>
            <a:r>
              <a:rPr lang="en-US" altLang="en-US" dirty="0" smtClean="0">
                <a:ea typeface="ＭＳ Ｐゴシック" panose="020B0600070205080204" pitchFamily="34" charset="-128"/>
              </a:rPr>
              <a:t>performance, d</a:t>
            </a:r>
            <a:r>
              <a:rPr lang="en-US" dirty="0" smtClean="0"/>
              <a:t>oing </a:t>
            </a:r>
            <a:r>
              <a:rPr lang="en-US" dirty="0"/>
              <a:t>things better than your competitors, charging less for superior products, and responding to customers and suppliers in real time all add up to higher sales and higher profits that your competitors cannot match. </a:t>
            </a:r>
          </a:p>
          <a:p>
            <a:pPr algn="just"/>
            <a:r>
              <a:rPr lang="en-US" dirty="0" smtClean="0"/>
              <a:t>Gaining </a:t>
            </a:r>
            <a:r>
              <a:rPr lang="en-US" dirty="0"/>
              <a:t>a strategic advantage over competitors requires the innovative application of information technologies. For example, </a:t>
            </a:r>
            <a:r>
              <a:rPr lang="en-US" dirty="0" smtClean="0"/>
              <a:t>store management </a:t>
            </a:r>
            <a:r>
              <a:rPr lang="en-US" dirty="0"/>
              <a:t>might make a decision to install touch-screen kiosks in all stores, with links to the e-commerce Web site for online </a:t>
            </a:r>
            <a:r>
              <a:rPr lang="en-US" dirty="0" smtClean="0"/>
              <a:t>shopping</a:t>
            </a:r>
          </a:p>
          <a:p>
            <a:pPr marL="240030" lvl="1" indent="0" algn="just">
              <a:lnSpc>
                <a:spcPct val="100000"/>
              </a:lnSpc>
              <a:spcBef>
                <a:spcPts val="0"/>
              </a:spcBef>
              <a:buNone/>
            </a:pPr>
            <a:endParaRPr lang="en-US" sz="2000" dirty="0" smtClean="0"/>
          </a:p>
          <a:p>
            <a:pPr marL="240030" lvl="1" indent="0" algn="just">
              <a:lnSpc>
                <a:spcPct val="100000"/>
              </a:lnSpc>
              <a:spcBef>
                <a:spcPts val="0"/>
              </a:spcBef>
              <a:buNone/>
            </a:pPr>
            <a:r>
              <a:rPr lang="en-US" sz="2000" dirty="0" smtClean="0"/>
              <a:t>Dell</a:t>
            </a:r>
            <a:r>
              <a:rPr lang="en-US" sz="2000" dirty="0"/>
              <a:t> </a:t>
            </a:r>
            <a:r>
              <a:rPr lang="en-US" sz="2000" dirty="0" smtClean="0"/>
              <a:t>Computers, </a:t>
            </a:r>
            <a:r>
              <a:rPr lang="en-US" altLang="en-US" sz="2000" dirty="0" smtClean="0">
                <a:ea typeface="ＭＳ Ｐゴシック" panose="020B0600070205080204" pitchFamily="34" charset="-128"/>
              </a:rPr>
              <a:t>Apple</a:t>
            </a:r>
            <a:r>
              <a:rPr lang="en-US" altLang="en-US" sz="2000" dirty="0">
                <a:ea typeface="ＭＳ Ｐゴシック" panose="020B0600070205080204" pitchFamily="34" charset="-128"/>
              </a:rPr>
              <a:t>, </a:t>
            </a:r>
            <a:r>
              <a:rPr lang="en-US" sz="2000" dirty="0" smtClean="0"/>
              <a:t> </a:t>
            </a:r>
            <a:r>
              <a:rPr lang="en-US" sz="2000" dirty="0"/>
              <a:t>and Wal-Mart are prime examples of how these companies used information systems and technologies to separate themselves from their competition. Dell remains the most efficient producer of PCs in the world. Wal-Mart is the most efficient retail store in the industry</a:t>
            </a:r>
          </a:p>
          <a:p>
            <a:pPr marL="240030" lvl="1" indent="0" algn="just">
              <a:lnSpc>
                <a:spcPct val="100000"/>
              </a:lnSpc>
              <a:spcBef>
                <a:spcPts val="0"/>
              </a:spcBef>
              <a:buNone/>
            </a:pPr>
            <a:endParaRPr lang="en-US" altLang="en-US" sz="2000" dirty="0">
              <a:ea typeface="ＭＳ Ｐゴシック" panose="020B0600070205080204" pitchFamily="34" charset="-128"/>
            </a:endParaRPr>
          </a:p>
          <a:p>
            <a:pPr algn="just">
              <a:lnSpc>
                <a:spcPct val="100000"/>
              </a:lnSpc>
            </a:pPr>
            <a:endParaRPr lang="en-US" dirty="0"/>
          </a:p>
          <a:p>
            <a:pPr algn="just"/>
            <a:endParaRPr lang="en-US" dirty="0"/>
          </a:p>
        </p:txBody>
      </p:sp>
    </p:spTree>
    <p:extLst>
      <p:ext uri="{BB962C8B-B14F-4D97-AF65-F5344CB8AC3E}">
        <p14:creationId xmlns:p14="http://schemas.microsoft.com/office/powerpoint/2010/main" val="8025214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675" y="276225"/>
            <a:ext cx="8696325" cy="1247775"/>
          </a:xfrm>
        </p:spPr>
        <p:txBody>
          <a:bodyPr>
            <a:noAutofit/>
          </a:bodyPr>
          <a:lstStyle/>
          <a:p>
            <a:r>
              <a:rPr lang="en-US" sz="2800" dirty="0" smtClean="0">
                <a:solidFill>
                  <a:srgbClr val="00B0F0"/>
                </a:solidFill>
              </a:rPr>
              <a:t>The </a:t>
            </a:r>
            <a:r>
              <a:rPr lang="en-US" sz="2800" dirty="0">
                <a:solidFill>
                  <a:srgbClr val="00B0F0"/>
                </a:solidFill>
              </a:rPr>
              <a:t>vital roles that information systems can perform for a business enterprise</a:t>
            </a:r>
            <a:r>
              <a:rPr lang="en-US" altLang="en-US" sz="2800" dirty="0">
                <a:solidFill>
                  <a:srgbClr val="00B0F0"/>
                </a:solidFill>
                <a:ea typeface="ＭＳ Ｐゴシック" panose="020B0600070205080204" pitchFamily="34" charset="-128"/>
              </a:rPr>
              <a:t/>
            </a:r>
            <a:br>
              <a:rPr lang="en-US" altLang="en-US" sz="2800" dirty="0">
                <a:solidFill>
                  <a:srgbClr val="00B0F0"/>
                </a:solidFill>
                <a:ea typeface="ＭＳ Ｐゴシック" panose="020B0600070205080204" pitchFamily="34" charset="-128"/>
              </a:rPr>
            </a:br>
            <a:endParaRPr lang="en-US" sz="2800" dirty="0">
              <a:solidFill>
                <a:srgbClr val="00B0F0"/>
              </a:solidFill>
            </a:endParaRPr>
          </a:p>
        </p:txBody>
      </p:sp>
      <p:sp>
        <p:nvSpPr>
          <p:cNvPr id="3" name="Content Placeholder 2"/>
          <p:cNvSpPr>
            <a:spLocks noGrp="1"/>
          </p:cNvSpPr>
          <p:nvPr>
            <p:ph idx="1"/>
          </p:nvPr>
        </p:nvSpPr>
        <p:spPr>
          <a:xfrm>
            <a:off x="333375" y="1690689"/>
            <a:ext cx="8444829" cy="4795835"/>
          </a:xfrm>
        </p:spPr>
        <p:txBody>
          <a:bodyPr>
            <a:normAutofit/>
          </a:bodyPr>
          <a:lstStyle/>
          <a:p>
            <a:pPr algn="just"/>
            <a:r>
              <a:rPr lang="en-US" altLang="en-US" sz="2400" dirty="0">
                <a:solidFill>
                  <a:srgbClr val="00B0F0"/>
                </a:solidFill>
                <a:ea typeface="ＭＳ Ｐゴシック" panose="020B0600070205080204" pitchFamily="34" charset="-128"/>
              </a:rPr>
              <a:t>Survival</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Firms </a:t>
            </a:r>
            <a:r>
              <a:rPr lang="en-US" dirty="0">
                <a:latin typeface="Times New Roman" panose="02020603050405020304" pitchFamily="18" charset="0"/>
                <a:cs typeface="Times New Roman" panose="02020603050405020304" pitchFamily="18" charset="0"/>
              </a:rPr>
              <a:t>also invest in information systems and technologies because they are necessities of doing business. Information system is not a luxury. In most businesses, information systems and technology is the core to survival. Citibank was the first banking firm to introduce ATMs. </a:t>
            </a:r>
          </a:p>
          <a:p>
            <a:pPr algn="just"/>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doing so, they had a major competitive advantage over their competitors. In order to remain and survive in the retail banking industry, other banks had no choice but to provide ATM services to banking </a:t>
            </a:r>
            <a:r>
              <a:rPr lang="en-US" dirty="0" smtClean="0">
                <a:latin typeface="Times New Roman" panose="02020603050405020304" pitchFamily="18" charset="0"/>
                <a:cs typeface="Times New Roman" panose="02020603050405020304" pitchFamily="18" charset="0"/>
              </a:rPr>
              <a:t>customers</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39156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1872</TotalTime>
  <Words>2816</Words>
  <Application>Microsoft Office PowerPoint</Application>
  <PresentationFormat>On-screen Show (4:3)</PresentationFormat>
  <Paragraphs>194</Paragraphs>
  <Slides>36</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ＭＳ Ｐゴシック</vt:lpstr>
      <vt:lpstr>Arial</vt:lpstr>
      <vt:lpstr>Calibri</vt:lpstr>
      <vt:lpstr>Calibri Light</vt:lpstr>
      <vt:lpstr>Cambria</vt:lpstr>
      <vt:lpstr>Times New Roman</vt:lpstr>
      <vt:lpstr>Verdana</vt:lpstr>
      <vt:lpstr>Wingdings</vt:lpstr>
      <vt:lpstr>Office Theme</vt:lpstr>
      <vt:lpstr>Introduction to Information Systems        </vt:lpstr>
      <vt:lpstr>Objectives</vt:lpstr>
      <vt:lpstr>System-Definition</vt:lpstr>
      <vt:lpstr>System -Definition</vt:lpstr>
      <vt:lpstr>Elements of a system</vt:lpstr>
      <vt:lpstr>Elements of a system</vt:lpstr>
      <vt:lpstr>PowerPoint Presentation</vt:lpstr>
      <vt:lpstr>Characteristics Of A System:  </vt:lpstr>
      <vt:lpstr>Types of System </vt:lpstr>
      <vt:lpstr>PowerPoint Presentation</vt:lpstr>
      <vt:lpstr>PowerPoint Presentation</vt:lpstr>
      <vt:lpstr>PowerPoint Presentation</vt:lpstr>
      <vt:lpstr>Definition of An Information System</vt:lpstr>
      <vt:lpstr>PowerPoint Presentation</vt:lpstr>
      <vt:lpstr>Data, Information and Knowledge</vt:lpstr>
      <vt:lpstr>Characteristics Of Good Information</vt:lpstr>
      <vt:lpstr>Characteristics Of Good Information</vt:lpstr>
      <vt:lpstr>Characteristics Of Good Information</vt:lpstr>
      <vt:lpstr>Components Of An Information System</vt:lpstr>
      <vt:lpstr>Components Of Information System </vt:lpstr>
      <vt:lpstr>  Components Of Information System cont’d  </vt:lpstr>
      <vt:lpstr>Components Of Information System cont’d   </vt:lpstr>
      <vt:lpstr>Components Of Information System cont’d  </vt:lpstr>
      <vt:lpstr>Components Of Information System cont’d     </vt:lpstr>
      <vt:lpstr>Components Of Information System cont’d  </vt:lpstr>
      <vt:lpstr>Components Of Information System cont’d </vt:lpstr>
      <vt:lpstr> Components Of Information System cont’d  </vt:lpstr>
      <vt:lpstr>Functions Of Information System</vt:lpstr>
      <vt:lpstr>Functions of system</vt:lpstr>
      <vt:lpstr>Role Of Information Systems </vt:lpstr>
      <vt:lpstr> The vital roles that information systems can perform for a business enterprise </vt:lpstr>
      <vt:lpstr>The vital roles that information systems can perform for a business enterprise </vt:lpstr>
      <vt:lpstr> The vital roles that information systems can perform for a business enterprise </vt:lpstr>
      <vt:lpstr> The vital roles that information systems can perform for a business enterprise </vt:lpstr>
      <vt:lpstr>The vital roles that information systems can perform for a business enterprise </vt:lpstr>
      <vt:lpstr>The vital roles that information systems can perform for a business enterprise </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Information Systems        </dc:title>
  <dc:creator>Andrewk</dc:creator>
  <cp:lastModifiedBy>pc</cp:lastModifiedBy>
  <cp:revision>161</cp:revision>
  <dcterms:created xsi:type="dcterms:W3CDTF">2019-08-15T10:31:59Z</dcterms:created>
  <dcterms:modified xsi:type="dcterms:W3CDTF">2023-08-31T04:59:49Z</dcterms:modified>
</cp:coreProperties>
</file>