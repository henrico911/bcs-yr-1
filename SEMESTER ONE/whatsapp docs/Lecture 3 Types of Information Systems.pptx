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0"/>
  </p:notesMasterIdLst>
  <p:sldIdLst>
    <p:sldId id="293" r:id="rId2"/>
    <p:sldId id="297" r:id="rId3"/>
    <p:sldId id="327" r:id="rId4"/>
    <p:sldId id="328" r:id="rId5"/>
    <p:sldId id="295" r:id="rId6"/>
    <p:sldId id="257" r:id="rId7"/>
    <p:sldId id="296" r:id="rId8"/>
    <p:sldId id="260" r:id="rId9"/>
    <p:sldId id="261" r:id="rId10"/>
    <p:sldId id="285" r:id="rId11"/>
    <p:sldId id="262" r:id="rId12"/>
    <p:sldId id="263" r:id="rId13"/>
    <p:sldId id="332" r:id="rId14"/>
    <p:sldId id="334" r:id="rId15"/>
    <p:sldId id="335" r:id="rId16"/>
    <p:sldId id="298" r:id="rId17"/>
    <p:sldId id="299" r:id="rId18"/>
    <p:sldId id="329" r:id="rId19"/>
    <p:sldId id="300" r:id="rId20"/>
    <p:sldId id="301" r:id="rId21"/>
    <p:sldId id="302" r:id="rId22"/>
    <p:sldId id="303" r:id="rId23"/>
    <p:sldId id="336" r:id="rId24"/>
    <p:sldId id="337" r:id="rId25"/>
    <p:sldId id="338" r:id="rId26"/>
    <p:sldId id="339" r:id="rId27"/>
    <p:sldId id="340" r:id="rId28"/>
    <p:sldId id="341" r:id="rId29"/>
    <p:sldId id="342" r:id="rId30"/>
    <p:sldId id="343" r:id="rId31"/>
    <p:sldId id="344" r:id="rId32"/>
    <p:sldId id="345" r:id="rId33"/>
    <p:sldId id="346" r:id="rId34"/>
    <p:sldId id="347" r:id="rId35"/>
    <p:sldId id="348" r:id="rId36"/>
    <p:sldId id="349" r:id="rId37"/>
    <p:sldId id="350" r:id="rId38"/>
    <p:sldId id="351" r:id="rId39"/>
    <p:sldId id="258" r:id="rId40"/>
    <p:sldId id="291" r:id="rId41"/>
    <p:sldId id="326" r:id="rId42"/>
    <p:sldId id="274" r:id="rId43"/>
    <p:sldId id="308" r:id="rId44"/>
    <p:sldId id="304" r:id="rId45"/>
    <p:sldId id="305" r:id="rId46"/>
    <p:sldId id="306" r:id="rId47"/>
    <p:sldId id="307" r:id="rId48"/>
    <p:sldId id="331"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43" autoAdjust="0"/>
    <p:restoredTop sz="94660"/>
  </p:normalViewPr>
  <p:slideViewPr>
    <p:cSldViewPr snapToGrid="0">
      <p:cViewPr varScale="1">
        <p:scale>
          <a:sx n="81" d="100"/>
          <a:sy n="81" d="100"/>
        </p:scale>
        <p:origin x="172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EFA70B-3DF6-4FF6-800C-19A6718F7065}" type="doc">
      <dgm:prSet loTypeId="urn:microsoft.com/office/officeart/2005/8/layout/orgChart1" loCatId="hierarchy" qsTypeId="urn:microsoft.com/office/officeart/2005/8/quickstyle/3d3" qsCatId="3D" csTypeId="urn:microsoft.com/office/officeart/2005/8/colors/colorful4" csCatId="colorful" phldr="1"/>
      <dgm:spPr/>
      <dgm:t>
        <a:bodyPr/>
        <a:lstStyle/>
        <a:p>
          <a:endParaRPr lang="en-US"/>
        </a:p>
      </dgm:t>
    </dgm:pt>
    <dgm:pt modelId="{7C8307CD-FAE5-4D8D-BF6A-8036108B97B6}">
      <dgm:prSet phldrT="[Text]" custT="1"/>
      <dgm:spPr/>
      <dgm:t>
        <a:bodyPr/>
        <a:lstStyle/>
        <a:p>
          <a:r>
            <a:rPr lang="en-US" sz="2000" b="1" cap="none" spc="0" smtClean="0">
              <a:ln w="6600">
                <a:prstDash val="solid"/>
              </a:ln>
              <a:effectLst>
                <a:outerShdw dist="38100" dir="2700000" algn="tl" rotWithShape="0">
                  <a:schemeClr val="accent2"/>
                </a:outerShdw>
              </a:effectLst>
            </a:rPr>
            <a:t>Information Systems</a:t>
          </a:r>
          <a:endParaRPr lang="en-US" sz="2000" b="1" cap="none" spc="0" dirty="0">
            <a:ln w="6600">
              <a:prstDash val="solid"/>
            </a:ln>
            <a:effectLst>
              <a:outerShdw dist="38100" dir="2700000" algn="tl" rotWithShape="0">
                <a:schemeClr val="accent2"/>
              </a:outerShdw>
            </a:effectLst>
          </a:endParaRPr>
        </a:p>
      </dgm:t>
    </dgm:pt>
    <dgm:pt modelId="{BC77EF79-7401-49C4-9EDD-6327F1F99648}" type="parTrans" cxnId="{CBA83409-C86B-4559-ABFF-E63D6EA9C0C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D778E3A8-621A-40D8-BD37-E09C756D0C00}" type="sibTrans" cxnId="{CBA83409-C86B-4559-ABFF-E63D6EA9C0C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36D1E90D-B80E-4D03-9695-4EA551DD2E5B}">
      <dgm:prSet phldrT="[Text]" custT="1"/>
      <dgm:spPr/>
      <dgm:t>
        <a:bodyPr/>
        <a:lstStyle/>
        <a:p>
          <a:r>
            <a:rPr lang="en-US" sz="2000" b="1" cap="none" spc="0" smtClean="0">
              <a:ln w="6600">
                <a:prstDash val="solid"/>
              </a:ln>
              <a:effectLst>
                <a:outerShdw dist="38100" dir="2700000" algn="tl" rotWithShape="0">
                  <a:schemeClr val="accent2"/>
                </a:outerShdw>
              </a:effectLst>
            </a:rPr>
            <a:t>Operation</a:t>
          </a:r>
        </a:p>
        <a:p>
          <a:r>
            <a:rPr lang="en-US" sz="2000" b="1" cap="none" spc="0" smtClean="0">
              <a:ln w="6600">
                <a:prstDash val="solid"/>
              </a:ln>
              <a:effectLst>
                <a:outerShdw dist="38100" dir="2700000" algn="tl" rotWithShape="0">
                  <a:schemeClr val="accent2"/>
                </a:outerShdw>
              </a:effectLst>
            </a:rPr>
            <a:t>Support System</a:t>
          </a:r>
          <a:endParaRPr lang="en-US" sz="2000" b="1" cap="none" spc="0" dirty="0">
            <a:ln w="6600">
              <a:prstDash val="solid"/>
            </a:ln>
            <a:effectLst>
              <a:outerShdw dist="38100" dir="2700000" algn="tl" rotWithShape="0">
                <a:schemeClr val="accent2"/>
              </a:outerShdw>
            </a:effectLst>
          </a:endParaRPr>
        </a:p>
      </dgm:t>
    </dgm:pt>
    <dgm:pt modelId="{9C0D4BCF-8774-49B2-AF5A-9ABCCA107AE7}" type="parTrans" cxnId="{D22DB848-BC1C-4444-879C-47490FDAE313}">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A3DB8DCC-DC3F-47A7-92A6-B1DF77E7911C}" type="sibTrans" cxnId="{D22DB848-BC1C-4444-879C-47490FDAE313}">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D34E9026-3678-4166-BD67-AD29299830BA}">
      <dgm:prSet phldrT="[Text]" custT="1"/>
      <dgm:spPr/>
      <dgm:t>
        <a:bodyPr/>
        <a:lstStyle/>
        <a:p>
          <a:r>
            <a:rPr lang="en-US" sz="2000" b="1" cap="none" spc="0" dirty="0" smtClean="0">
              <a:ln w="6600">
                <a:prstDash val="solid"/>
              </a:ln>
              <a:effectLst>
                <a:outerShdw dist="38100" dir="2700000" algn="tl" rotWithShape="0">
                  <a:schemeClr val="accent2"/>
                </a:outerShdw>
              </a:effectLst>
            </a:rPr>
            <a:t>Management</a:t>
          </a:r>
        </a:p>
        <a:p>
          <a:r>
            <a:rPr lang="en-US" sz="2000" b="1" cap="none" spc="0" dirty="0" smtClean="0">
              <a:ln w="6600">
                <a:prstDash val="solid"/>
              </a:ln>
              <a:effectLst>
                <a:outerShdw dist="38100" dir="2700000" algn="tl" rotWithShape="0">
                  <a:schemeClr val="accent2"/>
                </a:outerShdw>
              </a:effectLst>
            </a:rPr>
            <a:t>Support System</a:t>
          </a:r>
          <a:endParaRPr lang="en-US" sz="2000" b="1" cap="none" spc="0" dirty="0">
            <a:ln w="6600">
              <a:prstDash val="solid"/>
            </a:ln>
            <a:effectLst>
              <a:outerShdw dist="38100" dir="2700000" algn="tl" rotWithShape="0">
                <a:schemeClr val="accent2"/>
              </a:outerShdw>
            </a:effectLst>
          </a:endParaRPr>
        </a:p>
      </dgm:t>
    </dgm:pt>
    <dgm:pt modelId="{4F91AB20-542E-4668-A47C-04246A9FD5E9}" type="parTrans" cxnId="{EFB90096-DC1F-42B0-8D33-6BB1DD1F6525}">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5FE00F28-F03C-4B12-A259-E7378A286651}" type="sibTrans" cxnId="{EFB90096-DC1F-42B0-8D33-6BB1DD1F6525}">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EB07BFD8-2C2F-4CD6-A939-BB132188815E}">
      <dgm:prSet phldrT="[Text]" custT="1"/>
      <dgm:spPr/>
      <dgm:t>
        <a:bodyPr/>
        <a:lstStyle/>
        <a:p>
          <a:r>
            <a:rPr lang="en-US" sz="2000" b="1" cap="none" spc="0" smtClean="0">
              <a:ln w="6600">
                <a:prstDash val="solid"/>
              </a:ln>
              <a:effectLst>
                <a:outerShdw dist="38100" dir="2700000" algn="tl" rotWithShape="0">
                  <a:schemeClr val="accent2"/>
                </a:outerShdw>
              </a:effectLst>
            </a:rPr>
            <a:t>Office Automation</a:t>
          </a:r>
        </a:p>
        <a:p>
          <a:r>
            <a:rPr lang="en-US" sz="2000" b="1" cap="none" spc="0" smtClean="0">
              <a:ln w="6600">
                <a:prstDash val="solid"/>
              </a:ln>
              <a:effectLst>
                <a:outerShdw dist="38100" dir="2700000" algn="tl" rotWithShape="0">
                  <a:schemeClr val="accent2"/>
                </a:outerShdw>
              </a:effectLst>
            </a:rPr>
            <a:t>System (OAS)</a:t>
          </a:r>
          <a:endParaRPr lang="en-US" sz="2000" b="1" cap="none" spc="0" dirty="0">
            <a:ln w="6600">
              <a:prstDash val="solid"/>
            </a:ln>
            <a:effectLst>
              <a:outerShdw dist="38100" dir="2700000" algn="tl" rotWithShape="0">
                <a:schemeClr val="accent2"/>
              </a:outerShdw>
            </a:effectLst>
          </a:endParaRPr>
        </a:p>
      </dgm:t>
    </dgm:pt>
    <dgm:pt modelId="{CD4C5347-5B79-4966-9786-96B7BC099C20}" type="parTrans" cxnId="{A1C45812-B529-4731-92D8-77C6EBD9F42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E75DA84B-8223-40DB-A0B5-0BAF116ABEAC}" type="sibTrans" cxnId="{A1C45812-B529-4731-92D8-77C6EBD9F42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DFDFCB95-989A-464E-A88A-A5D108634136}">
      <dgm:prSet custT="1"/>
      <dgm:spPr/>
      <dgm:t>
        <a:bodyPr/>
        <a:lstStyle/>
        <a:p>
          <a:r>
            <a:rPr lang="en-US" sz="2000" b="1" cap="none" spc="0" smtClean="0">
              <a:ln w="6600">
                <a:prstDash val="solid"/>
              </a:ln>
              <a:effectLst>
                <a:outerShdw dist="38100" dir="2700000" algn="tl" rotWithShape="0">
                  <a:schemeClr val="accent2"/>
                </a:outerShdw>
              </a:effectLst>
            </a:rPr>
            <a:t>TPS</a:t>
          </a:r>
          <a:endParaRPr lang="en-US" sz="2000" b="1" cap="none" spc="0" dirty="0">
            <a:ln w="6600">
              <a:prstDash val="solid"/>
            </a:ln>
            <a:effectLst>
              <a:outerShdw dist="38100" dir="2700000" algn="tl" rotWithShape="0">
                <a:schemeClr val="accent2"/>
              </a:outerShdw>
            </a:effectLst>
          </a:endParaRPr>
        </a:p>
      </dgm:t>
    </dgm:pt>
    <dgm:pt modelId="{BECF8CE5-0919-4014-A102-7AA4DA30E83A}" type="parTrans" cxnId="{A7F26D6A-06D6-43E2-ACEE-4FCBB553E6C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227E008C-E30C-4C27-B333-E1B974D106DD}" type="sibTrans" cxnId="{A7F26D6A-06D6-43E2-ACEE-4FCBB553E6C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FD9FBF85-94EF-456E-917E-D7B3064E3BF8}">
      <dgm:prSet custT="1"/>
      <dgm:spPr/>
      <dgm:t>
        <a:bodyPr/>
        <a:lstStyle/>
        <a:p>
          <a:r>
            <a:rPr lang="en-US" sz="2000" b="1" cap="none" spc="0" smtClean="0">
              <a:ln w="6600">
                <a:prstDash val="solid"/>
              </a:ln>
              <a:effectLst>
                <a:outerShdw dist="38100" dir="2700000" algn="tl" rotWithShape="0">
                  <a:schemeClr val="accent2"/>
                </a:outerShdw>
              </a:effectLst>
            </a:rPr>
            <a:t>MIS</a:t>
          </a:r>
          <a:endParaRPr lang="en-US" sz="2000" b="1" cap="none" spc="0" dirty="0">
            <a:ln w="6600">
              <a:prstDash val="solid"/>
            </a:ln>
            <a:effectLst>
              <a:outerShdw dist="38100" dir="2700000" algn="tl" rotWithShape="0">
                <a:schemeClr val="accent2"/>
              </a:outerShdw>
            </a:effectLst>
          </a:endParaRPr>
        </a:p>
      </dgm:t>
    </dgm:pt>
    <dgm:pt modelId="{B182670E-0C70-4C58-857C-E8DE8A24EF16}" type="parTrans" cxnId="{838A4537-78E7-4781-970E-418A0ADD2CA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59835E17-87F0-4ACC-8E68-FFF0A47FA20C}" type="sibTrans" cxnId="{838A4537-78E7-4781-970E-418A0ADD2CA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FC695F5C-2DD7-4693-A639-ACB2CD413CA8}">
      <dgm:prSet custT="1"/>
      <dgm:spPr/>
      <dgm:t>
        <a:bodyPr/>
        <a:lstStyle/>
        <a:p>
          <a:r>
            <a:rPr lang="en-US" sz="2000" b="1" cap="none" spc="0" smtClean="0">
              <a:ln w="6600">
                <a:prstDash val="solid"/>
              </a:ln>
              <a:effectLst>
                <a:outerShdw dist="38100" dir="2700000" algn="tl" rotWithShape="0">
                  <a:schemeClr val="accent2"/>
                </a:outerShdw>
              </a:effectLst>
            </a:rPr>
            <a:t>ERP</a:t>
          </a:r>
          <a:endParaRPr lang="en-US" sz="2000" b="1" cap="none" spc="0" dirty="0">
            <a:ln w="6600">
              <a:prstDash val="solid"/>
            </a:ln>
            <a:effectLst>
              <a:outerShdw dist="38100" dir="2700000" algn="tl" rotWithShape="0">
                <a:schemeClr val="accent2"/>
              </a:outerShdw>
            </a:effectLst>
          </a:endParaRPr>
        </a:p>
      </dgm:t>
    </dgm:pt>
    <dgm:pt modelId="{FBD70A86-CFC9-40C3-9CE7-10E2FB7226E1}" type="parTrans" cxnId="{EE67ABA3-CC34-41F9-ACD0-F3DACDD42B41}">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30F71109-34E9-4371-ADA5-C0DB69B4B439}" type="sibTrans" cxnId="{EE67ABA3-CC34-41F9-ACD0-F3DACDD42B41}">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7BC571CF-819A-4466-97B1-5A1FEFF8519A}">
      <dgm:prSet custT="1"/>
      <dgm:spPr/>
      <dgm:t>
        <a:bodyPr/>
        <a:lstStyle/>
        <a:p>
          <a:r>
            <a:rPr lang="en-US" sz="2000" b="1" cap="none" spc="0" smtClean="0">
              <a:ln w="6600">
                <a:prstDash val="solid"/>
              </a:ln>
              <a:effectLst>
                <a:outerShdw dist="38100" dir="2700000" algn="tl" rotWithShape="0">
                  <a:schemeClr val="accent2"/>
                </a:outerShdw>
              </a:effectLst>
            </a:rPr>
            <a:t>DSS</a:t>
          </a:r>
          <a:endParaRPr lang="en-US" sz="2000" b="1" cap="none" spc="0" dirty="0">
            <a:ln w="6600">
              <a:prstDash val="solid"/>
            </a:ln>
            <a:effectLst>
              <a:outerShdw dist="38100" dir="2700000" algn="tl" rotWithShape="0">
                <a:schemeClr val="accent2"/>
              </a:outerShdw>
            </a:effectLst>
          </a:endParaRPr>
        </a:p>
      </dgm:t>
    </dgm:pt>
    <dgm:pt modelId="{068E5BD0-89C4-4B86-BDD0-CE6AF7AFC225}" type="parTrans" cxnId="{8A790E49-846F-4BB9-9BC4-1719964BC343}">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DB9CCAFB-CC56-41D8-94F8-BEE60607DF5D}" type="sibTrans" cxnId="{8A790E49-846F-4BB9-9BC4-1719964BC343}">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133AD867-C496-4E0A-B43C-1E2A98CCBB1C}">
      <dgm:prSet custT="1"/>
      <dgm:spPr/>
      <dgm:t>
        <a:bodyPr/>
        <a:lstStyle/>
        <a:p>
          <a:r>
            <a:rPr lang="en-US" sz="2000" b="1" cap="none" spc="0" smtClean="0">
              <a:ln w="6600">
                <a:prstDash val="solid"/>
              </a:ln>
              <a:effectLst>
                <a:outerShdw dist="38100" dir="2700000" algn="tl" rotWithShape="0">
                  <a:schemeClr val="accent2"/>
                </a:outerShdw>
              </a:effectLst>
            </a:rPr>
            <a:t>EIS</a:t>
          </a:r>
          <a:endParaRPr lang="en-US" sz="2000" b="1" cap="none" spc="0" dirty="0">
            <a:ln w="6600">
              <a:prstDash val="solid"/>
            </a:ln>
            <a:effectLst>
              <a:outerShdw dist="38100" dir="2700000" algn="tl" rotWithShape="0">
                <a:schemeClr val="accent2"/>
              </a:outerShdw>
            </a:effectLst>
          </a:endParaRPr>
        </a:p>
      </dgm:t>
    </dgm:pt>
    <dgm:pt modelId="{1B140EB4-65DC-4238-B733-794B2BFCD8A2}" type="parTrans" cxnId="{3FEB61A3-E7FD-4C48-9DC4-B85713CEC758}">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C6BB1C2F-3DC5-4062-81BE-FB9A902A2A9C}" type="sibTrans" cxnId="{3FEB61A3-E7FD-4C48-9DC4-B85713CEC758}">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7546E79F-61B2-44A2-8D7B-306A4BDEFCE6}">
      <dgm:prSet custT="1"/>
      <dgm:spPr/>
      <dgm:t>
        <a:bodyPr/>
        <a:lstStyle/>
        <a:p>
          <a:r>
            <a:rPr lang="en-US" sz="2000" b="1" cap="none" spc="0" smtClean="0">
              <a:ln w="6600">
                <a:prstDash val="solid"/>
              </a:ln>
              <a:effectLst>
                <a:outerShdw dist="38100" dir="2700000" algn="tl" rotWithShape="0">
                  <a:schemeClr val="accent2"/>
                </a:outerShdw>
              </a:effectLst>
            </a:rPr>
            <a:t>ES</a:t>
          </a:r>
          <a:endParaRPr lang="en-US" sz="2000" b="1" cap="none" spc="0" dirty="0">
            <a:ln w="6600">
              <a:prstDash val="solid"/>
            </a:ln>
            <a:effectLst>
              <a:outerShdw dist="38100" dir="2700000" algn="tl" rotWithShape="0">
                <a:schemeClr val="accent2"/>
              </a:outerShdw>
            </a:effectLst>
          </a:endParaRPr>
        </a:p>
      </dgm:t>
    </dgm:pt>
    <dgm:pt modelId="{62A59D6E-78D1-4127-85F5-335AC2116C7F}" type="parTrans" cxnId="{BAFC74E6-C648-45C6-9779-8A841BE187D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607992DA-3AD0-43DF-8AAB-9030B35CFE23}" type="sibTrans" cxnId="{BAFC74E6-C648-45C6-9779-8A841BE187D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12AA0203-05AA-4E0D-BDF0-6B30FC37B02F}">
      <dgm:prSet custT="1"/>
      <dgm:spPr/>
      <dgm:t>
        <a:bodyPr/>
        <a:lstStyle/>
        <a:p>
          <a:r>
            <a:rPr lang="en-US" sz="1600" b="1" cap="none" spc="0" smtClean="0">
              <a:ln w="6600">
                <a:prstDash val="solid"/>
              </a:ln>
              <a:effectLst>
                <a:outerShdw dist="38100" dir="2700000" algn="tl" rotWithShape="0">
                  <a:schemeClr val="accent2"/>
                </a:outerShdw>
              </a:effectLst>
            </a:rPr>
            <a:t>Word Processing</a:t>
          </a:r>
        </a:p>
        <a:p>
          <a:r>
            <a:rPr lang="en-US" sz="1600" b="1" cap="none" spc="0" smtClean="0">
              <a:ln w="6600">
                <a:prstDash val="solid"/>
              </a:ln>
              <a:effectLst>
                <a:outerShdw dist="38100" dir="2700000" algn="tl" rotWithShape="0">
                  <a:schemeClr val="accent2"/>
                </a:outerShdw>
              </a:effectLst>
            </a:rPr>
            <a:t>System</a:t>
          </a:r>
          <a:endParaRPr lang="en-US" sz="1600" b="1" cap="none" spc="0" dirty="0">
            <a:ln w="6600">
              <a:prstDash val="solid"/>
            </a:ln>
            <a:effectLst>
              <a:outerShdw dist="38100" dir="2700000" algn="tl" rotWithShape="0">
                <a:schemeClr val="accent2"/>
              </a:outerShdw>
            </a:effectLst>
          </a:endParaRPr>
        </a:p>
      </dgm:t>
    </dgm:pt>
    <dgm:pt modelId="{4C3C9125-658A-454A-B34F-165BE4666F95}" type="parTrans" cxnId="{1F65C404-1473-422D-BE65-0B8082E0E96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0CE0C9A4-CDCB-4293-B04F-A0873CE06103}" type="sibTrans" cxnId="{1F65C404-1473-422D-BE65-0B8082E0E96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A7B7DA12-FF73-4C23-87D2-7D02C3D2BB8A}">
      <dgm:prSet custT="1"/>
      <dgm:spPr/>
      <dgm:t>
        <a:bodyPr/>
        <a:lstStyle/>
        <a:p>
          <a:r>
            <a:rPr lang="en-US" sz="1600" b="1" cap="none" spc="0" smtClean="0">
              <a:ln w="6600">
                <a:prstDash val="solid"/>
              </a:ln>
              <a:effectLst>
                <a:outerShdw dist="38100" dir="2700000" algn="tl" rotWithShape="0">
                  <a:schemeClr val="accent2"/>
                </a:outerShdw>
              </a:effectLst>
            </a:rPr>
            <a:t>Document</a:t>
          </a:r>
        </a:p>
        <a:p>
          <a:r>
            <a:rPr lang="en-US" sz="1600" b="1" cap="none" spc="0" smtClean="0">
              <a:ln w="6600">
                <a:prstDash val="solid"/>
              </a:ln>
              <a:effectLst>
                <a:outerShdw dist="38100" dir="2700000" algn="tl" rotWithShape="0">
                  <a:schemeClr val="accent2"/>
                </a:outerShdw>
              </a:effectLst>
            </a:rPr>
            <a:t>Management</a:t>
          </a:r>
        </a:p>
        <a:p>
          <a:r>
            <a:rPr lang="en-US" sz="1600" b="1" cap="none" spc="0" smtClean="0">
              <a:ln w="6600">
                <a:prstDash val="solid"/>
              </a:ln>
              <a:effectLst>
                <a:outerShdw dist="38100" dir="2700000" algn="tl" rotWithShape="0">
                  <a:schemeClr val="accent2"/>
                </a:outerShdw>
              </a:effectLst>
            </a:rPr>
            <a:t>System</a:t>
          </a:r>
          <a:endParaRPr lang="en-US" sz="1600" b="1" cap="none" spc="0" dirty="0">
            <a:ln w="6600">
              <a:prstDash val="solid"/>
            </a:ln>
            <a:effectLst>
              <a:outerShdw dist="38100" dir="2700000" algn="tl" rotWithShape="0">
                <a:schemeClr val="accent2"/>
              </a:outerShdw>
            </a:effectLst>
          </a:endParaRPr>
        </a:p>
      </dgm:t>
    </dgm:pt>
    <dgm:pt modelId="{3A7D5523-271D-42B6-9548-167B95233B34}" type="parTrans" cxnId="{431A2416-F1E3-4AC9-976D-96A676C333B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B9D4C05E-957D-48C0-8654-5E6696988DC4}" type="sibTrans" cxnId="{431A2416-F1E3-4AC9-976D-96A676C333B6}">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F8324732-8659-4DF7-9401-2E49E69C5BD7}">
      <dgm:prSet custT="1"/>
      <dgm:spPr/>
      <dgm:t>
        <a:bodyPr/>
        <a:lstStyle/>
        <a:p>
          <a:r>
            <a:rPr lang="en-US" sz="1600" b="1" cap="none" spc="0" smtClean="0">
              <a:ln w="6600">
                <a:prstDash val="solid"/>
              </a:ln>
              <a:effectLst>
                <a:outerShdw dist="38100" dir="2700000" algn="tl" rotWithShape="0">
                  <a:schemeClr val="accent2"/>
                </a:outerShdw>
              </a:effectLst>
            </a:rPr>
            <a:t>Message</a:t>
          </a:r>
        </a:p>
        <a:p>
          <a:r>
            <a:rPr lang="en-US" sz="1600" b="1" cap="none" spc="0" smtClean="0">
              <a:ln w="6600">
                <a:prstDash val="solid"/>
              </a:ln>
              <a:effectLst>
                <a:outerShdw dist="38100" dir="2700000" algn="tl" rotWithShape="0">
                  <a:schemeClr val="accent2"/>
                </a:outerShdw>
              </a:effectLst>
            </a:rPr>
            <a:t>Communication</a:t>
          </a:r>
        </a:p>
        <a:p>
          <a:r>
            <a:rPr lang="en-US" sz="1600" b="1" cap="none" spc="0" smtClean="0">
              <a:ln w="6600">
                <a:prstDash val="solid"/>
              </a:ln>
              <a:effectLst>
                <a:outerShdw dist="38100" dir="2700000" algn="tl" rotWithShape="0">
                  <a:schemeClr val="accent2"/>
                </a:outerShdw>
              </a:effectLst>
            </a:rPr>
            <a:t>System</a:t>
          </a:r>
          <a:endParaRPr lang="en-US" sz="1600" b="1" cap="none" spc="0" dirty="0">
            <a:ln w="6600">
              <a:prstDash val="solid"/>
            </a:ln>
            <a:effectLst>
              <a:outerShdw dist="38100" dir="2700000" algn="tl" rotWithShape="0">
                <a:schemeClr val="accent2"/>
              </a:outerShdw>
            </a:effectLst>
          </a:endParaRPr>
        </a:p>
      </dgm:t>
    </dgm:pt>
    <dgm:pt modelId="{DFA48AC0-34DE-4E1D-BEEC-471C5D7FF8FC}" type="parTrans" cxnId="{A75466C4-3E96-494D-853B-07E0A7A7F32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86697494-C376-4362-BDA6-FB7A4534BB11}" type="sibTrans" cxnId="{A75466C4-3E96-494D-853B-07E0A7A7F32F}">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642BC462-EAB6-4734-8F72-8579F29981E2}">
      <dgm:prSet custT="1"/>
      <dgm:spPr/>
      <dgm:t>
        <a:bodyPr/>
        <a:lstStyle/>
        <a:p>
          <a:pPr>
            <a:spcAft>
              <a:spcPts val="0"/>
            </a:spcAft>
          </a:pPr>
          <a:r>
            <a:rPr lang="en-US" sz="1600" b="1" cap="none" spc="0" smtClean="0">
              <a:ln w="6600">
                <a:prstDash val="solid"/>
              </a:ln>
              <a:effectLst>
                <a:outerShdw dist="38100" dir="2700000" algn="tl" rotWithShape="0">
                  <a:schemeClr val="accent2"/>
                </a:outerShdw>
              </a:effectLst>
            </a:rPr>
            <a:t>Tele-</a:t>
          </a:r>
        </a:p>
        <a:p>
          <a:pPr>
            <a:spcAft>
              <a:spcPts val="0"/>
            </a:spcAft>
          </a:pPr>
          <a:r>
            <a:rPr lang="en-US" sz="1600" b="1" cap="none" spc="0" smtClean="0">
              <a:ln w="6600">
                <a:prstDash val="solid"/>
              </a:ln>
              <a:effectLst>
                <a:outerShdw dist="38100" dir="2700000" algn="tl" rotWithShape="0">
                  <a:schemeClr val="accent2"/>
                </a:outerShdw>
              </a:effectLst>
            </a:rPr>
            <a:t>Conferencing</a:t>
          </a:r>
        </a:p>
        <a:p>
          <a:pPr>
            <a:spcAft>
              <a:spcPts val="0"/>
            </a:spcAft>
          </a:pPr>
          <a:r>
            <a:rPr lang="en-US" sz="1600" b="1" cap="none" spc="0" smtClean="0">
              <a:ln w="6600">
                <a:prstDash val="solid"/>
              </a:ln>
              <a:effectLst>
                <a:outerShdw dist="38100" dir="2700000" algn="tl" rotWithShape="0">
                  <a:schemeClr val="accent2"/>
                </a:outerShdw>
              </a:effectLst>
            </a:rPr>
            <a:t>System</a:t>
          </a:r>
          <a:endParaRPr lang="en-US" sz="1600" b="1" cap="none" spc="0" dirty="0">
            <a:ln w="6600">
              <a:prstDash val="solid"/>
            </a:ln>
            <a:effectLst>
              <a:outerShdw dist="38100" dir="2700000" algn="tl" rotWithShape="0">
                <a:schemeClr val="accent2"/>
              </a:outerShdw>
            </a:effectLst>
          </a:endParaRPr>
        </a:p>
      </dgm:t>
    </dgm:pt>
    <dgm:pt modelId="{CAD069EE-3B5B-4565-B9AF-C171FD2CB7B9}" type="parTrans" cxnId="{9F219CEC-A772-4EEA-B7BC-EB55691FC4E4}">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C671114E-36C5-4E59-BFDC-009860C2980E}" type="sibTrans" cxnId="{9F219CEC-A772-4EEA-B7BC-EB55691FC4E4}">
      <dgm:prSet/>
      <dgm:spPr/>
      <dgm:t>
        <a:bodyPr/>
        <a:lstStyle/>
        <a:p>
          <a:endParaRPr lang="en-US" b="1" cap="none" spc="0">
            <a:ln w="6600">
              <a:solidFill>
                <a:schemeClr val="accent2"/>
              </a:solidFill>
              <a:prstDash val="solid"/>
            </a:ln>
            <a:solidFill>
              <a:srgbClr val="FFFFFF"/>
            </a:solidFill>
            <a:effectLst>
              <a:outerShdw dist="38100" dir="2700000" algn="tl" rotWithShape="0">
                <a:schemeClr val="accent2"/>
              </a:outerShdw>
            </a:effectLst>
          </a:endParaRPr>
        </a:p>
      </dgm:t>
    </dgm:pt>
    <dgm:pt modelId="{59A8E4B4-7179-4ACE-AA56-E2EDA3914E32}" type="pres">
      <dgm:prSet presAssocID="{A3EFA70B-3DF6-4FF6-800C-19A6718F7065}" presName="hierChild1" presStyleCnt="0">
        <dgm:presLayoutVars>
          <dgm:orgChart val="1"/>
          <dgm:chPref val="1"/>
          <dgm:dir/>
          <dgm:animOne val="branch"/>
          <dgm:animLvl val="lvl"/>
          <dgm:resizeHandles/>
        </dgm:presLayoutVars>
      </dgm:prSet>
      <dgm:spPr/>
      <dgm:t>
        <a:bodyPr/>
        <a:lstStyle/>
        <a:p>
          <a:endParaRPr lang="en-US"/>
        </a:p>
      </dgm:t>
    </dgm:pt>
    <dgm:pt modelId="{D1B20509-37C9-4035-A187-47598981412F}" type="pres">
      <dgm:prSet presAssocID="{7C8307CD-FAE5-4D8D-BF6A-8036108B97B6}" presName="hierRoot1" presStyleCnt="0">
        <dgm:presLayoutVars>
          <dgm:hierBranch val="init"/>
        </dgm:presLayoutVars>
      </dgm:prSet>
      <dgm:spPr/>
    </dgm:pt>
    <dgm:pt modelId="{9C15D07C-97CD-4DC1-9F50-CB7212C406FA}" type="pres">
      <dgm:prSet presAssocID="{7C8307CD-FAE5-4D8D-BF6A-8036108B97B6}" presName="rootComposite1" presStyleCnt="0"/>
      <dgm:spPr/>
    </dgm:pt>
    <dgm:pt modelId="{330CED61-BCF8-4051-81C7-E7C35FF562F0}" type="pres">
      <dgm:prSet presAssocID="{7C8307CD-FAE5-4D8D-BF6A-8036108B97B6}" presName="rootText1" presStyleLbl="node0" presStyleIdx="0" presStyleCnt="1" custScaleX="325723" custScaleY="178875">
        <dgm:presLayoutVars>
          <dgm:chPref val="3"/>
        </dgm:presLayoutVars>
      </dgm:prSet>
      <dgm:spPr/>
      <dgm:t>
        <a:bodyPr/>
        <a:lstStyle/>
        <a:p>
          <a:endParaRPr lang="en-US"/>
        </a:p>
      </dgm:t>
    </dgm:pt>
    <dgm:pt modelId="{BF45869D-ECB0-4484-A6BC-60A678B7544D}" type="pres">
      <dgm:prSet presAssocID="{7C8307CD-FAE5-4D8D-BF6A-8036108B97B6}" presName="rootConnector1" presStyleLbl="node1" presStyleIdx="0" presStyleCnt="0"/>
      <dgm:spPr/>
      <dgm:t>
        <a:bodyPr/>
        <a:lstStyle/>
        <a:p>
          <a:endParaRPr lang="en-US"/>
        </a:p>
      </dgm:t>
    </dgm:pt>
    <dgm:pt modelId="{B981BF93-A918-430A-A5F4-9C16BD0F844C}" type="pres">
      <dgm:prSet presAssocID="{7C8307CD-FAE5-4D8D-BF6A-8036108B97B6}" presName="hierChild2" presStyleCnt="0"/>
      <dgm:spPr/>
    </dgm:pt>
    <dgm:pt modelId="{F65C9F09-0FE5-4033-BC4A-B67E1A3FCE55}" type="pres">
      <dgm:prSet presAssocID="{9C0D4BCF-8774-49B2-AF5A-9ABCCA107AE7}" presName="Name37" presStyleLbl="parChTrans1D2" presStyleIdx="0" presStyleCnt="3"/>
      <dgm:spPr/>
      <dgm:t>
        <a:bodyPr/>
        <a:lstStyle/>
        <a:p>
          <a:endParaRPr lang="en-US"/>
        </a:p>
      </dgm:t>
    </dgm:pt>
    <dgm:pt modelId="{D34C40F0-0FB9-4A3C-BF1D-BD69D85AC805}" type="pres">
      <dgm:prSet presAssocID="{36D1E90D-B80E-4D03-9695-4EA551DD2E5B}" presName="hierRoot2" presStyleCnt="0">
        <dgm:presLayoutVars>
          <dgm:hierBranch val="init"/>
        </dgm:presLayoutVars>
      </dgm:prSet>
      <dgm:spPr/>
    </dgm:pt>
    <dgm:pt modelId="{2796C859-34FD-4312-8C3E-20FE715ADE05}" type="pres">
      <dgm:prSet presAssocID="{36D1E90D-B80E-4D03-9695-4EA551DD2E5B}" presName="rootComposite" presStyleCnt="0"/>
      <dgm:spPr/>
    </dgm:pt>
    <dgm:pt modelId="{8EED26B2-1524-4270-9C51-324DF74298AA}" type="pres">
      <dgm:prSet presAssocID="{36D1E90D-B80E-4D03-9695-4EA551DD2E5B}" presName="rootText" presStyleLbl="node2" presStyleIdx="0" presStyleCnt="3" custScaleX="365991" custScaleY="304331" custLinFactNeighborY="14160">
        <dgm:presLayoutVars>
          <dgm:chPref val="3"/>
        </dgm:presLayoutVars>
      </dgm:prSet>
      <dgm:spPr/>
      <dgm:t>
        <a:bodyPr/>
        <a:lstStyle/>
        <a:p>
          <a:endParaRPr lang="en-US"/>
        </a:p>
      </dgm:t>
    </dgm:pt>
    <dgm:pt modelId="{6A6FF35F-97F3-44B8-AE56-FEEAB5FC98A9}" type="pres">
      <dgm:prSet presAssocID="{36D1E90D-B80E-4D03-9695-4EA551DD2E5B}" presName="rootConnector" presStyleLbl="node2" presStyleIdx="0" presStyleCnt="3"/>
      <dgm:spPr/>
      <dgm:t>
        <a:bodyPr/>
        <a:lstStyle/>
        <a:p>
          <a:endParaRPr lang="en-US"/>
        </a:p>
      </dgm:t>
    </dgm:pt>
    <dgm:pt modelId="{9C281D90-B91A-41F8-8AA1-D4CCCA202BF5}" type="pres">
      <dgm:prSet presAssocID="{36D1E90D-B80E-4D03-9695-4EA551DD2E5B}" presName="hierChild4" presStyleCnt="0"/>
      <dgm:spPr/>
    </dgm:pt>
    <dgm:pt modelId="{61B122C2-09CF-47E3-9B44-7CF131334AAC}" type="pres">
      <dgm:prSet presAssocID="{BECF8CE5-0919-4014-A102-7AA4DA30E83A}" presName="Name37" presStyleLbl="parChTrans1D3" presStyleIdx="0" presStyleCnt="10"/>
      <dgm:spPr/>
      <dgm:t>
        <a:bodyPr/>
        <a:lstStyle/>
        <a:p>
          <a:endParaRPr lang="en-US"/>
        </a:p>
      </dgm:t>
    </dgm:pt>
    <dgm:pt modelId="{F66789B6-AAD9-40DD-B614-2F1C9ECA220F}" type="pres">
      <dgm:prSet presAssocID="{DFDFCB95-989A-464E-A88A-A5D108634136}" presName="hierRoot2" presStyleCnt="0">
        <dgm:presLayoutVars>
          <dgm:hierBranch val="init"/>
        </dgm:presLayoutVars>
      </dgm:prSet>
      <dgm:spPr/>
    </dgm:pt>
    <dgm:pt modelId="{25F06775-490C-406B-98CD-9F7667D6D308}" type="pres">
      <dgm:prSet presAssocID="{DFDFCB95-989A-464E-A88A-A5D108634136}" presName="rootComposite" presStyleCnt="0"/>
      <dgm:spPr/>
    </dgm:pt>
    <dgm:pt modelId="{7D73C0F5-41DB-45F0-BDCC-91F38CBAA20B}" type="pres">
      <dgm:prSet presAssocID="{DFDFCB95-989A-464E-A88A-A5D108634136}" presName="rootText" presStyleLbl="node3" presStyleIdx="0" presStyleCnt="10">
        <dgm:presLayoutVars>
          <dgm:chPref val="3"/>
        </dgm:presLayoutVars>
      </dgm:prSet>
      <dgm:spPr/>
      <dgm:t>
        <a:bodyPr/>
        <a:lstStyle/>
        <a:p>
          <a:endParaRPr lang="en-US"/>
        </a:p>
      </dgm:t>
    </dgm:pt>
    <dgm:pt modelId="{6AAF335F-B818-4C46-9A17-039046AC491C}" type="pres">
      <dgm:prSet presAssocID="{DFDFCB95-989A-464E-A88A-A5D108634136}" presName="rootConnector" presStyleLbl="node3" presStyleIdx="0" presStyleCnt="10"/>
      <dgm:spPr/>
      <dgm:t>
        <a:bodyPr/>
        <a:lstStyle/>
        <a:p>
          <a:endParaRPr lang="en-US"/>
        </a:p>
      </dgm:t>
    </dgm:pt>
    <dgm:pt modelId="{5FC3C828-096E-4AB8-9D70-3D15777C7676}" type="pres">
      <dgm:prSet presAssocID="{DFDFCB95-989A-464E-A88A-A5D108634136}" presName="hierChild4" presStyleCnt="0"/>
      <dgm:spPr/>
    </dgm:pt>
    <dgm:pt modelId="{20014939-890A-469E-8308-3C49D974BA40}" type="pres">
      <dgm:prSet presAssocID="{DFDFCB95-989A-464E-A88A-A5D108634136}" presName="hierChild5" presStyleCnt="0"/>
      <dgm:spPr/>
    </dgm:pt>
    <dgm:pt modelId="{9CF25193-BAB7-47EE-9F57-0F7E0BA54B0E}" type="pres">
      <dgm:prSet presAssocID="{B182670E-0C70-4C58-857C-E8DE8A24EF16}" presName="Name37" presStyleLbl="parChTrans1D3" presStyleIdx="1" presStyleCnt="10"/>
      <dgm:spPr/>
      <dgm:t>
        <a:bodyPr/>
        <a:lstStyle/>
        <a:p>
          <a:endParaRPr lang="en-US"/>
        </a:p>
      </dgm:t>
    </dgm:pt>
    <dgm:pt modelId="{3F5C21CC-5A0B-40D4-B44F-1BB0FF682AF4}" type="pres">
      <dgm:prSet presAssocID="{FD9FBF85-94EF-456E-917E-D7B3064E3BF8}" presName="hierRoot2" presStyleCnt="0">
        <dgm:presLayoutVars>
          <dgm:hierBranch val="init"/>
        </dgm:presLayoutVars>
      </dgm:prSet>
      <dgm:spPr/>
    </dgm:pt>
    <dgm:pt modelId="{52597478-E94F-44CD-B64A-A6887548F869}" type="pres">
      <dgm:prSet presAssocID="{FD9FBF85-94EF-456E-917E-D7B3064E3BF8}" presName="rootComposite" presStyleCnt="0"/>
      <dgm:spPr/>
    </dgm:pt>
    <dgm:pt modelId="{082CB553-3033-42C8-951F-78395AE91482}" type="pres">
      <dgm:prSet presAssocID="{FD9FBF85-94EF-456E-917E-D7B3064E3BF8}" presName="rootText" presStyleLbl="node3" presStyleIdx="1" presStyleCnt="10">
        <dgm:presLayoutVars>
          <dgm:chPref val="3"/>
        </dgm:presLayoutVars>
      </dgm:prSet>
      <dgm:spPr/>
      <dgm:t>
        <a:bodyPr/>
        <a:lstStyle/>
        <a:p>
          <a:endParaRPr lang="en-US"/>
        </a:p>
      </dgm:t>
    </dgm:pt>
    <dgm:pt modelId="{808FECD4-BE80-4FC9-81E5-F46A05F72E5C}" type="pres">
      <dgm:prSet presAssocID="{FD9FBF85-94EF-456E-917E-D7B3064E3BF8}" presName="rootConnector" presStyleLbl="node3" presStyleIdx="1" presStyleCnt="10"/>
      <dgm:spPr/>
      <dgm:t>
        <a:bodyPr/>
        <a:lstStyle/>
        <a:p>
          <a:endParaRPr lang="en-US"/>
        </a:p>
      </dgm:t>
    </dgm:pt>
    <dgm:pt modelId="{878A4AF9-60A7-4F98-BD43-920F34F3E5F2}" type="pres">
      <dgm:prSet presAssocID="{FD9FBF85-94EF-456E-917E-D7B3064E3BF8}" presName="hierChild4" presStyleCnt="0"/>
      <dgm:spPr/>
    </dgm:pt>
    <dgm:pt modelId="{6A6ACFFF-DD6E-43B6-808E-4B783BA49D17}" type="pres">
      <dgm:prSet presAssocID="{FD9FBF85-94EF-456E-917E-D7B3064E3BF8}" presName="hierChild5" presStyleCnt="0"/>
      <dgm:spPr/>
    </dgm:pt>
    <dgm:pt modelId="{F4B6333F-86AE-4471-88A2-72655D9491CC}" type="pres">
      <dgm:prSet presAssocID="{FBD70A86-CFC9-40C3-9CE7-10E2FB7226E1}" presName="Name37" presStyleLbl="parChTrans1D3" presStyleIdx="2" presStyleCnt="10"/>
      <dgm:spPr/>
      <dgm:t>
        <a:bodyPr/>
        <a:lstStyle/>
        <a:p>
          <a:endParaRPr lang="en-US"/>
        </a:p>
      </dgm:t>
    </dgm:pt>
    <dgm:pt modelId="{CEC554F1-3E02-45E7-A5B5-B032EE2A3477}" type="pres">
      <dgm:prSet presAssocID="{FC695F5C-2DD7-4693-A639-ACB2CD413CA8}" presName="hierRoot2" presStyleCnt="0">
        <dgm:presLayoutVars>
          <dgm:hierBranch val="init"/>
        </dgm:presLayoutVars>
      </dgm:prSet>
      <dgm:spPr/>
    </dgm:pt>
    <dgm:pt modelId="{82E5A77F-B817-4354-A435-DFBDACAE7674}" type="pres">
      <dgm:prSet presAssocID="{FC695F5C-2DD7-4693-A639-ACB2CD413CA8}" presName="rootComposite" presStyleCnt="0"/>
      <dgm:spPr/>
    </dgm:pt>
    <dgm:pt modelId="{99ADF4ED-6B08-4FB4-8FC9-CC20A148C1A8}" type="pres">
      <dgm:prSet presAssocID="{FC695F5C-2DD7-4693-A639-ACB2CD413CA8}" presName="rootText" presStyleLbl="node3" presStyleIdx="2" presStyleCnt="10">
        <dgm:presLayoutVars>
          <dgm:chPref val="3"/>
        </dgm:presLayoutVars>
      </dgm:prSet>
      <dgm:spPr/>
      <dgm:t>
        <a:bodyPr/>
        <a:lstStyle/>
        <a:p>
          <a:endParaRPr lang="en-US"/>
        </a:p>
      </dgm:t>
    </dgm:pt>
    <dgm:pt modelId="{2CBB3F41-DC24-4968-84F8-65A13708D431}" type="pres">
      <dgm:prSet presAssocID="{FC695F5C-2DD7-4693-A639-ACB2CD413CA8}" presName="rootConnector" presStyleLbl="node3" presStyleIdx="2" presStyleCnt="10"/>
      <dgm:spPr/>
      <dgm:t>
        <a:bodyPr/>
        <a:lstStyle/>
        <a:p>
          <a:endParaRPr lang="en-US"/>
        </a:p>
      </dgm:t>
    </dgm:pt>
    <dgm:pt modelId="{6F2CA0D8-8500-4250-B64A-307E68DF9097}" type="pres">
      <dgm:prSet presAssocID="{FC695F5C-2DD7-4693-A639-ACB2CD413CA8}" presName="hierChild4" presStyleCnt="0"/>
      <dgm:spPr/>
    </dgm:pt>
    <dgm:pt modelId="{C4DEB103-6F7E-47E5-A97E-B573858ECA4F}" type="pres">
      <dgm:prSet presAssocID="{FC695F5C-2DD7-4693-A639-ACB2CD413CA8}" presName="hierChild5" presStyleCnt="0"/>
      <dgm:spPr/>
    </dgm:pt>
    <dgm:pt modelId="{F06E17DD-2B74-4FFF-8C27-C1703816723F}" type="pres">
      <dgm:prSet presAssocID="{36D1E90D-B80E-4D03-9695-4EA551DD2E5B}" presName="hierChild5" presStyleCnt="0"/>
      <dgm:spPr/>
    </dgm:pt>
    <dgm:pt modelId="{A3A709B8-F235-410D-B453-43B956F74356}" type="pres">
      <dgm:prSet presAssocID="{4F91AB20-542E-4668-A47C-04246A9FD5E9}" presName="Name37" presStyleLbl="parChTrans1D2" presStyleIdx="1" presStyleCnt="3"/>
      <dgm:spPr/>
      <dgm:t>
        <a:bodyPr/>
        <a:lstStyle/>
        <a:p>
          <a:endParaRPr lang="en-US"/>
        </a:p>
      </dgm:t>
    </dgm:pt>
    <dgm:pt modelId="{2AF1B6E1-8FB7-4B7A-8FD8-FE92A9BBFC77}" type="pres">
      <dgm:prSet presAssocID="{D34E9026-3678-4166-BD67-AD29299830BA}" presName="hierRoot2" presStyleCnt="0">
        <dgm:presLayoutVars>
          <dgm:hierBranch val="init"/>
        </dgm:presLayoutVars>
      </dgm:prSet>
      <dgm:spPr/>
    </dgm:pt>
    <dgm:pt modelId="{256879F8-73DD-40B6-8E4A-88217DC78A08}" type="pres">
      <dgm:prSet presAssocID="{D34E9026-3678-4166-BD67-AD29299830BA}" presName="rootComposite" presStyleCnt="0"/>
      <dgm:spPr/>
    </dgm:pt>
    <dgm:pt modelId="{A5D43071-2657-49A7-A1EC-5E2BC079D6A5}" type="pres">
      <dgm:prSet presAssocID="{D34E9026-3678-4166-BD67-AD29299830BA}" presName="rootText" presStyleLbl="node2" presStyleIdx="1" presStyleCnt="3" custScaleX="365991" custScaleY="304331" custLinFactNeighborX="3763" custLinFactNeighborY="16668">
        <dgm:presLayoutVars>
          <dgm:chPref val="3"/>
        </dgm:presLayoutVars>
      </dgm:prSet>
      <dgm:spPr/>
      <dgm:t>
        <a:bodyPr/>
        <a:lstStyle/>
        <a:p>
          <a:endParaRPr lang="en-US"/>
        </a:p>
      </dgm:t>
    </dgm:pt>
    <dgm:pt modelId="{CAB1424C-5A5D-4FDD-9232-01B564119881}" type="pres">
      <dgm:prSet presAssocID="{D34E9026-3678-4166-BD67-AD29299830BA}" presName="rootConnector" presStyleLbl="node2" presStyleIdx="1" presStyleCnt="3"/>
      <dgm:spPr/>
      <dgm:t>
        <a:bodyPr/>
        <a:lstStyle/>
        <a:p>
          <a:endParaRPr lang="en-US"/>
        </a:p>
      </dgm:t>
    </dgm:pt>
    <dgm:pt modelId="{78423519-74EE-4055-90AD-119A077B1F0D}" type="pres">
      <dgm:prSet presAssocID="{D34E9026-3678-4166-BD67-AD29299830BA}" presName="hierChild4" presStyleCnt="0"/>
      <dgm:spPr/>
    </dgm:pt>
    <dgm:pt modelId="{F38BBFF2-2BF3-4052-833B-7EB96BF2D990}" type="pres">
      <dgm:prSet presAssocID="{068E5BD0-89C4-4B86-BDD0-CE6AF7AFC225}" presName="Name37" presStyleLbl="parChTrans1D3" presStyleIdx="3" presStyleCnt="10"/>
      <dgm:spPr/>
      <dgm:t>
        <a:bodyPr/>
        <a:lstStyle/>
        <a:p>
          <a:endParaRPr lang="en-US"/>
        </a:p>
      </dgm:t>
    </dgm:pt>
    <dgm:pt modelId="{EE90B08E-EAD9-450F-9B52-8F8885A842B8}" type="pres">
      <dgm:prSet presAssocID="{7BC571CF-819A-4466-97B1-5A1FEFF8519A}" presName="hierRoot2" presStyleCnt="0">
        <dgm:presLayoutVars>
          <dgm:hierBranch val="init"/>
        </dgm:presLayoutVars>
      </dgm:prSet>
      <dgm:spPr/>
    </dgm:pt>
    <dgm:pt modelId="{04C8128E-FC6A-4ACF-BCE4-88AEA562F36B}" type="pres">
      <dgm:prSet presAssocID="{7BC571CF-819A-4466-97B1-5A1FEFF8519A}" presName="rootComposite" presStyleCnt="0"/>
      <dgm:spPr/>
    </dgm:pt>
    <dgm:pt modelId="{44B97F83-7ED1-4DC7-8AA8-0E0F1761D768}" type="pres">
      <dgm:prSet presAssocID="{7BC571CF-819A-4466-97B1-5A1FEFF8519A}" presName="rootText" presStyleLbl="node3" presStyleIdx="3" presStyleCnt="10">
        <dgm:presLayoutVars>
          <dgm:chPref val="3"/>
        </dgm:presLayoutVars>
      </dgm:prSet>
      <dgm:spPr/>
      <dgm:t>
        <a:bodyPr/>
        <a:lstStyle/>
        <a:p>
          <a:endParaRPr lang="en-US"/>
        </a:p>
      </dgm:t>
    </dgm:pt>
    <dgm:pt modelId="{F67E2FB1-09C1-486D-88D4-B2E1A082593D}" type="pres">
      <dgm:prSet presAssocID="{7BC571CF-819A-4466-97B1-5A1FEFF8519A}" presName="rootConnector" presStyleLbl="node3" presStyleIdx="3" presStyleCnt="10"/>
      <dgm:spPr/>
      <dgm:t>
        <a:bodyPr/>
        <a:lstStyle/>
        <a:p>
          <a:endParaRPr lang="en-US"/>
        </a:p>
      </dgm:t>
    </dgm:pt>
    <dgm:pt modelId="{820AF19D-909C-4373-A63E-1F125645236C}" type="pres">
      <dgm:prSet presAssocID="{7BC571CF-819A-4466-97B1-5A1FEFF8519A}" presName="hierChild4" presStyleCnt="0"/>
      <dgm:spPr/>
    </dgm:pt>
    <dgm:pt modelId="{8E4247EA-D220-4495-A3E6-E1809CE52962}" type="pres">
      <dgm:prSet presAssocID="{7BC571CF-819A-4466-97B1-5A1FEFF8519A}" presName="hierChild5" presStyleCnt="0"/>
      <dgm:spPr/>
    </dgm:pt>
    <dgm:pt modelId="{46260BAD-5A16-4070-88B9-9C88921E16BB}" type="pres">
      <dgm:prSet presAssocID="{1B140EB4-65DC-4238-B733-794B2BFCD8A2}" presName="Name37" presStyleLbl="parChTrans1D3" presStyleIdx="4" presStyleCnt="10"/>
      <dgm:spPr/>
      <dgm:t>
        <a:bodyPr/>
        <a:lstStyle/>
        <a:p>
          <a:endParaRPr lang="en-US"/>
        </a:p>
      </dgm:t>
    </dgm:pt>
    <dgm:pt modelId="{4D212E61-53E0-46DF-A3B1-F9B5750D0B0E}" type="pres">
      <dgm:prSet presAssocID="{133AD867-C496-4E0A-B43C-1E2A98CCBB1C}" presName="hierRoot2" presStyleCnt="0">
        <dgm:presLayoutVars>
          <dgm:hierBranch val="init"/>
        </dgm:presLayoutVars>
      </dgm:prSet>
      <dgm:spPr/>
    </dgm:pt>
    <dgm:pt modelId="{6F5514B7-37B5-4984-894F-54D1ACCA0882}" type="pres">
      <dgm:prSet presAssocID="{133AD867-C496-4E0A-B43C-1E2A98CCBB1C}" presName="rootComposite" presStyleCnt="0"/>
      <dgm:spPr/>
    </dgm:pt>
    <dgm:pt modelId="{1A9FADC9-0D98-498D-850D-462EA4008CCB}" type="pres">
      <dgm:prSet presAssocID="{133AD867-C496-4E0A-B43C-1E2A98CCBB1C}" presName="rootText" presStyleLbl="node3" presStyleIdx="4" presStyleCnt="10">
        <dgm:presLayoutVars>
          <dgm:chPref val="3"/>
        </dgm:presLayoutVars>
      </dgm:prSet>
      <dgm:spPr/>
      <dgm:t>
        <a:bodyPr/>
        <a:lstStyle/>
        <a:p>
          <a:endParaRPr lang="en-US"/>
        </a:p>
      </dgm:t>
    </dgm:pt>
    <dgm:pt modelId="{FEDD8FF9-AB93-4D84-9753-A101EEA53875}" type="pres">
      <dgm:prSet presAssocID="{133AD867-C496-4E0A-B43C-1E2A98CCBB1C}" presName="rootConnector" presStyleLbl="node3" presStyleIdx="4" presStyleCnt="10"/>
      <dgm:spPr/>
      <dgm:t>
        <a:bodyPr/>
        <a:lstStyle/>
        <a:p>
          <a:endParaRPr lang="en-US"/>
        </a:p>
      </dgm:t>
    </dgm:pt>
    <dgm:pt modelId="{79389E56-5D84-4210-966C-C38964B88196}" type="pres">
      <dgm:prSet presAssocID="{133AD867-C496-4E0A-B43C-1E2A98CCBB1C}" presName="hierChild4" presStyleCnt="0"/>
      <dgm:spPr/>
    </dgm:pt>
    <dgm:pt modelId="{F8B79737-D767-476D-A8A3-BC309E50A22B}" type="pres">
      <dgm:prSet presAssocID="{133AD867-C496-4E0A-B43C-1E2A98CCBB1C}" presName="hierChild5" presStyleCnt="0"/>
      <dgm:spPr/>
    </dgm:pt>
    <dgm:pt modelId="{6521ABB6-BFD3-46BF-AB44-978AB61CE25F}" type="pres">
      <dgm:prSet presAssocID="{62A59D6E-78D1-4127-85F5-335AC2116C7F}" presName="Name37" presStyleLbl="parChTrans1D3" presStyleIdx="5" presStyleCnt="10"/>
      <dgm:spPr/>
      <dgm:t>
        <a:bodyPr/>
        <a:lstStyle/>
        <a:p>
          <a:endParaRPr lang="en-US"/>
        </a:p>
      </dgm:t>
    </dgm:pt>
    <dgm:pt modelId="{137A4ECB-E99D-462C-9F90-3F6252B5B38F}" type="pres">
      <dgm:prSet presAssocID="{7546E79F-61B2-44A2-8D7B-306A4BDEFCE6}" presName="hierRoot2" presStyleCnt="0">
        <dgm:presLayoutVars>
          <dgm:hierBranch val="init"/>
        </dgm:presLayoutVars>
      </dgm:prSet>
      <dgm:spPr/>
    </dgm:pt>
    <dgm:pt modelId="{60579869-B4CC-4A87-8B6B-53759C97B1ED}" type="pres">
      <dgm:prSet presAssocID="{7546E79F-61B2-44A2-8D7B-306A4BDEFCE6}" presName="rootComposite" presStyleCnt="0"/>
      <dgm:spPr/>
    </dgm:pt>
    <dgm:pt modelId="{EACB658D-B037-40FC-A004-91E3BABAFF61}" type="pres">
      <dgm:prSet presAssocID="{7546E79F-61B2-44A2-8D7B-306A4BDEFCE6}" presName="rootText" presStyleLbl="node3" presStyleIdx="5" presStyleCnt="10">
        <dgm:presLayoutVars>
          <dgm:chPref val="3"/>
        </dgm:presLayoutVars>
      </dgm:prSet>
      <dgm:spPr/>
      <dgm:t>
        <a:bodyPr/>
        <a:lstStyle/>
        <a:p>
          <a:endParaRPr lang="en-US"/>
        </a:p>
      </dgm:t>
    </dgm:pt>
    <dgm:pt modelId="{566C4747-B1AF-4E03-A721-C88B973D8D01}" type="pres">
      <dgm:prSet presAssocID="{7546E79F-61B2-44A2-8D7B-306A4BDEFCE6}" presName="rootConnector" presStyleLbl="node3" presStyleIdx="5" presStyleCnt="10"/>
      <dgm:spPr/>
      <dgm:t>
        <a:bodyPr/>
        <a:lstStyle/>
        <a:p>
          <a:endParaRPr lang="en-US"/>
        </a:p>
      </dgm:t>
    </dgm:pt>
    <dgm:pt modelId="{A70B0AD7-299A-4F87-A2BF-18BEF69E8A28}" type="pres">
      <dgm:prSet presAssocID="{7546E79F-61B2-44A2-8D7B-306A4BDEFCE6}" presName="hierChild4" presStyleCnt="0"/>
      <dgm:spPr/>
    </dgm:pt>
    <dgm:pt modelId="{22BE6987-EE87-4660-A300-41AB04F67F42}" type="pres">
      <dgm:prSet presAssocID="{7546E79F-61B2-44A2-8D7B-306A4BDEFCE6}" presName="hierChild5" presStyleCnt="0"/>
      <dgm:spPr/>
    </dgm:pt>
    <dgm:pt modelId="{EA1FEE9B-0D49-4711-8142-FD37CFB4FF8C}" type="pres">
      <dgm:prSet presAssocID="{D34E9026-3678-4166-BD67-AD29299830BA}" presName="hierChild5" presStyleCnt="0"/>
      <dgm:spPr/>
    </dgm:pt>
    <dgm:pt modelId="{B3C311F0-CF04-40F1-82CA-E39EAA8B9C53}" type="pres">
      <dgm:prSet presAssocID="{CD4C5347-5B79-4966-9786-96B7BC099C20}" presName="Name37" presStyleLbl="parChTrans1D2" presStyleIdx="2" presStyleCnt="3"/>
      <dgm:spPr/>
      <dgm:t>
        <a:bodyPr/>
        <a:lstStyle/>
        <a:p>
          <a:endParaRPr lang="en-US"/>
        </a:p>
      </dgm:t>
    </dgm:pt>
    <dgm:pt modelId="{A13FF86A-B02A-4F17-A718-54A0B97ADC45}" type="pres">
      <dgm:prSet presAssocID="{EB07BFD8-2C2F-4CD6-A939-BB132188815E}" presName="hierRoot2" presStyleCnt="0">
        <dgm:presLayoutVars>
          <dgm:hierBranch val="init"/>
        </dgm:presLayoutVars>
      </dgm:prSet>
      <dgm:spPr/>
    </dgm:pt>
    <dgm:pt modelId="{EB8992E1-A9DE-47A9-AE6E-E7C9CF66065A}" type="pres">
      <dgm:prSet presAssocID="{EB07BFD8-2C2F-4CD6-A939-BB132188815E}" presName="rootComposite" presStyleCnt="0"/>
      <dgm:spPr/>
    </dgm:pt>
    <dgm:pt modelId="{AAC61006-A159-4FFB-A739-A75C765B1E1D}" type="pres">
      <dgm:prSet presAssocID="{EB07BFD8-2C2F-4CD6-A939-BB132188815E}" presName="rootText" presStyleLbl="node2" presStyleIdx="2" presStyleCnt="3" custScaleX="365991" custScaleY="304331" custLinFactNeighborY="14160">
        <dgm:presLayoutVars>
          <dgm:chPref val="3"/>
        </dgm:presLayoutVars>
      </dgm:prSet>
      <dgm:spPr/>
      <dgm:t>
        <a:bodyPr/>
        <a:lstStyle/>
        <a:p>
          <a:endParaRPr lang="en-US"/>
        </a:p>
      </dgm:t>
    </dgm:pt>
    <dgm:pt modelId="{52857629-608A-4713-B84F-1649491B80F7}" type="pres">
      <dgm:prSet presAssocID="{EB07BFD8-2C2F-4CD6-A939-BB132188815E}" presName="rootConnector" presStyleLbl="node2" presStyleIdx="2" presStyleCnt="3"/>
      <dgm:spPr/>
      <dgm:t>
        <a:bodyPr/>
        <a:lstStyle/>
        <a:p>
          <a:endParaRPr lang="en-US"/>
        </a:p>
      </dgm:t>
    </dgm:pt>
    <dgm:pt modelId="{B99A4FA5-682D-48CE-9E5B-2973DFD0E24A}" type="pres">
      <dgm:prSet presAssocID="{EB07BFD8-2C2F-4CD6-A939-BB132188815E}" presName="hierChild4" presStyleCnt="0"/>
      <dgm:spPr/>
    </dgm:pt>
    <dgm:pt modelId="{C65CA87D-6811-457A-91F9-25500B6A8277}" type="pres">
      <dgm:prSet presAssocID="{4C3C9125-658A-454A-B34F-165BE4666F95}" presName="Name37" presStyleLbl="parChTrans1D3" presStyleIdx="6" presStyleCnt="10"/>
      <dgm:spPr/>
      <dgm:t>
        <a:bodyPr/>
        <a:lstStyle/>
        <a:p>
          <a:endParaRPr lang="en-US"/>
        </a:p>
      </dgm:t>
    </dgm:pt>
    <dgm:pt modelId="{66201D01-8B53-4D45-ADB9-60A3BECF27D8}" type="pres">
      <dgm:prSet presAssocID="{12AA0203-05AA-4E0D-BDF0-6B30FC37B02F}" presName="hierRoot2" presStyleCnt="0">
        <dgm:presLayoutVars>
          <dgm:hierBranch val="init"/>
        </dgm:presLayoutVars>
      </dgm:prSet>
      <dgm:spPr/>
    </dgm:pt>
    <dgm:pt modelId="{6EFE3798-BAA3-41B3-A6F5-5144E07064DB}" type="pres">
      <dgm:prSet presAssocID="{12AA0203-05AA-4E0D-BDF0-6B30FC37B02F}" presName="rootComposite" presStyleCnt="0"/>
      <dgm:spPr/>
    </dgm:pt>
    <dgm:pt modelId="{999E4FBF-100F-45DA-B4F0-B4618FD738C7}" type="pres">
      <dgm:prSet presAssocID="{12AA0203-05AA-4E0D-BDF0-6B30FC37B02F}" presName="rootText" presStyleLbl="node3" presStyleIdx="6" presStyleCnt="10" custScaleX="214102" custScaleY="221851">
        <dgm:presLayoutVars>
          <dgm:chPref val="3"/>
        </dgm:presLayoutVars>
      </dgm:prSet>
      <dgm:spPr/>
      <dgm:t>
        <a:bodyPr/>
        <a:lstStyle/>
        <a:p>
          <a:endParaRPr lang="en-US"/>
        </a:p>
      </dgm:t>
    </dgm:pt>
    <dgm:pt modelId="{0D44FEBA-5B4F-4B62-A3DF-B87507DFC365}" type="pres">
      <dgm:prSet presAssocID="{12AA0203-05AA-4E0D-BDF0-6B30FC37B02F}" presName="rootConnector" presStyleLbl="node3" presStyleIdx="6" presStyleCnt="10"/>
      <dgm:spPr/>
      <dgm:t>
        <a:bodyPr/>
        <a:lstStyle/>
        <a:p>
          <a:endParaRPr lang="en-US"/>
        </a:p>
      </dgm:t>
    </dgm:pt>
    <dgm:pt modelId="{8448AAC2-B14F-436E-8FC4-4DBC0ED5DEDC}" type="pres">
      <dgm:prSet presAssocID="{12AA0203-05AA-4E0D-BDF0-6B30FC37B02F}" presName="hierChild4" presStyleCnt="0"/>
      <dgm:spPr/>
    </dgm:pt>
    <dgm:pt modelId="{C732C574-3095-49CA-9A9F-4F309B62FB1A}" type="pres">
      <dgm:prSet presAssocID="{12AA0203-05AA-4E0D-BDF0-6B30FC37B02F}" presName="hierChild5" presStyleCnt="0"/>
      <dgm:spPr/>
    </dgm:pt>
    <dgm:pt modelId="{9A139E93-D213-4CDB-B4EC-05184C887E84}" type="pres">
      <dgm:prSet presAssocID="{3A7D5523-271D-42B6-9548-167B95233B34}" presName="Name37" presStyleLbl="parChTrans1D3" presStyleIdx="7" presStyleCnt="10"/>
      <dgm:spPr/>
      <dgm:t>
        <a:bodyPr/>
        <a:lstStyle/>
        <a:p>
          <a:endParaRPr lang="en-US"/>
        </a:p>
      </dgm:t>
    </dgm:pt>
    <dgm:pt modelId="{0BD9EB99-7C92-4C48-A94E-306FAC2A33A2}" type="pres">
      <dgm:prSet presAssocID="{A7B7DA12-FF73-4C23-87D2-7D02C3D2BB8A}" presName="hierRoot2" presStyleCnt="0">
        <dgm:presLayoutVars>
          <dgm:hierBranch val="init"/>
        </dgm:presLayoutVars>
      </dgm:prSet>
      <dgm:spPr/>
    </dgm:pt>
    <dgm:pt modelId="{5C7DBCDB-EE7A-47C7-B011-C63C50FB0A28}" type="pres">
      <dgm:prSet presAssocID="{A7B7DA12-FF73-4C23-87D2-7D02C3D2BB8A}" presName="rootComposite" presStyleCnt="0"/>
      <dgm:spPr/>
    </dgm:pt>
    <dgm:pt modelId="{DFD376D4-6F71-4C10-8604-6BB42E7EAEE6}" type="pres">
      <dgm:prSet presAssocID="{A7B7DA12-FF73-4C23-87D2-7D02C3D2BB8A}" presName="rootText" presStyleLbl="node3" presStyleIdx="7" presStyleCnt="10" custScaleX="237223" custScaleY="221851">
        <dgm:presLayoutVars>
          <dgm:chPref val="3"/>
        </dgm:presLayoutVars>
      </dgm:prSet>
      <dgm:spPr/>
      <dgm:t>
        <a:bodyPr/>
        <a:lstStyle/>
        <a:p>
          <a:endParaRPr lang="en-US"/>
        </a:p>
      </dgm:t>
    </dgm:pt>
    <dgm:pt modelId="{DF060E54-517E-4D32-BA87-C44A4CFAFB38}" type="pres">
      <dgm:prSet presAssocID="{A7B7DA12-FF73-4C23-87D2-7D02C3D2BB8A}" presName="rootConnector" presStyleLbl="node3" presStyleIdx="7" presStyleCnt="10"/>
      <dgm:spPr/>
      <dgm:t>
        <a:bodyPr/>
        <a:lstStyle/>
        <a:p>
          <a:endParaRPr lang="en-US"/>
        </a:p>
      </dgm:t>
    </dgm:pt>
    <dgm:pt modelId="{C223C396-2298-4C49-8413-84C8008EC515}" type="pres">
      <dgm:prSet presAssocID="{A7B7DA12-FF73-4C23-87D2-7D02C3D2BB8A}" presName="hierChild4" presStyleCnt="0"/>
      <dgm:spPr/>
    </dgm:pt>
    <dgm:pt modelId="{49FD6325-5A0C-4929-8013-08375E9A5FEA}" type="pres">
      <dgm:prSet presAssocID="{A7B7DA12-FF73-4C23-87D2-7D02C3D2BB8A}" presName="hierChild5" presStyleCnt="0"/>
      <dgm:spPr/>
    </dgm:pt>
    <dgm:pt modelId="{21D8D3C2-0D80-4609-A3BF-B8EE4235D51C}" type="pres">
      <dgm:prSet presAssocID="{DFA48AC0-34DE-4E1D-BEEC-471C5D7FF8FC}" presName="Name37" presStyleLbl="parChTrans1D3" presStyleIdx="8" presStyleCnt="10"/>
      <dgm:spPr/>
      <dgm:t>
        <a:bodyPr/>
        <a:lstStyle/>
        <a:p>
          <a:endParaRPr lang="en-US"/>
        </a:p>
      </dgm:t>
    </dgm:pt>
    <dgm:pt modelId="{C49D706C-A4A2-4929-BDF8-9EF1C3F003A7}" type="pres">
      <dgm:prSet presAssocID="{F8324732-8659-4DF7-9401-2E49E69C5BD7}" presName="hierRoot2" presStyleCnt="0">
        <dgm:presLayoutVars>
          <dgm:hierBranch val="init"/>
        </dgm:presLayoutVars>
      </dgm:prSet>
      <dgm:spPr/>
    </dgm:pt>
    <dgm:pt modelId="{89EE8110-809A-43F1-88EA-2425BB7407A1}" type="pres">
      <dgm:prSet presAssocID="{F8324732-8659-4DF7-9401-2E49E69C5BD7}" presName="rootComposite" presStyleCnt="0"/>
      <dgm:spPr/>
    </dgm:pt>
    <dgm:pt modelId="{FB15E25A-A8EB-46AF-A936-50F1B3EDD93A}" type="pres">
      <dgm:prSet presAssocID="{F8324732-8659-4DF7-9401-2E49E69C5BD7}" presName="rootText" presStyleLbl="node3" presStyleIdx="8" presStyleCnt="10" custScaleX="244080" custScaleY="221851">
        <dgm:presLayoutVars>
          <dgm:chPref val="3"/>
        </dgm:presLayoutVars>
      </dgm:prSet>
      <dgm:spPr/>
      <dgm:t>
        <a:bodyPr/>
        <a:lstStyle/>
        <a:p>
          <a:endParaRPr lang="en-US"/>
        </a:p>
      </dgm:t>
    </dgm:pt>
    <dgm:pt modelId="{F598AA82-1DCC-4C69-8571-3BEB1AC76C90}" type="pres">
      <dgm:prSet presAssocID="{F8324732-8659-4DF7-9401-2E49E69C5BD7}" presName="rootConnector" presStyleLbl="node3" presStyleIdx="8" presStyleCnt="10"/>
      <dgm:spPr/>
      <dgm:t>
        <a:bodyPr/>
        <a:lstStyle/>
        <a:p>
          <a:endParaRPr lang="en-US"/>
        </a:p>
      </dgm:t>
    </dgm:pt>
    <dgm:pt modelId="{79188A99-9123-4A9F-A122-6D72FA11479F}" type="pres">
      <dgm:prSet presAssocID="{F8324732-8659-4DF7-9401-2E49E69C5BD7}" presName="hierChild4" presStyleCnt="0"/>
      <dgm:spPr/>
    </dgm:pt>
    <dgm:pt modelId="{F3524CDF-F4CF-4A24-A9C2-AD6459D76042}" type="pres">
      <dgm:prSet presAssocID="{F8324732-8659-4DF7-9401-2E49E69C5BD7}" presName="hierChild5" presStyleCnt="0"/>
      <dgm:spPr/>
    </dgm:pt>
    <dgm:pt modelId="{1C4C8885-5C27-43DD-8F1F-68A9FC07574C}" type="pres">
      <dgm:prSet presAssocID="{CAD069EE-3B5B-4565-B9AF-C171FD2CB7B9}" presName="Name37" presStyleLbl="parChTrans1D3" presStyleIdx="9" presStyleCnt="10"/>
      <dgm:spPr/>
      <dgm:t>
        <a:bodyPr/>
        <a:lstStyle/>
        <a:p>
          <a:endParaRPr lang="en-US"/>
        </a:p>
      </dgm:t>
    </dgm:pt>
    <dgm:pt modelId="{0CCE2848-BCFD-4C36-8332-B430137C8686}" type="pres">
      <dgm:prSet presAssocID="{642BC462-EAB6-4734-8F72-8579F29981E2}" presName="hierRoot2" presStyleCnt="0">
        <dgm:presLayoutVars>
          <dgm:hierBranch val="init"/>
        </dgm:presLayoutVars>
      </dgm:prSet>
      <dgm:spPr/>
    </dgm:pt>
    <dgm:pt modelId="{1D219B64-89D7-4145-8EF9-0D317827BE2F}" type="pres">
      <dgm:prSet presAssocID="{642BC462-EAB6-4734-8F72-8579F29981E2}" presName="rootComposite" presStyleCnt="0"/>
      <dgm:spPr/>
    </dgm:pt>
    <dgm:pt modelId="{F24001A0-761C-463C-8786-9DE6B4AA0688}" type="pres">
      <dgm:prSet presAssocID="{642BC462-EAB6-4734-8F72-8579F29981E2}" presName="rootText" presStyleLbl="node3" presStyleIdx="9" presStyleCnt="10" custScaleX="224388" custScaleY="221851">
        <dgm:presLayoutVars>
          <dgm:chPref val="3"/>
        </dgm:presLayoutVars>
      </dgm:prSet>
      <dgm:spPr/>
      <dgm:t>
        <a:bodyPr/>
        <a:lstStyle/>
        <a:p>
          <a:endParaRPr lang="en-US"/>
        </a:p>
      </dgm:t>
    </dgm:pt>
    <dgm:pt modelId="{4CF80DF8-E4BB-4DAE-B862-77AD57653E80}" type="pres">
      <dgm:prSet presAssocID="{642BC462-EAB6-4734-8F72-8579F29981E2}" presName="rootConnector" presStyleLbl="node3" presStyleIdx="9" presStyleCnt="10"/>
      <dgm:spPr/>
      <dgm:t>
        <a:bodyPr/>
        <a:lstStyle/>
        <a:p>
          <a:endParaRPr lang="en-US"/>
        </a:p>
      </dgm:t>
    </dgm:pt>
    <dgm:pt modelId="{24870072-5456-4BAC-BBE8-0CE8EC2F1890}" type="pres">
      <dgm:prSet presAssocID="{642BC462-EAB6-4734-8F72-8579F29981E2}" presName="hierChild4" presStyleCnt="0"/>
      <dgm:spPr/>
    </dgm:pt>
    <dgm:pt modelId="{89A6DE41-BB73-476F-8277-4579046E4DBB}" type="pres">
      <dgm:prSet presAssocID="{642BC462-EAB6-4734-8F72-8579F29981E2}" presName="hierChild5" presStyleCnt="0"/>
      <dgm:spPr/>
    </dgm:pt>
    <dgm:pt modelId="{D99E8FA0-4314-4239-BFB4-3B919AA00D6A}" type="pres">
      <dgm:prSet presAssocID="{EB07BFD8-2C2F-4CD6-A939-BB132188815E}" presName="hierChild5" presStyleCnt="0"/>
      <dgm:spPr/>
    </dgm:pt>
    <dgm:pt modelId="{63502939-4905-40CE-91E5-A3DAC401A502}" type="pres">
      <dgm:prSet presAssocID="{7C8307CD-FAE5-4D8D-BF6A-8036108B97B6}" presName="hierChild3" presStyleCnt="0"/>
      <dgm:spPr/>
    </dgm:pt>
  </dgm:ptLst>
  <dgm:cxnLst>
    <dgm:cxn modelId="{DCCB45D5-C2AD-484D-A858-8B848BE7E1D5}" type="presOf" srcId="{FBD70A86-CFC9-40C3-9CE7-10E2FB7226E1}" destId="{F4B6333F-86AE-4471-88A2-72655D9491CC}" srcOrd="0" destOrd="0" presId="urn:microsoft.com/office/officeart/2005/8/layout/orgChart1"/>
    <dgm:cxn modelId="{DF6829F9-2FE3-47F8-9870-5594594F845A}" type="presOf" srcId="{FD9FBF85-94EF-456E-917E-D7B3064E3BF8}" destId="{082CB553-3033-42C8-951F-78395AE91482}" srcOrd="0" destOrd="0" presId="urn:microsoft.com/office/officeart/2005/8/layout/orgChart1"/>
    <dgm:cxn modelId="{C20AD89F-0DEE-4251-AE9D-28F8AE7A4418}" type="presOf" srcId="{CD4C5347-5B79-4966-9786-96B7BC099C20}" destId="{B3C311F0-CF04-40F1-82CA-E39EAA8B9C53}" srcOrd="0" destOrd="0" presId="urn:microsoft.com/office/officeart/2005/8/layout/orgChart1"/>
    <dgm:cxn modelId="{17358434-10D3-4C7C-BD02-9EEBABD15500}" type="presOf" srcId="{EB07BFD8-2C2F-4CD6-A939-BB132188815E}" destId="{52857629-608A-4713-B84F-1649491B80F7}" srcOrd="1" destOrd="0" presId="urn:microsoft.com/office/officeart/2005/8/layout/orgChart1"/>
    <dgm:cxn modelId="{CBA83409-C86B-4559-ABFF-E63D6EA9C0C6}" srcId="{A3EFA70B-3DF6-4FF6-800C-19A6718F7065}" destId="{7C8307CD-FAE5-4D8D-BF6A-8036108B97B6}" srcOrd="0" destOrd="0" parTransId="{BC77EF79-7401-49C4-9EDD-6327F1F99648}" sibTransId="{D778E3A8-621A-40D8-BD37-E09C756D0C00}"/>
    <dgm:cxn modelId="{BAFC74E6-C648-45C6-9779-8A841BE187DF}" srcId="{D34E9026-3678-4166-BD67-AD29299830BA}" destId="{7546E79F-61B2-44A2-8D7B-306A4BDEFCE6}" srcOrd="2" destOrd="0" parTransId="{62A59D6E-78D1-4127-85F5-335AC2116C7F}" sibTransId="{607992DA-3AD0-43DF-8AAB-9030B35CFE23}"/>
    <dgm:cxn modelId="{B8128AB5-EDAC-42DD-8857-FFE7A39F1B71}" type="presOf" srcId="{CAD069EE-3B5B-4565-B9AF-C171FD2CB7B9}" destId="{1C4C8885-5C27-43DD-8F1F-68A9FC07574C}" srcOrd="0" destOrd="0" presId="urn:microsoft.com/office/officeart/2005/8/layout/orgChart1"/>
    <dgm:cxn modelId="{5CD9FEC3-486D-449E-B959-22B900A3E729}" type="presOf" srcId="{12AA0203-05AA-4E0D-BDF0-6B30FC37B02F}" destId="{0D44FEBA-5B4F-4B62-A3DF-B87507DFC365}" srcOrd="1" destOrd="0" presId="urn:microsoft.com/office/officeart/2005/8/layout/orgChart1"/>
    <dgm:cxn modelId="{4031810C-AC38-4F21-8954-993499A592D8}" type="presOf" srcId="{FC695F5C-2DD7-4693-A639-ACB2CD413CA8}" destId="{2CBB3F41-DC24-4968-84F8-65A13708D431}" srcOrd="1" destOrd="0" presId="urn:microsoft.com/office/officeart/2005/8/layout/orgChart1"/>
    <dgm:cxn modelId="{3312CB6F-7006-432D-B885-CDD832F88B6F}" type="presOf" srcId="{7BC571CF-819A-4466-97B1-5A1FEFF8519A}" destId="{F67E2FB1-09C1-486D-88D4-B2E1A082593D}" srcOrd="1" destOrd="0" presId="urn:microsoft.com/office/officeart/2005/8/layout/orgChart1"/>
    <dgm:cxn modelId="{F315B779-DDD3-44BB-9143-22576304496E}" type="presOf" srcId="{36D1E90D-B80E-4D03-9695-4EA551DD2E5B}" destId="{8EED26B2-1524-4270-9C51-324DF74298AA}" srcOrd="0" destOrd="0" presId="urn:microsoft.com/office/officeart/2005/8/layout/orgChart1"/>
    <dgm:cxn modelId="{DEA1002B-1E9C-4296-9D11-A4E793C993C6}" type="presOf" srcId="{4F91AB20-542E-4668-A47C-04246A9FD5E9}" destId="{A3A709B8-F235-410D-B453-43B956F74356}" srcOrd="0" destOrd="0" presId="urn:microsoft.com/office/officeart/2005/8/layout/orgChart1"/>
    <dgm:cxn modelId="{3FEB61A3-E7FD-4C48-9DC4-B85713CEC758}" srcId="{D34E9026-3678-4166-BD67-AD29299830BA}" destId="{133AD867-C496-4E0A-B43C-1E2A98CCBB1C}" srcOrd="1" destOrd="0" parTransId="{1B140EB4-65DC-4238-B733-794B2BFCD8A2}" sibTransId="{C6BB1C2F-3DC5-4062-81BE-FB9A902A2A9C}"/>
    <dgm:cxn modelId="{9A055080-1852-423C-845A-640E94348DB0}" type="presOf" srcId="{4C3C9125-658A-454A-B34F-165BE4666F95}" destId="{C65CA87D-6811-457A-91F9-25500B6A8277}" srcOrd="0" destOrd="0" presId="urn:microsoft.com/office/officeart/2005/8/layout/orgChart1"/>
    <dgm:cxn modelId="{EE67ABA3-CC34-41F9-ACD0-F3DACDD42B41}" srcId="{36D1E90D-B80E-4D03-9695-4EA551DD2E5B}" destId="{FC695F5C-2DD7-4693-A639-ACB2CD413CA8}" srcOrd="2" destOrd="0" parTransId="{FBD70A86-CFC9-40C3-9CE7-10E2FB7226E1}" sibTransId="{30F71109-34E9-4371-ADA5-C0DB69B4B439}"/>
    <dgm:cxn modelId="{D22DB848-BC1C-4444-879C-47490FDAE313}" srcId="{7C8307CD-FAE5-4D8D-BF6A-8036108B97B6}" destId="{36D1E90D-B80E-4D03-9695-4EA551DD2E5B}" srcOrd="0" destOrd="0" parTransId="{9C0D4BCF-8774-49B2-AF5A-9ABCCA107AE7}" sibTransId="{A3DB8DCC-DC3F-47A7-92A6-B1DF77E7911C}"/>
    <dgm:cxn modelId="{8A790E49-846F-4BB9-9BC4-1719964BC343}" srcId="{D34E9026-3678-4166-BD67-AD29299830BA}" destId="{7BC571CF-819A-4466-97B1-5A1FEFF8519A}" srcOrd="0" destOrd="0" parTransId="{068E5BD0-89C4-4B86-BDD0-CE6AF7AFC225}" sibTransId="{DB9CCAFB-CC56-41D8-94F8-BEE60607DF5D}"/>
    <dgm:cxn modelId="{838A4537-78E7-4781-970E-418A0ADD2CA6}" srcId="{36D1E90D-B80E-4D03-9695-4EA551DD2E5B}" destId="{FD9FBF85-94EF-456E-917E-D7B3064E3BF8}" srcOrd="1" destOrd="0" parTransId="{B182670E-0C70-4C58-857C-E8DE8A24EF16}" sibTransId="{59835E17-87F0-4ACC-8E68-FFF0A47FA20C}"/>
    <dgm:cxn modelId="{AC4BBEA6-62E1-4DA9-8725-D2501E281F52}" type="presOf" srcId="{642BC462-EAB6-4734-8F72-8579F29981E2}" destId="{F24001A0-761C-463C-8786-9DE6B4AA0688}" srcOrd="0" destOrd="0" presId="urn:microsoft.com/office/officeart/2005/8/layout/orgChart1"/>
    <dgm:cxn modelId="{67B6ECD7-4AD4-4719-A3C9-64E53207A4AC}" type="presOf" srcId="{A7B7DA12-FF73-4C23-87D2-7D02C3D2BB8A}" destId="{DF060E54-517E-4D32-BA87-C44A4CFAFB38}" srcOrd="1" destOrd="0" presId="urn:microsoft.com/office/officeart/2005/8/layout/orgChart1"/>
    <dgm:cxn modelId="{5AF5ABCD-C500-4898-9F8D-C2E96DB76A09}" type="presOf" srcId="{1B140EB4-65DC-4238-B733-794B2BFCD8A2}" destId="{46260BAD-5A16-4070-88B9-9C88921E16BB}" srcOrd="0" destOrd="0" presId="urn:microsoft.com/office/officeart/2005/8/layout/orgChart1"/>
    <dgm:cxn modelId="{1BAAB00D-CD3B-4FB1-AF2C-3D9F66F088F6}" type="presOf" srcId="{A7B7DA12-FF73-4C23-87D2-7D02C3D2BB8A}" destId="{DFD376D4-6F71-4C10-8604-6BB42E7EAEE6}" srcOrd="0" destOrd="0" presId="urn:microsoft.com/office/officeart/2005/8/layout/orgChart1"/>
    <dgm:cxn modelId="{9897AEF2-9A8D-4AB6-BDB2-A57FAE660852}" type="presOf" srcId="{D34E9026-3678-4166-BD67-AD29299830BA}" destId="{CAB1424C-5A5D-4FDD-9232-01B564119881}" srcOrd="1" destOrd="0" presId="urn:microsoft.com/office/officeart/2005/8/layout/orgChart1"/>
    <dgm:cxn modelId="{3A9D9936-EF30-4BDD-A475-BFBC2F388DD7}" type="presOf" srcId="{068E5BD0-89C4-4B86-BDD0-CE6AF7AFC225}" destId="{F38BBFF2-2BF3-4052-833B-7EB96BF2D990}" srcOrd="0" destOrd="0" presId="urn:microsoft.com/office/officeart/2005/8/layout/orgChart1"/>
    <dgm:cxn modelId="{A649BA1B-2BE8-40D1-93F3-A2DF4CF59076}" type="presOf" srcId="{36D1E90D-B80E-4D03-9695-4EA551DD2E5B}" destId="{6A6FF35F-97F3-44B8-AE56-FEEAB5FC98A9}" srcOrd="1" destOrd="0" presId="urn:microsoft.com/office/officeart/2005/8/layout/orgChart1"/>
    <dgm:cxn modelId="{4E2C4E21-4B5F-4A2C-BC51-E7550CEAB0BC}" type="presOf" srcId="{A3EFA70B-3DF6-4FF6-800C-19A6718F7065}" destId="{59A8E4B4-7179-4ACE-AA56-E2EDA3914E32}" srcOrd="0" destOrd="0" presId="urn:microsoft.com/office/officeart/2005/8/layout/orgChart1"/>
    <dgm:cxn modelId="{FF039CC6-3150-4AED-9AF2-3F046E5CD5DB}" type="presOf" srcId="{7C8307CD-FAE5-4D8D-BF6A-8036108B97B6}" destId="{BF45869D-ECB0-4484-A6BC-60A678B7544D}" srcOrd="1" destOrd="0" presId="urn:microsoft.com/office/officeart/2005/8/layout/orgChart1"/>
    <dgm:cxn modelId="{C71B46DA-09EE-4B14-BA91-1D6761EE130E}" type="presOf" srcId="{12AA0203-05AA-4E0D-BDF0-6B30FC37B02F}" destId="{999E4FBF-100F-45DA-B4F0-B4618FD738C7}" srcOrd="0" destOrd="0" presId="urn:microsoft.com/office/officeart/2005/8/layout/orgChart1"/>
    <dgm:cxn modelId="{9F219CEC-A772-4EEA-B7BC-EB55691FC4E4}" srcId="{EB07BFD8-2C2F-4CD6-A939-BB132188815E}" destId="{642BC462-EAB6-4734-8F72-8579F29981E2}" srcOrd="3" destOrd="0" parTransId="{CAD069EE-3B5B-4565-B9AF-C171FD2CB7B9}" sibTransId="{C671114E-36C5-4E59-BFDC-009860C2980E}"/>
    <dgm:cxn modelId="{EFB90096-DC1F-42B0-8D33-6BB1DD1F6525}" srcId="{7C8307CD-FAE5-4D8D-BF6A-8036108B97B6}" destId="{D34E9026-3678-4166-BD67-AD29299830BA}" srcOrd="1" destOrd="0" parTransId="{4F91AB20-542E-4668-A47C-04246A9FD5E9}" sibTransId="{5FE00F28-F03C-4B12-A259-E7378A286651}"/>
    <dgm:cxn modelId="{E9CA19CB-07E1-4F26-BE4E-F0562A64FCF7}" type="presOf" srcId="{62A59D6E-78D1-4127-85F5-335AC2116C7F}" destId="{6521ABB6-BFD3-46BF-AB44-978AB61CE25F}" srcOrd="0" destOrd="0" presId="urn:microsoft.com/office/officeart/2005/8/layout/orgChart1"/>
    <dgm:cxn modelId="{FA32787B-6DB3-49AC-8B58-FA89BED9920D}" type="presOf" srcId="{7BC571CF-819A-4466-97B1-5A1FEFF8519A}" destId="{44B97F83-7ED1-4DC7-8AA8-0E0F1761D768}" srcOrd="0" destOrd="0" presId="urn:microsoft.com/office/officeart/2005/8/layout/orgChart1"/>
    <dgm:cxn modelId="{431A2416-F1E3-4AC9-976D-96A676C333B6}" srcId="{EB07BFD8-2C2F-4CD6-A939-BB132188815E}" destId="{A7B7DA12-FF73-4C23-87D2-7D02C3D2BB8A}" srcOrd="1" destOrd="0" parTransId="{3A7D5523-271D-42B6-9548-167B95233B34}" sibTransId="{B9D4C05E-957D-48C0-8654-5E6696988DC4}"/>
    <dgm:cxn modelId="{EED98178-6D65-41D6-8001-3AFBD017A40C}" type="presOf" srcId="{7546E79F-61B2-44A2-8D7B-306A4BDEFCE6}" destId="{EACB658D-B037-40FC-A004-91E3BABAFF61}" srcOrd="0" destOrd="0" presId="urn:microsoft.com/office/officeart/2005/8/layout/orgChart1"/>
    <dgm:cxn modelId="{5DF314B6-2688-4EAE-954E-4A919412FFBD}" type="presOf" srcId="{133AD867-C496-4E0A-B43C-1E2A98CCBB1C}" destId="{FEDD8FF9-AB93-4D84-9753-A101EEA53875}" srcOrd="1" destOrd="0" presId="urn:microsoft.com/office/officeart/2005/8/layout/orgChart1"/>
    <dgm:cxn modelId="{A75466C4-3E96-494D-853B-07E0A7A7F32F}" srcId="{EB07BFD8-2C2F-4CD6-A939-BB132188815E}" destId="{F8324732-8659-4DF7-9401-2E49E69C5BD7}" srcOrd="2" destOrd="0" parTransId="{DFA48AC0-34DE-4E1D-BEEC-471C5D7FF8FC}" sibTransId="{86697494-C376-4362-BDA6-FB7A4534BB11}"/>
    <dgm:cxn modelId="{EF8A929D-4B43-4D0D-9F9B-D148873536A2}" type="presOf" srcId="{DFDFCB95-989A-464E-A88A-A5D108634136}" destId="{7D73C0F5-41DB-45F0-BDCC-91F38CBAA20B}" srcOrd="0" destOrd="0" presId="urn:microsoft.com/office/officeart/2005/8/layout/orgChart1"/>
    <dgm:cxn modelId="{5EEDC3F7-690D-4BCA-9575-1810AB7FAE96}" type="presOf" srcId="{DFA48AC0-34DE-4E1D-BEEC-471C5D7FF8FC}" destId="{21D8D3C2-0D80-4609-A3BF-B8EE4235D51C}" srcOrd="0" destOrd="0" presId="urn:microsoft.com/office/officeart/2005/8/layout/orgChart1"/>
    <dgm:cxn modelId="{E5EEB4C1-455D-443D-85B2-82A197CA24DF}" type="presOf" srcId="{133AD867-C496-4E0A-B43C-1E2A98CCBB1C}" destId="{1A9FADC9-0D98-498D-850D-462EA4008CCB}" srcOrd="0" destOrd="0" presId="urn:microsoft.com/office/officeart/2005/8/layout/orgChart1"/>
    <dgm:cxn modelId="{A4B36829-C539-45CA-8080-F3A98D904333}" type="presOf" srcId="{9C0D4BCF-8774-49B2-AF5A-9ABCCA107AE7}" destId="{F65C9F09-0FE5-4033-BC4A-B67E1A3FCE55}" srcOrd="0" destOrd="0" presId="urn:microsoft.com/office/officeart/2005/8/layout/orgChart1"/>
    <dgm:cxn modelId="{1F8C601A-7F83-4ACF-AE27-3ACD3DAD4313}" type="presOf" srcId="{F8324732-8659-4DF7-9401-2E49E69C5BD7}" destId="{FB15E25A-A8EB-46AF-A936-50F1B3EDD93A}" srcOrd="0" destOrd="0" presId="urn:microsoft.com/office/officeart/2005/8/layout/orgChart1"/>
    <dgm:cxn modelId="{34DFB506-D6F2-4984-BFC2-19F72EB6AECE}" type="presOf" srcId="{7C8307CD-FAE5-4D8D-BF6A-8036108B97B6}" destId="{330CED61-BCF8-4051-81C7-E7C35FF562F0}" srcOrd="0" destOrd="0" presId="urn:microsoft.com/office/officeart/2005/8/layout/orgChart1"/>
    <dgm:cxn modelId="{A0C222D3-2CBC-49F7-98EB-9007DCC3116F}" type="presOf" srcId="{D34E9026-3678-4166-BD67-AD29299830BA}" destId="{A5D43071-2657-49A7-A1EC-5E2BC079D6A5}" srcOrd="0" destOrd="0" presId="urn:microsoft.com/office/officeart/2005/8/layout/orgChart1"/>
    <dgm:cxn modelId="{0C32CAC2-FE9E-4EEF-9AE0-231B23FCBEA3}" type="presOf" srcId="{BECF8CE5-0919-4014-A102-7AA4DA30E83A}" destId="{61B122C2-09CF-47E3-9B44-7CF131334AAC}" srcOrd="0" destOrd="0" presId="urn:microsoft.com/office/officeart/2005/8/layout/orgChart1"/>
    <dgm:cxn modelId="{255502A8-9C7E-4906-93A9-E1C328F2E9B8}" type="presOf" srcId="{DFDFCB95-989A-464E-A88A-A5D108634136}" destId="{6AAF335F-B818-4C46-9A17-039046AC491C}" srcOrd="1" destOrd="0" presId="urn:microsoft.com/office/officeart/2005/8/layout/orgChart1"/>
    <dgm:cxn modelId="{A1C45812-B529-4731-92D8-77C6EBD9F426}" srcId="{7C8307CD-FAE5-4D8D-BF6A-8036108B97B6}" destId="{EB07BFD8-2C2F-4CD6-A939-BB132188815E}" srcOrd="2" destOrd="0" parTransId="{CD4C5347-5B79-4966-9786-96B7BC099C20}" sibTransId="{E75DA84B-8223-40DB-A0B5-0BAF116ABEAC}"/>
    <dgm:cxn modelId="{7B147F84-08CF-4A3A-A035-02FA2AF8CEE6}" type="presOf" srcId="{3A7D5523-271D-42B6-9548-167B95233B34}" destId="{9A139E93-D213-4CDB-B4EC-05184C887E84}" srcOrd="0" destOrd="0" presId="urn:microsoft.com/office/officeart/2005/8/layout/orgChart1"/>
    <dgm:cxn modelId="{639D0005-5788-4884-8C47-7F57785FB618}" type="presOf" srcId="{EB07BFD8-2C2F-4CD6-A939-BB132188815E}" destId="{AAC61006-A159-4FFB-A739-A75C765B1E1D}" srcOrd="0" destOrd="0" presId="urn:microsoft.com/office/officeart/2005/8/layout/orgChart1"/>
    <dgm:cxn modelId="{4E39C8DB-982E-49DF-92D7-F8A9BAD5BE9F}" type="presOf" srcId="{7546E79F-61B2-44A2-8D7B-306A4BDEFCE6}" destId="{566C4747-B1AF-4E03-A721-C88B973D8D01}" srcOrd="1" destOrd="0" presId="urn:microsoft.com/office/officeart/2005/8/layout/orgChart1"/>
    <dgm:cxn modelId="{354896D6-5524-4036-BC9F-19BEC288218B}" type="presOf" srcId="{FD9FBF85-94EF-456E-917E-D7B3064E3BF8}" destId="{808FECD4-BE80-4FC9-81E5-F46A05F72E5C}" srcOrd="1" destOrd="0" presId="urn:microsoft.com/office/officeart/2005/8/layout/orgChart1"/>
    <dgm:cxn modelId="{F6524BB4-B20C-455C-AE33-FD3E5D5B27E8}" type="presOf" srcId="{F8324732-8659-4DF7-9401-2E49E69C5BD7}" destId="{F598AA82-1DCC-4C69-8571-3BEB1AC76C90}" srcOrd="1" destOrd="0" presId="urn:microsoft.com/office/officeart/2005/8/layout/orgChart1"/>
    <dgm:cxn modelId="{A7F26D6A-06D6-43E2-ACEE-4FCBB553E6CF}" srcId="{36D1E90D-B80E-4D03-9695-4EA551DD2E5B}" destId="{DFDFCB95-989A-464E-A88A-A5D108634136}" srcOrd="0" destOrd="0" parTransId="{BECF8CE5-0919-4014-A102-7AA4DA30E83A}" sibTransId="{227E008C-E30C-4C27-B333-E1B974D106DD}"/>
    <dgm:cxn modelId="{5E75C96B-30F2-4E08-A355-0E31329186EC}" type="presOf" srcId="{B182670E-0C70-4C58-857C-E8DE8A24EF16}" destId="{9CF25193-BAB7-47EE-9F57-0F7E0BA54B0E}" srcOrd="0" destOrd="0" presId="urn:microsoft.com/office/officeart/2005/8/layout/orgChart1"/>
    <dgm:cxn modelId="{6289B7C3-87AE-4F99-85F2-F239F717EAB3}" type="presOf" srcId="{FC695F5C-2DD7-4693-A639-ACB2CD413CA8}" destId="{99ADF4ED-6B08-4FB4-8FC9-CC20A148C1A8}" srcOrd="0" destOrd="0" presId="urn:microsoft.com/office/officeart/2005/8/layout/orgChart1"/>
    <dgm:cxn modelId="{1F65C404-1473-422D-BE65-0B8082E0E966}" srcId="{EB07BFD8-2C2F-4CD6-A939-BB132188815E}" destId="{12AA0203-05AA-4E0D-BDF0-6B30FC37B02F}" srcOrd="0" destOrd="0" parTransId="{4C3C9125-658A-454A-B34F-165BE4666F95}" sibTransId="{0CE0C9A4-CDCB-4293-B04F-A0873CE06103}"/>
    <dgm:cxn modelId="{AC9DB99A-CA39-42AE-A595-1E522CD5460F}" type="presOf" srcId="{642BC462-EAB6-4734-8F72-8579F29981E2}" destId="{4CF80DF8-E4BB-4DAE-B862-77AD57653E80}" srcOrd="1" destOrd="0" presId="urn:microsoft.com/office/officeart/2005/8/layout/orgChart1"/>
    <dgm:cxn modelId="{A674F33C-EA1E-47FC-86B2-8435DB366939}" type="presParOf" srcId="{59A8E4B4-7179-4ACE-AA56-E2EDA3914E32}" destId="{D1B20509-37C9-4035-A187-47598981412F}" srcOrd="0" destOrd="0" presId="urn:microsoft.com/office/officeart/2005/8/layout/orgChart1"/>
    <dgm:cxn modelId="{FB9F1478-0CE4-46D9-8561-664BBC5F3FEE}" type="presParOf" srcId="{D1B20509-37C9-4035-A187-47598981412F}" destId="{9C15D07C-97CD-4DC1-9F50-CB7212C406FA}" srcOrd="0" destOrd="0" presId="urn:microsoft.com/office/officeart/2005/8/layout/orgChart1"/>
    <dgm:cxn modelId="{88637C80-8524-4AB8-B839-6EECFAD8E8F0}" type="presParOf" srcId="{9C15D07C-97CD-4DC1-9F50-CB7212C406FA}" destId="{330CED61-BCF8-4051-81C7-E7C35FF562F0}" srcOrd="0" destOrd="0" presId="urn:microsoft.com/office/officeart/2005/8/layout/orgChart1"/>
    <dgm:cxn modelId="{F3C14B03-E1EB-4E1A-90EE-C420FDF4AB9C}" type="presParOf" srcId="{9C15D07C-97CD-4DC1-9F50-CB7212C406FA}" destId="{BF45869D-ECB0-4484-A6BC-60A678B7544D}" srcOrd="1" destOrd="0" presId="urn:microsoft.com/office/officeart/2005/8/layout/orgChart1"/>
    <dgm:cxn modelId="{28C6AFAF-3F73-4D9A-ACBD-9CD127B825BD}" type="presParOf" srcId="{D1B20509-37C9-4035-A187-47598981412F}" destId="{B981BF93-A918-430A-A5F4-9C16BD0F844C}" srcOrd="1" destOrd="0" presId="urn:microsoft.com/office/officeart/2005/8/layout/orgChart1"/>
    <dgm:cxn modelId="{C6B42B56-BB5B-4CBA-AE3E-5B9F1A149848}" type="presParOf" srcId="{B981BF93-A918-430A-A5F4-9C16BD0F844C}" destId="{F65C9F09-0FE5-4033-BC4A-B67E1A3FCE55}" srcOrd="0" destOrd="0" presId="urn:microsoft.com/office/officeart/2005/8/layout/orgChart1"/>
    <dgm:cxn modelId="{92C6BFD6-E6D4-42B8-A929-12B1998F692B}" type="presParOf" srcId="{B981BF93-A918-430A-A5F4-9C16BD0F844C}" destId="{D34C40F0-0FB9-4A3C-BF1D-BD69D85AC805}" srcOrd="1" destOrd="0" presId="urn:microsoft.com/office/officeart/2005/8/layout/orgChart1"/>
    <dgm:cxn modelId="{B8796BBA-9661-4238-95B5-62941677C760}" type="presParOf" srcId="{D34C40F0-0FB9-4A3C-BF1D-BD69D85AC805}" destId="{2796C859-34FD-4312-8C3E-20FE715ADE05}" srcOrd="0" destOrd="0" presId="urn:microsoft.com/office/officeart/2005/8/layout/orgChart1"/>
    <dgm:cxn modelId="{808600B7-5E17-4EEA-BC74-6C07B5A36415}" type="presParOf" srcId="{2796C859-34FD-4312-8C3E-20FE715ADE05}" destId="{8EED26B2-1524-4270-9C51-324DF74298AA}" srcOrd="0" destOrd="0" presId="urn:microsoft.com/office/officeart/2005/8/layout/orgChart1"/>
    <dgm:cxn modelId="{54EE3255-29CD-4A58-98E3-B628A2D10B4E}" type="presParOf" srcId="{2796C859-34FD-4312-8C3E-20FE715ADE05}" destId="{6A6FF35F-97F3-44B8-AE56-FEEAB5FC98A9}" srcOrd="1" destOrd="0" presId="urn:microsoft.com/office/officeart/2005/8/layout/orgChart1"/>
    <dgm:cxn modelId="{4A6A8C09-9516-49C9-A5A6-FD9155743B2F}" type="presParOf" srcId="{D34C40F0-0FB9-4A3C-BF1D-BD69D85AC805}" destId="{9C281D90-B91A-41F8-8AA1-D4CCCA202BF5}" srcOrd="1" destOrd="0" presId="urn:microsoft.com/office/officeart/2005/8/layout/orgChart1"/>
    <dgm:cxn modelId="{6409C4A4-8187-47F7-B826-254477E14C80}" type="presParOf" srcId="{9C281D90-B91A-41F8-8AA1-D4CCCA202BF5}" destId="{61B122C2-09CF-47E3-9B44-7CF131334AAC}" srcOrd="0" destOrd="0" presId="urn:microsoft.com/office/officeart/2005/8/layout/orgChart1"/>
    <dgm:cxn modelId="{5795F5B3-9FB1-45B1-AFFA-FE1FE22AFA03}" type="presParOf" srcId="{9C281D90-B91A-41F8-8AA1-D4CCCA202BF5}" destId="{F66789B6-AAD9-40DD-B614-2F1C9ECA220F}" srcOrd="1" destOrd="0" presId="urn:microsoft.com/office/officeart/2005/8/layout/orgChart1"/>
    <dgm:cxn modelId="{089A6766-6ECB-4FAB-BF9E-A77945C708E6}" type="presParOf" srcId="{F66789B6-AAD9-40DD-B614-2F1C9ECA220F}" destId="{25F06775-490C-406B-98CD-9F7667D6D308}" srcOrd="0" destOrd="0" presId="urn:microsoft.com/office/officeart/2005/8/layout/orgChart1"/>
    <dgm:cxn modelId="{19020600-9157-4C52-A535-D9FDB007B9C8}" type="presParOf" srcId="{25F06775-490C-406B-98CD-9F7667D6D308}" destId="{7D73C0F5-41DB-45F0-BDCC-91F38CBAA20B}" srcOrd="0" destOrd="0" presId="urn:microsoft.com/office/officeart/2005/8/layout/orgChart1"/>
    <dgm:cxn modelId="{968D8222-4BEA-4322-A956-8AAC28B067ED}" type="presParOf" srcId="{25F06775-490C-406B-98CD-9F7667D6D308}" destId="{6AAF335F-B818-4C46-9A17-039046AC491C}" srcOrd="1" destOrd="0" presId="urn:microsoft.com/office/officeart/2005/8/layout/orgChart1"/>
    <dgm:cxn modelId="{A3488B0C-C04A-4515-AE58-7A1DE23DB8BC}" type="presParOf" srcId="{F66789B6-AAD9-40DD-B614-2F1C9ECA220F}" destId="{5FC3C828-096E-4AB8-9D70-3D15777C7676}" srcOrd="1" destOrd="0" presId="urn:microsoft.com/office/officeart/2005/8/layout/orgChart1"/>
    <dgm:cxn modelId="{5D5F613F-4BBD-4854-85D2-BC27A822DC05}" type="presParOf" srcId="{F66789B6-AAD9-40DD-B614-2F1C9ECA220F}" destId="{20014939-890A-469E-8308-3C49D974BA40}" srcOrd="2" destOrd="0" presId="urn:microsoft.com/office/officeart/2005/8/layout/orgChart1"/>
    <dgm:cxn modelId="{1CC8310C-2098-4025-A9EB-910C180EAA9C}" type="presParOf" srcId="{9C281D90-B91A-41F8-8AA1-D4CCCA202BF5}" destId="{9CF25193-BAB7-47EE-9F57-0F7E0BA54B0E}" srcOrd="2" destOrd="0" presId="urn:microsoft.com/office/officeart/2005/8/layout/orgChart1"/>
    <dgm:cxn modelId="{D4CAFDE6-F305-4AD3-BA8F-9527EA6C6F74}" type="presParOf" srcId="{9C281D90-B91A-41F8-8AA1-D4CCCA202BF5}" destId="{3F5C21CC-5A0B-40D4-B44F-1BB0FF682AF4}" srcOrd="3" destOrd="0" presId="urn:microsoft.com/office/officeart/2005/8/layout/orgChart1"/>
    <dgm:cxn modelId="{6A6288E1-02B2-4F84-84E9-5BE0189C35CD}" type="presParOf" srcId="{3F5C21CC-5A0B-40D4-B44F-1BB0FF682AF4}" destId="{52597478-E94F-44CD-B64A-A6887548F869}" srcOrd="0" destOrd="0" presId="urn:microsoft.com/office/officeart/2005/8/layout/orgChart1"/>
    <dgm:cxn modelId="{12F0333E-5A44-4D94-9EC7-4748FEB89EF4}" type="presParOf" srcId="{52597478-E94F-44CD-B64A-A6887548F869}" destId="{082CB553-3033-42C8-951F-78395AE91482}" srcOrd="0" destOrd="0" presId="urn:microsoft.com/office/officeart/2005/8/layout/orgChart1"/>
    <dgm:cxn modelId="{979771F7-D44C-4587-84A7-714F62D574BC}" type="presParOf" srcId="{52597478-E94F-44CD-B64A-A6887548F869}" destId="{808FECD4-BE80-4FC9-81E5-F46A05F72E5C}" srcOrd="1" destOrd="0" presId="urn:microsoft.com/office/officeart/2005/8/layout/orgChart1"/>
    <dgm:cxn modelId="{5926FBE9-8AA4-4E52-962B-A11AE0DFDF6B}" type="presParOf" srcId="{3F5C21CC-5A0B-40D4-B44F-1BB0FF682AF4}" destId="{878A4AF9-60A7-4F98-BD43-920F34F3E5F2}" srcOrd="1" destOrd="0" presId="urn:microsoft.com/office/officeart/2005/8/layout/orgChart1"/>
    <dgm:cxn modelId="{EDEA315D-7B74-4431-BE87-9D59AE1B235D}" type="presParOf" srcId="{3F5C21CC-5A0B-40D4-B44F-1BB0FF682AF4}" destId="{6A6ACFFF-DD6E-43B6-808E-4B783BA49D17}" srcOrd="2" destOrd="0" presId="urn:microsoft.com/office/officeart/2005/8/layout/orgChart1"/>
    <dgm:cxn modelId="{A12FE869-165B-40E2-AD39-3D5A647B39C1}" type="presParOf" srcId="{9C281D90-B91A-41F8-8AA1-D4CCCA202BF5}" destId="{F4B6333F-86AE-4471-88A2-72655D9491CC}" srcOrd="4" destOrd="0" presId="urn:microsoft.com/office/officeart/2005/8/layout/orgChart1"/>
    <dgm:cxn modelId="{8CC63C39-6882-4E3C-B72A-F9818A7C8581}" type="presParOf" srcId="{9C281D90-B91A-41F8-8AA1-D4CCCA202BF5}" destId="{CEC554F1-3E02-45E7-A5B5-B032EE2A3477}" srcOrd="5" destOrd="0" presId="urn:microsoft.com/office/officeart/2005/8/layout/orgChart1"/>
    <dgm:cxn modelId="{F3BA20C5-9BAC-40A3-AF82-AA1A75F5DA29}" type="presParOf" srcId="{CEC554F1-3E02-45E7-A5B5-B032EE2A3477}" destId="{82E5A77F-B817-4354-A435-DFBDACAE7674}" srcOrd="0" destOrd="0" presId="urn:microsoft.com/office/officeart/2005/8/layout/orgChart1"/>
    <dgm:cxn modelId="{F84616BF-2B24-4CB0-B437-1DD38694D443}" type="presParOf" srcId="{82E5A77F-B817-4354-A435-DFBDACAE7674}" destId="{99ADF4ED-6B08-4FB4-8FC9-CC20A148C1A8}" srcOrd="0" destOrd="0" presId="urn:microsoft.com/office/officeart/2005/8/layout/orgChart1"/>
    <dgm:cxn modelId="{1BAB603E-E858-4826-9853-60BAFDF19CA9}" type="presParOf" srcId="{82E5A77F-B817-4354-A435-DFBDACAE7674}" destId="{2CBB3F41-DC24-4968-84F8-65A13708D431}" srcOrd="1" destOrd="0" presId="urn:microsoft.com/office/officeart/2005/8/layout/orgChart1"/>
    <dgm:cxn modelId="{84E9C135-51F7-46D0-98EF-9747032901A8}" type="presParOf" srcId="{CEC554F1-3E02-45E7-A5B5-B032EE2A3477}" destId="{6F2CA0D8-8500-4250-B64A-307E68DF9097}" srcOrd="1" destOrd="0" presId="urn:microsoft.com/office/officeart/2005/8/layout/orgChart1"/>
    <dgm:cxn modelId="{7B72ACC6-2445-4E6F-99C6-7C90002277FA}" type="presParOf" srcId="{CEC554F1-3E02-45E7-A5B5-B032EE2A3477}" destId="{C4DEB103-6F7E-47E5-A97E-B573858ECA4F}" srcOrd="2" destOrd="0" presId="urn:microsoft.com/office/officeart/2005/8/layout/orgChart1"/>
    <dgm:cxn modelId="{CCD28274-F2FD-420E-88F5-BB89EC1C958F}" type="presParOf" srcId="{D34C40F0-0FB9-4A3C-BF1D-BD69D85AC805}" destId="{F06E17DD-2B74-4FFF-8C27-C1703816723F}" srcOrd="2" destOrd="0" presId="urn:microsoft.com/office/officeart/2005/8/layout/orgChart1"/>
    <dgm:cxn modelId="{E7BC3D7F-98D2-47A0-93E2-2669DE5AA770}" type="presParOf" srcId="{B981BF93-A918-430A-A5F4-9C16BD0F844C}" destId="{A3A709B8-F235-410D-B453-43B956F74356}" srcOrd="2" destOrd="0" presId="urn:microsoft.com/office/officeart/2005/8/layout/orgChart1"/>
    <dgm:cxn modelId="{CBA7A1BE-C1EE-4B9A-A4C2-0C96886B80C4}" type="presParOf" srcId="{B981BF93-A918-430A-A5F4-9C16BD0F844C}" destId="{2AF1B6E1-8FB7-4B7A-8FD8-FE92A9BBFC77}" srcOrd="3" destOrd="0" presId="urn:microsoft.com/office/officeart/2005/8/layout/orgChart1"/>
    <dgm:cxn modelId="{FA3F011D-F59D-409C-BC8F-4D2604B5F239}" type="presParOf" srcId="{2AF1B6E1-8FB7-4B7A-8FD8-FE92A9BBFC77}" destId="{256879F8-73DD-40B6-8E4A-88217DC78A08}" srcOrd="0" destOrd="0" presId="urn:microsoft.com/office/officeart/2005/8/layout/orgChart1"/>
    <dgm:cxn modelId="{DA6520EA-C43A-470D-B717-366FA44D51BF}" type="presParOf" srcId="{256879F8-73DD-40B6-8E4A-88217DC78A08}" destId="{A5D43071-2657-49A7-A1EC-5E2BC079D6A5}" srcOrd="0" destOrd="0" presId="urn:microsoft.com/office/officeart/2005/8/layout/orgChart1"/>
    <dgm:cxn modelId="{08B44645-943D-44A0-B652-0596A24ADF12}" type="presParOf" srcId="{256879F8-73DD-40B6-8E4A-88217DC78A08}" destId="{CAB1424C-5A5D-4FDD-9232-01B564119881}" srcOrd="1" destOrd="0" presId="urn:microsoft.com/office/officeart/2005/8/layout/orgChart1"/>
    <dgm:cxn modelId="{F367E211-A458-40D3-977F-8F5873F27CAC}" type="presParOf" srcId="{2AF1B6E1-8FB7-4B7A-8FD8-FE92A9BBFC77}" destId="{78423519-74EE-4055-90AD-119A077B1F0D}" srcOrd="1" destOrd="0" presId="urn:microsoft.com/office/officeart/2005/8/layout/orgChart1"/>
    <dgm:cxn modelId="{BFD830DA-FCE9-4C78-B6CD-043CF95F4E48}" type="presParOf" srcId="{78423519-74EE-4055-90AD-119A077B1F0D}" destId="{F38BBFF2-2BF3-4052-833B-7EB96BF2D990}" srcOrd="0" destOrd="0" presId="urn:microsoft.com/office/officeart/2005/8/layout/orgChart1"/>
    <dgm:cxn modelId="{6F03306C-B946-4B2A-921B-F19A3D2EDC20}" type="presParOf" srcId="{78423519-74EE-4055-90AD-119A077B1F0D}" destId="{EE90B08E-EAD9-450F-9B52-8F8885A842B8}" srcOrd="1" destOrd="0" presId="urn:microsoft.com/office/officeart/2005/8/layout/orgChart1"/>
    <dgm:cxn modelId="{A8B7CA43-25BA-4A96-86EA-320CF0DA1DA9}" type="presParOf" srcId="{EE90B08E-EAD9-450F-9B52-8F8885A842B8}" destId="{04C8128E-FC6A-4ACF-BCE4-88AEA562F36B}" srcOrd="0" destOrd="0" presId="urn:microsoft.com/office/officeart/2005/8/layout/orgChart1"/>
    <dgm:cxn modelId="{2102D9A0-F525-4D76-A4F2-E85F8AA588CD}" type="presParOf" srcId="{04C8128E-FC6A-4ACF-BCE4-88AEA562F36B}" destId="{44B97F83-7ED1-4DC7-8AA8-0E0F1761D768}" srcOrd="0" destOrd="0" presId="urn:microsoft.com/office/officeart/2005/8/layout/orgChart1"/>
    <dgm:cxn modelId="{95A82447-CC76-4365-B736-BBC31292F016}" type="presParOf" srcId="{04C8128E-FC6A-4ACF-BCE4-88AEA562F36B}" destId="{F67E2FB1-09C1-486D-88D4-B2E1A082593D}" srcOrd="1" destOrd="0" presId="urn:microsoft.com/office/officeart/2005/8/layout/orgChart1"/>
    <dgm:cxn modelId="{C67926D0-F91F-40B9-99CC-46FA87E59C20}" type="presParOf" srcId="{EE90B08E-EAD9-450F-9B52-8F8885A842B8}" destId="{820AF19D-909C-4373-A63E-1F125645236C}" srcOrd="1" destOrd="0" presId="urn:microsoft.com/office/officeart/2005/8/layout/orgChart1"/>
    <dgm:cxn modelId="{16255E3E-A820-4962-87BD-070365FEF65F}" type="presParOf" srcId="{EE90B08E-EAD9-450F-9B52-8F8885A842B8}" destId="{8E4247EA-D220-4495-A3E6-E1809CE52962}" srcOrd="2" destOrd="0" presId="urn:microsoft.com/office/officeart/2005/8/layout/orgChart1"/>
    <dgm:cxn modelId="{085F627D-6F23-45FB-8264-44A4CFC65A24}" type="presParOf" srcId="{78423519-74EE-4055-90AD-119A077B1F0D}" destId="{46260BAD-5A16-4070-88B9-9C88921E16BB}" srcOrd="2" destOrd="0" presId="urn:microsoft.com/office/officeart/2005/8/layout/orgChart1"/>
    <dgm:cxn modelId="{12649C65-23D4-439C-A189-E512A0CB9244}" type="presParOf" srcId="{78423519-74EE-4055-90AD-119A077B1F0D}" destId="{4D212E61-53E0-46DF-A3B1-F9B5750D0B0E}" srcOrd="3" destOrd="0" presId="urn:microsoft.com/office/officeart/2005/8/layout/orgChart1"/>
    <dgm:cxn modelId="{D8A25618-AD58-41CE-B9B6-D9500FF0EB03}" type="presParOf" srcId="{4D212E61-53E0-46DF-A3B1-F9B5750D0B0E}" destId="{6F5514B7-37B5-4984-894F-54D1ACCA0882}" srcOrd="0" destOrd="0" presId="urn:microsoft.com/office/officeart/2005/8/layout/orgChart1"/>
    <dgm:cxn modelId="{82DF2304-A3C6-449D-B1F4-0070A6830390}" type="presParOf" srcId="{6F5514B7-37B5-4984-894F-54D1ACCA0882}" destId="{1A9FADC9-0D98-498D-850D-462EA4008CCB}" srcOrd="0" destOrd="0" presId="urn:microsoft.com/office/officeart/2005/8/layout/orgChart1"/>
    <dgm:cxn modelId="{2F791666-05AA-4B5F-8889-8E3F829C6442}" type="presParOf" srcId="{6F5514B7-37B5-4984-894F-54D1ACCA0882}" destId="{FEDD8FF9-AB93-4D84-9753-A101EEA53875}" srcOrd="1" destOrd="0" presId="urn:microsoft.com/office/officeart/2005/8/layout/orgChart1"/>
    <dgm:cxn modelId="{C0563FFD-EC38-43CA-9424-92A11BFAF968}" type="presParOf" srcId="{4D212E61-53E0-46DF-A3B1-F9B5750D0B0E}" destId="{79389E56-5D84-4210-966C-C38964B88196}" srcOrd="1" destOrd="0" presId="urn:microsoft.com/office/officeart/2005/8/layout/orgChart1"/>
    <dgm:cxn modelId="{F2C033A0-30A8-4E82-A47A-1CDD481AA645}" type="presParOf" srcId="{4D212E61-53E0-46DF-A3B1-F9B5750D0B0E}" destId="{F8B79737-D767-476D-A8A3-BC309E50A22B}" srcOrd="2" destOrd="0" presId="urn:microsoft.com/office/officeart/2005/8/layout/orgChart1"/>
    <dgm:cxn modelId="{B6466695-6D1A-4C51-92A6-FACFC0179890}" type="presParOf" srcId="{78423519-74EE-4055-90AD-119A077B1F0D}" destId="{6521ABB6-BFD3-46BF-AB44-978AB61CE25F}" srcOrd="4" destOrd="0" presId="urn:microsoft.com/office/officeart/2005/8/layout/orgChart1"/>
    <dgm:cxn modelId="{AA2971BA-475C-4424-96A5-61E17F7FC86B}" type="presParOf" srcId="{78423519-74EE-4055-90AD-119A077B1F0D}" destId="{137A4ECB-E99D-462C-9F90-3F6252B5B38F}" srcOrd="5" destOrd="0" presId="urn:microsoft.com/office/officeart/2005/8/layout/orgChart1"/>
    <dgm:cxn modelId="{E2DA7E0F-E6EC-4C1A-A8E8-D98CF053363F}" type="presParOf" srcId="{137A4ECB-E99D-462C-9F90-3F6252B5B38F}" destId="{60579869-B4CC-4A87-8B6B-53759C97B1ED}" srcOrd="0" destOrd="0" presId="urn:microsoft.com/office/officeart/2005/8/layout/orgChart1"/>
    <dgm:cxn modelId="{93425729-8B11-459C-A363-18E9C3E7A39D}" type="presParOf" srcId="{60579869-B4CC-4A87-8B6B-53759C97B1ED}" destId="{EACB658D-B037-40FC-A004-91E3BABAFF61}" srcOrd="0" destOrd="0" presId="urn:microsoft.com/office/officeart/2005/8/layout/orgChart1"/>
    <dgm:cxn modelId="{CCD00FA1-83E1-4006-B1F9-6988380E10F8}" type="presParOf" srcId="{60579869-B4CC-4A87-8B6B-53759C97B1ED}" destId="{566C4747-B1AF-4E03-A721-C88B973D8D01}" srcOrd="1" destOrd="0" presId="urn:microsoft.com/office/officeart/2005/8/layout/orgChart1"/>
    <dgm:cxn modelId="{8BBB7A0D-6DAF-495B-AC12-98176E6F5DA3}" type="presParOf" srcId="{137A4ECB-E99D-462C-9F90-3F6252B5B38F}" destId="{A70B0AD7-299A-4F87-A2BF-18BEF69E8A28}" srcOrd="1" destOrd="0" presId="urn:microsoft.com/office/officeart/2005/8/layout/orgChart1"/>
    <dgm:cxn modelId="{AA012606-340D-442E-B025-C09750E53BD0}" type="presParOf" srcId="{137A4ECB-E99D-462C-9F90-3F6252B5B38F}" destId="{22BE6987-EE87-4660-A300-41AB04F67F42}" srcOrd="2" destOrd="0" presId="urn:microsoft.com/office/officeart/2005/8/layout/orgChart1"/>
    <dgm:cxn modelId="{BBF41FEF-B847-45E6-8CE3-0489069914CA}" type="presParOf" srcId="{2AF1B6E1-8FB7-4B7A-8FD8-FE92A9BBFC77}" destId="{EA1FEE9B-0D49-4711-8142-FD37CFB4FF8C}" srcOrd="2" destOrd="0" presId="urn:microsoft.com/office/officeart/2005/8/layout/orgChart1"/>
    <dgm:cxn modelId="{0B189723-715D-486A-BB0B-60D462170D08}" type="presParOf" srcId="{B981BF93-A918-430A-A5F4-9C16BD0F844C}" destId="{B3C311F0-CF04-40F1-82CA-E39EAA8B9C53}" srcOrd="4" destOrd="0" presId="urn:microsoft.com/office/officeart/2005/8/layout/orgChart1"/>
    <dgm:cxn modelId="{BE3D23C2-4F04-492F-B8A4-DE8F765DDF64}" type="presParOf" srcId="{B981BF93-A918-430A-A5F4-9C16BD0F844C}" destId="{A13FF86A-B02A-4F17-A718-54A0B97ADC45}" srcOrd="5" destOrd="0" presId="urn:microsoft.com/office/officeart/2005/8/layout/orgChart1"/>
    <dgm:cxn modelId="{27AE85EC-405F-4C52-8523-9D4705352463}" type="presParOf" srcId="{A13FF86A-B02A-4F17-A718-54A0B97ADC45}" destId="{EB8992E1-A9DE-47A9-AE6E-E7C9CF66065A}" srcOrd="0" destOrd="0" presId="urn:microsoft.com/office/officeart/2005/8/layout/orgChart1"/>
    <dgm:cxn modelId="{D7F7FAEE-1D71-4975-8471-FDDCAB6257BB}" type="presParOf" srcId="{EB8992E1-A9DE-47A9-AE6E-E7C9CF66065A}" destId="{AAC61006-A159-4FFB-A739-A75C765B1E1D}" srcOrd="0" destOrd="0" presId="urn:microsoft.com/office/officeart/2005/8/layout/orgChart1"/>
    <dgm:cxn modelId="{506C4867-137D-4CB7-990C-25EEA2A1E762}" type="presParOf" srcId="{EB8992E1-A9DE-47A9-AE6E-E7C9CF66065A}" destId="{52857629-608A-4713-B84F-1649491B80F7}" srcOrd="1" destOrd="0" presId="urn:microsoft.com/office/officeart/2005/8/layout/orgChart1"/>
    <dgm:cxn modelId="{EA3F845D-CCB2-42FF-A69E-54745F0C2F1A}" type="presParOf" srcId="{A13FF86A-B02A-4F17-A718-54A0B97ADC45}" destId="{B99A4FA5-682D-48CE-9E5B-2973DFD0E24A}" srcOrd="1" destOrd="0" presId="urn:microsoft.com/office/officeart/2005/8/layout/orgChart1"/>
    <dgm:cxn modelId="{604BD7A4-9FF1-4119-94F5-B30ECC3DC092}" type="presParOf" srcId="{B99A4FA5-682D-48CE-9E5B-2973DFD0E24A}" destId="{C65CA87D-6811-457A-91F9-25500B6A8277}" srcOrd="0" destOrd="0" presId="urn:microsoft.com/office/officeart/2005/8/layout/orgChart1"/>
    <dgm:cxn modelId="{CD3ED4C3-97FA-41CD-B707-83DBB88836A7}" type="presParOf" srcId="{B99A4FA5-682D-48CE-9E5B-2973DFD0E24A}" destId="{66201D01-8B53-4D45-ADB9-60A3BECF27D8}" srcOrd="1" destOrd="0" presId="urn:microsoft.com/office/officeart/2005/8/layout/orgChart1"/>
    <dgm:cxn modelId="{00FF4264-9CE0-40E4-883E-107D7FA9C060}" type="presParOf" srcId="{66201D01-8B53-4D45-ADB9-60A3BECF27D8}" destId="{6EFE3798-BAA3-41B3-A6F5-5144E07064DB}" srcOrd="0" destOrd="0" presId="urn:microsoft.com/office/officeart/2005/8/layout/orgChart1"/>
    <dgm:cxn modelId="{1E52CCAE-ED6C-40FE-B52C-42432716F30B}" type="presParOf" srcId="{6EFE3798-BAA3-41B3-A6F5-5144E07064DB}" destId="{999E4FBF-100F-45DA-B4F0-B4618FD738C7}" srcOrd="0" destOrd="0" presId="urn:microsoft.com/office/officeart/2005/8/layout/orgChart1"/>
    <dgm:cxn modelId="{A83CF125-FD20-4105-A59F-DA1091B1204C}" type="presParOf" srcId="{6EFE3798-BAA3-41B3-A6F5-5144E07064DB}" destId="{0D44FEBA-5B4F-4B62-A3DF-B87507DFC365}" srcOrd="1" destOrd="0" presId="urn:microsoft.com/office/officeart/2005/8/layout/orgChart1"/>
    <dgm:cxn modelId="{40C1E39A-F439-4C79-843E-005B74AAC39A}" type="presParOf" srcId="{66201D01-8B53-4D45-ADB9-60A3BECF27D8}" destId="{8448AAC2-B14F-436E-8FC4-4DBC0ED5DEDC}" srcOrd="1" destOrd="0" presId="urn:microsoft.com/office/officeart/2005/8/layout/orgChart1"/>
    <dgm:cxn modelId="{258F2231-0356-4F3E-8849-D2857EA284AE}" type="presParOf" srcId="{66201D01-8B53-4D45-ADB9-60A3BECF27D8}" destId="{C732C574-3095-49CA-9A9F-4F309B62FB1A}" srcOrd="2" destOrd="0" presId="urn:microsoft.com/office/officeart/2005/8/layout/orgChart1"/>
    <dgm:cxn modelId="{4017001D-F52B-4B25-A3BA-F86F0C70802E}" type="presParOf" srcId="{B99A4FA5-682D-48CE-9E5B-2973DFD0E24A}" destId="{9A139E93-D213-4CDB-B4EC-05184C887E84}" srcOrd="2" destOrd="0" presId="urn:microsoft.com/office/officeart/2005/8/layout/orgChart1"/>
    <dgm:cxn modelId="{8C15B3DA-DFEC-4983-BD3E-EB7B22078A8F}" type="presParOf" srcId="{B99A4FA5-682D-48CE-9E5B-2973DFD0E24A}" destId="{0BD9EB99-7C92-4C48-A94E-306FAC2A33A2}" srcOrd="3" destOrd="0" presId="urn:microsoft.com/office/officeart/2005/8/layout/orgChart1"/>
    <dgm:cxn modelId="{0A7455B0-0B47-4EDA-84F2-D0FA3DE35B0E}" type="presParOf" srcId="{0BD9EB99-7C92-4C48-A94E-306FAC2A33A2}" destId="{5C7DBCDB-EE7A-47C7-B011-C63C50FB0A28}" srcOrd="0" destOrd="0" presId="urn:microsoft.com/office/officeart/2005/8/layout/orgChart1"/>
    <dgm:cxn modelId="{C2012D30-BDBD-4992-9DCC-38BF95EA3192}" type="presParOf" srcId="{5C7DBCDB-EE7A-47C7-B011-C63C50FB0A28}" destId="{DFD376D4-6F71-4C10-8604-6BB42E7EAEE6}" srcOrd="0" destOrd="0" presId="urn:microsoft.com/office/officeart/2005/8/layout/orgChart1"/>
    <dgm:cxn modelId="{0B9C8786-20B9-4E08-8EC0-09F063638B3C}" type="presParOf" srcId="{5C7DBCDB-EE7A-47C7-B011-C63C50FB0A28}" destId="{DF060E54-517E-4D32-BA87-C44A4CFAFB38}" srcOrd="1" destOrd="0" presId="urn:microsoft.com/office/officeart/2005/8/layout/orgChart1"/>
    <dgm:cxn modelId="{A6E9B87A-CCB3-47CF-9622-E4A6347458E9}" type="presParOf" srcId="{0BD9EB99-7C92-4C48-A94E-306FAC2A33A2}" destId="{C223C396-2298-4C49-8413-84C8008EC515}" srcOrd="1" destOrd="0" presId="urn:microsoft.com/office/officeart/2005/8/layout/orgChart1"/>
    <dgm:cxn modelId="{160B084A-7F7D-43C1-9E9C-269D3B3135EF}" type="presParOf" srcId="{0BD9EB99-7C92-4C48-A94E-306FAC2A33A2}" destId="{49FD6325-5A0C-4929-8013-08375E9A5FEA}" srcOrd="2" destOrd="0" presId="urn:microsoft.com/office/officeart/2005/8/layout/orgChart1"/>
    <dgm:cxn modelId="{E9AD5373-0475-4FF8-A420-6CD670994E2B}" type="presParOf" srcId="{B99A4FA5-682D-48CE-9E5B-2973DFD0E24A}" destId="{21D8D3C2-0D80-4609-A3BF-B8EE4235D51C}" srcOrd="4" destOrd="0" presId="urn:microsoft.com/office/officeart/2005/8/layout/orgChart1"/>
    <dgm:cxn modelId="{56C50C4D-9C62-424A-A1D1-2AEAD6732FEE}" type="presParOf" srcId="{B99A4FA5-682D-48CE-9E5B-2973DFD0E24A}" destId="{C49D706C-A4A2-4929-BDF8-9EF1C3F003A7}" srcOrd="5" destOrd="0" presId="urn:microsoft.com/office/officeart/2005/8/layout/orgChart1"/>
    <dgm:cxn modelId="{79FF98F4-EDC6-4228-94A1-19170DC1A39B}" type="presParOf" srcId="{C49D706C-A4A2-4929-BDF8-9EF1C3F003A7}" destId="{89EE8110-809A-43F1-88EA-2425BB7407A1}" srcOrd="0" destOrd="0" presId="urn:microsoft.com/office/officeart/2005/8/layout/orgChart1"/>
    <dgm:cxn modelId="{5C93D449-D88F-4E7A-9959-5F78E931A84E}" type="presParOf" srcId="{89EE8110-809A-43F1-88EA-2425BB7407A1}" destId="{FB15E25A-A8EB-46AF-A936-50F1B3EDD93A}" srcOrd="0" destOrd="0" presId="urn:microsoft.com/office/officeart/2005/8/layout/orgChart1"/>
    <dgm:cxn modelId="{CFCAD7EA-7D11-4002-96CC-6416A1266A58}" type="presParOf" srcId="{89EE8110-809A-43F1-88EA-2425BB7407A1}" destId="{F598AA82-1DCC-4C69-8571-3BEB1AC76C90}" srcOrd="1" destOrd="0" presId="urn:microsoft.com/office/officeart/2005/8/layout/orgChart1"/>
    <dgm:cxn modelId="{102412BC-8D51-4D4A-BECE-6B12030EED09}" type="presParOf" srcId="{C49D706C-A4A2-4929-BDF8-9EF1C3F003A7}" destId="{79188A99-9123-4A9F-A122-6D72FA11479F}" srcOrd="1" destOrd="0" presId="urn:microsoft.com/office/officeart/2005/8/layout/orgChart1"/>
    <dgm:cxn modelId="{850C9998-1630-4492-AB26-3E8990F95885}" type="presParOf" srcId="{C49D706C-A4A2-4929-BDF8-9EF1C3F003A7}" destId="{F3524CDF-F4CF-4A24-A9C2-AD6459D76042}" srcOrd="2" destOrd="0" presId="urn:microsoft.com/office/officeart/2005/8/layout/orgChart1"/>
    <dgm:cxn modelId="{41FB5693-FE73-4FD8-8B0B-6570228C03C5}" type="presParOf" srcId="{B99A4FA5-682D-48CE-9E5B-2973DFD0E24A}" destId="{1C4C8885-5C27-43DD-8F1F-68A9FC07574C}" srcOrd="6" destOrd="0" presId="urn:microsoft.com/office/officeart/2005/8/layout/orgChart1"/>
    <dgm:cxn modelId="{67D057FF-A8F7-4819-A7C9-BCA5EBF156ED}" type="presParOf" srcId="{B99A4FA5-682D-48CE-9E5B-2973DFD0E24A}" destId="{0CCE2848-BCFD-4C36-8332-B430137C8686}" srcOrd="7" destOrd="0" presId="urn:microsoft.com/office/officeart/2005/8/layout/orgChart1"/>
    <dgm:cxn modelId="{82EE2699-BA23-4EBE-A3EA-A37356C56200}" type="presParOf" srcId="{0CCE2848-BCFD-4C36-8332-B430137C8686}" destId="{1D219B64-89D7-4145-8EF9-0D317827BE2F}" srcOrd="0" destOrd="0" presId="urn:microsoft.com/office/officeart/2005/8/layout/orgChart1"/>
    <dgm:cxn modelId="{4321F2AE-7F26-4E48-ACA0-1653714C0468}" type="presParOf" srcId="{1D219B64-89D7-4145-8EF9-0D317827BE2F}" destId="{F24001A0-761C-463C-8786-9DE6B4AA0688}" srcOrd="0" destOrd="0" presId="urn:microsoft.com/office/officeart/2005/8/layout/orgChart1"/>
    <dgm:cxn modelId="{1B7D54CA-AE2B-4E38-A271-555A3056010E}" type="presParOf" srcId="{1D219B64-89D7-4145-8EF9-0D317827BE2F}" destId="{4CF80DF8-E4BB-4DAE-B862-77AD57653E80}" srcOrd="1" destOrd="0" presId="urn:microsoft.com/office/officeart/2005/8/layout/orgChart1"/>
    <dgm:cxn modelId="{45B67FA2-79DD-40EC-9718-829180279FC8}" type="presParOf" srcId="{0CCE2848-BCFD-4C36-8332-B430137C8686}" destId="{24870072-5456-4BAC-BBE8-0CE8EC2F1890}" srcOrd="1" destOrd="0" presId="urn:microsoft.com/office/officeart/2005/8/layout/orgChart1"/>
    <dgm:cxn modelId="{FA9F6945-D3E3-4667-97CA-72EC9CBC27AF}" type="presParOf" srcId="{0CCE2848-BCFD-4C36-8332-B430137C8686}" destId="{89A6DE41-BB73-476F-8277-4579046E4DBB}" srcOrd="2" destOrd="0" presId="urn:microsoft.com/office/officeart/2005/8/layout/orgChart1"/>
    <dgm:cxn modelId="{BB9ABB1D-2B76-4F53-B6F1-CB46B5EF348C}" type="presParOf" srcId="{A13FF86A-B02A-4F17-A718-54A0B97ADC45}" destId="{D99E8FA0-4314-4239-BFB4-3B919AA00D6A}" srcOrd="2" destOrd="0" presId="urn:microsoft.com/office/officeart/2005/8/layout/orgChart1"/>
    <dgm:cxn modelId="{E262A18F-C6FD-4162-AEEF-59B6BD65105B}" type="presParOf" srcId="{D1B20509-37C9-4035-A187-47598981412F}" destId="{63502939-4905-40CE-91E5-A3DAC401A5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4C8885-5C27-43DD-8F1F-68A9FC07574C}">
      <dsp:nvSpPr>
        <dsp:cNvPr id="0" name=""/>
        <dsp:cNvSpPr/>
      </dsp:nvSpPr>
      <dsp:spPr>
        <a:xfrm>
          <a:off x="5873986" y="1911550"/>
          <a:ext cx="388547" cy="3292184"/>
        </a:xfrm>
        <a:custGeom>
          <a:avLst/>
          <a:gdLst/>
          <a:ahLst/>
          <a:cxnLst/>
          <a:rect l="0" t="0" r="0" b="0"/>
          <a:pathLst>
            <a:path>
              <a:moveTo>
                <a:pt x="0" y="0"/>
              </a:moveTo>
              <a:lnTo>
                <a:pt x="0" y="3292184"/>
              </a:lnTo>
              <a:lnTo>
                <a:pt x="388547" y="3292184"/>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1D8D3C2-0D80-4609-A3BF-B8EE4235D51C}">
      <dsp:nvSpPr>
        <dsp:cNvPr id="0" name=""/>
        <dsp:cNvSpPr/>
      </dsp:nvSpPr>
      <dsp:spPr>
        <a:xfrm>
          <a:off x="5873986" y="1911550"/>
          <a:ext cx="388547" cy="2358476"/>
        </a:xfrm>
        <a:custGeom>
          <a:avLst/>
          <a:gdLst/>
          <a:ahLst/>
          <a:cxnLst/>
          <a:rect l="0" t="0" r="0" b="0"/>
          <a:pathLst>
            <a:path>
              <a:moveTo>
                <a:pt x="0" y="0"/>
              </a:moveTo>
              <a:lnTo>
                <a:pt x="0" y="2358476"/>
              </a:lnTo>
              <a:lnTo>
                <a:pt x="388547" y="2358476"/>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A139E93-D213-4CDB-B4EC-05184C887E84}">
      <dsp:nvSpPr>
        <dsp:cNvPr id="0" name=""/>
        <dsp:cNvSpPr/>
      </dsp:nvSpPr>
      <dsp:spPr>
        <a:xfrm>
          <a:off x="5873986" y="1911550"/>
          <a:ext cx="388547" cy="1424767"/>
        </a:xfrm>
        <a:custGeom>
          <a:avLst/>
          <a:gdLst/>
          <a:ahLst/>
          <a:cxnLst/>
          <a:rect l="0" t="0" r="0" b="0"/>
          <a:pathLst>
            <a:path>
              <a:moveTo>
                <a:pt x="0" y="0"/>
              </a:moveTo>
              <a:lnTo>
                <a:pt x="0" y="1424767"/>
              </a:lnTo>
              <a:lnTo>
                <a:pt x="388547" y="1424767"/>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65CA87D-6811-457A-91F9-25500B6A8277}">
      <dsp:nvSpPr>
        <dsp:cNvPr id="0" name=""/>
        <dsp:cNvSpPr/>
      </dsp:nvSpPr>
      <dsp:spPr>
        <a:xfrm>
          <a:off x="5873986" y="1911550"/>
          <a:ext cx="388547" cy="491059"/>
        </a:xfrm>
        <a:custGeom>
          <a:avLst/>
          <a:gdLst/>
          <a:ahLst/>
          <a:cxnLst/>
          <a:rect l="0" t="0" r="0" b="0"/>
          <a:pathLst>
            <a:path>
              <a:moveTo>
                <a:pt x="0" y="0"/>
              </a:moveTo>
              <a:lnTo>
                <a:pt x="0" y="491059"/>
              </a:lnTo>
              <a:lnTo>
                <a:pt x="388547" y="491059"/>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B3C311F0-CF04-40F1-82CA-E39EAA8B9C53}">
      <dsp:nvSpPr>
        <dsp:cNvPr id="0" name=""/>
        <dsp:cNvSpPr/>
      </dsp:nvSpPr>
      <dsp:spPr>
        <a:xfrm>
          <a:off x="4171167" y="635855"/>
          <a:ext cx="2738945" cy="198737"/>
        </a:xfrm>
        <a:custGeom>
          <a:avLst/>
          <a:gdLst/>
          <a:ahLst/>
          <a:cxnLst/>
          <a:rect l="0" t="0" r="0" b="0"/>
          <a:pathLst>
            <a:path>
              <a:moveTo>
                <a:pt x="0" y="0"/>
              </a:moveTo>
              <a:lnTo>
                <a:pt x="0" y="124423"/>
              </a:lnTo>
              <a:lnTo>
                <a:pt x="2738945" y="124423"/>
              </a:lnTo>
              <a:lnTo>
                <a:pt x="2738945" y="198737"/>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521ABB6-BFD3-46BF-AB44-978AB61CE25F}">
      <dsp:nvSpPr>
        <dsp:cNvPr id="0" name=""/>
        <dsp:cNvSpPr/>
      </dsp:nvSpPr>
      <dsp:spPr>
        <a:xfrm>
          <a:off x="3161673" y="1920426"/>
          <a:ext cx="361914" cy="1271593"/>
        </a:xfrm>
        <a:custGeom>
          <a:avLst/>
          <a:gdLst/>
          <a:ahLst/>
          <a:cxnLst/>
          <a:rect l="0" t="0" r="0" b="0"/>
          <a:pathLst>
            <a:path>
              <a:moveTo>
                <a:pt x="0" y="0"/>
              </a:moveTo>
              <a:lnTo>
                <a:pt x="0" y="1271593"/>
              </a:lnTo>
              <a:lnTo>
                <a:pt x="361914" y="1271593"/>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6260BAD-5A16-4070-88B9-9C88921E16BB}">
      <dsp:nvSpPr>
        <dsp:cNvPr id="0" name=""/>
        <dsp:cNvSpPr/>
      </dsp:nvSpPr>
      <dsp:spPr>
        <a:xfrm>
          <a:off x="3161673" y="1920426"/>
          <a:ext cx="361914" cy="769088"/>
        </a:xfrm>
        <a:custGeom>
          <a:avLst/>
          <a:gdLst/>
          <a:ahLst/>
          <a:cxnLst/>
          <a:rect l="0" t="0" r="0" b="0"/>
          <a:pathLst>
            <a:path>
              <a:moveTo>
                <a:pt x="0" y="0"/>
              </a:moveTo>
              <a:lnTo>
                <a:pt x="0" y="769088"/>
              </a:lnTo>
              <a:lnTo>
                <a:pt x="361914" y="769088"/>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38BBFF2-2BF3-4052-833B-7EB96BF2D990}">
      <dsp:nvSpPr>
        <dsp:cNvPr id="0" name=""/>
        <dsp:cNvSpPr/>
      </dsp:nvSpPr>
      <dsp:spPr>
        <a:xfrm>
          <a:off x="3161673" y="1920426"/>
          <a:ext cx="361914" cy="266582"/>
        </a:xfrm>
        <a:custGeom>
          <a:avLst/>
          <a:gdLst/>
          <a:ahLst/>
          <a:cxnLst/>
          <a:rect l="0" t="0" r="0" b="0"/>
          <a:pathLst>
            <a:path>
              <a:moveTo>
                <a:pt x="0" y="0"/>
              </a:moveTo>
              <a:lnTo>
                <a:pt x="0" y="266582"/>
              </a:lnTo>
              <a:lnTo>
                <a:pt x="361914" y="266582"/>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3A709B8-F235-410D-B453-43B956F74356}">
      <dsp:nvSpPr>
        <dsp:cNvPr id="0" name=""/>
        <dsp:cNvSpPr/>
      </dsp:nvSpPr>
      <dsp:spPr>
        <a:xfrm>
          <a:off x="4125447" y="635855"/>
          <a:ext cx="91440" cy="207612"/>
        </a:xfrm>
        <a:custGeom>
          <a:avLst/>
          <a:gdLst/>
          <a:ahLst/>
          <a:cxnLst/>
          <a:rect l="0" t="0" r="0" b="0"/>
          <a:pathLst>
            <a:path>
              <a:moveTo>
                <a:pt x="45720" y="0"/>
              </a:moveTo>
              <a:lnTo>
                <a:pt x="45720" y="133298"/>
              </a:lnTo>
              <a:lnTo>
                <a:pt x="72352" y="133298"/>
              </a:lnTo>
              <a:lnTo>
                <a:pt x="72352" y="207612"/>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4B6333F-86AE-4471-88A2-72655D9491CC}">
      <dsp:nvSpPr>
        <dsp:cNvPr id="0" name=""/>
        <dsp:cNvSpPr/>
      </dsp:nvSpPr>
      <dsp:spPr>
        <a:xfrm>
          <a:off x="396095" y="1911550"/>
          <a:ext cx="388547" cy="1280468"/>
        </a:xfrm>
        <a:custGeom>
          <a:avLst/>
          <a:gdLst/>
          <a:ahLst/>
          <a:cxnLst/>
          <a:rect l="0" t="0" r="0" b="0"/>
          <a:pathLst>
            <a:path>
              <a:moveTo>
                <a:pt x="0" y="0"/>
              </a:moveTo>
              <a:lnTo>
                <a:pt x="0" y="1280468"/>
              </a:lnTo>
              <a:lnTo>
                <a:pt x="388547" y="1280468"/>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CF25193-BAB7-47EE-9F57-0F7E0BA54B0E}">
      <dsp:nvSpPr>
        <dsp:cNvPr id="0" name=""/>
        <dsp:cNvSpPr/>
      </dsp:nvSpPr>
      <dsp:spPr>
        <a:xfrm>
          <a:off x="396095" y="1911550"/>
          <a:ext cx="388547" cy="777963"/>
        </a:xfrm>
        <a:custGeom>
          <a:avLst/>
          <a:gdLst/>
          <a:ahLst/>
          <a:cxnLst/>
          <a:rect l="0" t="0" r="0" b="0"/>
          <a:pathLst>
            <a:path>
              <a:moveTo>
                <a:pt x="0" y="0"/>
              </a:moveTo>
              <a:lnTo>
                <a:pt x="0" y="777963"/>
              </a:lnTo>
              <a:lnTo>
                <a:pt x="388547" y="777963"/>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1B122C2-09CF-47E3-9B44-7CF131334AAC}">
      <dsp:nvSpPr>
        <dsp:cNvPr id="0" name=""/>
        <dsp:cNvSpPr/>
      </dsp:nvSpPr>
      <dsp:spPr>
        <a:xfrm>
          <a:off x="396095" y="1911550"/>
          <a:ext cx="388547" cy="275457"/>
        </a:xfrm>
        <a:custGeom>
          <a:avLst/>
          <a:gdLst/>
          <a:ahLst/>
          <a:cxnLst/>
          <a:rect l="0" t="0" r="0" b="0"/>
          <a:pathLst>
            <a:path>
              <a:moveTo>
                <a:pt x="0" y="0"/>
              </a:moveTo>
              <a:lnTo>
                <a:pt x="0" y="275457"/>
              </a:lnTo>
              <a:lnTo>
                <a:pt x="388547" y="275457"/>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65C9F09-0FE5-4033-BC4A-B67E1A3FCE55}">
      <dsp:nvSpPr>
        <dsp:cNvPr id="0" name=""/>
        <dsp:cNvSpPr/>
      </dsp:nvSpPr>
      <dsp:spPr>
        <a:xfrm>
          <a:off x="1432222" y="635855"/>
          <a:ext cx="2738945" cy="198737"/>
        </a:xfrm>
        <a:custGeom>
          <a:avLst/>
          <a:gdLst/>
          <a:ahLst/>
          <a:cxnLst/>
          <a:rect l="0" t="0" r="0" b="0"/>
          <a:pathLst>
            <a:path>
              <a:moveTo>
                <a:pt x="2738945" y="0"/>
              </a:moveTo>
              <a:lnTo>
                <a:pt x="2738945" y="124423"/>
              </a:lnTo>
              <a:lnTo>
                <a:pt x="0" y="124423"/>
              </a:lnTo>
              <a:lnTo>
                <a:pt x="0" y="198737"/>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30CED61-BCF8-4051-81C7-E7C35FF562F0}">
      <dsp:nvSpPr>
        <dsp:cNvPr id="0" name=""/>
        <dsp:cNvSpPr/>
      </dsp:nvSpPr>
      <dsp:spPr>
        <a:xfrm>
          <a:off x="3018508" y="2857"/>
          <a:ext cx="2305318" cy="632997"/>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Information Systems</a:t>
          </a:r>
          <a:endParaRPr lang="en-US" sz="2000" b="1" kern="1200" cap="none" spc="0" dirty="0">
            <a:ln w="6600">
              <a:prstDash val="solid"/>
            </a:ln>
            <a:effectLst>
              <a:outerShdw dist="38100" dir="2700000" algn="tl" rotWithShape="0">
                <a:schemeClr val="accent2"/>
              </a:outerShdw>
            </a:effectLst>
          </a:endParaRPr>
        </a:p>
      </dsp:txBody>
      <dsp:txXfrm>
        <a:off x="3018508" y="2857"/>
        <a:ext cx="2305318" cy="632997"/>
      </dsp:txXfrm>
    </dsp:sp>
    <dsp:sp modelId="{8EED26B2-1524-4270-9C51-324DF74298AA}">
      <dsp:nvSpPr>
        <dsp:cNvPr id="0" name=""/>
        <dsp:cNvSpPr/>
      </dsp:nvSpPr>
      <dsp:spPr>
        <a:xfrm>
          <a:off x="137063" y="834592"/>
          <a:ext cx="2590316" cy="107695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Operation</a:t>
          </a:r>
        </a:p>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Support System</a:t>
          </a:r>
          <a:endParaRPr lang="en-US" sz="2000" b="1" kern="1200" cap="none" spc="0" dirty="0">
            <a:ln w="6600">
              <a:prstDash val="solid"/>
            </a:ln>
            <a:effectLst>
              <a:outerShdw dist="38100" dir="2700000" algn="tl" rotWithShape="0">
                <a:schemeClr val="accent2"/>
              </a:outerShdw>
            </a:effectLst>
          </a:endParaRPr>
        </a:p>
      </dsp:txBody>
      <dsp:txXfrm>
        <a:off x="137063" y="834592"/>
        <a:ext cx="2590316" cy="1076957"/>
      </dsp:txXfrm>
    </dsp:sp>
    <dsp:sp modelId="{7D73C0F5-41DB-45F0-BDCC-91F38CBAA20B}">
      <dsp:nvSpPr>
        <dsp:cNvPr id="0" name=""/>
        <dsp:cNvSpPr/>
      </dsp:nvSpPr>
      <dsp:spPr>
        <a:xfrm>
          <a:off x="784643" y="2010070"/>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TPS</a:t>
          </a:r>
          <a:endParaRPr lang="en-US" sz="2000" b="1" kern="1200" cap="none" spc="0" dirty="0">
            <a:ln w="6600">
              <a:prstDash val="solid"/>
            </a:ln>
            <a:effectLst>
              <a:outerShdw dist="38100" dir="2700000" algn="tl" rotWithShape="0">
                <a:schemeClr val="accent2"/>
              </a:outerShdw>
            </a:effectLst>
          </a:endParaRPr>
        </a:p>
      </dsp:txBody>
      <dsp:txXfrm>
        <a:off x="784643" y="2010070"/>
        <a:ext cx="707754" cy="353877"/>
      </dsp:txXfrm>
    </dsp:sp>
    <dsp:sp modelId="{082CB553-3033-42C8-951F-78395AE91482}">
      <dsp:nvSpPr>
        <dsp:cNvPr id="0" name=""/>
        <dsp:cNvSpPr/>
      </dsp:nvSpPr>
      <dsp:spPr>
        <a:xfrm>
          <a:off x="784643" y="2512575"/>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MIS</a:t>
          </a:r>
          <a:endParaRPr lang="en-US" sz="2000" b="1" kern="1200" cap="none" spc="0" dirty="0">
            <a:ln w="6600">
              <a:prstDash val="solid"/>
            </a:ln>
            <a:effectLst>
              <a:outerShdw dist="38100" dir="2700000" algn="tl" rotWithShape="0">
                <a:schemeClr val="accent2"/>
              </a:outerShdw>
            </a:effectLst>
          </a:endParaRPr>
        </a:p>
      </dsp:txBody>
      <dsp:txXfrm>
        <a:off x="784643" y="2512575"/>
        <a:ext cx="707754" cy="353877"/>
      </dsp:txXfrm>
    </dsp:sp>
    <dsp:sp modelId="{99ADF4ED-6B08-4FB4-8FC9-CC20A148C1A8}">
      <dsp:nvSpPr>
        <dsp:cNvPr id="0" name=""/>
        <dsp:cNvSpPr/>
      </dsp:nvSpPr>
      <dsp:spPr>
        <a:xfrm>
          <a:off x="784643" y="3015081"/>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ERP</a:t>
          </a:r>
          <a:endParaRPr lang="en-US" sz="2000" b="1" kern="1200" cap="none" spc="0" dirty="0">
            <a:ln w="6600">
              <a:prstDash val="solid"/>
            </a:ln>
            <a:effectLst>
              <a:outerShdw dist="38100" dir="2700000" algn="tl" rotWithShape="0">
                <a:schemeClr val="accent2"/>
              </a:outerShdw>
            </a:effectLst>
          </a:endParaRPr>
        </a:p>
      </dsp:txBody>
      <dsp:txXfrm>
        <a:off x="784643" y="3015081"/>
        <a:ext cx="707754" cy="353877"/>
      </dsp:txXfrm>
    </dsp:sp>
    <dsp:sp modelId="{A5D43071-2657-49A7-A1EC-5E2BC079D6A5}">
      <dsp:nvSpPr>
        <dsp:cNvPr id="0" name=""/>
        <dsp:cNvSpPr/>
      </dsp:nvSpPr>
      <dsp:spPr>
        <a:xfrm>
          <a:off x="2902641" y="843468"/>
          <a:ext cx="2590316" cy="107695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dirty="0" smtClean="0">
              <a:ln w="6600">
                <a:prstDash val="solid"/>
              </a:ln>
              <a:effectLst>
                <a:outerShdw dist="38100" dir="2700000" algn="tl" rotWithShape="0">
                  <a:schemeClr val="accent2"/>
                </a:outerShdw>
              </a:effectLst>
            </a:rPr>
            <a:t>Management</a:t>
          </a:r>
        </a:p>
        <a:p>
          <a:pPr lvl="0" algn="ctr" defTabSz="889000">
            <a:lnSpc>
              <a:spcPct val="90000"/>
            </a:lnSpc>
            <a:spcBef>
              <a:spcPct val="0"/>
            </a:spcBef>
            <a:spcAft>
              <a:spcPct val="35000"/>
            </a:spcAft>
          </a:pPr>
          <a:r>
            <a:rPr lang="en-US" sz="2000" b="1" kern="1200" cap="none" spc="0" dirty="0" smtClean="0">
              <a:ln w="6600">
                <a:prstDash val="solid"/>
              </a:ln>
              <a:effectLst>
                <a:outerShdw dist="38100" dir="2700000" algn="tl" rotWithShape="0">
                  <a:schemeClr val="accent2"/>
                </a:outerShdw>
              </a:effectLst>
            </a:rPr>
            <a:t>Support System</a:t>
          </a:r>
          <a:endParaRPr lang="en-US" sz="2000" b="1" kern="1200" cap="none" spc="0" dirty="0">
            <a:ln w="6600">
              <a:prstDash val="solid"/>
            </a:ln>
            <a:effectLst>
              <a:outerShdw dist="38100" dir="2700000" algn="tl" rotWithShape="0">
                <a:schemeClr val="accent2"/>
              </a:outerShdw>
            </a:effectLst>
          </a:endParaRPr>
        </a:p>
      </dsp:txBody>
      <dsp:txXfrm>
        <a:off x="2902641" y="843468"/>
        <a:ext cx="2590316" cy="1076957"/>
      </dsp:txXfrm>
    </dsp:sp>
    <dsp:sp modelId="{44B97F83-7ED1-4DC7-8AA8-0E0F1761D768}">
      <dsp:nvSpPr>
        <dsp:cNvPr id="0" name=""/>
        <dsp:cNvSpPr/>
      </dsp:nvSpPr>
      <dsp:spPr>
        <a:xfrm>
          <a:off x="3523588" y="2010070"/>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DSS</a:t>
          </a:r>
          <a:endParaRPr lang="en-US" sz="2000" b="1" kern="1200" cap="none" spc="0" dirty="0">
            <a:ln w="6600">
              <a:prstDash val="solid"/>
            </a:ln>
            <a:effectLst>
              <a:outerShdw dist="38100" dir="2700000" algn="tl" rotWithShape="0">
                <a:schemeClr val="accent2"/>
              </a:outerShdw>
            </a:effectLst>
          </a:endParaRPr>
        </a:p>
      </dsp:txBody>
      <dsp:txXfrm>
        <a:off x="3523588" y="2010070"/>
        <a:ext cx="707754" cy="353877"/>
      </dsp:txXfrm>
    </dsp:sp>
    <dsp:sp modelId="{1A9FADC9-0D98-498D-850D-462EA4008CCB}">
      <dsp:nvSpPr>
        <dsp:cNvPr id="0" name=""/>
        <dsp:cNvSpPr/>
      </dsp:nvSpPr>
      <dsp:spPr>
        <a:xfrm>
          <a:off x="3523588" y="2512575"/>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EIS</a:t>
          </a:r>
          <a:endParaRPr lang="en-US" sz="2000" b="1" kern="1200" cap="none" spc="0" dirty="0">
            <a:ln w="6600">
              <a:prstDash val="solid"/>
            </a:ln>
            <a:effectLst>
              <a:outerShdw dist="38100" dir="2700000" algn="tl" rotWithShape="0">
                <a:schemeClr val="accent2"/>
              </a:outerShdw>
            </a:effectLst>
          </a:endParaRPr>
        </a:p>
      </dsp:txBody>
      <dsp:txXfrm>
        <a:off x="3523588" y="2512575"/>
        <a:ext cx="707754" cy="353877"/>
      </dsp:txXfrm>
    </dsp:sp>
    <dsp:sp modelId="{EACB658D-B037-40FC-A004-91E3BABAFF61}">
      <dsp:nvSpPr>
        <dsp:cNvPr id="0" name=""/>
        <dsp:cNvSpPr/>
      </dsp:nvSpPr>
      <dsp:spPr>
        <a:xfrm>
          <a:off x="3523588" y="3015081"/>
          <a:ext cx="707754" cy="35387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ES</a:t>
          </a:r>
          <a:endParaRPr lang="en-US" sz="2000" b="1" kern="1200" cap="none" spc="0" dirty="0">
            <a:ln w="6600">
              <a:prstDash val="solid"/>
            </a:ln>
            <a:effectLst>
              <a:outerShdw dist="38100" dir="2700000" algn="tl" rotWithShape="0">
                <a:schemeClr val="accent2"/>
              </a:outerShdw>
            </a:effectLst>
          </a:endParaRPr>
        </a:p>
      </dsp:txBody>
      <dsp:txXfrm>
        <a:off x="3523588" y="3015081"/>
        <a:ext cx="707754" cy="353877"/>
      </dsp:txXfrm>
    </dsp:sp>
    <dsp:sp modelId="{AAC61006-A159-4FFB-A739-A75C765B1E1D}">
      <dsp:nvSpPr>
        <dsp:cNvPr id="0" name=""/>
        <dsp:cNvSpPr/>
      </dsp:nvSpPr>
      <dsp:spPr>
        <a:xfrm>
          <a:off x="5614954" y="834592"/>
          <a:ext cx="2590316" cy="107695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Office Automation</a:t>
          </a:r>
        </a:p>
        <a:p>
          <a:pPr lvl="0" algn="ctr" defTabSz="889000">
            <a:lnSpc>
              <a:spcPct val="90000"/>
            </a:lnSpc>
            <a:spcBef>
              <a:spcPct val="0"/>
            </a:spcBef>
            <a:spcAft>
              <a:spcPct val="35000"/>
            </a:spcAft>
          </a:pPr>
          <a:r>
            <a:rPr lang="en-US" sz="2000" b="1" kern="1200" cap="none" spc="0" smtClean="0">
              <a:ln w="6600">
                <a:prstDash val="solid"/>
              </a:ln>
              <a:effectLst>
                <a:outerShdw dist="38100" dir="2700000" algn="tl" rotWithShape="0">
                  <a:schemeClr val="accent2"/>
                </a:outerShdw>
              </a:effectLst>
            </a:rPr>
            <a:t>System (OAS)</a:t>
          </a:r>
          <a:endParaRPr lang="en-US" sz="2000" b="1" kern="1200" cap="none" spc="0" dirty="0">
            <a:ln w="6600">
              <a:prstDash val="solid"/>
            </a:ln>
            <a:effectLst>
              <a:outerShdw dist="38100" dir="2700000" algn="tl" rotWithShape="0">
                <a:schemeClr val="accent2"/>
              </a:outerShdw>
            </a:effectLst>
          </a:endParaRPr>
        </a:p>
      </dsp:txBody>
      <dsp:txXfrm>
        <a:off x="5614954" y="834592"/>
        <a:ext cx="2590316" cy="1076957"/>
      </dsp:txXfrm>
    </dsp:sp>
    <dsp:sp modelId="{999E4FBF-100F-45DA-B4F0-B4618FD738C7}">
      <dsp:nvSpPr>
        <dsp:cNvPr id="0" name=""/>
        <dsp:cNvSpPr/>
      </dsp:nvSpPr>
      <dsp:spPr>
        <a:xfrm>
          <a:off x="6262533" y="2010070"/>
          <a:ext cx="1515316" cy="785079"/>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Word Processing</a:t>
          </a:r>
        </a:p>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System</a:t>
          </a:r>
          <a:endParaRPr lang="en-US" sz="1600" b="1" kern="1200" cap="none" spc="0" dirty="0">
            <a:ln w="6600">
              <a:prstDash val="solid"/>
            </a:ln>
            <a:effectLst>
              <a:outerShdw dist="38100" dir="2700000" algn="tl" rotWithShape="0">
                <a:schemeClr val="accent2"/>
              </a:outerShdw>
            </a:effectLst>
          </a:endParaRPr>
        </a:p>
      </dsp:txBody>
      <dsp:txXfrm>
        <a:off x="6262533" y="2010070"/>
        <a:ext cx="1515316" cy="785079"/>
      </dsp:txXfrm>
    </dsp:sp>
    <dsp:sp modelId="{DFD376D4-6F71-4C10-8604-6BB42E7EAEE6}">
      <dsp:nvSpPr>
        <dsp:cNvPr id="0" name=""/>
        <dsp:cNvSpPr/>
      </dsp:nvSpPr>
      <dsp:spPr>
        <a:xfrm>
          <a:off x="6262533" y="2943778"/>
          <a:ext cx="1678955" cy="785079"/>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Document</a:t>
          </a:r>
        </a:p>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Management</a:t>
          </a:r>
        </a:p>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System</a:t>
          </a:r>
          <a:endParaRPr lang="en-US" sz="1600" b="1" kern="1200" cap="none" spc="0" dirty="0">
            <a:ln w="6600">
              <a:prstDash val="solid"/>
            </a:ln>
            <a:effectLst>
              <a:outerShdw dist="38100" dir="2700000" algn="tl" rotWithShape="0">
                <a:schemeClr val="accent2"/>
              </a:outerShdw>
            </a:effectLst>
          </a:endParaRPr>
        </a:p>
      </dsp:txBody>
      <dsp:txXfrm>
        <a:off x="6262533" y="2943778"/>
        <a:ext cx="1678955" cy="785079"/>
      </dsp:txXfrm>
    </dsp:sp>
    <dsp:sp modelId="{FB15E25A-A8EB-46AF-A936-50F1B3EDD93A}">
      <dsp:nvSpPr>
        <dsp:cNvPr id="0" name=""/>
        <dsp:cNvSpPr/>
      </dsp:nvSpPr>
      <dsp:spPr>
        <a:xfrm>
          <a:off x="6262533" y="3877486"/>
          <a:ext cx="1727486" cy="785079"/>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Message</a:t>
          </a:r>
        </a:p>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Communication</a:t>
          </a:r>
        </a:p>
        <a:p>
          <a:pPr lvl="0" algn="ctr" defTabSz="711200">
            <a:lnSpc>
              <a:spcPct val="90000"/>
            </a:lnSpc>
            <a:spcBef>
              <a:spcPct val="0"/>
            </a:spcBef>
            <a:spcAft>
              <a:spcPct val="35000"/>
            </a:spcAft>
          </a:pPr>
          <a:r>
            <a:rPr lang="en-US" sz="1600" b="1" kern="1200" cap="none" spc="0" smtClean="0">
              <a:ln w="6600">
                <a:prstDash val="solid"/>
              </a:ln>
              <a:effectLst>
                <a:outerShdw dist="38100" dir="2700000" algn="tl" rotWithShape="0">
                  <a:schemeClr val="accent2"/>
                </a:outerShdw>
              </a:effectLst>
            </a:rPr>
            <a:t>System</a:t>
          </a:r>
          <a:endParaRPr lang="en-US" sz="1600" b="1" kern="1200" cap="none" spc="0" dirty="0">
            <a:ln w="6600">
              <a:prstDash val="solid"/>
            </a:ln>
            <a:effectLst>
              <a:outerShdw dist="38100" dir="2700000" algn="tl" rotWithShape="0">
                <a:schemeClr val="accent2"/>
              </a:outerShdw>
            </a:effectLst>
          </a:endParaRPr>
        </a:p>
      </dsp:txBody>
      <dsp:txXfrm>
        <a:off x="6262533" y="3877486"/>
        <a:ext cx="1727486" cy="785079"/>
      </dsp:txXfrm>
    </dsp:sp>
    <dsp:sp modelId="{F24001A0-761C-463C-8786-9DE6B4AA0688}">
      <dsp:nvSpPr>
        <dsp:cNvPr id="0" name=""/>
        <dsp:cNvSpPr/>
      </dsp:nvSpPr>
      <dsp:spPr>
        <a:xfrm>
          <a:off x="6262533" y="4811195"/>
          <a:ext cx="1588115" cy="785079"/>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ts val="0"/>
            </a:spcAft>
          </a:pPr>
          <a:r>
            <a:rPr lang="en-US" sz="1600" b="1" kern="1200" cap="none" spc="0" smtClean="0">
              <a:ln w="6600">
                <a:prstDash val="solid"/>
              </a:ln>
              <a:effectLst>
                <a:outerShdw dist="38100" dir="2700000" algn="tl" rotWithShape="0">
                  <a:schemeClr val="accent2"/>
                </a:outerShdw>
              </a:effectLst>
            </a:rPr>
            <a:t>Tele-</a:t>
          </a:r>
        </a:p>
        <a:p>
          <a:pPr lvl="0" algn="ctr" defTabSz="711200">
            <a:lnSpc>
              <a:spcPct val="90000"/>
            </a:lnSpc>
            <a:spcBef>
              <a:spcPct val="0"/>
            </a:spcBef>
            <a:spcAft>
              <a:spcPts val="0"/>
            </a:spcAft>
          </a:pPr>
          <a:r>
            <a:rPr lang="en-US" sz="1600" b="1" kern="1200" cap="none" spc="0" smtClean="0">
              <a:ln w="6600">
                <a:prstDash val="solid"/>
              </a:ln>
              <a:effectLst>
                <a:outerShdw dist="38100" dir="2700000" algn="tl" rotWithShape="0">
                  <a:schemeClr val="accent2"/>
                </a:outerShdw>
              </a:effectLst>
            </a:rPr>
            <a:t>Conferencing</a:t>
          </a:r>
        </a:p>
        <a:p>
          <a:pPr lvl="0" algn="ctr" defTabSz="711200">
            <a:lnSpc>
              <a:spcPct val="90000"/>
            </a:lnSpc>
            <a:spcBef>
              <a:spcPct val="0"/>
            </a:spcBef>
            <a:spcAft>
              <a:spcPts val="0"/>
            </a:spcAft>
          </a:pPr>
          <a:r>
            <a:rPr lang="en-US" sz="1600" b="1" kern="1200" cap="none" spc="0" smtClean="0">
              <a:ln w="6600">
                <a:prstDash val="solid"/>
              </a:ln>
              <a:effectLst>
                <a:outerShdw dist="38100" dir="2700000" algn="tl" rotWithShape="0">
                  <a:schemeClr val="accent2"/>
                </a:outerShdw>
              </a:effectLst>
            </a:rPr>
            <a:t>System</a:t>
          </a:r>
          <a:endParaRPr lang="en-US" sz="1600" b="1" kern="1200" cap="none" spc="0" dirty="0">
            <a:ln w="6600">
              <a:prstDash val="solid"/>
            </a:ln>
            <a:effectLst>
              <a:outerShdw dist="38100" dir="2700000" algn="tl" rotWithShape="0">
                <a:schemeClr val="accent2"/>
              </a:outerShdw>
            </a:effectLst>
          </a:endParaRPr>
        </a:p>
      </dsp:txBody>
      <dsp:txXfrm>
        <a:off x="6262533" y="4811195"/>
        <a:ext cx="1588115" cy="7850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381F46-0639-4325-B79B-C5F504FFFB28}" type="datetimeFigureOut">
              <a:rPr lang="en-US" smtClean="0"/>
              <a:t>9/20/2023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6B6D3-C090-4F24-A0CD-457730965DED}" type="slidenum">
              <a:rPr lang="en-US" smtClean="0"/>
              <a:t>‹#›</a:t>
            </a:fld>
            <a:endParaRPr lang="en-US"/>
          </a:p>
        </p:txBody>
      </p:sp>
    </p:spTree>
    <p:extLst>
      <p:ext uri="{BB962C8B-B14F-4D97-AF65-F5344CB8AC3E}">
        <p14:creationId xmlns:p14="http://schemas.microsoft.com/office/powerpoint/2010/main" val="1974236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A6AA913-5FEA-48EF-AAC2-3BCE7E87015C}" type="datetimeFigureOut">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3756908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6AA913-5FEA-48EF-AAC2-3BCE7E87015C}" type="datetimeFigureOut">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4235948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6AA913-5FEA-48EF-AAC2-3BCE7E87015C}" type="datetimeFigureOut">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2264835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A6AA913-5FEA-48EF-AAC2-3BCE7E87015C}" type="datetimeFigureOut">
              <a:rPr lang="en-US" smtClean="0"/>
              <a:t>9/20/2023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266535620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A6AA913-5FEA-48EF-AAC2-3BCE7E87015C}" type="datetimeFigureOut">
              <a:rPr lang="en-US" smtClean="0"/>
              <a:t>9/20/2023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364388879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A6AA913-5FEA-48EF-AAC2-3BCE7E87015C}" type="datetimeFigureOut">
              <a:rPr lang="en-US" smtClean="0"/>
              <a:t>9/20/2023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3460165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6AA913-5FEA-48EF-AAC2-3BCE7E87015C}" type="datetimeFigureOut">
              <a:rPr lang="en-US" smtClean="0"/>
              <a:t>9/20/2023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2376959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0A6AA913-5FEA-48EF-AAC2-3BCE7E87015C}" type="datetimeFigureOut">
              <a:rPr lang="en-US" smtClean="0"/>
              <a:t>9/20/2023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77368069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0A6AA913-5FEA-48EF-AAC2-3BCE7E87015C}" type="datetimeFigureOut">
              <a:rPr lang="en-US" smtClean="0"/>
              <a:t>9/20/2023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157793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6AA913-5FEA-48EF-AAC2-3BCE7E87015C}" type="datetimeFigureOut">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4142110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6AA913-5FEA-48EF-AAC2-3BCE7E87015C}" type="datetimeFigureOut">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46047-ECBC-4BE8-AC67-B7D19BCC4223}" type="slidenum">
              <a:rPr lang="en-US" smtClean="0"/>
              <a:t>‹#›</a:t>
            </a:fld>
            <a:endParaRPr lang="en-US"/>
          </a:p>
        </p:txBody>
      </p:sp>
    </p:spTree>
    <p:extLst>
      <p:ext uri="{BB962C8B-B14F-4D97-AF65-F5344CB8AC3E}">
        <p14:creationId xmlns:p14="http://schemas.microsoft.com/office/powerpoint/2010/main" val="2843090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6AA913-5FEA-48EF-AAC2-3BCE7E87015C}" type="datetimeFigureOut">
              <a:rPr lang="en-US" smtClean="0"/>
              <a:t>9/20/2023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9046047-ECBC-4BE8-AC67-B7D19BCC4223}" type="slidenum">
              <a:rPr lang="en-US" smtClean="0"/>
              <a:t>‹#›</a:t>
            </a:fld>
            <a:endParaRPr lang="en-US"/>
          </a:p>
        </p:txBody>
      </p:sp>
    </p:spTree>
    <p:extLst>
      <p:ext uri="{BB962C8B-B14F-4D97-AF65-F5344CB8AC3E}">
        <p14:creationId xmlns:p14="http://schemas.microsoft.com/office/powerpoint/2010/main" val="344896082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kissflow.com/workflow/bpm/business-proces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 </a:t>
            </a:r>
            <a:r>
              <a:rPr lang="en-US" sz="4000" b="1" dirty="0"/>
              <a:t>Types of Information Systems</a:t>
            </a:r>
            <a:endParaRPr lang="en-US" sz="3600" b="1" dirty="0"/>
          </a:p>
        </p:txBody>
      </p:sp>
      <p:sp>
        <p:nvSpPr>
          <p:cNvPr id="3" name="Content Placeholder 2"/>
          <p:cNvSpPr>
            <a:spLocks noGrp="1"/>
          </p:cNvSpPr>
          <p:nvPr>
            <p:ph idx="1"/>
          </p:nvPr>
        </p:nvSpPr>
        <p:spPr>
          <a:xfrm>
            <a:off x="957808" y="1847850"/>
            <a:ext cx="7979774" cy="3924300"/>
          </a:xfrm>
        </p:spPr>
        <p:txBody>
          <a:bodyPr>
            <a:noAutofit/>
          </a:bodyPr>
          <a:lstStyle/>
          <a:p>
            <a:pPr marL="0" indent="0" algn="just">
              <a:buNone/>
            </a:pPr>
            <a:r>
              <a:rPr lang="en-US" sz="2400" b="1" dirty="0" smtClean="0"/>
              <a:t>What will be covered:</a:t>
            </a:r>
          </a:p>
          <a:p>
            <a:pPr algn="just"/>
            <a:r>
              <a:rPr lang="en-US" sz="2400" dirty="0" smtClean="0"/>
              <a:t>Example of Information System</a:t>
            </a:r>
          </a:p>
          <a:p>
            <a:pPr algn="just"/>
            <a:r>
              <a:rPr lang="en-US" sz="2400" dirty="0" smtClean="0"/>
              <a:t>Categories/Classification of  information Systems</a:t>
            </a:r>
          </a:p>
          <a:p>
            <a:pPr algn="just"/>
            <a:r>
              <a:rPr lang="en-US" sz="2400" dirty="0" smtClean="0"/>
              <a:t>The main types of information systems.</a:t>
            </a:r>
            <a:endParaRPr lang="en-US" sz="2400" dirty="0"/>
          </a:p>
        </p:txBody>
      </p:sp>
    </p:spTree>
    <p:extLst>
      <p:ext uri="{BB962C8B-B14F-4D97-AF65-F5344CB8AC3E}">
        <p14:creationId xmlns:p14="http://schemas.microsoft.com/office/powerpoint/2010/main" val="26912174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404" y="133351"/>
            <a:ext cx="7896096" cy="514350"/>
          </a:xfrm>
        </p:spPr>
        <p:txBody>
          <a:bodyPr>
            <a:normAutofit fontScale="90000"/>
          </a:bodyPr>
          <a:lstStyle/>
          <a:p>
            <a:r>
              <a:rPr lang="en-US" cap="none" dirty="0" smtClean="0"/>
              <a:t>Introduction</a:t>
            </a:r>
            <a:endParaRPr lang="en-US" cap="none" dirty="0"/>
          </a:p>
        </p:txBody>
      </p:sp>
      <p:sp>
        <p:nvSpPr>
          <p:cNvPr id="3" name="Content Placeholder 2"/>
          <p:cNvSpPr>
            <a:spLocks noGrp="1"/>
          </p:cNvSpPr>
          <p:nvPr>
            <p:ph idx="1"/>
          </p:nvPr>
        </p:nvSpPr>
        <p:spPr>
          <a:xfrm>
            <a:off x="676404" y="733425"/>
            <a:ext cx="8181845" cy="6057899"/>
          </a:xfrm>
        </p:spPr>
        <p:txBody>
          <a:bodyPr>
            <a:noAutofit/>
          </a:bodyPr>
          <a:lstStyle/>
          <a:p>
            <a:pPr algn="just">
              <a:lnSpc>
                <a:spcPct val="150000"/>
              </a:lnSpc>
            </a:pPr>
            <a:r>
              <a:rPr lang="en-US" sz="2600" dirty="0"/>
              <a:t>Management at different level take decisions matching to their hierarchy position in the organization and different types of information system are designed and developed for them. The lowest level is managed by operational level mangers. The routine office work are mostly done at this level. No decision making process is carried out here but proper organization and processing of data is important task. So, data processing systems like TPS are developed for them. </a:t>
            </a:r>
          </a:p>
        </p:txBody>
      </p:sp>
    </p:spTree>
    <p:extLst>
      <p:ext uri="{BB962C8B-B14F-4D97-AF65-F5344CB8AC3E}">
        <p14:creationId xmlns:p14="http://schemas.microsoft.com/office/powerpoint/2010/main" val="128504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n-lt"/>
              </a:rPr>
              <a:t>Introduction cont’d</a:t>
            </a:r>
            <a:endParaRPr lang="en-US" dirty="0">
              <a:latin typeface="+mn-lt"/>
            </a:endParaRPr>
          </a:p>
        </p:txBody>
      </p:sp>
      <p:sp>
        <p:nvSpPr>
          <p:cNvPr id="3" name="Content Placeholder 2"/>
          <p:cNvSpPr>
            <a:spLocks noGrp="1"/>
          </p:cNvSpPr>
          <p:nvPr>
            <p:ph idx="1"/>
          </p:nvPr>
        </p:nvSpPr>
        <p:spPr>
          <a:xfrm>
            <a:off x="628650" y="1390650"/>
            <a:ext cx="7886700" cy="5238749"/>
          </a:xfrm>
        </p:spPr>
        <p:txBody>
          <a:bodyPr>
            <a:normAutofit/>
          </a:bodyPr>
          <a:lstStyle/>
          <a:p>
            <a:pPr algn="just">
              <a:lnSpc>
                <a:spcPct val="150000"/>
              </a:lnSpc>
            </a:pPr>
            <a:r>
              <a:rPr lang="en-US" sz="2400" dirty="0"/>
              <a:t>The middle levels management is responsible for routine decision making. In order to help them, information system like MIS is designed for them. It collects data from internal and external sources and provides information to management. </a:t>
            </a:r>
            <a:endParaRPr lang="en-US" sz="2400" dirty="0" smtClean="0"/>
          </a:p>
          <a:p>
            <a:pPr algn="just">
              <a:lnSpc>
                <a:spcPct val="150000"/>
              </a:lnSpc>
            </a:pPr>
            <a:r>
              <a:rPr lang="en-US" sz="2400" dirty="0" smtClean="0"/>
              <a:t>The </a:t>
            </a:r>
            <a:r>
              <a:rPr lang="en-US" sz="2400" dirty="0"/>
              <a:t>top level management is responsible for non-routine, strategic decision making. In order to help them information system like DSS is designed for them. It helps them by providing information and decision model.</a:t>
            </a:r>
          </a:p>
          <a:p>
            <a:pPr algn="just">
              <a:lnSpc>
                <a:spcPct val="150000"/>
              </a:lnSpc>
            </a:pPr>
            <a:endParaRPr lang="en-US" dirty="0"/>
          </a:p>
        </p:txBody>
      </p:sp>
    </p:spTree>
    <p:extLst>
      <p:ext uri="{BB962C8B-B14F-4D97-AF65-F5344CB8AC3E}">
        <p14:creationId xmlns:p14="http://schemas.microsoft.com/office/powerpoint/2010/main" val="2045233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mn-lt"/>
              </a:rPr>
              <a:t>Information System </a:t>
            </a:r>
            <a:r>
              <a:rPr lang="en-US" sz="3200" dirty="0" smtClean="0">
                <a:latin typeface="+mn-lt"/>
              </a:rPr>
              <a:t>Example </a:t>
            </a:r>
            <a:endParaRPr lang="en-US" dirty="0">
              <a:latin typeface="+mn-lt"/>
            </a:endParaRPr>
          </a:p>
        </p:txBody>
      </p:sp>
      <p:sp>
        <p:nvSpPr>
          <p:cNvPr id="3" name="Content Placeholder 2"/>
          <p:cNvSpPr>
            <a:spLocks noGrp="1"/>
          </p:cNvSpPr>
          <p:nvPr>
            <p:ph idx="1"/>
          </p:nvPr>
        </p:nvSpPr>
        <p:spPr/>
        <p:txBody>
          <a:bodyPr>
            <a:normAutofit lnSpcReduction="10000"/>
          </a:bodyPr>
          <a:lstStyle/>
          <a:p>
            <a:pPr marL="0" indent="0" algn="just">
              <a:lnSpc>
                <a:spcPct val="150000"/>
              </a:lnSpc>
              <a:buNone/>
            </a:pPr>
            <a:r>
              <a:rPr lang="en-US" sz="2400" dirty="0"/>
              <a:t>An information system is a software system to capture, transmit, store, retrieve, manipulate, or display information, thereby supporting people, organizations, or other software systems. </a:t>
            </a:r>
            <a:endParaRPr lang="en-US" sz="2400" dirty="0" smtClean="0"/>
          </a:p>
          <a:p>
            <a:pPr marL="0" indent="0" algn="just">
              <a:lnSpc>
                <a:spcPct val="150000"/>
              </a:lnSpc>
              <a:buNone/>
            </a:pPr>
            <a:r>
              <a:rPr lang="en-US" sz="2400" b="1" dirty="0" smtClean="0"/>
              <a:t>Example</a:t>
            </a:r>
            <a:r>
              <a:rPr lang="en-US" sz="2400" b="1" dirty="0"/>
              <a:t>: </a:t>
            </a:r>
            <a:r>
              <a:rPr lang="en-US" sz="2400" dirty="0"/>
              <a:t>In the example of the family doctor, the Information System is the software system that stores the data of the patient. This information system </a:t>
            </a:r>
            <a:r>
              <a:rPr lang="en-US" sz="2400" b="1" dirty="0"/>
              <a:t>supports </a:t>
            </a:r>
            <a:r>
              <a:rPr lang="en-US" sz="2400" dirty="0"/>
              <a:t>a person: </a:t>
            </a:r>
            <a:r>
              <a:rPr lang="en-US" sz="2400" b="1" dirty="0"/>
              <a:t>the doctor</a:t>
            </a:r>
            <a:r>
              <a:rPr lang="en-US" sz="2400" dirty="0"/>
              <a:t>.</a:t>
            </a:r>
          </a:p>
          <a:p>
            <a:pPr marL="0" indent="0" algn="just">
              <a:lnSpc>
                <a:spcPct val="150000"/>
              </a:lnSpc>
              <a:buNone/>
            </a:pPr>
            <a:endParaRPr lang="en-US" dirty="0"/>
          </a:p>
        </p:txBody>
      </p:sp>
    </p:spTree>
    <p:extLst>
      <p:ext uri="{BB962C8B-B14F-4D97-AF65-F5344CB8AC3E}">
        <p14:creationId xmlns:p14="http://schemas.microsoft.com/office/powerpoint/2010/main" val="229744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8758" y="369520"/>
            <a:ext cx="7633742" cy="6194118"/>
          </a:xfrm>
        </p:spPr>
        <p:txBody>
          <a:bodyPr/>
          <a:lstStyle/>
          <a:p>
            <a:r>
              <a:rPr lang="en-US" dirty="0"/>
              <a:t>Primarily, information system can be classified into three broad categories</a:t>
            </a:r>
          </a:p>
        </p:txBody>
      </p:sp>
      <p:graphicFrame>
        <p:nvGraphicFramePr>
          <p:cNvPr id="4" name="Diagram 3"/>
          <p:cNvGraphicFramePr/>
          <p:nvPr>
            <p:extLst>
              <p:ext uri="{D42A27DB-BD31-4B8C-83A1-F6EECF244321}">
                <p14:modId xmlns:p14="http://schemas.microsoft.com/office/powerpoint/2010/main" val="750042579"/>
              </p:ext>
            </p:extLst>
          </p:nvPr>
        </p:nvGraphicFramePr>
        <p:xfrm>
          <a:off x="801665" y="964505"/>
          <a:ext cx="8342335" cy="559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1057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254" y="268747"/>
            <a:ext cx="7543800" cy="567254"/>
          </a:xfrm>
        </p:spPr>
        <p:txBody>
          <a:bodyPr>
            <a:noAutofit/>
          </a:bodyPr>
          <a:lstStyle/>
          <a:p>
            <a:pPr algn="ctr"/>
            <a:r>
              <a:rPr lang="en-US" sz="3600" dirty="0" smtClean="0">
                <a:latin typeface="+mn-lt"/>
              </a:rPr>
              <a:t>Types OF info Systems  </a:t>
            </a:r>
            <a:endParaRPr lang="en-US" sz="3600" dirty="0">
              <a:latin typeface="+mn-lt"/>
            </a:endParaRPr>
          </a:p>
        </p:txBody>
      </p:sp>
      <p:sp>
        <p:nvSpPr>
          <p:cNvPr id="3" name="Content Placeholder 2"/>
          <p:cNvSpPr>
            <a:spLocks noGrp="1"/>
          </p:cNvSpPr>
          <p:nvPr>
            <p:ph idx="1"/>
          </p:nvPr>
        </p:nvSpPr>
        <p:spPr>
          <a:xfrm>
            <a:off x="6901841" y="1991638"/>
            <a:ext cx="2132555" cy="4271376"/>
          </a:xfrm>
        </p:spPr>
        <p:txBody>
          <a:bodyPr>
            <a:normAutofit fontScale="92500" lnSpcReduction="20000"/>
            <a:scene3d>
              <a:camera prst="orthographicFront"/>
              <a:lightRig rig="harsh" dir="t"/>
            </a:scene3d>
            <a:sp3d extrusionH="57150" prstMaterial="matte">
              <a:bevelT w="63500" h="12700" prst="angle"/>
              <a:contourClr>
                <a:schemeClr val="bg1">
                  <a:lumMod val="65000"/>
                </a:schemeClr>
              </a:contourClr>
            </a:sp3d>
          </a:bodyPr>
          <a:lstStyle/>
          <a:p>
            <a:pPr marL="0" indent="0">
              <a:buNone/>
            </a:pPr>
            <a:r>
              <a:rPr lang="it-IT" sz="1800" b="1" dirty="0" smtClean="0">
                <a:ln/>
                <a:solidFill>
                  <a:srgbClr val="0070C0"/>
                </a:solidFill>
              </a:rPr>
              <a:t>KBS:Knowledge </a:t>
            </a:r>
            <a:r>
              <a:rPr lang="it-IT" sz="1800" b="1" dirty="0">
                <a:ln/>
                <a:solidFill>
                  <a:srgbClr val="0070C0"/>
                </a:solidFill>
              </a:rPr>
              <a:t>Management </a:t>
            </a:r>
            <a:r>
              <a:rPr lang="it-IT" sz="1800" b="1" dirty="0" smtClean="0">
                <a:ln/>
                <a:solidFill>
                  <a:srgbClr val="0070C0"/>
                </a:solidFill>
              </a:rPr>
              <a:t>Systems or expert systems</a:t>
            </a:r>
            <a:endParaRPr lang="en-US" sz="1800" b="1" dirty="0">
              <a:ln/>
              <a:solidFill>
                <a:srgbClr val="0070C0"/>
              </a:solidFill>
            </a:endParaRPr>
          </a:p>
          <a:p>
            <a:pPr marL="0" indent="0">
              <a:buNone/>
            </a:pPr>
            <a:r>
              <a:rPr lang="it-IT" sz="1800" b="1" dirty="0" smtClean="0">
                <a:ln/>
                <a:solidFill>
                  <a:srgbClr val="0070C0"/>
                </a:solidFill>
              </a:rPr>
              <a:t>ESS: </a:t>
            </a:r>
            <a:r>
              <a:rPr lang="it-IT" sz="1800" b="1" dirty="0">
                <a:ln/>
                <a:solidFill>
                  <a:srgbClr val="0070C0"/>
                </a:solidFill>
              </a:rPr>
              <a:t>Executive Support Systems</a:t>
            </a:r>
          </a:p>
          <a:p>
            <a:pPr marL="0" indent="0">
              <a:buNone/>
            </a:pPr>
            <a:endParaRPr lang="it-IT" sz="1800" b="1" dirty="0" smtClean="0">
              <a:ln/>
              <a:solidFill>
                <a:srgbClr val="0070C0"/>
              </a:solidFill>
            </a:endParaRPr>
          </a:p>
          <a:p>
            <a:pPr marL="0" indent="0">
              <a:buNone/>
            </a:pPr>
            <a:r>
              <a:rPr lang="it-IT" sz="1800" b="1" dirty="0" smtClean="0">
                <a:ln/>
                <a:solidFill>
                  <a:srgbClr val="0070C0"/>
                </a:solidFill>
              </a:rPr>
              <a:t>DSS: </a:t>
            </a:r>
            <a:r>
              <a:rPr lang="it-IT" sz="1800" b="1" dirty="0">
                <a:ln/>
                <a:solidFill>
                  <a:srgbClr val="0070C0"/>
                </a:solidFill>
              </a:rPr>
              <a:t>Decision Support Systems</a:t>
            </a:r>
          </a:p>
          <a:p>
            <a:pPr marL="0" indent="0">
              <a:buNone/>
            </a:pPr>
            <a:endParaRPr lang="it-IT" sz="1800" b="1" dirty="0" smtClean="0">
              <a:ln/>
              <a:solidFill>
                <a:srgbClr val="0070C0"/>
              </a:solidFill>
            </a:endParaRPr>
          </a:p>
          <a:p>
            <a:pPr marL="0" indent="0">
              <a:buNone/>
            </a:pPr>
            <a:r>
              <a:rPr lang="it-IT" sz="1800" b="1" dirty="0" smtClean="0">
                <a:ln/>
                <a:solidFill>
                  <a:srgbClr val="0070C0"/>
                </a:solidFill>
              </a:rPr>
              <a:t>MIS : </a:t>
            </a:r>
            <a:r>
              <a:rPr lang="it-IT" sz="1800" b="1" dirty="0">
                <a:ln/>
                <a:solidFill>
                  <a:srgbClr val="0070C0"/>
                </a:solidFill>
              </a:rPr>
              <a:t>Managament Information Systems</a:t>
            </a:r>
          </a:p>
          <a:p>
            <a:pPr marL="0" indent="0">
              <a:buNone/>
            </a:pPr>
            <a:r>
              <a:rPr lang="it-IT" sz="1800" b="1" dirty="0" smtClean="0">
                <a:ln/>
                <a:solidFill>
                  <a:srgbClr val="0070C0"/>
                </a:solidFill>
              </a:rPr>
              <a:t>OAS: </a:t>
            </a:r>
            <a:r>
              <a:rPr lang="it-IT" sz="1800" b="1" dirty="0">
                <a:ln/>
                <a:solidFill>
                  <a:srgbClr val="0070C0"/>
                </a:solidFill>
              </a:rPr>
              <a:t>Office Automation </a:t>
            </a:r>
            <a:r>
              <a:rPr lang="it-IT" sz="1800" b="1" dirty="0" smtClean="0">
                <a:ln/>
                <a:solidFill>
                  <a:srgbClr val="0070C0"/>
                </a:solidFill>
              </a:rPr>
              <a:t>Systems</a:t>
            </a:r>
          </a:p>
          <a:p>
            <a:pPr marL="0" indent="0">
              <a:buNone/>
            </a:pPr>
            <a:endParaRPr lang="it-IT" sz="1800" b="1" dirty="0" smtClean="0">
              <a:ln/>
              <a:solidFill>
                <a:srgbClr val="0070C0"/>
              </a:solidFill>
            </a:endParaRPr>
          </a:p>
          <a:p>
            <a:pPr marL="0" indent="0">
              <a:buNone/>
            </a:pPr>
            <a:r>
              <a:rPr lang="it-IT" sz="1800" b="1" dirty="0" smtClean="0">
                <a:ln/>
                <a:solidFill>
                  <a:srgbClr val="0070C0"/>
                </a:solidFill>
              </a:rPr>
              <a:t>TPS   </a:t>
            </a:r>
            <a:r>
              <a:rPr lang="it-IT" sz="1800" b="1" dirty="0">
                <a:ln/>
                <a:solidFill>
                  <a:srgbClr val="0070C0"/>
                </a:solidFill>
              </a:rPr>
              <a:t>Transaction Processing </a:t>
            </a:r>
            <a:r>
              <a:rPr lang="it-IT" sz="1800" b="1" dirty="0" smtClean="0">
                <a:ln/>
                <a:solidFill>
                  <a:srgbClr val="0070C0"/>
                </a:solidFill>
              </a:rPr>
              <a:t>Systems</a:t>
            </a:r>
            <a:endParaRPr lang="it-IT" sz="1800" b="1" dirty="0">
              <a:ln/>
              <a:solidFill>
                <a:srgbClr val="0070C0"/>
              </a:solidFill>
            </a:endParaRPr>
          </a:p>
        </p:txBody>
      </p:sp>
      <p:pic>
        <p:nvPicPr>
          <p:cNvPr id="4" name="Content Placeholder 3"/>
          <p:cNvPicPr>
            <a:picLocks noChangeAspect="1"/>
          </p:cNvPicPr>
          <p:nvPr/>
        </p:nvPicPr>
        <p:blipFill rotWithShape="1">
          <a:blip r:embed="rId2">
            <a:extLst>
              <a:ext uri="{28A0092B-C50C-407E-A947-70E740481C1C}">
                <a14:useLocalDpi xmlns:a14="http://schemas.microsoft.com/office/drawing/2010/main" val="0"/>
              </a:ext>
            </a:extLst>
          </a:blip>
          <a:srcRect l="4830" t="5178" r="5084" b="5290"/>
          <a:stretch/>
        </p:blipFill>
        <p:spPr>
          <a:xfrm>
            <a:off x="1360639" y="1678488"/>
            <a:ext cx="5549030" cy="4584526"/>
          </a:xfrm>
          <a:prstGeom prst="rect">
            <a:avLst/>
          </a:prstGeom>
        </p:spPr>
      </p:pic>
    </p:spTree>
    <p:extLst>
      <p:ext uri="{BB962C8B-B14F-4D97-AF65-F5344CB8AC3E}">
        <p14:creationId xmlns:p14="http://schemas.microsoft.com/office/powerpoint/2010/main" val="2871302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11199"/>
          </a:xfrm>
        </p:spPr>
        <p:txBody>
          <a:bodyPr>
            <a:normAutofit/>
          </a:bodyPr>
          <a:lstStyle/>
          <a:p>
            <a:r>
              <a:rPr lang="en-US" sz="3200" cap="none" dirty="0" smtClean="0"/>
              <a:t>  </a:t>
            </a:r>
            <a:r>
              <a:rPr lang="en-US" sz="3600" b="1" cap="none" dirty="0" smtClean="0">
                <a:solidFill>
                  <a:srgbClr val="00B0F0"/>
                </a:solidFill>
                <a:latin typeface="+mn-lt"/>
              </a:rPr>
              <a:t>classifications of information systems </a:t>
            </a:r>
            <a:endParaRPr lang="en-US" sz="3600" b="1" cap="none" dirty="0">
              <a:solidFill>
                <a:srgbClr val="00B0F0"/>
              </a:solidFill>
              <a:latin typeface="+mn-lt"/>
            </a:endParaRPr>
          </a:p>
        </p:txBody>
      </p:sp>
      <p:sp>
        <p:nvSpPr>
          <p:cNvPr id="3" name="Content Placeholder 2"/>
          <p:cNvSpPr>
            <a:spLocks noGrp="1"/>
          </p:cNvSpPr>
          <p:nvPr>
            <p:ph idx="1"/>
          </p:nvPr>
        </p:nvSpPr>
        <p:spPr>
          <a:xfrm>
            <a:off x="495300" y="1190625"/>
            <a:ext cx="8305800" cy="5514975"/>
          </a:xfrm>
        </p:spPr>
        <p:txBody>
          <a:bodyPr>
            <a:noAutofit/>
          </a:bodyPr>
          <a:lstStyle/>
          <a:p>
            <a:pPr algn="just"/>
            <a:r>
              <a:rPr lang="en-US" sz="2800" b="1" dirty="0"/>
              <a:t>Operations Support System </a:t>
            </a:r>
            <a:r>
              <a:rPr lang="en-US" sz="2800" dirty="0" smtClean="0"/>
              <a:t>(OSS) is aimed to improve operational efficiency of the enterprise. It is further classified into three categories : TPS, MIS and ERP.</a:t>
            </a:r>
          </a:p>
          <a:p>
            <a:pPr algn="just"/>
            <a:endParaRPr lang="en-US" sz="2800" dirty="0" smtClean="0"/>
          </a:p>
          <a:p>
            <a:pPr algn="just"/>
            <a:r>
              <a:rPr lang="en-US" sz="2800" b="1" dirty="0" smtClean="0"/>
              <a:t>Management support system</a:t>
            </a:r>
            <a:r>
              <a:rPr lang="en-US" sz="2800" dirty="0" smtClean="0"/>
              <a:t>(MSS) </a:t>
            </a:r>
            <a:r>
              <a:rPr lang="en-US" sz="2800" dirty="0"/>
              <a:t>is an information </a:t>
            </a:r>
            <a:r>
              <a:rPr lang="en-US" sz="2800" b="1" dirty="0"/>
              <a:t>system</a:t>
            </a:r>
            <a:r>
              <a:rPr lang="en-US" sz="2800" dirty="0"/>
              <a:t> that integrates the functional capabilities of a decision support system, executive information system, and knowledge-based or expert </a:t>
            </a:r>
            <a:r>
              <a:rPr lang="en-US" sz="2800" dirty="0" smtClean="0"/>
              <a:t>system</a:t>
            </a:r>
          </a:p>
          <a:p>
            <a:pPr marL="0" indent="0" algn="just">
              <a:buNone/>
            </a:pPr>
            <a:endParaRPr lang="en-US" sz="2800" dirty="0" smtClean="0"/>
          </a:p>
          <a:p>
            <a:pPr algn="just"/>
            <a:r>
              <a:rPr lang="en-US" sz="2800" dirty="0"/>
              <a:t>An </a:t>
            </a:r>
            <a:r>
              <a:rPr lang="en-US" sz="2800" b="1" dirty="0"/>
              <a:t>office automation system</a:t>
            </a:r>
            <a:r>
              <a:rPr lang="en-US" sz="2800" dirty="0"/>
              <a:t> I</a:t>
            </a:r>
            <a:r>
              <a:rPr lang="en-US" sz="2800" dirty="0" smtClean="0"/>
              <a:t>nvolves </a:t>
            </a:r>
            <a:r>
              <a:rPr lang="en-US" sz="2800" dirty="0"/>
              <a:t>software and computer systems to collect, store, modify, transmit, and use shared information to automate manual tasks. It's an efficient way to manage and share </a:t>
            </a:r>
            <a:r>
              <a:rPr lang="en-US" sz="2800" dirty="0" smtClean="0"/>
              <a:t>data.</a:t>
            </a:r>
          </a:p>
        </p:txBody>
      </p:sp>
    </p:spTree>
    <p:extLst>
      <p:ext uri="{BB962C8B-B14F-4D97-AF65-F5344CB8AC3E}">
        <p14:creationId xmlns:p14="http://schemas.microsoft.com/office/powerpoint/2010/main" val="25614446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314" y="235431"/>
            <a:ext cx="7543800" cy="900911"/>
          </a:xfrm>
        </p:spPr>
        <p:txBody>
          <a:bodyPr>
            <a:noAutofit/>
          </a:bodyPr>
          <a:lstStyle/>
          <a:p>
            <a:pPr algn="ctr"/>
            <a:r>
              <a:rPr lang="en-US" sz="3200" b="1" dirty="0">
                <a:solidFill>
                  <a:srgbClr val="00B0F0"/>
                </a:solidFill>
              </a:rPr>
              <a:t>Operations Support System </a:t>
            </a:r>
            <a:r>
              <a:rPr lang="en-US" sz="3200" dirty="0">
                <a:solidFill>
                  <a:srgbClr val="00B0F0"/>
                </a:solidFill>
              </a:rPr>
              <a:t>(OSS) </a:t>
            </a:r>
            <a:r>
              <a:rPr lang="en-US" sz="3200" b="1" dirty="0" smtClean="0">
                <a:latin typeface="+mn-lt"/>
              </a:rPr>
              <a:t>Transaction </a:t>
            </a:r>
            <a:r>
              <a:rPr lang="en-US" sz="3200" b="1" dirty="0">
                <a:latin typeface="+mn-lt"/>
              </a:rPr>
              <a:t>Processing Systems (TPS)</a:t>
            </a:r>
            <a:endParaRPr lang="en-US" sz="3200" dirty="0">
              <a:latin typeface="+mn-lt"/>
            </a:endParaRPr>
          </a:p>
        </p:txBody>
      </p:sp>
      <p:sp>
        <p:nvSpPr>
          <p:cNvPr id="3" name="Content Placeholder 2"/>
          <p:cNvSpPr>
            <a:spLocks noGrp="1"/>
          </p:cNvSpPr>
          <p:nvPr>
            <p:ph idx="1"/>
          </p:nvPr>
        </p:nvSpPr>
        <p:spPr>
          <a:xfrm>
            <a:off x="528863" y="1200150"/>
            <a:ext cx="8434162" cy="5486400"/>
          </a:xfrm>
        </p:spPr>
        <p:txBody>
          <a:bodyPr>
            <a:noAutofit/>
          </a:bodyPr>
          <a:lstStyle/>
          <a:p>
            <a:pPr algn="just"/>
            <a:r>
              <a:rPr lang="en-US" sz="2800" dirty="0" smtClean="0"/>
              <a:t>TPS is A </a:t>
            </a:r>
            <a:r>
              <a:rPr lang="en-US" sz="2800" dirty="0"/>
              <a:t>computerized system that performs and records daily routine transactions necessary to </a:t>
            </a:r>
            <a:r>
              <a:rPr lang="en-US" sz="2800" dirty="0" smtClean="0"/>
              <a:t> </a:t>
            </a:r>
            <a:r>
              <a:rPr lang="en-US" sz="2800" dirty="0"/>
              <a:t>conduct </a:t>
            </a:r>
            <a:r>
              <a:rPr lang="en-US" sz="2800" dirty="0" smtClean="0"/>
              <a:t>the </a:t>
            </a:r>
            <a:r>
              <a:rPr lang="en-US" sz="2800" dirty="0"/>
              <a:t>business. </a:t>
            </a:r>
            <a:endParaRPr lang="en-US" sz="2800" dirty="0" smtClean="0"/>
          </a:p>
          <a:p>
            <a:pPr algn="just"/>
            <a:r>
              <a:rPr lang="en-US" sz="2800" dirty="0" smtClean="0"/>
              <a:t>TPS is a type of Information system that </a:t>
            </a:r>
            <a:r>
              <a:rPr lang="en-US" sz="2800" dirty="0"/>
              <a:t>collect, store, modify and retrieve the transactions of </a:t>
            </a:r>
            <a:r>
              <a:rPr lang="en-US" sz="2800" dirty="0" smtClean="0"/>
              <a:t>an organization.</a:t>
            </a:r>
          </a:p>
          <a:p>
            <a:pPr algn="just"/>
            <a:r>
              <a:rPr lang="en-US" sz="2800" dirty="0" smtClean="0"/>
              <a:t> </a:t>
            </a:r>
            <a:r>
              <a:rPr lang="en-US" sz="2800" dirty="0"/>
              <a:t>A Transaction is an event that generates </a:t>
            </a:r>
            <a:r>
              <a:rPr lang="en-US" sz="2800" dirty="0" smtClean="0"/>
              <a:t>or modifies </a:t>
            </a:r>
            <a:r>
              <a:rPr lang="en-US" sz="2800" dirty="0"/>
              <a:t>data that is eventually </a:t>
            </a:r>
            <a:r>
              <a:rPr lang="en-US" sz="2800" dirty="0" smtClean="0"/>
              <a:t>stored in </a:t>
            </a:r>
            <a:r>
              <a:rPr lang="en-US" sz="2800" dirty="0"/>
              <a:t>an information </a:t>
            </a:r>
            <a:r>
              <a:rPr lang="en-US" sz="2800" dirty="0" smtClean="0"/>
              <a:t>system</a:t>
            </a:r>
          </a:p>
          <a:p>
            <a:pPr algn="just"/>
            <a:r>
              <a:rPr lang="en-US" sz="2800" dirty="0" smtClean="0"/>
              <a:t>Usually </a:t>
            </a:r>
            <a:r>
              <a:rPr lang="en-US" sz="2800" dirty="0"/>
              <a:t>operated directly by shop </a:t>
            </a:r>
            <a:r>
              <a:rPr lang="en-US" sz="2800" dirty="0" smtClean="0"/>
              <a:t>workers </a:t>
            </a:r>
            <a:r>
              <a:rPr lang="en-US" sz="2800" dirty="0"/>
              <a:t>or front line staff, which provide the key data required to support the management of operations. This data is usually obtained through the automated or semi-automated tracking of low-level activities and basic transactions</a:t>
            </a:r>
            <a:r>
              <a:rPr lang="en-US" sz="2800" dirty="0" smtClean="0"/>
              <a:t>.</a:t>
            </a:r>
            <a:endParaRPr lang="en-US" sz="2800" dirty="0"/>
          </a:p>
        </p:txBody>
      </p:sp>
    </p:spTree>
    <p:extLst>
      <p:ext uri="{BB962C8B-B14F-4D97-AF65-F5344CB8AC3E}">
        <p14:creationId xmlns:p14="http://schemas.microsoft.com/office/powerpoint/2010/main" val="2764145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9826" y="536598"/>
            <a:ext cx="7543800" cy="480359"/>
          </a:xfrm>
        </p:spPr>
        <p:txBody>
          <a:bodyPr>
            <a:noAutofit/>
          </a:bodyPr>
          <a:lstStyle/>
          <a:p>
            <a:r>
              <a:rPr lang="en-US" sz="2400" b="1" dirty="0" smtClean="0">
                <a:solidFill>
                  <a:srgbClr val="0070C0"/>
                </a:solidFill>
              </a:rPr>
              <a:t>Examples of Transaction </a:t>
            </a:r>
            <a:r>
              <a:rPr lang="en-US" sz="2400" b="1" dirty="0">
                <a:solidFill>
                  <a:srgbClr val="0070C0"/>
                </a:solidFill>
              </a:rPr>
              <a:t>Processing Systems </a:t>
            </a:r>
            <a:endParaRPr lang="en-US" sz="2100" b="1" dirty="0">
              <a:solidFill>
                <a:srgbClr val="0070C0"/>
              </a:solidFill>
            </a:endParaRPr>
          </a:p>
        </p:txBody>
      </p:sp>
      <p:sp>
        <p:nvSpPr>
          <p:cNvPr id="3" name="Content Placeholder 2"/>
          <p:cNvSpPr>
            <a:spLocks noGrp="1"/>
          </p:cNvSpPr>
          <p:nvPr>
            <p:ph idx="1"/>
          </p:nvPr>
        </p:nvSpPr>
        <p:spPr>
          <a:xfrm>
            <a:off x="859883" y="1371768"/>
            <a:ext cx="8033595" cy="3593591"/>
          </a:xfrm>
        </p:spPr>
        <p:txBody>
          <a:bodyPr>
            <a:normAutofit/>
          </a:bodyPr>
          <a:lstStyle/>
          <a:p>
            <a:r>
              <a:rPr lang="en-US" dirty="0" smtClean="0"/>
              <a:t>Payroll </a:t>
            </a:r>
            <a:r>
              <a:rPr lang="en-US" dirty="0"/>
              <a:t>system</a:t>
            </a:r>
          </a:p>
          <a:p>
            <a:r>
              <a:rPr lang="en-US" dirty="0" smtClean="0"/>
              <a:t>Reservations </a:t>
            </a:r>
            <a:r>
              <a:rPr lang="en-US" dirty="0"/>
              <a:t>systems</a:t>
            </a:r>
          </a:p>
          <a:p>
            <a:r>
              <a:rPr lang="en-US" dirty="0" smtClean="0"/>
              <a:t>Order </a:t>
            </a:r>
            <a:r>
              <a:rPr lang="en-US" dirty="0"/>
              <a:t>processing systems</a:t>
            </a:r>
          </a:p>
          <a:p>
            <a:r>
              <a:rPr lang="en-US" dirty="0" smtClean="0"/>
              <a:t>Systems </a:t>
            </a:r>
            <a:r>
              <a:rPr lang="en-US" dirty="0"/>
              <a:t>for payments and funds transfers</a:t>
            </a:r>
          </a:p>
          <a:p>
            <a:r>
              <a:rPr lang="en-US" dirty="0" smtClean="0"/>
              <a:t>Billing </a:t>
            </a:r>
            <a:r>
              <a:rPr lang="en-US" dirty="0"/>
              <a:t>systems to send invoices to customers</a:t>
            </a:r>
          </a:p>
          <a:p>
            <a:r>
              <a:rPr lang="en-US" dirty="0" smtClean="0"/>
              <a:t>Systems </a:t>
            </a:r>
            <a:r>
              <a:rPr lang="en-US" dirty="0"/>
              <a:t>to calculate the weekly and monthly tax </a:t>
            </a:r>
            <a:r>
              <a:rPr lang="en-US" dirty="0" smtClean="0"/>
              <a:t>payments</a:t>
            </a:r>
          </a:p>
          <a:p>
            <a:endParaRPr lang="en-US" dirty="0"/>
          </a:p>
          <a:p>
            <a:pPr marL="0" indent="0">
              <a:buNone/>
            </a:pPr>
            <a:r>
              <a:rPr lang="en-US" dirty="0"/>
              <a:t>These systems help any company to conduct operations </a:t>
            </a:r>
            <a:r>
              <a:rPr lang="en-US" dirty="0" smtClean="0"/>
              <a:t>and keep </a:t>
            </a:r>
            <a:r>
              <a:rPr lang="en-US" dirty="0"/>
              <a:t>track of its activities</a:t>
            </a:r>
          </a:p>
          <a:p>
            <a:endParaRPr lang="en-US" dirty="0"/>
          </a:p>
        </p:txBody>
      </p:sp>
    </p:spTree>
    <p:extLst>
      <p:ext uri="{BB962C8B-B14F-4D97-AF65-F5344CB8AC3E}">
        <p14:creationId xmlns:p14="http://schemas.microsoft.com/office/powerpoint/2010/main" val="1212839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none" dirty="0" smtClean="0"/>
              <a:t/>
            </a:r>
            <a:br>
              <a:rPr lang="en-US" b="1" cap="none" dirty="0" smtClean="0"/>
            </a:br>
            <a:endParaRPr lang="en-US" dirty="0"/>
          </a:p>
        </p:txBody>
      </p:sp>
      <p:sp>
        <p:nvSpPr>
          <p:cNvPr id="3" name="Content Placeholder 2"/>
          <p:cNvSpPr>
            <a:spLocks noGrp="1"/>
          </p:cNvSpPr>
          <p:nvPr>
            <p:ph idx="1"/>
          </p:nvPr>
        </p:nvSpPr>
        <p:spPr>
          <a:xfrm>
            <a:off x="938758" y="382385"/>
            <a:ext cx="7633742" cy="5497209"/>
          </a:xfrm>
        </p:spPr>
        <p:txBody>
          <a:bodyPr>
            <a:normAutofit/>
          </a:bodyPr>
          <a:lstStyle/>
          <a:p>
            <a:pPr marL="0" indent="0" algn="just">
              <a:buNone/>
            </a:pPr>
            <a:r>
              <a:rPr lang="en-US" sz="2400" b="1" dirty="0">
                <a:solidFill>
                  <a:srgbClr val="0070C0"/>
                </a:solidFill>
              </a:rPr>
              <a:t>Five Stages Of Transaction Processing System </a:t>
            </a:r>
            <a:endParaRPr lang="en-US" sz="2400" b="1" dirty="0" smtClean="0">
              <a:solidFill>
                <a:srgbClr val="0070C0"/>
              </a:solidFill>
            </a:endParaRPr>
          </a:p>
          <a:p>
            <a:pPr algn="just"/>
            <a:r>
              <a:rPr lang="en-US" sz="2400" dirty="0" smtClean="0"/>
              <a:t>Data </a:t>
            </a:r>
            <a:r>
              <a:rPr lang="en-US" sz="2400" dirty="0"/>
              <a:t>Entry</a:t>
            </a:r>
          </a:p>
          <a:p>
            <a:pPr algn="just"/>
            <a:r>
              <a:rPr lang="en-US" sz="2400" dirty="0"/>
              <a:t>Processing</a:t>
            </a:r>
          </a:p>
          <a:p>
            <a:pPr algn="just"/>
            <a:r>
              <a:rPr lang="en-US" sz="2400" dirty="0"/>
              <a:t>Database Maintenance</a:t>
            </a:r>
          </a:p>
          <a:p>
            <a:pPr algn="just"/>
            <a:r>
              <a:rPr lang="en-US" sz="2400" dirty="0"/>
              <a:t>Document and Report Generation</a:t>
            </a:r>
          </a:p>
          <a:p>
            <a:pPr algn="just"/>
            <a:r>
              <a:rPr lang="en-US" sz="2400" dirty="0"/>
              <a:t>Inquiry Processing</a:t>
            </a:r>
          </a:p>
          <a:p>
            <a:pPr marL="0" indent="0">
              <a:buNone/>
            </a:pPr>
            <a:r>
              <a:rPr lang="en-US" sz="2400" b="1" dirty="0"/>
              <a:t>Functions of a TPS</a:t>
            </a:r>
            <a:endParaRPr lang="en-US" sz="2400" dirty="0"/>
          </a:p>
        </p:txBody>
      </p:sp>
      <p:pic>
        <p:nvPicPr>
          <p:cNvPr id="4" name="Content Placeholder 3"/>
          <p:cNvPicPr>
            <a:picLocks noChangeAspect="1"/>
          </p:cNvPicPr>
          <p:nvPr/>
        </p:nvPicPr>
        <p:blipFill>
          <a:blip r:embed="rId2"/>
          <a:stretch>
            <a:fillRect/>
          </a:stretch>
        </p:blipFill>
        <p:spPr>
          <a:xfrm>
            <a:off x="840898" y="3419724"/>
            <a:ext cx="7829461" cy="2459870"/>
          </a:xfrm>
          <a:prstGeom prst="rect">
            <a:avLst/>
          </a:prstGeom>
        </p:spPr>
      </p:pic>
    </p:spTree>
    <p:extLst>
      <p:ext uri="{BB962C8B-B14F-4D97-AF65-F5344CB8AC3E}">
        <p14:creationId xmlns:p14="http://schemas.microsoft.com/office/powerpoint/2010/main" val="32422828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2454" y="691538"/>
            <a:ext cx="8222946" cy="6166462"/>
          </a:xfrm>
        </p:spPr>
        <p:txBody>
          <a:bodyPr>
            <a:noAutofit/>
          </a:bodyPr>
          <a:lstStyle/>
          <a:p>
            <a:pPr marL="0" indent="0" algn="just">
              <a:spcBef>
                <a:spcPts val="0"/>
              </a:spcBef>
              <a:buNone/>
            </a:pPr>
            <a:r>
              <a:rPr lang="en-US" sz="2300" b="1" dirty="0" err="1" smtClean="0"/>
              <a:t>i</a:t>
            </a:r>
            <a:r>
              <a:rPr lang="en-US" sz="2300" b="1" dirty="0" smtClean="0"/>
              <a:t>)Batch </a:t>
            </a:r>
            <a:r>
              <a:rPr lang="en-US" sz="2300" b="1" dirty="0"/>
              <a:t>Processing</a:t>
            </a:r>
          </a:p>
          <a:p>
            <a:pPr algn="just">
              <a:spcBef>
                <a:spcPts val="0"/>
              </a:spcBef>
            </a:pPr>
            <a:r>
              <a:rPr lang="en-US" sz="2300" dirty="0"/>
              <a:t>Batch processing requires separate programs for input, process and </a:t>
            </a:r>
            <a:r>
              <a:rPr lang="en-US" sz="2300" dirty="0" smtClean="0"/>
              <a:t>output. Batch </a:t>
            </a:r>
            <a:r>
              <a:rPr lang="en-US" sz="2300" dirty="0"/>
              <a:t>processing is a resource-saving transaction type that stores data for processing at pre-defined times.  It is useful for enterprises that need to process large amounts of data using limited </a:t>
            </a:r>
            <a:r>
              <a:rPr lang="en-US" sz="2300" dirty="0" smtClean="0"/>
              <a:t>resources</a:t>
            </a:r>
          </a:p>
          <a:p>
            <a:pPr marL="0" indent="0" algn="just">
              <a:spcBef>
                <a:spcPts val="0"/>
              </a:spcBef>
              <a:buNone/>
            </a:pPr>
            <a:r>
              <a:rPr lang="en-US" sz="2300" b="1" dirty="0" smtClean="0"/>
              <a:t>Example</a:t>
            </a:r>
            <a:endParaRPr lang="en-US" sz="2300" b="1" dirty="0"/>
          </a:p>
          <a:p>
            <a:pPr algn="just">
              <a:spcBef>
                <a:spcPts val="0"/>
              </a:spcBef>
            </a:pPr>
            <a:r>
              <a:rPr lang="en-US" sz="2300" dirty="0"/>
              <a:t>Credit card’s monthly statement for the customer.</a:t>
            </a:r>
          </a:p>
          <a:p>
            <a:pPr algn="just">
              <a:spcBef>
                <a:spcPts val="0"/>
              </a:spcBef>
            </a:pPr>
            <a:r>
              <a:rPr lang="en-US" sz="2300" dirty="0"/>
              <a:t>Library books overdue reminders, Journals missing issues reminders.</a:t>
            </a:r>
          </a:p>
          <a:p>
            <a:pPr algn="just">
              <a:spcBef>
                <a:spcPts val="0"/>
              </a:spcBef>
            </a:pPr>
            <a:r>
              <a:rPr lang="en-US" sz="2300" dirty="0"/>
              <a:t>NEFT transfer (National Electronic Funds Transfer).</a:t>
            </a:r>
          </a:p>
          <a:p>
            <a:pPr marL="0" indent="0" algn="just">
              <a:spcBef>
                <a:spcPts val="0"/>
              </a:spcBef>
              <a:buNone/>
            </a:pPr>
            <a:r>
              <a:rPr lang="en-US" sz="2300" b="1" dirty="0"/>
              <a:t>ii) </a:t>
            </a:r>
            <a:r>
              <a:rPr lang="en-US" sz="2300" b="1" dirty="0" smtClean="0"/>
              <a:t>Real-Time </a:t>
            </a:r>
            <a:r>
              <a:rPr lang="en-US" sz="2300" b="1" dirty="0"/>
              <a:t>Processing</a:t>
            </a:r>
          </a:p>
          <a:p>
            <a:pPr algn="just">
              <a:spcBef>
                <a:spcPts val="0"/>
              </a:spcBef>
            </a:pPr>
            <a:r>
              <a:rPr lang="en-US" sz="2300" dirty="0"/>
              <a:t>Involves a </a:t>
            </a:r>
            <a:r>
              <a:rPr lang="en-US" sz="2300" dirty="0" smtClean="0"/>
              <a:t>constant </a:t>
            </a:r>
            <a:r>
              <a:rPr lang="en-US" sz="2300" dirty="0"/>
              <a:t>input, process and output of data.</a:t>
            </a:r>
          </a:p>
          <a:p>
            <a:pPr algn="just">
              <a:spcBef>
                <a:spcPts val="0"/>
              </a:spcBef>
            </a:pPr>
            <a:r>
              <a:rPr lang="en-US" sz="2300" dirty="0"/>
              <a:t>Data must be processed in a small time period (or near real time).</a:t>
            </a:r>
          </a:p>
          <a:p>
            <a:pPr algn="just">
              <a:spcBef>
                <a:spcPts val="0"/>
              </a:spcBef>
            </a:pPr>
            <a:r>
              <a:rPr lang="en-US" sz="2300" b="1" dirty="0"/>
              <a:t>Example</a:t>
            </a:r>
          </a:p>
          <a:p>
            <a:pPr algn="just">
              <a:spcBef>
                <a:spcPts val="0"/>
              </a:spcBef>
            </a:pPr>
            <a:r>
              <a:rPr lang="en-US" sz="2300" dirty="0"/>
              <a:t>A bank customer withdraws a sum of money from his or her account. The account balance updated as soon as possible.</a:t>
            </a:r>
          </a:p>
          <a:p>
            <a:pPr algn="just">
              <a:spcBef>
                <a:spcPts val="0"/>
              </a:spcBef>
            </a:pPr>
            <a:r>
              <a:rPr lang="en-US" sz="2300" dirty="0"/>
              <a:t>Airline ticket booking.</a:t>
            </a:r>
          </a:p>
          <a:p>
            <a:pPr algn="just">
              <a:spcBef>
                <a:spcPts val="0"/>
              </a:spcBef>
            </a:pPr>
            <a:r>
              <a:rPr lang="en-US" sz="2300" dirty="0"/>
              <a:t>IMPS (Immediate Payment Service)</a:t>
            </a:r>
          </a:p>
        </p:txBody>
      </p:sp>
      <p:sp>
        <p:nvSpPr>
          <p:cNvPr id="2" name="TextBox 1"/>
          <p:cNvSpPr txBox="1"/>
          <p:nvPr/>
        </p:nvSpPr>
        <p:spPr>
          <a:xfrm>
            <a:off x="1133605" y="168318"/>
            <a:ext cx="7121768" cy="584775"/>
          </a:xfrm>
          <a:prstGeom prst="rect">
            <a:avLst/>
          </a:prstGeom>
          <a:noFill/>
        </p:spPr>
        <p:txBody>
          <a:bodyPr wrap="square" rtlCol="0">
            <a:spAutoFit/>
          </a:bodyPr>
          <a:lstStyle/>
          <a:p>
            <a:r>
              <a:rPr lang="en-US" sz="3200" b="1" dirty="0">
                <a:solidFill>
                  <a:srgbClr val="0070C0"/>
                </a:solidFill>
              </a:rPr>
              <a:t>Types of Transaction Processing systems</a:t>
            </a:r>
          </a:p>
        </p:txBody>
      </p:sp>
    </p:spTree>
    <p:extLst>
      <p:ext uri="{BB962C8B-B14F-4D97-AF65-F5344CB8AC3E}">
        <p14:creationId xmlns:p14="http://schemas.microsoft.com/office/powerpoint/2010/main" val="10459015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386" y="212943"/>
            <a:ext cx="7543800" cy="904224"/>
          </a:xfrm>
        </p:spPr>
        <p:txBody>
          <a:bodyPr>
            <a:noAutofit/>
          </a:bodyPr>
          <a:lstStyle/>
          <a:p>
            <a:pPr algn="ctr"/>
            <a:r>
              <a:rPr lang="en-US" sz="3200" b="1" cap="none" dirty="0" smtClean="0">
                <a:solidFill>
                  <a:srgbClr val="0070C0"/>
                </a:solidFill>
                <a:latin typeface="+mn-lt"/>
              </a:rPr>
              <a:t>Features/Characteristics Of Transaction Processing Systems</a:t>
            </a:r>
            <a:endParaRPr lang="en-US" sz="3200" b="1" cap="none" dirty="0">
              <a:solidFill>
                <a:srgbClr val="0070C0"/>
              </a:solidFill>
              <a:latin typeface="+mn-lt"/>
            </a:endParaRPr>
          </a:p>
        </p:txBody>
      </p:sp>
      <p:sp>
        <p:nvSpPr>
          <p:cNvPr id="3" name="Content Placeholder 2"/>
          <p:cNvSpPr>
            <a:spLocks noGrp="1"/>
          </p:cNvSpPr>
          <p:nvPr>
            <p:ph idx="1"/>
          </p:nvPr>
        </p:nvSpPr>
        <p:spPr>
          <a:xfrm>
            <a:off x="695325" y="1117165"/>
            <a:ext cx="8285837" cy="5578910"/>
          </a:xfrm>
        </p:spPr>
        <p:txBody>
          <a:bodyPr>
            <a:noAutofit/>
          </a:bodyPr>
          <a:lstStyle/>
          <a:p>
            <a:pPr marL="0" indent="0" algn="just">
              <a:spcBef>
                <a:spcPts val="0"/>
              </a:spcBef>
              <a:buNone/>
            </a:pPr>
            <a:r>
              <a:rPr lang="en-US" b="1" dirty="0"/>
              <a:t>Rapid Processing</a:t>
            </a:r>
          </a:p>
          <a:p>
            <a:pPr algn="just">
              <a:spcBef>
                <a:spcPts val="0"/>
              </a:spcBef>
            </a:pPr>
            <a:r>
              <a:rPr lang="en-US" dirty="0"/>
              <a:t>The rapid processing of transactions is vital to the success of any enterprise.</a:t>
            </a:r>
          </a:p>
          <a:p>
            <a:pPr algn="just">
              <a:spcBef>
                <a:spcPts val="0"/>
              </a:spcBef>
            </a:pPr>
            <a:r>
              <a:rPr lang="en-US" dirty="0"/>
              <a:t>TPS systems are designed to process transactions instantly.</a:t>
            </a:r>
          </a:p>
          <a:p>
            <a:pPr marL="0" indent="0" algn="just">
              <a:spcBef>
                <a:spcPts val="0"/>
              </a:spcBef>
              <a:buNone/>
            </a:pPr>
            <a:r>
              <a:rPr lang="en-US" b="1" dirty="0"/>
              <a:t>Reliability</a:t>
            </a:r>
          </a:p>
          <a:p>
            <a:pPr algn="just">
              <a:spcBef>
                <a:spcPts val="0"/>
              </a:spcBef>
            </a:pPr>
            <a:r>
              <a:rPr lang="en-US" dirty="0"/>
              <a:t>TPS systems are designed to incorporate comprehensive measures to safeguards and disaster recovery.</a:t>
            </a:r>
          </a:p>
          <a:p>
            <a:pPr algn="just">
              <a:spcBef>
                <a:spcPts val="0"/>
              </a:spcBef>
            </a:pPr>
            <a:r>
              <a:rPr lang="en-US" dirty="0"/>
              <a:t>These measures keep the failure rate well within tolerance levels.</a:t>
            </a:r>
          </a:p>
          <a:p>
            <a:pPr marL="0" indent="0" algn="just">
              <a:spcBef>
                <a:spcPts val="0"/>
              </a:spcBef>
              <a:buNone/>
            </a:pPr>
            <a:r>
              <a:rPr lang="en-US" b="1" dirty="0"/>
              <a:t>Standardization</a:t>
            </a:r>
          </a:p>
          <a:p>
            <a:pPr algn="just">
              <a:spcBef>
                <a:spcPts val="0"/>
              </a:spcBef>
            </a:pPr>
            <a:r>
              <a:rPr lang="en-US" dirty="0"/>
              <a:t>Transactions must be processed in the same way each time to maximize efficiency.</a:t>
            </a:r>
          </a:p>
          <a:p>
            <a:pPr algn="just">
              <a:spcBef>
                <a:spcPts val="0"/>
              </a:spcBef>
            </a:pPr>
            <a:r>
              <a:rPr lang="en-US" dirty="0"/>
              <a:t>TPS interfaces are designed to acquire identical data for each transaction, regardless of the customer.</a:t>
            </a:r>
          </a:p>
          <a:p>
            <a:pPr marL="0" indent="0" algn="just">
              <a:spcBef>
                <a:spcPts val="0"/>
              </a:spcBef>
              <a:buNone/>
            </a:pPr>
            <a:r>
              <a:rPr lang="en-US" b="1" dirty="0"/>
              <a:t>Controlled Access</a:t>
            </a:r>
          </a:p>
          <a:p>
            <a:pPr algn="just">
              <a:spcBef>
                <a:spcPts val="0"/>
              </a:spcBef>
            </a:pPr>
            <a:r>
              <a:rPr lang="en-US" dirty="0"/>
              <a:t>Access must be restricted </a:t>
            </a:r>
            <a:r>
              <a:rPr lang="en-US" dirty="0" smtClean="0"/>
              <a:t>to authorized </a:t>
            </a:r>
            <a:r>
              <a:rPr lang="en-US" dirty="0"/>
              <a:t>employees to use.</a:t>
            </a:r>
          </a:p>
          <a:p>
            <a:pPr algn="just">
              <a:spcBef>
                <a:spcPts val="0"/>
              </a:spcBef>
            </a:pPr>
            <a:r>
              <a:rPr lang="en-US" dirty="0"/>
              <a:t>Employees who lack the skills and ability to control, cannot do the transaction process.</a:t>
            </a:r>
          </a:p>
        </p:txBody>
      </p:sp>
    </p:spTree>
    <p:extLst>
      <p:ext uri="{BB962C8B-B14F-4D97-AF65-F5344CB8AC3E}">
        <p14:creationId xmlns:p14="http://schemas.microsoft.com/office/powerpoint/2010/main" val="19159704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02386" y="318631"/>
            <a:ext cx="7543800" cy="735685"/>
          </a:xfrm>
        </p:spPr>
        <p:txBody>
          <a:bodyPr>
            <a:noAutofit/>
          </a:bodyPr>
          <a:lstStyle/>
          <a:p>
            <a:pPr algn="ctr"/>
            <a:r>
              <a:rPr lang="en-US" sz="2800" b="1" dirty="0">
                <a:solidFill>
                  <a:srgbClr val="00B0F0"/>
                </a:solidFill>
              </a:rPr>
              <a:t>Operations Support System </a:t>
            </a:r>
            <a:r>
              <a:rPr lang="en-US" sz="2800" dirty="0">
                <a:solidFill>
                  <a:srgbClr val="00B0F0"/>
                </a:solidFill>
              </a:rPr>
              <a:t>(OSS)</a:t>
            </a:r>
            <a:r>
              <a:rPr lang="en-US" sz="2800" b="1" cap="none" dirty="0" smtClean="0">
                <a:latin typeface="+mn-lt"/>
              </a:rPr>
              <a:t/>
            </a:r>
            <a:br>
              <a:rPr lang="en-US" sz="2800" b="1" cap="none" dirty="0" smtClean="0">
                <a:latin typeface="+mn-lt"/>
              </a:rPr>
            </a:br>
            <a:r>
              <a:rPr lang="en-US" sz="2800" b="1" cap="none" dirty="0" smtClean="0">
                <a:latin typeface="+mn-lt"/>
              </a:rPr>
              <a:t>Management Information Systems (MIS)</a:t>
            </a:r>
            <a:endParaRPr lang="en-US" sz="2800" b="1" cap="none" dirty="0">
              <a:latin typeface="+mn-lt"/>
            </a:endParaRPr>
          </a:p>
        </p:txBody>
      </p:sp>
      <p:sp>
        <p:nvSpPr>
          <p:cNvPr id="8" name="Content Placeholder 7"/>
          <p:cNvSpPr>
            <a:spLocks noGrp="1"/>
          </p:cNvSpPr>
          <p:nvPr>
            <p:ph idx="1"/>
          </p:nvPr>
        </p:nvSpPr>
        <p:spPr>
          <a:xfrm>
            <a:off x="802386" y="1255171"/>
            <a:ext cx="7893940" cy="3979052"/>
          </a:xfrm>
        </p:spPr>
        <p:txBody>
          <a:bodyPr>
            <a:noAutofit/>
          </a:bodyPr>
          <a:lstStyle/>
          <a:p>
            <a:pPr algn="just"/>
            <a:r>
              <a:rPr lang="en-US" sz="2200" dirty="0"/>
              <a:t>Management Information Systems are management-level systems that are used by middle managers to help ensure the smooth running of the organization in the short to medium term</a:t>
            </a:r>
            <a:r>
              <a:rPr lang="en-US" sz="2200" dirty="0" smtClean="0"/>
              <a:t>.</a:t>
            </a:r>
          </a:p>
          <a:p>
            <a:pPr algn="just"/>
            <a:r>
              <a:rPr lang="en-US" sz="2200" dirty="0"/>
              <a:t>A management information system is an information system used for decision-making, and for the coordination, control, analysis, and visualization of information in an organization. </a:t>
            </a:r>
          </a:p>
          <a:p>
            <a:pPr algn="just"/>
            <a:r>
              <a:rPr lang="en-US" sz="2200" dirty="0"/>
              <a:t> The highly structured information provided by these systems allows managers to evaluate an organization's performance by comparing current with previous outputs.</a:t>
            </a:r>
          </a:p>
          <a:p>
            <a:pPr algn="just"/>
            <a:r>
              <a:rPr lang="en-US" sz="2200" dirty="0"/>
              <a:t>MIS primarily serve the functions of </a:t>
            </a:r>
            <a:r>
              <a:rPr lang="en-US" sz="2200" b="1" dirty="0"/>
              <a:t>planning, controlling, and decision making </a:t>
            </a:r>
            <a:r>
              <a:rPr lang="en-US" sz="2200" dirty="0"/>
              <a:t>at the management level.</a:t>
            </a:r>
          </a:p>
        </p:txBody>
      </p:sp>
      <p:pic>
        <p:nvPicPr>
          <p:cNvPr id="4" name="Picture 3"/>
          <p:cNvPicPr>
            <a:picLocks noChangeAspect="1"/>
          </p:cNvPicPr>
          <p:nvPr/>
        </p:nvPicPr>
        <p:blipFill>
          <a:blip r:embed="rId2"/>
          <a:stretch>
            <a:fillRect/>
          </a:stretch>
        </p:blipFill>
        <p:spPr>
          <a:xfrm>
            <a:off x="1522957" y="5435079"/>
            <a:ext cx="6452795" cy="829591"/>
          </a:xfrm>
          <a:prstGeom prst="rect">
            <a:avLst/>
          </a:prstGeom>
        </p:spPr>
      </p:pic>
      <p:sp>
        <p:nvSpPr>
          <p:cNvPr id="2" name="TextBox 1"/>
          <p:cNvSpPr txBox="1"/>
          <p:nvPr/>
        </p:nvSpPr>
        <p:spPr>
          <a:xfrm>
            <a:off x="164344" y="4911058"/>
            <a:ext cx="2309421" cy="323165"/>
          </a:xfrm>
          <a:prstGeom prst="rect">
            <a:avLst/>
          </a:prstGeom>
          <a:noFill/>
        </p:spPr>
        <p:txBody>
          <a:bodyPr wrap="square" rtlCol="0">
            <a:spAutoFit/>
          </a:bodyPr>
          <a:lstStyle/>
          <a:p>
            <a:r>
              <a:rPr lang="en-US" sz="1500" dirty="0">
                <a:solidFill>
                  <a:srgbClr val="FF0000"/>
                </a:solidFill>
              </a:rPr>
              <a:t>Functions of MIS</a:t>
            </a:r>
          </a:p>
        </p:txBody>
      </p:sp>
    </p:spTree>
    <p:extLst>
      <p:ext uri="{BB962C8B-B14F-4D97-AF65-F5344CB8AC3E}">
        <p14:creationId xmlns:p14="http://schemas.microsoft.com/office/powerpoint/2010/main" val="3787079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314" y="535619"/>
            <a:ext cx="8096250" cy="6046156"/>
          </a:xfrm>
        </p:spPr>
        <p:txBody>
          <a:bodyPr>
            <a:normAutofit/>
          </a:bodyPr>
          <a:lstStyle/>
          <a:p>
            <a:pPr marL="0" indent="0" algn="just">
              <a:buNone/>
            </a:pPr>
            <a:r>
              <a:rPr lang="en-US" b="1" dirty="0" smtClean="0">
                <a:solidFill>
                  <a:srgbClr val="0070C0"/>
                </a:solidFill>
              </a:rPr>
              <a:t>Examples </a:t>
            </a:r>
            <a:r>
              <a:rPr lang="en-US" b="1" dirty="0">
                <a:solidFill>
                  <a:srgbClr val="0070C0"/>
                </a:solidFill>
              </a:rPr>
              <a:t>of MIS</a:t>
            </a:r>
          </a:p>
          <a:p>
            <a:pPr algn="just"/>
            <a:r>
              <a:rPr lang="en-US" dirty="0" smtClean="0"/>
              <a:t> </a:t>
            </a:r>
            <a:r>
              <a:rPr lang="en-US" dirty="0"/>
              <a:t>Sales management systems</a:t>
            </a:r>
          </a:p>
          <a:p>
            <a:pPr algn="just"/>
            <a:r>
              <a:rPr lang="en-US" dirty="0" smtClean="0"/>
              <a:t> </a:t>
            </a:r>
            <a:r>
              <a:rPr lang="en-US" dirty="0"/>
              <a:t>Inventory control systems</a:t>
            </a:r>
          </a:p>
          <a:p>
            <a:pPr algn="just"/>
            <a:r>
              <a:rPr lang="en-US" dirty="0" smtClean="0"/>
              <a:t>Budgeting </a:t>
            </a:r>
            <a:r>
              <a:rPr lang="en-US" dirty="0"/>
              <a:t>systems</a:t>
            </a:r>
          </a:p>
          <a:p>
            <a:pPr algn="just"/>
            <a:r>
              <a:rPr lang="en-US" dirty="0" smtClean="0"/>
              <a:t>Management </a:t>
            </a:r>
            <a:r>
              <a:rPr lang="en-US" dirty="0"/>
              <a:t>Reporting Systems (MRS</a:t>
            </a:r>
            <a:r>
              <a:rPr lang="en-US" dirty="0" smtClean="0"/>
              <a:t>)</a:t>
            </a:r>
          </a:p>
          <a:p>
            <a:pPr marL="0" indent="0" algn="just">
              <a:buNone/>
            </a:pPr>
            <a:endParaRPr lang="en-US" dirty="0" smtClean="0"/>
          </a:p>
          <a:p>
            <a:pPr marL="0" indent="0" algn="just">
              <a:buNone/>
            </a:pPr>
            <a:r>
              <a:rPr lang="en-US" b="1" dirty="0"/>
              <a:t>MIS REPORTS</a:t>
            </a:r>
            <a:endParaRPr lang="en-US" dirty="0" smtClean="0"/>
          </a:p>
          <a:p>
            <a:pPr marL="0" indent="0" algn="just">
              <a:buNone/>
            </a:pPr>
            <a:r>
              <a:rPr lang="en-US" dirty="0"/>
              <a:t>Several types of reports can be produced</a:t>
            </a:r>
          </a:p>
          <a:p>
            <a:pPr algn="just"/>
            <a:r>
              <a:rPr lang="en-US" b="1" dirty="0"/>
              <a:t>Summary reports </a:t>
            </a:r>
            <a:r>
              <a:rPr lang="en-US" dirty="0"/>
              <a:t>present all activity over a given time period, geographic region, or other categorization in aggregate form.</a:t>
            </a:r>
          </a:p>
          <a:p>
            <a:pPr algn="just"/>
            <a:r>
              <a:rPr lang="en-US" b="1" dirty="0"/>
              <a:t>Exception reports </a:t>
            </a:r>
            <a:r>
              <a:rPr lang="en-US" dirty="0"/>
              <a:t>only present information that is out of normal ranges.</a:t>
            </a:r>
          </a:p>
          <a:p>
            <a:pPr algn="just"/>
            <a:r>
              <a:rPr lang="en-US" b="1" dirty="0"/>
              <a:t>On-demand reports </a:t>
            </a:r>
            <a:r>
              <a:rPr lang="en-US" dirty="0"/>
              <a:t>present anticipated summaries only when a manager wants or needs to check the status of activities.</a:t>
            </a:r>
          </a:p>
          <a:p>
            <a:pPr algn="just"/>
            <a:endParaRPr lang="en-US" dirty="0"/>
          </a:p>
        </p:txBody>
      </p:sp>
      <p:sp>
        <p:nvSpPr>
          <p:cNvPr id="6" name="Content Placeholder 2"/>
          <p:cNvSpPr txBox="1">
            <a:spLocks/>
          </p:cNvSpPr>
          <p:nvPr/>
        </p:nvSpPr>
        <p:spPr>
          <a:xfrm>
            <a:off x="647314" y="3115317"/>
            <a:ext cx="7543800" cy="3038094"/>
          </a:xfrm>
          <a:prstGeom prst="rect">
            <a:avLst/>
          </a:prstGeom>
        </p:spPr>
        <p:txBody>
          <a:bodyPr vert="horz" lIns="68580" tIns="34290" rIns="68580" bIns="3429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a:buNone/>
            </a:pPr>
            <a:endParaRPr lang="en-US" sz="1500" dirty="0"/>
          </a:p>
        </p:txBody>
      </p:sp>
    </p:spTree>
    <p:extLst>
      <p:ext uri="{BB962C8B-B14F-4D97-AF65-F5344CB8AC3E}">
        <p14:creationId xmlns:p14="http://schemas.microsoft.com/office/powerpoint/2010/main" val="1980454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24" y="343684"/>
            <a:ext cx="7543800" cy="638828"/>
          </a:xfrm>
        </p:spPr>
        <p:txBody>
          <a:bodyPr>
            <a:normAutofit/>
          </a:bodyPr>
          <a:lstStyle/>
          <a:p>
            <a:r>
              <a:rPr lang="en-US" sz="2700" b="1" dirty="0">
                <a:solidFill>
                  <a:srgbClr val="0070C0"/>
                </a:solidFill>
                <a:latin typeface="+mn-lt"/>
              </a:rPr>
              <a:t>Applications of MIS</a:t>
            </a:r>
            <a:endParaRPr lang="en-US" sz="2700" dirty="0">
              <a:solidFill>
                <a:srgbClr val="0070C0"/>
              </a:solidFill>
              <a:latin typeface="+mn-lt"/>
            </a:endParaRPr>
          </a:p>
        </p:txBody>
      </p:sp>
      <p:sp>
        <p:nvSpPr>
          <p:cNvPr id="3" name="Content Placeholder 2"/>
          <p:cNvSpPr>
            <a:spLocks noGrp="1"/>
          </p:cNvSpPr>
          <p:nvPr>
            <p:ph idx="1"/>
          </p:nvPr>
        </p:nvSpPr>
        <p:spPr>
          <a:xfrm>
            <a:off x="602328" y="982511"/>
            <a:ext cx="8313071" cy="5675463"/>
          </a:xfrm>
        </p:spPr>
        <p:txBody>
          <a:bodyPr>
            <a:noAutofit/>
          </a:bodyPr>
          <a:lstStyle/>
          <a:p>
            <a:pPr marL="0" indent="0" algn="just">
              <a:buNone/>
            </a:pPr>
            <a:r>
              <a:rPr lang="en-US" sz="2800" b="1" dirty="0" smtClean="0"/>
              <a:t>Strategic </a:t>
            </a:r>
            <a:r>
              <a:rPr lang="en-US" sz="2800" b="1" dirty="0"/>
              <a:t>Support</a:t>
            </a:r>
          </a:p>
          <a:p>
            <a:pPr marL="0" indent="0" algn="just">
              <a:buNone/>
            </a:pPr>
            <a:r>
              <a:rPr lang="en-US" sz="2800" dirty="0"/>
              <a:t> Computers cannot create business strategies by themselves but assist management and help in taking effective decision-making.</a:t>
            </a:r>
          </a:p>
          <a:p>
            <a:pPr marL="0" indent="0" algn="just">
              <a:buNone/>
            </a:pPr>
            <a:r>
              <a:rPr lang="en-US" sz="2800" dirty="0"/>
              <a:t>MIS systems can be used to transform data into information that is useful for decision making.</a:t>
            </a:r>
          </a:p>
          <a:p>
            <a:pPr marL="0" indent="0" algn="just">
              <a:buNone/>
            </a:pPr>
            <a:r>
              <a:rPr lang="en-US" sz="2800" b="1" dirty="0"/>
              <a:t>Data Processing</a:t>
            </a:r>
          </a:p>
          <a:p>
            <a:pPr marL="0" indent="0" algn="just">
              <a:buNone/>
            </a:pPr>
            <a:r>
              <a:rPr lang="en-US" sz="2800" dirty="0"/>
              <a:t>MIS systems provide a valuable time saving benefit to the workforce.</a:t>
            </a:r>
          </a:p>
          <a:p>
            <a:pPr marL="0" indent="0" algn="just">
              <a:buNone/>
            </a:pPr>
            <a:r>
              <a:rPr lang="en-US" sz="2800" dirty="0"/>
              <a:t>They allow for faster decision making and quicker </a:t>
            </a:r>
            <a:r>
              <a:rPr lang="en-US" sz="2800" dirty="0" smtClean="0"/>
              <a:t>reactions </a:t>
            </a:r>
            <a:r>
              <a:rPr lang="en-US" sz="2800" dirty="0"/>
              <a:t>for the enterprise as a whole</a:t>
            </a:r>
            <a:r>
              <a:rPr lang="en-US" sz="2800" dirty="0" smtClean="0"/>
              <a:t>.</a:t>
            </a:r>
            <a:endParaRPr lang="en-US" sz="2800" dirty="0"/>
          </a:p>
        </p:txBody>
      </p:sp>
    </p:spTree>
    <p:extLst>
      <p:ext uri="{BB962C8B-B14F-4D97-AF65-F5344CB8AC3E}">
        <p14:creationId xmlns:p14="http://schemas.microsoft.com/office/powerpoint/2010/main" val="908905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4186"/>
            <a:ext cx="7886700" cy="1134757"/>
          </a:xfrm>
        </p:spPr>
        <p:txBody>
          <a:bodyPr>
            <a:normAutofit fontScale="90000"/>
          </a:bodyPr>
          <a:lstStyle/>
          <a:p>
            <a:pPr algn="ctr"/>
            <a:r>
              <a:rPr lang="en-US" sz="3600" b="1" dirty="0" smtClean="0">
                <a:solidFill>
                  <a:srgbClr val="00B0F0"/>
                </a:solidFill>
              </a:rPr>
              <a:t/>
            </a:r>
            <a:br>
              <a:rPr lang="en-US" sz="3600" b="1" dirty="0" smtClean="0">
                <a:solidFill>
                  <a:srgbClr val="00B0F0"/>
                </a:solidFill>
              </a:rPr>
            </a:br>
            <a:r>
              <a:rPr lang="en-US" sz="3600" b="1" dirty="0" smtClean="0">
                <a:solidFill>
                  <a:srgbClr val="00B0F0"/>
                </a:solidFill>
              </a:rPr>
              <a:t>Operations </a:t>
            </a:r>
            <a:r>
              <a:rPr lang="en-US" sz="3600" b="1" dirty="0">
                <a:solidFill>
                  <a:srgbClr val="00B0F0"/>
                </a:solidFill>
              </a:rPr>
              <a:t>Support System </a:t>
            </a:r>
            <a:r>
              <a:rPr lang="en-US" sz="3600" dirty="0">
                <a:solidFill>
                  <a:srgbClr val="00B0F0"/>
                </a:solidFill>
              </a:rPr>
              <a:t>(OSS)</a:t>
            </a:r>
            <a:r>
              <a:rPr lang="en-US" b="1" dirty="0" smtClean="0"/>
              <a:t/>
            </a:r>
            <a:br>
              <a:rPr lang="en-US" b="1" dirty="0" smtClean="0"/>
            </a:br>
            <a:r>
              <a:rPr lang="en-US" b="1" dirty="0" smtClean="0"/>
              <a:t>ERP </a:t>
            </a:r>
            <a:r>
              <a:rPr lang="en-US" b="1" dirty="0"/>
              <a:t>: Enterprise Resource Planning</a:t>
            </a:r>
            <a:r>
              <a:rPr lang="en-US" dirty="0"/>
              <a:t/>
            </a:r>
            <a:br>
              <a:rPr lang="en-US" dirty="0"/>
            </a:br>
            <a:endParaRPr lang="en-US" dirty="0"/>
          </a:p>
        </p:txBody>
      </p:sp>
      <p:sp>
        <p:nvSpPr>
          <p:cNvPr id="3" name="Content Placeholder 2"/>
          <p:cNvSpPr>
            <a:spLocks noGrp="1"/>
          </p:cNvSpPr>
          <p:nvPr>
            <p:ph idx="1"/>
          </p:nvPr>
        </p:nvSpPr>
        <p:spPr>
          <a:xfrm>
            <a:off x="391887" y="1419225"/>
            <a:ext cx="8533038" cy="5048249"/>
          </a:xfrm>
        </p:spPr>
        <p:txBody>
          <a:bodyPr>
            <a:noAutofit/>
          </a:bodyPr>
          <a:lstStyle/>
          <a:p>
            <a:pPr marL="0" indent="0" algn="just">
              <a:spcBef>
                <a:spcPts val="0"/>
              </a:spcBef>
              <a:buNone/>
            </a:pPr>
            <a:r>
              <a:rPr lang="en-US" sz="2800" dirty="0" smtClean="0"/>
              <a:t>"</a:t>
            </a:r>
            <a:r>
              <a:rPr lang="en-US" sz="2800" dirty="0"/>
              <a:t>An ERP is a fully integrated business management system that </a:t>
            </a:r>
            <a:r>
              <a:rPr lang="en-US" sz="2800" dirty="0" smtClean="0"/>
              <a:t>integrates the </a:t>
            </a:r>
            <a:r>
              <a:rPr lang="en-US" sz="2800" dirty="0"/>
              <a:t>core business and management processes to provide an organization </a:t>
            </a:r>
            <a:r>
              <a:rPr lang="en-US" sz="2800" dirty="0" smtClean="0"/>
              <a:t>a structured </a:t>
            </a:r>
            <a:r>
              <a:rPr lang="en-US" sz="2800" dirty="0"/>
              <a:t>environment in which decisions are supported by accurate </a:t>
            </a:r>
            <a:r>
              <a:rPr lang="en-US" sz="2800" dirty="0" smtClean="0"/>
              <a:t>and reliable </a:t>
            </a:r>
            <a:r>
              <a:rPr lang="en-US" sz="2800" dirty="0"/>
              <a:t>real-time information</a:t>
            </a:r>
            <a:r>
              <a:rPr lang="en-US" sz="2800" dirty="0" smtClean="0"/>
              <a:t>.“</a:t>
            </a:r>
          </a:p>
          <a:p>
            <a:pPr marL="0" indent="0">
              <a:spcBef>
                <a:spcPts val="0"/>
              </a:spcBef>
              <a:buNone/>
            </a:pPr>
            <a:endParaRPr lang="en-US" sz="2800" dirty="0" smtClean="0"/>
          </a:p>
          <a:p>
            <a:pPr marL="0" indent="0">
              <a:spcBef>
                <a:spcPts val="0"/>
              </a:spcBef>
              <a:buNone/>
            </a:pPr>
            <a:r>
              <a:rPr lang="en-US" sz="2800" dirty="0" smtClean="0">
                <a:solidFill>
                  <a:srgbClr val="0070C0"/>
                </a:solidFill>
              </a:rPr>
              <a:t>Objectives</a:t>
            </a:r>
            <a:endParaRPr lang="en-US" sz="2800" dirty="0">
              <a:solidFill>
                <a:srgbClr val="0070C0"/>
              </a:solidFill>
            </a:endParaRPr>
          </a:p>
          <a:p>
            <a:pPr>
              <a:spcBef>
                <a:spcPts val="0"/>
              </a:spcBef>
            </a:pPr>
            <a:r>
              <a:rPr lang="en-US" sz="2800" dirty="0" smtClean="0"/>
              <a:t>Provide </a:t>
            </a:r>
            <a:r>
              <a:rPr lang="en-US" sz="2800" dirty="0"/>
              <a:t>support for adopting best business practices</a:t>
            </a:r>
          </a:p>
          <a:p>
            <a:pPr>
              <a:spcBef>
                <a:spcPts val="0"/>
              </a:spcBef>
            </a:pPr>
            <a:r>
              <a:rPr lang="en-US" sz="2800" dirty="0" smtClean="0"/>
              <a:t>Implement </a:t>
            </a:r>
            <a:r>
              <a:rPr lang="en-US" sz="2800" dirty="0"/>
              <a:t>these practices with the view towards enhancing productivity </a:t>
            </a:r>
          </a:p>
          <a:p>
            <a:pPr>
              <a:spcBef>
                <a:spcPts val="0"/>
              </a:spcBef>
            </a:pPr>
            <a:r>
              <a:rPr lang="en-US" sz="2800" dirty="0" smtClean="0"/>
              <a:t>Empower </a:t>
            </a:r>
            <a:r>
              <a:rPr lang="en-US" sz="2800" dirty="0"/>
              <a:t>the customers and suppliers to modify the </a:t>
            </a:r>
            <a:r>
              <a:rPr lang="en-US" sz="2800" dirty="0" smtClean="0"/>
              <a:t>implemented business </a:t>
            </a:r>
            <a:r>
              <a:rPr lang="en-US" sz="2800" dirty="0"/>
              <a:t>processes to suit their need.</a:t>
            </a:r>
          </a:p>
        </p:txBody>
      </p:sp>
    </p:spTree>
    <p:extLst>
      <p:ext uri="{BB962C8B-B14F-4D97-AF65-F5344CB8AC3E}">
        <p14:creationId xmlns:p14="http://schemas.microsoft.com/office/powerpoint/2010/main" val="3743931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161926"/>
            <a:ext cx="7633742" cy="552450"/>
          </a:xfrm>
        </p:spPr>
        <p:txBody>
          <a:bodyPr>
            <a:noAutofit/>
          </a:bodyPr>
          <a:lstStyle/>
          <a:p>
            <a:r>
              <a:rPr lang="en-US" sz="3600" b="1" dirty="0" smtClean="0"/>
              <a:t/>
            </a:r>
            <a:br>
              <a:rPr lang="en-US" sz="3600" b="1" dirty="0" smtClean="0"/>
            </a:br>
            <a:r>
              <a:rPr lang="en-US" sz="3600" b="1" dirty="0" smtClean="0">
                <a:solidFill>
                  <a:srgbClr val="0070C0"/>
                </a:solidFill>
              </a:rPr>
              <a:t>ERP </a:t>
            </a:r>
            <a:r>
              <a:rPr lang="en-US" sz="3600" b="1" cap="none" dirty="0" smtClean="0">
                <a:solidFill>
                  <a:srgbClr val="0070C0"/>
                </a:solidFill>
              </a:rPr>
              <a:t>Supported Business Processes</a:t>
            </a:r>
            <a:r>
              <a:rPr lang="en-US" sz="3600" b="1" dirty="0"/>
              <a:t/>
            </a:r>
            <a:br>
              <a:rPr lang="en-US" sz="3600" b="1" dirty="0"/>
            </a:br>
            <a:endParaRPr lang="en-US" sz="3600" b="1" dirty="0"/>
          </a:p>
        </p:txBody>
      </p:sp>
      <p:sp>
        <p:nvSpPr>
          <p:cNvPr id="3" name="Content Placeholder 2"/>
          <p:cNvSpPr>
            <a:spLocks noGrp="1"/>
          </p:cNvSpPr>
          <p:nvPr>
            <p:ph idx="1"/>
          </p:nvPr>
        </p:nvSpPr>
        <p:spPr>
          <a:xfrm>
            <a:off x="390525" y="781051"/>
            <a:ext cx="8452851" cy="5991224"/>
          </a:xfrm>
        </p:spPr>
        <p:txBody>
          <a:bodyPr>
            <a:noAutofit/>
          </a:bodyPr>
          <a:lstStyle/>
          <a:p>
            <a:pPr algn="just"/>
            <a:r>
              <a:rPr lang="en-US" sz="2800" b="1" dirty="0" smtClean="0"/>
              <a:t>Business </a:t>
            </a:r>
            <a:r>
              <a:rPr lang="en-US" sz="2800" b="1" dirty="0"/>
              <a:t>system</a:t>
            </a:r>
            <a:r>
              <a:rPr lang="en-US" sz="2800" dirty="0"/>
              <a:t>: Business planning and forecasting, Strategy </a:t>
            </a:r>
            <a:r>
              <a:rPr lang="en-US" sz="2800" dirty="0" smtClean="0"/>
              <a:t>formulation, Resources </a:t>
            </a:r>
            <a:r>
              <a:rPr lang="en-US" sz="2800" dirty="0"/>
              <a:t>allocation, Monitoring &amp; controlling company </a:t>
            </a:r>
            <a:r>
              <a:rPr lang="en-US" sz="2800" dirty="0" smtClean="0"/>
              <a:t>performance etc</a:t>
            </a:r>
            <a:r>
              <a:rPr lang="en-US" sz="2800" dirty="0"/>
              <a:t>. are some of the activities of this process which are supported by ERP</a:t>
            </a:r>
            <a:r>
              <a:rPr lang="en-US" sz="2800" dirty="0" smtClean="0"/>
              <a:t>.</a:t>
            </a:r>
          </a:p>
          <a:p>
            <a:pPr algn="just"/>
            <a:r>
              <a:rPr lang="en-US" sz="2800" b="1" dirty="0" smtClean="0"/>
              <a:t>Production</a:t>
            </a:r>
            <a:r>
              <a:rPr lang="en-US" sz="2800" dirty="0"/>
              <a:t>: Production planning and control, Production </a:t>
            </a:r>
            <a:r>
              <a:rPr lang="en-US" sz="2800" dirty="0" smtClean="0"/>
              <a:t>scheduling, Inventory management, are also some of the </a:t>
            </a:r>
            <a:r>
              <a:rPr lang="en-US" sz="2800" dirty="0"/>
              <a:t>activities  </a:t>
            </a:r>
            <a:r>
              <a:rPr lang="en-US" sz="2800" dirty="0" smtClean="0"/>
              <a:t>which </a:t>
            </a:r>
            <a:r>
              <a:rPr lang="en-US" sz="2800" dirty="0"/>
              <a:t>are supported by ERP.</a:t>
            </a:r>
          </a:p>
          <a:p>
            <a:pPr algn="just"/>
            <a:r>
              <a:rPr lang="en-US" sz="2800" b="1" dirty="0" smtClean="0"/>
              <a:t>Maintenance</a:t>
            </a:r>
            <a:r>
              <a:rPr lang="en-US" sz="2800" dirty="0"/>
              <a:t>: Plant </a:t>
            </a:r>
            <a:r>
              <a:rPr lang="en-US" sz="2800" dirty="0" smtClean="0"/>
              <a:t>maintenance-Breakdown &amp; Preventive measures; Maintenance management-initiation</a:t>
            </a:r>
            <a:r>
              <a:rPr lang="en-US" sz="2800" dirty="0"/>
              <a:t>, execution, control, and costing; </a:t>
            </a:r>
            <a:r>
              <a:rPr lang="en-US" sz="2800" dirty="0" smtClean="0"/>
              <a:t>Monitoring the performance </a:t>
            </a:r>
            <a:r>
              <a:rPr lang="en-US" sz="2800" dirty="0"/>
              <a:t>of maintenance program and MIS are </a:t>
            </a:r>
            <a:r>
              <a:rPr lang="en-US" sz="2800" dirty="0" smtClean="0"/>
              <a:t>the activities supported </a:t>
            </a:r>
            <a:r>
              <a:rPr lang="en-US" sz="2800" dirty="0"/>
              <a:t>by ERP</a:t>
            </a:r>
            <a:r>
              <a:rPr lang="en-US" sz="2800" dirty="0" smtClean="0"/>
              <a:t>.</a:t>
            </a:r>
            <a:endParaRPr lang="en-US" sz="2800" dirty="0"/>
          </a:p>
        </p:txBody>
      </p:sp>
    </p:spTree>
    <p:extLst>
      <p:ext uri="{BB962C8B-B14F-4D97-AF65-F5344CB8AC3E}">
        <p14:creationId xmlns:p14="http://schemas.microsoft.com/office/powerpoint/2010/main" val="2683009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ERP Supported Business </a:t>
            </a:r>
            <a:r>
              <a:rPr lang="en-US" sz="3200" b="1" dirty="0" smtClean="0">
                <a:solidFill>
                  <a:srgbClr val="0070C0"/>
                </a:solidFill>
              </a:rPr>
              <a:t>Processes cont’d</a:t>
            </a:r>
            <a:endParaRPr lang="en-US" b="1" dirty="0">
              <a:solidFill>
                <a:srgbClr val="0070C0"/>
              </a:solidFill>
            </a:endParaRPr>
          </a:p>
        </p:txBody>
      </p:sp>
      <p:sp>
        <p:nvSpPr>
          <p:cNvPr id="3" name="Content Placeholder 2"/>
          <p:cNvSpPr>
            <a:spLocks noGrp="1"/>
          </p:cNvSpPr>
          <p:nvPr>
            <p:ph idx="1"/>
          </p:nvPr>
        </p:nvSpPr>
        <p:spPr/>
        <p:txBody>
          <a:bodyPr>
            <a:normAutofit/>
          </a:bodyPr>
          <a:lstStyle/>
          <a:p>
            <a:pPr algn="just">
              <a:lnSpc>
                <a:spcPct val="150000"/>
              </a:lnSpc>
            </a:pPr>
            <a:r>
              <a:rPr lang="en-US" sz="2400" b="1" dirty="0"/>
              <a:t>Quality Control</a:t>
            </a:r>
            <a:r>
              <a:rPr lang="en-US" sz="2400" dirty="0"/>
              <a:t>: Setting quality standards, quality assessment, analysis of </a:t>
            </a:r>
            <a:r>
              <a:rPr lang="en-US" sz="2400" dirty="0" smtClean="0"/>
              <a:t>quality, and building </a:t>
            </a:r>
            <a:r>
              <a:rPr lang="en-US" sz="2400" dirty="0"/>
              <a:t>quality assurance </a:t>
            </a:r>
            <a:r>
              <a:rPr lang="en-US" sz="2400" dirty="0" smtClean="0"/>
              <a:t>are </a:t>
            </a:r>
            <a:r>
              <a:rPr lang="en-US" sz="2400" dirty="0"/>
              <a:t>some of the activities which are supported by ERP</a:t>
            </a:r>
            <a:r>
              <a:rPr lang="en-US" sz="2400" dirty="0" smtClean="0"/>
              <a:t>.</a:t>
            </a:r>
          </a:p>
          <a:p>
            <a:pPr algn="just">
              <a:lnSpc>
                <a:spcPct val="150000"/>
              </a:lnSpc>
            </a:pPr>
            <a:r>
              <a:rPr lang="en-US" sz="2400" b="1" dirty="0"/>
              <a:t>Marketing: </a:t>
            </a:r>
            <a:r>
              <a:rPr lang="en-US" sz="2400" dirty="0"/>
              <a:t>Marketing analysis by </a:t>
            </a:r>
            <a:r>
              <a:rPr lang="en-US" sz="2400" dirty="0" smtClean="0"/>
              <a:t>customer;  </a:t>
            </a:r>
            <a:r>
              <a:rPr lang="en-US" sz="2400" dirty="0"/>
              <a:t>P</a:t>
            </a:r>
            <a:r>
              <a:rPr lang="en-US" sz="2400" dirty="0" smtClean="0"/>
              <a:t>roduct and Sales </a:t>
            </a:r>
            <a:r>
              <a:rPr lang="en-US" sz="2400" dirty="0"/>
              <a:t>forecasting; Sales budgeting</a:t>
            </a:r>
            <a:r>
              <a:rPr lang="en-US" sz="2400" dirty="0" smtClean="0"/>
              <a:t>; </a:t>
            </a:r>
            <a:r>
              <a:rPr lang="en-US" sz="2400" dirty="0"/>
              <a:t>Order processing and </a:t>
            </a:r>
            <a:r>
              <a:rPr lang="en-US" sz="2400" dirty="0" smtClean="0"/>
              <a:t>analysis, are also activities supported </a:t>
            </a:r>
            <a:r>
              <a:rPr lang="en-US" sz="2400" dirty="0"/>
              <a:t>by ERP.</a:t>
            </a:r>
          </a:p>
          <a:p>
            <a:pPr algn="just">
              <a:lnSpc>
                <a:spcPct val="150000"/>
              </a:lnSpc>
            </a:pPr>
            <a:endParaRPr lang="en-US" sz="2400" dirty="0"/>
          </a:p>
          <a:p>
            <a:pPr algn="just">
              <a:lnSpc>
                <a:spcPct val="150000"/>
              </a:lnSpc>
            </a:pPr>
            <a:endParaRPr lang="en-US" dirty="0"/>
          </a:p>
        </p:txBody>
      </p:sp>
    </p:spTree>
    <p:extLst>
      <p:ext uri="{BB962C8B-B14F-4D97-AF65-F5344CB8AC3E}">
        <p14:creationId xmlns:p14="http://schemas.microsoft.com/office/powerpoint/2010/main" val="2147052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0" y="225468"/>
            <a:ext cx="8315325" cy="6175331"/>
          </a:xfrm>
        </p:spPr>
        <p:txBody>
          <a:bodyPr>
            <a:normAutofit/>
          </a:bodyPr>
          <a:lstStyle/>
          <a:p>
            <a:pPr algn="just">
              <a:lnSpc>
                <a:spcPct val="150000"/>
              </a:lnSpc>
            </a:pPr>
            <a:r>
              <a:rPr lang="en-US" sz="2400" b="1" dirty="0" smtClean="0"/>
              <a:t>Finance</a:t>
            </a:r>
            <a:r>
              <a:rPr lang="en-US" sz="2400" dirty="0"/>
              <a:t>: Financial Accounting; Asset management; Cash/Debt management; Accounts payable and receivable; Tax management; Cost/Profit center accounting </a:t>
            </a:r>
            <a:r>
              <a:rPr lang="en-US" sz="2400" dirty="0" err="1"/>
              <a:t>etc</a:t>
            </a:r>
            <a:r>
              <a:rPr lang="en-US" sz="2400" dirty="0"/>
              <a:t> are </a:t>
            </a:r>
            <a:r>
              <a:rPr lang="en-US" sz="2400" dirty="0" smtClean="0"/>
              <a:t>the </a:t>
            </a:r>
            <a:r>
              <a:rPr lang="en-US" sz="2400" dirty="0"/>
              <a:t>activities </a:t>
            </a:r>
            <a:r>
              <a:rPr lang="en-US" sz="2400" dirty="0" smtClean="0"/>
              <a:t>which </a:t>
            </a:r>
            <a:r>
              <a:rPr lang="en-US" sz="2400" dirty="0"/>
              <a:t>are supported by ERP.</a:t>
            </a:r>
          </a:p>
          <a:p>
            <a:pPr algn="just">
              <a:lnSpc>
                <a:spcPct val="150000"/>
              </a:lnSpc>
            </a:pPr>
            <a:r>
              <a:rPr lang="en-US" sz="2400" b="1" dirty="0" smtClean="0"/>
              <a:t>Personnel</a:t>
            </a:r>
            <a:r>
              <a:rPr lang="en-US" sz="2400" dirty="0"/>
              <a:t>: HR planning, Recruitment and Selection; </a:t>
            </a:r>
            <a:r>
              <a:rPr lang="en-US" sz="2400" dirty="0" smtClean="0"/>
              <a:t>Training; Performance </a:t>
            </a:r>
            <a:r>
              <a:rPr lang="en-US" sz="2400" dirty="0"/>
              <a:t>appraisal; Compensation; Employee welfare </a:t>
            </a:r>
            <a:r>
              <a:rPr lang="en-US" sz="2400" dirty="0" smtClean="0"/>
              <a:t> are  </a:t>
            </a:r>
            <a:r>
              <a:rPr lang="en-US" sz="2400" dirty="0"/>
              <a:t>the activities </a:t>
            </a:r>
            <a:r>
              <a:rPr lang="en-US" sz="2400" dirty="0" smtClean="0"/>
              <a:t>supported </a:t>
            </a:r>
            <a:r>
              <a:rPr lang="en-US" sz="2400" dirty="0"/>
              <a:t>by ERP.</a:t>
            </a:r>
          </a:p>
          <a:p>
            <a:pPr algn="just">
              <a:lnSpc>
                <a:spcPct val="150000"/>
              </a:lnSpc>
            </a:pPr>
            <a:r>
              <a:rPr lang="en-US" sz="2400" b="1" dirty="0" smtClean="0"/>
              <a:t>Consolidation </a:t>
            </a:r>
            <a:r>
              <a:rPr lang="en-US" sz="2400" b="1" dirty="0"/>
              <a:t>of business operations</a:t>
            </a:r>
            <a:r>
              <a:rPr lang="en-US" sz="2400" dirty="0"/>
              <a:t>: Consolidation of </a:t>
            </a:r>
            <a:r>
              <a:rPr lang="en-US" sz="2400" dirty="0" smtClean="0"/>
              <a:t>accounts maintained </a:t>
            </a:r>
            <a:r>
              <a:rPr lang="en-US" sz="2400" dirty="0"/>
              <a:t>by units and divisions; </a:t>
            </a:r>
            <a:r>
              <a:rPr lang="en-US" sz="2400" dirty="0" smtClean="0"/>
              <a:t>and Comprehensive </a:t>
            </a:r>
            <a:r>
              <a:rPr lang="en-US" sz="2400" dirty="0"/>
              <a:t>reporting are some </a:t>
            </a:r>
            <a:r>
              <a:rPr lang="en-US" sz="2400" dirty="0" smtClean="0"/>
              <a:t>of the </a:t>
            </a:r>
            <a:r>
              <a:rPr lang="en-US" sz="2400" dirty="0"/>
              <a:t>activities supported by ERP.</a:t>
            </a:r>
          </a:p>
        </p:txBody>
      </p:sp>
    </p:spTree>
    <p:extLst>
      <p:ext uri="{BB962C8B-B14F-4D97-AF65-F5344CB8AC3E}">
        <p14:creationId xmlns:p14="http://schemas.microsoft.com/office/powerpoint/2010/main" val="2388752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23826"/>
            <a:ext cx="8258174" cy="809624"/>
          </a:xfrm>
        </p:spPr>
        <p:txBody>
          <a:bodyPr>
            <a:normAutofit fontScale="90000"/>
          </a:bodyPr>
          <a:lstStyle/>
          <a:p>
            <a:r>
              <a:rPr lang="en-US" sz="5400" cap="none" dirty="0" smtClean="0"/>
              <a:t/>
            </a:r>
            <a:br>
              <a:rPr lang="en-US" sz="5400" cap="none" dirty="0" smtClean="0"/>
            </a:br>
            <a:r>
              <a:rPr lang="en-US" sz="5400" cap="none" dirty="0" smtClean="0">
                <a:solidFill>
                  <a:srgbClr val="0070C0"/>
                </a:solidFill>
              </a:rPr>
              <a:t>Characteristics/Features Of ERP</a:t>
            </a:r>
            <a:r>
              <a:rPr lang="en-US" sz="5400" cap="none" dirty="0" smtClean="0"/>
              <a:t>:</a:t>
            </a:r>
            <a:br>
              <a:rPr lang="en-US" sz="5400" cap="none" dirty="0" smtClean="0"/>
            </a:br>
            <a:endParaRPr lang="en-US" dirty="0"/>
          </a:p>
        </p:txBody>
      </p:sp>
      <p:sp>
        <p:nvSpPr>
          <p:cNvPr id="3" name="Content Placeholder 2"/>
          <p:cNvSpPr>
            <a:spLocks noGrp="1"/>
          </p:cNvSpPr>
          <p:nvPr>
            <p:ph idx="1"/>
          </p:nvPr>
        </p:nvSpPr>
        <p:spPr>
          <a:xfrm>
            <a:off x="419101" y="1171575"/>
            <a:ext cx="8467724" cy="5534025"/>
          </a:xfrm>
        </p:spPr>
        <p:txBody>
          <a:bodyPr>
            <a:noAutofit/>
          </a:bodyPr>
          <a:lstStyle/>
          <a:p>
            <a:pPr algn="just"/>
            <a:r>
              <a:rPr lang="en-US" sz="2400" i="1" dirty="0" smtClean="0">
                <a:solidFill>
                  <a:srgbClr val="0070C0"/>
                </a:solidFill>
              </a:rPr>
              <a:t>A </a:t>
            </a:r>
            <a:r>
              <a:rPr lang="en-US" sz="2400" i="1" dirty="0">
                <a:solidFill>
                  <a:srgbClr val="0070C0"/>
                </a:solidFill>
              </a:rPr>
              <a:t>system has to posses few key characteristics to qualify for a true </a:t>
            </a:r>
            <a:r>
              <a:rPr lang="en-US" sz="2400" i="1" dirty="0" smtClean="0">
                <a:solidFill>
                  <a:srgbClr val="0070C0"/>
                </a:solidFill>
              </a:rPr>
              <a:t>ERP  system</a:t>
            </a:r>
            <a:r>
              <a:rPr lang="en-US" sz="2400" i="1" dirty="0">
                <a:solidFill>
                  <a:srgbClr val="0070C0"/>
                </a:solidFill>
              </a:rPr>
              <a:t>. These features are –</a:t>
            </a:r>
          </a:p>
          <a:p>
            <a:pPr algn="just"/>
            <a:r>
              <a:rPr lang="en-US" sz="2400" b="1" dirty="0" smtClean="0"/>
              <a:t>Flexibility</a:t>
            </a:r>
            <a:r>
              <a:rPr lang="en-US" sz="2400" dirty="0" smtClean="0"/>
              <a:t> ERP </a:t>
            </a:r>
            <a:r>
              <a:rPr lang="en-US" sz="2400" dirty="0"/>
              <a:t>should be flexible to respond to the changing needs of </a:t>
            </a:r>
            <a:r>
              <a:rPr lang="en-US" sz="2400" dirty="0" smtClean="0"/>
              <a:t>enterprises </a:t>
            </a:r>
            <a:r>
              <a:rPr lang="en-US" sz="2400" dirty="0"/>
              <a:t>technology (to </a:t>
            </a:r>
            <a:r>
              <a:rPr lang="en-US" sz="2400" dirty="0" smtClean="0"/>
              <a:t>run ERP)</a:t>
            </a:r>
            <a:endParaRPr lang="en-US" sz="2400" dirty="0"/>
          </a:p>
          <a:p>
            <a:pPr indent="341313" algn="just">
              <a:buFont typeface="Wingdings" panose="05000000000000000000" pitchFamily="2" charset="2"/>
              <a:buChar char="ü"/>
            </a:pPr>
            <a:r>
              <a:rPr lang="en-US" sz="2400" dirty="0"/>
              <a:t> </a:t>
            </a:r>
            <a:r>
              <a:rPr lang="en-US" sz="2400" dirty="0" smtClean="0"/>
              <a:t>   </a:t>
            </a:r>
            <a:r>
              <a:rPr lang="en-US" sz="2400" dirty="0"/>
              <a:t>Every </a:t>
            </a:r>
            <a:r>
              <a:rPr lang="en-US" sz="2400" dirty="0" smtClean="0"/>
              <a:t>user or operating </a:t>
            </a:r>
            <a:r>
              <a:rPr lang="en-US" sz="2400" dirty="0"/>
              <a:t>client computer, can obtain </a:t>
            </a:r>
            <a:r>
              <a:rPr lang="en-US" sz="2400" dirty="0" smtClean="0"/>
              <a:t>any information </a:t>
            </a:r>
            <a:r>
              <a:rPr lang="en-US" sz="2400" dirty="0"/>
              <a:t>according to their individual requirement.</a:t>
            </a:r>
          </a:p>
          <a:p>
            <a:pPr algn="just"/>
            <a:r>
              <a:rPr lang="en-US" sz="2400" b="1" dirty="0" smtClean="0"/>
              <a:t>Integrated </a:t>
            </a:r>
            <a:r>
              <a:rPr lang="en-US" sz="2400" b="1" dirty="0"/>
              <a:t>&amp; Open</a:t>
            </a:r>
          </a:p>
          <a:p>
            <a:pPr algn="just"/>
            <a:r>
              <a:rPr lang="en-US" sz="2400" dirty="0"/>
              <a:t>ERP must be based on Open System Architecture that allow any </a:t>
            </a:r>
            <a:r>
              <a:rPr lang="en-US" sz="2400" dirty="0" smtClean="0"/>
              <a:t>module to </a:t>
            </a:r>
            <a:r>
              <a:rPr lang="en-US" sz="2400" dirty="0"/>
              <a:t>attach and </a:t>
            </a:r>
            <a:r>
              <a:rPr lang="en-US" sz="2400" dirty="0" smtClean="0"/>
              <a:t>detach </a:t>
            </a:r>
            <a:r>
              <a:rPr lang="en-US" sz="2400" dirty="0"/>
              <a:t>whenever required without affecting other </a:t>
            </a:r>
            <a:r>
              <a:rPr lang="en-US" sz="2400" dirty="0" smtClean="0"/>
              <a:t>module. ERP </a:t>
            </a:r>
            <a:r>
              <a:rPr lang="en-US" sz="2400" dirty="0"/>
              <a:t>must support multiple hardware platforms and third party add-Ins</a:t>
            </a:r>
            <a:r>
              <a:rPr lang="en-US" sz="2400" dirty="0" smtClean="0"/>
              <a:t>.</a:t>
            </a:r>
            <a:endParaRPr lang="en-US" sz="2400" dirty="0"/>
          </a:p>
        </p:txBody>
      </p:sp>
    </p:spTree>
    <p:extLst>
      <p:ext uri="{BB962C8B-B14F-4D97-AF65-F5344CB8AC3E}">
        <p14:creationId xmlns:p14="http://schemas.microsoft.com/office/powerpoint/2010/main" val="1947905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8758" y="789140"/>
            <a:ext cx="7633742" cy="5090453"/>
          </a:xfrm>
        </p:spPr>
        <p:txBody>
          <a:bodyPr>
            <a:normAutofit/>
          </a:bodyPr>
          <a:lstStyle/>
          <a:p>
            <a:pPr algn="just"/>
            <a:r>
              <a:rPr lang="en-US" sz="2800" b="1" dirty="0" smtClean="0"/>
              <a:t>Comprehensive</a:t>
            </a:r>
            <a:r>
              <a:rPr lang="en-US" sz="2800" dirty="0" smtClean="0"/>
              <a:t> ERP </a:t>
            </a:r>
            <a:r>
              <a:rPr lang="en-US" sz="2800" dirty="0"/>
              <a:t>should support variety of organizational functions and wide </a:t>
            </a:r>
            <a:r>
              <a:rPr lang="en-US" sz="2800" dirty="0" smtClean="0"/>
              <a:t>variety  of organizations</a:t>
            </a:r>
            <a:endParaRPr lang="en-US" sz="2800" dirty="0"/>
          </a:p>
          <a:p>
            <a:pPr algn="just"/>
            <a:r>
              <a:rPr lang="en-US" sz="2800" b="1" dirty="0"/>
              <a:t>Beyond the </a:t>
            </a:r>
            <a:r>
              <a:rPr lang="en-US" sz="2800" b="1" dirty="0" smtClean="0"/>
              <a:t>compan</a:t>
            </a:r>
            <a:r>
              <a:rPr lang="en-US" sz="2800" dirty="0" smtClean="0"/>
              <a:t>y: ERP </a:t>
            </a:r>
            <a:r>
              <a:rPr lang="en-US" sz="2800" dirty="0"/>
              <a:t>should not be confined to the organizational boundaries </a:t>
            </a:r>
            <a:r>
              <a:rPr lang="en-US" sz="2800" dirty="0" smtClean="0"/>
              <a:t>rather support </a:t>
            </a:r>
            <a:r>
              <a:rPr lang="en-US" sz="2800" dirty="0"/>
              <a:t>inter - organizational activities also.</a:t>
            </a:r>
          </a:p>
          <a:p>
            <a:pPr algn="just"/>
            <a:r>
              <a:rPr lang="en-US" sz="2800" b="1" dirty="0" smtClean="0"/>
              <a:t>Best </a:t>
            </a:r>
            <a:r>
              <a:rPr lang="en-US" sz="2800" b="1" dirty="0"/>
              <a:t>business proactive</a:t>
            </a:r>
          </a:p>
          <a:p>
            <a:pPr algn="just"/>
            <a:r>
              <a:rPr lang="en-US" sz="2800" dirty="0"/>
              <a:t>ERP must have a collection of best business processes </a:t>
            </a:r>
            <a:r>
              <a:rPr lang="en-US" sz="2800" dirty="0" smtClean="0"/>
              <a:t>applicable worldwide</a:t>
            </a:r>
            <a:r>
              <a:rPr lang="en-US" sz="2800" dirty="0"/>
              <a:t>, combined with company's policy, strategy and culture</a:t>
            </a:r>
            <a:r>
              <a:rPr lang="en-US" sz="2400" dirty="0"/>
              <a:t>.</a:t>
            </a:r>
          </a:p>
        </p:txBody>
      </p:sp>
    </p:spTree>
    <p:extLst>
      <p:ext uri="{BB962C8B-B14F-4D97-AF65-F5344CB8AC3E}">
        <p14:creationId xmlns:p14="http://schemas.microsoft.com/office/powerpoint/2010/main" val="3792876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807588"/>
          </a:xfrm>
        </p:spPr>
        <p:txBody>
          <a:bodyPr/>
          <a:lstStyle/>
          <a:p>
            <a:r>
              <a:rPr lang="en-US" b="1" cap="none" dirty="0" smtClean="0">
                <a:solidFill>
                  <a:srgbClr val="0070C0"/>
                </a:solidFill>
              </a:rPr>
              <a:t>Benefits Of ERP</a:t>
            </a:r>
            <a:endParaRPr lang="en-US" b="1" dirty="0">
              <a:solidFill>
                <a:srgbClr val="0070C0"/>
              </a:solidFill>
            </a:endParaRPr>
          </a:p>
        </p:txBody>
      </p:sp>
      <p:sp>
        <p:nvSpPr>
          <p:cNvPr id="3" name="Content Placeholder 2"/>
          <p:cNvSpPr>
            <a:spLocks noGrp="1"/>
          </p:cNvSpPr>
          <p:nvPr>
            <p:ph idx="1"/>
          </p:nvPr>
        </p:nvSpPr>
        <p:spPr>
          <a:xfrm>
            <a:off x="826024" y="1546966"/>
            <a:ext cx="7633742" cy="3593591"/>
          </a:xfrm>
        </p:spPr>
        <p:txBody>
          <a:bodyPr>
            <a:normAutofit/>
          </a:bodyPr>
          <a:lstStyle/>
          <a:p>
            <a:r>
              <a:rPr lang="en-US" sz="2800" dirty="0" err="1" smtClean="0"/>
              <a:t>i</a:t>
            </a:r>
            <a:r>
              <a:rPr lang="en-US" sz="2800" dirty="0"/>
              <a:t>. Better utilization of organizational resources</a:t>
            </a:r>
          </a:p>
          <a:p>
            <a:r>
              <a:rPr lang="en-US" sz="2800" dirty="0"/>
              <a:t>ii. Lowering operating cost</a:t>
            </a:r>
          </a:p>
          <a:p>
            <a:r>
              <a:rPr lang="en-US" sz="2800" dirty="0"/>
              <a:t>iii. Proactive Decision Making</a:t>
            </a:r>
          </a:p>
          <a:p>
            <a:r>
              <a:rPr lang="en-US" sz="2800" dirty="0"/>
              <a:t>iv. Decentralized decision making</a:t>
            </a:r>
          </a:p>
          <a:p>
            <a:r>
              <a:rPr lang="en-US" sz="2800" dirty="0"/>
              <a:t>v. Enhanced customer satisfaction</a:t>
            </a:r>
          </a:p>
          <a:p>
            <a:r>
              <a:rPr lang="en-US" sz="2800" dirty="0"/>
              <a:t>vi. Flexibility in business operations</a:t>
            </a:r>
          </a:p>
        </p:txBody>
      </p:sp>
    </p:spTree>
    <p:extLst>
      <p:ext uri="{BB962C8B-B14F-4D97-AF65-F5344CB8AC3E}">
        <p14:creationId xmlns:p14="http://schemas.microsoft.com/office/powerpoint/2010/main" val="1435762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740" y="262939"/>
            <a:ext cx="8069802" cy="864525"/>
          </a:xfrm>
        </p:spPr>
        <p:txBody>
          <a:bodyPr>
            <a:noAutofit/>
          </a:bodyPr>
          <a:lstStyle/>
          <a:p>
            <a:pPr lvl="0" algn="ctr"/>
            <a:r>
              <a:rPr lang="en-US" sz="3200" b="1" dirty="0" smtClean="0">
                <a:ln w="6600">
                  <a:prstDash val="solid"/>
                </a:ln>
                <a:solidFill>
                  <a:srgbClr val="00B0F0"/>
                </a:solidFill>
                <a:effectLst>
                  <a:outerShdw dist="38100" dir="2700000" algn="tl" rotWithShape="0">
                    <a:schemeClr val="accent2"/>
                  </a:outerShdw>
                </a:effectLst>
              </a:rPr>
              <a:t>Management Support </a:t>
            </a:r>
            <a:r>
              <a:rPr lang="en-US" sz="3200" b="1" dirty="0">
                <a:ln w="6600">
                  <a:prstDash val="solid"/>
                </a:ln>
                <a:solidFill>
                  <a:srgbClr val="00B0F0"/>
                </a:solidFill>
                <a:effectLst>
                  <a:outerShdw dist="38100" dir="2700000" algn="tl" rotWithShape="0">
                    <a:schemeClr val="accent2"/>
                  </a:outerShdw>
                </a:effectLst>
              </a:rPr>
              <a:t>System</a:t>
            </a:r>
            <a:r>
              <a:rPr lang="en-US" sz="3600" b="1" dirty="0">
                <a:ln w="6600">
                  <a:prstDash val="solid"/>
                </a:ln>
                <a:effectLst>
                  <a:outerShdw dist="38100" dir="2700000" algn="tl" rotWithShape="0">
                    <a:schemeClr val="accent2"/>
                  </a:outerShdw>
                </a:effectLst>
              </a:rPr>
              <a:t/>
            </a:r>
            <a:br>
              <a:rPr lang="en-US" sz="3600" b="1" dirty="0">
                <a:ln w="6600">
                  <a:prstDash val="solid"/>
                </a:ln>
                <a:effectLst>
                  <a:outerShdw dist="38100" dir="2700000" algn="tl" rotWithShape="0">
                    <a:schemeClr val="accent2"/>
                  </a:outerShdw>
                </a:effectLst>
              </a:rPr>
            </a:br>
            <a:r>
              <a:rPr lang="en-US" sz="3300" b="1" dirty="0" smtClean="0">
                <a:latin typeface="+mn-lt"/>
              </a:rPr>
              <a:t>Decision </a:t>
            </a:r>
            <a:r>
              <a:rPr lang="en-US" sz="3300" b="1" dirty="0">
                <a:latin typeface="+mn-lt"/>
              </a:rPr>
              <a:t>support systems (DSS)</a:t>
            </a:r>
          </a:p>
        </p:txBody>
      </p:sp>
      <p:sp>
        <p:nvSpPr>
          <p:cNvPr id="3" name="Content Placeholder 2"/>
          <p:cNvSpPr>
            <a:spLocks noGrp="1"/>
          </p:cNvSpPr>
          <p:nvPr>
            <p:ph idx="1"/>
          </p:nvPr>
        </p:nvSpPr>
        <p:spPr>
          <a:xfrm>
            <a:off x="71021" y="1322773"/>
            <a:ext cx="8892004" cy="5373301"/>
          </a:xfrm>
        </p:spPr>
        <p:txBody>
          <a:bodyPr>
            <a:noAutofit/>
          </a:bodyPr>
          <a:lstStyle/>
          <a:p>
            <a:pPr marL="0" indent="0" algn="just">
              <a:buNone/>
            </a:pPr>
            <a:r>
              <a:rPr lang="en-US" sz="2800" dirty="0" smtClean="0"/>
              <a:t>DSS </a:t>
            </a:r>
            <a:r>
              <a:rPr lang="en-US" sz="2800" dirty="0"/>
              <a:t>is a system that allows senior managers to take non-routine decisions. This kind of system allows solving problems that are unique and frequently change. DSS uses mathematical models and statistical techniques to support decision making. Some common statistical techniques are predictive modeling and probability.</a:t>
            </a:r>
          </a:p>
          <a:p>
            <a:pPr marL="0" indent="0" algn="just">
              <a:buNone/>
            </a:pPr>
            <a:r>
              <a:rPr lang="en-US" sz="2800" dirty="0" smtClean="0"/>
              <a:t>Are also computer-based </a:t>
            </a:r>
            <a:r>
              <a:rPr lang="en-US" sz="2800" dirty="0"/>
              <a:t>information system that supports business or organizational decision making activities, typically resulting in ranking, sorting or choosing from among alternatives</a:t>
            </a:r>
            <a:r>
              <a:rPr lang="en-US" sz="2800" dirty="0" smtClean="0"/>
              <a:t>. </a:t>
            </a:r>
            <a:r>
              <a:rPr lang="en-US" sz="2800" dirty="0"/>
              <a:t>DSS are interactive and are used to solve ill structured problems. They offer access to databases, analytical tools, allow "what if" simulations, and support the exchange of information within the organization</a:t>
            </a:r>
            <a:r>
              <a:rPr lang="en-US" sz="2800" dirty="0" smtClean="0"/>
              <a:t>.</a:t>
            </a:r>
            <a:endParaRPr lang="en-US" sz="2800" dirty="0"/>
          </a:p>
        </p:txBody>
      </p:sp>
    </p:spTree>
    <p:extLst>
      <p:ext uri="{BB962C8B-B14F-4D97-AF65-F5344CB8AC3E}">
        <p14:creationId xmlns:p14="http://schemas.microsoft.com/office/powerpoint/2010/main" val="12310766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236844"/>
            <a:ext cx="7543800" cy="547795"/>
          </a:xfrm>
        </p:spPr>
        <p:txBody>
          <a:bodyPr>
            <a:noAutofit/>
          </a:bodyPr>
          <a:lstStyle/>
          <a:p>
            <a:r>
              <a:rPr lang="en-US" sz="3300" dirty="0">
                <a:latin typeface="+mn-lt"/>
              </a:rPr>
              <a:t>Functions of DSS</a:t>
            </a:r>
          </a:p>
        </p:txBody>
      </p:sp>
      <p:sp>
        <p:nvSpPr>
          <p:cNvPr id="3" name="Content Placeholder 2"/>
          <p:cNvSpPr>
            <a:spLocks noGrp="1"/>
          </p:cNvSpPr>
          <p:nvPr>
            <p:ph idx="1"/>
          </p:nvPr>
        </p:nvSpPr>
        <p:spPr>
          <a:xfrm>
            <a:off x="628650" y="1114816"/>
            <a:ext cx="7886700" cy="4375157"/>
          </a:xfrm>
        </p:spPr>
        <p:txBody>
          <a:bodyPr>
            <a:normAutofit/>
          </a:bodyPr>
          <a:lstStyle/>
          <a:p>
            <a:pPr algn="just"/>
            <a:r>
              <a:rPr lang="en-US" sz="2100" dirty="0"/>
              <a:t>DSS manipulate and build upon the information from a MIS </a:t>
            </a:r>
            <a:r>
              <a:rPr lang="en-US" dirty="0" smtClean="0"/>
              <a:t>and</a:t>
            </a:r>
            <a:r>
              <a:rPr lang="en-US" sz="2100" dirty="0" smtClean="0"/>
              <a:t> </a:t>
            </a:r>
            <a:r>
              <a:rPr lang="en-US" sz="2100" dirty="0"/>
              <a:t>TPS to generate insights and new information</a:t>
            </a:r>
          </a:p>
          <a:p>
            <a:pPr algn="just"/>
            <a:endParaRPr lang="en-US" sz="2100" dirty="0"/>
          </a:p>
        </p:txBody>
      </p:sp>
      <p:pic>
        <p:nvPicPr>
          <p:cNvPr id="4" name="Picture 3"/>
          <p:cNvPicPr>
            <a:picLocks noChangeAspect="1"/>
          </p:cNvPicPr>
          <p:nvPr/>
        </p:nvPicPr>
        <p:blipFill rotWithShape="1">
          <a:blip r:embed="rId2"/>
          <a:srcRect t="13078"/>
          <a:stretch/>
        </p:blipFill>
        <p:spPr>
          <a:xfrm>
            <a:off x="779815" y="1941535"/>
            <a:ext cx="6810958" cy="1791334"/>
          </a:xfrm>
          <a:prstGeom prst="rect">
            <a:avLst/>
          </a:prstGeom>
        </p:spPr>
      </p:pic>
      <p:sp>
        <p:nvSpPr>
          <p:cNvPr id="5" name="Rectangle 4"/>
          <p:cNvSpPr/>
          <p:nvPr/>
        </p:nvSpPr>
        <p:spPr>
          <a:xfrm>
            <a:off x="779815" y="3658210"/>
            <a:ext cx="7938300" cy="2246769"/>
          </a:xfrm>
          <a:prstGeom prst="rect">
            <a:avLst/>
          </a:prstGeom>
        </p:spPr>
        <p:txBody>
          <a:bodyPr wrap="square">
            <a:spAutoFit/>
          </a:bodyPr>
          <a:lstStyle/>
          <a:p>
            <a:r>
              <a:rPr lang="en-US" sz="2800" dirty="0"/>
              <a:t>Examples of DSS</a:t>
            </a:r>
          </a:p>
          <a:p>
            <a:r>
              <a:rPr lang="en-US" sz="2800" dirty="0"/>
              <a:t>• Group Decision Support Systems (GDSS)</a:t>
            </a:r>
          </a:p>
          <a:p>
            <a:r>
              <a:rPr lang="en-US" sz="2800" dirty="0"/>
              <a:t>• Computer Supported Co-operative work (CSCW)</a:t>
            </a:r>
          </a:p>
          <a:p>
            <a:r>
              <a:rPr lang="en-US" sz="2800" dirty="0"/>
              <a:t>• Logistics systems</a:t>
            </a:r>
          </a:p>
          <a:p>
            <a:r>
              <a:rPr lang="en-US" sz="2800" dirty="0"/>
              <a:t>• Financial Planning </a:t>
            </a:r>
            <a:r>
              <a:rPr lang="en-US" sz="2800" dirty="0" smtClean="0"/>
              <a:t>systems</a:t>
            </a:r>
            <a:endParaRPr lang="en-US" sz="2800" dirty="0"/>
          </a:p>
        </p:txBody>
      </p:sp>
    </p:spTree>
    <p:extLst>
      <p:ext uri="{BB962C8B-B14F-4D97-AF65-F5344CB8AC3E}">
        <p14:creationId xmlns:p14="http://schemas.microsoft.com/office/powerpoint/2010/main" val="41247191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n-lt"/>
              </a:rPr>
              <a:t>Components of DSS</a:t>
            </a:r>
            <a:endParaRPr lang="en-US" dirty="0">
              <a:latin typeface="+mn-lt"/>
            </a:endParaRPr>
          </a:p>
        </p:txBody>
      </p:sp>
      <p:sp>
        <p:nvSpPr>
          <p:cNvPr id="3" name="Content Placeholder 2"/>
          <p:cNvSpPr>
            <a:spLocks noGrp="1"/>
          </p:cNvSpPr>
          <p:nvPr>
            <p:ph idx="1"/>
          </p:nvPr>
        </p:nvSpPr>
        <p:spPr>
          <a:xfrm>
            <a:off x="938757" y="2038350"/>
            <a:ext cx="7841987" cy="3841244"/>
          </a:xfrm>
        </p:spPr>
        <p:txBody>
          <a:bodyPr>
            <a:normAutofit/>
          </a:bodyPr>
          <a:lstStyle/>
          <a:p>
            <a:pPr marL="0" indent="0" algn="just">
              <a:buNone/>
            </a:pPr>
            <a:r>
              <a:rPr lang="en-US" sz="2800" b="1" dirty="0" smtClean="0"/>
              <a:t>Database</a:t>
            </a:r>
            <a:r>
              <a:rPr lang="en-US" sz="2800" b="1" dirty="0"/>
              <a:t>: </a:t>
            </a:r>
            <a:r>
              <a:rPr lang="en-US" sz="2800" dirty="0"/>
              <a:t>Stores large amounts of data relevant to problems the DSS has been designed to tackle.</a:t>
            </a:r>
          </a:p>
          <a:p>
            <a:pPr marL="0" indent="0" algn="just">
              <a:buNone/>
            </a:pPr>
            <a:r>
              <a:rPr lang="en-US" sz="2800" b="1" dirty="0"/>
              <a:t>Model base: </a:t>
            </a:r>
            <a:r>
              <a:rPr lang="en-US" sz="2800" dirty="0"/>
              <a:t> Contains one or more models that can be used to analyze the decision situation</a:t>
            </a:r>
          </a:p>
          <a:p>
            <a:pPr marL="0" indent="0" algn="just">
              <a:buNone/>
            </a:pPr>
            <a:r>
              <a:rPr lang="en-US" sz="2800" dirty="0"/>
              <a:t> </a:t>
            </a:r>
            <a:r>
              <a:rPr lang="en-US" sz="2800" b="1" dirty="0"/>
              <a:t>Dialogue module: </a:t>
            </a:r>
            <a:r>
              <a:rPr lang="en-US" sz="2800" dirty="0"/>
              <a:t>Provides a way for the decision maker, usually a non-technical manager, to communicate with the DSS.</a:t>
            </a:r>
          </a:p>
          <a:p>
            <a:endParaRPr lang="en-US" sz="2800" dirty="0"/>
          </a:p>
        </p:txBody>
      </p:sp>
    </p:spTree>
    <p:extLst>
      <p:ext uri="{BB962C8B-B14F-4D97-AF65-F5344CB8AC3E}">
        <p14:creationId xmlns:p14="http://schemas.microsoft.com/office/powerpoint/2010/main" val="10831333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12" y="88777"/>
            <a:ext cx="7702488" cy="939923"/>
          </a:xfrm>
        </p:spPr>
        <p:txBody>
          <a:bodyPr>
            <a:normAutofit fontScale="90000"/>
          </a:bodyPr>
          <a:lstStyle/>
          <a:p>
            <a:pPr algn="ctr"/>
            <a:r>
              <a:rPr lang="en-US" sz="3600" b="1" dirty="0">
                <a:ln w="6600">
                  <a:prstDash val="solid"/>
                </a:ln>
                <a:solidFill>
                  <a:srgbClr val="00B0F0"/>
                </a:solidFill>
                <a:effectLst>
                  <a:outerShdw dist="38100" dir="2700000" algn="tl" rotWithShape="0">
                    <a:schemeClr val="accent2"/>
                  </a:outerShdw>
                </a:effectLst>
              </a:rPr>
              <a:t>Management Support System</a:t>
            </a:r>
            <a:r>
              <a:rPr lang="en-US" sz="4400" cap="none" dirty="0" smtClean="0">
                <a:latin typeface="+mn-lt"/>
              </a:rPr>
              <a:t/>
            </a:r>
            <a:br>
              <a:rPr lang="en-US" sz="4400" cap="none" dirty="0" smtClean="0">
                <a:latin typeface="+mn-lt"/>
              </a:rPr>
            </a:br>
            <a:r>
              <a:rPr lang="en-US" sz="4400" cap="none" dirty="0" smtClean="0">
                <a:latin typeface="+mn-lt"/>
              </a:rPr>
              <a:t>Executive Support Systems</a:t>
            </a:r>
            <a:endParaRPr lang="en-US" sz="4400" cap="none" dirty="0">
              <a:latin typeface="+mn-lt"/>
            </a:endParaRPr>
          </a:p>
        </p:txBody>
      </p:sp>
      <p:sp>
        <p:nvSpPr>
          <p:cNvPr id="3" name="Content Placeholder 2"/>
          <p:cNvSpPr>
            <a:spLocks noGrp="1"/>
          </p:cNvSpPr>
          <p:nvPr>
            <p:ph idx="1"/>
          </p:nvPr>
        </p:nvSpPr>
        <p:spPr>
          <a:xfrm>
            <a:off x="71021" y="1207362"/>
            <a:ext cx="8892005" cy="5536337"/>
          </a:xfrm>
        </p:spPr>
        <p:txBody>
          <a:bodyPr>
            <a:noAutofit/>
          </a:bodyPr>
          <a:lstStyle/>
          <a:p>
            <a:pPr algn="just"/>
            <a:r>
              <a:rPr lang="en-US" sz="2600" dirty="0"/>
              <a:t>An Executive Support System (ESS</a:t>
            </a:r>
            <a:r>
              <a:rPr lang="en-US" sz="2600" dirty="0" smtClean="0"/>
              <a:t>) also known as </a:t>
            </a:r>
            <a:r>
              <a:rPr lang="en-US" sz="2600" b="1" dirty="0" smtClean="0"/>
              <a:t>Executive </a:t>
            </a:r>
            <a:r>
              <a:rPr lang="en-US" sz="2600" b="1" dirty="0"/>
              <a:t>Information System</a:t>
            </a:r>
            <a:r>
              <a:rPr lang="en-US" sz="2600" dirty="0" smtClean="0"/>
              <a:t> </a:t>
            </a:r>
            <a:r>
              <a:rPr lang="en-US" sz="2600" dirty="0"/>
              <a:t>is software that allows users to transform enterprise data into quickly accessible and executive-level reports, such as those used by billing, accounting and staffing departments. An ESS enhances decision making for executives. </a:t>
            </a:r>
            <a:endParaRPr lang="en-US" sz="2600" dirty="0" smtClean="0"/>
          </a:p>
          <a:p>
            <a:pPr algn="just"/>
            <a:r>
              <a:rPr lang="en-US" sz="2600" dirty="0"/>
              <a:t>EIS is an information system based on computer which generally serves the information needs of the top level </a:t>
            </a:r>
            <a:r>
              <a:rPr lang="en-US" sz="2600" dirty="0" smtClean="0"/>
              <a:t>management(</a:t>
            </a:r>
            <a:r>
              <a:rPr lang="en-US" sz="2600" dirty="0"/>
              <a:t>executive managers</a:t>
            </a:r>
            <a:r>
              <a:rPr lang="en-US" sz="2600" dirty="0" smtClean="0"/>
              <a:t>) </a:t>
            </a:r>
            <a:r>
              <a:rPr lang="en-US" sz="2600" dirty="0"/>
              <a:t>of an organization</a:t>
            </a:r>
            <a:endParaRPr lang="en-US" sz="2600" dirty="0" smtClean="0"/>
          </a:p>
          <a:p>
            <a:pPr algn="just"/>
            <a:r>
              <a:rPr lang="en-US" sz="2600" dirty="0" smtClean="0"/>
              <a:t>Information </a:t>
            </a:r>
            <a:r>
              <a:rPr lang="en-US" sz="2600" dirty="0"/>
              <a:t>is usually external, unstructured and uncertain. Furthermore, this information is intelligence-based. Some examples of intelligent information are databases, patent records, financial reports, market reports, technical reports from consultants, government policies and confidential information about competitors.</a:t>
            </a:r>
            <a:endParaRPr lang="en-US" sz="2600" dirty="0" smtClean="0"/>
          </a:p>
          <a:p>
            <a:pPr marL="0" indent="0" algn="just">
              <a:buNone/>
            </a:pPr>
            <a:endParaRPr lang="en-US" sz="2600" dirty="0"/>
          </a:p>
        </p:txBody>
      </p:sp>
    </p:spTree>
    <p:extLst>
      <p:ext uri="{BB962C8B-B14F-4D97-AF65-F5344CB8AC3E}">
        <p14:creationId xmlns:p14="http://schemas.microsoft.com/office/powerpoint/2010/main" val="18958971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950" y="542926"/>
            <a:ext cx="8629650" cy="6172200"/>
          </a:xfrm>
        </p:spPr>
        <p:txBody>
          <a:bodyPr>
            <a:noAutofit/>
          </a:bodyPr>
          <a:lstStyle/>
          <a:p>
            <a:pPr marL="0" indent="0" algn="just">
              <a:lnSpc>
                <a:spcPct val="150000"/>
              </a:lnSpc>
              <a:buNone/>
            </a:pPr>
            <a:r>
              <a:rPr lang="en-US" sz="2400" dirty="0"/>
              <a:t>An ESS provides potential outcomes and quick statistical data that are applied to decision making processes </a:t>
            </a:r>
            <a:endParaRPr lang="en-US" sz="2400" dirty="0" smtClean="0"/>
          </a:p>
          <a:p>
            <a:pPr algn="just">
              <a:lnSpc>
                <a:spcPct val="150000"/>
              </a:lnSpc>
            </a:pPr>
            <a:r>
              <a:rPr lang="en-US" sz="2400" dirty="0" smtClean="0"/>
              <a:t>Users </a:t>
            </a:r>
            <a:r>
              <a:rPr lang="en-US" sz="2400" dirty="0"/>
              <a:t>can extract much needed information without the hardship to learn complex query </a:t>
            </a:r>
            <a:r>
              <a:rPr lang="en-US" sz="2400" dirty="0" smtClean="0"/>
              <a:t>language. </a:t>
            </a:r>
          </a:p>
          <a:p>
            <a:pPr algn="just">
              <a:lnSpc>
                <a:spcPct val="150000"/>
              </a:lnSpc>
            </a:pPr>
            <a:r>
              <a:rPr lang="en-US" sz="2400" dirty="0" smtClean="0"/>
              <a:t>It </a:t>
            </a:r>
            <a:r>
              <a:rPr lang="en-US" sz="2400" dirty="0"/>
              <a:t>enables the users to get information on time without any delay. It enables users to have access to management reports</a:t>
            </a:r>
            <a:r>
              <a:rPr lang="en-US" sz="2400" dirty="0" smtClean="0"/>
              <a:t>.</a:t>
            </a:r>
            <a:endParaRPr lang="en-US" sz="2400" dirty="0"/>
          </a:p>
        </p:txBody>
      </p:sp>
    </p:spTree>
    <p:extLst>
      <p:ext uri="{BB962C8B-B14F-4D97-AF65-F5344CB8AC3E}">
        <p14:creationId xmlns:p14="http://schemas.microsoft.com/office/powerpoint/2010/main" val="31155106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866776"/>
            <a:ext cx="7886700" cy="5310188"/>
          </a:xfrm>
        </p:spPr>
        <p:txBody>
          <a:bodyPr>
            <a:normAutofit lnSpcReduction="10000"/>
          </a:bodyPr>
          <a:lstStyle/>
          <a:p>
            <a:pPr algn="just">
              <a:lnSpc>
                <a:spcPct val="200000"/>
              </a:lnSpc>
            </a:pPr>
            <a:r>
              <a:rPr lang="en-US" sz="2000" dirty="0"/>
              <a:t>EIS system is very fast. It is capable of accessing both internal as well as external data. </a:t>
            </a:r>
            <a:endParaRPr lang="en-US" sz="2000" dirty="0" smtClean="0"/>
          </a:p>
          <a:p>
            <a:pPr algn="just">
              <a:lnSpc>
                <a:spcPct val="200000"/>
              </a:lnSpc>
            </a:pPr>
            <a:r>
              <a:rPr lang="en-US" sz="2000" dirty="0" smtClean="0"/>
              <a:t>EIS </a:t>
            </a:r>
            <a:r>
              <a:rPr lang="en-US" sz="2000" dirty="0"/>
              <a:t>basically provides various online options with which the report analysis can be done in detail. </a:t>
            </a:r>
            <a:endParaRPr lang="en-US" sz="2000" dirty="0" smtClean="0"/>
          </a:p>
          <a:p>
            <a:pPr algn="just">
              <a:lnSpc>
                <a:spcPct val="200000"/>
              </a:lnSpc>
            </a:pPr>
            <a:r>
              <a:rPr lang="en-US" sz="2000" dirty="0" smtClean="0"/>
              <a:t>EIS </a:t>
            </a:r>
            <a:r>
              <a:rPr lang="en-US" sz="2000" dirty="0"/>
              <a:t>provides its users with drill down facility and reporting tools. </a:t>
            </a:r>
            <a:endParaRPr lang="en-US" sz="2000" dirty="0" smtClean="0"/>
          </a:p>
          <a:p>
            <a:pPr algn="just">
              <a:lnSpc>
                <a:spcPct val="200000"/>
              </a:lnSpc>
            </a:pPr>
            <a:r>
              <a:rPr lang="en-US" sz="2000" dirty="0" smtClean="0"/>
              <a:t>EIS </a:t>
            </a:r>
            <a:r>
              <a:rPr lang="en-US" sz="2000" dirty="0"/>
              <a:t>can also be used to make decision just like Decision Support System. </a:t>
            </a:r>
            <a:endParaRPr lang="en-US" sz="2000" dirty="0" smtClean="0"/>
          </a:p>
          <a:p>
            <a:pPr algn="just">
              <a:lnSpc>
                <a:spcPct val="200000"/>
              </a:lnSpc>
            </a:pPr>
            <a:r>
              <a:rPr lang="en-US" sz="2000" dirty="0" smtClean="0"/>
              <a:t>EIS </a:t>
            </a:r>
            <a:r>
              <a:rPr lang="en-US" sz="2000" dirty="0"/>
              <a:t>helps management to monitor performance of the organization and thus helps organization to achieve its goals and objectives in the long run</a:t>
            </a:r>
          </a:p>
          <a:p>
            <a:pPr>
              <a:lnSpc>
                <a:spcPct val="200000"/>
              </a:lnSpc>
            </a:pPr>
            <a:endParaRPr lang="en-US" dirty="0"/>
          </a:p>
        </p:txBody>
      </p:sp>
    </p:spTree>
    <p:extLst>
      <p:ext uri="{BB962C8B-B14F-4D97-AF65-F5344CB8AC3E}">
        <p14:creationId xmlns:p14="http://schemas.microsoft.com/office/powerpoint/2010/main" val="348217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Components of ESS(EIS)</a:t>
            </a:r>
            <a:endParaRPr lang="en-US" cap="none" dirty="0"/>
          </a:p>
        </p:txBody>
      </p:sp>
      <p:pic>
        <p:nvPicPr>
          <p:cNvPr id="4" name="Content Placeholder 3"/>
          <p:cNvPicPr>
            <a:picLocks noGrp="1" noChangeAspect="1"/>
          </p:cNvPicPr>
          <p:nvPr>
            <p:ph idx="1"/>
          </p:nvPr>
        </p:nvPicPr>
        <p:blipFill>
          <a:blip r:embed="rId2"/>
          <a:stretch>
            <a:fillRect/>
          </a:stretch>
        </p:blipFill>
        <p:spPr>
          <a:xfrm>
            <a:off x="856800" y="1809750"/>
            <a:ext cx="6909336" cy="3619499"/>
          </a:xfrm>
          <a:prstGeom prst="rect">
            <a:avLst/>
          </a:prstGeom>
        </p:spPr>
      </p:pic>
      <p:sp>
        <p:nvSpPr>
          <p:cNvPr id="5" name="TextBox 4"/>
          <p:cNvSpPr txBox="1"/>
          <p:nvPr/>
        </p:nvSpPr>
        <p:spPr>
          <a:xfrm>
            <a:off x="1640909" y="5271873"/>
            <a:ext cx="6125227" cy="369332"/>
          </a:xfrm>
          <a:prstGeom prst="rect">
            <a:avLst/>
          </a:prstGeom>
          <a:noFill/>
        </p:spPr>
        <p:txBody>
          <a:bodyPr wrap="square" rtlCol="0">
            <a:spAutoFit/>
          </a:bodyPr>
          <a:lstStyle/>
          <a:p>
            <a:r>
              <a:rPr lang="en-US" dirty="0" smtClean="0"/>
              <a:t>Discuss the components of an ESS</a:t>
            </a:r>
            <a:endParaRPr lang="en-US" dirty="0"/>
          </a:p>
        </p:txBody>
      </p:sp>
    </p:spTree>
    <p:extLst>
      <p:ext uri="{BB962C8B-B14F-4D97-AF65-F5344CB8AC3E}">
        <p14:creationId xmlns:p14="http://schemas.microsoft.com/office/powerpoint/2010/main" val="1041984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solidFill>
                  <a:srgbClr val="00B0F0"/>
                </a:solidFill>
              </a:rPr>
              <a:t>Characteristics Of EIS</a:t>
            </a:r>
            <a:r>
              <a:rPr lang="en-US" cap="none" dirty="0" smtClean="0"/>
              <a:t/>
            </a:r>
            <a:br>
              <a:rPr lang="en-US" cap="none" dirty="0" smtClean="0"/>
            </a:br>
            <a:endParaRPr lang="en-US" dirty="0"/>
          </a:p>
        </p:txBody>
      </p:sp>
      <p:sp>
        <p:nvSpPr>
          <p:cNvPr id="3" name="Content Placeholder 2"/>
          <p:cNvSpPr>
            <a:spLocks noGrp="1"/>
          </p:cNvSpPr>
          <p:nvPr>
            <p:ph idx="1"/>
          </p:nvPr>
        </p:nvSpPr>
        <p:spPr>
          <a:xfrm>
            <a:off x="390525" y="1114816"/>
            <a:ext cx="8582025" cy="5647934"/>
          </a:xfrm>
        </p:spPr>
        <p:txBody>
          <a:bodyPr>
            <a:noAutofit/>
          </a:bodyPr>
          <a:lstStyle/>
          <a:p>
            <a:pPr marL="0" indent="0" algn="just">
              <a:buNone/>
            </a:pPr>
            <a:r>
              <a:rPr lang="en-US" dirty="0" smtClean="0"/>
              <a:t>"</a:t>
            </a:r>
            <a:r>
              <a:rPr lang="en-US" sz="2400" dirty="0"/>
              <a:t>An EIS is a tool that provides direct on-line access to relevant information </a:t>
            </a:r>
            <a:r>
              <a:rPr lang="en-US" sz="2400" dirty="0" smtClean="0"/>
              <a:t>in a </a:t>
            </a:r>
            <a:r>
              <a:rPr lang="en-US" sz="2400" dirty="0"/>
              <a:t>useful &amp; </a:t>
            </a:r>
            <a:r>
              <a:rPr lang="en-US" sz="2400" dirty="0" smtClean="0"/>
              <a:t>controllable </a:t>
            </a:r>
            <a:r>
              <a:rPr lang="en-US" sz="2400" dirty="0"/>
              <a:t>Format. It has the following characteristics -</a:t>
            </a:r>
          </a:p>
          <a:p>
            <a:pPr algn="just"/>
            <a:r>
              <a:rPr lang="en-US" sz="2400" dirty="0" smtClean="0"/>
              <a:t>Specifically </a:t>
            </a:r>
            <a:r>
              <a:rPr lang="en-US" sz="2400" dirty="0"/>
              <a:t>designed to meet executive's information need.</a:t>
            </a:r>
          </a:p>
          <a:p>
            <a:pPr algn="just"/>
            <a:r>
              <a:rPr lang="en-US" sz="2400" dirty="0" smtClean="0"/>
              <a:t>Able </a:t>
            </a:r>
            <a:r>
              <a:rPr lang="en-US" sz="2400" dirty="0"/>
              <a:t>to access data about specific issues and problems.</a:t>
            </a:r>
          </a:p>
          <a:p>
            <a:pPr algn="just"/>
            <a:r>
              <a:rPr lang="en-US" sz="2400" dirty="0" smtClean="0"/>
              <a:t>Provide </a:t>
            </a:r>
            <a:r>
              <a:rPr lang="en-US" sz="2400" dirty="0"/>
              <a:t>on -line analysis tool</a:t>
            </a:r>
          </a:p>
          <a:p>
            <a:pPr algn="just"/>
            <a:r>
              <a:rPr lang="en-US" sz="2400" dirty="0" smtClean="0"/>
              <a:t>Can </a:t>
            </a:r>
            <a:r>
              <a:rPr lang="en-US" sz="2400" dirty="0"/>
              <a:t>access both internal and external data</a:t>
            </a:r>
          </a:p>
          <a:p>
            <a:pPr algn="just"/>
            <a:r>
              <a:rPr lang="en-US" sz="2400" dirty="0" smtClean="0"/>
              <a:t>Easy </a:t>
            </a:r>
            <a:r>
              <a:rPr lang="en-US" sz="2400" dirty="0"/>
              <a:t>to use i.e. GUI based software, user friendly hardware like </a:t>
            </a:r>
            <a:r>
              <a:rPr lang="en-US" sz="2400" dirty="0" smtClean="0"/>
              <a:t>mouse, touch </a:t>
            </a:r>
            <a:r>
              <a:rPr lang="en-US" sz="2400" dirty="0"/>
              <a:t>screen etc.</a:t>
            </a:r>
          </a:p>
          <a:p>
            <a:pPr algn="just"/>
            <a:r>
              <a:rPr lang="en-US" sz="2400" dirty="0" smtClean="0"/>
              <a:t>Used </a:t>
            </a:r>
            <a:r>
              <a:rPr lang="en-US" sz="2400" dirty="0"/>
              <a:t>directly by executive </a:t>
            </a:r>
            <a:r>
              <a:rPr lang="en-US" sz="2400" dirty="0" smtClean="0"/>
              <a:t>without  </a:t>
            </a:r>
            <a:r>
              <a:rPr lang="en-US" sz="2400" dirty="0"/>
              <a:t>technical assistance</a:t>
            </a:r>
          </a:p>
          <a:p>
            <a:pPr algn="just"/>
            <a:r>
              <a:rPr lang="en-US" sz="2400" dirty="0" smtClean="0"/>
              <a:t>Present </a:t>
            </a:r>
            <a:r>
              <a:rPr lang="en-US" sz="2400" dirty="0"/>
              <a:t>information by graphical means</a:t>
            </a:r>
          </a:p>
          <a:p>
            <a:pPr algn="just"/>
            <a:r>
              <a:rPr lang="en-US" sz="2400" dirty="0" smtClean="0"/>
              <a:t>Present </a:t>
            </a:r>
            <a:r>
              <a:rPr lang="en-US" sz="2400" dirty="0"/>
              <a:t>summary information instead of details</a:t>
            </a:r>
          </a:p>
          <a:p>
            <a:pPr algn="just"/>
            <a:r>
              <a:rPr lang="en-US" sz="2400" dirty="0" smtClean="0"/>
              <a:t>Able </a:t>
            </a:r>
            <a:r>
              <a:rPr lang="en-US" sz="2400" dirty="0"/>
              <a:t>to manipulate data to perform “what –if” analysis</a:t>
            </a:r>
          </a:p>
        </p:txBody>
      </p:sp>
    </p:spTree>
    <p:extLst>
      <p:ext uri="{BB962C8B-B14F-4D97-AF65-F5344CB8AC3E}">
        <p14:creationId xmlns:p14="http://schemas.microsoft.com/office/powerpoint/2010/main" val="31517082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807588"/>
          </a:xfrm>
        </p:spPr>
        <p:txBody>
          <a:bodyPr/>
          <a:lstStyle/>
          <a:p>
            <a:r>
              <a:rPr lang="en-US" dirty="0">
                <a:solidFill>
                  <a:srgbClr val="00B0F0"/>
                </a:solidFill>
              </a:rPr>
              <a:t>Contents of EIS </a:t>
            </a:r>
          </a:p>
        </p:txBody>
      </p:sp>
      <p:sp>
        <p:nvSpPr>
          <p:cNvPr id="3" name="Content Placeholder 2"/>
          <p:cNvSpPr>
            <a:spLocks noGrp="1"/>
          </p:cNvSpPr>
          <p:nvPr>
            <p:ph idx="1"/>
          </p:nvPr>
        </p:nvSpPr>
        <p:spPr>
          <a:xfrm>
            <a:off x="197963" y="1093509"/>
            <a:ext cx="8653806" cy="5764491"/>
          </a:xfrm>
        </p:spPr>
        <p:txBody>
          <a:bodyPr>
            <a:noAutofit/>
          </a:bodyPr>
          <a:lstStyle/>
          <a:p>
            <a:pPr algn="just">
              <a:lnSpc>
                <a:spcPct val="150000"/>
              </a:lnSpc>
            </a:pPr>
            <a:r>
              <a:rPr lang="en-US" dirty="0" smtClean="0"/>
              <a:t>In </a:t>
            </a:r>
            <a:r>
              <a:rPr lang="en-US" dirty="0"/>
              <a:t>the broadest sense the contents of EIS are "whatever is </a:t>
            </a:r>
            <a:r>
              <a:rPr lang="en-US" dirty="0" smtClean="0"/>
              <a:t>interesting to </a:t>
            </a:r>
            <a:r>
              <a:rPr lang="en-US" dirty="0"/>
              <a:t>executive</a:t>
            </a:r>
            <a:r>
              <a:rPr lang="en-US" dirty="0" smtClean="0"/>
              <a:t>". </a:t>
            </a:r>
            <a:r>
              <a:rPr lang="en-US" dirty="0"/>
              <a:t>EIS implementations begins with just a few contents that are of </a:t>
            </a:r>
            <a:r>
              <a:rPr lang="en-US" dirty="0" smtClean="0"/>
              <a:t>interest to </a:t>
            </a:r>
            <a:r>
              <a:rPr lang="en-US" dirty="0"/>
              <a:t>executives and then expand in response to managers need as they </a:t>
            </a:r>
            <a:r>
              <a:rPr lang="en-US" dirty="0" smtClean="0"/>
              <a:t>use the system. Following </a:t>
            </a:r>
            <a:r>
              <a:rPr lang="en-US" dirty="0"/>
              <a:t>is a set of principles to guide the design of contents to </a:t>
            </a:r>
            <a:r>
              <a:rPr lang="en-US" dirty="0" smtClean="0"/>
              <a:t>be included </a:t>
            </a:r>
            <a:r>
              <a:rPr lang="en-US" dirty="0"/>
              <a:t>in EIS -</a:t>
            </a:r>
          </a:p>
          <a:p>
            <a:pPr algn="just"/>
            <a:r>
              <a:rPr lang="en-US" dirty="0" smtClean="0"/>
              <a:t>EIS </a:t>
            </a:r>
            <a:r>
              <a:rPr lang="en-US" dirty="0"/>
              <a:t>contents must be easy to understand and collect. It should </a:t>
            </a:r>
            <a:r>
              <a:rPr lang="en-US" dirty="0" smtClean="0"/>
              <a:t>not add </a:t>
            </a:r>
            <a:r>
              <a:rPr lang="en-US" dirty="0"/>
              <a:t>to the work load of mgrs.</a:t>
            </a:r>
          </a:p>
          <a:p>
            <a:pPr algn="just"/>
            <a:r>
              <a:rPr lang="en-US" dirty="0" smtClean="0"/>
              <a:t>EIS </a:t>
            </a:r>
            <a:r>
              <a:rPr lang="en-US" dirty="0"/>
              <a:t>content should reflect the objectives of the organization in </a:t>
            </a:r>
            <a:r>
              <a:rPr lang="en-US" dirty="0" smtClean="0"/>
              <a:t>the area </a:t>
            </a:r>
            <a:r>
              <a:rPr lang="en-US" dirty="0"/>
              <a:t>of productivity, resource management, </a:t>
            </a:r>
            <a:r>
              <a:rPr lang="en-US" dirty="0" smtClean="0"/>
              <a:t>quality and customer </a:t>
            </a:r>
            <a:r>
              <a:rPr lang="en-US" dirty="0"/>
              <a:t>service.</a:t>
            </a:r>
          </a:p>
          <a:p>
            <a:pPr algn="just"/>
            <a:r>
              <a:rPr lang="en-US" dirty="0" smtClean="0"/>
              <a:t>Performance </a:t>
            </a:r>
            <a:r>
              <a:rPr lang="en-US" dirty="0"/>
              <a:t>indicator in EIS must reflect everyone's contribution.</a:t>
            </a:r>
          </a:p>
          <a:p>
            <a:pPr algn="just"/>
            <a:r>
              <a:rPr lang="en-US" dirty="0" smtClean="0"/>
              <a:t>Performance </a:t>
            </a:r>
            <a:r>
              <a:rPr lang="en-US" dirty="0"/>
              <a:t>indicator must promote both team-work and </a:t>
            </a:r>
            <a:r>
              <a:rPr lang="en-US" dirty="0" smtClean="0"/>
              <a:t>friendly competition</a:t>
            </a:r>
            <a:r>
              <a:rPr lang="en-US" dirty="0"/>
              <a:t>.</a:t>
            </a:r>
          </a:p>
          <a:p>
            <a:pPr algn="just"/>
            <a:r>
              <a:rPr lang="en-US" dirty="0" smtClean="0"/>
              <a:t>EIS </a:t>
            </a:r>
            <a:r>
              <a:rPr lang="en-US" dirty="0"/>
              <a:t>content must be available to everyone in the organization</a:t>
            </a:r>
          </a:p>
          <a:p>
            <a:pPr algn="just"/>
            <a:r>
              <a:rPr lang="en-US" dirty="0" smtClean="0"/>
              <a:t>EIS </a:t>
            </a:r>
            <a:r>
              <a:rPr lang="en-US" dirty="0"/>
              <a:t>content must be open to meet the changing need of </a:t>
            </a:r>
            <a:r>
              <a:rPr lang="en-US" dirty="0" smtClean="0"/>
              <a:t>the organization</a:t>
            </a:r>
            <a:endParaRPr lang="en-US" dirty="0"/>
          </a:p>
        </p:txBody>
      </p:sp>
    </p:spTree>
    <p:extLst>
      <p:ext uri="{BB962C8B-B14F-4D97-AF65-F5344CB8AC3E}">
        <p14:creationId xmlns:p14="http://schemas.microsoft.com/office/powerpoint/2010/main" val="20056223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594" y="142043"/>
            <a:ext cx="7543800" cy="967666"/>
          </a:xfrm>
        </p:spPr>
        <p:txBody>
          <a:bodyPr>
            <a:normAutofit/>
          </a:bodyPr>
          <a:lstStyle/>
          <a:p>
            <a:r>
              <a:rPr lang="en-US" sz="3000" b="1" dirty="0" smtClean="0">
                <a:latin typeface="+mn-lt"/>
              </a:rPr>
              <a:t> </a:t>
            </a:r>
            <a:r>
              <a:rPr lang="en-US" sz="2800" b="1" dirty="0">
                <a:ln w="6600">
                  <a:prstDash val="solid"/>
                </a:ln>
                <a:solidFill>
                  <a:srgbClr val="00B0F0"/>
                </a:solidFill>
                <a:effectLst>
                  <a:outerShdw dist="38100" dir="2700000" algn="tl" rotWithShape="0">
                    <a:schemeClr val="accent2"/>
                  </a:outerShdw>
                </a:effectLst>
              </a:rPr>
              <a:t>Management Support System</a:t>
            </a:r>
            <a:r>
              <a:rPr lang="en-US" sz="3000" b="1" dirty="0" smtClean="0">
                <a:latin typeface="+mn-lt"/>
              </a:rPr>
              <a:t>      </a:t>
            </a:r>
            <a:br>
              <a:rPr lang="en-US" sz="3000" b="1" dirty="0" smtClean="0">
                <a:latin typeface="+mn-lt"/>
              </a:rPr>
            </a:br>
            <a:r>
              <a:rPr lang="en-US" sz="3000" b="1" dirty="0" smtClean="0">
                <a:latin typeface="+mn-lt"/>
              </a:rPr>
              <a:t>Expert </a:t>
            </a:r>
            <a:r>
              <a:rPr lang="en-US" sz="3000" b="1" dirty="0">
                <a:latin typeface="+mn-lt"/>
              </a:rPr>
              <a:t>systems (ES)</a:t>
            </a:r>
            <a:endParaRPr lang="en-US" sz="3000" dirty="0">
              <a:latin typeface="+mn-lt"/>
            </a:endParaRPr>
          </a:p>
        </p:txBody>
      </p:sp>
      <p:sp>
        <p:nvSpPr>
          <p:cNvPr id="3" name="Content Placeholder 2"/>
          <p:cNvSpPr>
            <a:spLocks noGrp="1"/>
          </p:cNvSpPr>
          <p:nvPr>
            <p:ph idx="1"/>
          </p:nvPr>
        </p:nvSpPr>
        <p:spPr>
          <a:xfrm>
            <a:off x="447675" y="995428"/>
            <a:ext cx="8524875" cy="5310122"/>
          </a:xfrm>
        </p:spPr>
        <p:txBody>
          <a:bodyPr>
            <a:noAutofit/>
          </a:bodyPr>
          <a:lstStyle/>
          <a:p>
            <a:pPr algn="just">
              <a:lnSpc>
                <a:spcPct val="150000"/>
              </a:lnSpc>
            </a:pPr>
            <a:r>
              <a:rPr lang="en-US" sz="2500" dirty="0"/>
              <a:t>Expert systems are the </a:t>
            </a:r>
            <a:r>
              <a:rPr lang="en-US" sz="2500" dirty="0" smtClean="0"/>
              <a:t>software </a:t>
            </a:r>
            <a:r>
              <a:rPr lang="en-US" sz="2500" dirty="0"/>
              <a:t>that imitate the reasoning processes </a:t>
            </a:r>
            <a:r>
              <a:rPr lang="en-US" sz="2500" dirty="0" smtClean="0"/>
              <a:t>of human </a:t>
            </a:r>
            <a:r>
              <a:rPr lang="en-US" sz="2500" dirty="0"/>
              <a:t>experts and provide decision makers with the type </a:t>
            </a:r>
            <a:r>
              <a:rPr lang="en-US" sz="2500" dirty="0" smtClean="0"/>
              <a:t>of advice </a:t>
            </a:r>
            <a:r>
              <a:rPr lang="en-US" sz="2500" dirty="0"/>
              <a:t>they </a:t>
            </a:r>
            <a:r>
              <a:rPr lang="en-US" sz="2500" dirty="0" smtClean="0"/>
              <a:t>would normally </a:t>
            </a:r>
            <a:r>
              <a:rPr lang="en-US" sz="2500" dirty="0"/>
              <a:t>receive from such </a:t>
            </a:r>
            <a:r>
              <a:rPr lang="en-US" sz="2500" dirty="0" smtClean="0"/>
              <a:t>experts.</a:t>
            </a:r>
          </a:p>
          <a:p>
            <a:pPr algn="just">
              <a:lnSpc>
                <a:spcPct val="150000"/>
              </a:lnSpc>
            </a:pPr>
            <a:r>
              <a:rPr lang="en-US" sz="2500" dirty="0" smtClean="0"/>
              <a:t>Support </a:t>
            </a:r>
            <a:r>
              <a:rPr lang="en-US" sz="2500" dirty="0"/>
              <a:t>professionals faced with complex situations requiring expert knowledge in a well-defined area. Expert systems are based on principles of artificial intelligence research. These systems use human knowledge captured in a computer to solve problems that ordinarily need human expertise. </a:t>
            </a:r>
          </a:p>
        </p:txBody>
      </p:sp>
    </p:spTree>
    <p:extLst>
      <p:ext uri="{BB962C8B-B14F-4D97-AF65-F5344CB8AC3E}">
        <p14:creationId xmlns:p14="http://schemas.microsoft.com/office/powerpoint/2010/main" val="34008855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353" y="488516"/>
            <a:ext cx="8141918" cy="6012492"/>
          </a:xfrm>
        </p:spPr>
        <p:txBody>
          <a:bodyPr>
            <a:normAutofit/>
          </a:bodyPr>
          <a:lstStyle/>
          <a:p>
            <a:pPr marL="0" indent="0" algn="just">
              <a:buNone/>
            </a:pPr>
            <a:r>
              <a:rPr lang="en-US" sz="2800" dirty="0" smtClean="0">
                <a:solidFill>
                  <a:srgbClr val="00B0F0"/>
                </a:solidFill>
              </a:rPr>
              <a:t>Imitating </a:t>
            </a:r>
            <a:r>
              <a:rPr lang="en-US" sz="2800" dirty="0">
                <a:solidFill>
                  <a:srgbClr val="00B0F0"/>
                </a:solidFill>
              </a:rPr>
              <a:t>human expertise and intelligence requires that the computer</a:t>
            </a:r>
          </a:p>
          <a:p>
            <a:pPr algn="just">
              <a:buFont typeface="Wingdings" panose="05000000000000000000" pitchFamily="2" charset="2"/>
              <a:buChar char="ü"/>
            </a:pPr>
            <a:r>
              <a:rPr lang="en-US" sz="2800" dirty="0"/>
              <a:t>recognize, formulate and solve a problem;</a:t>
            </a:r>
          </a:p>
          <a:p>
            <a:pPr algn="just">
              <a:buFont typeface="Wingdings" panose="05000000000000000000" pitchFamily="2" charset="2"/>
              <a:buChar char="ü"/>
            </a:pPr>
            <a:r>
              <a:rPr lang="en-US" sz="2800" dirty="0"/>
              <a:t>explain solutions </a:t>
            </a:r>
          </a:p>
          <a:p>
            <a:pPr algn="just">
              <a:buFont typeface="Wingdings" panose="05000000000000000000" pitchFamily="2" charset="2"/>
              <a:buChar char="ü"/>
            </a:pPr>
            <a:r>
              <a:rPr lang="en-US" sz="2800" dirty="0" smtClean="0"/>
              <a:t>And learn </a:t>
            </a:r>
            <a:r>
              <a:rPr lang="en-US" sz="2800" dirty="0"/>
              <a:t>from experience.</a:t>
            </a:r>
          </a:p>
          <a:p>
            <a:pPr algn="just"/>
            <a:r>
              <a:rPr lang="en-US" sz="2800" dirty="0"/>
              <a:t>These systems explain the logic of their advice to the user; hence, in addition to solving problems they can also serve as a teacher.</a:t>
            </a:r>
          </a:p>
          <a:p>
            <a:pPr algn="just"/>
            <a:r>
              <a:rPr lang="en-US" sz="2800" dirty="0"/>
              <a:t>They use flexible thinking processes and can accommodate new knowledge</a:t>
            </a:r>
            <a:r>
              <a:rPr lang="en-US" sz="2800" dirty="0" smtClean="0"/>
              <a:t>.</a:t>
            </a:r>
            <a:endParaRPr lang="en-US" sz="2800" dirty="0"/>
          </a:p>
        </p:txBody>
      </p:sp>
    </p:spTree>
    <p:extLst>
      <p:ext uri="{BB962C8B-B14F-4D97-AF65-F5344CB8AC3E}">
        <p14:creationId xmlns:p14="http://schemas.microsoft.com/office/powerpoint/2010/main" val="16608467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5726"/>
            <a:ext cx="7886700" cy="819150"/>
          </a:xfrm>
        </p:spPr>
        <p:txBody>
          <a:bodyPr>
            <a:normAutofit fontScale="90000"/>
          </a:bodyPr>
          <a:lstStyle/>
          <a:p>
            <a:r>
              <a:rPr lang="en-US" dirty="0" smtClean="0"/>
              <a:t/>
            </a:r>
            <a:br>
              <a:rPr lang="en-US" dirty="0" smtClean="0"/>
            </a:br>
            <a:r>
              <a:rPr lang="en-US" dirty="0" smtClean="0">
                <a:solidFill>
                  <a:srgbClr val="00B0F0"/>
                </a:solidFill>
                <a:latin typeface="+mn-lt"/>
              </a:rPr>
              <a:t>Application </a:t>
            </a:r>
            <a:r>
              <a:rPr lang="en-US" dirty="0">
                <a:solidFill>
                  <a:srgbClr val="00B0F0"/>
                </a:solidFill>
                <a:latin typeface="+mn-lt"/>
              </a:rPr>
              <a:t>of </a:t>
            </a:r>
            <a:r>
              <a:rPr lang="en-US" sz="3600" b="1" dirty="0">
                <a:solidFill>
                  <a:srgbClr val="00B0F0"/>
                </a:solidFill>
                <a:latin typeface="+mn-lt"/>
              </a:rPr>
              <a:t>Expert systems </a:t>
            </a:r>
            <a:r>
              <a:rPr lang="en-US" dirty="0">
                <a:latin typeface="+mn-lt"/>
              </a:rPr>
              <a:t/>
            </a:r>
            <a:br>
              <a:rPr lang="en-US" dirty="0">
                <a:latin typeface="+mn-lt"/>
              </a:rPr>
            </a:br>
            <a:endParaRPr lang="en-US" dirty="0">
              <a:latin typeface="+mn-lt"/>
            </a:endParaRPr>
          </a:p>
        </p:txBody>
      </p:sp>
      <p:sp>
        <p:nvSpPr>
          <p:cNvPr id="3" name="Content Placeholder 2"/>
          <p:cNvSpPr>
            <a:spLocks noGrp="1"/>
          </p:cNvSpPr>
          <p:nvPr>
            <p:ph idx="1"/>
          </p:nvPr>
        </p:nvSpPr>
        <p:spPr>
          <a:xfrm>
            <a:off x="504825" y="904876"/>
            <a:ext cx="8286749" cy="5800724"/>
          </a:xfrm>
        </p:spPr>
        <p:txBody>
          <a:bodyPr>
            <a:noAutofit/>
          </a:bodyPr>
          <a:lstStyle/>
          <a:p>
            <a:pPr algn="just"/>
            <a:r>
              <a:rPr lang="en-US" sz="2800" dirty="0" smtClean="0"/>
              <a:t>Some </a:t>
            </a:r>
            <a:r>
              <a:rPr lang="en-US" sz="2800" dirty="0"/>
              <a:t>of the business applications of expert system are </a:t>
            </a:r>
          </a:p>
          <a:p>
            <a:pPr algn="just"/>
            <a:r>
              <a:rPr lang="en-US" sz="2800" dirty="0" smtClean="0"/>
              <a:t>Accounting </a:t>
            </a:r>
            <a:r>
              <a:rPr lang="en-US" sz="2800" dirty="0"/>
              <a:t>and Finance: Tax advice and assistance, Forecasting, </a:t>
            </a:r>
            <a:r>
              <a:rPr lang="en-US" sz="2800" dirty="0" smtClean="0"/>
              <a:t>Providing investment </a:t>
            </a:r>
            <a:r>
              <a:rPr lang="en-US" sz="2800" dirty="0"/>
              <a:t>advice etc.</a:t>
            </a:r>
          </a:p>
          <a:p>
            <a:pPr algn="just"/>
            <a:r>
              <a:rPr lang="en-US" sz="2800" dirty="0" smtClean="0"/>
              <a:t>Marketing</a:t>
            </a:r>
            <a:r>
              <a:rPr lang="en-US" sz="2800" dirty="0"/>
              <a:t>: Sales </a:t>
            </a:r>
            <a:r>
              <a:rPr lang="en-US" sz="2800" dirty="0" smtClean="0"/>
              <a:t>proportions, </a:t>
            </a:r>
            <a:r>
              <a:rPr lang="en-US" sz="2800" dirty="0"/>
              <a:t>Handling customers inquiries, Discount </a:t>
            </a:r>
            <a:r>
              <a:rPr lang="en-US" sz="2800" dirty="0" smtClean="0"/>
              <a:t>policies, Telemarketing </a:t>
            </a:r>
            <a:r>
              <a:rPr lang="en-US" sz="2800" dirty="0"/>
              <a:t>etc.</a:t>
            </a:r>
          </a:p>
          <a:p>
            <a:pPr algn="just"/>
            <a:r>
              <a:rPr lang="en-US" sz="2800" dirty="0" smtClean="0"/>
              <a:t>Manufacturing</a:t>
            </a:r>
            <a:r>
              <a:rPr lang="en-US" sz="2800" dirty="0"/>
              <a:t>: Process controlling, Quality controlling, </a:t>
            </a:r>
            <a:r>
              <a:rPr lang="en-US" sz="2800" dirty="0" smtClean="0"/>
              <a:t>Production scheduling</a:t>
            </a:r>
            <a:r>
              <a:rPr lang="en-US" sz="2800" dirty="0"/>
              <a:t>, Selecting transporting route, Fault monitoring etc.</a:t>
            </a:r>
          </a:p>
          <a:p>
            <a:pPr algn="just"/>
            <a:r>
              <a:rPr lang="en-US" sz="2800" dirty="0" smtClean="0"/>
              <a:t>Personnel</a:t>
            </a:r>
            <a:r>
              <a:rPr lang="en-US" sz="2800" dirty="0"/>
              <a:t>: Recruitment, Training, Task assignment, Performance appraisal</a:t>
            </a:r>
          </a:p>
          <a:p>
            <a:pPr algn="just"/>
            <a:r>
              <a:rPr lang="en-US" sz="2800" dirty="0" smtClean="0"/>
              <a:t>General </a:t>
            </a:r>
            <a:r>
              <a:rPr lang="en-US" sz="2800" dirty="0"/>
              <a:t>business: Evaluating project proposal, Strategy </a:t>
            </a:r>
            <a:r>
              <a:rPr lang="en-US" sz="2800" dirty="0" smtClean="0"/>
              <a:t>selection, Reporting </a:t>
            </a:r>
            <a:r>
              <a:rPr lang="en-US" sz="2800" dirty="0"/>
              <a:t>etc.</a:t>
            </a:r>
          </a:p>
        </p:txBody>
      </p:sp>
    </p:spTree>
    <p:extLst>
      <p:ext uri="{BB962C8B-B14F-4D97-AF65-F5344CB8AC3E}">
        <p14:creationId xmlns:p14="http://schemas.microsoft.com/office/powerpoint/2010/main" val="10272666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187448"/>
          </a:xfrm>
        </p:spPr>
        <p:txBody>
          <a:bodyPr/>
          <a:lstStyle/>
          <a:p>
            <a:r>
              <a:rPr lang="en-US" dirty="0">
                <a:solidFill>
                  <a:srgbClr val="00B0F0"/>
                </a:solidFill>
                <a:latin typeface="+mn-lt"/>
              </a:rPr>
              <a:t>Properties of </a:t>
            </a:r>
            <a:r>
              <a:rPr lang="en-US" sz="3600" b="1" dirty="0">
                <a:solidFill>
                  <a:srgbClr val="00B0F0"/>
                </a:solidFill>
              </a:rPr>
              <a:t>Expert systems </a:t>
            </a:r>
            <a:r>
              <a:rPr lang="en-US" dirty="0"/>
              <a:t/>
            </a:r>
            <a:br>
              <a:rPr lang="en-US" dirty="0"/>
            </a:br>
            <a:endParaRPr lang="en-US" dirty="0"/>
          </a:p>
        </p:txBody>
      </p:sp>
      <p:sp>
        <p:nvSpPr>
          <p:cNvPr id="3" name="Content Placeholder 2"/>
          <p:cNvSpPr>
            <a:spLocks noGrp="1"/>
          </p:cNvSpPr>
          <p:nvPr>
            <p:ph idx="1"/>
          </p:nvPr>
        </p:nvSpPr>
        <p:spPr>
          <a:xfrm>
            <a:off x="438150" y="1552574"/>
            <a:ext cx="8467855" cy="4981576"/>
          </a:xfrm>
        </p:spPr>
        <p:txBody>
          <a:bodyPr>
            <a:noAutofit/>
          </a:bodyPr>
          <a:lstStyle/>
          <a:p>
            <a:r>
              <a:rPr lang="en-US" sz="2400" dirty="0" smtClean="0"/>
              <a:t>Availability</a:t>
            </a:r>
            <a:r>
              <a:rPr lang="en-US" sz="2400" dirty="0"/>
              <a:t>: ES is always available to solve a problem which </a:t>
            </a:r>
            <a:r>
              <a:rPr lang="en-US" sz="2400" dirty="0" smtClean="0"/>
              <a:t>experts need </a:t>
            </a:r>
            <a:r>
              <a:rPr lang="en-US" sz="2400" dirty="0"/>
              <a:t>to discuss.</a:t>
            </a:r>
          </a:p>
          <a:p>
            <a:r>
              <a:rPr lang="en-US" sz="2400" dirty="0" smtClean="0"/>
              <a:t>Complexity</a:t>
            </a:r>
            <a:r>
              <a:rPr lang="en-US" sz="2400" dirty="0"/>
              <a:t>: Problems for which ES will be used </a:t>
            </a:r>
            <a:r>
              <a:rPr lang="en-US" sz="2400" dirty="0" smtClean="0"/>
              <a:t>to solve, </a:t>
            </a:r>
            <a:r>
              <a:rPr lang="en-US" sz="2400" dirty="0" smtClean="0"/>
              <a:t>are </a:t>
            </a:r>
            <a:r>
              <a:rPr lang="en-US" sz="2400" dirty="0"/>
              <a:t>complex </a:t>
            </a:r>
            <a:r>
              <a:rPr lang="en-US" sz="2400" dirty="0" smtClean="0"/>
              <a:t>tasks </a:t>
            </a:r>
            <a:r>
              <a:rPr lang="en-US" sz="2400" dirty="0" smtClean="0"/>
              <a:t>which would </a:t>
            </a:r>
            <a:r>
              <a:rPr lang="en-US" sz="2400" dirty="0"/>
              <a:t>not be easily handled by </a:t>
            </a:r>
            <a:r>
              <a:rPr lang="en-US" sz="2400" dirty="0" smtClean="0"/>
              <a:t>unoriginal </a:t>
            </a:r>
            <a:r>
              <a:rPr lang="en-US" sz="2400" dirty="0"/>
              <a:t>information processing.</a:t>
            </a:r>
          </a:p>
          <a:p>
            <a:r>
              <a:rPr lang="en-US" sz="2400" dirty="0" smtClean="0"/>
              <a:t>Domain </a:t>
            </a:r>
            <a:r>
              <a:rPr lang="en-US" sz="2400" dirty="0"/>
              <a:t>: The subject area of the problem is relatively small in ES.</a:t>
            </a:r>
          </a:p>
          <a:p>
            <a:r>
              <a:rPr lang="en-US" sz="2400" dirty="0" smtClean="0"/>
              <a:t>Expertise</a:t>
            </a:r>
            <a:r>
              <a:rPr lang="en-US" sz="2400" dirty="0"/>
              <a:t>: ES aim to solve the problem that require the efforts of experts.</a:t>
            </a:r>
          </a:p>
          <a:p>
            <a:r>
              <a:rPr lang="en-US" sz="2400" dirty="0" smtClean="0"/>
              <a:t>Structure</a:t>
            </a:r>
            <a:r>
              <a:rPr lang="en-US" sz="2400" dirty="0"/>
              <a:t>: ES handle problems with un-structured, un-certain </a:t>
            </a:r>
            <a:r>
              <a:rPr lang="en-US" sz="2400" dirty="0" smtClean="0"/>
              <a:t>and conflicting </a:t>
            </a:r>
            <a:r>
              <a:rPr lang="en-US" sz="2400" dirty="0"/>
              <a:t>data.</a:t>
            </a:r>
          </a:p>
        </p:txBody>
      </p:sp>
    </p:spTree>
    <p:extLst>
      <p:ext uri="{BB962C8B-B14F-4D97-AF65-F5344CB8AC3E}">
        <p14:creationId xmlns:p14="http://schemas.microsoft.com/office/powerpoint/2010/main" val="37866676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932848"/>
          </a:xfrm>
        </p:spPr>
        <p:txBody>
          <a:bodyPr>
            <a:normAutofit fontScale="90000"/>
          </a:bodyPr>
          <a:lstStyle/>
          <a:p>
            <a:r>
              <a:rPr lang="en-US" cap="none" dirty="0" smtClean="0">
                <a:solidFill>
                  <a:srgbClr val="00B0F0"/>
                </a:solidFill>
              </a:rPr>
              <a:t>Components Of </a:t>
            </a:r>
            <a:r>
              <a:rPr lang="en-US" sz="3600" b="1" dirty="0">
                <a:solidFill>
                  <a:srgbClr val="00B0F0"/>
                </a:solidFill>
              </a:rPr>
              <a:t>Expert systems </a:t>
            </a:r>
            <a:r>
              <a:rPr lang="en-US" cap="none" dirty="0" smtClean="0">
                <a:solidFill>
                  <a:srgbClr val="00B0F0"/>
                </a:solidFill>
              </a:rPr>
              <a:t/>
            </a:r>
            <a:br>
              <a:rPr lang="en-US" cap="none" dirty="0" smtClean="0">
                <a:solidFill>
                  <a:srgbClr val="00B0F0"/>
                </a:solidFill>
              </a:rPr>
            </a:br>
            <a:endParaRPr lang="en-US" dirty="0">
              <a:solidFill>
                <a:srgbClr val="00B0F0"/>
              </a:solidFill>
            </a:endParaRPr>
          </a:p>
        </p:txBody>
      </p:sp>
      <p:sp>
        <p:nvSpPr>
          <p:cNvPr id="3" name="Content Placeholder 2"/>
          <p:cNvSpPr>
            <a:spLocks noGrp="1"/>
          </p:cNvSpPr>
          <p:nvPr>
            <p:ph idx="1"/>
          </p:nvPr>
        </p:nvSpPr>
        <p:spPr>
          <a:xfrm>
            <a:off x="276225" y="1390649"/>
            <a:ext cx="8677275" cy="5248275"/>
          </a:xfrm>
        </p:spPr>
        <p:txBody>
          <a:bodyPr>
            <a:normAutofit/>
          </a:bodyPr>
          <a:lstStyle/>
          <a:p>
            <a:pPr algn="just"/>
            <a:r>
              <a:rPr lang="en-US" sz="3200" dirty="0" smtClean="0"/>
              <a:t>An </a:t>
            </a:r>
            <a:r>
              <a:rPr lang="en-US" sz="3200" dirty="0"/>
              <a:t>expert system is typically composed of the Knowledge base, </a:t>
            </a:r>
            <a:r>
              <a:rPr lang="en-US" sz="3200" dirty="0" smtClean="0"/>
              <a:t>Inference engine</a:t>
            </a:r>
            <a:r>
              <a:rPr lang="en-US" sz="3200" dirty="0"/>
              <a:t>, Knowledge acquisition facility and User interface.</a:t>
            </a:r>
          </a:p>
          <a:p>
            <a:pPr marL="0" indent="0" algn="just">
              <a:buNone/>
            </a:pPr>
            <a:r>
              <a:rPr lang="en-US" sz="3200" dirty="0"/>
              <a:t>(a) Knowledge Base:</a:t>
            </a:r>
          </a:p>
          <a:p>
            <a:pPr algn="just"/>
            <a:r>
              <a:rPr lang="en-US" sz="3200" dirty="0"/>
              <a:t>The knowledge base stores the data of problem, their solutions and </a:t>
            </a:r>
            <a:r>
              <a:rPr lang="en-US" sz="3200" dirty="0" smtClean="0"/>
              <a:t>the relationship </a:t>
            </a:r>
            <a:r>
              <a:rPr lang="en-US" sz="3200" dirty="0"/>
              <a:t>between them. It formally represents the </a:t>
            </a:r>
            <a:r>
              <a:rPr lang="en-US" sz="3200" dirty="0" smtClean="0"/>
              <a:t>knowledge acquired </a:t>
            </a:r>
            <a:r>
              <a:rPr lang="en-US" sz="3200" dirty="0"/>
              <a:t>from the expert so that solution for the problem can </a:t>
            </a:r>
            <a:r>
              <a:rPr lang="en-US" sz="3200" dirty="0" smtClean="0"/>
              <a:t>be  done </a:t>
            </a:r>
            <a:r>
              <a:rPr lang="en-US" sz="3200" dirty="0"/>
              <a:t>easily. The power of a system tends to be related to the </a:t>
            </a:r>
            <a:r>
              <a:rPr lang="en-US" sz="3200" dirty="0" smtClean="0"/>
              <a:t>depth of </a:t>
            </a:r>
            <a:r>
              <a:rPr lang="en-US" sz="3200" dirty="0"/>
              <a:t>the knowledge in the knowledge base.</a:t>
            </a:r>
          </a:p>
        </p:txBody>
      </p:sp>
    </p:spTree>
    <p:extLst>
      <p:ext uri="{BB962C8B-B14F-4D97-AF65-F5344CB8AC3E}">
        <p14:creationId xmlns:p14="http://schemas.microsoft.com/office/powerpoint/2010/main" val="9504921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425" y="559284"/>
            <a:ext cx="8582025" cy="5860565"/>
          </a:xfrm>
        </p:spPr>
        <p:txBody>
          <a:bodyPr>
            <a:noAutofit/>
          </a:bodyPr>
          <a:lstStyle/>
          <a:p>
            <a:pPr marL="0" indent="0" algn="just">
              <a:buNone/>
            </a:pPr>
            <a:r>
              <a:rPr lang="en-US" sz="2800" b="1" dirty="0" smtClean="0"/>
              <a:t>Inference Engine :</a:t>
            </a:r>
            <a:endParaRPr lang="en-US" sz="2800" b="1" dirty="0"/>
          </a:p>
          <a:p>
            <a:pPr algn="just"/>
            <a:r>
              <a:rPr lang="en-US" sz="2800" dirty="0"/>
              <a:t>The inference engine is the main processing element consisting </a:t>
            </a:r>
            <a:r>
              <a:rPr lang="en-US" sz="2800" dirty="0" smtClean="0"/>
              <a:t>of system </a:t>
            </a:r>
            <a:r>
              <a:rPr lang="en-US" sz="2800" dirty="0"/>
              <a:t>of programs that receives data from user, manipulate </a:t>
            </a:r>
            <a:r>
              <a:rPr lang="en-US" sz="2800" dirty="0" smtClean="0"/>
              <a:t>the knowledge </a:t>
            </a:r>
            <a:r>
              <a:rPr lang="en-US" sz="2800" dirty="0"/>
              <a:t>base and provide a decision to the user. To identify </a:t>
            </a:r>
            <a:r>
              <a:rPr lang="en-US" sz="2800" dirty="0" smtClean="0"/>
              <a:t>solution of </a:t>
            </a:r>
            <a:r>
              <a:rPr lang="en-US" sz="2800" dirty="0"/>
              <a:t>the problem, it </a:t>
            </a:r>
            <a:r>
              <a:rPr lang="en-US" sz="2800" dirty="0" smtClean="0"/>
              <a:t>employees </a:t>
            </a:r>
            <a:r>
              <a:rPr lang="en-US" sz="2800" dirty="0"/>
              <a:t>different reasoning models such as –</a:t>
            </a:r>
          </a:p>
          <a:p>
            <a:pPr algn="just"/>
            <a:r>
              <a:rPr lang="en-US" sz="2800" dirty="0"/>
              <a:t>Forward-Chaining mechanism : First examine the problem at hand </a:t>
            </a:r>
            <a:r>
              <a:rPr lang="en-US" sz="2800" dirty="0" smtClean="0"/>
              <a:t>and the </a:t>
            </a:r>
            <a:r>
              <a:rPr lang="en-US" sz="2800" dirty="0"/>
              <a:t>knowledge base ; then it attempts to discover a solution.</a:t>
            </a:r>
          </a:p>
          <a:p>
            <a:pPr algn="just"/>
            <a:r>
              <a:rPr lang="en-US" sz="2800" dirty="0"/>
              <a:t>Backward-Chaining mechanism : The </a:t>
            </a:r>
            <a:r>
              <a:rPr lang="en-US" sz="2800" b="1" dirty="0"/>
              <a:t>Inference Engine</a:t>
            </a:r>
            <a:r>
              <a:rPr lang="en-US" sz="2800" dirty="0" smtClean="0"/>
              <a:t> </a:t>
            </a:r>
            <a:r>
              <a:rPr lang="en-US" sz="2800" dirty="0"/>
              <a:t>starts a series of questions </a:t>
            </a:r>
            <a:r>
              <a:rPr lang="en-US" sz="2800" dirty="0" smtClean="0"/>
              <a:t>and tries </a:t>
            </a:r>
            <a:r>
              <a:rPr lang="en-US" sz="2800" dirty="0"/>
              <a:t>to identify the user problem. Once the problem is diagnosed </a:t>
            </a:r>
            <a:r>
              <a:rPr lang="en-US" sz="2800" dirty="0" smtClean="0"/>
              <a:t>the solution </a:t>
            </a:r>
            <a:r>
              <a:rPr lang="en-US" sz="2800" dirty="0"/>
              <a:t>is extracted from the knowledge base and recommended to the user</a:t>
            </a:r>
            <a:r>
              <a:rPr lang="en-US" sz="2800" dirty="0" smtClean="0"/>
              <a:t>.</a:t>
            </a:r>
            <a:endParaRPr lang="en-US" sz="2800" dirty="0"/>
          </a:p>
        </p:txBody>
      </p:sp>
    </p:spTree>
    <p:extLst>
      <p:ext uri="{BB962C8B-B14F-4D97-AF65-F5344CB8AC3E}">
        <p14:creationId xmlns:p14="http://schemas.microsoft.com/office/powerpoint/2010/main" val="12255413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984" y="526094"/>
            <a:ext cx="8182366" cy="5893756"/>
          </a:xfrm>
        </p:spPr>
        <p:txBody>
          <a:bodyPr>
            <a:normAutofit/>
          </a:bodyPr>
          <a:lstStyle/>
          <a:p>
            <a:pPr marL="0" indent="0" algn="just">
              <a:buNone/>
            </a:pPr>
            <a:r>
              <a:rPr lang="en-US" dirty="0"/>
              <a:t>(c) </a:t>
            </a:r>
            <a:r>
              <a:rPr lang="en-US" sz="2400" b="1" dirty="0"/>
              <a:t>Knowledge Acquisition Subsystem (KAS) :</a:t>
            </a:r>
          </a:p>
          <a:p>
            <a:pPr algn="just"/>
            <a:r>
              <a:rPr lang="en-US" sz="2400" dirty="0"/>
              <a:t>The Knowledge Acquisition Subsystem</a:t>
            </a:r>
            <a:r>
              <a:rPr lang="en-US" sz="2400" dirty="0" smtClean="0"/>
              <a:t> </a:t>
            </a:r>
            <a:r>
              <a:rPr lang="en-US" sz="2400" dirty="0"/>
              <a:t>is the software component of the ES that enables </a:t>
            </a:r>
            <a:r>
              <a:rPr lang="en-US" sz="2400" dirty="0" smtClean="0"/>
              <a:t>the knowledge </a:t>
            </a:r>
            <a:r>
              <a:rPr lang="en-US" sz="2400" dirty="0"/>
              <a:t>engineer to build and refine </a:t>
            </a:r>
            <a:r>
              <a:rPr lang="en-US" sz="2400" dirty="0" smtClean="0"/>
              <a:t>the </a:t>
            </a:r>
            <a:r>
              <a:rPr lang="en-US" sz="2400" dirty="0" smtClean="0"/>
              <a:t>ES's </a:t>
            </a:r>
            <a:r>
              <a:rPr lang="en-US" sz="2400" dirty="0"/>
              <a:t>Knowledge base.</a:t>
            </a:r>
          </a:p>
          <a:p>
            <a:pPr algn="just"/>
            <a:r>
              <a:rPr lang="en-US" sz="2400" dirty="0"/>
              <a:t>Knowledge base development and maintenance can be done using special, </a:t>
            </a:r>
            <a:r>
              <a:rPr lang="en-US" sz="2400" dirty="0" smtClean="0"/>
              <a:t>reasonable user-friendly </a:t>
            </a:r>
            <a:r>
              <a:rPr lang="en-US" sz="2400" dirty="0"/>
              <a:t>software. This software provides a convenient and </a:t>
            </a:r>
            <a:r>
              <a:rPr lang="en-US" sz="2400" dirty="0" smtClean="0"/>
              <a:t>efficient means </a:t>
            </a:r>
            <a:r>
              <a:rPr lang="en-US" sz="2400" dirty="0"/>
              <a:t>of capturing and storing the contents of the knowledge base.</a:t>
            </a:r>
          </a:p>
          <a:p>
            <a:pPr marL="0" indent="0" algn="just">
              <a:buNone/>
            </a:pPr>
            <a:r>
              <a:rPr lang="en-US" sz="2400" b="1" dirty="0"/>
              <a:t>(d) User Interface:</a:t>
            </a:r>
          </a:p>
          <a:p>
            <a:pPr algn="just"/>
            <a:r>
              <a:rPr lang="en-US" sz="2400" dirty="0"/>
              <a:t>It is a program with which Expert system and User interacts with </a:t>
            </a:r>
            <a:r>
              <a:rPr lang="en-US" sz="2400" dirty="0" smtClean="0"/>
              <a:t>each other</a:t>
            </a:r>
            <a:r>
              <a:rPr lang="en-US" sz="2400" dirty="0"/>
              <a:t>. The UI of ES prompts the user to supply information about </a:t>
            </a:r>
            <a:r>
              <a:rPr lang="en-US" sz="2400" dirty="0" smtClean="0"/>
              <a:t>the problem </a:t>
            </a:r>
            <a:r>
              <a:rPr lang="en-US" sz="2400" dirty="0"/>
              <a:t>and the user types in the requested data. The system </a:t>
            </a:r>
            <a:r>
              <a:rPr lang="en-US" sz="2400" dirty="0" smtClean="0"/>
              <a:t>continue to </a:t>
            </a:r>
            <a:r>
              <a:rPr lang="en-US" sz="2400" dirty="0"/>
              <a:t>prompt user for more information until the system has enough </a:t>
            </a:r>
            <a:r>
              <a:rPr lang="en-US" sz="2400" dirty="0" smtClean="0"/>
              <a:t>data about </a:t>
            </a:r>
            <a:r>
              <a:rPr lang="en-US" sz="2400" dirty="0"/>
              <a:t>the current problem so that it can reach a conclusion. Thus </a:t>
            </a:r>
            <a:r>
              <a:rPr lang="en-US" sz="2400" dirty="0" smtClean="0"/>
              <a:t>the UI </a:t>
            </a:r>
            <a:r>
              <a:rPr lang="en-US" sz="2400" dirty="0"/>
              <a:t>is a highly interactive component of ES.</a:t>
            </a:r>
          </a:p>
          <a:p>
            <a:pPr algn="just"/>
            <a:endParaRPr lang="en-US" dirty="0"/>
          </a:p>
        </p:txBody>
      </p:sp>
    </p:spTree>
    <p:extLst>
      <p:ext uri="{BB962C8B-B14F-4D97-AF65-F5344CB8AC3E}">
        <p14:creationId xmlns:p14="http://schemas.microsoft.com/office/powerpoint/2010/main" val="36347085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223" y="0"/>
            <a:ext cx="7202273" cy="752475"/>
          </a:xfrm>
        </p:spPr>
        <p:txBody>
          <a:bodyPr>
            <a:normAutofit/>
          </a:bodyPr>
          <a:lstStyle/>
          <a:p>
            <a:r>
              <a:rPr lang="en-US" sz="3600" b="1" cap="none" dirty="0" smtClean="0">
                <a:solidFill>
                  <a:srgbClr val="00B0F0"/>
                </a:solidFill>
              </a:rPr>
              <a:t>Office Automation Systems (OAS) </a:t>
            </a:r>
            <a:endParaRPr lang="en-US" sz="3600" b="1" cap="none" dirty="0">
              <a:solidFill>
                <a:srgbClr val="00B0F0"/>
              </a:solidFill>
            </a:endParaRPr>
          </a:p>
        </p:txBody>
      </p:sp>
      <p:sp>
        <p:nvSpPr>
          <p:cNvPr id="3" name="Content Placeholder 2"/>
          <p:cNvSpPr>
            <a:spLocks noGrp="1"/>
          </p:cNvSpPr>
          <p:nvPr>
            <p:ph idx="1"/>
          </p:nvPr>
        </p:nvSpPr>
        <p:spPr>
          <a:xfrm>
            <a:off x="639547" y="752475"/>
            <a:ext cx="7999627" cy="5772150"/>
          </a:xfrm>
        </p:spPr>
        <p:txBody>
          <a:bodyPr>
            <a:noAutofit/>
          </a:bodyPr>
          <a:lstStyle/>
          <a:p>
            <a:pPr marL="0" indent="0" algn="just">
              <a:buNone/>
            </a:pPr>
            <a:r>
              <a:rPr lang="en-US" sz="2800" b="1" dirty="0"/>
              <a:t>Office automation</a:t>
            </a:r>
            <a:r>
              <a:rPr lang="en-US" sz="2800" dirty="0"/>
              <a:t> is the process of watching data flow around on its own without any human intervention, inaccuracies, and errors. It is the process of using an automation tool to create, collect, store, analyze, and share confidential office data that is required to accomplish </a:t>
            </a:r>
            <a:r>
              <a:rPr lang="en-US" sz="2800" dirty="0" smtClean="0"/>
              <a:t>day-to-day </a:t>
            </a:r>
            <a:r>
              <a:rPr lang="en-US" sz="2800" dirty="0"/>
              <a:t>routine tasks and processes </a:t>
            </a:r>
            <a:r>
              <a:rPr lang="en-US" sz="2800" dirty="0" smtClean="0"/>
              <a:t>effectively.</a:t>
            </a:r>
          </a:p>
          <a:p>
            <a:pPr marL="0" indent="0" algn="just">
              <a:buNone/>
            </a:pPr>
            <a:r>
              <a:rPr lang="en-US" sz="2800" dirty="0"/>
              <a:t>An </a:t>
            </a:r>
            <a:r>
              <a:rPr lang="en-US" sz="2800" b="1" dirty="0"/>
              <a:t>office automation system</a:t>
            </a:r>
            <a:r>
              <a:rPr lang="en-US" sz="2800" dirty="0"/>
              <a:t> is the tool that enables data to move from one system to another on its own without human intervention and inaccuracies. These tools help organizations collect, manage, and analyze securely to accomplish everyday tasks and processes. It optimizes and automates existing </a:t>
            </a:r>
            <a:r>
              <a:rPr lang="en-US" sz="2800" dirty="0">
                <a:hlinkClick r:id="rId2"/>
              </a:rPr>
              <a:t>business processes</a:t>
            </a:r>
            <a:r>
              <a:rPr lang="en-US" sz="2800" dirty="0"/>
              <a:t> and </a:t>
            </a:r>
            <a:r>
              <a:rPr lang="en-US" sz="2800" dirty="0" smtClean="0"/>
              <a:t>procedures</a:t>
            </a:r>
          </a:p>
        </p:txBody>
      </p:sp>
    </p:spTree>
    <p:extLst>
      <p:ext uri="{BB962C8B-B14F-4D97-AF65-F5344CB8AC3E}">
        <p14:creationId xmlns:p14="http://schemas.microsoft.com/office/powerpoint/2010/main" val="42762790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8757" y="663191"/>
            <a:ext cx="7833767" cy="6039060"/>
          </a:xfrm>
        </p:spPr>
        <p:txBody>
          <a:bodyPr>
            <a:noAutofit/>
          </a:bodyPr>
          <a:lstStyle/>
          <a:p>
            <a:pPr marL="0" indent="0" algn="just">
              <a:buNone/>
            </a:pPr>
            <a:r>
              <a:rPr lang="en-US" sz="2800" b="1" dirty="0"/>
              <a:t>Office automation systems</a:t>
            </a:r>
            <a:r>
              <a:rPr lang="en-US" sz="2800" dirty="0" smtClean="0"/>
              <a:t> </a:t>
            </a:r>
            <a:r>
              <a:rPr lang="en-US" sz="2800" dirty="0"/>
              <a:t>refers to the computer machinery and software used to digitally automate routine office tasks, such as creation of </a:t>
            </a:r>
            <a:r>
              <a:rPr lang="en-US" sz="2800" dirty="0" smtClean="0"/>
              <a:t>documents and </a:t>
            </a:r>
            <a:r>
              <a:rPr lang="en-US" sz="2800" dirty="0"/>
              <a:t>billing </a:t>
            </a:r>
          </a:p>
          <a:p>
            <a:pPr marL="0" indent="0" algn="just">
              <a:buNone/>
            </a:pPr>
            <a:r>
              <a:rPr lang="en-US" sz="2800" b="1" dirty="0"/>
              <a:t>Or</a:t>
            </a:r>
          </a:p>
          <a:p>
            <a:pPr marL="0" indent="0" algn="just">
              <a:buNone/>
            </a:pPr>
            <a:r>
              <a:rPr lang="en-US" sz="2800" b="1" dirty="0"/>
              <a:t>Office automation systems </a:t>
            </a:r>
            <a:r>
              <a:rPr lang="en-US" sz="2800" dirty="0"/>
              <a:t>are computer based information systems that collect, process, store and transmit electronic messages, documents and other forms of communications among individuals, work groups and organizations. Such systems can increase the productivity of managerial end </a:t>
            </a:r>
            <a:r>
              <a:rPr lang="en-US" sz="2800" dirty="0" smtClean="0"/>
              <a:t>users, other </a:t>
            </a:r>
            <a:r>
              <a:rPr lang="en-US" sz="2800" dirty="0"/>
              <a:t>professional and staff personnel by significantly reducing the time and effort needed to produce, access and receive business communications.</a:t>
            </a:r>
          </a:p>
          <a:p>
            <a:pPr marL="0" indent="0">
              <a:buNone/>
            </a:pPr>
            <a:endParaRPr lang="en-US" sz="2800" dirty="0"/>
          </a:p>
        </p:txBody>
      </p:sp>
    </p:spTree>
    <p:extLst>
      <p:ext uri="{BB962C8B-B14F-4D97-AF65-F5344CB8AC3E}">
        <p14:creationId xmlns:p14="http://schemas.microsoft.com/office/powerpoint/2010/main" val="18598952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557067"/>
          </a:xfrm>
        </p:spPr>
        <p:txBody>
          <a:bodyPr>
            <a:normAutofit fontScale="90000"/>
          </a:bodyPr>
          <a:lstStyle/>
          <a:p>
            <a:r>
              <a:rPr lang="en-US" b="1" dirty="0" smtClean="0"/>
              <a:t>Components of </a:t>
            </a:r>
            <a:r>
              <a:rPr lang="en-US" sz="3600" b="1" dirty="0"/>
              <a:t>Office automation systems </a:t>
            </a:r>
            <a:endParaRPr lang="en-US" dirty="0"/>
          </a:p>
        </p:txBody>
      </p:sp>
      <p:pic>
        <p:nvPicPr>
          <p:cNvPr id="4" name="Content Placeholder 3"/>
          <p:cNvPicPr>
            <a:picLocks noGrp="1" noChangeAspect="1"/>
          </p:cNvPicPr>
          <p:nvPr>
            <p:ph idx="1"/>
          </p:nvPr>
        </p:nvPicPr>
        <p:blipFill>
          <a:blip r:embed="rId2"/>
          <a:stretch>
            <a:fillRect/>
          </a:stretch>
        </p:blipFill>
        <p:spPr>
          <a:xfrm>
            <a:off x="1064018" y="939452"/>
            <a:ext cx="4309647" cy="3333100"/>
          </a:xfrm>
          <a:prstGeom prst="rect">
            <a:avLst/>
          </a:prstGeom>
        </p:spPr>
      </p:pic>
      <p:pic>
        <p:nvPicPr>
          <p:cNvPr id="5" name="Picture 4"/>
          <p:cNvPicPr>
            <a:picLocks noChangeAspect="1"/>
          </p:cNvPicPr>
          <p:nvPr/>
        </p:nvPicPr>
        <p:blipFill>
          <a:blip r:embed="rId3"/>
          <a:stretch>
            <a:fillRect/>
          </a:stretch>
        </p:blipFill>
        <p:spPr>
          <a:xfrm>
            <a:off x="432079" y="4321480"/>
            <a:ext cx="6633299" cy="2271422"/>
          </a:xfrm>
          <a:prstGeom prst="rect">
            <a:avLst/>
          </a:prstGeom>
        </p:spPr>
      </p:pic>
    </p:spTree>
    <p:extLst>
      <p:ext uri="{BB962C8B-B14F-4D97-AF65-F5344CB8AC3E}">
        <p14:creationId xmlns:p14="http://schemas.microsoft.com/office/powerpoint/2010/main" val="28620360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441" y="318852"/>
            <a:ext cx="7543800" cy="444455"/>
          </a:xfrm>
        </p:spPr>
        <p:txBody>
          <a:bodyPr>
            <a:noAutofit/>
          </a:bodyPr>
          <a:lstStyle/>
          <a:p>
            <a:r>
              <a:rPr lang="en-US" sz="2700" b="1" cap="none" dirty="0">
                <a:solidFill>
                  <a:srgbClr val="00B0F0"/>
                </a:solidFill>
              </a:rPr>
              <a:t>Main Types of Tools  used by OAS Include:</a:t>
            </a:r>
          </a:p>
        </p:txBody>
      </p:sp>
      <p:sp>
        <p:nvSpPr>
          <p:cNvPr id="3" name="Content Placeholder 2"/>
          <p:cNvSpPr>
            <a:spLocks noGrp="1"/>
          </p:cNvSpPr>
          <p:nvPr>
            <p:ph idx="1"/>
          </p:nvPr>
        </p:nvSpPr>
        <p:spPr>
          <a:xfrm>
            <a:off x="708441" y="1252603"/>
            <a:ext cx="7543800" cy="3745282"/>
          </a:xfrm>
        </p:spPr>
        <p:txBody>
          <a:bodyPr>
            <a:noAutofit/>
          </a:bodyPr>
          <a:lstStyle/>
          <a:p>
            <a:pPr algn="just"/>
            <a:r>
              <a:rPr lang="en-US" sz="2400" dirty="0" smtClean="0"/>
              <a:t>MS </a:t>
            </a:r>
            <a:r>
              <a:rPr lang="en-US" sz="2400" dirty="0"/>
              <a:t>Word, MS excel etc.</a:t>
            </a:r>
          </a:p>
          <a:p>
            <a:pPr algn="just"/>
            <a:r>
              <a:rPr lang="en-US" sz="2400" dirty="0"/>
              <a:t>Text &amp; image processing systems </a:t>
            </a:r>
          </a:p>
          <a:p>
            <a:pPr algn="just"/>
            <a:r>
              <a:rPr lang="en-US" sz="2400" dirty="0"/>
              <a:t>Personal database systems and note-taking systems</a:t>
            </a:r>
          </a:p>
          <a:p>
            <a:pPr marL="0" indent="0" algn="just">
              <a:buNone/>
            </a:pPr>
            <a:r>
              <a:rPr lang="en-US" sz="2400" dirty="0"/>
              <a:t>OAS includes the following roles/activities:</a:t>
            </a:r>
          </a:p>
          <a:p>
            <a:pPr algn="just"/>
            <a:r>
              <a:rPr lang="en-US" sz="2400" dirty="0"/>
              <a:t>Exchange of information</a:t>
            </a:r>
          </a:p>
          <a:p>
            <a:pPr algn="just"/>
            <a:r>
              <a:rPr lang="en-US" sz="2400" dirty="0"/>
              <a:t>Management of administrative documents</a:t>
            </a:r>
          </a:p>
          <a:p>
            <a:pPr algn="just"/>
            <a:r>
              <a:rPr lang="en-US" sz="2400" dirty="0"/>
              <a:t>Handling of numerical data</a:t>
            </a:r>
          </a:p>
          <a:p>
            <a:pPr algn="just"/>
            <a:r>
              <a:rPr lang="en-US" sz="2400" dirty="0"/>
              <a:t>Meeting planning and management of work schedules</a:t>
            </a:r>
          </a:p>
          <a:p>
            <a:endParaRPr lang="en-US" sz="2400" dirty="0"/>
          </a:p>
        </p:txBody>
      </p:sp>
    </p:spTree>
    <p:extLst>
      <p:ext uri="{BB962C8B-B14F-4D97-AF65-F5344CB8AC3E}">
        <p14:creationId xmlns:p14="http://schemas.microsoft.com/office/powerpoint/2010/main" val="156301771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28650" y="365126"/>
            <a:ext cx="7886700" cy="387349"/>
          </a:xfrm>
        </p:spPr>
        <p:txBody>
          <a:bodyPr>
            <a:normAutofit fontScale="90000"/>
          </a:bodyPr>
          <a:lstStyle/>
          <a:p>
            <a:r>
              <a:rPr lang="en-US" sz="3200" cap="none" dirty="0">
                <a:solidFill>
                  <a:srgbClr val="00B0F0"/>
                </a:solidFill>
                <a:latin typeface="+mn-lt"/>
              </a:rPr>
              <a:t>D</a:t>
            </a:r>
            <a:r>
              <a:rPr lang="en-US" sz="3200" cap="none" dirty="0" smtClean="0">
                <a:solidFill>
                  <a:srgbClr val="00B0F0"/>
                </a:solidFill>
                <a:latin typeface="+mn-lt"/>
              </a:rPr>
              <a:t>ifferent office activities supported by </a:t>
            </a:r>
            <a:r>
              <a:rPr lang="en-US" sz="3200" dirty="0" smtClean="0">
                <a:solidFill>
                  <a:srgbClr val="00B0F0"/>
                </a:solidFill>
                <a:latin typeface="+mn-lt"/>
              </a:rPr>
              <a:t>OAS</a:t>
            </a:r>
            <a:endParaRPr lang="en-US" sz="3200" cap="none" dirty="0">
              <a:solidFill>
                <a:srgbClr val="00B0F0"/>
              </a:solidFill>
              <a:latin typeface="+mn-lt"/>
            </a:endParaRPr>
          </a:p>
        </p:txBody>
      </p:sp>
      <p:sp>
        <p:nvSpPr>
          <p:cNvPr id="8" name="Content Placeholder 7"/>
          <p:cNvSpPr>
            <a:spLocks noGrp="1"/>
          </p:cNvSpPr>
          <p:nvPr>
            <p:ph idx="1"/>
          </p:nvPr>
        </p:nvSpPr>
        <p:spPr>
          <a:xfrm>
            <a:off x="838550" y="1095375"/>
            <a:ext cx="7633742" cy="5248275"/>
          </a:xfrm>
        </p:spPr>
        <p:txBody>
          <a:bodyPr>
            <a:noAutofit/>
          </a:bodyPr>
          <a:lstStyle/>
          <a:p>
            <a:pPr algn="just"/>
            <a:r>
              <a:rPr lang="en-US" sz="2400" b="1" dirty="0"/>
              <a:t>Document capture</a:t>
            </a:r>
            <a:r>
              <a:rPr lang="en-US" sz="2400" dirty="0"/>
              <a:t>: This consists of capturing incoming documents </a:t>
            </a:r>
            <a:r>
              <a:rPr lang="en-US" sz="2400" dirty="0" smtClean="0"/>
              <a:t>such </a:t>
            </a:r>
            <a:r>
              <a:rPr lang="fr-FR" sz="2400" dirty="0" smtClean="0"/>
              <a:t>as </a:t>
            </a:r>
            <a:r>
              <a:rPr lang="fr-FR" sz="2400" dirty="0"/>
              <a:t>mails, notes, </a:t>
            </a:r>
            <a:r>
              <a:rPr lang="fr-FR" sz="2400" dirty="0" err="1" smtClean="0"/>
              <a:t>handouts</a:t>
            </a:r>
            <a:r>
              <a:rPr lang="fr-FR" sz="2400" dirty="0" smtClean="0"/>
              <a:t> and graphs </a:t>
            </a:r>
            <a:r>
              <a:rPr lang="fr-FR" sz="2400" dirty="0"/>
              <a:t>etc.</a:t>
            </a:r>
          </a:p>
          <a:p>
            <a:pPr algn="just"/>
            <a:r>
              <a:rPr lang="en-US" sz="2400" b="1" dirty="0" smtClean="0"/>
              <a:t>Document </a:t>
            </a:r>
            <a:r>
              <a:rPr lang="en-US" sz="2400" b="1" dirty="0"/>
              <a:t>creation</a:t>
            </a:r>
            <a:r>
              <a:rPr lang="en-US" sz="2400" dirty="0"/>
              <a:t>: This consists of preparation of documents, </a:t>
            </a:r>
            <a:r>
              <a:rPr lang="en-US" sz="2400" dirty="0" smtClean="0"/>
              <a:t>such as  </a:t>
            </a:r>
            <a:r>
              <a:rPr lang="en-US" sz="2400" dirty="0"/>
              <a:t>editing texts etc.</a:t>
            </a:r>
          </a:p>
          <a:p>
            <a:pPr algn="just"/>
            <a:r>
              <a:rPr lang="en-US" sz="2400" b="1" dirty="0" smtClean="0"/>
              <a:t>Receipts </a:t>
            </a:r>
            <a:r>
              <a:rPr lang="en-US" sz="2400" b="1" dirty="0"/>
              <a:t>and Distribution </a:t>
            </a:r>
            <a:r>
              <a:rPr lang="en-US" sz="2400" dirty="0"/>
              <a:t>: This includes distribution of </a:t>
            </a:r>
            <a:r>
              <a:rPr lang="en-US" sz="2400" dirty="0" smtClean="0"/>
              <a:t>correspondence to </a:t>
            </a:r>
            <a:r>
              <a:rPr lang="en-US" sz="2400" dirty="0"/>
              <a:t>designated recipients.</a:t>
            </a:r>
          </a:p>
          <a:p>
            <a:pPr algn="just"/>
            <a:r>
              <a:rPr lang="en-US" sz="2400" b="1" dirty="0" smtClean="0"/>
              <a:t>Filling</a:t>
            </a:r>
            <a:r>
              <a:rPr lang="en-US" sz="2400" b="1" dirty="0"/>
              <a:t>, </a:t>
            </a:r>
            <a:r>
              <a:rPr lang="en-US" sz="2400" dirty="0"/>
              <a:t>Search, Retrieval and Follow up: This includes document </a:t>
            </a:r>
            <a:r>
              <a:rPr lang="en-US" sz="2400" dirty="0" smtClean="0"/>
              <a:t>filling, indexing </a:t>
            </a:r>
            <a:r>
              <a:rPr lang="en-US" sz="2400" dirty="0"/>
              <a:t>and searching.</a:t>
            </a:r>
          </a:p>
          <a:p>
            <a:pPr algn="just"/>
            <a:r>
              <a:rPr lang="en-US" sz="2400" b="1" dirty="0" smtClean="0"/>
              <a:t>Calculation</a:t>
            </a:r>
            <a:r>
              <a:rPr lang="en-US" sz="2400" b="1" dirty="0"/>
              <a:t>: </a:t>
            </a:r>
            <a:r>
              <a:rPr lang="en-US" sz="2400" dirty="0"/>
              <a:t>This includes routine arithmetic calculation for </a:t>
            </a:r>
            <a:r>
              <a:rPr lang="en-US" sz="2400" dirty="0" smtClean="0"/>
              <a:t>bill </a:t>
            </a:r>
            <a:r>
              <a:rPr lang="fr-FR" sz="2400" dirty="0" err="1" smtClean="0"/>
              <a:t>processing</a:t>
            </a:r>
            <a:r>
              <a:rPr lang="fr-FR" sz="2400" dirty="0"/>
              <a:t>, </a:t>
            </a:r>
            <a:r>
              <a:rPr lang="fr-FR" sz="2400" dirty="0" err="1"/>
              <a:t>interest</a:t>
            </a:r>
            <a:r>
              <a:rPr lang="fr-FR" sz="2400" dirty="0"/>
              <a:t> </a:t>
            </a:r>
            <a:r>
              <a:rPr lang="fr-FR" sz="2400" dirty="0" err="1"/>
              <a:t>calculation</a:t>
            </a:r>
            <a:r>
              <a:rPr lang="fr-FR" sz="2400" dirty="0"/>
              <a:t>, commission </a:t>
            </a:r>
            <a:r>
              <a:rPr lang="fr-FR" sz="2400" dirty="0" err="1"/>
              <a:t>calculation</a:t>
            </a:r>
            <a:r>
              <a:rPr lang="fr-FR" sz="2400" dirty="0"/>
              <a:t> etc.</a:t>
            </a:r>
          </a:p>
          <a:p>
            <a:pPr algn="just"/>
            <a:r>
              <a:rPr lang="en-US" sz="2400" b="1" dirty="0" smtClean="0"/>
              <a:t>Recording </a:t>
            </a:r>
            <a:r>
              <a:rPr lang="en-US" sz="2400" b="1" dirty="0"/>
              <a:t>usage of resources: </a:t>
            </a:r>
            <a:r>
              <a:rPr lang="en-US" sz="2400" dirty="0"/>
              <a:t>This includes Record keeping, Log </a:t>
            </a:r>
            <a:r>
              <a:rPr lang="en-US" sz="2400" dirty="0" smtClean="0"/>
              <a:t>book maintenance </a:t>
            </a:r>
            <a:r>
              <a:rPr lang="en-US" sz="2400" dirty="0"/>
              <a:t>etc.</a:t>
            </a:r>
          </a:p>
        </p:txBody>
      </p:sp>
    </p:spTree>
    <p:extLst>
      <p:ext uri="{BB962C8B-B14F-4D97-AF65-F5344CB8AC3E}">
        <p14:creationId xmlns:p14="http://schemas.microsoft.com/office/powerpoint/2010/main" val="29459988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938758" y="413359"/>
            <a:ext cx="7633742" cy="5825515"/>
          </a:xfrm>
        </p:spPr>
        <p:txBody>
          <a:bodyPr>
            <a:noAutofit/>
          </a:bodyPr>
          <a:lstStyle/>
          <a:p>
            <a:pPr algn="just"/>
            <a:r>
              <a:rPr lang="en-US" sz="2800" b="1" dirty="0">
                <a:solidFill>
                  <a:srgbClr val="00B0F0"/>
                </a:solidFill>
              </a:rPr>
              <a:t>Word processing System</a:t>
            </a:r>
            <a:r>
              <a:rPr lang="en-US" sz="2800" dirty="0"/>
              <a:t>:</a:t>
            </a:r>
          </a:p>
          <a:p>
            <a:pPr algn="just"/>
            <a:r>
              <a:rPr lang="en-US" sz="2800" dirty="0" smtClean="0"/>
              <a:t> </a:t>
            </a:r>
            <a:r>
              <a:rPr lang="en-US" sz="2800" dirty="0"/>
              <a:t>May be simple word processor or Desktop publishing systems, </a:t>
            </a:r>
            <a:r>
              <a:rPr lang="en-US" sz="2800" dirty="0" smtClean="0"/>
              <a:t>supported by </a:t>
            </a:r>
            <a:r>
              <a:rPr lang="en-US" sz="2800" dirty="0"/>
              <a:t>laser printer, Ink-jet printer and scanner these are the software </a:t>
            </a:r>
            <a:r>
              <a:rPr lang="en-US" sz="2800" dirty="0" smtClean="0"/>
              <a:t>used to </a:t>
            </a:r>
            <a:r>
              <a:rPr lang="en-US" sz="2800" dirty="0"/>
              <a:t>produce good quality documents</a:t>
            </a:r>
            <a:r>
              <a:rPr lang="en-US" sz="2800" dirty="0" smtClean="0"/>
              <a:t>.</a:t>
            </a:r>
          </a:p>
          <a:p>
            <a:pPr marL="0" indent="0" algn="just">
              <a:buNone/>
            </a:pPr>
            <a:endParaRPr lang="en-US" sz="2800" dirty="0"/>
          </a:p>
          <a:p>
            <a:pPr algn="just"/>
            <a:r>
              <a:rPr lang="en-US" sz="2800" dirty="0" smtClean="0"/>
              <a:t>Since </a:t>
            </a:r>
            <a:r>
              <a:rPr lang="en-US" sz="2800" dirty="0"/>
              <a:t>large proportion of the office communication takes place in </a:t>
            </a:r>
            <a:r>
              <a:rPr lang="en-US" sz="2800" dirty="0" smtClean="0"/>
              <a:t>writing, this </a:t>
            </a:r>
            <a:r>
              <a:rPr lang="en-US" sz="2800" dirty="0"/>
              <a:t>is the most' commonly used component of </a:t>
            </a:r>
            <a:r>
              <a:rPr lang="en-US" sz="2800" dirty="0" smtClean="0"/>
              <a:t>OAS. These </a:t>
            </a:r>
            <a:r>
              <a:rPr lang="en-US" sz="2800" dirty="0"/>
              <a:t>systems automate the process of development of documents </a:t>
            </a:r>
            <a:r>
              <a:rPr lang="en-US" sz="2800" dirty="0" smtClean="0"/>
              <a:t>such as </a:t>
            </a:r>
            <a:r>
              <a:rPr lang="en-US" sz="2800" dirty="0"/>
              <a:t>letters, </a:t>
            </a:r>
            <a:r>
              <a:rPr lang="en-US" sz="2800" dirty="0" smtClean="0"/>
              <a:t>memos and </a:t>
            </a:r>
            <a:r>
              <a:rPr lang="en-US" sz="2800" dirty="0"/>
              <a:t>reports etc. </a:t>
            </a:r>
          </a:p>
        </p:txBody>
      </p:sp>
    </p:spTree>
    <p:extLst>
      <p:ext uri="{BB962C8B-B14F-4D97-AF65-F5344CB8AC3E}">
        <p14:creationId xmlns:p14="http://schemas.microsoft.com/office/powerpoint/2010/main" val="8698337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870" y="100485"/>
            <a:ext cx="8963130" cy="6319366"/>
          </a:xfrm>
        </p:spPr>
        <p:txBody>
          <a:bodyPr>
            <a:noAutofit/>
          </a:bodyPr>
          <a:lstStyle/>
          <a:p>
            <a:pPr marL="0" indent="0" algn="just">
              <a:lnSpc>
                <a:spcPct val="150000"/>
              </a:lnSpc>
              <a:buNone/>
            </a:pPr>
            <a:r>
              <a:rPr lang="en-US" sz="2600" b="1" dirty="0" smtClean="0">
                <a:solidFill>
                  <a:srgbClr val="00B0F0"/>
                </a:solidFill>
              </a:rPr>
              <a:t>Electronic </a:t>
            </a:r>
            <a:r>
              <a:rPr lang="en-US" sz="2600" b="1" dirty="0">
                <a:solidFill>
                  <a:srgbClr val="00B0F0"/>
                </a:solidFill>
              </a:rPr>
              <a:t>Document Management Systems </a:t>
            </a:r>
            <a:r>
              <a:rPr lang="en-US" sz="2600" dirty="0"/>
              <a:t>:</a:t>
            </a:r>
          </a:p>
          <a:p>
            <a:pPr marL="0" indent="0" algn="just">
              <a:lnSpc>
                <a:spcPct val="150000"/>
              </a:lnSpc>
              <a:buNone/>
            </a:pPr>
            <a:r>
              <a:rPr lang="en-US" sz="2600" dirty="0" smtClean="0"/>
              <a:t> </a:t>
            </a:r>
            <a:r>
              <a:rPr lang="en-US" sz="2000" dirty="0"/>
              <a:t>The computer based document management system are used </a:t>
            </a:r>
            <a:r>
              <a:rPr lang="en-US" sz="2000" dirty="0" smtClean="0"/>
              <a:t>to capturing </a:t>
            </a:r>
            <a:r>
              <a:rPr lang="en-US" sz="2000" dirty="0"/>
              <a:t>the information contained </a:t>
            </a:r>
            <a:r>
              <a:rPr lang="en-US" sz="2000" dirty="0" smtClean="0"/>
              <a:t> </a:t>
            </a:r>
            <a:r>
              <a:rPr lang="en-US" sz="2000" dirty="0"/>
              <a:t>in electronic document form</a:t>
            </a:r>
            <a:r>
              <a:rPr lang="en-US" sz="2000" dirty="0" smtClean="0"/>
              <a:t>, store </a:t>
            </a:r>
            <a:r>
              <a:rPr lang="en-US" sz="2000" dirty="0"/>
              <a:t>for future reference and communicate the relevant parts to </a:t>
            </a:r>
            <a:r>
              <a:rPr lang="en-US" sz="2000" dirty="0" smtClean="0"/>
              <a:t>the users  </a:t>
            </a:r>
            <a:r>
              <a:rPr lang="en-US" sz="2000" dirty="0"/>
              <a:t>when required.</a:t>
            </a:r>
          </a:p>
          <a:p>
            <a:pPr marL="0" indent="0" algn="just">
              <a:lnSpc>
                <a:spcPct val="150000"/>
              </a:lnSpc>
              <a:buNone/>
            </a:pPr>
            <a:r>
              <a:rPr lang="en-US" sz="2000" dirty="0" smtClean="0"/>
              <a:t>These </a:t>
            </a:r>
            <a:r>
              <a:rPr lang="en-US" sz="2000" dirty="0"/>
              <a:t>systems are very useful in remote access of document that </a:t>
            </a:r>
            <a:r>
              <a:rPr lang="en-US" sz="2000" dirty="0" smtClean="0"/>
              <a:t>is almost </a:t>
            </a:r>
            <a:r>
              <a:rPr lang="en-US" sz="2000" dirty="0"/>
              <a:t>impossible with manual document management </a:t>
            </a:r>
            <a:r>
              <a:rPr lang="en-US" sz="2000" dirty="0" smtClean="0"/>
              <a:t>systems. e.g</a:t>
            </a:r>
            <a:r>
              <a:rPr lang="en-US" sz="2000" dirty="0"/>
              <a:t>. </a:t>
            </a:r>
            <a:endParaRPr lang="en-US" sz="2000" dirty="0" smtClean="0"/>
          </a:p>
          <a:p>
            <a:pPr algn="just">
              <a:lnSpc>
                <a:spcPct val="150000"/>
              </a:lnSpc>
              <a:buFont typeface="Wingdings" panose="05000000000000000000" pitchFamily="2" charset="2"/>
              <a:buChar char="ü"/>
            </a:pPr>
            <a:r>
              <a:rPr lang="en-US" sz="2000" dirty="0"/>
              <a:t>A</a:t>
            </a:r>
            <a:r>
              <a:rPr lang="en-US" sz="2000" dirty="0" smtClean="0"/>
              <a:t> sales </a:t>
            </a:r>
            <a:r>
              <a:rPr lang="en-US" sz="2000" dirty="0"/>
              <a:t>executive may submit customer order to the </a:t>
            </a:r>
            <a:r>
              <a:rPr lang="en-US" sz="2000" dirty="0" smtClean="0"/>
              <a:t>sales order </a:t>
            </a:r>
            <a:r>
              <a:rPr lang="en-US" sz="2000" dirty="0"/>
              <a:t>processing system remotely, </a:t>
            </a:r>
            <a:endParaRPr lang="en-US" sz="2000" dirty="0" smtClean="0"/>
          </a:p>
          <a:p>
            <a:pPr algn="just">
              <a:lnSpc>
                <a:spcPct val="150000"/>
              </a:lnSpc>
              <a:buFont typeface="Wingdings" panose="05000000000000000000" pitchFamily="2" charset="2"/>
              <a:buChar char="ü"/>
            </a:pPr>
            <a:r>
              <a:rPr lang="en-US" sz="2000" dirty="0" smtClean="0"/>
              <a:t>The </a:t>
            </a:r>
            <a:r>
              <a:rPr lang="en-US" sz="2000" dirty="0"/>
              <a:t>loan application files in a </a:t>
            </a:r>
            <a:r>
              <a:rPr lang="en-US" sz="2000" dirty="0" smtClean="0"/>
              <a:t>branch office </a:t>
            </a:r>
            <a:r>
              <a:rPr lang="en-US" sz="2000" dirty="0"/>
              <a:t>of a bank can be accessed by the sanctioning officer for scrutiny </a:t>
            </a:r>
            <a:r>
              <a:rPr lang="en-US" sz="2000" dirty="0" smtClean="0"/>
              <a:t>at the </a:t>
            </a:r>
            <a:r>
              <a:rPr lang="en-US" sz="2000" dirty="0"/>
              <a:t>head </a:t>
            </a:r>
            <a:r>
              <a:rPr lang="en-US" sz="2000" dirty="0" smtClean="0"/>
              <a:t>office.</a:t>
            </a:r>
          </a:p>
          <a:p>
            <a:pPr marL="0" indent="0" algn="just">
              <a:lnSpc>
                <a:spcPct val="150000"/>
              </a:lnSpc>
              <a:buNone/>
            </a:pPr>
            <a:r>
              <a:rPr lang="en-US" sz="2000" dirty="0" smtClean="0"/>
              <a:t>With </a:t>
            </a:r>
            <a:r>
              <a:rPr lang="en-US" sz="2000" dirty="0"/>
              <a:t>computer based document management system location of the </a:t>
            </a:r>
            <a:r>
              <a:rPr lang="en-US" sz="2000" dirty="0" smtClean="0"/>
              <a:t>user becomes </a:t>
            </a:r>
            <a:r>
              <a:rPr lang="en-US" sz="2000" dirty="0"/>
              <a:t>irrelevant for access to </a:t>
            </a:r>
            <a:r>
              <a:rPr lang="en-US" sz="2000" dirty="0" smtClean="0"/>
              <a:t>the document</a:t>
            </a:r>
            <a:r>
              <a:rPr lang="en-US" sz="2000" dirty="0" smtClean="0"/>
              <a:t>.</a:t>
            </a:r>
            <a:endParaRPr lang="en-US" sz="2000" dirty="0"/>
          </a:p>
        </p:txBody>
      </p:sp>
    </p:spTree>
    <p:extLst>
      <p:ext uri="{BB962C8B-B14F-4D97-AF65-F5344CB8AC3E}">
        <p14:creationId xmlns:p14="http://schemas.microsoft.com/office/powerpoint/2010/main" val="31983130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484" y="394573"/>
            <a:ext cx="8872694" cy="6206252"/>
          </a:xfrm>
        </p:spPr>
        <p:txBody>
          <a:bodyPr>
            <a:noAutofit/>
          </a:bodyPr>
          <a:lstStyle/>
          <a:p>
            <a:pPr marL="0" indent="0" algn="just">
              <a:buNone/>
            </a:pPr>
            <a:r>
              <a:rPr lang="en-US" dirty="0"/>
              <a:t> </a:t>
            </a:r>
            <a:r>
              <a:rPr lang="en-US" sz="2400" b="1" dirty="0">
                <a:solidFill>
                  <a:srgbClr val="00B0F0"/>
                </a:solidFill>
              </a:rPr>
              <a:t>Electronic message communication systems</a:t>
            </a:r>
          </a:p>
          <a:p>
            <a:pPr algn="just"/>
            <a:r>
              <a:rPr lang="en-US" sz="2400" dirty="0"/>
              <a:t>Business organizations have been using a </a:t>
            </a:r>
            <a:r>
              <a:rPr lang="en-US" sz="2400" dirty="0" smtClean="0"/>
              <a:t>variety </a:t>
            </a:r>
            <a:r>
              <a:rPr lang="en-US" sz="2400" dirty="0"/>
              <a:t>of communication systems for sending and receiving messages. </a:t>
            </a:r>
            <a:endParaRPr lang="en-US" sz="2400" dirty="0" smtClean="0"/>
          </a:p>
          <a:p>
            <a:pPr algn="just"/>
            <a:r>
              <a:rPr lang="en-US" sz="2400" dirty="0" smtClean="0"/>
              <a:t>The </a:t>
            </a:r>
            <a:r>
              <a:rPr lang="en-US" sz="2400" dirty="0"/>
              <a:t>computer based message communication systems offer a lot of economy not only in terms of reduced time but also in terms of reliability and cost of communication. Some of the EMCS are </a:t>
            </a:r>
            <a:r>
              <a:rPr lang="en-US" sz="2400" dirty="0" smtClean="0"/>
              <a:t>:</a:t>
            </a:r>
          </a:p>
          <a:p>
            <a:pPr marL="0" indent="0" algn="just">
              <a:buNone/>
            </a:pPr>
            <a:endParaRPr lang="en-US" sz="2400" dirty="0"/>
          </a:p>
          <a:p>
            <a:pPr marL="0" indent="0" algn="just">
              <a:buNone/>
            </a:pPr>
            <a:r>
              <a:rPr lang="en-US" sz="2400" b="1" dirty="0" smtClean="0"/>
              <a:t>E-Mail: Transfer </a:t>
            </a:r>
            <a:r>
              <a:rPr lang="en-US" sz="2400" b="1" dirty="0"/>
              <a:t>of message in electronic </a:t>
            </a:r>
            <a:r>
              <a:rPr lang="en-US" sz="2400" b="1" dirty="0" smtClean="0"/>
              <a:t>form. Some </a:t>
            </a:r>
            <a:r>
              <a:rPr lang="en-US" sz="2400" b="1" dirty="0"/>
              <a:t>of </a:t>
            </a:r>
            <a:r>
              <a:rPr lang="en-US" sz="2400" b="1" dirty="0" smtClean="0"/>
              <a:t>its best features </a:t>
            </a:r>
            <a:r>
              <a:rPr lang="en-US" sz="2400" b="1" dirty="0"/>
              <a:t>are -</a:t>
            </a:r>
          </a:p>
          <a:p>
            <a:pPr algn="just">
              <a:buFont typeface="Wingdings" panose="05000000000000000000" pitchFamily="2" charset="2"/>
              <a:buChar char="ü"/>
            </a:pPr>
            <a:r>
              <a:rPr lang="en-US" sz="2400" dirty="0" smtClean="0"/>
              <a:t>Fast </a:t>
            </a:r>
            <a:r>
              <a:rPr lang="en-US" sz="2400" dirty="0"/>
              <a:t>electronic transmission</a:t>
            </a:r>
          </a:p>
          <a:p>
            <a:pPr algn="just">
              <a:buFont typeface="Wingdings" panose="05000000000000000000" pitchFamily="2" charset="2"/>
              <a:buChar char="ü"/>
            </a:pPr>
            <a:r>
              <a:rPr lang="en-US" sz="2400" dirty="0" smtClean="0"/>
              <a:t>Online </a:t>
            </a:r>
            <a:r>
              <a:rPr lang="en-US" sz="2400" dirty="0"/>
              <a:t>composing and editing</a:t>
            </a:r>
          </a:p>
          <a:p>
            <a:pPr algn="just">
              <a:buFont typeface="Wingdings" panose="05000000000000000000" pitchFamily="2" charset="2"/>
              <a:buChar char="ü"/>
            </a:pPr>
            <a:r>
              <a:rPr lang="en-US" sz="2400" dirty="0" smtClean="0"/>
              <a:t>Broadcasting </a:t>
            </a:r>
            <a:r>
              <a:rPr lang="en-US" sz="2400" dirty="0"/>
              <a:t>and forwarding</a:t>
            </a:r>
          </a:p>
          <a:p>
            <a:pPr algn="just">
              <a:buFont typeface="Wingdings" panose="05000000000000000000" pitchFamily="2" charset="2"/>
              <a:buChar char="ü"/>
            </a:pPr>
            <a:r>
              <a:rPr lang="en-US" sz="2400" dirty="0" smtClean="0"/>
              <a:t>Integration </a:t>
            </a:r>
            <a:r>
              <a:rPr lang="en-US" sz="2400" dirty="0"/>
              <a:t>with other information systems</a:t>
            </a:r>
          </a:p>
          <a:p>
            <a:pPr algn="just">
              <a:buFont typeface="Wingdings" panose="05000000000000000000" pitchFamily="2" charset="2"/>
              <a:buChar char="ü"/>
            </a:pPr>
            <a:r>
              <a:rPr lang="en-US" sz="2400" dirty="0" smtClean="0"/>
              <a:t>Portability</a:t>
            </a:r>
            <a:endParaRPr lang="en-US" sz="2400" dirty="0"/>
          </a:p>
          <a:p>
            <a:pPr algn="just">
              <a:buFont typeface="Wingdings" panose="05000000000000000000" pitchFamily="2" charset="2"/>
              <a:buChar char="ü"/>
            </a:pPr>
            <a:r>
              <a:rPr lang="en-US" sz="2400" dirty="0" smtClean="0"/>
              <a:t>And being economical</a:t>
            </a:r>
            <a:endParaRPr lang="en-US" sz="2400" dirty="0"/>
          </a:p>
          <a:p>
            <a:pPr algn="just">
              <a:buFont typeface="Wingdings" panose="05000000000000000000" pitchFamily="2" charset="2"/>
              <a:buChar char="ü"/>
            </a:pPr>
            <a:endParaRPr lang="en-US" sz="2400" dirty="0"/>
          </a:p>
        </p:txBody>
      </p:sp>
    </p:spTree>
    <p:extLst>
      <p:ext uri="{BB962C8B-B14F-4D97-AF65-F5344CB8AC3E}">
        <p14:creationId xmlns:p14="http://schemas.microsoft.com/office/powerpoint/2010/main" val="23198588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829" y="263047"/>
            <a:ext cx="8823489" cy="6528278"/>
          </a:xfrm>
        </p:spPr>
        <p:txBody>
          <a:bodyPr>
            <a:noAutofit/>
          </a:bodyPr>
          <a:lstStyle/>
          <a:p>
            <a:pPr marL="0" indent="0" algn="just">
              <a:buNone/>
            </a:pPr>
            <a:r>
              <a:rPr lang="en-US" sz="2400" dirty="0"/>
              <a:t> </a:t>
            </a:r>
            <a:r>
              <a:rPr lang="en-US" sz="2400" b="1" dirty="0">
                <a:solidFill>
                  <a:srgbClr val="00B0F0"/>
                </a:solidFill>
              </a:rPr>
              <a:t>Electronic message communication </a:t>
            </a:r>
            <a:r>
              <a:rPr lang="en-US" sz="2400" b="1" dirty="0" smtClean="0">
                <a:solidFill>
                  <a:srgbClr val="00B0F0"/>
                </a:solidFill>
              </a:rPr>
              <a:t>systems</a:t>
            </a:r>
          </a:p>
          <a:p>
            <a:pPr marL="0" indent="0" algn="just">
              <a:buNone/>
            </a:pPr>
            <a:r>
              <a:rPr lang="en-US" sz="2400" b="1" dirty="0" smtClean="0"/>
              <a:t>Fax</a:t>
            </a:r>
            <a:endParaRPr lang="en-US" sz="2400" b="1" dirty="0"/>
          </a:p>
          <a:p>
            <a:pPr algn="just">
              <a:lnSpc>
                <a:spcPct val="150000"/>
              </a:lnSpc>
            </a:pPr>
            <a:r>
              <a:rPr lang="en-US" sz="2400" dirty="0"/>
              <a:t>Fax is electronic communication of </a:t>
            </a:r>
            <a:r>
              <a:rPr lang="en-US" sz="2400" dirty="0" smtClean="0"/>
              <a:t>image documents </a:t>
            </a:r>
            <a:r>
              <a:rPr lang="en-US" sz="2400" dirty="0"/>
              <a:t>over telephone lines. The computer based fax technology permits sharing of fax facilities.</a:t>
            </a:r>
          </a:p>
          <a:p>
            <a:pPr algn="just">
              <a:lnSpc>
                <a:spcPct val="150000"/>
              </a:lnSpc>
            </a:pPr>
            <a:r>
              <a:rPr lang="en-US" sz="2400" dirty="0"/>
              <a:t>It uses special software and fax server to send and receive fax messages using common communication resources.</a:t>
            </a:r>
          </a:p>
          <a:p>
            <a:pPr marL="0" indent="0" algn="just">
              <a:lnSpc>
                <a:spcPct val="150000"/>
              </a:lnSpc>
              <a:buNone/>
            </a:pPr>
            <a:r>
              <a:rPr lang="en-US" sz="2400" b="1" dirty="0" smtClean="0"/>
              <a:t> </a:t>
            </a:r>
            <a:r>
              <a:rPr lang="en-US" sz="2400" b="1" dirty="0"/>
              <a:t>Voice mail</a:t>
            </a:r>
          </a:p>
          <a:p>
            <a:pPr algn="just">
              <a:lnSpc>
                <a:spcPct val="150000"/>
              </a:lnSpc>
            </a:pPr>
            <a:r>
              <a:rPr lang="en-US" sz="2400" dirty="0" smtClean="0"/>
              <a:t>Voice mail </a:t>
            </a:r>
            <a:r>
              <a:rPr lang="en-US" sz="2400" dirty="0"/>
              <a:t>allows transfer of messages in the form </a:t>
            </a:r>
            <a:r>
              <a:rPr lang="en-US" sz="2400" dirty="0" smtClean="0"/>
              <a:t>of digitized </a:t>
            </a:r>
            <a:r>
              <a:rPr lang="en-US" sz="2400" dirty="0"/>
              <a:t>voice. The recipient </a:t>
            </a:r>
            <a:r>
              <a:rPr lang="en-US" sz="2400" dirty="0" smtClean="0"/>
              <a:t>of the </a:t>
            </a:r>
            <a:r>
              <a:rPr lang="en-US" sz="2400" dirty="0"/>
              <a:t>voice mail can hear the spoken message in the voice of the sender</a:t>
            </a:r>
            <a:r>
              <a:rPr lang="en-US" sz="2400" dirty="0" smtClean="0"/>
              <a:t>.</a:t>
            </a:r>
            <a:endParaRPr lang="en-US" sz="2400" dirty="0"/>
          </a:p>
        </p:txBody>
      </p:sp>
    </p:spTree>
    <p:extLst>
      <p:ext uri="{BB962C8B-B14F-4D97-AF65-F5344CB8AC3E}">
        <p14:creationId xmlns:p14="http://schemas.microsoft.com/office/powerpoint/2010/main" val="17685236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209" y="683288"/>
            <a:ext cx="8631533" cy="5787850"/>
          </a:xfrm>
        </p:spPr>
        <p:txBody>
          <a:bodyPr/>
          <a:lstStyle/>
          <a:p>
            <a:pPr marL="0" indent="0" algn="just">
              <a:lnSpc>
                <a:spcPct val="150000"/>
              </a:lnSpc>
              <a:buNone/>
            </a:pPr>
            <a:r>
              <a:rPr lang="en-US" sz="2000" dirty="0"/>
              <a:t> </a:t>
            </a:r>
            <a:r>
              <a:rPr lang="en-US" sz="3200" b="1" dirty="0">
                <a:solidFill>
                  <a:srgbClr val="00B0F0"/>
                </a:solidFill>
              </a:rPr>
              <a:t>Tele-conferencing or Video-conferencing systems</a:t>
            </a:r>
          </a:p>
          <a:p>
            <a:pPr algn="just">
              <a:lnSpc>
                <a:spcPct val="150000"/>
              </a:lnSpc>
            </a:pPr>
            <a:r>
              <a:rPr lang="en-US" sz="2800" dirty="0"/>
              <a:t>Conference is a business meeting involving two or more persons located at different places. Teleconferencing helps in reducing time and cost of meeting as the participants do not have to travel to attend the meeting. It </a:t>
            </a:r>
            <a:r>
              <a:rPr lang="en-US" sz="2800" dirty="0" smtClean="0"/>
              <a:t>may be </a:t>
            </a:r>
            <a:r>
              <a:rPr lang="en-US" sz="2800" dirty="0"/>
              <a:t>audio or video conferencing with or without computer systems. These systems are based on PCs with digital camera and multimedia </a:t>
            </a:r>
            <a:r>
              <a:rPr lang="en-US" sz="2800" dirty="0" smtClean="0"/>
              <a:t>soft wares</a:t>
            </a:r>
            <a:endParaRPr lang="en-US" sz="2800" dirty="0"/>
          </a:p>
          <a:p>
            <a:pPr>
              <a:lnSpc>
                <a:spcPct val="150000"/>
              </a:lnSpc>
            </a:pPr>
            <a:endParaRPr lang="en-US" sz="2800" dirty="0"/>
          </a:p>
        </p:txBody>
      </p:sp>
    </p:spTree>
    <p:extLst>
      <p:ext uri="{BB962C8B-B14F-4D97-AF65-F5344CB8AC3E}">
        <p14:creationId xmlns:p14="http://schemas.microsoft.com/office/powerpoint/2010/main" val="479571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7218</TotalTime>
  <Words>3841</Words>
  <Application>Microsoft Office PowerPoint</Application>
  <PresentationFormat>On-screen Show (4:3)</PresentationFormat>
  <Paragraphs>295</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Wingdings</vt:lpstr>
      <vt:lpstr>Office Theme</vt:lpstr>
      <vt:lpstr> Types of Information Systems</vt:lpstr>
      <vt:lpstr>Introduction</vt:lpstr>
      <vt:lpstr>Introduction cont’d</vt:lpstr>
      <vt:lpstr>Information System Example </vt:lpstr>
      <vt:lpstr>PowerPoint Presentation</vt:lpstr>
      <vt:lpstr>Types OF info Systems  </vt:lpstr>
      <vt:lpstr>  classifications of information systems </vt:lpstr>
      <vt:lpstr>Operations Support System (OSS) Transaction Processing Systems (TPS)</vt:lpstr>
      <vt:lpstr>Examples of Transaction Processing Systems </vt:lpstr>
      <vt:lpstr> </vt:lpstr>
      <vt:lpstr>PowerPoint Presentation</vt:lpstr>
      <vt:lpstr>Features/Characteristics Of Transaction Processing Systems</vt:lpstr>
      <vt:lpstr>Operations Support System (OSS) Management Information Systems (MIS)</vt:lpstr>
      <vt:lpstr>PowerPoint Presentation</vt:lpstr>
      <vt:lpstr>Applications of MIS</vt:lpstr>
      <vt:lpstr> Operations Support System (OSS) ERP : Enterprise Resource Planning </vt:lpstr>
      <vt:lpstr> ERP Supported Business Processes </vt:lpstr>
      <vt:lpstr>ERP Supported Business Processes cont’d</vt:lpstr>
      <vt:lpstr>PowerPoint Presentation</vt:lpstr>
      <vt:lpstr> Characteristics/Features Of ERP: </vt:lpstr>
      <vt:lpstr>PowerPoint Presentation</vt:lpstr>
      <vt:lpstr>Benefits Of ERP</vt:lpstr>
      <vt:lpstr>Management Support System Decision support systems (DSS)</vt:lpstr>
      <vt:lpstr>Functions of DSS</vt:lpstr>
      <vt:lpstr>Components of DSS</vt:lpstr>
      <vt:lpstr>Management Support System Executive Support Systems</vt:lpstr>
      <vt:lpstr>PowerPoint Presentation</vt:lpstr>
      <vt:lpstr>PowerPoint Presentation</vt:lpstr>
      <vt:lpstr>Components of ESS(EIS)</vt:lpstr>
      <vt:lpstr>Characteristics Of EIS </vt:lpstr>
      <vt:lpstr>Contents of EIS </vt:lpstr>
      <vt:lpstr> Management Support System       Expert systems (ES)</vt:lpstr>
      <vt:lpstr>PowerPoint Presentation</vt:lpstr>
      <vt:lpstr> Application of Expert systems  </vt:lpstr>
      <vt:lpstr>Properties of Expert systems  </vt:lpstr>
      <vt:lpstr>Components Of Expert systems  </vt:lpstr>
      <vt:lpstr>PowerPoint Presentation</vt:lpstr>
      <vt:lpstr>PowerPoint Presentation</vt:lpstr>
      <vt:lpstr>Office Automation Systems (OAS) </vt:lpstr>
      <vt:lpstr>PowerPoint Presentation</vt:lpstr>
      <vt:lpstr>Components of Office automation systems </vt:lpstr>
      <vt:lpstr>Main Types of Tools  used by OAS Include:</vt:lpstr>
      <vt:lpstr>Different office activities supported by OAS</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Information System</dc:title>
  <dc:creator>Andrewk</dc:creator>
  <cp:lastModifiedBy>pc</cp:lastModifiedBy>
  <cp:revision>297</cp:revision>
  <dcterms:created xsi:type="dcterms:W3CDTF">2019-08-29T18:38:11Z</dcterms:created>
  <dcterms:modified xsi:type="dcterms:W3CDTF">2023-09-20T18:48:01Z</dcterms:modified>
</cp:coreProperties>
</file>